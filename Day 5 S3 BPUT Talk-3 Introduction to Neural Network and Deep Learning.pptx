
<file path=[Content_Types].xml><?xml version="1.0" encoding="utf-8"?>
<Types xmlns="http://schemas.openxmlformats.org/package/2006/content-types">
  <Default Extension="png" ContentType="image/png"/>
  <Default Extension="emf" ContentType="image/x-emf"/>
  <Default Extension="jpeg" ContentType="image/jpeg"/>
  <Default Extension="rels" ContentType="application/vnd.openxmlformats-package.relationships+xml"/>
  <Default Extension="xml" ContentType="application/xml"/>
  <Default Extension="gif" ContentType="image/gif"/>
  <Default Extension="xlsx" ContentType="application/vnd.openxmlformats-officedocument.spreadsheetml.sheet"/>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0.xml" ContentType="application/vnd.openxmlformats-officedocument.presentationml.slide+xml"/>
  <Override PartName="/ppt/slides/slide81.xml" ContentType="application/vnd.openxmlformats-officedocument.presentationml.slide+xml"/>
  <Override PartName="/ppt/slides/slide82.xml" ContentType="application/vnd.openxmlformats-officedocument.presentationml.slide+xml"/>
  <Override PartName="/ppt/slides/slide83.xml" ContentType="application/vnd.openxmlformats-officedocument.presentationml.slide+xml"/>
  <Override PartName="/ppt/slides/slide84.xml" ContentType="application/vnd.openxmlformats-officedocument.presentationml.slide+xml"/>
  <Override PartName="/ppt/slides/slide85.xml" ContentType="application/vnd.openxmlformats-officedocument.presentationml.slide+xml"/>
  <Override PartName="/ppt/slides/slide86.xml" ContentType="application/vnd.openxmlformats-officedocument.presentationml.slide+xml"/>
  <Override PartName="/ppt/slides/slide87.xml" ContentType="application/vnd.openxmlformats-officedocument.presentationml.slide+xml"/>
  <Override PartName="/ppt/slides/slide88.xml" ContentType="application/vnd.openxmlformats-officedocument.presentationml.slide+xml"/>
  <Override PartName="/ppt/slides/slide89.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charts/chart1.xml" ContentType="application/vnd.openxmlformats-officedocument.drawingml.chart+xml"/>
  <Override PartName="/ppt/charts/chart2.xml" ContentType="application/vnd.openxmlformats-officedocument.drawingml.chart+xml"/>
  <Override PartName="/ppt/notesSlides/notesSlide4.xml" ContentType="application/vnd.openxmlformats-officedocument.presentationml.notesSlide+xml"/>
  <Override PartName="/ppt/charts/chart3.xml" ContentType="application/vnd.openxmlformats-officedocument.drawingml.chart+xml"/>
  <Override PartName="/ppt/notesSlides/notesSlide5.xml" ContentType="application/vnd.openxmlformats-officedocument.presentationml.notesSlide+xml"/>
  <Override PartName="/ppt/charts/chart4.xml" ContentType="application/vnd.openxmlformats-officedocument.drawingml.chart+xml"/>
  <Override PartName="/ppt/charts/chart5.xml" ContentType="application/vnd.openxmlformats-officedocument.drawingml.chart+xml"/>
  <Override PartName="/ppt/drawings/drawing1.xml" ContentType="application/vnd.openxmlformats-officedocument.drawingml.chartshapes+xml"/>
  <Override PartName="/ppt/charts/chart6.xml" ContentType="application/vnd.openxmlformats-officedocument.drawingml.chart+xml"/>
  <Override PartName="/ppt/drawings/drawing2.xml" ContentType="application/vnd.openxmlformats-officedocument.drawingml.chartshapes+xml"/>
  <Override PartName="/ppt/charts/chart7.xml" ContentType="application/vnd.openxmlformats-officedocument.drawingml.chart+xml"/>
  <Override PartName="/ppt/drawings/drawing3.xml" ContentType="application/vnd.openxmlformats-officedocument.drawingml.chartshapes+xml"/>
  <Override PartName="/ppt/charts/chart8.xml" ContentType="application/vnd.openxmlformats-officedocument.drawingml.chart+xml"/>
  <Override PartName="/ppt/drawings/drawing4.xml" ContentType="application/vnd.openxmlformats-officedocument.drawingml.chartshapes+xml"/>
  <Override PartName="/ppt/charts/chart9.xml" ContentType="application/vnd.openxmlformats-officedocument.drawingml.chart+xml"/>
  <Override PartName="/ppt/drawings/drawing5.xml" ContentType="application/vnd.openxmlformats-officedocument.drawingml.chartshapes+xml"/>
  <Override PartName="/ppt/charts/chart10.xml" ContentType="application/vnd.openxmlformats-officedocument.drawingml.chart+xml"/>
  <Override PartName="/ppt/drawings/drawing6.xml" ContentType="application/vnd.openxmlformats-officedocument.drawingml.chartshapes+xml"/>
  <Override PartName="/ppt/charts/chart11.xml" ContentType="application/vnd.openxmlformats-officedocument.drawingml.chart+xml"/>
  <Override PartName="/ppt/drawings/drawing7.xml" ContentType="application/vnd.openxmlformats-officedocument.drawingml.chartshapes+xml"/>
  <Override PartName="/ppt/charts/chart12.xml" ContentType="application/vnd.openxmlformats-officedocument.drawingml.chart+xml"/>
  <Override PartName="/ppt/drawings/drawing8.xml" ContentType="application/vnd.openxmlformats-officedocument.drawingml.chartshapes+xml"/>
  <Override PartName="/ppt/charts/chart13.xml" ContentType="application/vnd.openxmlformats-officedocument.drawingml.chart+xml"/>
  <Override PartName="/ppt/drawings/drawing9.xml" ContentType="application/vnd.openxmlformats-officedocument.drawingml.chartshapes+xml"/>
  <Override PartName="/ppt/charts/chart14.xml" ContentType="application/vnd.openxmlformats-officedocument.drawingml.chart+xml"/>
  <Override PartName="/ppt/drawings/drawing10.xml" ContentType="application/vnd.openxmlformats-officedocument.drawingml.chartshapes+xml"/>
  <Override PartName="/ppt/notesSlides/notesSlide6.xml" ContentType="application/vnd.openxmlformats-officedocument.presentationml.notesSlid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diagrams/data2.xml" ContentType="application/vnd.openxmlformats-officedocument.drawingml.diagramData+xml"/>
  <Override PartName="/ppt/diagrams/layout2.xml" ContentType="application/vnd.openxmlformats-officedocument.drawingml.diagramLayout+xml"/>
  <Override PartName="/ppt/diagrams/quickStyle2.xml" ContentType="application/vnd.openxmlformats-officedocument.drawingml.diagramStyle+xml"/>
  <Override PartName="/ppt/diagrams/colors2.xml" ContentType="application/vnd.openxmlformats-officedocument.drawingml.diagramColors+xml"/>
  <Override PartName="/ppt/diagrams/drawing2.xml" ContentType="application/vnd.ms-office.drawingml.diagramDrawing+xml"/>
  <Override PartName="/ppt/notesSlides/notesSlide7.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aveSubsetFonts="1">
  <p:sldMasterIdLst>
    <p:sldMasterId id="2147483648" r:id="rId1"/>
    <p:sldMasterId id="2147483660" r:id="rId2"/>
  </p:sldMasterIdLst>
  <p:notesMasterIdLst>
    <p:notesMasterId r:id="rId92"/>
  </p:notesMasterIdLst>
  <p:sldIdLst>
    <p:sldId id="639" r:id="rId3"/>
    <p:sldId id="610" r:id="rId4"/>
    <p:sldId id="470" r:id="rId5"/>
    <p:sldId id="471" r:id="rId6"/>
    <p:sldId id="472" r:id="rId7"/>
    <p:sldId id="473" r:id="rId8"/>
    <p:sldId id="475" r:id="rId9"/>
    <p:sldId id="476" r:id="rId10"/>
    <p:sldId id="489" r:id="rId11"/>
    <p:sldId id="481" r:id="rId12"/>
    <p:sldId id="482" r:id="rId13"/>
    <p:sldId id="483" r:id="rId14"/>
    <p:sldId id="488" r:id="rId15"/>
    <p:sldId id="485" r:id="rId16"/>
    <p:sldId id="541" r:id="rId17"/>
    <p:sldId id="542" r:id="rId18"/>
    <p:sldId id="543" r:id="rId19"/>
    <p:sldId id="544" r:id="rId20"/>
    <p:sldId id="545" r:id="rId21"/>
    <p:sldId id="546" r:id="rId22"/>
    <p:sldId id="547" r:id="rId23"/>
    <p:sldId id="548" r:id="rId24"/>
    <p:sldId id="549" r:id="rId25"/>
    <p:sldId id="550" r:id="rId26"/>
    <p:sldId id="551" r:id="rId27"/>
    <p:sldId id="461" r:id="rId28"/>
    <p:sldId id="490" r:id="rId29"/>
    <p:sldId id="463" r:id="rId30"/>
    <p:sldId id="540" r:id="rId31"/>
    <p:sldId id="464" r:id="rId32"/>
    <p:sldId id="622" r:id="rId33"/>
    <p:sldId id="612" r:id="rId34"/>
    <p:sldId id="613" r:id="rId35"/>
    <p:sldId id="614" r:id="rId36"/>
    <p:sldId id="615" r:id="rId37"/>
    <p:sldId id="616" r:id="rId38"/>
    <p:sldId id="572" r:id="rId39"/>
    <p:sldId id="573" r:id="rId40"/>
    <p:sldId id="574" r:id="rId41"/>
    <p:sldId id="575" r:id="rId42"/>
    <p:sldId id="576" r:id="rId43"/>
    <p:sldId id="577" r:id="rId44"/>
    <p:sldId id="578" r:id="rId45"/>
    <p:sldId id="579" r:id="rId46"/>
    <p:sldId id="580" r:id="rId47"/>
    <p:sldId id="581" r:id="rId48"/>
    <p:sldId id="582" r:id="rId49"/>
    <p:sldId id="583" r:id="rId50"/>
    <p:sldId id="584" r:id="rId51"/>
    <p:sldId id="585" r:id="rId52"/>
    <p:sldId id="586" r:id="rId53"/>
    <p:sldId id="587" r:id="rId54"/>
    <p:sldId id="588" r:id="rId55"/>
    <p:sldId id="589" r:id="rId56"/>
    <p:sldId id="590" r:id="rId57"/>
    <p:sldId id="617" r:id="rId58"/>
    <p:sldId id="618" r:id="rId59"/>
    <p:sldId id="619" r:id="rId60"/>
    <p:sldId id="591" r:id="rId61"/>
    <p:sldId id="592" r:id="rId62"/>
    <p:sldId id="593" r:id="rId63"/>
    <p:sldId id="594" r:id="rId64"/>
    <p:sldId id="595" r:id="rId65"/>
    <p:sldId id="596" r:id="rId66"/>
    <p:sldId id="597" r:id="rId67"/>
    <p:sldId id="598" r:id="rId68"/>
    <p:sldId id="599" r:id="rId69"/>
    <p:sldId id="600" r:id="rId70"/>
    <p:sldId id="601" r:id="rId71"/>
    <p:sldId id="602" r:id="rId72"/>
    <p:sldId id="603" r:id="rId73"/>
    <p:sldId id="608" r:id="rId74"/>
    <p:sldId id="609" r:id="rId75"/>
    <p:sldId id="624" r:id="rId76"/>
    <p:sldId id="625" r:id="rId77"/>
    <p:sldId id="626" r:id="rId78"/>
    <p:sldId id="627" r:id="rId79"/>
    <p:sldId id="628" r:id="rId80"/>
    <p:sldId id="629" r:id="rId81"/>
    <p:sldId id="630" r:id="rId82"/>
    <p:sldId id="631" r:id="rId83"/>
    <p:sldId id="632" r:id="rId84"/>
    <p:sldId id="633" r:id="rId85"/>
    <p:sldId id="634" r:id="rId86"/>
    <p:sldId id="635" r:id="rId87"/>
    <p:sldId id="636" r:id="rId88"/>
    <p:sldId id="637" r:id="rId89"/>
    <p:sldId id="638" r:id="rId90"/>
    <p:sldId id="539" r:id="rId91"/>
  </p:sldIdLst>
  <p:sldSz cx="9144000" cy="6858000" type="screen4x3"/>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Default Section" id="{60F7806B-476B-4716-BBBC-4737393787A8}">
          <p14:sldIdLst>
            <p14:sldId id="639"/>
            <p14:sldId id="610"/>
            <p14:sldId id="470"/>
            <p14:sldId id="471"/>
            <p14:sldId id="472"/>
            <p14:sldId id="473"/>
            <p14:sldId id="475"/>
            <p14:sldId id="476"/>
            <p14:sldId id="489"/>
            <p14:sldId id="481"/>
            <p14:sldId id="482"/>
            <p14:sldId id="483"/>
            <p14:sldId id="488"/>
            <p14:sldId id="485"/>
            <p14:sldId id="541"/>
            <p14:sldId id="542"/>
            <p14:sldId id="543"/>
            <p14:sldId id="544"/>
            <p14:sldId id="545"/>
            <p14:sldId id="546"/>
            <p14:sldId id="547"/>
            <p14:sldId id="548"/>
            <p14:sldId id="549"/>
            <p14:sldId id="550"/>
            <p14:sldId id="551"/>
            <p14:sldId id="461"/>
            <p14:sldId id="490"/>
            <p14:sldId id="463"/>
            <p14:sldId id="540"/>
            <p14:sldId id="464"/>
            <p14:sldId id="622"/>
            <p14:sldId id="612"/>
            <p14:sldId id="613"/>
            <p14:sldId id="614"/>
            <p14:sldId id="615"/>
            <p14:sldId id="616"/>
            <p14:sldId id="572"/>
            <p14:sldId id="573"/>
            <p14:sldId id="574"/>
            <p14:sldId id="575"/>
            <p14:sldId id="576"/>
            <p14:sldId id="577"/>
            <p14:sldId id="578"/>
            <p14:sldId id="579"/>
            <p14:sldId id="580"/>
            <p14:sldId id="581"/>
            <p14:sldId id="582"/>
            <p14:sldId id="583"/>
            <p14:sldId id="584"/>
            <p14:sldId id="585"/>
            <p14:sldId id="586"/>
            <p14:sldId id="587"/>
            <p14:sldId id="588"/>
            <p14:sldId id="589"/>
            <p14:sldId id="590"/>
            <p14:sldId id="617"/>
            <p14:sldId id="618"/>
            <p14:sldId id="619"/>
            <p14:sldId id="591"/>
            <p14:sldId id="592"/>
            <p14:sldId id="593"/>
            <p14:sldId id="594"/>
            <p14:sldId id="595"/>
            <p14:sldId id="596"/>
            <p14:sldId id="597"/>
            <p14:sldId id="598"/>
            <p14:sldId id="599"/>
            <p14:sldId id="600"/>
            <p14:sldId id="601"/>
            <p14:sldId id="602"/>
            <p14:sldId id="603"/>
            <p14:sldId id="608"/>
            <p14:sldId id="609"/>
            <p14:sldId id="624"/>
            <p14:sldId id="625"/>
            <p14:sldId id="626"/>
            <p14:sldId id="627"/>
            <p14:sldId id="628"/>
            <p14:sldId id="629"/>
            <p14:sldId id="630"/>
            <p14:sldId id="631"/>
            <p14:sldId id="632"/>
            <p14:sldId id="633"/>
            <p14:sldId id="634"/>
            <p14:sldId id="635"/>
            <p14:sldId id="636"/>
            <p14:sldId id="637"/>
            <p14:sldId id="638"/>
            <p14:sldId id="539"/>
          </p14:sldIdLst>
        </p14:section>
      </p14:sectionLst>
    </p:ex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3116F6"/>
    <a:srgbClr val="2312FA"/>
    <a:srgbClr val="6541CB"/>
    <a:srgbClr val="868FE6"/>
    <a:srgbClr val="F8F200"/>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284E427A-3D55-4303-BF80-6455036E1DE7}" styleName="Themed Style 1 - Accent 2">
    <a:tblBg>
      <a:fillRef idx="2">
        <a:schemeClr val="accent2"/>
      </a:fillRef>
      <a:effectRef idx="1">
        <a:schemeClr val="accent2"/>
      </a:effectRef>
    </a:tblBg>
    <a:wholeTbl>
      <a:tcTxStyle>
        <a:fontRef idx="minor">
          <a:scrgbClr r="0" g="0" b="0"/>
        </a:fontRef>
        <a:schemeClr val="dk1"/>
      </a:tcTxStyle>
      <a:tcStyle>
        <a:tcBdr>
          <a:left>
            <a:lnRef idx="1">
              <a:schemeClr val="accent2"/>
            </a:lnRef>
          </a:left>
          <a:right>
            <a:lnRef idx="1">
              <a:schemeClr val="accent2"/>
            </a:lnRef>
          </a:right>
          <a:top>
            <a:lnRef idx="1">
              <a:schemeClr val="accent2"/>
            </a:lnRef>
          </a:top>
          <a:bottom>
            <a:lnRef idx="1">
              <a:schemeClr val="accent2"/>
            </a:lnRef>
          </a:bottom>
          <a:insideH>
            <a:lnRef idx="1">
              <a:schemeClr val="accent2"/>
            </a:lnRef>
          </a:insideH>
          <a:insideV>
            <a:lnRef idx="1">
              <a:schemeClr val="accent2"/>
            </a:lnRef>
          </a:insideV>
        </a:tcBdr>
        <a:fill>
          <a:noFill/>
        </a:fill>
      </a:tcStyle>
    </a:wholeTbl>
    <a:band1H>
      <a:tcStyle>
        <a:tcBdr/>
        <a:fill>
          <a:solidFill>
            <a:schemeClr val="accent2">
              <a:alpha val="40000"/>
            </a:schemeClr>
          </a:solidFill>
        </a:fill>
      </a:tcStyle>
    </a:band1H>
    <a:band2H>
      <a:tcStyle>
        <a:tcBdr/>
      </a:tcStyle>
    </a:band2H>
    <a:band1V>
      <a:tcStyle>
        <a:tcBdr>
          <a:top>
            <a:lnRef idx="1">
              <a:schemeClr val="accent2"/>
            </a:lnRef>
          </a:top>
          <a:bottom>
            <a:lnRef idx="1">
              <a:schemeClr val="accent2"/>
            </a:lnRef>
          </a:bottom>
        </a:tcBdr>
        <a:fill>
          <a:solidFill>
            <a:schemeClr val="accent2">
              <a:alpha val="40000"/>
            </a:schemeClr>
          </a:solidFill>
        </a:fill>
      </a:tcStyle>
    </a:band1V>
    <a:band2V>
      <a:tcStyle>
        <a:tcBdr/>
      </a:tcStyle>
    </a:band2V>
    <a:lastCol>
      <a:tcTxStyle b="on"/>
      <a:tcStyle>
        <a:tcBdr>
          <a:left>
            <a:lnRef idx="2">
              <a:schemeClr val="accent2"/>
            </a:lnRef>
          </a:left>
          <a:right>
            <a:lnRef idx="1">
              <a:schemeClr val="accent2"/>
            </a:lnRef>
          </a:right>
          <a:top>
            <a:lnRef idx="1">
              <a:schemeClr val="accent2"/>
            </a:lnRef>
          </a:top>
          <a:bottom>
            <a:lnRef idx="1">
              <a:schemeClr val="accent2"/>
            </a:lnRef>
          </a:bottom>
          <a:insideH>
            <a:lnRef idx="1">
              <a:schemeClr val="accent2"/>
            </a:lnRef>
          </a:insideH>
          <a:insideV>
            <a:ln>
              <a:noFill/>
            </a:ln>
          </a:insideV>
        </a:tcBdr>
      </a:tcStyle>
    </a:lastCol>
    <a:firstCol>
      <a:tcTxStyle b="on"/>
      <a:tcStyle>
        <a:tcBdr>
          <a:left>
            <a:lnRef idx="1">
              <a:schemeClr val="accent2"/>
            </a:lnRef>
          </a:left>
          <a:right>
            <a:lnRef idx="2">
              <a:schemeClr val="accent2"/>
            </a:lnRef>
          </a:right>
          <a:top>
            <a:lnRef idx="1">
              <a:schemeClr val="accent2"/>
            </a:lnRef>
          </a:top>
          <a:bottom>
            <a:lnRef idx="1">
              <a:schemeClr val="accent2"/>
            </a:lnRef>
          </a:bottom>
          <a:insideH>
            <a:lnRef idx="1">
              <a:schemeClr val="accent2"/>
            </a:lnRef>
          </a:insideH>
          <a:insideV>
            <a:ln>
              <a:noFill/>
            </a:ln>
          </a:insideV>
        </a:tcBdr>
      </a:tcStyle>
    </a:firstCol>
    <a:lastRow>
      <a:tcTxStyle b="on"/>
      <a:tcStyle>
        <a:tcBdr>
          <a:left>
            <a:lnRef idx="1">
              <a:schemeClr val="accent2"/>
            </a:lnRef>
          </a:left>
          <a:right>
            <a:lnRef idx="1">
              <a:schemeClr val="accent2"/>
            </a:lnRef>
          </a:right>
          <a:top>
            <a:lnRef idx="2">
              <a:schemeClr val="accent2"/>
            </a:lnRef>
          </a:top>
          <a:bottom>
            <a:lnRef idx="2">
              <a:schemeClr val="accent2"/>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2"/>
            </a:lnRef>
          </a:left>
          <a:right>
            <a:lnRef idx="1">
              <a:schemeClr val="accent2"/>
            </a:lnRef>
          </a:right>
          <a:top>
            <a:lnRef idx="1">
              <a:schemeClr val="accent2"/>
            </a:lnRef>
          </a:top>
          <a:bottom>
            <a:lnRef idx="2">
              <a:schemeClr val="lt1"/>
            </a:lnRef>
          </a:bottom>
          <a:insideH>
            <a:ln>
              <a:noFill/>
            </a:ln>
          </a:insideH>
          <a:insideV>
            <a:ln>
              <a:noFill/>
            </a:ln>
          </a:insideV>
        </a:tcBdr>
        <a:fill>
          <a:solidFill>
            <a:schemeClr val="accent2"/>
          </a:solidFill>
        </a:fill>
      </a:tcStyle>
    </a:firstRow>
  </a:tblStyle>
  <a:tblStyle styleId="{3C2FFA5D-87B4-456A-9821-1D502468CF0F}" styleName="Themed Style 1 - Accent 1">
    <a:tblBg>
      <a:fillRef idx="2">
        <a:schemeClr val="accent1"/>
      </a:fillRef>
      <a:effectRef idx="1">
        <a:schemeClr val="accent1"/>
      </a:effectRef>
    </a:tblBg>
    <a:wholeTbl>
      <a:tcTxStyle>
        <a:fontRef idx="minor">
          <a:scrgbClr r="0" g="0" b="0"/>
        </a:fontRef>
        <a:schemeClr val="dk1"/>
      </a:tcTxStyle>
      <a:tcStyle>
        <a:tcBdr>
          <a:left>
            <a:lnRef idx="1">
              <a:schemeClr val="accent1"/>
            </a:lnRef>
          </a:left>
          <a:right>
            <a:lnRef idx="1">
              <a:schemeClr val="accent1"/>
            </a:lnRef>
          </a:right>
          <a:top>
            <a:lnRef idx="1">
              <a:schemeClr val="accent1"/>
            </a:lnRef>
          </a:top>
          <a:bottom>
            <a:lnRef idx="1">
              <a:schemeClr val="accent1"/>
            </a:lnRef>
          </a:bottom>
          <a:insideH>
            <a:lnRef idx="1">
              <a:schemeClr val="accent1"/>
            </a:lnRef>
          </a:insideH>
          <a:insideV>
            <a:lnRef idx="1">
              <a:schemeClr val="accent1"/>
            </a:lnRef>
          </a:insideV>
        </a:tcBdr>
        <a:fill>
          <a:noFill/>
        </a:fill>
      </a:tcStyle>
    </a:wholeTbl>
    <a:band1H>
      <a:tcStyle>
        <a:tcBdr/>
        <a:fill>
          <a:solidFill>
            <a:schemeClr val="accent1">
              <a:alpha val="40000"/>
            </a:schemeClr>
          </a:solidFill>
        </a:fill>
      </a:tcStyle>
    </a:band1H>
    <a:band2H>
      <a:tcStyle>
        <a:tcBdr/>
      </a:tcStyle>
    </a:band2H>
    <a:band1V>
      <a:tcStyle>
        <a:tcBdr>
          <a:top>
            <a:lnRef idx="1">
              <a:schemeClr val="accent1"/>
            </a:lnRef>
          </a:top>
          <a:bottom>
            <a:lnRef idx="1">
              <a:schemeClr val="accent1"/>
            </a:lnRef>
          </a:bottom>
        </a:tcBdr>
        <a:fill>
          <a:solidFill>
            <a:schemeClr val="accent1">
              <a:alpha val="40000"/>
            </a:schemeClr>
          </a:solidFill>
        </a:fill>
      </a:tcStyle>
    </a:band1V>
    <a:band2V>
      <a:tcStyle>
        <a:tcBdr/>
      </a:tcStyle>
    </a:band2V>
    <a:lastCol>
      <a:tcTxStyle b="on"/>
      <a:tcStyle>
        <a:tcBdr>
          <a:left>
            <a:lnRef idx="2">
              <a:schemeClr val="accent1"/>
            </a:lnRef>
          </a:left>
          <a:right>
            <a:lnRef idx="1">
              <a:schemeClr val="accent1"/>
            </a:lnRef>
          </a:right>
          <a:top>
            <a:lnRef idx="1">
              <a:schemeClr val="accent1"/>
            </a:lnRef>
          </a:top>
          <a:bottom>
            <a:lnRef idx="1">
              <a:schemeClr val="accent1"/>
            </a:lnRef>
          </a:bottom>
          <a:insideH>
            <a:lnRef idx="1">
              <a:schemeClr val="accent1"/>
            </a:lnRef>
          </a:insideH>
          <a:insideV>
            <a:ln>
              <a:noFill/>
            </a:ln>
          </a:insideV>
        </a:tcBdr>
      </a:tcStyle>
    </a:lastCol>
    <a:firstCol>
      <a:tcTxStyle b="on"/>
      <a:tcStyle>
        <a:tcBdr>
          <a:left>
            <a:lnRef idx="1">
              <a:schemeClr val="accent1"/>
            </a:lnRef>
          </a:left>
          <a:right>
            <a:lnRef idx="2">
              <a:schemeClr val="accent1"/>
            </a:lnRef>
          </a:right>
          <a:top>
            <a:lnRef idx="1">
              <a:schemeClr val="accent1"/>
            </a:lnRef>
          </a:top>
          <a:bottom>
            <a:lnRef idx="1">
              <a:schemeClr val="accent1"/>
            </a:lnRef>
          </a:bottom>
          <a:insideH>
            <a:lnRef idx="1">
              <a:schemeClr val="accent1"/>
            </a:lnRef>
          </a:insideH>
          <a:insideV>
            <a:ln>
              <a:noFill/>
            </a:ln>
          </a:insideV>
        </a:tcBdr>
      </a:tcStyle>
    </a:firstCol>
    <a:lastRow>
      <a:tcTxStyle b="on"/>
      <a:tcStyle>
        <a:tcBdr>
          <a:left>
            <a:lnRef idx="1">
              <a:schemeClr val="accent1"/>
            </a:lnRef>
          </a:left>
          <a:right>
            <a:lnRef idx="1">
              <a:schemeClr val="accent1"/>
            </a:lnRef>
          </a:right>
          <a:top>
            <a:lnRef idx="2">
              <a:schemeClr val="accent1"/>
            </a:lnRef>
          </a:top>
          <a:bottom>
            <a:lnRef idx="2">
              <a:schemeClr val="accent1"/>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1"/>
            </a:lnRef>
          </a:left>
          <a:right>
            <a:lnRef idx="1">
              <a:schemeClr val="accent1"/>
            </a:lnRef>
          </a:right>
          <a:top>
            <a:lnRef idx="1">
              <a:schemeClr val="accent1"/>
            </a:lnRef>
          </a:top>
          <a:bottom>
            <a:lnRef idx="2">
              <a:schemeClr val="lt1"/>
            </a:lnRef>
          </a:bottom>
          <a:insideH>
            <a:ln>
              <a:noFill/>
            </a:ln>
          </a:insideH>
          <a:insideV>
            <a:ln>
              <a:noFill/>
            </a:ln>
          </a:insideV>
        </a:tcBdr>
        <a:fill>
          <a:solidFill>
            <a:schemeClr val="accent1"/>
          </a:solidFill>
        </a:fill>
      </a:tcStyle>
    </a:firstRow>
  </a:tblStyle>
  <a:tblStyle styleId="{B301B821-A1FF-4177-AEE7-76D212191A09}" styleName="Medium Style 1 - Accent 1">
    <a:wholeTbl>
      <a:tcTxStyle>
        <a:fontRef idx="minor">
          <a:scrgbClr r="0" g="0" b="0"/>
        </a:fontRef>
        <a:schemeClr val="dk1"/>
      </a:tcTxStyle>
      <a:tcStyle>
        <a:tcBdr>
          <a:left>
            <a:ln w="12700" cmpd="sng">
              <a:solidFill>
                <a:schemeClr val="accent1"/>
              </a:solidFill>
            </a:ln>
          </a:left>
          <a:right>
            <a:ln w="12700" cmpd="sng">
              <a:solidFill>
                <a:schemeClr val="accent1"/>
              </a:solidFill>
            </a:ln>
          </a:right>
          <a:top>
            <a:ln w="12700" cmpd="sng">
              <a:solidFill>
                <a:schemeClr val="accent1"/>
              </a:solidFill>
            </a:ln>
          </a:top>
          <a:bottom>
            <a:ln w="12700" cmpd="sng">
              <a:solidFill>
                <a:schemeClr val="accent1"/>
              </a:solidFill>
            </a:ln>
          </a:bottom>
          <a:insideH>
            <a:ln w="12700" cmpd="sng">
              <a:solidFill>
                <a:schemeClr val="accent1"/>
              </a:solidFill>
            </a:ln>
          </a:insideH>
          <a:insideV>
            <a:ln>
              <a:noFill/>
            </a:ln>
          </a:insideV>
        </a:tcBdr>
        <a:fill>
          <a:solidFill>
            <a:schemeClr val="lt1"/>
          </a:solidFill>
        </a:fill>
      </a:tcStyle>
    </a:wholeTbl>
    <a:band1H>
      <a:tcStyle>
        <a:tcBdr/>
        <a:fill>
          <a:solidFill>
            <a:schemeClr val="accent1">
              <a:tint val="20000"/>
            </a:schemeClr>
          </a:solidFill>
        </a:fill>
      </a:tcStyle>
    </a:band1H>
    <a:band1V>
      <a:tcStyle>
        <a:tcBdr/>
        <a:fill>
          <a:solidFill>
            <a:schemeClr val="accent1">
              <a:tint val="20000"/>
            </a:schemeClr>
          </a:solidFill>
        </a:fill>
      </a:tcStyle>
    </a:band1V>
    <a:lastCol>
      <a:tcTxStyle b="on"/>
      <a:tcStyle>
        <a:tcBdr/>
      </a:tcStyle>
    </a:lastCol>
    <a:firstCol>
      <a:tcTxStyle b="on"/>
      <a:tcStyle>
        <a:tcBdr/>
      </a:tcStyle>
    </a:firstCol>
    <a:lastRow>
      <a:tcTxStyle b="on"/>
      <a:tcStyle>
        <a:tcBdr>
          <a:top>
            <a:ln w="50800" cmpd="dbl">
              <a:solidFill>
                <a:schemeClr val="accent1"/>
              </a:solidFill>
            </a:ln>
          </a:top>
        </a:tcBdr>
        <a:fill>
          <a:solidFill>
            <a:schemeClr val="lt1"/>
          </a:solidFill>
        </a:fill>
      </a:tcStyle>
    </a:lastRow>
    <a:firstRow>
      <a:tcTxStyle b="on">
        <a:fontRef idx="minor">
          <a:scrgbClr r="0" g="0" b="0"/>
        </a:fontRef>
        <a:schemeClr val="lt1"/>
      </a:tcTxStyle>
      <a:tcStyle>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p:cViewPr varScale="1">
        <p:scale>
          <a:sx n="102" d="100"/>
          <a:sy n="102" d="100"/>
        </p:scale>
        <p:origin x="1884" y="96"/>
      </p:cViewPr>
      <p:guideLst>
        <p:guide orient="horz" pos="2160"/>
        <p:guide pos="2880"/>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1.xml"/><Relationship Id="rId18" Type="http://schemas.openxmlformats.org/officeDocument/2006/relationships/slide" Target="slides/slide16.xml"/><Relationship Id="rId26" Type="http://schemas.openxmlformats.org/officeDocument/2006/relationships/slide" Target="slides/slide24.xml"/><Relationship Id="rId39" Type="http://schemas.openxmlformats.org/officeDocument/2006/relationships/slide" Target="slides/slide37.xml"/><Relationship Id="rId21" Type="http://schemas.openxmlformats.org/officeDocument/2006/relationships/slide" Target="slides/slide19.xml"/><Relationship Id="rId34" Type="http://schemas.openxmlformats.org/officeDocument/2006/relationships/slide" Target="slides/slide32.xml"/><Relationship Id="rId42" Type="http://schemas.openxmlformats.org/officeDocument/2006/relationships/slide" Target="slides/slide40.xml"/><Relationship Id="rId47" Type="http://schemas.openxmlformats.org/officeDocument/2006/relationships/slide" Target="slides/slide45.xml"/><Relationship Id="rId50" Type="http://schemas.openxmlformats.org/officeDocument/2006/relationships/slide" Target="slides/slide48.xml"/><Relationship Id="rId55" Type="http://schemas.openxmlformats.org/officeDocument/2006/relationships/slide" Target="slides/slide53.xml"/><Relationship Id="rId63" Type="http://schemas.openxmlformats.org/officeDocument/2006/relationships/slide" Target="slides/slide61.xml"/><Relationship Id="rId68" Type="http://schemas.openxmlformats.org/officeDocument/2006/relationships/slide" Target="slides/slide66.xml"/><Relationship Id="rId76" Type="http://schemas.openxmlformats.org/officeDocument/2006/relationships/slide" Target="slides/slide74.xml"/><Relationship Id="rId84" Type="http://schemas.openxmlformats.org/officeDocument/2006/relationships/slide" Target="slides/slide82.xml"/><Relationship Id="rId89" Type="http://schemas.openxmlformats.org/officeDocument/2006/relationships/slide" Target="slides/slide87.xml"/><Relationship Id="rId7" Type="http://schemas.openxmlformats.org/officeDocument/2006/relationships/slide" Target="slides/slide5.xml"/><Relationship Id="rId71" Type="http://schemas.openxmlformats.org/officeDocument/2006/relationships/slide" Target="slides/slide69.xml"/><Relationship Id="rId92" Type="http://schemas.openxmlformats.org/officeDocument/2006/relationships/notesMaster" Target="notesMasters/notesMaster1.xml"/><Relationship Id="rId2" Type="http://schemas.openxmlformats.org/officeDocument/2006/relationships/slideMaster" Target="slideMasters/slideMaster2.xml"/><Relationship Id="rId16" Type="http://schemas.openxmlformats.org/officeDocument/2006/relationships/slide" Target="slides/slide14.xml"/><Relationship Id="rId29" Type="http://schemas.openxmlformats.org/officeDocument/2006/relationships/slide" Target="slides/slide27.xml"/><Relationship Id="rId11" Type="http://schemas.openxmlformats.org/officeDocument/2006/relationships/slide" Target="slides/slide9.xml"/><Relationship Id="rId24" Type="http://schemas.openxmlformats.org/officeDocument/2006/relationships/slide" Target="slides/slide22.xml"/><Relationship Id="rId32" Type="http://schemas.openxmlformats.org/officeDocument/2006/relationships/slide" Target="slides/slide30.xml"/><Relationship Id="rId37" Type="http://schemas.openxmlformats.org/officeDocument/2006/relationships/slide" Target="slides/slide35.xml"/><Relationship Id="rId40" Type="http://schemas.openxmlformats.org/officeDocument/2006/relationships/slide" Target="slides/slide38.xml"/><Relationship Id="rId45" Type="http://schemas.openxmlformats.org/officeDocument/2006/relationships/slide" Target="slides/slide43.xml"/><Relationship Id="rId53" Type="http://schemas.openxmlformats.org/officeDocument/2006/relationships/slide" Target="slides/slide51.xml"/><Relationship Id="rId58" Type="http://schemas.openxmlformats.org/officeDocument/2006/relationships/slide" Target="slides/slide56.xml"/><Relationship Id="rId66" Type="http://schemas.openxmlformats.org/officeDocument/2006/relationships/slide" Target="slides/slide64.xml"/><Relationship Id="rId74" Type="http://schemas.openxmlformats.org/officeDocument/2006/relationships/slide" Target="slides/slide72.xml"/><Relationship Id="rId79" Type="http://schemas.openxmlformats.org/officeDocument/2006/relationships/slide" Target="slides/slide77.xml"/><Relationship Id="rId87" Type="http://schemas.openxmlformats.org/officeDocument/2006/relationships/slide" Target="slides/slide85.xml"/><Relationship Id="rId5" Type="http://schemas.openxmlformats.org/officeDocument/2006/relationships/slide" Target="slides/slide3.xml"/><Relationship Id="rId61" Type="http://schemas.openxmlformats.org/officeDocument/2006/relationships/slide" Target="slides/slide59.xml"/><Relationship Id="rId82" Type="http://schemas.openxmlformats.org/officeDocument/2006/relationships/slide" Target="slides/slide80.xml"/><Relationship Id="rId90" Type="http://schemas.openxmlformats.org/officeDocument/2006/relationships/slide" Target="slides/slide88.xml"/><Relationship Id="rId95" Type="http://schemas.openxmlformats.org/officeDocument/2006/relationships/theme" Target="theme/theme1.xml"/><Relationship Id="rId19" Type="http://schemas.openxmlformats.org/officeDocument/2006/relationships/slide" Target="slides/slide17.xml"/><Relationship Id="rId14" Type="http://schemas.openxmlformats.org/officeDocument/2006/relationships/slide" Target="slides/slide12.xml"/><Relationship Id="rId22" Type="http://schemas.openxmlformats.org/officeDocument/2006/relationships/slide" Target="slides/slide20.xml"/><Relationship Id="rId27" Type="http://schemas.openxmlformats.org/officeDocument/2006/relationships/slide" Target="slides/slide25.xml"/><Relationship Id="rId30" Type="http://schemas.openxmlformats.org/officeDocument/2006/relationships/slide" Target="slides/slide28.xml"/><Relationship Id="rId35" Type="http://schemas.openxmlformats.org/officeDocument/2006/relationships/slide" Target="slides/slide33.xml"/><Relationship Id="rId43" Type="http://schemas.openxmlformats.org/officeDocument/2006/relationships/slide" Target="slides/slide41.xml"/><Relationship Id="rId48" Type="http://schemas.openxmlformats.org/officeDocument/2006/relationships/slide" Target="slides/slide46.xml"/><Relationship Id="rId56" Type="http://schemas.openxmlformats.org/officeDocument/2006/relationships/slide" Target="slides/slide54.xml"/><Relationship Id="rId64" Type="http://schemas.openxmlformats.org/officeDocument/2006/relationships/slide" Target="slides/slide62.xml"/><Relationship Id="rId69" Type="http://schemas.openxmlformats.org/officeDocument/2006/relationships/slide" Target="slides/slide67.xml"/><Relationship Id="rId77" Type="http://schemas.openxmlformats.org/officeDocument/2006/relationships/slide" Target="slides/slide75.xml"/><Relationship Id="rId8" Type="http://schemas.openxmlformats.org/officeDocument/2006/relationships/slide" Target="slides/slide6.xml"/><Relationship Id="rId51" Type="http://schemas.openxmlformats.org/officeDocument/2006/relationships/slide" Target="slides/slide49.xml"/><Relationship Id="rId72" Type="http://schemas.openxmlformats.org/officeDocument/2006/relationships/slide" Target="slides/slide70.xml"/><Relationship Id="rId80" Type="http://schemas.openxmlformats.org/officeDocument/2006/relationships/slide" Target="slides/slide78.xml"/><Relationship Id="rId85" Type="http://schemas.openxmlformats.org/officeDocument/2006/relationships/slide" Target="slides/slide83.xml"/><Relationship Id="rId93" Type="http://schemas.openxmlformats.org/officeDocument/2006/relationships/presProps" Target="presProps.xml"/><Relationship Id="rId3" Type="http://schemas.openxmlformats.org/officeDocument/2006/relationships/slide" Target="slides/slide1.xml"/><Relationship Id="rId12" Type="http://schemas.openxmlformats.org/officeDocument/2006/relationships/slide" Target="slides/slide10.xml"/><Relationship Id="rId17" Type="http://schemas.openxmlformats.org/officeDocument/2006/relationships/slide" Target="slides/slide15.xml"/><Relationship Id="rId25" Type="http://schemas.openxmlformats.org/officeDocument/2006/relationships/slide" Target="slides/slide23.xml"/><Relationship Id="rId33" Type="http://schemas.openxmlformats.org/officeDocument/2006/relationships/slide" Target="slides/slide31.xml"/><Relationship Id="rId38" Type="http://schemas.openxmlformats.org/officeDocument/2006/relationships/slide" Target="slides/slide36.xml"/><Relationship Id="rId46" Type="http://schemas.openxmlformats.org/officeDocument/2006/relationships/slide" Target="slides/slide44.xml"/><Relationship Id="rId59" Type="http://schemas.openxmlformats.org/officeDocument/2006/relationships/slide" Target="slides/slide57.xml"/><Relationship Id="rId67" Type="http://schemas.openxmlformats.org/officeDocument/2006/relationships/slide" Target="slides/slide65.xml"/><Relationship Id="rId20" Type="http://schemas.openxmlformats.org/officeDocument/2006/relationships/slide" Target="slides/slide18.xml"/><Relationship Id="rId41" Type="http://schemas.openxmlformats.org/officeDocument/2006/relationships/slide" Target="slides/slide39.xml"/><Relationship Id="rId54" Type="http://schemas.openxmlformats.org/officeDocument/2006/relationships/slide" Target="slides/slide52.xml"/><Relationship Id="rId62" Type="http://schemas.openxmlformats.org/officeDocument/2006/relationships/slide" Target="slides/slide60.xml"/><Relationship Id="rId70" Type="http://schemas.openxmlformats.org/officeDocument/2006/relationships/slide" Target="slides/slide68.xml"/><Relationship Id="rId75" Type="http://schemas.openxmlformats.org/officeDocument/2006/relationships/slide" Target="slides/slide73.xml"/><Relationship Id="rId83" Type="http://schemas.openxmlformats.org/officeDocument/2006/relationships/slide" Target="slides/slide81.xml"/><Relationship Id="rId88" Type="http://schemas.openxmlformats.org/officeDocument/2006/relationships/slide" Target="slides/slide86.xml"/><Relationship Id="rId91" Type="http://schemas.openxmlformats.org/officeDocument/2006/relationships/slide" Target="slides/slide89.xml"/><Relationship Id="rId96"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4.xml"/><Relationship Id="rId15" Type="http://schemas.openxmlformats.org/officeDocument/2006/relationships/slide" Target="slides/slide13.xml"/><Relationship Id="rId23" Type="http://schemas.openxmlformats.org/officeDocument/2006/relationships/slide" Target="slides/slide21.xml"/><Relationship Id="rId28" Type="http://schemas.openxmlformats.org/officeDocument/2006/relationships/slide" Target="slides/slide26.xml"/><Relationship Id="rId36" Type="http://schemas.openxmlformats.org/officeDocument/2006/relationships/slide" Target="slides/slide34.xml"/><Relationship Id="rId49" Type="http://schemas.openxmlformats.org/officeDocument/2006/relationships/slide" Target="slides/slide47.xml"/><Relationship Id="rId57" Type="http://schemas.openxmlformats.org/officeDocument/2006/relationships/slide" Target="slides/slide55.xml"/><Relationship Id="rId10" Type="http://schemas.openxmlformats.org/officeDocument/2006/relationships/slide" Target="slides/slide8.xml"/><Relationship Id="rId31" Type="http://schemas.openxmlformats.org/officeDocument/2006/relationships/slide" Target="slides/slide29.xml"/><Relationship Id="rId44" Type="http://schemas.openxmlformats.org/officeDocument/2006/relationships/slide" Target="slides/slide42.xml"/><Relationship Id="rId52" Type="http://schemas.openxmlformats.org/officeDocument/2006/relationships/slide" Target="slides/slide50.xml"/><Relationship Id="rId60" Type="http://schemas.openxmlformats.org/officeDocument/2006/relationships/slide" Target="slides/slide58.xml"/><Relationship Id="rId65" Type="http://schemas.openxmlformats.org/officeDocument/2006/relationships/slide" Target="slides/slide63.xml"/><Relationship Id="rId73" Type="http://schemas.openxmlformats.org/officeDocument/2006/relationships/slide" Target="slides/slide71.xml"/><Relationship Id="rId78" Type="http://schemas.openxmlformats.org/officeDocument/2006/relationships/slide" Target="slides/slide76.xml"/><Relationship Id="rId81" Type="http://schemas.openxmlformats.org/officeDocument/2006/relationships/slide" Target="slides/slide79.xml"/><Relationship Id="rId86" Type="http://schemas.openxmlformats.org/officeDocument/2006/relationships/slide" Target="slides/slide84.xml"/><Relationship Id="rId94" Type="http://schemas.openxmlformats.org/officeDocument/2006/relationships/viewProps" Target="viewProps.xml"/><Relationship Id="rId4" Type="http://schemas.openxmlformats.org/officeDocument/2006/relationships/slide" Target="slides/slide2.xml"/><Relationship Id="rId9" Type="http://schemas.openxmlformats.org/officeDocument/2006/relationships/slide" Target="slides/slide7.xml"/></Relationships>
</file>

<file path=ppt/charts/_rels/chart1.xml.rels><?xml version="1.0" encoding="UTF-8" standalone="yes"?>
<Relationships xmlns="http://schemas.openxmlformats.org/package/2006/relationships"><Relationship Id="rId1" Type="http://schemas.openxmlformats.org/officeDocument/2006/relationships/package" Target="../embeddings/Microsoft_Excel_Worksheet.xlsx"/></Relationships>
</file>

<file path=ppt/charts/_rels/chart2.xml.rels><?xml version="1.0" encoding="UTF-8" standalone="yes"?>
<Relationships xmlns="http://schemas.openxmlformats.org/package/2006/relationships"><Relationship Id="rId1" Type="http://schemas.openxmlformats.org/officeDocument/2006/relationships/package" Target="../embeddings/Microsoft_Excel_Worksheet1.xlsx"/></Relationships>
</file>

<file path=ppt/charts/_rels/chart3.xml.rels><?xml version="1.0" encoding="UTF-8" standalone="yes"?>
<Relationships xmlns="http://schemas.openxmlformats.org/package/2006/relationships"><Relationship Id="rId1" Type="http://schemas.openxmlformats.org/officeDocument/2006/relationships/package" Target="../embeddings/Microsoft_Excel_Worksheet2.xlsx"/></Relationships>
</file>

<file path=ppt/charts/_rels/chart4.xml.rels><?xml version="1.0" encoding="UTF-8" standalone="yes"?>
<Relationships xmlns="http://schemas.openxmlformats.org/package/2006/relationships"><Relationship Id="rId1" Type="http://schemas.openxmlformats.org/officeDocument/2006/relationships/package" Target="../embeddings/Microsoft_Excel_Worksheet3.xlsx"/></Relationships>
</file>

<file path=ppt/charts/_rels/chart5.xml.rels><?xml version="1.0" encoding="UTF-8" standalone="yes"?>
<Relationships xmlns="http://schemas.openxmlformats.org/package/2006/relationships"><Relationship Id="rId2" Type="http://schemas.openxmlformats.org/officeDocument/2006/relationships/chartUserShapes" Target="../drawings/drawing1.xml"/><Relationship Id="rId1" Type="http://schemas.openxmlformats.org/officeDocument/2006/relationships/package" Target="../embeddings/Microsoft_Excel_Worksheet4.xlsx"/></Relationships>
</file>

<file path=ppt/charts/_rels/chart6.xml.rels><?xml version="1.0" encoding="UTF-8" standalone="yes"?>
<Relationships xmlns="http://schemas.openxmlformats.org/package/2006/relationships"><Relationship Id="rId2" Type="http://schemas.openxmlformats.org/officeDocument/2006/relationships/chartUserShapes" Target="../drawings/drawing2.xml"/><Relationship Id="rId1" Type="http://schemas.openxmlformats.org/officeDocument/2006/relationships/package" Target="../embeddings/Microsoft_Excel_Worksheet5.xlsx"/></Relationships>
</file>

<file path=ppt/charts/_rels/chart7.xml.rels><?xml version="1.0" encoding="UTF-8" standalone="yes"?>
<Relationships xmlns="http://schemas.openxmlformats.org/package/2006/relationships"><Relationship Id="rId2" Type="http://schemas.openxmlformats.org/officeDocument/2006/relationships/chartUserShapes" Target="../drawings/drawing3.xml"/><Relationship Id="rId1" Type="http://schemas.openxmlformats.org/officeDocument/2006/relationships/package" Target="../embeddings/Microsoft_Excel_Worksheet6.xlsx"/></Relationships>
</file>

<file path=ppt/charts/_rels/chart8.xml.rels><?xml version="1.0" encoding="UTF-8" standalone="yes"?>
<Relationships xmlns="http://schemas.openxmlformats.org/package/2006/relationships"><Relationship Id="rId2" Type="http://schemas.openxmlformats.org/officeDocument/2006/relationships/chartUserShapes" Target="../drawings/drawing4.xml"/><Relationship Id="rId1" Type="http://schemas.openxmlformats.org/officeDocument/2006/relationships/package" Target="../embeddings/Microsoft_Excel_Worksheet7.xlsx"/></Relationships>
</file>

<file path=ppt/charts/_rels/chart9.xml.rels><?xml version="1.0" encoding="UTF-8" standalone="yes"?>
<Relationships xmlns="http://schemas.openxmlformats.org/package/2006/relationships"><Relationship Id="rId2" Type="http://schemas.openxmlformats.org/officeDocument/2006/relationships/chartUserShapes" Target="../drawings/drawing5.xml"/><Relationship Id="rId1" Type="http://schemas.openxmlformats.org/officeDocument/2006/relationships/package" Target="../embeddings/Microsoft_Excel_Worksheet8.xlsx"/></Relationships>
</file>

<file path=ppt/charts/_rels/chart10.xml.rels><?xml version="1.0" encoding="UTF-8" standalone="yes"?>
<Relationships xmlns="http://schemas.openxmlformats.org/package/2006/relationships"><Relationship Id="rId2" Type="http://schemas.openxmlformats.org/officeDocument/2006/relationships/chartUserShapes" Target="../drawings/drawing6.xml"/><Relationship Id="rId1" Type="http://schemas.openxmlformats.org/officeDocument/2006/relationships/package" Target="../embeddings/Microsoft_Excel_Worksheet9.xlsx"/></Relationships>
</file>

<file path=ppt/charts/_rels/chart11.xml.rels><?xml version="1.0" encoding="UTF-8" standalone="yes"?>
<Relationships xmlns="http://schemas.openxmlformats.org/package/2006/relationships"><Relationship Id="rId2" Type="http://schemas.openxmlformats.org/officeDocument/2006/relationships/chartUserShapes" Target="../drawings/drawing7.xml"/><Relationship Id="rId1" Type="http://schemas.openxmlformats.org/officeDocument/2006/relationships/package" Target="../embeddings/Microsoft_Excel_Worksheet10.xlsx"/></Relationships>
</file>

<file path=ppt/charts/_rels/chart12.xml.rels><?xml version="1.0" encoding="UTF-8" standalone="yes"?>
<Relationships xmlns="http://schemas.openxmlformats.org/package/2006/relationships"><Relationship Id="rId2" Type="http://schemas.openxmlformats.org/officeDocument/2006/relationships/chartUserShapes" Target="../drawings/drawing8.xml"/><Relationship Id="rId1" Type="http://schemas.openxmlformats.org/officeDocument/2006/relationships/package" Target="../embeddings/Microsoft_Excel_Worksheet11.xlsx"/></Relationships>
</file>

<file path=ppt/charts/_rels/chart13.xml.rels><?xml version="1.0" encoding="UTF-8" standalone="yes"?>
<Relationships xmlns="http://schemas.openxmlformats.org/package/2006/relationships"><Relationship Id="rId2" Type="http://schemas.openxmlformats.org/officeDocument/2006/relationships/chartUserShapes" Target="../drawings/drawing9.xml"/><Relationship Id="rId1" Type="http://schemas.openxmlformats.org/officeDocument/2006/relationships/package" Target="../embeddings/Microsoft_Excel_Worksheet12.xlsx"/></Relationships>
</file>

<file path=ppt/charts/_rels/chart14.xml.rels><?xml version="1.0" encoding="UTF-8" standalone="yes"?>
<Relationships xmlns="http://schemas.openxmlformats.org/package/2006/relationships"><Relationship Id="rId2" Type="http://schemas.openxmlformats.org/officeDocument/2006/relationships/chartUserShapes" Target="../drawings/drawing10.xml"/><Relationship Id="rId1" Type="http://schemas.openxmlformats.org/officeDocument/2006/relationships/package" Target="../embeddings/Microsoft_Excel_Worksheet13.xlsx"/></Relationships>
</file>

<file path=ppt/charts/chart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0"/>
    <c:plotArea>
      <c:layout/>
      <c:lineChart>
        <c:grouping val="standard"/>
        <c:varyColors val="0"/>
        <c:ser>
          <c:idx val="0"/>
          <c:order val="0"/>
          <c:tx>
            <c:strRef>
              <c:f>Sheet1!$B$1</c:f>
              <c:strCache>
                <c:ptCount val="1"/>
                <c:pt idx="0">
                  <c:v>Column1</c:v>
                </c:pt>
              </c:strCache>
            </c:strRef>
          </c:tx>
          <c:cat>
            <c:numRef>
              <c:f>Sheet1!$A$2:$A$7</c:f>
              <c:numCache>
                <c:formatCode>General</c:formatCode>
                <c:ptCount val="6"/>
                <c:pt idx="0">
                  <c:v>1</c:v>
                </c:pt>
                <c:pt idx="1">
                  <c:v>2</c:v>
                </c:pt>
                <c:pt idx="2">
                  <c:v>3</c:v>
                </c:pt>
                <c:pt idx="3">
                  <c:v>4</c:v>
                </c:pt>
                <c:pt idx="4">
                  <c:v>5</c:v>
                </c:pt>
                <c:pt idx="5">
                  <c:v>6</c:v>
                </c:pt>
              </c:numCache>
            </c:numRef>
          </c:cat>
          <c:val>
            <c:numRef>
              <c:f>Sheet1!$B$2:$B$7</c:f>
              <c:numCache>
                <c:formatCode>General</c:formatCode>
                <c:ptCount val="6"/>
              </c:numCache>
            </c:numRef>
          </c:val>
          <c:smooth val="0"/>
          <c:extLst>
            <c:ext xmlns:c16="http://schemas.microsoft.com/office/drawing/2014/chart" uri="{C3380CC4-5D6E-409C-BE32-E72D297353CC}">
              <c16:uniqueId val="{00000000-64CA-4557-92F9-6C4C23F60B00}"/>
            </c:ext>
          </c:extLst>
        </c:ser>
        <c:ser>
          <c:idx val="1"/>
          <c:order val="1"/>
          <c:tx>
            <c:strRef>
              <c:f>Sheet1!$C$1</c:f>
              <c:strCache>
                <c:ptCount val="1"/>
                <c:pt idx="0">
                  <c:v>Column2</c:v>
                </c:pt>
              </c:strCache>
            </c:strRef>
          </c:tx>
          <c:cat>
            <c:numRef>
              <c:f>Sheet1!$A$2:$A$7</c:f>
              <c:numCache>
                <c:formatCode>General</c:formatCode>
                <c:ptCount val="6"/>
                <c:pt idx="0">
                  <c:v>1</c:v>
                </c:pt>
                <c:pt idx="1">
                  <c:v>2</c:v>
                </c:pt>
                <c:pt idx="2">
                  <c:v>3</c:v>
                </c:pt>
                <c:pt idx="3">
                  <c:v>4</c:v>
                </c:pt>
                <c:pt idx="4">
                  <c:v>5</c:v>
                </c:pt>
                <c:pt idx="5">
                  <c:v>6</c:v>
                </c:pt>
              </c:numCache>
            </c:numRef>
          </c:cat>
          <c:val>
            <c:numRef>
              <c:f>Sheet1!$C$2:$C$7</c:f>
              <c:numCache>
                <c:formatCode>General</c:formatCode>
                <c:ptCount val="6"/>
              </c:numCache>
            </c:numRef>
          </c:val>
          <c:smooth val="0"/>
          <c:extLst>
            <c:ext xmlns:c16="http://schemas.microsoft.com/office/drawing/2014/chart" uri="{C3380CC4-5D6E-409C-BE32-E72D297353CC}">
              <c16:uniqueId val="{00000001-64CA-4557-92F9-6C4C23F60B00}"/>
            </c:ext>
          </c:extLst>
        </c:ser>
        <c:ser>
          <c:idx val="2"/>
          <c:order val="2"/>
          <c:tx>
            <c:strRef>
              <c:f>Sheet1!$D$1</c:f>
              <c:strCache>
                <c:ptCount val="1"/>
                <c:pt idx="0">
                  <c:v>Column3</c:v>
                </c:pt>
              </c:strCache>
            </c:strRef>
          </c:tx>
          <c:cat>
            <c:numRef>
              <c:f>Sheet1!$A$2:$A$7</c:f>
              <c:numCache>
                <c:formatCode>General</c:formatCode>
                <c:ptCount val="6"/>
                <c:pt idx="0">
                  <c:v>1</c:v>
                </c:pt>
                <c:pt idx="1">
                  <c:v>2</c:v>
                </c:pt>
                <c:pt idx="2">
                  <c:v>3</c:v>
                </c:pt>
                <c:pt idx="3">
                  <c:v>4</c:v>
                </c:pt>
                <c:pt idx="4">
                  <c:v>5</c:v>
                </c:pt>
                <c:pt idx="5">
                  <c:v>6</c:v>
                </c:pt>
              </c:numCache>
            </c:numRef>
          </c:cat>
          <c:val>
            <c:numRef>
              <c:f>Sheet1!$D$2:$D$7</c:f>
              <c:numCache>
                <c:formatCode>General</c:formatCode>
                <c:ptCount val="6"/>
              </c:numCache>
            </c:numRef>
          </c:val>
          <c:smooth val="0"/>
          <c:extLst>
            <c:ext xmlns:c16="http://schemas.microsoft.com/office/drawing/2014/chart" uri="{C3380CC4-5D6E-409C-BE32-E72D297353CC}">
              <c16:uniqueId val="{00000002-64CA-4557-92F9-6C4C23F60B00}"/>
            </c:ext>
          </c:extLst>
        </c:ser>
        <c:dLbls>
          <c:showLegendKey val="0"/>
          <c:showVal val="0"/>
          <c:showCatName val="0"/>
          <c:showSerName val="0"/>
          <c:showPercent val="0"/>
          <c:showBubbleSize val="0"/>
        </c:dLbls>
        <c:marker val="1"/>
        <c:smooth val="0"/>
        <c:axId val="137476352"/>
        <c:axId val="137478144"/>
      </c:lineChart>
      <c:catAx>
        <c:axId val="137476352"/>
        <c:scaling>
          <c:orientation val="minMax"/>
        </c:scaling>
        <c:delete val="0"/>
        <c:axPos val="b"/>
        <c:numFmt formatCode="General" sourceLinked="1"/>
        <c:majorTickMark val="out"/>
        <c:minorTickMark val="none"/>
        <c:tickLblPos val="nextTo"/>
        <c:crossAx val="137478144"/>
        <c:crosses val="autoZero"/>
        <c:auto val="1"/>
        <c:lblAlgn val="ctr"/>
        <c:lblOffset val="100"/>
        <c:noMultiLvlLbl val="0"/>
      </c:catAx>
      <c:valAx>
        <c:axId val="137478144"/>
        <c:scaling>
          <c:orientation val="minMax"/>
          <c:max val="90"/>
          <c:min val="0"/>
        </c:scaling>
        <c:delete val="0"/>
        <c:axPos val="l"/>
        <c:majorGridlines/>
        <c:numFmt formatCode="0" sourceLinked="0"/>
        <c:majorTickMark val="out"/>
        <c:minorTickMark val="none"/>
        <c:tickLblPos val="nextTo"/>
        <c:crossAx val="137476352"/>
        <c:crosses val="autoZero"/>
        <c:crossBetween val="between"/>
      </c:valAx>
      <c:spPr>
        <a:solidFill>
          <a:srgbClr val="94B6D2">
            <a:alpha val="12000"/>
          </a:srgbClr>
        </a:solidFill>
        <a:ln w="12700"/>
      </c:spPr>
    </c:plotArea>
    <c:plotVisOnly val="1"/>
    <c:dispBlanksAs val="gap"/>
    <c:showDLblsOverMax val="0"/>
  </c:chart>
  <c:txPr>
    <a:bodyPr/>
    <a:lstStyle/>
    <a:p>
      <a:pPr>
        <a:defRPr sz="1800"/>
      </a:pPr>
      <a:endParaRPr lang="en-US"/>
    </a:p>
  </c:txPr>
  <c:externalData r:id="rId1">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0"/>
    <c:plotArea>
      <c:layout/>
      <c:lineChart>
        <c:grouping val="standard"/>
        <c:varyColors val="0"/>
        <c:ser>
          <c:idx val="0"/>
          <c:order val="0"/>
          <c:tx>
            <c:strRef>
              <c:f>Sheet1!$B$1</c:f>
              <c:strCache>
                <c:ptCount val="1"/>
                <c:pt idx="0">
                  <c:v>Column1</c:v>
                </c:pt>
              </c:strCache>
            </c:strRef>
          </c:tx>
          <c:cat>
            <c:numRef>
              <c:f>Sheet1!$A$2:$A$7</c:f>
              <c:numCache>
                <c:formatCode>General</c:formatCode>
                <c:ptCount val="6"/>
                <c:pt idx="0">
                  <c:v>1</c:v>
                </c:pt>
                <c:pt idx="1">
                  <c:v>2</c:v>
                </c:pt>
                <c:pt idx="2">
                  <c:v>3</c:v>
                </c:pt>
                <c:pt idx="3">
                  <c:v>4</c:v>
                </c:pt>
                <c:pt idx="4">
                  <c:v>5</c:v>
                </c:pt>
                <c:pt idx="5">
                  <c:v>6</c:v>
                </c:pt>
              </c:numCache>
            </c:numRef>
          </c:cat>
          <c:val>
            <c:numRef>
              <c:f>Sheet1!$B$2:$B$7</c:f>
              <c:numCache>
                <c:formatCode>General</c:formatCode>
                <c:ptCount val="6"/>
              </c:numCache>
            </c:numRef>
          </c:val>
          <c:smooth val="0"/>
          <c:extLst>
            <c:ext xmlns:c16="http://schemas.microsoft.com/office/drawing/2014/chart" uri="{C3380CC4-5D6E-409C-BE32-E72D297353CC}">
              <c16:uniqueId val="{00000000-64CA-4557-92F9-6C4C23F60B00}"/>
            </c:ext>
          </c:extLst>
        </c:ser>
        <c:ser>
          <c:idx val="1"/>
          <c:order val="1"/>
          <c:tx>
            <c:strRef>
              <c:f>Sheet1!$C$1</c:f>
              <c:strCache>
                <c:ptCount val="1"/>
                <c:pt idx="0">
                  <c:v>Column2</c:v>
                </c:pt>
              </c:strCache>
            </c:strRef>
          </c:tx>
          <c:cat>
            <c:numRef>
              <c:f>Sheet1!$A$2:$A$7</c:f>
              <c:numCache>
                <c:formatCode>General</c:formatCode>
                <c:ptCount val="6"/>
                <c:pt idx="0">
                  <c:v>1</c:v>
                </c:pt>
                <c:pt idx="1">
                  <c:v>2</c:v>
                </c:pt>
                <c:pt idx="2">
                  <c:v>3</c:v>
                </c:pt>
                <c:pt idx="3">
                  <c:v>4</c:v>
                </c:pt>
                <c:pt idx="4">
                  <c:v>5</c:v>
                </c:pt>
                <c:pt idx="5">
                  <c:v>6</c:v>
                </c:pt>
              </c:numCache>
            </c:numRef>
          </c:cat>
          <c:val>
            <c:numRef>
              <c:f>Sheet1!$C$2:$C$7</c:f>
              <c:numCache>
                <c:formatCode>General</c:formatCode>
                <c:ptCount val="6"/>
              </c:numCache>
            </c:numRef>
          </c:val>
          <c:smooth val="0"/>
          <c:extLst>
            <c:ext xmlns:c16="http://schemas.microsoft.com/office/drawing/2014/chart" uri="{C3380CC4-5D6E-409C-BE32-E72D297353CC}">
              <c16:uniqueId val="{00000001-64CA-4557-92F9-6C4C23F60B00}"/>
            </c:ext>
          </c:extLst>
        </c:ser>
        <c:ser>
          <c:idx val="2"/>
          <c:order val="2"/>
          <c:tx>
            <c:strRef>
              <c:f>Sheet1!$D$1</c:f>
              <c:strCache>
                <c:ptCount val="1"/>
                <c:pt idx="0">
                  <c:v>Column3</c:v>
                </c:pt>
              </c:strCache>
            </c:strRef>
          </c:tx>
          <c:cat>
            <c:numRef>
              <c:f>Sheet1!$A$2:$A$7</c:f>
              <c:numCache>
                <c:formatCode>General</c:formatCode>
                <c:ptCount val="6"/>
                <c:pt idx="0">
                  <c:v>1</c:v>
                </c:pt>
                <c:pt idx="1">
                  <c:v>2</c:v>
                </c:pt>
                <c:pt idx="2">
                  <c:v>3</c:v>
                </c:pt>
                <c:pt idx="3">
                  <c:v>4</c:v>
                </c:pt>
                <c:pt idx="4">
                  <c:v>5</c:v>
                </c:pt>
                <c:pt idx="5">
                  <c:v>6</c:v>
                </c:pt>
              </c:numCache>
            </c:numRef>
          </c:cat>
          <c:val>
            <c:numRef>
              <c:f>Sheet1!$D$2:$D$7</c:f>
              <c:numCache>
                <c:formatCode>General</c:formatCode>
                <c:ptCount val="6"/>
              </c:numCache>
            </c:numRef>
          </c:val>
          <c:smooth val="0"/>
          <c:extLst>
            <c:ext xmlns:c16="http://schemas.microsoft.com/office/drawing/2014/chart" uri="{C3380CC4-5D6E-409C-BE32-E72D297353CC}">
              <c16:uniqueId val="{00000002-64CA-4557-92F9-6C4C23F60B00}"/>
            </c:ext>
          </c:extLst>
        </c:ser>
        <c:dLbls>
          <c:showLegendKey val="0"/>
          <c:showVal val="0"/>
          <c:showCatName val="0"/>
          <c:showSerName val="0"/>
          <c:showPercent val="0"/>
          <c:showBubbleSize val="0"/>
        </c:dLbls>
        <c:marker val="1"/>
        <c:smooth val="0"/>
        <c:axId val="181377280"/>
        <c:axId val="181379072"/>
      </c:lineChart>
      <c:catAx>
        <c:axId val="181377280"/>
        <c:scaling>
          <c:orientation val="minMax"/>
        </c:scaling>
        <c:delete val="0"/>
        <c:axPos val="b"/>
        <c:numFmt formatCode="General" sourceLinked="1"/>
        <c:majorTickMark val="out"/>
        <c:minorTickMark val="none"/>
        <c:tickLblPos val="nextTo"/>
        <c:crossAx val="181379072"/>
        <c:crosses val="autoZero"/>
        <c:auto val="1"/>
        <c:lblAlgn val="ctr"/>
        <c:lblOffset val="100"/>
        <c:noMultiLvlLbl val="0"/>
      </c:catAx>
      <c:valAx>
        <c:axId val="181379072"/>
        <c:scaling>
          <c:orientation val="minMax"/>
          <c:max val="90"/>
          <c:min val="0"/>
        </c:scaling>
        <c:delete val="0"/>
        <c:axPos val="l"/>
        <c:majorGridlines/>
        <c:numFmt formatCode="0" sourceLinked="0"/>
        <c:majorTickMark val="out"/>
        <c:minorTickMark val="none"/>
        <c:tickLblPos val="nextTo"/>
        <c:crossAx val="181377280"/>
        <c:crosses val="autoZero"/>
        <c:crossBetween val="between"/>
      </c:valAx>
      <c:spPr>
        <a:solidFill>
          <a:srgbClr val="94B6D2">
            <a:alpha val="12000"/>
          </a:srgbClr>
        </a:solidFill>
        <a:ln w="12700"/>
      </c:spPr>
    </c:plotArea>
    <c:plotVisOnly val="1"/>
    <c:dispBlanksAs val="gap"/>
    <c:showDLblsOverMax val="0"/>
  </c:chart>
  <c:txPr>
    <a:bodyPr/>
    <a:lstStyle/>
    <a:p>
      <a:pPr>
        <a:defRPr sz="1800"/>
      </a:pPr>
      <a:endParaRPr lang="en-US"/>
    </a:p>
  </c:txPr>
  <c:externalData r:id="rId1">
    <c:autoUpdate val="0"/>
  </c:externalData>
</c:chartSpace>
</file>

<file path=ppt/charts/chart3.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0"/>
    <c:plotArea>
      <c:layout/>
      <c:lineChart>
        <c:grouping val="standard"/>
        <c:varyColors val="0"/>
        <c:ser>
          <c:idx val="0"/>
          <c:order val="0"/>
          <c:tx>
            <c:strRef>
              <c:f>Sheet1!$B$1</c:f>
              <c:strCache>
                <c:ptCount val="1"/>
                <c:pt idx="0">
                  <c:v>Column1</c:v>
                </c:pt>
              </c:strCache>
            </c:strRef>
          </c:tx>
          <c:cat>
            <c:numRef>
              <c:f>Sheet1!$A$2:$A$7</c:f>
              <c:numCache>
                <c:formatCode>General</c:formatCode>
                <c:ptCount val="6"/>
                <c:pt idx="0">
                  <c:v>1</c:v>
                </c:pt>
                <c:pt idx="1">
                  <c:v>2</c:v>
                </c:pt>
                <c:pt idx="2">
                  <c:v>3</c:v>
                </c:pt>
                <c:pt idx="3">
                  <c:v>4</c:v>
                </c:pt>
                <c:pt idx="4">
                  <c:v>5</c:v>
                </c:pt>
                <c:pt idx="5">
                  <c:v>6</c:v>
                </c:pt>
              </c:numCache>
            </c:numRef>
          </c:cat>
          <c:val>
            <c:numRef>
              <c:f>Sheet1!$B$2:$B$7</c:f>
              <c:numCache>
                <c:formatCode>General</c:formatCode>
                <c:ptCount val="6"/>
              </c:numCache>
            </c:numRef>
          </c:val>
          <c:smooth val="0"/>
          <c:extLst>
            <c:ext xmlns:c16="http://schemas.microsoft.com/office/drawing/2014/chart" uri="{C3380CC4-5D6E-409C-BE32-E72D297353CC}">
              <c16:uniqueId val="{00000000-1A48-4F1C-AAE9-B93D22BF7625}"/>
            </c:ext>
          </c:extLst>
        </c:ser>
        <c:ser>
          <c:idx val="1"/>
          <c:order val="1"/>
          <c:tx>
            <c:strRef>
              <c:f>Sheet1!$C$1</c:f>
              <c:strCache>
                <c:ptCount val="1"/>
                <c:pt idx="0">
                  <c:v>Column2</c:v>
                </c:pt>
              </c:strCache>
            </c:strRef>
          </c:tx>
          <c:cat>
            <c:numRef>
              <c:f>Sheet1!$A$2:$A$7</c:f>
              <c:numCache>
                <c:formatCode>General</c:formatCode>
                <c:ptCount val="6"/>
                <c:pt idx="0">
                  <c:v>1</c:v>
                </c:pt>
                <c:pt idx="1">
                  <c:v>2</c:v>
                </c:pt>
                <c:pt idx="2">
                  <c:v>3</c:v>
                </c:pt>
                <c:pt idx="3">
                  <c:v>4</c:v>
                </c:pt>
                <c:pt idx="4">
                  <c:v>5</c:v>
                </c:pt>
                <c:pt idx="5">
                  <c:v>6</c:v>
                </c:pt>
              </c:numCache>
            </c:numRef>
          </c:cat>
          <c:val>
            <c:numRef>
              <c:f>Sheet1!$C$2:$C$7</c:f>
              <c:numCache>
                <c:formatCode>General</c:formatCode>
                <c:ptCount val="6"/>
              </c:numCache>
            </c:numRef>
          </c:val>
          <c:smooth val="0"/>
          <c:extLst>
            <c:ext xmlns:c16="http://schemas.microsoft.com/office/drawing/2014/chart" uri="{C3380CC4-5D6E-409C-BE32-E72D297353CC}">
              <c16:uniqueId val="{00000001-1A48-4F1C-AAE9-B93D22BF7625}"/>
            </c:ext>
          </c:extLst>
        </c:ser>
        <c:ser>
          <c:idx val="2"/>
          <c:order val="2"/>
          <c:tx>
            <c:strRef>
              <c:f>Sheet1!$D$1</c:f>
              <c:strCache>
                <c:ptCount val="1"/>
                <c:pt idx="0">
                  <c:v>Column3</c:v>
                </c:pt>
              </c:strCache>
            </c:strRef>
          </c:tx>
          <c:cat>
            <c:numRef>
              <c:f>Sheet1!$A$2:$A$7</c:f>
              <c:numCache>
                <c:formatCode>General</c:formatCode>
                <c:ptCount val="6"/>
                <c:pt idx="0">
                  <c:v>1</c:v>
                </c:pt>
                <c:pt idx="1">
                  <c:v>2</c:v>
                </c:pt>
                <c:pt idx="2">
                  <c:v>3</c:v>
                </c:pt>
                <c:pt idx="3">
                  <c:v>4</c:v>
                </c:pt>
                <c:pt idx="4">
                  <c:v>5</c:v>
                </c:pt>
                <c:pt idx="5">
                  <c:v>6</c:v>
                </c:pt>
              </c:numCache>
            </c:numRef>
          </c:cat>
          <c:val>
            <c:numRef>
              <c:f>Sheet1!$D$2:$D$7</c:f>
              <c:numCache>
                <c:formatCode>General</c:formatCode>
                <c:ptCount val="6"/>
              </c:numCache>
            </c:numRef>
          </c:val>
          <c:smooth val="0"/>
          <c:extLst>
            <c:ext xmlns:c16="http://schemas.microsoft.com/office/drawing/2014/chart" uri="{C3380CC4-5D6E-409C-BE32-E72D297353CC}">
              <c16:uniqueId val="{00000002-1A48-4F1C-AAE9-B93D22BF7625}"/>
            </c:ext>
          </c:extLst>
        </c:ser>
        <c:dLbls>
          <c:showLegendKey val="0"/>
          <c:showVal val="0"/>
          <c:showCatName val="0"/>
          <c:showSerName val="0"/>
          <c:showPercent val="0"/>
          <c:showBubbleSize val="0"/>
        </c:dLbls>
        <c:marker val="1"/>
        <c:smooth val="0"/>
        <c:axId val="212596608"/>
        <c:axId val="212598144"/>
      </c:lineChart>
      <c:catAx>
        <c:axId val="212596608"/>
        <c:scaling>
          <c:orientation val="minMax"/>
        </c:scaling>
        <c:delete val="0"/>
        <c:axPos val="b"/>
        <c:numFmt formatCode="General" sourceLinked="1"/>
        <c:majorTickMark val="out"/>
        <c:minorTickMark val="none"/>
        <c:tickLblPos val="nextTo"/>
        <c:crossAx val="212598144"/>
        <c:crosses val="autoZero"/>
        <c:auto val="1"/>
        <c:lblAlgn val="ctr"/>
        <c:lblOffset val="100"/>
        <c:noMultiLvlLbl val="0"/>
      </c:catAx>
      <c:valAx>
        <c:axId val="212598144"/>
        <c:scaling>
          <c:orientation val="minMax"/>
          <c:max val="90"/>
          <c:min val="0"/>
        </c:scaling>
        <c:delete val="0"/>
        <c:axPos val="l"/>
        <c:majorGridlines/>
        <c:numFmt formatCode="0" sourceLinked="0"/>
        <c:majorTickMark val="out"/>
        <c:minorTickMark val="none"/>
        <c:tickLblPos val="nextTo"/>
        <c:crossAx val="212596608"/>
        <c:crosses val="autoZero"/>
        <c:crossBetween val="between"/>
      </c:valAx>
      <c:spPr>
        <a:solidFill>
          <a:srgbClr val="94B6D2">
            <a:alpha val="12000"/>
          </a:srgbClr>
        </a:solidFill>
        <a:ln w="12700"/>
      </c:spPr>
    </c:plotArea>
    <c:plotVisOnly val="1"/>
    <c:dispBlanksAs val="gap"/>
    <c:showDLblsOverMax val="0"/>
  </c:chart>
  <c:txPr>
    <a:bodyPr/>
    <a:lstStyle/>
    <a:p>
      <a:pPr>
        <a:defRPr sz="1800"/>
      </a:pPr>
      <a:endParaRPr lang="en-US"/>
    </a:p>
  </c:txPr>
  <c:externalData r:id="rId1">
    <c:autoUpdate val="0"/>
  </c:externalData>
</c:chartSpace>
</file>

<file path=ppt/charts/chart4.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0"/>
    <c:view3D>
      <c:rotX val="80"/>
      <c:rotY val="110"/>
      <c:rAngAx val="1"/>
    </c:view3D>
    <c:floor>
      <c:thickness val="0"/>
    </c:floor>
    <c:sideWall>
      <c:thickness val="0"/>
      <c:spPr>
        <a:solidFill>
          <a:schemeClr val="accent1"/>
        </a:solidFill>
        <a:ln w="19050">
          <a:solidFill>
            <a:srgbClr val="C00000"/>
          </a:solidFill>
        </a:ln>
        <a:scene3d>
          <a:camera prst="orthographicFront"/>
          <a:lightRig rig="threePt" dir="t"/>
        </a:scene3d>
        <a:sp3d prstMaterial="translucentPowder"/>
      </c:spPr>
    </c:sideWall>
    <c:backWall>
      <c:thickness val="0"/>
      <c:spPr>
        <a:solidFill>
          <a:schemeClr val="accent1"/>
        </a:solidFill>
        <a:ln w="19050">
          <a:solidFill>
            <a:srgbClr val="C00000"/>
          </a:solidFill>
        </a:ln>
        <a:scene3d>
          <a:camera prst="orthographicFront"/>
          <a:lightRig rig="threePt" dir="t"/>
        </a:scene3d>
        <a:sp3d prstMaterial="translucentPowder"/>
      </c:spPr>
    </c:backWall>
    <c:plotArea>
      <c:layout/>
      <c:bar3DChart>
        <c:barDir val="col"/>
        <c:grouping val="clustered"/>
        <c:varyColors val="0"/>
        <c:ser>
          <c:idx val="0"/>
          <c:order val="0"/>
          <c:tx>
            <c:strRef>
              <c:f>Sheet1!$B$1</c:f>
              <c:strCache>
                <c:ptCount val="1"/>
                <c:pt idx="0">
                  <c:v>Series 1</c:v>
                </c:pt>
              </c:strCache>
            </c:strRef>
          </c:tx>
          <c:invertIfNegative val="0"/>
          <c:cat>
            <c:numRef>
              <c:f>Sheet1!$A$2:$A$5</c:f>
              <c:numCache>
                <c:formatCode>General</c:formatCode>
                <c:ptCount val="4"/>
              </c:numCache>
            </c:numRef>
          </c:cat>
          <c:val>
            <c:numRef>
              <c:f>Sheet1!$B$2:$B$5</c:f>
              <c:numCache>
                <c:formatCode>General</c:formatCode>
                <c:ptCount val="4"/>
              </c:numCache>
            </c:numRef>
          </c:val>
          <c:extLst>
            <c:ext xmlns:c16="http://schemas.microsoft.com/office/drawing/2014/chart" uri="{C3380CC4-5D6E-409C-BE32-E72D297353CC}">
              <c16:uniqueId val="{00000000-BE0D-4BBB-80B8-1C2CFD304A27}"/>
            </c:ext>
          </c:extLst>
        </c:ser>
        <c:ser>
          <c:idx val="1"/>
          <c:order val="1"/>
          <c:tx>
            <c:strRef>
              <c:f>Sheet1!$C$1</c:f>
              <c:strCache>
                <c:ptCount val="1"/>
                <c:pt idx="0">
                  <c:v>Series 2</c:v>
                </c:pt>
              </c:strCache>
            </c:strRef>
          </c:tx>
          <c:invertIfNegative val="0"/>
          <c:cat>
            <c:numRef>
              <c:f>Sheet1!$A$2:$A$5</c:f>
              <c:numCache>
                <c:formatCode>General</c:formatCode>
                <c:ptCount val="4"/>
              </c:numCache>
            </c:numRef>
          </c:cat>
          <c:val>
            <c:numRef>
              <c:f>Sheet1!$C$2:$C$5</c:f>
              <c:numCache>
                <c:formatCode>General</c:formatCode>
                <c:ptCount val="4"/>
              </c:numCache>
            </c:numRef>
          </c:val>
          <c:extLst>
            <c:ext xmlns:c16="http://schemas.microsoft.com/office/drawing/2014/chart" uri="{C3380CC4-5D6E-409C-BE32-E72D297353CC}">
              <c16:uniqueId val="{00000001-BE0D-4BBB-80B8-1C2CFD304A27}"/>
            </c:ext>
          </c:extLst>
        </c:ser>
        <c:ser>
          <c:idx val="2"/>
          <c:order val="2"/>
          <c:tx>
            <c:strRef>
              <c:f>Sheet1!$D$1</c:f>
              <c:strCache>
                <c:ptCount val="1"/>
                <c:pt idx="0">
                  <c:v>Series 3</c:v>
                </c:pt>
              </c:strCache>
            </c:strRef>
          </c:tx>
          <c:invertIfNegative val="0"/>
          <c:cat>
            <c:numRef>
              <c:f>Sheet1!$A$2:$A$5</c:f>
              <c:numCache>
                <c:formatCode>General</c:formatCode>
                <c:ptCount val="4"/>
              </c:numCache>
            </c:numRef>
          </c:cat>
          <c:val>
            <c:numRef>
              <c:f>Sheet1!$D$2:$D$5</c:f>
              <c:numCache>
                <c:formatCode>General</c:formatCode>
                <c:ptCount val="4"/>
              </c:numCache>
            </c:numRef>
          </c:val>
          <c:extLst>
            <c:ext xmlns:c16="http://schemas.microsoft.com/office/drawing/2014/chart" uri="{C3380CC4-5D6E-409C-BE32-E72D297353CC}">
              <c16:uniqueId val="{00000002-BE0D-4BBB-80B8-1C2CFD304A27}"/>
            </c:ext>
          </c:extLst>
        </c:ser>
        <c:dLbls>
          <c:showLegendKey val="0"/>
          <c:showVal val="0"/>
          <c:showCatName val="0"/>
          <c:showSerName val="0"/>
          <c:showPercent val="0"/>
          <c:showBubbleSize val="0"/>
        </c:dLbls>
        <c:gapWidth val="150"/>
        <c:shape val="cone"/>
        <c:axId val="213004288"/>
        <c:axId val="213005824"/>
        <c:axId val="0"/>
      </c:bar3DChart>
      <c:catAx>
        <c:axId val="213004288"/>
        <c:scaling>
          <c:orientation val="minMax"/>
        </c:scaling>
        <c:delete val="0"/>
        <c:axPos val="b"/>
        <c:numFmt formatCode="General" sourceLinked="1"/>
        <c:majorTickMark val="out"/>
        <c:minorTickMark val="none"/>
        <c:tickLblPos val="nextTo"/>
        <c:crossAx val="213005824"/>
        <c:crosses val="autoZero"/>
        <c:auto val="1"/>
        <c:lblAlgn val="ctr"/>
        <c:lblOffset val="100"/>
        <c:noMultiLvlLbl val="0"/>
      </c:catAx>
      <c:valAx>
        <c:axId val="213005824"/>
        <c:scaling>
          <c:orientation val="minMax"/>
        </c:scaling>
        <c:delete val="1"/>
        <c:axPos val="l"/>
        <c:majorGridlines/>
        <c:numFmt formatCode="General" sourceLinked="1"/>
        <c:majorTickMark val="out"/>
        <c:minorTickMark val="none"/>
        <c:tickLblPos val="nextTo"/>
        <c:crossAx val="213004288"/>
        <c:crosses val="autoZero"/>
        <c:crossBetween val="between"/>
      </c:valAx>
    </c:plotArea>
    <c:plotVisOnly val="1"/>
    <c:dispBlanksAs val="gap"/>
    <c:showDLblsOverMax val="0"/>
  </c:chart>
  <c:txPr>
    <a:bodyPr/>
    <a:lstStyle/>
    <a:p>
      <a:pPr>
        <a:defRPr sz="1800"/>
      </a:pPr>
      <a:endParaRPr lang="en-US"/>
    </a:p>
  </c:txPr>
  <c:externalData r:id="rId1">
    <c:autoUpdate val="0"/>
  </c:externalData>
</c:chartSpace>
</file>

<file path=ppt/charts/chart5.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0"/>
    <c:plotArea>
      <c:layout/>
      <c:lineChart>
        <c:grouping val="standard"/>
        <c:varyColors val="0"/>
        <c:ser>
          <c:idx val="0"/>
          <c:order val="0"/>
          <c:tx>
            <c:strRef>
              <c:f>Sheet1!$B$1</c:f>
              <c:strCache>
                <c:ptCount val="1"/>
                <c:pt idx="0">
                  <c:v>Column1</c:v>
                </c:pt>
              </c:strCache>
            </c:strRef>
          </c:tx>
          <c:cat>
            <c:numRef>
              <c:f>Sheet1!$A$2:$A$7</c:f>
              <c:numCache>
                <c:formatCode>General</c:formatCode>
                <c:ptCount val="6"/>
                <c:pt idx="0">
                  <c:v>1</c:v>
                </c:pt>
                <c:pt idx="1">
                  <c:v>2</c:v>
                </c:pt>
                <c:pt idx="2">
                  <c:v>3</c:v>
                </c:pt>
                <c:pt idx="3">
                  <c:v>4</c:v>
                </c:pt>
                <c:pt idx="4">
                  <c:v>5</c:v>
                </c:pt>
                <c:pt idx="5">
                  <c:v>6</c:v>
                </c:pt>
              </c:numCache>
            </c:numRef>
          </c:cat>
          <c:val>
            <c:numRef>
              <c:f>Sheet1!$B$2:$B$7</c:f>
              <c:numCache>
                <c:formatCode>General</c:formatCode>
                <c:ptCount val="6"/>
              </c:numCache>
            </c:numRef>
          </c:val>
          <c:smooth val="0"/>
          <c:extLst>
            <c:ext xmlns:c16="http://schemas.microsoft.com/office/drawing/2014/chart" uri="{C3380CC4-5D6E-409C-BE32-E72D297353CC}">
              <c16:uniqueId val="{00000000-1A48-4F1C-AAE9-B93D22BF7625}"/>
            </c:ext>
          </c:extLst>
        </c:ser>
        <c:ser>
          <c:idx val="1"/>
          <c:order val="1"/>
          <c:tx>
            <c:strRef>
              <c:f>Sheet1!$C$1</c:f>
              <c:strCache>
                <c:ptCount val="1"/>
                <c:pt idx="0">
                  <c:v>Column2</c:v>
                </c:pt>
              </c:strCache>
            </c:strRef>
          </c:tx>
          <c:cat>
            <c:numRef>
              <c:f>Sheet1!$A$2:$A$7</c:f>
              <c:numCache>
                <c:formatCode>General</c:formatCode>
                <c:ptCount val="6"/>
                <c:pt idx="0">
                  <c:v>1</c:v>
                </c:pt>
                <c:pt idx="1">
                  <c:v>2</c:v>
                </c:pt>
                <c:pt idx="2">
                  <c:v>3</c:v>
                </c:pt>
                <c:pt idx="3">
                  <c:v>4</c:v>
                </c:pt>
                <c:pt idx="4">
                  <c:v>5</c:v>
                </c:pt>
                <c:pt idx="5">
                  <c:v>6</c:v>
                </c:pt>
              </c:numCache>
            </c:numRef>
          </c:cat>
          <c:val>
            <c:numRef>
              <c:f>Sheet1!$C$2:$C$7</c:f>
              <c:numCache>
                <c:formatCode>General</c:formatCode>
                <c:ptCount val="6"/>
              </c:numCache>
            </c:numRef>
          </c:val>
          <c:smooth val="0"/>
          <c:extLst>
            <c:ext xmlns:c16="http://schemas.microsoft.com/office/drawing/2014/chart" uri="{C3380CC4-5D6E-409C-BE32-E72D297353CC}">
              <c16:uniqueId val="{00000001-1A48-4F1C-AAE9-B93D22BF7625}"/>
            </c:ext>
          </c:extLst>
        </c:ser>
        <c:ser>
          <c:idx val="2"/>
          <c:order val="2"/>
          <c:tx>
            <c:strRef>
              <c:f>Sheet1!$D$1</c:f>
              <c:strCache>
                <c:ptCount val="1"/>
                <c:pt idx="0">
                  <c:v>Column3</c:v>
                </c:pt>
              </c:strCache>
            </c:strRef>
          </c:tx>
          <c:cat>
            <c:numRef>
              <c:f>Sheet1!$A$2:$A$7</c:f>
              <c:numCache>
                <c:formatCode>General</c:formatCode>
                <c:ptCount val="6"/>
                <c:pt idx="0">
                  <c:v>1</c:v>
                </c:pt>
                <c:pt idx="1">
                  <c:v>2</c:v>
                </c:pt>
                <c:pt idx="2">
                  <c:v>3</c:v>
                </c:pt>
                <c:pt idx="3">
                  <c:v>4</c:v>
                </c:pt>
                <c:pt idx="4">
                  <c:v>5</c:v>
                </c:pt>
                <c:pt idx="5">
                  <c:v>6</c:v>
                </c:pt>
              </c:numCache>
            </c:numRef>
          </c:cat>
          <c:val>
            <c:numRef>
              <c:f>Sheet1!$D$2:$D$7</c:f>
              <c:numCache>
                <c:formatCode>General</c:formatCode>
                <c:ptCount val="6"/>
              </c:numCache>
            </c:numRef>
          </c:val>
          <c:smooth val="0"/>
          <c:extLst>
            <c:ext xmlns:c16="http://schemas.microsoft.com/office/drawing/2014/chart" uri="{C3380CC4-5D6E-409C-BE32-E72D297353CC}">
              <c16:uniqueId val="{00000002-1A48-4F1C-AAE9-B93D22BF7625}"/>
            </c:ext>
          </c:extLst>
        </c:ser>
        <c:dLbls>
          <c:showLegendKey val="0"/>
          <c:showVal val="0"/>
          <c:showCatName val="0"/>
          <c:showSerName val="0"/>
          <c:showPercent val="0"/>
          <c:showBubbleSize val="0"/>
        </c:dLbls>
        <c:marker val="1"/>
        <c:smooth val="0"/>
        <c:axId val="212761984"/>
        <c:axId val="212767872"/>
      </c:lineChart>
      <c:catAx>
        <c:axId val="212761984"/>
        <c:scaling>
          <c:orientation val="minMax"/>
        </c:scaling>
        <c:delete val="1"/>
        <c:axPos val="b"/>
        <c:numFmt formatCode="General" sourceLinked="1"/>
        <c:majorTickMark val="out"/>
        <c:minorTickMark val="none"/>
        <c:tickLblPos val="nextTo"/>
        <c:crossAx val="212767872"/>
        <c:crosses val="autoZero"/>
        <c:auto val="1"/>
        <c:lblAlgn val="ctr"/>
        <c:lblOffset val="100"/>
        <c:noMultiLvlLbl val="0"/>
      </c:catAx>
      <c:valAx>
        <c:axId val="212767872"/>
        <c:scaling>
          <c:orientation val="minMax"/>
          <c:max val="90"/>
          <c:min val="0"/>
        </c:scaling>
        <c:delete val="1"/>
        <c:axPos val="l"/>
        <c:majorGridlines/>
        <c:numFmt formatCode="0" sourceLinked="0"/>
        <c:majorTickMark val="out"/>
        <c:minorTickMark val="none"/>
        <c:tickLblPos val="nextTo"/>
        <c:crossAx val="212761984"/>
        <c:crosses val="autoZero"/>
        <c:crossBetween val="between"/>
      </c:valAx>
      <c:spPr>
        <a:solidFill>
          <a:srgbClr val="94B6D2">
            <a:alpha val="12000"/>
          </a:srgbClr>
        </a:solidFill>
        <a:ln w="12700"/>
      </c:spPr>
    </c:plotArea>
    <c:plotVisOnly val="1"/>
    <c:dispBlanksAs val="gap"/>
    <c:showDLblsOverMax val="0"/>
  </c:chart>
  <c:txPr>
    <a:bodyPr/>
    <a:lstStyle/>
    <a:p>
      <a:pPr>
        <a:defRPr sz="1800"/>
      </a:pPr>
      <a:endParaRPr lang="en-US"/>
    </a:p>
  </c:txPr>
  <c:externalData r:id="rId1">
    <c:autoUpdate val="0"/>
  </c:externalData>
  <c:userShapes r:id="rId2"/>
</c:chartSpace>
</file>

<file path=ppt/charts/chart6.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0"/>
    <c:plotArea>
      <c:layout/>
      <c:lineChart>
        <c:grouping val="standard"/>
        <c:varyColors val="0"/>
        <c:ser>
          <c:idx val="0"/>
          <c:order val="0"/>
          <c:tx>
            <c:strRef>
              <c:f>Sheet1!$B$1</c:f>
              <c:strCache>
                <c:ptCount val="1"/>
                <c:pt idx="0">
                  <c:v>Column1</c:v>
                </c:pt>
              </c:strCache>
            </c:strRef>
          </c:tx>
          <c:cat>
            <c:numRef>
              <c:f>Sheet1!$A$2:$A$7</c:f>
              <c:numCache>
                <c:formatCode>General</c:formatCode>
                <c:ptCount val="6"/>
                <c:pt idx="0">
                  <c:v>1</c:v>
                </c:pt>
                <c:pt idx="1">
                  <c:v>2</c:v>
                </c:pt>
                <c:pt idx="2">
                  <c:v>3</c:v>
                </c:pt>
                <c:pt idx="3">
                  <c:v>4</c:v>
                </c:pt>
                <c:pt idx="4">
                  <c:v>5</c:v>
                </c:pt>
                <c:pt idx="5">
                  <c:v>6</c:v>
                </c:pt>
              </c:numCache>
            </c:numRef>
          </c:cat>
          <c:val>
            <c:numRef>
              <c:f>Sheet1!$B$2:$B$7</c:f>
              <c:numCache>
                <c:formatCode>General</c:formatCode>
                <c:ptCount val="6"/>
              </c:numCache>
            </c:numRef>
          </c:val>
          <c:smooth val="0"/>
          <c:extLst>
            <c:ext xmlns:c16="http://schemas.microsoft.com/office/drawing/2014/chart" uri="{C3380CC4-5D6E-409C-BE32-E72D297353CC}">
              <c16:uniqueId val="{00000000-1A48-4F1C-AAE9-B93D22BF7625}"/>
            </c:ext>
          </c:extLst>
        </c:ser>
        <c:ser>
          <c:idx val="1"/>
          <c:order val="1"/>
          <c:tx>
            <c:strRef>
              <c:f>Sheet1!$C$1</c:f>
              <c:strCache>
                <c:ptCount val="1"/>
                <c:pt idx="0">
                  <c:v>Column2</c:v>
                </c:pt>
              </c:strCache>
            </c:strRef>
          </c:tx>
          <c:cat>
            <c:numRef>
              <c:f>Sheet1!$A$2:$A$7</c:f>
              <c:numCache>
                <c:formatCode>General</c:formatCode>
                <c:ptCount val="6"/>
                <c:pt idx="0">
                  <c:v>1</c:v>
                </c:pt>
                <c:pt idx="1">
                  <c:v>2</c:v>
                </c:pt>
                <c:pt idx="2">
                  <c:v>3</c:v>
                </c:pt>
                <c:pt idx="3">
                  <c:v>4</c:v>
                </c:pt>
                <c:pt idx="4">
                  <c:v>5</c:v>
                </c:pt>
                <c:pt idx="5">
                  <c:v>6</c:v>
                </c:pt>
              </c:numCache>
            </c:numRef>
          </c:cat>
          <c:val>
            <c:numRef>
              <c:f>Sheet1!$C$2:$C$7</c:f>
              <c:numCache>
                <c:formatCode>General</c:formatCode>
                <c:ptCount val="6"/>
              </c:numCache>
            </c:numRef>
          </c:val>
          <c:smooth val="0"/>
          <c:extLst>
            <c:ext xmlns:c16="http://schemas.microsoft.com/office/drawing/2014/chart" uri="{C3380CC4-5D6E-409C-BE32-E72D297353CC}">
              <c16:uniqueId val="{00000001-1A48-4F1C-AAE9-B93D22BF7625}"/>
            </c:ext>
          </c:extLst>
        </c:ser>
        <c:ser>
          <c:idx val="2"/>
          <c:order val="2"/>
          <c:tx>
            <c:strRef>
              <c:f>Sheet1!$D$1</c:f>
              <c:strCache>
                <c:ptCount val="1"/>
                <c:pt idx="0">
                  <c:v>Column3</c:v>
                </c:pt>
              </c:strCache>
            </c:strRef>
          </c:tx>
          <c:cat>
            <c:numRef>
              <c:f>Sheet1!$A$2:$A$7</c:f>
              <c:numCache>
                <c:formatCode>General</c:formatCode>
                <c:ptCount val="6"/>
                <c:pt idx="0">
                  <c:v>1</c:v>
                </c:pt>
                <c:pt idx="1">
                  <c:v>2</c:v>
                </c:pt>
                <c:pt idx="2">
                  <c:v>3</c:v>
                </c:pt>
                <c:pt idx="3">
                  <c:v>4</c:v>
                </c:pt>
                <c:pt idx="4">
                  <c:v>5</c:v>
                </c:pt>
                <c:pt idx="5">
                  <c:v>6</c:v>
                </c:pt>
              </c:numCache>
            </c:numRef>
          </c:cat>
          <c:val>
            <c:numRef>
              <c:f>Sheet1!$D$2:$D$7</c:f>
              <c:numCache>
                <c:formatCode>General</c:formatCode>
                <c:ptCount val="6"/>
              </c:numCache>
            </c:numRef>
          </c:val>
          <c:smooth val="0"/>
          <c:extLst>
            <c:ext xmlns:c16="http://schemas.microsoft.com/office/drawing/2014/chart" uri="{C3380CC4-5D6E-409C-BE32-E72D297353CC}">
              <c16:uniqueId val="{00000002-1A48-4F1C-AAE9-B93D22BF7625}"/>
            </c:ext>
          </c:extLst>
        </c:ser>
        <c:dLbls>
          <c:showLegendKey val="0"/>
          <c:showVal val="0"/>
          <c:showCatName val="0"/>
          <c:showSerName val="0"/>
          <c:showPercent val="0"/>
          <c:showBubbleSize val="0"/>
        </c:dLbls>
        <c:marker val="1"/>
        <c:smooth val="0"/>
        <c:axId val="212923904"/>
        <c:axId val="212925440"/>
      </c:lineChart>
      <c:catAx>
        <c:axId val="212923904"/>
        <c:scaling>
          <c:orientation val="minMax"/>
        </c:scaling>
        <c:delete val="1"/>
        <c:axPos val="b"/>
        <c:numFmt formatCode="General" sourceLinked="1"/>
        <c:majorTickMark val="out"/>
        <c:minorTickMark val="none"/>
        <c:tickLblPos val="nextTo"/>
        <c:crossAx val="212925440"/>
        <c:crosses val="autoZero"/>
        <c:auto val="1"/>
        <c:lblAlgn val="ctr"/>
        <c:lblOffset val="100"/>
        <c:noMultiLvlLbl val="0"/>
      </c:catAx>
      <c:valAx>
        <c:axId val="212925440"/>
        <c:scaling>
          <c:orientation val="minMax"/>
          <c:max val="90"/>
          <c:min val="0"/>
        </c:scaling>
        <c:delete val="1"/>
        <c:axPos val="l"/>
        <c:majorGridlines/>
        <c:numFmt formatCode="0" sourceLinked="0"/>
        <c:majorTickMark val="out"/>
        <c:minorTickMark val="none"/>
        <c:tickLblPos val="nextTo"/>
        <c:crossAx val="212923904"/>
        <c:crosses val="autoZero"/>
        <c:crossBetween val="between"/>
      </c:valAx>
      <c:spPr>
        <a:solidFill>
          <a:srgbClr val="94B6D2">
            <a:alpha val="12000"/>
          </a:srgbClr>
        </a:solidFill>
        <a:ln w="12700"/>
      </c:spPr>
    </c:plotArea>
    <c:plotVisOnly val="1"/>
    <c:dispBlanksAs val="gap"/>
    <c:showDLblsOverMax val="0"/>
  </c:chart>
  <c:txPr>
    <a:bodyPr/>
    <a:lstStyle/>
    <a:p>
      <a:pPr>
        <a:defRPr sz="1800"/>
      </a:pPr>
      <a:endParaRPr lang="en-US"/>
    </a:p>
  </c:txPr>
  <c:externalData r:id="rId1">
    <c:autoUpdate val="0"/>
  </c:externalData>
  <c:userShapes r:id="rId2"/>
</c:chartSpace>
</file>

<file path=ppt/charts/chart7.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0"/>
    <c:plotArea>
      <c:layout/>
      <c:lineChart>
        <c:grouping val="standard"/>
        <c:varyColors val="0"/>
        <c:ser>
          <c:idx val="0"/>
          <c:order val="0"/>
          <c:tx>
            <c:strRef>
              <c:f>Sheet1!$B$1</c:f>
              <c:strCache>
                <c:ptCount val="1"/>
                <c:pt idx="0">
                  <c:v>Column1</c:v>
                </c:pt>
              </c:strCache>
            </c:strRef>
          </c:tx>
          <c:cat>
            <c:numRef>
              <c:f>Sheet1!$A$2:$A$7</c:f>
              <c:numCache>
                <c:formatCode>General</c:formatCode>
                <c:ptCount val="6"/>
                <c:pt idx="0">
                  <c:v>1</c:v>
                </c:pt>
                <c:pt idx="1">
                  <c:v>2</c:v>
                </c:pt>
                <c:pt idx="2">
                  <c:v>3</c:v>
                </c:pt>
                <c:pt idx="3">
                  <c:v>4</c:v>
                </c:pt>
                <c:pt idx="4">
                  <c:v>5</c:v>
                </c:pt>
                <c:pt idx="5">
                  <c:v>6</c:v>
                </c:pt>
              </c:numCache>
            </c:numRef>
          </c:cat>
          <c:val>
            <c:numRef>
              <c:f>Sheet1!$B$2:$B$7</c:f>
              <c:numCache>
                <c:formatCode>General</c:formatCode>
                <c:ptCount val="6"/>
              </c:numCache>
            </c:numRef>
          </c:val>
          <c:smooth val="0"/>
          <c:extLst>
            <c:ext xmlns:c16="http://schemas.microsoft.com/office/drawing/2014/chart" uri="{C3380CC4-5D6E-409C-BE32-E72D297353CC}">
              <c16:uniqueId val="{00000000-1A48-4F1C-AAE9-B93D22BF7625}"/>
            </c:ext>
          </c:extLst>
        </c:ser>
        <c:ser>
          <c:idx val="1"/>
          <c:order val="1"/>
          <c:tx>
            <c:strRef>
              <c:f>Sheet1!$C$1</c:f>
              <c:strCache>
                <c:ptCount val="1"/>
                <c:pt idx="0">
                  <c:v>Column2</c:v>
                </c:pt>
              </c:strCache>
            </c:strRef>
          </c:tx>
          <c:cat>
            <c:numRef>
              <c:f>Sheet1!$A$2:$A$7</c:f>
              <c:numCache>
                <c:formatCode>General</c:formatCode>
                <c:ptCount val="6"/>
                <c:pt idx="0">
                  <c:v>1</c:v>
                </c:pt>
                <c:pt idx="1">
                  <c:v>2</c:v>
                </c:pt>
                <c:pt idx="2">
                  <c:v>3</c:v>
                </c:pt>
                <c:pt idx="3">
                  <c:v>4</c:v>
                </c:pt>
                <c:pt idx="4">
                  <c:v>5</c:v>
                </c:pt>
                <c:pt idx="5">
                  <c:v>6</c:v>
                </c:pt>
              </c:numCache>
            </c:numRef>
          </c:cat>
          <c:val>
            <c:numRef>
              <c:f>Sheet1!$C$2:$C$7</c:f>
              <c:numCache>
                <c:formatCode>General</c:formatCode>
                <c:ptCount val="6"/>
              </c:numCache>
            </c:numRef>
          </c:val>
          <c:smooth val="0"/>
          <c:extLst>
            <c:ext xmlns:c16="http://schemas.microsoft.com/office/drawing/2014/chart" uri="{C3380CC4-5D6E-409C-BE32-E72D297353CC}">
              <c16:uniqueId val="{00000001-1A48-4F1C-AAE9-B93D22BF7625}"/>
            </c:ext>
          </c:extLst>
        </c:ser>
        <c:ser>
          <c:idx val="2"/>
          <c:order val="2"/>
          <c:tx>
            <c:strRef>
              <c:f>Sheet1!$D$1</c:f>
              <c:strCache>
                <c:ptCount val="1"/>
                <c:pt idx="0">
                  <c:v>Column3</c:v>
                </c:pt>
              </c:strCache>
            </c:strRef>
          </c:tx>
          <c:cat>
            <c:numRef>
              <c:f>Sheet1!$A$2:$A$7</c:f>
              <c:numCache>
                <c:formatCode>General</c:formatCode>
                <c:ptCount val="6"/>
                <c:pt idx="0">
                  <c:v>1</c:v>
                </c:pt>
                <c:pt idx="1">
                  <c:v>2</c:v>
                </c:pt>
                <c:pt idx="2">
                  <c:v>3</c:v>
                </c:pt>
                <c:pt idx="3">
                  <c:v>4</c:v>
                </c:pt>
                <c:pt idx="4">
                  <c:v>5</c:v>
                </c:pt>
                <c:pt idx="5">
                  <c:v>6</c:v>
                </c:pt>
              </c:numCache>
            </c:numRef>
          </c:cat>
          <c:val>
            <c:numRef>
              <c:f>Sheet1!$D$2:$D$7</c:f>
              <c:numCache>
                <c:formatCode>General</c:formatCode>
                <c:ptCount val="6"/>
              </c:numCache>
            </c:numRef>
          </c:val>
          <c:smooth val="0"/>
          <c:extLst>
            <c:ext xmlns:c16="http://schemas.microsoft.com/office/drawing/2014/chart" uri="{C3380CC4-5D6E-409C-BE32-E72D297353CC}">
              <c16:uniqueId val="{00000002-1A48-4F1C-AAE9-B93D22BF7625}"/>
            </c:ext>
          </c:extLst>
        </c:ser>
        <c:dLbls>
          <c:showLegendKey val="0"/>
          <c:showVal val="0"/>
          <c:showCatName val="0"/>
          <c:showSerName val="0"/>
          <c:showPercent val="0"/>
          <c:showBubbleSize val="0"/>
        </c:dLbls>
        <c:marker val="1"/>
        <c:smooth val="0"/>
        <c:axId val="213642240"/>
        <c:axId val="213652224"/>
      </c:lineChart>
      <c:catAx>
        <c:axId val="213642240"/>
        <c:scaling>
          <c:orientation val="minMax"/>
        </c:scaling>
        <c:delete val="1"/>
        <c:axPos val="b"/>
        <c:numFmt formatCode="General" sourceLinked="1"/>
        <c:majorTickMark val="out"/>
        <c:minorTickMark val="none"/>
        <c:tickLblPos val="nextTo"/>
        <c:crossAx val="213652224"/>
        <c:crosses val="autoZero"/>
        <c:auto val="1"/>
        <c:lblAlgn val="ctr"/>
        <c:lblOffset val="100"/>
        <c:noMultiLvlLbl val="0"/>
      </c:catAx>
      <c:valAx>
        <c:axId val="213652224"/>
        <c:scaling>
          <c:orientation val="minMax"/>
          <c:max val="90"/>
          <c:min val="0"/>
        </c:scaling>
        <c:delete val="1"/>
        <c:axPos val="l"/>
        <c:majorGridlines/>
        <c:numFmt formatCode="0" sourceLinked="0"/>
        <c:majorTickMark val="out"/>
        <c:minorTickMark val="none"/>
        <c:tickLblPos val="nextTo"/>
        <c:crossAx val="213642240"/>
        <c:crosses val="autoZero"/>
        <c:crossBetween val="between"/>
      </c:valAx>
      <c:spPr>
        <a:solidFill>
          <a:srgbClr val="94B6D2">
            <a:alpha val="12000"/>
          </a:srgbClr>
        </a:solidFill>
        <a:ln w="12700"/>
      </c:spPr>
    </c:plotArea>
    <c:plotVisOnly val="1"/>
    <c:dispBlanksAs val="gap"/>
    <c:showDLblsOverMax val="0"/>
  </c:chart>
  <c:txPr>
    <a:bodyPr/>
    <a:lstStyle/>
    <a:p>
      <a:pPr>
        <a:defRPr sz="1800"/>
      </a:pPr>
      <a:endParaRPr lang="en-US"/>
    </a:p>
  </c:txPr>
  <c:externalData r:id="rId1">
    <c:autoUpdate val="0"/>
  </c:externalData>
  <c:userShapes r:id="rId2"/>
</c:chartSpace>
</file>

<file path=ppt/charts/chart8.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0"/>
    <c:plotArea>
      <c:layout/>
      <c:lineChart>
        <c:grouping val="standard"/>
        <c:varyColors val="0"/>
        <c:ser>
          <c:idx val="0"/>
          <c:order val="0"/>
          <c:tx>
            <c:strRef>
              <c:f>Sheet1!$B$1</c:f>
              <c:strCache>
                <c:ptCount val="1"/>
                <c:pt idx="0">
                  <c:v>Column1</c:v>
                </c:pt>
              </c:strCache>
            </c:strRef>
          </c:tx>
          <c:cat>
            <c:numRef>
              <c:f>Sheet1!$A$2:$A$7</c:f>
              <c:numCache>
                <c:formatCode>General</c:formatCode>
                <c:ptCount val="6"/>
                <c:pt idx="0">
                  <c:v>1</c:v>
                </c:pt>
                <c:pt idx="1">
                  <c:v>2</c:v>
                </c:pt>
                <c:pt idx="2">
                  <c:v>3</c:v>
                </c:pt>
                <c:pt idx="3">
                  <c:v>4</c:v>
                </c:pt>
                <c:pt idx="4">
                  <c:v>5</c:v>
                </c:pt>
                <c:pt idx="5">
                  <c:v>6</c:v>
                </c:pt>
              </c:numCache>
            </c:numRef>
          </c:cat>
          <c:val>
            <c:numRef>
              <c:f>Sheet1!$B$2:$B$7</c:f>
              <c:numCache>
                <c:formatCode>General</c:formatCode>
                <c:ptCount val="6"/>
              </c:numCache>
            </c:numRef>
          </c:val>
          <c:smooth val="0"/>
          <c:extLst>
            <c:ext xmlns:c16="http://schemas.microsoft.com/office/drawing/2014/chart" uri="{C3380CC4-5D6E-409C-BE32-E72D297353CC}">
              <c16:uniqueId val="{00000000-1A48-4F1C-AAE9-B93D22BF7625}"/>
            </c:ext>
          </c:extLst>
        </c:ser>
        <c:ser>
          <c:idx val="1"/>
          <c:order val="1"/>
          <c:tx>
            <c:strRef>
              <c:f>Sheet1!$C$1</c:f>
              <c:strCache>
                <c:ptCount val="1"/>
                <c:pt idx="0">
                  <c:v>Column2</c:v>
                </c:pt>
              </c:strCache>
            </c:strRef>
          </c:tx>
          <c:cat>
            <c:numRef>
              <c:f>Sheet1!$A$2:$A$7</c:f>
              <c:numCache>
                <c:formatCode>General</c:formatCode>
                <c:ptCount val="6"/>
                <c:pt idx="0">
                  <c:v>1</c:v>
                </c:pt>
                <c:pt idx="1">
                  <c:v>2</c:v>
                </c:pt>
                <c:pt idx="2">
                  <c:v>3</c:v>
                </c:pt>
                <c:pt idx="3">
                  <c:v>4</c:v>
                </c:pt>
                <c:pt idx="4">
                  <c:v>5</c:v>
                </c:pt>
                <c:pt idx="5">
                  <c:v>6</c:v>
                </c:pt>
              </c:numCache>
            </c:numRef>
          </c:cat>
          <c:val>
            <c:numRef>
              <c:f>Sheet1!$C$2:$C$7</c:f>
              <c:numCache>
                <c:formatCode>General</c:formatCode>
                <c:ptCount val="6"/>
              </c:numCache>
            </c:numRef>
          </c:val>
          <c:smooth val="0"/>
          <c:extLst>
            <c:ext xmlns:c16="http://schemas.microsoft.com/office/drawing/2014/chart" uri="{C3380CC4-5D6E-409C-BE32-E72D297353CC}">
              <c16:uniqueId val="{00000001-1A48-4F1C-AAE9-B93D22BF7625}"/>
            </c:ext>
          </c:extLst>
        </c:ser>
        <c:ser>
          <c:idx val="2"/>
          <c:order val="2"/>
          <c:tx>
            <c:strRef>
              <c:f>Sheet1!$D$1</c:f>
              <c:strCache>
                <c:ptCount val="1"/>
                <c:pt idx="0">
                  <c:v>Column3</c:v>
                </c:pt>
              </c:strCache>
            </c:strRef>
          </c:tx>
          <c:cat>
            <c:numRef>
              <c:f>Sheet1!$A$2:$A$7</c:f>
              <c:numCache>
                <c:formatCode>General</c:formatCode>
                <c:ptCount val="6"/>
                <c:pt idx="0">
                  <c:v>1</c:v>
                </c:pt>
                <c:pt idx="1">
                  <c:v>2</c:v>
                </c:pt>
                <c:pt idx="2">
                  <c:v>3</c:v>
                </c:pt>
                <c:pt idx="3">
                  <c:v>4</c:v>
                </c:pt>
                <c:pt idx="4">
                  <c:v>5</c:v>
                </c:pt>
                <c:pt idx="5">
                  <c:v>6</c:v>
                </c:pt>
              </c:numCache>
            </c:numRef>
          </c:cat>
          <c:val>
            <c:numRef>
              <c:f>Sheet1!$D$2:$D$7</c:f>
              <c:numCache>
                <c:formatCode>General</c:formatCode>
                <c:ptCount val="6"/>
              </c:numCache>
            </c:numRef>
          </c:val>
          <c:smooth val="0"/>
          <c:extLst>
            <c:ext xmlns:c16="http://schemas.microsoft.com/office/drawing/2014/chart" uri="{C3380CC4-5D6E-409C-BE32-E72D297353CC}">
              <c16:uniqueId val="{00000002-1A48-4F1C-AAE9-B93D22BF7625}"/>
            </c:ext>
          </c:extLst>
        </c:ser>
        <c:dLbls>
          <c:showLegendKey val="0"/>
          <c:showVal val="0"/>
          <c:showCatName val="0"/>
          <c:showSerName val="0"/>
          <c:showPercent val="0"/>
          <c:showBubbleSize val="0"/>
        </c:dLbls>
        <c:marker val="1"/>
        <c:smooth val="0"/>
        <c:axId val="213777792"/>
        <c:axId val="213787776"/>
      </c:lineChart>
      <c:catAx>
        <c:axId val="213777792"/>
        <c:scaling>
          <c:orientation val="minMax"/>
        </c:scaling>
        <c:delete val="1"/>
        <c:axPos val="b"/>
        <c:numFmt formatCode="General" sourceLinked="1"/>
        <c:majorTickMark val="out"/>
        <c:minorTickMark val="none"/>
        <c:tickLblPos val="nextTo"/>
        <c:crossAx val="213787776"/>
        <c:crosses val="autoZero"/>
        <c:auto val="1"/>
        <c:lblAlgn val="ctr"/>
        <c:lblOffset val="100"/>
        <c:noMultiLvlLbl val="0"/>
      </c:catAx>
      <c:valAx>
        <c:axId val="213787776"/>
        <c:scaling>
          <c:orientation val="minMax"/>
          <c:max val="90"/>
          <c:min val="0"/>
        </c:scaling>
        <c:delete val="1"/>
        <c:axPos val="l"/>
        <c:majorGridlines/>
        <c:numFmt formatCode="0" sourceLinked="0"/>
        <c:majorTickMark val="out"/>
        <c:minorTickMark val="none"/>
        <c:tickLblPos val="nextTo"/>
        <c:crossAx val="213777792"/>
        <c:crosses val="autoZero"/>
        <c:crossBetween val="between"/>
      </c:valAx>
      <c:spPr>
        <a:solidFill>
          <a:srgbClr val="94B6D2">
            <a:alpha val="12000"/>
          </a:srgbClr>
        </a:solidFill>
        <a:ln w="12700"/>
      </c:spPr>
    </c:plotArea>
    <c:plotVisOnly val="1"/>
    <c:dispBlanksAs val="gap"/>
    <c:showDLblsOverMax val="0"/>
  </c:chart>
  <c:txPr>
    <a:bodyPr/>
    <a:lstStyle/>
    <a:p>
      <a:pPr>
        <a:defRPr sz="1800"/>
      </a:pPr>
      <a:endParaRPr lang="en-US"/>
    </a:p>
  </c:txPr>
  <c:externalData r:id="rId1">
    <c:autoUpdate val="0"/>
  </c:externalData>
  <c:userShapes r:id="rId2"/>
</c:chartSpace>
</file>

<file path=ppt/charts/chart9.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0"/>
    <c:plotArea>
      <c:layout/>
      <c:lineChart>
        <c:grouping val="standard"/>
        <c:varyColors val="0"/>
        <c:ser>
          <c:idx val="0"/>
          <c:order val="0"/>
          <c:tx>
            <c:strRef>
              <c:f>Sheet1!$B$1</c:f>
              <c:strCache>
                <c:ptCount val="1"/>
                <c:pt idx="0">
                  <c:v>Column1</c:v>
                </c:pt>
              </c:strCache>
            </c:strRef>
          </c:tx>
          <c:cat>
            <c:numRef>
              <c:f>Sheet1!$A$2:$A$7</c:f>
              <c:numCache>
                <c:formatCode>General</c:formatCode>
                <c:ptCount val="6"/>
                <c:pt idx="0">
                  <c:v>1</c:v>
                </c:pt>
                <c:pt idx="1">
                  <c:v>2</c:v>
                </c:pt>
                <c:pt idx="2">
                  <c:v>3</c:v>
                </c:pt>
                <c:pt idx="3">
                  <c:v>4</c:v>
                </c:pt>
                <c:pt idx="4">
                  <c:v>5</c:v>
                </c:pt>
                <c:pt idx="5">
                  <c:v>6</c:v>
                </c:pt>
              </c:numCache>
            </c:numRef>
          </c:cat>
          <c:val>
            <c:numRef>
              <c:f>Sheet1!$B$2:$B$7</c:f>
              <c:numCache>
                <c:formatCode>General</c:formatCode>
                <c:ptCount val="6"/>
              </c:numCache>
            </c:numRef>
          </c:val>
          <c:smooth val="0"/>
          <c:extLst>
            <c:ext xmlns:c16="http://schemas.microsoft.com/office/drawing/2014/chart" uri="{C3380CC4-5D6E-409C-BE32-E72D297353CC}">
              <c16:uniqueId val="{00000000-1A48-4F1C-AAE9-B93D22BF7625}"/>
            </c:ext>
          </c:extLst>
        </c:ser>
        <c:ser>
          <c:idx val="1"/>
          <c:order val="1"/>
          <c:tx>
            <c:strRef>
              <c:f>Sheet1!$C$1</c:f>
              <c:strCache>
                <c:ptCount val="1"/>
                <c:pt idx="0">
                  <c:v>Column2</c:v>
                </c:pt>
              </c:strCache>
            </c:strRef>
          </c:tx>
          <c:cat>
            <c:numRef>
              <c:f>Sheet1!$A$2:$A$7</c:f>
              <c:numCache>
                <c:formatCode>General</c:formatCode>
                <c:ptCount val="6"/>
                <c:pt idx="0">
                  <c:v>1</c:v>
                </c:pt>
                <c:pt idx="1">
                  <c:v>2</c:v>
                </c:pt>
                <c:pt idx="2">
                  <c:v>3</c:v>
                </c:pt>
                <c:pt idx="3">
                  <c:v>4</c:v>
                </c:pt>
                <c:pt idx="4">
                  <c:v>5</c:v>
                </c:pt>
                <c:pt idx="5">
                  <c:v>6</c:v>
                </c:pt>
              </c:numCache>
            </c:numRef>
          </c:cat>
          <c:val>
            <c:numRef>
              <c:f>Sheet1!$C$2:$C$7</c:f>
              <c:numCache>
                <c:formatCode>General</c:formatCode>
                <c:ptCount val="6"/>
              </c:numCache>
            </c:numRef>
          </c:val>
          <c:smooth val="0"/>
          <c:extLst>
            <c:ext xmlns:c16="http://schemas.microsoft.com/office/drawing/2014/chart" uri="{C3380CC4-5D6E-409C-BE32-E72D297353CC}">
              <c16:uniqueId val="{00000001-1A48-4F1C-AAE9-B93D22BF7625}"/>
            </c:ext>
          </c:extLst>
        </c:ser>
        <c:ser>
          <c:idx val="2"/>
          <c:order val="2"/>
          <c:tx>
            <c:strRef>
              <c:f>Sheet1!$D$1</c:f>
              <c:strCache>
                <c:ptCount val="1"/>
                <c:pt idx="0">
                  <c:v>Column3</c:v>
                </c:pt>
              </c:strCache>
            </c:strRef>
          </c:tx>
          <c:cat>
            <c:numRef>
              <c:f>Sheet1!$A$2:$A$7</c:f>
              <c:numCache>
                <c:formatCode>General</c:formatCode>
                <c:ptCount val="6"/>
                <c:pt idx="0">
                  <c:v>1</c:v>
                </c:pt>
                <c:pt idx="1">
                  <c:v>2</c:v>
                </c:pt>
                <c:pt idx="2">
                  <c:v>3</c:v>
                </c:pt>
                <c:pt idx="3">
                  <c:v>4</c:v>
                </c:pt>
                <c:pt idx="4">
                  <c:v>5</c:v>
                </c:pt>
                <c:pt idx="5">
                  <c:v>6</c:v>
                </c:pt>
              </c:numCache>
            </c:numRef>
          </c:cat>
          <c:val>
            <c:numRef>
              <c:f>Sheet1!$D$2:$D$7</c:f>
              <c:numCache>
                <c:formatCode>General</c:formatCode>
                <c:ptCount val="6"/>
              </c:numCache>
            </c:numRef>
          </c:val>
          <c:smooth val="0"/>
          <c:extLst>
            <c:ext xmlns:c16="http://schemas.microsoft.com/office/drawing/2014/chart" uri="{C3380CC4-5D6E-409C-BE32-E72D297353CC}">
              <c16:uniqueId val="{00000002-1A48-4F1C-AAE9-B93D22BF7625}"/>
            </c:ext>
          </c:extLst>
        </c:ser>
        <c:dLbls>
          <c:showLegendKey val="0"/>
          <c:showVal val="0"/>
          <c:showCatName val="0"/>
          <c:showSerName val="0"/>
          <c:showPercent val="0"/>
          <c:showBubbleSize val="0"/>
        </c:dLbls>
        <c:marker val="1"/>
        <c:smooth val="0"/>
        <c:axId val="213933440"/>
        <c:axId val="213943424"/>
      </c:lineChart>
      <c:catAx>
        <c:axId val="213933440"/>
        <c:scaling>
          <c:orientation val="minMax"/>
        </c:scaling>
        <c:delete val="1"/>
        <c:axPos val="b"/>
        <c:numFmt formatCode="General" sourceLinked="1"/>
        <c:majorTickMark val="out"/>
        <c:minorTickMark val="none"/>
        <c:tickLblPos val="nextTo"/>
        <c:crossAx val="213943424"/>
        <c:crosses val="autoZero"/>
        <c:auto val="1"/>
        <c:lblAlgn val="ctr"/>
        <c:lblOffset val="100"/>
        <c:noMultiLvlLbl val="0"/>
      </c:catAx>
      <c:valAx>
        <c:axId val="213943424"/>
        <c:scaling>
          <c:orientation val="minMax"/>
          <c:max val="90"/>
          <c:min val="0"/>
        </c:scaling>
        <c:delete val="1"/>
        <c:axPos val="l"/>
        <c:majorGridlines/>
        <c:numFmt formatCode="0" sourceLinked="0"/>
        <c:majorTickMark val="out"/>
        <c:minorTickMark val="none"/>
        <c:tickLblPos val="nextTo"/>
        <c:crossAx val="213933440"/>
        <c:crosses val="autoZero"/>
        <c:crossBetween val="between"/>
      </c:valAx>
      <c:spPr>
        <a:solidFill>
          <a:srgbClr val="94B6D2">
            <a:alpha val="12000"/>
          </a:srgbClr>
        </a:solidFill>
        <a:ln w="12700"/>
      </c:spPr>
    </c:plotArea>
    <c:plotVisOnly val="1"/>
    <c:dispBlanksAs val="gap"/>
    <c:showDLblsOverMax val="0"/>
  </c:chart>
  <c:txPr>
    <a:bodyPr/>
    <a:lstStyle/>
    <a:p>
      <a:pPr>
        <a:defRPr sz="1800"/>
      </a:pPr>
      <a:endParaRPr lang="en-US"/>
    </a:p>
  </c:txPr>
  <c:externalData r:id="rId1">
    <c:autoUpdate val="0"/>
  </c:externalData>
  <c:userShapes r:id="rId2"/>
</c:chartSpace>
</file>

<file path=ppt/charts/chart10.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0"/>
    <c:plotArea>
      <c:layout/>
      <c:lineChart>
        <c:grouping val="standard"/>
        <c:varyColors val="0"/>
        <c:ser>
          <c:idx val="0"/>
          <c:order val="0"/>
          <c:tx>
            <c:strRef>
              <c:f>Sheet1!$B$1</c:f>
              <c:strCache>
                <c:ptCount val="1"/>
                <c:pt idx="0">
                  <c:v>Column1</c:v>
                </c:pt>
              </c:strCache>
            </c:strRef>
          </c:tx>
          <c:cat>
            <c:numRef>
              <c:f>Sheet1!$A$2:$A$7</c:f>
              <c:numCache>
                <c:formatCode>General</c:formatCode>
                <c:ptCount val="6"/>
                <c:pt idx="0">
                  <c:v>1</c:v>
                </c:pt>
                <c:pt idx="1">
                  <c:v>2</c:v>
                </c:pt>
                <c:pt idx="2">
                  <c:v>3</c:v>
                </c:pt>
                <c:pt idx="3">
                  <c:v>4</c:v>
                </c:pt>
                <c:pt idx="4">
                  <c:v>5</c:v>
                </c:pt>
                <c:pt idx="5">
                  <c:v>6</c:v>
                </c:pt>
              </c:numCache>
            </c:numRef>
          </c:cat>
          <c:val>
            <c:numRef>
              <c:f>Sheet1!$B$2:$B$7</c:f>
              <c:numCache>
                <c:formatCode>General</c:formatCode>
                <c:ptCount val="6"/>
              </c:numCache>
            </c:numRef>
          </c:val>
          <c:smooth val="0"/>
          <c:extLst>
            <c:ext xmlns:c16="http://schemas.microsoft.com/office/drawing/2014/chart" uri="{C3380CC4-5D6E-409C-BE32-E72D297353CC}">
              <c16:uniqueId val="{00000000-1A48-4F1C-AAE9-B93D22BF7625}"/>
            </c:ext>
          </c:extLst>
        </c:ser>
        <c:ser>
          <c:idx val="1"/>
          <c:order val="1"/>
          <c:tx>
            <c:strRef>
              <c:f>Sheet1!$C$1</c:f>
              <c:strCache>
                <c:ptCount val="1"/>
                <c:pt idx="0">
                  <c:v>Column2</c:v>
                </c:pt>
              </c:strCache>
            </c:strRef>
          </c:tx>
          <c:cat>
            <c:numRef>
              <c:f>Sheet1!$A$2:$A$7</c:f>
              <c:numCache>
                <c:formatCode>General</c:formatCode>
                <c:ptCount val="6"/>
                <c:pt idx="0">
                  <c:v>1</c:v>
                </c:pt>
                <c:pt idx="1">
                  <c:v>2</c:v>
                </c:pt>
                <c:pt idx="2">
                  <c:v>3</c:v>
                </c:pt>
                <c:pt idx="3">
                  <c:v>4</c:v>
                </c:pt>
                <c:pt idx="4">
                  <c:v>5</c:v>
                </c:pt>
                <c:pt idx="5">
                  <c:v>6</c:v>
                </c:pt>
              </c:numCache>
            </c:numRef>
          </c:cat>
          <c:val>
            <c:numRef>
              <c:f>Sheet1!$C$2:$C$7</c:f>
              <c:numCache>
                <c:formatCode>General</c:formatCode>
                <c:ptCount val="6"/>
              </c:numCache>
            </c:numRef>
          </c:val>
          <c:smooth val="0"/>
          <c:extLst>
            <c:ext xmlns:c16="http://schemas.microsoft.com/office/drawing/2014/chart" uri="{C3380CC4-5D6E-409C-BE32-E72D297353CC}">
              <c16:uniqueId val="{00000001-1A48-4F1C-AAE9-B93D22BF7625}"/>
            </c:ext>
          </c:extLst>
        </c:ser>
        <c:ser>
          <c:idx val="2"/>
          <c:order val="2"/>
          <c:tx>
            <c:strRef>
              <c:f>Sheet1!$D$1</c:f>
              <c:strCache>
                <c:ptCount val="1"/>
                <c:pt idx="0">
                  <c:v>Column3</c:v>
                </c:pt>
              </c:strCache>
            </c:strRef>
          </c:tx>
          <c:cat>
            <c:numRef>
              <c:f>Sheet1!$A$2:$A$7</c:f>
              <c:numCache>
                <c:formatCode>General</c:formatCode>
                <c:ptCount val="6"/>
                <c:pt idx="0">
                  <c:v>1</c:v>
                </c:pt>
                <c:pt idx="1">
                  <c:v>2</c:v>
                </c:pt>
                <c:pt idx="2">
                  <c:v>3</c:v>
                </c:pt>
                <c:pt idx="3">
                  <c:v>4</c:v>
                </c:pt>
                <c:pt idx="4">
                  <c:v>5</c:v>
                </c:pt>
                <c:pt idx="5">
                  <c:v>6</c:v>
                </c:pt>
              </c:numCache>
            </c:numRef>
          </c:cat>
          <c:val>
            <c:numRef>
              <c:f>Sheet1!$D$2:$D$7</c:f>
              <c:numCache>
                <c:formatCode>General</c:formatCode>
                <c:ptCount val="6"/>
              </c:numCache>
            </c:numRef>
          </c:val>
          <c:smooth val="0"/>
          <c:extLst>
            <c:ext xmlns:c16="http://schemas.microsoft.com/office/drawing/2014/chart" uri="{C3380CC4-5D6E-409C-BE32-E72D297353CC}">
              <c16:uniqueId val="{00000002-1A48-4F1C-AAE9-B93D22BF7625}"/>
            </c:ext>
          </c:extLst>
        </c:ser>
        <c:dLbls>
          <c:showLegendKey val="0"/>
          <c:showVal val="0"/>
          <c:showCatName val="0"/>
          <c:showSerName val="0"/>
          <c:showPercent val="0"/>
          <c:showBubbleSize val="0"/>
        </c:dLbls>
        <c:marker val="1"/>
        <c:smooth val="0"/>
        <c:axId val="214280832"/>
        <c:axId val="214282624"/>
      </c:lineChart>
      <c:catAx>
        <c:axId val="214280832"/>
        <c:scaling>
          <c:orientation val="minMax"/>
        </c:scaling>
        <c:delete val="1"/>
        <c:axPos val="b"/>
        <c:numFmt formatCode="General" sourceLinked="1"/>
        <c:majorTickMark val="out"/>
        <c:minorTickMark val="none"/>
        <c:tickLblPos val="nextTo"/>
        <c:crossAx val="214282624"/>
        <c:crosses val="autoZero"/>
        <c:auto val="1"/>
        <c:lblAlgn val="ctr"/>
        <c:lblOffset val="100"/>
        <c:noMultiLvlLbl val="0"/>
      </c:catAx>
      <c:valAx>
        <c:axId val="214282624"/>
        <c:scaling>
          <c:orientation val="minMax"/>
          <c:max val="90"/>
          <c:min val="0"/>
        </c:scaling>
        <c:delete val="1"/>
        <c:axPos val="l"/>
        <c:majorGridlines/>
        <c:numFmt formatCode="0" sourceLinked="0"/>
        <c:majorTickMark val="out"/>
        <c:minorTickMark val="none"/>
        <c:tickLblPos val="nextTo"/>
        <c:crossAx val="214280832"/>
        <c:crosses val="autoZero"/>
        <c:crossBetween val="between"/>
      </c:valAx>
      <c:spPr>
        <a:solidFill>
          <a:srgbClr val="94B6D2">
            <a:alpha val="12000"/>
          </a:srgbClr>
        </a:solidFill>
        <a:ln w="12700"/>
      </c:spPr>
    </c:plotArea>
    <c:plotVisOnly val="1"/>
    <c:dispBlanksAs val="gap"/>
    <c:showDLblsOverMax val="0"/>
  </c:chart>
  <c:txPr>
    <a:bodyPr/>
    <a:lstStyle/>
    <a:p>
      <a:pPr>
        <a:defRPr sz="1800"/>
      </a:pPr>
      <a:endParaRPr lang="en-US"/>
    </a:p>
  </c:txPr>
  <c:externalData r:id="rId1">
    <c:autoUpdate val="0"/>
  </c:externalData>
  <c:userShapes r:id="rId2"/>
</c:chartSpace>
</file>

<file path=ppt/charts/chart1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0"/>
    <c:plotArea>
      <c:layout/>
      <c:lineChart>
        <c:grouping val="standard"/>
        <c:varyColors val="0"/>
        <c:ser>
          <c:idx val="0"/>
          <c:order val="0"/>
          <c:tx>
            <c:strRef>
              <c:f>Sheet1!$B$1</c:f>
              <c:strCache>
                <c:ptCount val="1"/>
                <c:pt idx="0">
                  <c:v>Column1</c:v>
                </c:pt>
              </c:strCache>
            </c:strRef>
          </c:tx>
          <c:cat>
            <c:numRef>
              <c:f>Sheet1!$A$2:$A$7</c:f>
              <c:numCache>
                <c:formatCode>General</c:formatCode>
                <c:ptCount val="6"/>
                <c:pt idx="0">
                  <c:v>1</c:v>
                </c:pt>
                <c:pt idx="1">
                  <c:v>2</c:v>
                </c:pt>
                <c:pt idx="2">
                  <c:v>3</c:v>
                </c:pt>
                <c:pt idx="3">
                  <c:v>4</c:v>
                </c:pt>
                <c:pt idx="4">
                  <c:v>5</c:v>
                </c:pt>
                <c:pt idx="5">
                  <c:v>6</c:v>
                </c:pt>
              </c:numCache>
            </c:numRef>
          </c:cat>
          <c:val>
            <c:numRef>
              <c:f>Sheet1!$B$2:$B$7</c:f>
              <c:numCache>
                <c:formatCode>General</c:formatCode>
                <c:ptCount val="6"/>
              </c:numCache>
            </c:numRef>
          </c:val>
          <c:smooth val="0"/>
          <c:extLst>
            <c:ext xmlns:c16="http://schemas.microsoft.com/office/drawing/2014/chart" uri="{C3380CC4-5D6E-409C-BE32-E72D297353CC}">
              <c16:uniqueId val="{00000000-1A48-4F1C-AAE9-B93D22BF7625}"/>
            </c:ext>
          </c:extLst>
        </c:ser>
        <c:ser>
          <c:idx val="1"/>
          <c:order val="1"/>
          <c:tx>
            <c:strRef>
              <c:f>Sheet1!$C$1</c:f>
              <c:strCache>
                <c:ptCount val="1"/>
                <c:pt idx="0">
                  <c:v>Column2</c:v>
                </c:pt>
              </c:strCache>
            </c:strRef>
          </c:tx>
          <c:cat>
            <c:numRef>
              <c:f>Sheet1!$A$2:$A$7</c:f>
              <c:numCache>
                <c:formatCode>General</c:formatCode>
                <c:ptCount val="6"/>
                <c:pt idx="0">
                  <c:v>1</c:v>
                </c:pt>
                <c:pt idx="1">
                  <c:v>2</c:v>
                </c:pt>
                <c:pt idx="2">
                  <c:v>3</c:v>
                </c:pt>
                <c:pt idx="3">
                  <c:v>4</c:v>
                </c:pt>
                <c:pt idx="4">
                  <c:v>5</c:v>
                </c:pt>
                <c:pt idx="5">
                  <c:v>6</c:v>
                </c:pt>
              </c:numCache>
            </c:numRef>
          </c:cat>
          <c:val>
            <c:numRef>
              <c:f>Sheet1!$C$2:$C$7</c:f>
              <c:numCache>
                <c:formatCode>General</c:formatCode>
                <c:ptCount val="6"/>
              </c:numCache>
            </c:numRef>
          </c:val>
          <c:smooth val="0"/>
          <c:extLst>
            <c:ext xmlns:c16="http://schemas.microsoft.com/office/drawing/2014/chart" uri="{C3380CC4-5D6E-409C-BE32-E72D297353CC}">
              <c16:uniqueId val="{00000001-1A48-4F1C-AAE9-B93D22BF7625}"/>
            </c:ext>
          </c:extLst>
        </c:ser>
        <c:ser>
          <c:idx val="2"/>
          <c:order val="2"/>
          <c:tx>
            <c:strRef>
              <c:f>Sheet1!$D$1</c:f>
              <c:strCache>
                <c:ptCount val="1"/>
                <c:pt idx="0">
                  <c:v>Column3</c:v>
                </c:pt>
              </c:strCache>
            </c:strRef>
          </c:tx>
          <c:cat>
            <c:numRef>
              <c:f>Sheet1!$A$2:$A$7</c:f>
              <c:numCache>
                <c:formatCode>General</c:formatCode>
                <c:ptCount val="6"/>
                <c:pt idx="0">
                  <c:v>1</c:v>
                </c:pt>
                <c:pt idx="1">
                  <c:v>2</c:v>
                </c:pt>
                <c:pt idx="2">
                  <c:v>3</c:v>
                </c:pt>
                <c:pt idx="3">
                  <c:v>4</c:v>
                </c:pt>
                <c:pt idx="4">
                  <c:v>5</c:v>
                </c:pt>
                <c:pt idx="5">
                  <c:v>6</c:v>
                </c:pt>
              </c:numCache>
            </c:numRef>
          </c:cat>
          <c:val>
            <c:numRef>
              <c:f>Sheet1!$D$2:$D$7</c:f>
              <c:numCache>
                <c:formatCode>General</c:formatCode>
                <c:ptCount val="6"/>
              </c:numCache>
            </c:numRef>
          </c:val>
          <c:smooth val="0"/>
          <c:extLst>
            <c:ext xmlns:c16="http://schemas.microsoft.com/office/drawing/2014/chart" uri="{C3380CC4-5D6E-409C-BE32-E72D297353CC}">
              <c16:uniqueId val="{00000002-1A48-4F1C-AAE9-B93D22BF7625}"/>
            </c:ext>
          </c:extLst>
        </c:ser>
        <c:dLbls>
          <c:showLegendKey val="0"/>
          <c:showVal val="0"/>
          <c:showCatName val="0"/>
          <c:showSerName val="0"/>
          <c:showPercent val="0"/>
          <c:showBubbleSize val="0"/>
        </c:dLbls>
        <c:marker val="1"/>
        <c:smooth val="0"/>
        <c:axId val="214179840"/>
        <c:axId val="214181376"/>
      </c:lineChart>
      <c:catAx>
        <c:axId val="214179840"/>
        <c:scaling>
          <c:orientation val="minMax"/>
        </c:scaling>
        <c:delete val="1"/>
        <c:axPos val="b"/>
        <c:numFmt formatCode="General" sourceLinked="1"/>
        <c:majorTickMark val="out"/>
        <c:minorTickMark val="none"/>
        <c:tickLblPos val="nextTo"/>
        <c:crossAx val="214181376"/>
        <c:crosses val="autoZero"/>
        <c:auto val="1"/>
        <c:lblAlgn val="ctr"/>
        <c:lblOffset val="100"/>
        <c:noMultiLvlLbl val="0"/>
      </c:catAx>
      <c:valAx>
        <c:axId val="214181376"/>
        <c:scaling>
          <c:orientation val="minMax"/>
          <c:max val="90"/>
          <c:min val="0"/>
        </c:scaling>
        <c:delete val="1"/>
        <c:axPos val="l"/>
        <c:majorGridlines/>
        <c:numFmt formatCode="0" sourceLinked="0"/>
        <c:majorTickMark val="out"/>
        <c:minorTickMark val="none"/>
        <c:tickLblPos val="nextTo"/>
        <c:crossAx val="214179840"/>
        <c:crosses val="autoZero"/>
        <c:crossBetween val="between"/>
      </c:valAx>
      <c:spPr>
        <a:solidFill>
          <a:srgbClr val="94B6D2">
            <a:alpha val="12000"/>
          </a:srgbClr>
        </a:solidFill>
        <a:ln w="12700"/>
      </c:spPr>
    </c:plotArea>
    <c:plotVisOnly val="1"/>
    <c:dispBlanksAs val="gap"/>
    <c:showDLblsOverMax val="0"/>
  </c:chart>
  <c:txPr>
    <a:bodyPr/>
    <a:lstStyle/>
    <a:p>
      <a:pPr>
        <a:defRPr sz="1800"/>
      </a:pPr>
      <a:endParaRPr lang="en-US"/>
    </a:p>
  </c:txPr>
  <c:externalData r:id="rId1">
    <c:autoUpdate val="0"/>
  </c:externalData>
  <c:userShapes r:id="rId2"/>
</c:chartSpace>
</file>

<file path=ppt/charts/chart12.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0"/>
    <c:plotArea>
      <c:layout/>
      <c:lineChart>
        <c:grouping val="standard"/>
        <c:varyColors val="0"/>
        <c:ser>
          <c:idx val="0"/>
          <c:order val="0"/>
          <c:tx>
            <c:strRef>
              <c:f>Sheet1!$B$1</c:f>
              <c:strCache>
                <c:ptCount val="1"/>
                <c:pt idx="0">
                  <c:v>Column1</c:v>
                </c:pt>
              </c:strCache>
            </c:strRef>
          </c:tx>
          <c:cat>
            <c:numRef>
              <c:f>Sheet1!$A$2:$A$7</c:f>
              <c:numCache>
                <c:formatCode>General</c:formatCode>
                <c:ptCount val="6"/>
                <c:pt idx="0">
                  <c:v>1</c:v>
                </c:pt>
                <c:pt idx="1">
                  <c:v>2</c:v>
                </c:pt>
                <c:pt idx="2">
                  <c:v>3</c:v>
                </c:pt>
                <c:pt idx="3">
                  <c:v>4</c:v>
                </c:pt>
                <c:pt idx="4">
                  <c:v>5</c:v>
                </c:pt>
                <c:pt idx="5">
                  <c:v>6</c:v>
                </c:pt>
              </c:numCache>
            </c:numRef>
          </c:cat>
          <c:val>
            <c:numRef>
              <c:f>Sheet1!$B$2:$B$7</c:f>
              <c:numCache>
                <c:formatCode>General</c:formatCode>
                <c:ptCount val="6"/>
              </c:numCache>
            </c:numRef>
          </c:val>
          <c:smooth val="0"/>
          <c:extLst>
            <c:ext xmlns:c16="http://schemas.microsoft.com/office/drawing/2014/chart" uri="{C3380CC4-5D6E-409C-BE32-E72D297353CC}">
              <c16:uniqueId val="{00000000-1A48-4F1C-AAE9-B93D22BF7625}"/>
            </c:ext>
          </c:extLst>
        </c:ser>
        <c:ser>
          <c:idx val="1"/>
          <c:order val="1"/>
          <c:tx>
            <c:strRef>
              <c:f>Sheet1!$C$1</c:f>
              <c:strCache>
                <c:ptCount val="1"/>
                <c:pt idx="0">
                  <c:v>Column2</c:v>
                </c:pt>
              </c:strCache>
            </c:strRef>
          </c:tx>
          <c:cat>
            <c:numRef>
              <c:f>Sheet1!$A$2:$A$7</c:f>
              <c:numCache>
                <c:formatCode>General</c:formatCode>
                <c:ptCount val="6"/>
                <c:pt idx="0">
                  <c:v>1</c:v>
                </c:pt>
                <c:pt idx="1">
                  <c:v>2</c:v>
                </c:pt>
                <c:pt idx="2">
                  <c:v>3</c:v>
                </c:pt>
                <c:pt idx="3">
                  <c:v>4</c:v>
                </c:pt>
                <c:pt idx="4">
                  <c:v>5</c:v>
                </c:pt>
                <c:pt idx="5">
                  <c:v>6</c:v>
                </c:pt>
              </c:numCache>
            </c:numRef>
          </c:cat>
          <c:val>
            <c:numRef>
              <c:f>Sheet1!$C$2:$C$7</c:f>
              <c:numCache>
                <c:formatCode>General</c:formatCode>
                <c:ptCount val="6"/>
              </c:numCache>
            </c:numRef>
          </c:val>
          <c:smooth val="0"/>
          <c:extLst>
            <c:ext xmlns:c16="http://schemas.microsoft.com/office/drawing/2014/chart" uri="{C3380CC4-5D6E-409C-BE32-E72D297353CC}">
              <c16:uniqueId val="{00000001-1A48-4F1C-AAE9-B93D22BF7625}"/>
            </c:ext>
          </c:extLst>
        </c:ser>
        <c:ser>
          <c:idx val="2"/>
          <c:order val="2"/>
          <c:tx>
            <c:strRef>
              <c:f>Sheet1!$D$1</c:f>
              <c:strCache>
                <c:ptCount val="1"/>
                <c:pt idx="0">
                  <c:v>Column3</c:v>
                </c:pt>
              </c:strCache>
            </c:strRef>
          </c:tx>
          <c:cat>
            <c:numRef>
              <c:f>Sheet1!$A$2:$A$7</c:f>
              <c:numCache>
                <c:formatCode>General</c:formatCode>
                <c:ptCount val="6"/>
                <c:pt idx="0">
                  <c:v>1</c:v>
                </c:pt>
                <c:pt idx="1">
                  <c:v>2</c:v>
                </c:pt>
                <c:pt idx="2">
                  <c:v>3</c:v>
                </c:pt>
                <c:pt idx="3">
                  <c:v>4</c:v>
                </c:pt>
                <c:pt idx="4">
                  <c:v>5</c:v>
                </c:pt>
                <c:pt idx="5">
                  <c:v>6</c:v>
                </c:pt>
              </c:numCache>
            </c:numRef>
          </c:cat>
          <c:val>
            <c:numRef>
              <c:f>Sheet1!$D$2:$D$7</c:f>
              <c:numCache>
                <c:formatCode>General</c:formatCode>
                <c:ptCount val="6"/>
              </c:numCache>
            </c:numRef>
          </c:val>
          <c:smooth val="0"/>
          <c:extLst>
            <c:ext xmlns:c16="http://schemas.microsoft.com/office/drawing/2014/chart" uri="{C3380CC4-5D6E-409C-BE32-E72D297353CC}">
              <c16:uniqueId val="{00000002-1A48-4F1C-AAE9-B93D22BF7625}"/>
            </c:ext>
          </c:extLst>
        </c:ser>
        <c:dLbls>
          <c:showLegendKey val="0"/>
          <c:showVal val="0"/>
          <c:showCatName val="0"/>
          <c:showSerName val="0"/>
          <c:showPercent val="0"/>
          <c:showBubbleSize val="0"/>
        </c:dLbls>
        <c:marker val="1"/>
        <c:smooth val="0"/>
        <c:axId val="214739968"/>
        <c:axId val="214758144"/>
      </c:lineChart>
      <c:catAx>
        <c:axId val="214739968"/>
        <c:scaling>
          <c:orientation val="minMax"/>
        </c:scaling>
        <c:delete val="1"/>
        <c:axPos val="b"/>
        <c:numFmt formatCode="General" sourceLinked="1"/>
        <c:majorTickMark val="out"/>
        <c:minorTickMark val="none"/>
        <c:tickLblPos val="nextTo"/>
        <c:crossAx val="214758144"/>
        <c:crosses val="autoZero"/>
        <c:auto val="1"/>
        <c:lblAlgn val="ctr"/>
        <c:lblOffset val="100"/>
        <c:noMultiLvlLbl val="0"/>
      </c:catAx>
      <c:valAx>
        <c:axId val="214758144"/>
        <c:scaling>
          <c:orientation val="minMax"/>
          <c:max val="90"/>
          <c:min val="0"/>
        </c:scaling>
        <c:delete val="1"/>
        <c:axPos val="l"/>
        <c:majorGridlines/>
        <c:numFmt formatCode="0" sourceLinked="0"/>
        <c:majorTickMark val="out"/>
        <c:minorTickMark val="none"/>
        <c:tickLblPos val="nextTo"/>
        <c:crossAx val="214739968"/>
        <c:crosses val="autoZero"/>
        <c:crossBetween val="between"/>
      </c:valAx>
      <c:spPr>
        <a:solidFill>
          <a:srgbClr val="94B6D2">
            <a:alpha val="12000"/>
          </a:srgbClr>
        </a:solidFill>
        <a:ln w="12700"/>
      </c:spPr>
    </c:plotArea>
    <c:plotVisOnly val="1"/>
    <c:dispBlanksAs val="gap"/>
    <c:showDLblsOverMax val="0"/>
  </c:chart>
  <c:txPr>
    <a:bodyPr/>
    <a:lstStyle/>
    <a:p>
      <a:pPr>
        <a:defRPr sz="1800"/>
      </a:pPr>
      <a:endParaRPr lang="en-US"/>
    </a:p>
  </c:txPr>
  <c:externalData r:id="rId1">
    <c:autoUpdate val="0"/>
  </c:externalData>
  <c:userShapes r:id="rId2"/>
</c:chartSpace>
</file>

<file path=ppt/charts/chart13.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0"/>
    <c:plotArea>
      <c:layout/>
      <c:lineChart>
        <c:grouping val="standard"/>
        <c:varyColors val="0"/>
        <c:ser>
          <c:idx val="0"/>
          <c:order val="0"/>
          <c:tx>
            <c:strRef>
              <c:f>Sheet1!$B$1</c:f>
              <c:strCache>
                <c:ptCount val="1"/>
                <c:pt idx="0">
                  <c:v>Column1</c:v>
                </c:pt>
              </c:strCache>
            </c:strRef>
          </c:tx>
          <c:cat>
            <c:numRef>
              <c:f>Sheet1!$A$2:$A$7</c:f>
              <c:numCache>
                <c:formatCode>General</c:formatCode>
                <c:ptCount val="6"/>
                <c:pt idx="0">
                  <c:v>1</c:v>
                </c:pt>
                <c:pt idx="1">
                  <c:v>2</c:v>
                </c:pt>
                <c:pt idx="2">
                  <c:v>3</c:v>
                </c:pt>
                <c:pt idx="3">
                  <c:v>4</c:v>
                </c:pt>
                <c:pt idx="4">
                  <c:v>5</c:v>
                </c:pt>
                <c:pt idx="5">
                  <c:v>6</c:v>
                </c:pt>
              </c:numCache>
            </c:numRef>
          </c:cat>
          <c:val>
            <c:numRef>
              <c:f>Sheet1!$B$2:$B$7</c:f>
              <c:numCache>
                <c:formatCode>General</c:formatCode>
                <c:ptCount val="6"/>
              </c:numCache>
            </c:numRef>
          </c:val>
          <c:smooth val="0"/>
          <c:extLst>
            <c:ext xmlns:c16="http://schemas.microsoft.com/office/drawing/2014/chart" uri="{C3380CC4-5D6E-409C-BE32-E72D297353CC}">
              <c16:uniqueId val="{00000000-1A48-4F1C-AAE9-B93D22BF7625}"/>
            </c:ext>
          </c:extLst>
        </c:ser>
        <c:ser>
          <c:idx val="1"/>
          <c:order val="1"/>
          <c:tx>
            <c:strRef>
              <c:f>Sheet1!$C$1</c:f>
              <c:strCache>
                <c:ptCount val="1"/>
                <c:pt idx="0">
                  <c:v>Column2</c:v>
                </c:pt>
              </c:strCache>
            </c:strRef>
          </c:tx>
          <c:cat>
            <c:numRef>
              <c:f>Sheet1!$A$2:$A$7</c:f>
              <c:numCache>
                <c:formatCode>General</c:formatCode>
                <c:ptCount val="6"/>
                <c:pt idx="0">
                  <c:v>1</c:v>
                </c:pt>
                <c:pt idx="1">
                  <c:v>2</c:v>
                </c:pt>
                <c:pt idx="2">
                  <c:v>3</c:v>
                </c:pt>
                <c:pt idx="3">
                  <c:v>4</c:v>
                </c:pt>
                <c:pt idx="4">
                  <c:v>5</c:v>
                </c:pt>
                <c:pt idx="5">
                  <c:v>6</c:v>
                </c:pt>
              </c:numCache>
            </c:numRef>
          </c:cat>
          <c:val>
            <c:numRef>
              <c:f>Sheet1!$C$2:$C$7</c:f>
              <c:numCache>
                <c:formatCode>General</c:formatCode>
                <c:ptCount val="6"/>
              </c:numCache>
            </c:numRef>
          </c:val>
          <c:smooth val="0"/>
          <c:extLst>
            <c:ext xmlns:c16="http://schemas.microsoft.com/office/drawing/2014/chart" uri="{C3380CC4-5D6E-409C-BE32-E72D297353CC}">
              <c16:uniqueId val="{00000001-1A48-4F1C-AAE9-B93D22BF7625}"/>
            </c:ext>
          </c:extLst>
        </c:ser>
        <c:ser>
          <c:idx val="2"/>
          <c:order val="2"/>
          <c:tx>
            <c:strRef>
              <c:f>Sheet1!$D$1</c:f>
              <c:strCache>
                <c:ptCount val="1"/>
                <c:pt idx="0">
                  <c:v>Column3</c:v>
                </c:pt>
              </c:strCache>
            </c:strRef>
          </c:tx>
          <c:cat>
            <c:numRef>
              <c:f>Sheet1!$A$2:$A$7</c:f>
              <c:numCache>
                <c:formatCode>General</c:formatCode>
                <c:ptCount val="6"/>
                <c:pt idx="0">
                  <c:v>1</c:v>
                </c:pt>
                <c:pt idx="1">
                  <c:v>2</c:v>
                </c:pt>
                <c:pt idx="2">
                  <c:v>3</c:v>
                </c:pt>
                <c:pt idx="3">
                  <c:v>4</c:v>
                </c:pt>
                <c:pt idx="4">
                  <c:v>5</c:v>
                </c:pt>
                <c:pt idx="5">
                  <c:v>6</c:v>
                </c:pt>
              </c:numCache>
            </c:numRef>
          </c:cat>
          <c:val>
            <c:numRef>
              <c:f>Sheet1!$D$2:$D$7</c:f>
              <c:numCache>
                <c:formatCode>General</c:formatCode>
                <c:ptCount val="6"/>
              </c:numCache>
            </c:numRef>
          </c:val>
          <c:smooth val="0"/>
          <c:extLst>
            <c:ext xmlns:c16="http://schemas.microsoft.com/office/drawing/2014/chart" uri="{C3380CC4-5D6E-409C-BE32-E72D297353CC}">
              <c16:uniqueId val="{00000002-1A48-4F1C-AAE9-B93D22BF7625}"/>
            </c:ext>
          </c:extLst>
        </c:ser>
        <c:dLbls>
          <c:showLegendKey val="0"/>
          <c:showVal val="0"/>
          <c:showCatName val="0"/>
          <c:showSerName val="0"/>
          <c:showPercent val="0"/>
          <c:showBubbleSize val="0"/>
        </c:dLbls>
        <c:marker val="1"/>
        <c:smooth val="0"/>
        <c:axId val="215094784"/>
        <c:axId val="215096320"/>
      </c:lineChart>
      <c:catAx>
        <c:axId val="215094784"/>
        <c:scaling>
          <c:orientation val="minMax"/>
        </c:scaling>
        <c:delete val="1"/>
        <c:axPos val="b"/>
        <c:numFmt formatCode="General" sourceLinked="1"/>
        <c:majorTickMark val="out"/>
        <c:minorTickMark val="none"/>
        <c:tickLblPos val="nextTo"/>
        <c:crossAx val="215096320"/>
        <c:crosses val="autoZero"/>
        <c:auto val="1"/>
        <c:lblAlgn val="ctr"/>
        <c:lblOffset val="100"/>
        <c:noMultiLvlLbl val="0"/>
      </c:catAx>
      <c:valAx>
        <c:axId val="215096320"/>
        <c:scaling>
          <c:orientation val="minMax"/>
          <c:max val="90"/>
          <c:min val="0"/>
        </c:scaling>
        <c:delete val="1"/>
        <c:axPos val="l"/>
        <c:majorGridlines/>
        <c:numFmt formatCode="0" sourceLinked="0"/>
        <c:majorTickMark val="out"/>
        <c:minorTickMark val="none"/>
        <c:tickLblPos val="nextTo"/>
        <c:crossAx val="215094784"/>
        <c:crosses val="autoZero"/>
        <c:crossBetween val="between"/>
      </c:valAx>
      <c:spPr>
        <a:solidFill>
          <a:srgbClr val="94B6D2">
            <a:alpha val="12000"/>
          </a:srgbClr>
        </a:solidFill>
        <a:ln w="12700"/>
      </c:spPr>
    </c:plotArea>
    <c:plotVisOnly val="1"/>
    <c:dispBlanksAs val="gap"/>
    <c:showDLblsOverMax val="0"/>
  </c:chart>
  <c:txPr>
    <a:bodyPr/>
    <a:lstStyle/>
    <a:p>
      <a:pPr>
        <a:defRPr sz="1800"/>
      </a:pPr>
      <a:endParaRPr lang="en-US"/>
    </a:p>
  </c:txPr>
  <c:externalData r:id="rId1">
    <c:autoUpdate val="0"/>
  </c:externalData>
  <c:userShapes r:id="rId2"/>
</c:chartSpace>
</file>

<file path=ppt/charts/chart14.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0"/>
    <c:plotArea>
      <c:layout/>
      <c:lineChart>
        <c:grouping val="standard"/>
        <c:varyColors val="0"/>
        <c:ser>
          <c:idx val="0"/>
          <c:order val="0"/>
          <c:tx>
            <c:strRef>
              <c:f>Sheet1!$B$1</c:f>
              <c:strCache>
                <c:ptCount val="1"/>
                <c:pt idx="0">
                  <c:v>Column1</c:v>
                </c:pt>
              </c:strCache>
            </c:strRef>
          </c:tx>
          <c:cat>
            <c:numRef>
              <c:f>Sheet1!$A$2:$A$7</c:f>
              <c:numCache>
                <c:formatCode>General</c:formatCode>
                <c:ptCount val="6"/>
                <c:pt idx="0">
                  <c:v>1</c:v>
                </c:pt>
                <c:pt idx="1">
                  <c:v>2</c:v>
                </c:pt>
                <c:pt idx="2">
                  <c:v>3</c:v>
                </c:pt>
                <c:pt idx="3">
                  <c:v>4</c:v>
                </c:pt>
                <c:pt idx="4">
                  <c:v>5</c:v>
                </c:pt>
                <c:pt idx="5">
                  <c:v>6</c:v>
                </c:pt>
              </c:numCache>
            </c:numRef>
          </c:cat>
          <c:val>
            <c:numRef>
              <c:f>Sheet1!$B$2:$B$7</c:f>
              <c:numCache>
                <c:formatCode>General</c:formatCode>
                <c:ptCount val="6"/>
              </c:numCache>
            </c:numRef>
          </c:val>
          <c:smooth val="0"/>
          <c:extLst>
            <c:ext xmlns:c16="http://schemas.microsoft.com/office/drawing/2014/chart" uri="{C3380CC4-5D6E-409C-BE32-E72D297353CC}">
              <c16:uniqueId val="{00000000-1A48-4F1C-AAE9-B93D22BF7625}"/>
            </c:ext>
          </c:extLst>
        </c:ser>
        <c:ser>
          <c:idx val="1"/>
          <c:order val="1"/>
          <c:tx>
            <c:strRef>
              <c:f>Sheet1!$C$1</c:f>
              <c:strCache>
                <c:ptCount val="1"/>
                <c:pt idx="0">
                  <c:v>Column2</c:v>
                </c:pt>
              </c:strCache>
            </c:strRef>
          </c:tx>
          <c:cat>
            <c:numRef>
              <c:f>Sheet1!$A$2:$A$7</c:f>
              <c:numCache>
                <c:formatCode>General</c:formatCode>
                <c:ptCount val="6"/>
                <c:pt idx="0">
                  <c:v>1</c:v>
                </c:pt>
                <c:pt idx="1">
                  <c:v>2</c:v>
                </c:pt>
                <c:pt idx="2">
                  <c:v>3</c:v>
                </c:pt>
                <c:pt idx="3">
                  <c:v>4</c:v>
                </c:pt>
                <c:pt idx="4">
                  <c:v>5</c:v>
                </c:pt>
                <c:pt idx="5">
                  <c:v>6</c:v>
                </c:pt>
              </c:numCache>
            </c:numRef>
          </c:cat>
          <c:val>
            <c:numRef>
              <c:f>Sheet1!$C$2:$C$7</c:f>
              <c:numCache>
                <c:formatCode>General</c:formatCode>
                <c:ptCount val="6"/>
              </c:numCache>
            </c:numRef>
          </c:val>
          <c:smooth val="0"/>
          <c:extLst>
            <c:ext xmlns:c16="http://schemas.microsoft.com/office/drawing/2014/chart" uri="{C3380CC4-5D6E-409C-BE32-E72D297353CC}">
              <c16:uniqueId val="{00000001-1A48-4F1C-AAE9-B93D22BF7625}"/>
            </c:ext>
          </c:extLst>
        </c:ser>
        <c:ser>
          <c:idx val="2"/>
          <c:order val="2"/>
          <c:tx>
            <c:strRef>
              <c:f>Sheet1!$D$1</c:f>
              <c:strCache>
                <c:ptCount val="1"/>
                <c:pt idx="0">
                  <c:v>Column3</c:v>
                </c:pt>
              </c:strCache>
            </c:strRef>
          </c:tx>
          <c:cat>
            <c:numRef>
              <c:f>Sheet1!$A$2:$A$7</c:f>
              <c:numCache>
                <c:formatCode>General</c:formatCode>
                <c:ptCount val="6"/>
                <c:pt idx="0">
                  <c:v>1</c:v>
                </c:pt>
                <c:pt idx="1">
                  <c:v>2</c:v>
                </c:pt>
                <c:pt idx="2">
                  <c:v>3</c:v>
                </c:pt>
                <c:pt idx="3">
                  <c:v>4</c:v>
                </c:pt>
                <c:pt idx="4">
                  <c:v>5</c:v>
                </c:pt>
                <c:pt idx="5">
                  <c:v>6</c:v>
                </c:pt>
              </c:numCache>
            </c:numRef>
          </c:cat>
          <c:val>
            <c:numRef>
              <c:f>Sheet1!$D$2:$D$7</c:f>
              <c:numCache>
                <c:formatCode>General</c:formatCode>
                <c:ptCount val="6"/>
              </c:numCache>
            </c:numRef>
          </c:val>
          <c:smooth val="0"/>
          <c:extLst>
            <c:ext xmlns:c16="http://schemas.microsoft.com/office/drawing/2014/chart" uri="{C3380CC4-5D6E-409C-BE32-E72D297353CC}">
              <c16:uniqueId val="{00000002-1A48-4F1C-AAE9-B93D22BF7625}"/>
            </c:ext>
          </c:extLst>
        </c:ser>
        <c:dLbls>
          <c:showLegendKey val="0"/>
          <c:showVal val="0"/>
          <c:showCatName val="0"/>
          <c:showSerName val="0"/>
          <c:showPercent val="0"/>
          <c:showBubbleSize val="0"/>
        </c:dLbls>
        <c:marker val="1"/>
        <c:smooth val="0"/>
        <c:axId val="215236608"/>
        <c:axId val="215238144"/>
      </c:lineChart>
      <c:catAx>
        <c:axId val="215236608"/>
        <c:scaling>
          <c:orientation val="minMax"/>
        </c:scaling>
        <c:delete val="1"/>
        <c:axPos val="b"/>
        <c:numFmt formatCode="General" sourceLinked="1"/>
        <c:majorTickMark val="out"/>
        <c:minorTickMark val="none"/>
        <c:tickLblPos val="nextTo"/>
        <c:crossAx val="215238144"/>
        <c:crosses val="autoZero"/>
        <c:auto val="1"/>
        <c:lblAlgn val="ctr"/>
        <c:lblOffset val="100"/>
        <c:noMultiLvlLbl val="0"/>
      </c:catAx>
      <c:valAx>
        <c:axId val="215238144"/>
        <c:scaling>
          <c:orientation val="minMax"/>
          <c:max val="90"/>
          <c:min val="0"/>
        </c:scaling>
        <c:delete val="1"/>
        <c:axPos val="l"/>
        <c:majorGridlines/>
        <c:numFmt formatCode="0" sourceLinked="0"/>
        <c:majorTickMark val="out"/>
        <c:minorTickMark val="none"/>
        <c:tickLblPos val="nextTo"/>
        <c:crossAx val="215236608"/>
        <c:crosses val="autoZero"/>
        <c:crossBetween val="between"/>
      </c:valAx>
      <c:spPr>
        <a:solidFill>
          <a:srgbClr val="94B6D2">
            <a:alpha val="12000"/>
          </a:srgbClr>
        </a:solidFill>
        <a:ln w="12700"/>
      </c:spPr>
    </c:plotArea>
    <c:plotVisOnly val="1"/>
    <c:dispBlanksAs val="gap"/>
    <c:showDLblsOverMax val="0"/>
  </c:chart>
  <c:txPr>
    <a:bodyPr/>
    <a:lstStyle/>
    <a:p>
      <a:pPr>
        <a:defRPr sz="1800"/>
      </a:pPr>
      <a:endParaRPr lang="en-US"/>
    </a:p>
  </c:txPr>
  <c:externalData r:id="rId1">
    <c:autoUpdate val="0"/>
  </c:externalData>
  <c:userShapes r:id="rId2"/>
</c:chartSpace>
</file>

<file path=ppt/diagrams/colors1.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027D466B-8884-4118-ABE1-105ABBE4D28D}" type="doc">
      <dgm:prSet loTypeId="urn:microsoft.com/office/officeart/2005/8/layout/chevron1" loCatId="process" qsTypeId="urn:microsoft.com/office/officeart/2005/8/quickstyle/simple1" qsCatId="simple" csTypeId="urn:microsoft.com/office/officeart/2005/8/colors/accent1_2" csCatId="accent1" phldr="1"/>
      <dgm:spPr/>
    </dgm:pt>
    <dgm:pt modelId="{4552FFB7-5822-48A6-B7A6-1439D78F54F0}">
      <dgm:prSet phldrT="[Text]"/>
      <dgm:spPr/>
      <dgm:t>
        <a:bodyPr/>
        <a:lstStyle/>
        <a:p>
          <a:r>
            <a:rPr lang="en-IN" b="1" dirty="0" smtClean="0">
              <a:latin typeface="Times New Roman" panose="02020603050405020304" pitchFamily="18" charset="0"/>
              <a:cs typeface="Times New Roman" panose="02020603050405020304" pitchFamily="18" charset="0"/>
            </a:rPr>
            <a:t>No. of Layers Increases</a:t>
          </a:r>
          <a:endParaRPr lang="en-IN" b="1" dirty="0">
            <a:latin typeface="Times New Roman" panose="02020603050405020304" pitchFamily="18" charset="0"/>
            <a:cs typeface="Times New Roman" panose="02020603050405020304" pitchFamily="18" charset="0"/>
          </a:endParaRPr>
        </a:p>
      </dgm:t>
    </dgm:pt>
    <dgm:pt modelId="{8E278432-B4A0-464F-86FB-98F70F904921}" type="parTrans" cxnId="{8EAF706A-6604-4F3A-8595-944E8C7D7F8E}">
      <dgm:prSet/>
      <dgm:spPr/>
      <dgm:t>
        <a:bodyPr/>
        <a:lstStyle/>
        <a:p>
          <a:endParaRPr lang="en-IN"/>
        </a:p>
      </dgm:t>
    </dgm:pt>
    <dgm:pt modelId="{CCF70073-1B43-4BE0-AE5F-CEF2F245AC95}" type="sibTrans" cxnId="{8EAF706A-6604-4F3A-8595-944E8C7D7F8E}">
      <dgm:prSet/>
      <dgm:spPr/>
      <dgm:t>
        <a:bodyPr/>
        <a:lstStyle/>
        <a:p>
          <a:endParaRPr lang="en-IN"/>
        </a:p>
      </dgm:t>
    </dgm:pt>
    <dgm:pt modelId="{C39FCE09-395C-49AC-9671-E9CD9BB09001}">
      <dgm:prSet phldrT="[Text]"/>
      <dgm:spPr/>
      <dgm:t>
        <a:bodyPr/>
        <a:lstStyle/>
        <a:p>
          <a:r>
            <a:rPr lang="en-IN" b="1" dirty="0" smtClean="0">
              <a:latin typeface="Times New Roman" panose="02020603050405020304" pitchFamily="18" charset="0"/>
              <a:cs typeface="Times New Roman" panose="02020603050405020304" pitchFamily="18" charset="0"/>
            </a:rPr>
            <a:t>More No. of Weights</a:t>
          </a:r>
          <a:endParaRPr lang="en-IN" b="1" dirty="0">
            <a:latin typeface="Times New Roman" panose="02020603050405020304" pitchFamily="18" charset="0"/>
            <a:cs typeface="Times New Roman" panose="02020603050405020304" pitchFamily="18" charset="0"/>
          </a:endParaRPr>
        </a:p>
      </dgm:t>
    </dgm:pt>
    <dgm:pt modelId="{DD692136-E9D2-425E-B391-CEAAAB393141}" type="parTrans" cxnId="{060AAA2F-E3B9-4E6F-91A9-2D8B834A3A48}">
      <dgm:prSet/>
      <dgm:spPr/>
      <dgm:t>
        <a:bodyPr/>
        <a:lstStyle/>
        <a:p>
          <a:endParaRPr lang="en-IN"/>
        </a:p>
      </dgm:t>
    </dgm:pt>
    <dgm:pt modelId="{C00D3163-A3F9-445A-B3BD-1A2EC72D3779}" type="sibTrans" cxnId="{060AAA2F-E3B9-4E6F-91A9-2D8B834A3A48}">
      <dgm:prSet/>
      <dgm:spPr/>
      <dgm:t>
        <a:bodyPr/>
        <a:lstStyle/>
        <a:p>
          <a:endParaRPr lang="en-IN"/>
        </a:p>
      </dgm:t>
    </dgm:pt>
    <dgm:pt modelId="{C2F1F1ED-0043-4307-928D-C39FE0A62974}">
      <dgm:prSet phldrT="[Text]"/>
      <dgm:spPr/>
      <dgm:t>
        <a:bodyPr/>
        <a:lstStyle/>
        <a:p>
          <a:r>
            <a:rPr lang="en-IN" b="1" dirty="0" smtClean="0">
              <a:latin typeface="Times New Roman" panose="02020603050405020304" pitchFamily="18" charset="0"/>
              <a:cs typeface="Times New Roman" panose="02020603050405020304" pitchFamily="18" charset="0"/>
            </a:rPr>
            <a:t>Chances to </a:t>
          </a:r>
          <a:r>
            <a:rPr lang="en-IN" b="1" dirty="0" err="1" smtClean="0">
              <a:latin typeface="Times New Roman" panose="02020603050405020304" pitchFamily="18" charset="0"/>
              <a:cs typeface="Times New Roman" panose="02020603050405020304" pitchFamily="18" charset="0"/>
            </a:rPr>
            <a:t>Overfit</a:t>
          </a:r>
          <a:r>
            <a:rPr lang="en-IN" b="1" dirty="0" smtClean="0">
              <a:latin typeface="Times New Roman" panose="02020603050405020304" pitchFamily="18" charset="0"/>
              <a:cs typeface="Times New Roman" panose="02020603050405020304" pitchFamily="18" charset="0"/>
            </a:rPr>
            <a:t> is High</a:t>
          </a:r>
          <a:endParaRPr lang="en-IN" b="1" dirty="0">
            <a:latin typeface="Times New Roman" panose="02020603050405020304" pitchFamily="18" charset="0"/>
            <a:cs typeface="Times New Roman" panose="02020603050405020304" pitchFamily="18" charset="0"/>
          </a:endParaRPr>
        </a:p>
      </dgm:t>
    </dgm:pt>
    <dgm:pt modelId="{7903F390-4699-476E-B2CC-082455ADD979}" type="parTrans" cxnId="{1AAF3EF4-791B-439E-8269-3E47288898ED}">
      <dgm:prSet/>
      <dgm:spPr/>
      <dgm:t>
        <a:bodyPr/>
        <a:lstStyle/>
        <a:p>
          <a:endParaRPr lang="en-IN"/>
        </a:p>
      </dgm:t>
    </dgm:pt>
    <dgm:pt modelId="{0DB89E72-83B0-403F-9923-6B66D0EE85C0}" type="sibTrans" cxnId="{1AAF3EF4-791B-439E-8269-3E47288898ED}">
      <dgm:prSet/>
      <dgm:spPr/>
      <dgm:t>
        <a:bodyPr/>
        <a:lstStyle/>
        <a:p>
          <a:endParaRPr lang="en-IN"/>
        </a:p>
      </dgm:t>
    </dgm:pt>
    <dgm:pt modelId="{91A6EED5-570A-4B7D-AC33-A09C5C847436}">
      <dgm:prSet/>
      <dgm:spPr/>
      <dgm:t>
        <a:bodyPr/>
        <a:lstStyle/>
        <a:p>
          <a:r>
            <a:rPr lang="en-IN" b="1" dirty="0" smtClean="0">
              <a:latin typeface="Times New Roman" panose="02020603050405020304" pitchFamily="18" charset="0"/>
              <a:cs typeface="Times New Roman" panose="02020603050405020304" pitchFamily="18" charset="0"/>
            </a:rPr>
            <a:t>Problem of High Variance</a:t>
          </a:r>
          <a:endParaRPr lang="en-IN" b="1" dirty="0">
            <a:latin typeface="Times New Roman" panose="02020603050405020304" pitchFamily="18" charset="0"/>
            <a:cs typeface="Times New Roman" panose="02020603050405020304" pitchFamily="18" charset="0"/>
          </a:endParaRPr>
        </a:p>
      </dgm:t>
    </dgm:pt>
    <dgm:pt modelId="{ADECD79B-35EF-4B8E-A52A-037E252822E2}" type="parTrans" cxnId="{759F070E-5415-4240-BB7E-7B5F65F3699A}">
      <dgm:prSet/>
      <dgm:spPr/>
      <dgm:t>
        <a:bodyPr/>
        <a:lstStyle/>
        <a:p>
          <a:endParaRPr lang="en-IN"/>
        </a:p>
      </dgm:t>
    </dgm:pt>
    <dgm:pt modelId="{7F5BBA08-DC94-4091-A963-BAF0E54D5F41}" type="sibTrans" cxnId="{759F070E-5415-4240-BB7E-7B5F65F3699A}">
      <dgm:prSet/>
      <dgm:spPr/>
      <dgm:t>
        <a:bodyPr/>
        <a:lstStyle/>
        <a:p>
          <a:endParaRPr lang="en-IN"/>
        </a:p>
      </dgm:t>
    </dgm:pt>
    <dgm:pt modelId="{3805C43A-8894-4E5B-906E-1A7326C7A594}" type="pres">
      <dgm:prSet presAssocID="{027D466B-8884-4118-ABE1-105ABBE4D28D}" presName="Name0" presStyleCnt="0">
        <dgm:presLayoutVars>
          <dgm:dir/>
          <dgm:animLvl val="lvl"/>
          <dgm:resizeHandles val="exact"/>
        </dgm:presLayoutVars>
      </dgm:prSet>
      <dgm:spPr/>
    </dgm:pt>
    <dgm:pt modelId="{7BDE57E9-158C-47ED-8CB8-2F00B732DB2D}" type="pres">
      <dgm:prSet presAssocID="{4552FFB7-5822-48A6-B7A6-1439D78F54F0}" presName="parTxOnly" presStyleLbl="node1" presStyleIdx="0" presStyleCnt="4">
        <dgm:presLayoutVars>
          <dgm:chMax val="0"/>
          <dgm:chPref val="0"/>
          <dgm:bulletEnabled val="1"/>
        </dgm:presLayoutVars>
      </dgm:prSet>
      <dgm:spPr/>
      <dgm:t>
        <a:bodyPr/>
        <a:lstStyle/>
        <a:p>
          <a:endParaRPr lang="en-IN"/>
        </a:p>
      </dgm:t>
    </dgm:pt>
    <dgm:pt modelId="{0A7C124A-2435-4932-B32A-3A2C23E825FC}" type="pres">
      <dgm:prSet presAssocID="{CCF70073-1B43-4BE0-AE5F-CEF2F245AC95}" presName="parTxOnlySpace" presStyleCnt="0"/>
      <dgm:spPr/>
    </dgm:pt>
    <dgm:pt modelId="{82F82CFD-E1F4-4C59-8A92-70847C228CDB}" type="pres">
      <dgm:prSet presAssocID="{C39FCE09-395C-49AC-9671-E9CD9BB09001}" presName="parTxOnly" presStyleLbl="node1" presStyleIdx="1" presStyleCnt="4">
        <dgm:presLayoutVars>
          <dgm:chMax val="0"/>
          <dgm:chPref val="0"/>
          <dgm:bulletEnabled val="1"/>
        </dgm:presLayoutVars>
      </dgm:prSet>
      <dgm:spPr/>
      <dgm:t>
        <a:bodyPr/>
        <a:lstStyle/>
        <a:p>
          <a:endParaRPr lang="en-IN"/>
        </a:p>
      </dgm:t>
    </dgm:pt>
    <dgm:pt modelId="{5B00EF1C-877F-449C-9A95-53D44C9EF8B4}" type="pres">
      <dgm:prSet presAssocID="{C00D3163-A3F9-445A-B3BD-1A2EC72D3779}" presName="parTxOnlySpace" presStyleCnt="0"/>
      <dgm:spPr/>
    </dgm:pt>
    <dgm:pt modelId="{3B0C05BE-9BB7-46C4-9BF4-467C9D4A2A2A}" type="pres">
      <dgm:prSet presAssocID="{C2F1F1ED-0043-4307-928D-C39FE0A62974}" presName="parTxOnly" presStyleLbl="node1" presStyleIdx="2" presStyleCnt="4">
        <dgm:presLayoutVars>
          <dgm:chMax val="0"/>
          <dgm:chPref val="0"/>
          <dgm:bulletEnabled val="1"/>
        </dgm:presLayoutVars>
      </dgm:prSet>
      <dgm:spPr/>
      <dgm:t>
        <a:bodyPr/>
        <a:lstStyle/>
        <a:p>
          <a:endParaRPr lang="en-IN"/>
        </a:p>
      </dgm:t>
    </dgm:pt>
    <dgm:pt modelId="{0FC935AF-3A39-4F32-9E25-47517198233A}" type="pres">
      <dgm:prSet presAssocID="{0DB89E72-83B0-403F-9923-6B66D0EE85C0}" presName="parTxOnlySpace" presStyleCnt="0"/>
      <dgm:spPr/>
    </dgm:pt>
    <dgm:pt modelId="{694123B5-24D5-42A1-8E36-FF9368A05E3D}" type="pres">
      <dgm:prSet presAssocID="{91A6EED5-570A-4B7D-AC33-A09C5C847436}" presName="parTxOnly" presStyleLbl="node1" presStyleIdx="3" presStyleCnt="4">
        <dgm:presLayoutVars>
          <dgm:chMax val="0"/>
          <dgm:chPref val="0"/>
          <dgm:bulletEnabled val="1"/>
        </dgm:presLayoutVars>
      </dgm:prSet>
      <dgm:spPr/>
      <dgm:t>
        <a:bodyPr/>
        <a:lstStyle/>
        <a:p>
          <a:endParaRPr lang="en-IN"/>
        </a:p>
      </dgm:t>
    </dgm:pt>
  </dgm:ptLst>
  <dgm:cxnLst>
    <dgm:cxn modelId="{060AAA2F-E3B9-4E6F-91A9-2D8B834A3A48}" srcId="{027D466B-8884-4118-ABE1-105ABBE4D28D}" destId="{C39FCE09-395C-49AC-9671-E9CD9BB09001}" srcOrd="1" destOrd="0" parTransId="{DD692136-E9D2-425E-B391-CEAAAB393141}" sibTransId="{C00D3163-A3F9-445A-B3BD-1A2EC72D3779}"/>
    <dgm:cxn modelId="{759F070E-5415-4240-BB7E-7B5F65F3699A}" srcId="{027D466B-8884-4118-ABE1-105ABBE4D28D}" destId="{91A6EED5-570A-4B7D-AC33-A09C5C847436}" srcOrd="3" destOrd="0" parTransId="{ADECD79B-35EF-4B8E-A52A-037E252822E2}" sibTransId="{7F5BBA08-DC94-4091-A963-BAF0E54D5F41}"/>
    <dgm:cxn modelId="{E56D202B-C732-4970-8180-5D7715C73702}" type="presOf" srcId="{C2F1F1ED-0043-4307-928D-C39FE0A62974}" destId="{3B0C05BE-9BB7-46C4-9BF4-467C9D4A2A2A}" srcOrd="0" destOrd="0" presId="urn:microsoft.com/office/officeart/2005/8/layout/chevron1"/>
    <dgm:cxn modelId="{8EAF706A-6604-4F3A-8595-944E8C7D7F8E}" srcId="{027D466B-8884-4118-ABE1-105ABBE4D28D}" destId="{4552FFB7-5822-48A6-B7A6-1439D78F54F0}" srcOrd="0" destOrd="0" parTransId="{8E278432-B4A0-464F-86FB-98F70F904921}" sibTransId="{CCF70073-1B43-4BE0-AE5F-CEF2F245AC95}"/>
    <dgm:cxn modelId="{FD9C2DCE-0747-4F2B-9AF6-4F96C662B62C}" type="presOf" srcId="{91A6EED5-570A-4B7D-AC33-A09C5C847436}" destId="{694123B5-24D5-42A1-8E36-FF9368A05E3D}" srcOrd="0" destOrd="0" presId="urn:microsoft.com/office/officeart/2005/8/layout/chevron1"/>
    <dgm:cxn modelId="{1AAF3EF4-791B-439E-8269-3E47288898ED}" srcId="{027D466B-8884-4118-ABE1-105ABBE4D28D}" destId="{C2F1F1ED-0043-4307-928D-C39FE0A62974}" srcOrd="2" destOrd="0" parTransId="{7903F390-4699-476E-B2CC-082455ADD979}" sibTransId="{0DB89E72-83B0-403F-9923-6B66D0EE85C0}"/>
    <dgm:cxn modelId="{8E907A53-2CBB-4E73-87F4-6CBE9CDCB0C1}" type="presOf" srcId="{027D466B-8884-4118-ABE1-105ABBE4D28D}" destId="{3805C43A-8894-4E5B-906E-1A7326C7A594}" srcOrd="0" destOrd="0" presId="urn:microsoft.com/office/officeart/2005/8/layout/chevron1"/>
    <dgm:cxn modelId="{68C7441F-63D5-4D6B-981A-34EF5790219B}" type="presOf" srcId="{4552FFB7-5822-48A6-B7A6-1439D78F54F0}" destId="{7BDE57E9-158C-47ED-8CB8-2F00B732DB2D}" srcOrd="0" destOrd="0" presId="urn:microsoft.com/office/officeart/2005/8/layout/chevron1"/>
    <dgm:cxn modelId="{16270E50-D2BA-4451-92E9-DB95E023E524}" type="presOf" srcId="{C39FCE09-395C-49AC-9671-E9CD9BB09001}" destId="{82F82CFD-E1F4-4C59-8A92-70847C228CDB}" srcOrd="0" destOrd="0" presId="urn:microsoft.com/office/officeart/2005/8/layout/chevron1"/>
    <dgm:cxn modelId="{FB0CDD47-6DC8-4AA3-9599-F94D0A12C194}" type="presParOf" srcId="{3805C43A-8894-4E5B-906E-1A7326C7A594}" destId="{7BDE57E9-158C-47ED-8CB8-2F00B732DB2D}" srcOrd="0" destOrd="0" presId="urn:microsoft.com/office/officeart/2005/8/layout/chevron1"/>
    <dgm:cxn modelId="{FF98D28D-5B9C-4E13-B5F8-2BCC6F16A260}" type="presParOf" srcId="{3805C43A-8894-4E5B-906E-1A7326C7A594}" destId="{0A7C124A-2435-4932-B32A-3A2C23E825FC}" srcOrd="1" destOrd="0" presId="urn:microsoft.com/office/officeart/2005/8/layout/chevron1"/>
    <dgm:cxn modelId="{F64A00D0-DEDA-4C60-807F-F766D85503C8}" type="presParOf" srcId="{3805C43A-8894-4E5B-906E-1A7326C7A594}" destId="{82F82CFD-E1F4-4C59-8A92-70847C228CDB}" srcOrd="2" destOrd="0" presId="urn:microsoft.com/office/officeart/2005/8/layout/chevron1"/>
    <dgm:cxn modelId="{051623A9-CADC-43E5-B593-7DEEA6BCF509}" type="presParOf" srcId="{3805C43A-8894-4E5B-906E-1A7326C7A594}" destId="{5B00EF1C-877F-449C-9A95-53D44C9EF8B4}" srcOrd="3" destOrd="0" presId="urn:microsoft.com/office/officeart/2005/8/layout/chevron1"/>
    <dgm:cxn modelId="{A401E454-99C7-4B52-BB09-B62890106DD4}" type="presParOf" srcId="{3805C43A-8894-4E5B-906E-1A7326C7A594}" destId="{3B0C05BE-9BB7-46C4-9BF4-467C9D4A2A2A}" srcOrd="4" destOrd="0" presId="urn:microsoft.com/office/officeart/2005/8/layout/chevron1"/>
    <dgm:cxn modelId="{9366E46C-D472-4A3F-AFF5-02824FDE1F43}" type="presParOf" srcId="{3805C43A-8894-4E5B-906E-1A7326C7A594}" destId="{0FC935AF-3A39-4F32-9E25-47517198233A}" srcOrd="5" destOrd="0" presId="urn:microsoft.com/office/officeart/2005/8/layout/chevron1"/>
    <dgm:cxn modelId="{35C5EED0-5B34-4C05-BF20-F949745F3C38}" type="presParOf" srcId="{3805C43A-8894-4E5B-906E-1A7326C7A594}" destId="{694123B5-24D5-42A1-8E36-FF9368A05E3D}" srcOrd="6" destOrd="0" presId="urn:microsoft.com/office/officeart/2005/8/layout/chevron1"/>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2.xml><?xml version="1.0" encoding="utf-8"?>
<dgm:dataModel xmlns:dgm="http://schemas.openxmlformats.org/drawingml/2006/diagram" xmlns:a="http://schemas.openxmlformats.org/drawingml/2006/main">
  <dgm:ptLst>
    <dgm:pt modelId="{027D466B-8884-4118-ABE1-105ABBE4D28D}" type="doc">
      <dgm:prSet loTypeId="urn:microsoft.com/office/officeart/2005/8/layout/chevron1" loCatId="process" qsTypeId="urn:microsoft.com/office/officeart/2005/8/quickstyle/simple1" qsCatId="simple" csTypeId="urn:microsoft.com/office/officeart/2005/8/colors/accent1_2" csCatId="accent1" phldr="1"/>
      <dgm:spPr/>
    </dgm:pt>
    <dgm:pt modelId="{4552FFB7-5822-48A6-B7A6-1439D78F54F0}">
      <dgm:prSet phldrT="[Text]"/>
      <dgm:spPr/>
      <dgm:t>
        <a:bodyPr/>
        <a:lstStyle/>
        <a:p>
          <a:r>
            <a:rPr lang="en-IN" b="1" dirty="0" smtClean="0">
              <a:latin typeface="Times New Roman" panose="02020603050405020304" pitchFamily="18" charset="0"/>
              <a:cs typeface="Times New Roman" panose="02020603050405020304" pitchFamily="18" charset="0"/>
            </a:rPr>
            <a:t>No. of Layers Decreases</a:t>
          </a:r>
          <a:endParaRPr lang="en-IN" b="1" dirty="0">
            <a:latin typeface="Times New Roman" panose="02020603050405020304" pitchFamily="18" charset="0"/>
            <a:cs typeface="Times New Roman" panose="02020603050405020304" pitchFamily="18" charset="0"/>
          </a:endParaRPr>
        </a:p>
      </dgm:t>
    </dgm:pt>
    <dgm:pt modelId="{8E278432-B4A0-464F-86FB-98F70F904921}" type="parTrans" cxnId="{8EAF706A-6604-4F3A-8595-944E8C7D7F8E}">
      <dgm:prSet/>
      <dgm:spPr/>
      <dgm:t>
        <a:bodyPr/>
        <a:lstStyle/>
        <a:p>
          <a:endParaRPr lang="en-IN"/>
        </a:p>
      </dgm:t>
    </dgm:pt>
    <dgm:pt modelId="{CCF70073-1B43-4BE0-AE5F-CEF2F245AC95}" type="sibTrans" cxnId="{8EAF706A-6604-4F3A-8595-944E8C7D7F8E}">
      <dgm:prSet/>
      <dgm:spPr/>
      <dgm:t>
        <a:bodyPr/>
        <a:lstStyle/>
        <a:p>
          <a:endParaRPr lang="en-IN"/>
        </a:p>
      </dgm:t>
    </dgm:pt>
    <dgm:pt modelId="{C39FCE09-395C-49AC-9671-E9CD9BB09001}">
      <dgm:prSet phldrT="[Text]"/>
      <dgm:spPr/>
      <dgm:t>
        <a:bodyPr/>
        <a:lstStyle/>
        <a:p>
          <a:r>
            <a:rPr lang="en-IN" b="1" dirty="0" smtClean="0">
              <a:latin typeface="Times New Roman" panose="02020603050405020304" pitchFamily="18" charset="0"/>
              <a:cs typeface="Times New Roman" panose="02020603050405020304" pitchFamily="18" charset="0"/>
            </a:rPr>
            <a:t>Less No. of Weights</a:t>
          </a:r>
          <a:endParaRPr lang="en-IN" b="1" dirty="0">
            <a:latin typeface="Times New Roman" panose="02020603050405020304" pitchFamily="18" charset="0"/>
            <a:cs typeface="Times New Roman" panose="02020603050405020304" pitchFamily="18" charset="0"/>
          </a:endParaRPr>
        </a:p>
      </dgm:t>
    </dgm:pt>
    <dgm:pt modelId="{DD692136-E9D2-425E-B391-CEAAAB393141}" type="parTrans" cxnId="{060AAA2F-E3B9-4E6F-91A9-2D8B834A3A48}">
      <dgm:prSet/>
      <dgm:spPr/>
      <dgm:t>
        <a:bodyPr/>
        <a:lstStyle/>
        <a:p>
          <a:endParaRPr lang="en-IN"/>
        </a:p>
      </dgm:t>
    </dgm:pt>
    <dgm:pt modelId="{C00D3163-A3F9-445A-B3BD-1A2EC72D3779}" type="sibTrans" cxnId="{060AAA2F-E3B9-4E6F-91A9-2D8B834A3A48}">
      <dgm:prSet/>
      <dgm:spPr/>
      <dgm:t>
        <a:bodyPr/>
        <a:lstStyle/>
        <a:p>
          <a:endParaRPr lang="en-IN"/>
        </a:p>
      </dgm:t>
    </dgm:pt>
    <dgm:pt modelId="{C2F1F1ED-0043-4307-928D-C39FE0A62974}">
      <dgm:prSet phldrT="[Text]"/>
      <dgm:spPr/>
      <dgm:t>
        <a:bodyPr/>
        <a:lstStyle/>
        <a:p>
          <a:r>
            <a:rPr lang="en-IN" b="1" dirty="0" smtClean="0">
              <a:latin typeface="Times New Roman" panose="02020603050405020304" pitchFamily="18" charset="0"/>
              <a:cs typeface="Times New Roman" panose="02020603050405020304" pitchFamily="18" charset="0"/>
            </a:rPr>
            <a:t>Chances to </a:t>
          </a:r>
          <a:r>
            <a:rPr lang="en-IN" b="1" dirty="0" err="1" smtClean="0">
              <a:latin typeface="Times New Roman" panose="02020603050405020304" pitchFamily="18" charset="0"/>
              <a:cs typeface="Times New Roman" panose="02020603050405020304" pitchFamily="18" charset="0"/>
            </a:rPr>
            <a:t>Underfit</a:t>
          </a:r>
          <a:r>
            <a:rPr lang="en-IN" b="1" dirty="0" smtClean="0">
              <a:latin typeface="Times New Roman" panose="02020603050405020304" pitchFamily="18" charset="0"/>
              <a:cs typeface="Times New Roman" panose="02020603050405020304" pitchFamily="18" charset="0"/>
            </a:rPr>
            <a:t> is High</a:t>
          </a:r>
          <a:endParaRPr lang="en-IN" b="1" dirty="0">
            <a:latin typeface="Times New Roman" panose="02020603050405020304" pitchFamily="18" charset="0"/>
            <a:cs typeface="Times New Roman" panose="02020603050405020304" pitchFamily="18" charset="0"/>
          </a:endParaRPr>
        </a:p>
      </dgm:t>
    </dgm:pt>
    <dgm:pt modelId="{7903F390-4699-476E-B2CC-082455ADD979}" type="parTrans" cxnId="{1AAF3EF4-791B-439E-8269-3E47288898ED}">
      <dgm:prSet/>
      <dgm:spPr/>
      <dgm:t>
        <a:bodyPr/>
        <a:lstStyle/>
        <a:p>
          <a:endParaRPr lang="en-IN"/>
        </a:p>
      </dgm:t>
    </dgm:pt>
    <dgm:pt modelId="{0DB89E72-83B0-403F-9923-6B66D0EE85C0}" type="sibTrans" cxnId="{1AAF3EF4-791B-439E-8269-3E47288898ED}">
      <dgm:prSet/>
      <dgm:spPr/>
      <dgm:t>
        <a:bodyPr/>
        <a:lstStyle/>
        <a:p>
          <a:endParaRPr lang="en-IN"/>
        </a:p>
      </dgm:t>
    </dgm:pt>
    <dgm:pt modelId="{91A6EED5-570A-4B7D-AC33-A09C5C847436}">
      <dgm:prSet/>
      <dgm:spPr/>
      <dgm:t>
        <a:bodyPr/>
        <a:lstStyle/>
        <a:p>
          <a:r>
            <a:rPr lang="en-IN" b="1" dirty="0" smtClean="0">
              <a:latin typeface="Times New Roman" panose="02020603050405020304" pitchFamily="18" charset="0"/>
              <a:cs typeface="Times New Roman" panose="02020603050405020304" pitchFamily="18" charset="0"/>
            </a:rPr>
            <a:t>Problem of High Bias</a:t>
          </a:r>
          <a:endParaRPr lang="en-IN" b="1" dirty="0">
            <a:latin typeface="Times New Roman" panose="02020603050405020304" pitchFamily="18" charset="0"/>
            <a:cs typeface="Times New Roman" panose="02020603050405020304" pitchFamily="18" charset="0"/>
          </a:endParaRPr>
        </a:p>
      </dgm:t>
    </dgm:pt>
    <dgm:pt modelId="{ADECD79B-35EF-4B8E-A52A-037E252822E2}" type="parTrans" cxnId="{759F070E-5415-4240-BB7E-7B5F65F3699A}">
      <dgm:prSet/>
      <dgm:spPr/>
      <dgm:t>
        <a:bodyPr/>
        <a:lstStyle/>
        <a:p>
          <a:endParaRPr lang="en-IN"/>
        </a:p>
      </dgm:t>
    </dgm:pt>
    <dgm:pt modelId="{7F5BBA08-DC94-4091-A963-BAF0E54D5F41}" type="sibTrans" cxnId="{759F070E-5415-4240-BB7E-7B5F65F3699A}">
      <dgm:prSet/>
      <dgm:spPr/>
      <dgm:t>
        <a:bodyPr/>
        <a:lstStyle/>
        <a:p>
          <a:endParaRPr lang="en-IN"/>
        </a:p>
      </dgm:t>
    </dgm:pt>
    <dgm:pt modelId="{3805C43A-8894-4E5B-906E-1A7326C7A594}" type="pres">
      <dgm:prSet presAssocID="{027D466B-8884-4118-ABE1-105ABBE4D28D}" presName="Name0" presStyleCnt="0">
        <dgm:presLayoutVars>
          <dgm:dir/>
          <dgm:animLvl val="lvl"/>
          <dgm:resizeHandles val="exact"/>
        </dgm:presLayoutVars>
      </dgm:prSet>
      <dgm:spPr/>
    </dgm:pt>
    <dgm:pt modelId="{7BDE57E9-158C-47ED-8CB8-2F00B732DB2D}" type="pres">
      <dgm:prSet presAssocID="{4552FFB7-5822-48A6-B7A6-1439D78F54F0}" presName="parTxOnly" presStyleLbl="node1" presStyleIdx="0" presStyleCnt="4">
        <dgm:presLayoutVars>
          <dgm:chMax val="0"/>
          <dgm:chPref val="0"/>
          <dgm:bulletEnabled val="1"/>
        </dgm:presLayoutVars>
      </dgm:prSet>
      <dgm:spPr/>
      <dgm:t>
        <a:bodyPr/>
        <a:lstStyle/>
        <a:p>
          <a:endParaRPr lang="en-IN"/>
        </a:p>
      </dgm:t>
    </dgm:pt>
    <dgm:pt modelId="{0A7C124A-2435-4932-B32A-3A2C23E825FC}" type="pres">
      <dgm:prSet presAssocID="{CCF70073-1B43-4BE0-AE5F-CEF2F245AC95}" presName="parTxOnlySpace" presStyleCnt="0"/>
      <dgm:spPr/>
    </dgm:pt>
    <dgm:pt modelId="{82F82CFD-E1F4-4C59-8A92-70847C228CDB}" type="pres">
      <dgm:prSet presAssocID="{C39FCE09-395C-49AC-9671-E9CD9BB09001}" presName="parTxOnly" presStyleLbl="node1" presStyleIdx="1" presStyleCnt="4">
        <dgm:presLayoutVars>
          <dgm:chMax val="0"/>
          <dgm:chPref val="0"/>
          <dgm:bulletEnabled val="1"/>
        </dgm:presLayoutVars>
      </dgm:prSet>
      <dgm:spPr/>
      <dgm:t>
        <a:bodyPr/>
        <a:lstStyle/>
        <a:p>
          <a:endParaRPr lang="en-IN"/>
        </a:p>
      </dgm:t>
    </dgm:pt>
    <dgm:pt modelId="{5B00EF1C-877F-449C-9A95-53D44C9EF8B4}" type="pres">
      <dgm:prSet presAssocID="{C00D3163-A3F9-445A-B3BD-1A2EC72D3779}" presName="parTxOnlySpace" presStyleCnt="0"/>
      <dgm:spPr/>
    </dgm:pt>
    <dgm:pt modelId="{3B0C05BE-9BB7-46C4-9BF4-467C9D4A2A2A}" type="pres">
      <dgm:prSet presAssocID="{C2F1F1ED-0043-4307-928D-C39FE0A62974}" presName="parTxOnly" presStyleLbl="node1" presStyleIdx="2" presStyleCnt="4">
        <dgm:presLayoutVars>
          <dgm:chMax val="0"/>
          <dgm:chPref val="0"/>
          <dgm:bulletEnabled val="1"/>
        </dgm:presLayoutVars>
      </dgm:prSet>
      <dgm:spPr/>
      <dgm:t>
        <a:bodyPr/>
        <a:lstStyle/>
        <a:p>
          <a:endParaRPr lang="en-IN"/>
        </a:p>
      </dgm:t>
    </dgm:pt>
    <dgm:pt modelId="{0FC935AF-3A39-4F32-9E25-47517198233A}" type="pres">
      <dgm:prSet presAssocID="{0DB89E72-83B0-403F-9923-6B66D0EE85C0}" presName="parTxOnlySpace" presStyleCnt="0"/>
      <dgm:spPr/>
    </dgm:pt>
    <dgm:pt modelId="{694123B5-24D5-42A1-8E36-FF9368A05E3D}" type="pres">
      <dgm:prSet presAssocID="{91A6EED5-570A-4B7D-AC33-A09C5C847436}" presName="parTxOnly" presStyleLbl="node1" presStyleIdx="3" presStyleCnt="4">
        <dgm:presLayoutVars>
          <dgm:chMax val="0"/>
          <dgm:chPref val="0"/>
          <dgm:bulletEnabled val="1"/>
        </dgm:presLayoutVars>
      </dgm:prSet>
      <dgm:spPr/>
      <dgm:t>
        <a:bodyPr/>
        <a:lstStyle/>
        <a:p>
          <a:endParaRPr lang="en-IN"/>
        </a:p>
      </dgm:t>
    </dgm:pt>
  </dgm:ptLst>
  <dgm:cxnLst>
    <dgm:cxn modelId="{759F070E-5415-4240-BB7E-7B5F65F3699A}" srcId="{027D466B-8884-4118-ABE1-105ABBE4D28D}" destId="{91A6EED5-570A-4B7D-AC33-A09C5C847436}" srcOrd="3" destOrd="0" parTransId="{ADECD79B-35EF-4B8E-A52A-037E252822E2}" sibTransId="{7F5BBA08-DC94-4091-A963-BAF0E54D5F41}"/>
    <dgm:cxn modelId="{060AAA2F-E3B9-4E6F-91A9-2D8B834A3A48}" srcId="{027D466B-8884-4118-ABE1-105ABBE4D28D}" destId="{C39FCE09-395C-49AC-9671-E9CD9BB09001}" srcOrd="1" destOrd="0" parTransId="{DD692136-E9D2-425E-B391-CEAAAB393141}" sibTransId="{C00D3163-A3F9-445A-B3BD-1A2EC72D3779}"/>
    <dgm:cxn modelId="{8EAF706A-6604-4F3A-8595-944E8C7D7F8E}" srcId="{027D466B-8884-4118-ABE1-105ABBE4D28D}" destId="{4552FFB7-5822-48A6-B7A6-1439D78F54F0}" srcOrd="0" destOrd="0" parTransId="{8E278432-B4A0-464F-86FB-98F70F904921}" sibTransId="{CCF70073-1B43-4BE0-AE5F-CEF2F245AC95}"/>
    <dgm:cxn modelId="{F4FDEC83-D2B5-4281-8CB6-232DBA0AFF47}" type="presOf" srcId="{91A6EED5-570A-4B7D-AC33-A09C5C847436}" destId="{694123B5-24D5-42A1-8E36-FF9368A05E3D}" srcOrd="0" destOrd="0" presId="urn:microsoft.com/office/officeart/2005/8/layout/chevron1"/>
    <dgm:cxn modelId="{655D6760-1B8B-4EDD-80F2-EBE9DC83ABA0}" type="presOf" srcId="{C39FCE09-395C-49AC-9671-E9CD9BB09001}" destId="{82F82CFD-E1F4-4C59-8A92-70847C228CDB}" srcOrd="0" destOrd="0" presId="urn:microsoft.com/office/officeart/2005/8/layout/chevron1"/>
    <dgm:cxn modelId="{1AAF3EF4-791B-439E-8269-3E47288898ED}" srcId="{027D466B-8884-4118-ABE1-105ABBE4D28D}" destId="{C2F1F1ED-0043-4307-928D-C39FE0A62974}" srcOrd="2" destOrd="0" parTransId="{7903F390-4699-476E-B2CC-082455ADD979}" sibTransId="{0DB89E72-83B0-403F-9923-6B66D0EE85C0}"/>
    <dgm:cxn modelId="{5176DD75-751E-4764-9D5A-D1391A10145F}" type="presOf" srcId="{C2F1F1ED-0043-4307-928D-C39FE0A62974}" destId="{3B0C05BE-9BB7-46C4-9BF4-467C9D4A2A2A}" srcOrd="0" destOrd="0" presId="urn:microsoft.com/office/officeart/2005/8/layout/chevron1"/>
    <dgm:cxn modelId="{D57B2F19-8A67-4FDA-B441-081DFE06AA49}" type="presOf" srcId="{027D466B-8884-4118-ABE1-105ABBE4D28D}" destId="{3805C43A-8894-4E5B-906E-1A7326C7A594}" srcOrd="0" destOrd="0" presId="urn:microsoft.com/office/officeart/2005/8/layout/chevron1"/>
    <dgm:cxn modelId="{C8D02AE6-A8DA-4484-B0A0-6B1C03347C41}" type="presOf" srcId="{4552FFB7-5822-48A6-B7A6-1439D78F54F0}" destId="{7BDE57E9-158C-47ED-8CB8-2F00B732DB2D}" srcOrd="0" destOrd="0" presId="urn:microsoft.com/office/officeart/2005/8/layout/chevron1"/>
    <dgm:cxn modelId="{366F6CA6-BBB1-4CF5-A5D7-F82F031A7BF2}" type="presParOf" srcId="{3805C43A-8894-4E5B-906E-1A7326C7A594}" destId="{7BDE57E9-158C-47ED-8CB8-2F00B732DB2D}" srcOrd="0" destOrd="0" presId="urn:microsoft.com/office/officeart/2005/8/layout/chevron1"/>
    <dgm:cxn modelId="{9AA1939E-FF5C-4932-8C2A-20B04C805BCA}" type="presParOf" srcId="{3805C43A-8894-4E5B-906E-1A7326C7A594}" destId="{0A7C124A-2435-4932-B32A-3A2C23E825FC}" srcOrd="1" destOrd="0" presId="urn:microsoft.com/office/officeart/2005/8/layout/chevron1"/>
    <dgm:cxn modelId="{608F721F-449F-4E67-954E-7C8B56A04B95}" type="presParOf" srcId="{3805C43A-8894-4E5B-906E-1A7326C7A594}" destId="{82F82CFD-E1F4-4C59-8A92-70847C228CDB}" srcOrd="2" destOrd="0" presId="urn:microsoft.com/office/officeart/2005/8/layout/chevron1"/>
    <dgm:cxn modelId="{9FCB3385-91FD-48E9-BEBE-B42B05A2CDAB}" type="presParOf" srcId="{3805C43A-8894-4E5B-906E-1A7326C7A594}" destId="{5B00EF1C-877F-449C-9A95-53D44C9EF8B4}" srcOrd="3" destOrd="0" presId="urn:microsoft.com/office/officeart/2005/8/layout/chevron1"/>
    <dgm:cxn modelId="{9650F22B-9FDC-4FA1-855D-0CEBC4D26335}" type="presParOf" srcId="{3805C43A-8894-4E5B-906E-1A7326C7A594}" destId="{3B0C05BE-9BB7-46C4-9BF4-467C9D4A2A2A}" srcOrd="4" destOrd="0" presId="urn:microsoft.com/office/officeart/2005/8/layout/chevron1"/>
    <dgm:cxn modelId="{845FE225-91A7-4A10-9288-C952BCA9972F}" type="presParOf" srcId="{3805C43A-8894-4E5B-906E-1A7326C7A594}" destId="{0FC935AF-3A39-4F32-9E25-47517198233A}" srcOrd="5" destOrd="0" presId="urn:microsoft.com/office/officeart/2005/8/layout/chevron1"/>
    <dgm:cxn modelId="{D9870796-F69A-4AAF-8226-D980755919D7}" type="presParOf" srcId="{3805C43A-8894-4E5B-906E-1A7326C7A594}" destId="{694123B5-24D5-42A1-8E36-FF9368A05E3D}" srcOrd="6" destOrd="0" presId="urn:microsoft.com/office/officeart/2005/8/layout/chevron1"/>
  </dgm:cxnLst>
  <dgm:bg/>
  <dgm:whole/>
  <dgm:extLst>
    <a:ext uri="http://schemas.microsoft.com/office/drawing/2008/diagram">
      <dsp:dataModelExt xmlns:dsp="http://schemas.microsoft.com/office/drawing/2008/diagram" relId="rId11"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7BDE57E9-158C-47ED-8CB8-2F00B732DB2D}">
      <dsp:nvSpPr>
        <dsp:cNvPr id="0" name=""/>
        <dsp:cNvSpPr/>
      </dsp:nvSpPr>
      <dsp:spPr>
        <a:xfrm>
          <a:off x="4170" y="505018"/>
          <a:ext cx="2427907" cy="971163"/>
        </a:xfrm>
        <a:prstGeom prst="chevron">
          <a:avLst/>
        </a:prstGeom>
        <a:solidFill>
          <a:schemeClr val="accent1">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92012" tIns="30671" rIns="30671" bIns="30671" numCol="1" spcCol="1270" anchor="ctr" anchorCtr="0">
          <a:noAutofit/>
        </a:bodyPr>
        <a:lstStyle/>
        <a:p>
          <a:pPr lvl="0" algn="ctr" defTabSz="1022350">
            <a:lnSpc>
              <a:spcPct val="90000"/>
            </a:lnSpc>
            <a:spcBef>
              <a:spcPct val="0"/>
            </a:spcBef>
            <a:spcAft>
              <a:spcPct val="35000"/>
            </a:spcAft>
          </a:pPr>
          <a:r>
            <a:rPr lang="en-IN" sz="2300" b="1" kern="1200" dirty="0" smtClean="0">
              <a:latin typeface="Times New Roman" panose="02020603050405020304" pitchFamily="18" charset="0"/>
              <a:cs typeface="Times New Roman" panose="02020603050405020304" pitchFamily="18" charset="0"/>
            </a:rPr>
            <a:t>No. of Layers Increases</a:t>
          </a:r>
          <a:endParaRPr lang="en-IN" sz="2300" b="1" kern="1200" dirty="0">
            <a:latin typeface="Times New Roman" panose="02020603050405020304" pitchFamily="18" charset="0"/>
            <a:cs typeface="Times New Roman" panose="02020603050405020304" pitchFamily="18" charset="0"/>
          </a:endParaRPr>
        </a:p>
      </dsp:txBody>
      <dsp:txXfrm>
        <a:off x="489752" y="505018"/>
        <a:ext cx="1456744" cy="971163"/>
      </dsp:txXfrm>
    </dsp:sp>
    <dsp:sp modelId="{82F82CFD-E1F4-4C59-8A92-70847C228CDB}">
      <dsp:nvSpPr>
        <dsp:cNvPr id="0" name=""/>
        <dsp:cNvSpPr/>
      </dsp:nvSpPr>
      <dsp:spPr>
        <a:xfrm>
          <a:off x="2189287" y="505018"/>
          <a:ext cx="2427907" cy="971163"/>
        </a:xfrm>
        <a:prstGeom prst="chevron">
          <a:avLst/>
        </a:prstGeom>
        <a:solidFill>
          <a:schemeClr val="accent1">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92012" tIns="30671" rIns="30671" bIns="30671" numCol="1" spcCol="1270" anchor="ctr" anchorCtr="0">
          <a:noAutofit/>
        </a:bodyPr>
        <a:lstStyle/>
        <a:p>
          <a:pPr lvl="0" algn="ctr" defTabSz="1022350">
            <a:lnSpc>
              <a:spcPct val="90000"/>
            </a:lnSpc>
            <a:spcBef>
              <a:spcPct val="0"/>
            </a:spcBef>
            <a:spcAft>
              <a:spcPct val="35000"/>
            </a:spcAft>
          </a:pPr>
          <a:r>
            <a:rPr lang="en-IN" sz="2300" b="1" kern="1200" dirty="0" smtClean="0">
              <a:latin typeface="Times New Roman" panose="02020603050405020304" pitchFamily="18" charset="0"/>
              <a:cs typeface="Times New Roman" panose="02020603050405020304" pitchFamily="18" charset="0"/>
            </a:rPr>
            <a:t>More No. of Weights</a:t>
          </a:r>
          <a:endParaRPr lang="en-IN" sz="2300" b="1" kern="1200" dirty="0">
            <a:latin typeface="Times New Roman" panose="02020603050405020304" pitchFamily="18" charset="0"/>
            <a:cs typeface="Times New Roman" panose="02020603050405020304" pitchFamily="18" charset="0"/>
          </a:endParaRPr>
        </a:p>
      </dsp:txBody>
      <dsp:txXfrm>
        <a:off x="2674869" y="505018"/>
        <a:ext cx="1456744" cy="971163"/>
      </dsp:txXfrm>
    </dsp:sp>
    <dsp:sp modelId="{3B0C05BE-9BB7-46C4-9BF4-467C9D4A2A2A}">
      <dsp:nvSpPr>
        <dsp:cNvPr id="0" name=""/>
        <dsp:cNvSpPr/>
      </dsp:nvSpPr>
      <dsp:spPr>
        <a:xfrm>
          <a:off x="4374404" y="505018"/>
          <a:ext cx="2427907" cy="971163"/>
        </a:xfrm>
        <a:prstGeom prst="chevron">
          <a:avLst/>
        </a:prstGeom>
        <a:solidFill>
          <a:schemeClr val="accent1">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92012" tIns="30671" rIns="30671" bIns="30671" numCol="1" spcCol="1270" anchor="ctr" anchorCtr="0">
          <a:noAutofit/>
        </a:bodyPr>
        <a:lstStyle/>
        <a:p>
          <a:pPr lvl="0" algn="ctr" defTabSz="1022350">
            <a:lnSpc>
              <a:spcPct val="90000"/>
            </a:lnSpc>
            <a:spcBef>
              <a:spcPct val="0"/>
            </a:spcBef>
            <a:spcAft>
              <a:spcPct val="35000"/>
            </a:spcAft>
          </a:pPr>
          <a:r>
            <a:rPr lang="en-IN" sz="2300" b="1" kern="1200" dirty="0" smtClean="0">
              <a:latin typeface="Times New Roman" panose="02020603050405020304" pitchFamily="18" charset="0"/>
              <a:cs typeface="Times New Roman" panose="02020603050405020304" pitchFamily="18" charset="0"/>
            </a:rPr>
            <a:t>Chances to </a:t>
          </a:r>
          <a:r>
            <a:rPr lang="en-IN" sz="2300" b="1" kern="1200" dirty="0" err="1" smtClean="0">
              <a:latin typeface="Times New Roman" panose="02020603050405020304" pitchFamily="18" charset="0"/>
              <a:cs typeface="Times New Roman" panose="02020603050405020304" pitchFamily="18" charset="0"/>
            </a:rPr>
            <a:t>Overfit</a:t>
          </a:r>
          <a:r>
            <a:rPr lang="en-IN" sz="2300" b="1" kern="1200" dirty="0" smtClean="0">
              <a:latin typeface="Times New Roman" panose="02020603050405020304" pitchFamily="18" charset="0"/>
              <a:cs typeface="Times New Roman" panose="02020603050405020304" pitchFamily="18" charset="0"/>
            </a:rPr>
            <a:t> is High</a:t>
          </a:r>
          <a:endParaRPr lang="en-IN" sz="2300" b="1" kern="1200" dirty="0">
            <a:latin typeface="Times New Roman" panose="02020603050405020304" pitchFamily="18" charset="0"/>
            <a:cs typeface="Times New Roman" panose="02020603050405020304" pitchFamily="18" charset="0"/>
          </a:endParaRPr>
        </a:p>
      </dsp:txBody>
      <dsp:txXfrm>
        <a:off x="4859986" y="505018"/>
        <a:ext cx="1456744" cy="971163"/>
      </dsp:txXfrm>
    </dsp:sp>
    <dsp:sp modelId="{694123B5-24D5-42A1-8E36-FF9368A05E3D}">
      <dsp:nvSpPr>
        <dsp:cNvPr id="0" name=""/>
        <dsp:cNvSpPr/>
      </dsp:nvSpPr>
      <dsp:spPr>
        <a:xfrm>
          <a:off x="6559521" y="505018"/>
          <a:ext cx="2427907" cy="971163"/>
        </a:xfrm>
        <a:prstGeom prst="chevron">
          <a:avLst/>
        </a:prstGeom>
        <a:solidFill>
          <a:schemeClr val="accent1">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92012" tIns="30671" rIns="30671" bIns="30671" numCol="1" spcCol="1270" anchor="ctr" anchorCtr="0">
          <a:noAutofit/>
        </a:bodyPr>
        <a:lstStyle/>
        <a:p>
          <a:pPr lvl="0" algn="ctr" defTabSz="1022350">
            <a:lnSpc>
              <a:spcPct val="90000"/>
            </a:lnSpc>
            <a:spcBef>
              <a:spcPct val="0"/>
            </a:spcBef>
            <a:spcAft>
              <a:spcPct val="35000"/>
            </a:spcAft>
          </a:pPr>
          <a:r>
            <a:rPr lang="en-IN" sz="2300" b="1" kern="1200" dirty="0" smtClean="0">
              <a:latin typeface="Times New Roman" panose="02020603050405020304" pitchFamily="18" charset="0"/>
              <a:cs typeface="Times New Roman" panose="02020603050405020304" pitchFamily="18" charset="0"/>
            </a:rPr>
            <a:t>Problem of High Variance</a:t>
          </a:r>
          <a:endParaRPr lang="en-IN" sz="2300" b="1" kern="1200" dirty="0">
            <a:latin typeface="Times New Roman" panose="02020603050405020304" pitchFamily="18" charset="0"/>
            <a:cs typeface="Times New Roman" panose="02020603050405020304" pitchFamily="18" charset="0"/>
          </a:endParaRPr>
        </a:p>
      </dsp:txBody>
      <dsp:txXfrm>
        <a:off x="7045103" y="505018"/>
        <a:ext cx="1456744" cy="971163"/>
      </dsp:txXfrm>
    </dsp:sp>
  </dsp:spTree>
</dsp:drawing>
</file>

<file path=ppt/diagrams/drawing2.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7BDE57E9-158C-47ED-8CB8-2F00B732DB2D}">
      <dsp:nvSpPr>
        <dsp:cNvPr id="0" name=""/>
        <dsp:cNvSpPr/>
      </dsp:nvSpPr>
      <dsp:spPr>
        <a:xfrm>
          <a:off x="4170" y="505018"/>
          <a:ext cx="2427907" cy="971163"/>
        </a:xfrm>
        <a:prstGeom prst="chevron">
          <a:avLst/>
        </a:prstGeom>
        <a:solidFill>
          <a:schemeClr val="accent1">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88011" tIns="29337" rIns="29337" bIns="29337" numCol="1" spcCol="1270" anchor="ctr" anchorCtr="0">
          <a:noAutofit/>
        </a:bodyPr>
        <a:lstStyle/>
        <a:p>
          <a:pPr lvl="0" algn="ctr" defTabSz="977900">
            <a:lnSpc>
              <a:spcPct val="90000"/>
            </a:lnSpc>
            <a:spcBef>
              <a:spcPct val="0"/>
            </a:spcBef>
            <a:spcAft>
              <a:spcPct val="35000"/>
            </a:spcAft>
          </a:pPr>
          <a:r>
            <a:rPr lang="en-IN" sz="2200" b="1" kern="1200" dirty="0" smtClean="0">
              <a:latin typeface="Times New Roman" panose="02020603050405020304" pitchFamily="18" charset="0"/>
              <a:cs typeface="Times New Roman" panose="02020603050405020304" pitchFamily="18" charset="0"/>
            </a:rPr>
            <a:t>No. of Layers Decreases</a:t>
          </a:r>
          <a:endParaRPr lang="en-IN" sz="2200" b="1" kern="1200" dirty="0">
            <a:latin typeface="Times New Roman" panose="02020603050405020304" pitchFamily="18" charset="0"/>
            <a:cs typeface="Times New Roman" panose="02020603050405020304" pitchFamily="18" charset="0"/>
          </a:endParaRPr>
        </a:p>
      </dsp:txBody>
      <dsp:txXfrm>
        <a:off x="489752" y="505018"/>
        <a:ext cx="1456744" cy="971163"/>
      </dsp:txXfrm>
    </dsp:sp>
    <dsp:sp modelId="{82F82CFD-E1F4-4C59-8A92-70847C228CDB}">
      <dsp:nvSpPr>
        <dsp:cNvPr id="0" name=""/>
        <dsp:cNvSpPr/>
      </dsp:nvSpPr>
      <dsp:spPr>
        <a:xfrm>
          <a:off x="2189287" y="505018"/>
          <a:ext cx="2427907" cy="971163"/>
        </a:xfrm>
        <a:prstGeom prst="chevron">
          <a:avLst/>
        </a:prstGeom>
        <a:solidFill>
          <a:schemeClr val="accent1">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88011" tIns="29337" rIns="29337" bIns="29337" numCol="1" spcCol="1270" anchor="ctr" anchorCtr="0">
          <a:noAutofit/>
        </a:bodyPr>
        <a:lstStyle/>
        <a:p>
          <a:pPr lvl="0" algn="ctr" defTabSz="977900">
            <a:lnSpc>
              <a:spcPct val="90000"/>
            </a:lnSpc>
            <a:spcBef>
              <a:spcPct val="0"/>
            </a:spcBef>
            <a:spcAft>
              <a:spcPct val="35000"/>
            </a:spcAft>
          </a:pPr>
          <a:r>
            <a:rPr lang="en-IN" sz="2200" b="1" kern="1200" dirty="0" smtClean="0">
              <a:latin typeface="Times New Roman" panose="02020603050405020304" pitchFamily="18" charset="0"/>
              <a:cs typeface="Times New Roman" panose="02020603050405020304" pitchFamily="18" charset="0"/>
            </a:rPr>
            <a:t>Less No. of Weights</a:t>
          </a:r>
          <a:endParaRPr lang="en-IN" sz="2200" b="1" kern="1200" dirty="0">
            <a:latin typeface="Times New Roman" panose="02020603050405020304" pitchFamily="18" charset="0"/>
            <a:cs typeface="Times New Roman" panose="02020603050405020304" pitchFamily="18" charset="0"/>
          </a:endParaRPr>
        </a:p>
      </dsp:txBody>
      <dsp:txXfrm>
        <a:off x="2674869" y="505018"/>
        <a:ext cx="1456744" cy="971163"/>
      </dsp:txXfrm>
    </dsp:sp>
    <dsp:sp modelId="{3B0C05BE-9BB7-46C4-9BF4-467C9D4A2A2A}">
      <dsp:nvSpPr>
        <dsp:cNvPr id="0" name=""/>
        <dsp:cNvSpPr/>
      </dsp:nvSpPr>
      <dsp:spPr>
        <a:xfrm>
          <a:off x="4374404" y="505018"/>
          <a:ext cx="2427907" cy="971163"/>
        </a:xfrm>
        <a:prstGeom prst="chevron">
          <a:avLst/>
        </a:prstGeom>
        <a:solidFill>
          <a:schemeClr val="accent1">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88011" tIns="29337" rIns="29337" bIns="29337" numCol="1" spcCol="1270" anchor="ctr" anchorCtr="0">
          <a:noAutofit/>
        </a:bodyPr>
        <a:lstStyle/>
        <a:p>
          <a:pPr lvl="0" algn="ctr" defTabSz="977900">
            <a:lnSpc>
              <a:spcPct val="90000"/>
            </a:lnSpc>
            <a:spcBef>
              <a:spcPct val="0"/>
            </a:spcBef>
            <a:spcAft>
              <a:spcPct val="35000"/>
            </a:spcAft>
          </a:pPr>
          <a:r>
            <a:rPr lang="en-IN" sz="2200" b="1" kern="1200" dirty="0" smtClean="0">
              <a:latin typeface="Times New Roman" panose="02020603050405020304" pitchFamily="18" charset="0"/>
              <a:cs typeface="Times New Roman" panose="02020603050405020304" pitchFamily="18" charset="0"/>
            </a:rPr>
            <a:t>Chances to </a:t>
          </a:r>
          <a:r>
            <a:rPr lang="en-IN" sz="2200" b="1" kern="1200" dirty="0" err="1" smtClean="0">
              <a:latin typeface="Times New Roman" panose="02020603050405020304" pitchFamily="18" charset="0"/>
              <a:cs typeface="Times New Roman" panose="02020603050405020304" pitchFamily="18" charset="0"/>
            </a:rPr>
            <a:t>Underfit</a:t>
          </a:r>
          <a:r>
            <a:rPr lang="en-IN" sz="2200" b="1" kern="1200" dirty="0" smtClean="0">
              <a:latin typeface="Times New Roman" panose="02020603050405020304" pitchFamily="18" charset="0"/>
              <a:cs typeface="Times New Roman" panose="02020603050405020304" pitchFamily="18" charset="0"/>
            </a:rPr>
            <a:t> is High</a:t>
          </a:r>
          <a:endParaRPr lang="en-IN" sz="2200" b="1" kern="1200" dirty="0">
            <a:latin typeface="Times New Roman" panose="02020603050405020304" pitchFamily="18" charset="0"/>
            <a:cs typeface="Times New Roman" panose="02020603050405020304" pitchFamily="18" charset="0"/>
          </a:endParaRPr>
        </a:p>
      </dsp:txBody>
      <dsp:txXfrm>
        <a:off x="4859986" y="505018"/>
        <a:ext cx="1456744" cy="971163"/>
      </dsp:txXfrm>
    </dsp:sp>
    <dsp:sp modelId="{694123B5-24D5-42A1-8E36-FF9368A05E3D}">
      <dsp:nvSpPr>
        <dsp:cNvPr id="0" name=""/>
        <dsp:cNvSpPr/>
      </dsp:nvSpPr>
      <dsp:spPr>
        <a:xfrm>
          <a:off x="6559521" y="505018"/>
          <a:ext cx="2427907" cy="971163"/>
        </a:xfrm>
        <a:prstGeom prst="chevron">
          <a:avLst/>
        </a:prstGeom>
        <a:solidFill>
          <a:schemeClr val="accent1">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88011" tIns="29337" rIns="29337" bIns="29337" numCol="1" spcCol="1270" anchor="ctr" anchorCtr="0">
          <a:noAutofit/>
        </a:bodyPr>
        <a:lstStyle/>
        <a:p>
          <a:pPr lvl="0" algn="ctr" defTabSz="977900">
            <a:lnSpc>
              <a:spcPct val="90000"/>
            </a:lnSpc>
            <a:spcBef>
              <a:spcPct val="0"/>
            </a:spcBef>
            <a:spcAft>
              <a:spcPct val="35000"/>
            </a:spcAft>
          </a:pPr>
          <a:r>
            <a:rPr lang="en-IN" sz="2200" b="1" kern="1200" dirty="0" smtClean="0">
              <a:latin typeface="Times New Roman" panose="02020603050405020304" pitchFamily="18" charset="0"/>
              <a:cs typeface="Times New Roman" panose="02020603050405020304" pitchFamily="18" charset="0"/>
            </a:rPr>
            <a:t>Problem of High Bias</a:t>
          </a:r>
          <a:endParaRPr lang="en-IN" sz="2200" b="1" kern="1200" dirty="0">
            <a:latin typeface="Times New Roman" panose="02020603050405020304" pitchFamily="18" charset="0"/>
            <a:cs typeface="Times New Roman" panose="02020603050405020304" pitchFamily="18" charset="0"/>
          </a:endParaRPr>
        </a:p>
      </dsp:txBody>
      <dsp:txXfrm>
        <a:off x="7045103" y="505018"/>
        <a:ext cx="1456744" cy="971163"/>
      </dsp:txXfrm>
    </dsp:sp>
  </dsp:spTree>
</dsp:drawing>
</file>

<file path=ppt/diagrams/layout1.xml><?xml version="1.0" encoding="utf-8"?>
<dgm:layoutDef xmlns:dgm="http://schemas.openxmlformats.org/drawingml/2006/diagram" xmlns:a="http://schemas.openxmlformats.org/drawingml/2006/main" uniqueId="urn:microsoft.com/office/officeart/2005/8/layout/chevron1">
  <dgm:title val=""/>
  <dgm:desc val=""/>
  <dgm:catLst>
    <dgm:cat type="process" pri="9000"/>
  </dgm:catLst>
  <dgm:sampData useDef="1">
    <dgm:dataModel>
      <dgm:pt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Name0">
    <dgm:varLst>
      <dgm:dir/>
      <dgm:animLvl val="lvl"/>
      <dgm:resizeHandles val="exact"/>
    </dgm:varLst>
    <dgm:choose name="Name1">
      <dgm:if name="Name2" func="var" arg="dir" op="equ" val="norm">
        <dgm:alg type="lin"/>
      </dgm:if>
      <dgm:else name="Name3">
        <dgm:alg type="lin">
          <dgm:param type="linDir" val="fromR"/>
        </dgm:alg>
      </dgm:else>
    </dgm:choose>
    <dgm:shape xmlns:r="http://schemas.openxmlformats.org/officeDocument/2006/relationships" r:blip="">
      <dgm:adjLst/>
    </dgm:shape>
    <dgm:presOf/>
    <dgm:choose name="Name4">
      <dgm:if name="Name5" axis="des" func="maxDepth" op="gte" val="2">
        <dgm:constrLst>
          <dgm:constr type="h" for="ch" forName="composite" refType="h"/>
          <dgm:constr type="w" for="ch" forName="composite" refType="w"/>
          <dgm:constr type="w" for="des" forName="parTx"/>
          <dgm:constr type="h" for="des" forName="parTx" op="equ"/>
          <dgm:constr type="w" for="des" forName="desTx"/>
          <dgm:constr type="h" for="des" forName="desTx" op="equ"/>
          <dgm:constr type="primFontSz" for="des" forName="parTx" val="65"/>
          <dgm:constr type="secFontSz" for="des" forName="desTx" refType="primFontSz" refFor="des" refForName="parTx" op="equ"/>
          <dgm:constr type="h" for="des" forName="parTx" refType="primFontSz" refFor="des" refForName="parTx" fact="1.5"/>
          <dgm:constr type="h" for="des" forName="desTx" refType="primFontSz" refFor="des" refForName="parTx" fact="0.5"/>
          <dgm:constr type="w" for="ch" forName="space" op="equ" val="-6"/>
        </dgm:constrLst>
        <dgm:ruleLst>
          <dgm:rule type="w" for="ch" forName="composite" val="0" fact="NaN" max="NaN"/>
          <dgm:rule type="primFontSz" for="des" forName="parTx" val="5" fact="NaN" max="NaN"/>
        </dgm:ruleLst>
        <dgm:forEach name="Name6" axis="ch" ptType="node">
          <dgm:layoutNode name="composite">
            <dgm:alg type="composite"/>
            <dgm:shape xmlns:r="http://schemas.openxmlformats.org/officeDocument/2006/relationships" r:blip="">
              <dgm:adjLst/>
            </dgm:shape>
            <dgm:presOf/>
            <dgm:choose name="Name7">
              <dgm:if name="Name8" func="var" arg="dir" op="equ" val="norm">
                <dgm:constrLst>
                  <dgm:constr type="l" for="ch" forName="parTx"/>
                  <dgm:constr type="w" for="ch" forName="parTx" refType="w"/>
                  <dgm:constr type="t" for="ch" forName="parTx"/>
                  <dgm:constr type="l" for="ch" forName="desTx"/>
                  <dgm:constr type="w" for="ch" forName="desTx" refType="w" refFor="ch" refForName="parTx" fact="0.8"/>
                  <dgm:constr type="t" for="ch" forName="desTx" refType="h" refFor="ch" refForName="parTx" fact="1.125"/>
                </dgm:constrLst>
              </dgm:if>
              <dgm:else name="Name9">
                <dgm:constrLst>
                  <dgm:constr type="l" for="ch" forName="parTx"/>
                  <dgm:constr type="w" for="ch" forName="parTx" refType="w"/>
                  <dgm:constr type="t" for="ch" forName="parTx"/>
                  <dgm:constr type="l" for="ch" forName="desTx" refType="w" fact="0.2"/>
                  <dgm:constr type="w" for="ch" forName="desTx" refType="w" refFor="ch" refForName="parTx" fact="0.8"/>
                  <dgm:constr type="t" for="ch" forName="desTx" refType="h" refFor="ch" refForName="parTx" fact="1.125"/>
                </dgm:constrLst>
              </dgm:else>
            </dgm:choose>
            <dgm:ruleLst>
              <dgm:rule type="h" val="INF" fact="NaN" max="NaN"/>
            </dgm:ruleLst>
            <dgm:layoutNode name="parTx">
              <dgm:varLst>
                <dgm:chMax val="0"/>
                <dgm:chPref val="0"/>
                <dgm:bulletEnabled val="1"/>
              </dgm:varLst>
              <dgm:alg type="tx"/>
              <dgm:choose name="Name10">
                <dgm:if name="Name11" func="var" arg="dir" op="equ" val="norm">
                  <dgm:shape xmlns:r="http://schemas.openxmlformats.org/officeDocument/2006/relationships" type="chevron" r:blip="">
                    <dgm:adjLst/>
                  </dgm:shape>
                </dgm:if>
                <dgm:else name="Name12">
                  <dgm:shape xmlns:r="http://schemas.openxmlformats.org/officeDocument/2006/relationships" rot="180" type="chevron" r:blip="">
                    <dgm:adjLst/>
                  </dgm:shape>
                </dgm:else>
              </dgm:choose>
              <dgm:presOf axis="self" ptType="node"/>
              <dgm:choose name="Name13">
                <dgm:if name="Name14" func="var" arg="dir" op="equ" val="norm">
                  <dgm:constrLst>
                    <dgm:constr type="h" refType="w" op="lte" fact="0.4"/>
                    <dgm:constr type="h"/>
                    <dgm:constr type="tMarg" refType="primFontSz" fact="0.105"/>
                    <dgm:constr type="bMarg" refType="primFontSz" fact="0.105"/>
                    <dgm:constr type="lMarg" refType="primFontSz" fact="0.315"/>
                    <dgm:constr type="rMarg" refType="primFontSz" fact="0.105"/>
                  </dgm:constrLst>
                </dgm:if>
                <dgm:else name="Name15">
                  <dgm:constrLst>
                    <dgm:constr type="h" refType="w" op="lte" fact="0.4"/>
                    <dgm:constr type="h"/>
                    <dgm:constr type="tMarg" refType="primFontSz" fact="0.105"/>
                    <dgm:constr type="bMarg" refType="primFontSz" fact="0.105"/>
                    <dgm:constr type="lMarg" refType="primFontSz" fact="0.105"/>
                    <dgm:constr type="rMarg" refType="primFontSz" fact="0.315"/>
                  </dgm:constrLst>
                </dgm:else>
              </dgm:choose>
              <dgm:ruleLst>
                <dgm:rule type="h" val="INF" fact="NaN" max="NaN"/>
              </dgm:ruleLst>
            </dgm:layoutNode>
            <dgm:layoutNode name="desTx" styleLbl="revTx">
              <dgm:varLst>
                <dgm:bulletEnabled val="1"/>
              </dgm:varLst>
              <dgm:alg type="tx">
                <dgm:param type="stBulletLvl" val="1"/>
              </dgm:alg>
              <dgm:choose name="Name16">
                <dgm:if name="Name17" axis="ch" ptType="node" func="cnt" op="gte" val="1">
                  <dgm:shape xmlns:r="http://schemas.openxmlformats.org/officeDocument/2006/relationships" type="rect" r:blip="">
                    <dgm:adjLst/>
                  </dgm:shape>
                </dgm:if>
                <dgm:else name="Name18">
                  <dgm:shape xmlns:r="http://schemas.openxmlformats.org/officeDocument/2006/relationships" type="rect" r:blip="" hideGeom="1">
                    <dgm:adjLst/>
                  </dgm:shape>
                </dgm:else>
              </dgm:choose>
              <dgm:presOf axis="des" ptType="node"/>
              <dgm:constrLst>
                <dgm:constr type="secFontSz" val="65"/>
                <dgm:constr type="primFontSz" refType="secFontSz"/>
                <dgm:constr type="h"/>
                <dgm:constr type="tMarg"/>
                <dgm:constr type="bMarg"/>
                <dgm:constr type="rMarg"/>
                <dgm:constr type="lMarg"/>
              </dgm:constrLst>
              <dgm:ruleLst>
                <dgm:rule type="h" val="INF" fact="NaN" max="NaN"/>
              </dgm:ruleLst>
            </dgm:layoutNode>
          </dgm:layoutNode>
          <dgm:forEach name="Name19" axis="followSib" ptType="sibTrans" cnt="1">
            <dgm:layoutNode name="space">
              <dgm:alg type="sp"/>
              <dgm:shape xmlns:r="http://schemas.openxmlformats.org/officeDocument/2006/relationships" r:blip="">
                <dgm:adjLst/>
              </dgm:shape>
              <dgm:presOf/>
              <dgm:constrLst/>
              <dgm:ruleLst/>
            </dgm:layoutNode>
          </dgm:forEach>
        </dgm:forEach>
      </dgm:if>
      <dgm:else name="Name20">
        <dgm:constrLst>
          <dgm:constr type="w" for="ch" forName="parTxOnly" refType="w"/>
          <dgm:constr type="h" for="des" forName="parTxOnly" op="equ"/>
          <dgm:constr type="primFontSz" for="des" forName="parTxOnly" op="equ" val="65"/>
          <dgm:constr type="w" for="ch" forName="parTxOnlySpace" refType="w" refFor="ch" refForName="parTxOnly" fact="-0.1"/>
        </dgm:constrLst>
        <dgm:ruleLst/>
        <dgm:forEach name="Name21" axis="ch" ptType="node">
          <dgm:layoutNode name="parTxOnly">
            <dgm:varLst>
              <dgm:chMax val="0"/>
              <dgm:chPref val="0"/>
              <dgm:bulletEnabled val="1"/>
            </dgm:varLst>
            <dgm:alg type="tx"/>
            <dgm:choose name="Name22">
              <dgm:if name="Name23" func="var" arg="dir" op="equ" val="norm">
                <dgm:shape xmlns:r="http://schemas.openxmlformats.org/officeDocument/2006/relationships" type="chevron" r:blip="">
                  <dgm:adjLst/>
                </dgm:shape>
              </dgm:if>
              <dgm:else name="Name24">
                <dgm:shape xmlns:r="http://schemas.openxmlformats.org/officeDocument/2006/relationships" rot="180" type="chevron" r:blip="">
                  <dgm:adjLst/>
                </dgm:shape>
              </dgm:else>
            </dgm:choose>
            <dgm:presOf axis="self" ptType="node"/>
            <dgm:choose name="Name25">
              <dgm:if name="Name26" func="var" arg="dir" op="equ" val="norm">
                <dgm:constrLst>
                  <dgm:constr type="h" refType="w" op="equ" fact="0.4"/>
                  <dgm:constr type="tMarg" refType="primFontSz" fact="0.105"/>
                  <dgm:constr type="bMarg" refType="primFontSz" fact="0.105"/>
                  <dgm:constr type="lMarg" refType="primFontSz" fact="0.315"/>
                  <dgm:constr type="rMarg" refType="primFontSz" fact="0.105"/>
                </dgm:constrLst>
              </dgm:if>
              <dgm:else name="Name27">
                <dgm:constrLst>
                  <dgm:constr type="h" refType="w" op="equ" fact="0.4"/>
                  <dgm:constr type="tMarg" refType="primFontSz" fact="0.105"/>
                  <dgm:constr type="bMarg" refType="primFontSz" fact="0.105"/>
                  <dgm:constr type="lMarg" refType="primFontSz" fact="0.105"/>
                  <dgm:constr type="rMarg" refType="primFontSz" fact="0.315"/>
                </dgm:constrLst>
              </dgm:else>
            </dgm:choose>
            <dgm:ruleLst>
              <dgm:rule type="primFontSz" val="5" fact="NaN" max="NaN"/>
            </dgm:ruleLst>
          </dgm:layoutNode>
          <dgm:forEach name="Name28" axis="followSib" ptType="sibTrans" cnt="1">
            <dgm:layoutNode name="parTxOnlySpace">
              <dgm:alg type="sp"/>
              <dgm:shape xmlns:r="http://schemas.openxmlformats.org/officeDocument/2006/relationships" r:blip="">
                <dgm:adjLst/>
              </dgm:shape>
              <dgm:presOf/>
              <dgm:constrLst/>
              <dgm:ruleLst/>
            </dgm:layoutNode>
          </dgm:forEach>
        </dgm:forEach>
      </dgm:else>
    </dgm:choose>
  </dgm:layoutNode>
</dgm:layoutDef>
</file>

<file path=ppt/diagrams/layout2.xml><?xml version="1.0" encoding="utf-8"?>
<dgm:layoutDef xmlns:dgm="http://schemas.openxmlformats.org/drawingml/2006/diagram" xmlns:a="http://schemas.openxmlformats.org/drawingml/2006/main" uniqueId="urn:microsoft.com/office/officeart/2005/8/layout/chevron1">
  <dgm:title val=""/>
  <dgm:desc val=""/>
  <dgm:catLst>
    <dgm:cat type="process" pri="9000"/>
  </dgm:catLst>
  <dgm:sampData useDef="1">
    <dgm:dataModel>
      <dgm:pt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Name0">
    <dgm:varLst>
      <dgm:dir/>
      <dgm:animLvl val="lvl"/>
      <dgm:resizeHandles val="exact"/>
    </dgm:varLst>
    <dgm:choose name="Name1">
      <dgm:if name="Name2" func="var" arg="dir" op="equ" val="norm">
        <dgm:alg type="lin"/>
      </dgm:if>
      <dgm:else name="Name3">
        <dgm:alg type="lin">
          <dgm:param type="linDir" val="fromR"/>
        </dgm:alg>
      </dgm:else>
    </dgm:choose>
    <dgm:shape xmlns:r="http://schemas.openxmlformats.org/officeDocument/2006/relationships" r:blip="">
      <dgm:adjLst/>
    </dgm:shape>
    <dgm:presOf/>
    <dgm:choose name="Name4">
      <dgm:if name="Name5" axis="des" func="maxDepth" op="gte" val="2">
        <dgm:constrLst>
          <dgm:constr type="h" for="ch" forName="composite" refType="h"/>
          <dgm:constr type="w" for="ch" forName="composite" refType="w"/>
          <dgm:constr type="w" for="des" forName="parTx"/>
          <dgm:constr type="h" for="des" forName="parTx" op="equ"/>
          <dgm:constr type="w" for="des" forName="desTx"/>
          <dgm:constr type="h" for="des" forName="desTx" op="equ"/>
          <dgm:constr type="primFontSz" for="des" forName="parTx" val="65"/>
          <dgm:constr type="secFontSz" for="des" forName="desTx" refType="primFontSz" refFor="des" refForName="parTx" op="equ"/>
          <dgm:constr type="h" for="des" forName="parTx" refType="primFontSz" refFor="des" refForName="parTx" fact="1.5"/>
          <dgm:constr type="h" for="des" forName="desTx" refType="primFontSz" refFor="des" refForName="parTx" fact="0.5"/>
          <dgm:constr type="w" for="ch" forName="space" op="equ" val="-6"/>
        </dgm:constrLst>
        <dgm:ruleLst>
          <dgm:rule type="w" for="ch" forName="composite" val="0" fact="NaN" max="NaN"/>
          <dgm:rule type="primFontSz" for="des" forName="parTx" val="5" fact="NaN" max="NaN"/>
        </dgm:ruleLst>
        <dgm:forEach name="Name6" axis="ch" ptType="node">
          <dgm:layoutNode name="composite">
            <dgm:alg type="composite"/>
            <dgm:shape xmlns:r="http://schemas.openxmlformats.org/officeDocument/2006/relationships" r:blip="">
              <dgm:adjLst/>
            </dgm:shape>
            <dgm:presOf/>
            <dgm:choose name="Name7">
              <dgm:if name="Name8" func="var" arg="dir" op="equ" val="norm">
                <dgm:constrLst>
                  <dgm:constr type="l" for="ch" forName="parTx"/>
                  <dgm:constr type="w" for="ch" forName="parTx" refType="w"/>
                  <dgm:constr type="t" for="ch" forName="parTx"/>
                  <dgm:constr type="l" for="ch" forName="desTx"/>
                  <dgm:constr type="w" for="ch" forName="desTx" refType="w" refFor="ch" refForName="parTx" fact="0.8"/>
                  <dgm:constr type="t" for="ch" forName="desTx" refType="h" refFor="ch" refForName="parTx" fact="1.125"/>
                </dgm:constrLst>
              </dgm:if>
              <dgm:else name="Name9">
                <dgm:constrLst>
                  <dgm:constr type="l" for="ch" forName="parTx"/>
                  <dgm:constr type="w" for="ch" forName="parTx" refType="w"/>
                  <dgm:constr type="t" for="ch" forName="parTx"/>
                  <dgm:constr type="l" for="ch" forName="desTx" refType="w" fact="0.2"/>
                  <dgm:constr type="w" for="ch" forName="desTx" refType="w" refFor="ch" refForName="parTx" fact="0.8"/>
                  <dgm:constr type="t" for="ch" forName="desTx" refType="h" refFor="ch" refForName="parTx" fact="1.125"/>
                </dgm:constrLst>
              </dgm:else>
            </dgm:choose>
            <dgm:ruleLst>
              <dgm:rule type="h" val="INF" fact="NaN" max="NaN"/>
            </dgm:ruleLst>
            <dgm:layoutNode name="parTx">
              <dgm:varLst>
                <dgm:chMax val="0"/>
                <dgm:chPref val="0"/>
                <dgm:bulletEnabled val="1"/>
              </dgm:varLst>
              <dgm:alg type="tx"/>
              <dgm:choose name="Name10">
                <dgm:if name="Name11" func="var" arg="dir" op="equ" val="norm">
                  <dgm:shape xmlns:r="http://schemas.openxmlformats.org/officeDocument/2006/relationships" type="chevron" r:blip="">
                    <dgm:adjLst/>
                  </dgm:shape>
                </dgm:if>
                <dgm:else name="Name12">
                  <dgm:shape xmlns:r="http://schemas.openxmlformats.org/officeDocument/2006/relationships" rot="180" type="chevron" r:blip="">
                    <dgm:adjLst/>
                  </dgm:shape>
                </dgm:else>
              </dgm:choose>
              <dgm:presOf axis="self" ptType="node"/>
              <dgm:choose name="Name13">
                <dgm:if name="Name14" func="var" arg="dir" op="equ" val="norm">
                  <dgm:constrLst>
                    <dgm:constr type="h" refType="w" op="lte" fact="0.4"/>
                    <dgm:constr type="h"/>
                    <dgm:constr type="tMarg" refType="primFontSz" fact="0.105"/>
                    <dgm:constr type="bMarg" refType="primFontSz" fact="0.105"/>
                    <dgm:constr type="lMarg" refType="primFontSz" fact="0.315"/>
                    <dgm:constr type="rMarg" refType="primFontSz" fact="0.105"/>
                  </dgm:constrLst>
                </dgm:if>
                <dgm:else name="Name15">
                  <dgm:constrLst>
                    <dgm:constr type="h" refType="w" op="lte" fact="0.4"/>
                    <dgm:constr type="h"/>
                    <dgm:constr type="tMarg" refType="primFontSz" fact="0.105"/>
                    <dgm:constr type="bMarg" refType="primFontSz" fact="0.105"/>
                    <dgm:constr type="lMarg" refType="primFontSz" fact="0.105"/>
                    <dgm:constr type="rMarg" refType="primFontSz" fact="0.315"/>
                  </dgm:constrLst>
                </dgm:else>
              </dgm:choose>
              <dgm:ruleLst>
                <dgm:rule type="h" val="INF" fact="NaN" max="NaN"/>
              </dgm:ruleLst>
            </dgm:layoutNode>
            <dgm:layoutNode name="desTx" styleLbl="revTx">
              <dgm:varLst>
                <dgm:bulletEnabled val="1"/>
              </dgm:varLst>
              <dgm:alg type="tx">
                <dgm:param type="stBulletLvl" val="1"/>
              </dgm:alg>
              <dgm:choose name="Name16">
                <dgm:if name="Name17" axis="ch" ptType="node" func="cnt" op="gte" val="1">
                  <dgm:shape xmlns:r="http://schemas.openxmlformats.org/officeDocument/2006/relationships" type="rect" r:blip="">
                    <dgm:adjLst/>
                  </dgm:shape>
                </dgm:if>
                <dgm:else name="Name18">
                  <dgm:shape xmlns:r="http://schemas.openxmlformats.org/officeDocument/2006/relationships" type="rect" r:blip="" hideGeom="1">
                    <dgm:adjLst/>
                  </dgm:shape>
                </dgm:else>
              </dgm:choose>
              <dgm:presOf axis="des" ptType="node"/>
              <dgm:constrLst>
                <dgm:constr type="secFontSz" val="65"/>
                <dgm:constr type="primFontSz" refType="secFontSz"/>
                <dgm:constr type="h"/>
                <dgm:constr type="tMarg"/>
                <dgm:constr type="bMarg"/>
                <dgm:constr type="rMarg"/>
                <dgm:constr type="lMarg"/>
              </dgm:constrLst>
              <dgm:ruleLst>
                <dgm:rule type="h" val="INF" fact="NaN" max="NaN"/>
              </dgm:ruleLst>
            </dgm:layoutNode>
          </dgm:layoutNode>
          <dgm:forEach name="Name19" axis="followSib" ptType="sibTrans" cnt="1">
            <dgm:layoutNode name="space">
              <dgm:alg type="sp"/>
              <dgm:shape xmlns:r="http://schemas.openxmlformats.org/officeDocument/2006/relationships" r:blip="">
                <dgm:adjLst/>
              </dgm:shape>
              <dgm:presOf/>
              <dgm:constrLst/>
              <dgm:ruleLst/>
            </dgm:layoutNode>
          </dgm:forEach>
        </dgm:forEach>
      </dgm:if>
      <dgm:else name="Name20">
        <dgm:constrLst>
          <dgm:constr type="w" for="ch" forName="parTxOnly" refType="w"/>
          <dgm:constr type="h" for="des" forName="parTxOnly" op="equ"/>
          <dgm:constr type="primFontSz" for="des" forName="parTxOnly" op="equ" val="65"/>
          <dgm:constr type="w" for="ch" forName="parTxOnlySpace" refType="w" refFor="ch" refForName="parTxOnly" fact="-0.1"/>
        </dgm:constrLst>
        <dgm:ruleLst/>
        <dgm:forEach name="Name21" axis="ch" ptType="node">
          <dgm:layoutNode name="parTxOnly">
            <dgm:varLst>
              <dgm:chMax val="0"/>
              <dgm:chPref val="0"/>
              <dgm:bulletEnabled val="1"/>
            </dgm:varLst>
            <dgm:alg type="tx"/>
            <dgm:choose name="Name22">
              <dgm:if name="Name23" func="var" arg="dir" op="equ" val="norm">
                <dgm:shape xmlns:r="http://schemas.openxmlformats.org/officeDocument/2006/relationships" type="chevron" r:blip="">
                  <dgm:adjLst/>
                </dgm:shape>
              </dgm:if>
              <dgm:else name="Name24">
                <dgm:shape xmlns:r="http://schemas.openxmlformats.org/officeDocument/2006/relationships" rot="180" type="chevron" r:blip="">
                  <dgm:adjLst/>
                </dgm:shape>
              </dgm:else>
            </dgm:choose>
            <dgm:presOf axis="self" ptType="node"/>
            <dgm:choose name="Name25">
              <dgm:if name="Name26" func="var" arg="dir" op="equ" val="norm">
                <dgm:constrLst>
                  <dgm:constr type="h" refType="w" op="equ" fact="0.4"/>
                  <dgm:constr type="tMarg" refType="primFontSz" fact="0.105"/>
                  <dgm:constr type="bMarg" refType="primFontSz" fact="0.105"/>
                  <dgm:constr type="lMarg" refType="primFontSz" fact="0.315"/>
                  <dgm:constr type="rMarg" refType="primFontSz" fact="0.105"/>
                </dgm:constrLst>
              </dgm:if>
              <dgm:else name="Name27">
                <dgm:constrLst>
                  <dgm:constr type="h" refType="w" op="equ" fact="0.4"/>
                  <dgm:constr type="tMarg" refType="primFontSz" fact="0.105"/>
                  <dgm:constr type="bMarg" refType="primFontSz" fact="0.105"/>
                  <dgm:constr type="lMarg" refType="primFontSz" fact="0.105"/>
                  <dgm:constr type="rMarg" refType="primFontSz" fact="0.315"/>
                </dgm:constrLst>
              </dgm:else>
            </dgm:choose>
            <dgm:ruleLst>
              <dgm:rule type="primFontSz" val="5" fact="NaN" max="NaN"/>
            </dgm:ruleLst>
          </dgm:layoutNode>
          <dgm:forEach name="Name28" axis="followSib" ptType="sibTrans" cnt="1">
            <dgm:layoutNode name="parTxOnlySpace">
              <dgm:alg type="sp"/>
              <dgm:shape xmlns:r="http://schemas.openxmlformats.org/officeDocument/2006/relationships" r:blip="">
                <dgm:adjLst/>
              </dgm:shape>
              <dgm:presOf/>
              <dgm:constrLst/>
              <dgm:ruleLst/>
            </dgm:layoutNode>
          </dgm:forEach>
        </dgm:forEach>
      </dgm:else>
    </dgm:choose>
  </dgm:layoutNode>
</dgm:layoutDef>
</file>

<file path=ppt/diagrams/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rawings/drawing1.xml><?xml version="1.0" encoding="utf-8"?>
<c:userShapes xmlns:c="http://schemas.openxmlformats.org/drawingml/2006/chart">
  <cdr:relSizeAnchor xmlns:cdr="http://schemas.openxmlformats.org/drawingml/2006/chartDrawing">
    <cdr:from>
      <cdr:x>0</cdr:x>
      <cdr:y>0.93939</cdr:y>
    </cdr:from>
    <cdr:to>
      <cdr:x>1</cdr:x>
      <cdr:y>0.93939</cdr:y>
    </cdr:to>
    <cdr:cxnSp macro="">
      <cdr:nvCxnSpPr>
        <cdr:cNvPr id="3" name="Straight Connector 2"/>
        <cdr:cNvCxnSpPr/>
      </cdr:nvCxnSpPr>
      <cdr:spPr>
        <a:xfrm xmlns:a="http://schemas.openxmlformats.org/drawingml/2006/main">
          <a:off x="0" y="2362200"/>
          <a:ext cx="5029200" cy="0"/>
        </a:xfrm>
        <a:prstGeom xmlns:a="http://schemas.openxmlformats.org/drawingml/2006/main" prst="line">
          <a:avLst/>
        </a:prstGeom>
      </cdr:spPr>
      <cdr:style>
        <a:lnRef xmlns:a="http://schemas.openxmlformats.org/drawingml/2006/main" idx="1">
          <a:schemeClr val="accent1"/>
        </a:lnRef>
        <a:fillRef xmlns:a="http://schemas.openxmlformats.org/drawingml/2006/main" idx="0">
          <a:schemeClr val="accent1"/>
        </a:fillRef>
        <a:effectRef xmlns:a="http://schemas.openxmlformats.org/drawingml/2006/main" idx="0">
          <a:schemeClr val="accent1"/>
        </a:effectRef>
        <a:fontRef xmlns:a="http://schemas.openxmlformats.org/drawingml/2006/main" idx="minor">
          <a:schemeClr val="tx1"/>
        </a:fontRef>
      </cdr:style>
    </cdr:cxnSp>
  </cdr:relSizeAnchor>
</c:userShapes>
</file>

<file path=ppt/drawings/drawing2.xml><?xml version="1.0" encoding="utf-8"?>
<c:userShapes xmlns:c="http://schemas.openxmlformats.org/drawingml/2006/chart">
  <cdr:relSizeAnchor xmlns:cdr="http://schemas.openxmlformats.org/drawingml/2006/chartDrawing">
    <cdr:from>
      <cdr:x>0</cdr:x>
      <cdr:y>0.93939</cdr:y>
    </cdr:from>
    <cdr:to>
      <cdr:x>1</cdr:x>
      <cdr:y>0.93939</cdr:y>
    </cdr:to>
    <cdr:cxnSp macro="">
      <cdr:nvCxnSpPr>
        <cdr:cNvPr id="3" name="Straight Connector 2"/>
        <cdr:cNvCxnSpPr/>
      </cdr:nvCxnSpPr>
      <cdr:spPr>
        <a:xfrm xmlns:a="http://schemas.openxmlformats.org/drawingml/2006/main">
          <a:off x="0" y="2362200"/>
          <a:ext cx="5029200" cy="0"/>
        </a:xfrm>
        <a:prstGeom xmlns:a="http://schemas.openxmlformats.org/drawingml/2006/main" prst="line">
          <a:avLst/>
        </a:prstGeom>
      </cdr:spPr>
      <cdr:style>
        <a:lnRef xmlns:a="http://schemas.openxmlformats.org/drawingml/2006/main" idx="1">
          <a:schemeClr val="accent1"/>
        </a:lnRef>
        <a:fillRef xmlns:a="http://schemas.openxmlformats.org/drawingml/2006/main" idx="0">
          <a:schemeClr val="accent1"/>
        </a:fillRef>
        <a:effectRef xmlns:a="http://schemas.openxmlformats.org/drawingml/2006/main" idx="0">
          <a:schemeClr val="accent1"/>
        </a:effectRef>
        <a:fontRef xmlns:a="http://schemas.openxmlformats.org/drawingml/2006/main" idx="minor">
          <a:schemeClr val="tx1"/>
        </a:fontRef>
      </cdr:style>
    </cdr:cxnSp>
  </cdr:relSizeAnchor>
</c:userShapes>
</file>

<file path=ppt/drawings/drawing3.xml><?xml version="1.0" encoding="utf-8"?>
<c:userShapes xmlns:c="http://schemas.openxmlformats.org/drawingml/2006/chart">
  <cdr:relSizeAnchor xmlns:cdr="http://schemas.openxmlformats.org/drawingml/2006/chartDrawing">
    <cdr:from>
      <cdr:x>0</cdr:x>
      <cdr:y>0.93939</cdr:y>
    </cdr:from>
    <cdr:to>
      <cdr:x>1</cdr:x>
      <cdr:y>0.93939</cdr:y>
    </cdr:to>
    <cdr:cxnSp macro="">
      <cdr:nvCxnSpPr>
        <cdr:cNvPr id="3" name="Straight Connector 2"/>
        <cdr:cNvCxnSpPr/>
      </cdr:nvCxnSpPr>
      <cdr:spPr>
        <a:xfrm xmlns:a="http://schemas.openxmlformats.org/drawingml/2006/main">
          <a:off x="0" y="2362200"/>
          <a:ext cx="5029200" cy="0"/>
        </a:xfrm>
        <a:prstGeom xmlns:a="http://schemas.openxmlformats.org/drawingml/2006/main" prst="line">
          <a:avLst/>
        </a:prstGeom>
      </cdr:spPr>
      <cdr:style>
        <a:lnRef xmlns:a="http://schemas.openxmlformats.org/drawingml/2006/main" idx="1">
          <a:schemeClr val="accent1"/>
        </a:lnRef>
        <a:fillRef xmlns:a="http://schemas.openxmlformats.org/drawingml/2006/main" idx="0">
          <a:schemeClr val="accent1"/>
        </a:fillRef>
        <a:effectRef xmlns:a="http://schemas.openxmlformats.org/drawingml/2006/main" idx="0">
          <a:schemeClr val="accent1"/>
        </a:effectRef>
        <a:fontRef xmlns:a="http://schemas.openxmlformats.org/drawingml/2006/main" idx="minor">
          <a:schemeClr val="tx1"/>
        </a:fontRef>
      </cdr:style>
    </cdr:cxnSp>
  </cdr:relSizeAnchor>
</c:userShapes>
</file>

<file path=ppt/drawings/drawing4.xml><?xml version="1.0" encoding="utf-8"?>
<c:userShapes xmlns:c="http://schemas.openxmlformats.org/drawingml/2006/chart">
  <cdr:relSizeAnchor xmlns:cdr="http://schemas.openxmlformats.org/drawingml/2006/chartDrawing">
    <cdr:from>
      <cdr:x>0</cdr:x>
      <cdr:y>0.93939</cdr:y>
    </cdr:from>
    <cdr:to>
      <cdr:x>1</cdr:x>
      <cdr:y>0.93939</cdr:y>
    </cdr:to>
    <cdr:cxnSp macro="">
      <cdr:nvCxnSpPr>
        <cdr:cNvPr id="3" name="Straight Connector 2"/>
        <cdr:cNvCxnSpPr/>
      </cdr:nvCxnSpPr>
      <cdr:spPr>
        <a:xfrm xmlns:a="http://schemas.openxmlformats.org/drawingml/2006/main">
          <a:off x="0" y="2362200"/>
          <a:ext cx="5029200" cy="0"/>
        </a:xfrm>
        <a:prstGeom xmlns:a="http://schemas.openxmlformats.org/drawingml/2006/main" prst="line">
          <a:avLst/>
        </a:prstGeom>
      </cdr:spPr>
      <cdr:style>
        <a:lnRef xmlns:a="http://schemas.openxmlformats.org/drawingml/2006/main" idx="1">
          <a:schemeClr val="accent1"/>
        </a:lnRef>
        <a:fillRef xmlns:a="http://schemas.openxmlformats.org/drawingml/2006/main" idx="0">
          <a:schemeClr val="accent1"/>
        </a:fillRef>
        <a:effectRef xmlns:a="http://schemas.openxmlformats.org/drawingml/2006/main" idx="0">
          <a:schemeClr val="accent1"/>
        </a:effectRef>
        <a:fontRef xmlns:a="http://schemas.openxmlformats.org/drawingml/2006/main" idx="minor">
          <a:schemeClr val="tx1"/>
        </a:fontRef>
      </cdr:style>
    </cdr:cxnSp>
  </cdr:relSizeAnchor>
</c:userShapes>
</file>

<file path=ppt/drawings/drawing5.xml><?xml version="1.0" encoding="utf-8"?>
<c:userShapes xmlns:c="http://schemas.openxmlformats.org/drawingml/2006/chart">
  <cdr:relSizeAnchor xmlns:cdr="http://schemas.openxmlformats.org/drawingml/2006/chartDrawing">
    <cdr:from>
      <cdr:x>0</cdr:x>
      <cdr:y>0.93939</cdr:y>
    </cdr:from>
    <cdr:to>
      <cdr:x>1</cdr:x>
      <cdr:y>0.93939</cdr:y>
    </cdr:to>
    <cdr:cxnSp macro="">
      <cdr:nvCxnSpPr>
        <cdr:cNvPr id="3" name="Straight Connector 2"/>
        <cdr:cNvCxnSpPr/>
      </cdr:nvCxnSpPr>
      <cdr:spPr>
        <a:xfrm xmlns:a="http://schemas.openxmlformats.org/drawingml/2006/main">
          <a:off x="0" y="2362200"/>
          <a:ext cx="5029200" cy="0"/>
        </a:xfrm>
        <a:prstGeom xmlns:a="http://schemas.openxmlformats.org/drawingml/2006/main" prst="line">
          <a:avLst/>
        </a:prstGeom>
      </cdr:spPr>
      <cdr:style>
        <a:lnRef xmlns:a="http://schemas.openxmlformats.org/drawingml/2006/main" idx="1">
          <a:schemeClr val="accent1"/>
        </a:lnRef>
        <a:fillRef xmlns:a="http://schemas.openxmlformats.org/drawingml/2006/main" idx="0">
          <a:schemeClr val="accent1"/>
        </a:fillRef>
        <a:effectRef xmlns:a="http://schemas.openxmlformats.org/drawingml/2006/main" idx="0">
          <a:schemeClr val="accent1"/>
        </a:effectRef>
        <a:fontRef xmlns:a="http://schemas.openxmlformats.org/drawingml/2006/main" idx="minor">
          <a:schemeClr val="tx1"/>
        </a:fontRef>
      </cdr:style>
    </cdr:cxnSp>
  </cdr:relSizeAnchor>
</c:userShapes>
</file>

<file path=ppt/drawings/drawing6.xml><?xml version="1.0" encoding="utf-8"?>
<c:userShapes xmlns:c="http://schemas.openxmlformats.org/drawingml/2006/chart">
  <cdr:relSizeAnchor xmlns:cdr="http://schemas.openxmlformats.org/drawingml/2006/chartDrawing">
    <cdr:from>
      <cdr:x>0</cdr:x>
      <cdr:y>0.93939</cdr:y>
    </cdr:from>
    <cdr:to>
      <cdr:x>1</cdr:x>
      <cdr:y>0.93939</cdr:y>
    </cdr:to>
    <cdr:cxnSp macro="">
      <cdr:nvCxnSpPr>
        <cdr:cNvPr id="3" name="Straight Connector 2"/>
        <cdr:cNvCxnSpPr/>
      </cdr:nvCxnSpPr>
      <cdr:spPr>
        <a:xfrm xmlns:a="http://schemas.openxmlformats.org/drawingml/2006/main">
          <a:off x="0" y="2362200"/>
          <a:ext cx="5029200" cy="0"/>
        </a:xfrm>
        <a:prstGeom xmlns:a="http://schemas.openxmlformats.org/drawingml/2006/main" prst="line">
          <a:avLst/>
        </a:prstGeom>
      </cdr:spPr>
      <cdr:style>
        <a:lnRef xmlns:a="http://schemas.openxmlformats.org/drawingml/2006/main" idx="1">
          <a:schemeClr val="accent1"/>
        </a:lnRef>
        <a:fillRef xmlns:a="http://schemas.openxmlformats.org/drawingml/2006/main" idx="0">
          <a:schemeClr val="accent1"/>
        </a:fillRef>
        <a:effectRef xmlns:a="http://schemas.openxmlformats.org/drawingml/2006/main" idx="0">
          <a:schemeClr val="accent1"/>
        </a:effectRef>
        <a:fontRef xmlns:a="http://schemas.openxmlformats.org/drawingml/2006/main" idx="minor">
          <a:schemeClr val="tx1"/>
        </a:fontRef>
      </cdr:style>
    </cdr:cxnSp>
  </cdr:relSizeAnchor>
</c:userShapes>
</file>

<file path=ppt/drawings/drawing7.xml><?xml version="1.0" encoding="utf-8"?>
<c:userShapes xmlns:c="http://schemas.openxmlformats.org/drawingml/2006/chart">
  <cdr:relSizeAnchor xmlns:cdr="http://schemas.openxmlformats.org/drawingml/2006/chartDrawing">
    <cdr:from>
      <cdr:x>0</cdr:x>
      <cdr:y>0.93939</cdr:y>
    </cdr:from>
    <cdr:to>
      <cdr:x>1</cdr:x>
      <cdr:y>0.93939</cdr:y>
    </cdr:to>
    <cdr:cxnSp macro="">
      <cdr:nvCxnSpPr>
        <cdr:cNvPr id="3" name="Straight Connector 2"/>
        <cdr:cNvCxnSpPr/>
      </cdr:nvCxnSpPr>
      <cdr:spPr>
        <a:xfrm xmlns:a="http://schemas.openxmlformats.org/drawingml/2006/main">
          <a:off x="0" y="2362200"/>
          <a:ext cx="5029200" cy="0"/>
        </a:xfrm>
        <a:prstGeom xmlns:a="http://schemas.openxmlformats.org/drawingml/2006/main" prst="line">
          <a:avLst/>
        </a:prstGeom>
      </cdr:spPr>
      <cdr:style>
        <a:lnRef xmlns:a="http://schemas.openxmlformats.org/drawingml/2006/main" idx="1">
          <a:schemeClr val="accent1"/>
        </a:lnRef>
        <a:fillRef xmlns:a="http://schemas.openxmlformats.org/drawingml/2006/main" idx="0">
          <a:schemeClr val="accent1"/>
        </a:fillRef>
        <a:effectRef xmlns:a="http://schemas.openxmlformats.org/drawingml/2006/main" idx="0">
          <a:schemeClr val="accent1"/>
        </a:effectRef>
        <a:fontRef xmlns:a="http://schemas.openxmlformats.org/drawingml/2006/main" idx="minor">
          <a:schemeClr val="tx1"/>
        </a:fontRef>
      </cdr:style>
    </cdr:cxnSp>
  </cdr:relSizeAnchor>
</c:userShapes>
</file>

<file path=ppt/drawings/drawing8.xml><?xml version="1.0" encoding="utf-8"?>
<c:userShapes xmlns:c="http://schemas.openxmlformats.org/drawingml/2006/chart">
  <cdr:relSizeAnchor xmlns:cdr="http://schemas.openxmlformats.org/drawingml/2006/chartDrawing">
    <cdr:from>
      <cdr:x>0</cdr:x>
      <cdr:y>0.93939</cdr:y>
    </cdr:from>
    <cdr:to>
      <cdr:x>1</cdr:x>
      <cdr:y>0.93939</cdr:y>
    </cdr:to>
    <cdr:cxnSp macro="">
      <cdr:nvCxnSpPr>
        <cdr:cNvPr id="3" name="Straight Connector 2"/>
        <cdr:cNvCxnSpPr/>
      </cdr:nvCxnSpPr>
      <cdr:spPr>
        <a:xfrm xmlns:a="http://schemas.openxmlformats.org/drawingml/2006/main">
          <a:off x="0" y="2362200"/>
          <a:ext cx="5029200" cy="0"/>
        </a:xfrm>
        <a:prstGeom xmlns:a="http://schemas.openxmlformats.org/drawingml/2006/main" prst="line">
          <a:avLst/>
        </a:prstGeom>
      </cdr:spPr>
      <cdr:style>
        <a:lnRef xmlns:a="http://schemas.openxmlformats.org/drawingml/2006/main" idx="1">
          <a:schemeClr val="accent1"/>
        </a:lnRef>
        <a:fillRef xmlns:a="http://schemas.openxmlformats.org/drawingml/2006/main" idx="0">
          <a:schemeClr val="accent1"/>
        </a:fillRef>
        <a:effectRef xmlns:a="http://schemas.openxmlformats.org/drawingml/2006/main" idx="0">
          <a:schemeClr val="accent1"/>
        </a:effectRef>
        <a:fontRef xmlns:a="http://schemas.openxmlformats.org/drawingml/2006/main" idx="minor">
          <a:schemeClr val="tx1"/>
        </a:fontRef>
      </cdr:style>
    </cdr:cxnSp>
  </cdr:relSizeAnchor>
</c:userShapes>
</file>

<file path=ppt/drawings/drawing9.xml><?xml version="1.0" encoding="utf-8"?>
<c:userShapes xmlns:c="http://schemas.openxmlformats.org/drawingml/2006/chart">
  <cdr:relSizeAnchor xmlns:cdr="http://schemas.openxmlformats.org/drawingml/2006/chartDrawing">
    <cdr:from>
      <cdr:x>0</cdr:x>
      <cdr:y>0.93939</cdr:y>
    </cdr:from>
    <cdr:to>
      <cdr:x>1</cdr:x>
      <cdr:y>0.93939</cdr:y>
    </cdr:to>
    <cdr:cxnSp macro="">
      <cdr:nvCxnSpPr>
        <cdr:cNvPr id="3" name="Straight Connector 2"/>
        <cdr:cNvCxnSpPr/>
      </cdr:nvCxnSpPr>
      <cdr:spPr>
        <a:xfrm xmlns:a="http://schemas.openxmlformats.org/drawingml/2006/main">
          <a:off x="0" y="2362200"/>
          <a:ext cx="5029200" cy="0"/>
        </a:xfrm>
        <a:prstGeom xmlns:a="http://schemas.openxmlformats.org/drawingml/2006/main" prst="line">
          <a:avLst/>
        </a:prstGeom>
      </cdr:spPr>
      <cdr:style>
        <a:lnRef xmlns:a="http://schemas.openxmlformats.org/drawingml/2006/main" idx="1">
          <a:schemeClr val="accent1"/>
        </a:lnRef>
        <a:fillRef xmlns:a="http://schemas.openxmlformats.org/drawingml/2006/main" idx="0">
          <a:schemeClr val="accent1"/>
        </a:fillRef>
        <a:effectRef xmlns:a="http://schemas.openxmlformats.org/drawingml/2006/main" idx="0">
          <a:schemeClr val="accent1"/>
        </a:effectRef>
        <a:fontRef xmlns:a="http://schemas.openxmlformats.org/drawingml/2006/main" idx="minor">
          <a:schemeClr val="tx1"/>
        </a:fontRef>
      </cdr:style>
    </cdr:cxnSp>
  </cdr:relSizeAnchor>
</c:userShapes>
</file>

<file path=ppt/drawings/drawing10.xml><?xml version="1.0" encoding="utf-8"?>
<c:userShapes xmlns:c="http://schemas.openxmlformats.org/drawingml/2006/chart">
  <cdr:relSizeAnchor xmlns:cdr="http://schemas.openxmlformats.org/drawingml/2006/chartDrawing">
    <cdr:from>
      <cdr:x>0</cdr:x>
      <cdr:y>0.93939</cdr:y>
    </cdr:from>
    <cdr:to>
      <cdr:x>1</cdr:x>
      <cdr:y>0.93939</cdr:y>
    </cdr:to>
    <cdr:cxnSp macro="">
      <cdr:nvCxnSpPr>
        <cdr:cNvPr id="3" name="Straight Connector 2"/>
        <cdr:cNvCxnSpPr/>
      </cdr:nvCxnSpPr>
      <cdr:spPr>
        <a:xfrm xmlns:a="http://schemas.openxmlformats.org/drawingml/2006/main">
          <a:off x="0" y="2362200"/>
          <a:ext cx="5029200" cy="0"/>
        </a:xfrm>
        <a:prstGeom xmlns:a="http://schemas.openxmlformats.org/drawingml/2006/main" prst="line">
          <a:avLst/>
        </a:prstGeom>
      </cdr:spPr>
      <cdr:style>
        <a:lnRef xmlns:a="http://schemas.openxmlformats.org/drawingml/2006/main" idx="1">
          <a:schemeClr val="accent1"/>
        </a:lnRef>
        <a:fillRef xmlns:a="http://schemas.openxmlformats.org/drawingml/2006/main" idx="0">
          <a:schemeClr val="accent1"/>
        </a:fillRef>
        <a:effectRef xmlns:a="http://schemas.openxmlformats.org/drawingml/2006/main" idx="0">
          <a:schemeClr val="accent1"/>
        </a:effectRef>
        <a:fontRef xmlns:a="http://schemas.openxmlformats.org/drawingml/2006/main" idx="minor">
          <a:schemeClr val="tx1"/>
        </a:fontRef>
      </cdr:style>
    </cdr:cxnSp>
  </cdr:relSizeAnchor>
</c:userShapes>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D7CBA054-D92F-4D29-BD5A-EFD1CC38E149}" type="datetimeFigureOut">
              <a:rPr lang="en-US" smtClean="0"/>
              <a:pPr/>
              <a:t>2/9/2026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60615A4B-3BBF-4426-B603-FA9542EBA692}" type="slidenum">
              <a:rPr lang="en-US" smtClean="0"/>
              <a:pPr/>
              <a:t>‹#›</a:t>
            </a:fld>
            <a:endParaRPr lang="en-US"/>
          </a:p>
        </p:txBody>
      </p:sp>
    </p:spTree>
    <p:extLst>
      <p:ext uri="{BB962C8B-B14F-4D97-AF65-F5344CB8AC3E}">
        <p14:creationId xmlns:p14="http://schemas.microsoft.com/office/powerpoint/2010/main" val="3298645305"/>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4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57.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US" dirty="0"/>
              <a:t>The Receptors converts the stimuli from external environment or human body into electrical</a:t>
            </a:r>
            <a:r>
              <a:rPr lang="en-US" baseline="0" dirty="0"/>
              <a:t> impulses that convey information to neural net.</a:t>
            </a:r>
          </a:p>
          <a:p>
            <a:r>
              <a:rPr lang="en-US" baseline="0" dirty="0"/>
              <a:t>The neural net or brain continuously receive information , perceive it and makes appropriate </a:t>
            </a:r>
            <a:r>
              <a:rPr lang="en-US" baseline="0" dirty="0" err="1"/>
              <a:t>decession</a:t>
            </a:r>
            <a:r>
              <a:rPr lang="en-US" baseline="0" dirty="0"/>
              <a:t>. </a:t>
            </a:r>
          </a:p>
          <a:p>
            <a:r>
              <a:rPr lang="en-US" baseline="0" dirty="0"/>
              <a:t>Two types arrows present in the system(Feed forward and feed back)</a:t>
            </a:r>
          </a:p>
          <a:p>
            <a:r>
              <a:rPr lang="en-US" baseline="0" dirty="0"/>
              <a:t>The receptors convert electrical impulses from neural net into  </a:t>
            </a:r>
            <a:r>
              <a:rPr lang="en-US" baseline="0" dirty="0" err="1"/>
              <a:t>descernible</a:t>
            </a:r>
            <a:r>
              <a:rPr lang="en-US" baseline="0" dirty="0"/>
              <a:t> responses as system output.</a:t>
            </a:r>
            <a:endParaRPr lang="en-US" dirty="0"/>
          </a:p>
        </p:txBody>
      </p:sp>
      <p:sp>
        <p:nvSpPr>
          <p:cNvPr id="4" name="Slide Number Placeholder 3"/>
          <p:cNvSpPr>
            <a:spLocks noGrp="1"/>
          </p:cNvSpPr>
          <p:nvPr>
            <p:ph type="sldNum" sz="quarter" idx="10"/>
          </p:nvPr>
        </p:nvSpPr>
        <p:spPr/>
        <p:txBody>
          <a:bodyPr/>
          <a:lstStyle/>
          <a:p>
            <a:fld id="{D2A3B72A-C168-47FE-8025-2C4C996C18E0}" type="slidenum">
              <a:rPr lang="en-US" smtClean="0"/>
              <a:pPr/>
              <a:t>4</a:t>
            </a:fld>
            <a:endParaRPr lang="en-US"/>
          </a:p>
        </p:txBody>
      </p:sp>
    </p:spTree>
    <p:extLst>
      <p:ext uri="{BB962C8B-B14F-4D97-AF65-F5344CB8AC3E}">
        <p14:creationId xmlns:p14="http://schemas.microsoft.com/office/powerpoint/2010/main" val="392621520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dirty="0"/>
          </a:p>
        </p:txBody>
      </p:sp>
      <p:sp>
        <p:nvSpPr>
          <p:cNvPr id="4" name="Slide Number Placeholder 3"/>
          <p:cNvSpPr>
            <a:spLocks noGrp="1"/>
          </p:cNvSpPr>
          <p:nvPr>
            <p:ph type="sldNum" sz="quarter" idx="10"/>
          </p:nvPr>
        </p:nvSpPr>
        <p:spPr/>
        <p:txBody>
          <a:bodyPr/>
          <a:lstStyle/>
          <a:p>
            <a:fld id="{D2A3B72A-C168-47FE-8025-2C4C996C18E0}" type="slidenum">
              <a:rPr lang="en-US" smtClean="0"/>
              <a:pPr/>
              <a:t>5</a:t>
            </a:fld>
            <a:endParaRPr lang="en-US"/>
          </a:p>
        </p:txBody>
      </p:sp>
    </p:spTree>
    <p:extLst>
      <p:ext uri="{BB962C8B-B14F-4D97-AF65-F5344CB8AC3E}">
        <p14:creationId xmlns:p14="http://schemas.microsoft.com/office/powerpoint/2010/main" val="3685193585"/>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dirty="0"/>
          </a:p>
        </p:txBody>
      </p:sp>
      <p:sp>
        <p:nvSpPr>
          <p:cNvPr id="4" name="Slide Number Placeholder 3"/>
          <p:cNvSpPr>
            <a:spLocks noGrp="1"/>
          </p:cNvSpPr>
          <p:nvPr>
            <p:ph type="sldNum" sz="quarter" idx="10"/>
          </p:nvPr>
        </p:nvSpPr>
        <p:spPr/>
        <p:txBody>
          <a:bodyPr/>
          <a:lstStyle/>
          <a:p>
            <a:fld id="{E7036BDE-5AEB-49BA-BDB9-A34FF3ACC8A9}" type="slidenum">
              <a:rPr lang="en-US" smtClean="0"/>
              <a:pPr/>
              <a:t>10</a:t>
            </a:fld>
            <a:endParaRPr lang="en-US"/>
          </a:p>
        </p:txBody>
      </p:sp>
    </p:spTree>
    <p:extLst>
      <p:ext uri="{BB962C8B-B14F-4D97-AF65-F5344CB8AC3E}">
        <p14:creationId xmlns:p14="http://schemas.microsoft.com/office/powerpoint/2010/main" val="1939214372"/>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dirty="0"/>
          </a:p>
        </p:txBody>
      </p:sp>
      <p:sp>
        <p:nvSpPr>
          <p:cNvPr id="4" name="Slide Number Placeholder 3"/>
          <p:cNvSpPr>
            <a:spLocks noGrp="1"/>
          </p:cNvSpPr>
          <p:nvPr>
            <p:ph type="sldNum" sz="quarter" idx="10"/>
          </p:nvPr>
        </p:nvSpPr>
        <p:spPr/>
        <p:txBody>
          <a:bodyPr/>
          <a:lstStyle/>
          <a:p>
            <a:fld id="{E7036BDE-5AEB-49BA-BDB9-A34FF3ACC8A9}" type="slidenum">
              <a:rPr lang="en-US" smtClean="0"/>
              <a:pPr/>
              <a:t>12</a:t>
            </a:fld>
            <a:endParaRPr lang="en-US"/>
          </a:p>
        </p:txBody>
      </p:sp>
    </p:spTree>
    <p:extLst>
      <p:ext uri="{BB962C8B-B14F-4D97-AF65-F5344CB8AC3E}">
        <p14:creationId xmlns:p14="http://schemas.microsoft.com/office/powerpoint/2010/main" val="2309610419"/>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dirty="0"/>
          </a:p>
        </p:txBody>
      </p:sp>
      <p:sp>
        <p:nvSpPr>
          <p:cNvPr id="4" name="Slide Number Placeholder 3"/>
          <p:cNvSpPr>
            <a:spLocks noGrp="1"/>
          </p:cNvSpPr>
          <p:nvPr>
            <p:ph type="sldNum" sz="quarter" idx="10"/>
          </p:nvPr>
        </p:nvSpPr>
        <p:spPr/>
        <p:txBody>
          <a:bodyPr/>
          <a:lstStyle/>
          <a:p>
            <a:fld id="{E7036BDE-5AEB-49BA-BDB9-A34FF3ACC8A9}" type="slidenum">
              <a:rPr lang="en-US" smtClean="0"/>
              <a:pPr/>
              <a:t>13</a:t>
            </a:fld>
            <a:endParaRPr lang="en-US"/>
          </a:p>
        </p:txBody>
      </p:sp>
    </p:spTree>
    <p:extLst>
      <p:ext uri="{BB962C8B-B14F-4D97-AF65-F5344CB8AC3E}">
        <p14:creationId xmlns:p14="http://schemas.microsoft.com/office/powerpoint/2010/main" val="3491557373"/>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dirty="0"/>
          </a:p>
        </p:txBody>
      </p:sp>
      <p:sp>
        <p:nvSpPr>
          <p:cNvPr id="4" name="Slide Number Placeholder 3"/>
          <p:cNvSpPr>
            <a:spLocks noGrp="1"/>
          </p:cNvSpPr>
          <p:nvPr>
            <p:ph type="sldNum" sz="quarter" idx="10"/>
          </p:nvPr>
        </p:nvSpPr>
        <p:spPr/>
        <p:txBody>
          <a:bodyPr/>
          <a:lstStyle/>
          <a:p>
            <a:fld id="{60615A4B-3BBF-4426-B603-FA9542EBA692}" type="slidenum">
              <a:rPr lang="en-US" smtClean="0"/>
              <a:pPr/>
              <a:t>46</a:t>
            </a:fld>
            <a:endParaRPr lang="en-US"/>
          </a:p>
        </p:txBody>
      </p:sp>
    </p:spTree>
    <p:extLst>
      <p:ext uri="{BB962C8B-B14F-4D97-AF65-F5344CB8AC3E}">
        <p14:creationId xmlns:p14="http://schemas.microsoft.com/office/powerpoint/2010/main" val="748334305"/>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10"/>
          </p:nvPr>
        </p:nvSpPr>
        <p:spPr/>
        <p:txBody>
          <a:bodyPr/>
          <a:lstStyle/>
          <a:p>
            <a:fld id="{60615A4B-3BBF-4426-B603-FA9542EBA692}" type="slidenum">
              <a:rPr lang="en-US" smtClean="0"/>
              <a:pPr/>
              <a:t>57</a:t>
            </a:fld>
            <a:endParaRPr lang="en-US"/>
          </a:p>
        </p:txBody>
      </p:sp>
    </p:spTree>
    <p:extLst>
      <p:ext uri="{BB962C8B-B14F-4D97-AF65-F5344CB8AC3E}">
        <p14:creationId xmlns:p14="http://schemas.microsoft.com/office/powerpoint/2010/main" val="1417920049"/>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772B7D22-2C88-4DF1-9193-CBF93B33A788}" type="datetime1">
              <a:rPr lang="en-US" smtClean="0"/>
              <a:pPr/>
              <a:t>2/9/2026</a:t>
            </a:fld>
            <a:endParaRPr lang="en-US"/>
          </a:p>
        </p:txBody>
      </p:sp>
      <p:sp>
        <p:nvSpPr>
          <p:cNvPr id="5" name="Footer Placeholder 4"/>
          <p:cNvSpPr>
            <a:spLocks noGrp="1"/>
          </p:cNvSpPr>
          <p:nvPr>
            <p:ph type="ftr" sz="quarter" idx="11"/>
          </p:nvPr>
        </p:nvSpPr>
        <p:spPr/>
        <p:txBody>
          <a:bodyPr/>
          <a:lstStyle/>
          <a:p>
            <a:r>
              <a:rPr lang="en-US"/>
              <a:t>Sibarama Panigrahi (14060001)</a:t>
            </a:r>
          </a:p>
        </p:txBody>
      </p:sp>
      <p:sp>
        <p:nvSpPr>
          <p:cNvPr id="6" name="Slide Number Placeholder 5"/>
          <p:cNvSpPr>
            <a:spLocks noGrp="1"/>
          </p:cNvSpPr>
          <p:nvPr>
            <p:ph type="sldNum" sz="quarter" idx="12"/>
          </p:nvPr>
        </p:nvSpPr>
        <p:spPr/>
        <p:txBody>
          <a:bodyPr/>
          <a:lstStyle/>
          <a:p>
            <a:fld id="{A03BBF96-A7A5-4867-9A4A-2F26A3CC4EC3}" type="slidenum">
              <a:rPr lang="en-US" smtClean="0"/>
              <a:pPr/>
              <a:t>‹#›</a:t>
            </a:fld>
            <a:endParaRPr lang="en-US"/>
          </a:p>
        </p:txBody>
      </p:sp>
    </p:spTree>
    <p:extLst>
      <p:ext uri="{BB962C8B-B14F-4D97-AF65-F5344CB8AC3E}">
        <p14:creationId xmlns:p14="http://schemas.microsoft.com/office/powerpoint/2010/main" val="2935725384"/>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0" y="304800"/>
            <a:ext cx="9144000" cy="685800"/>
          </a:xfrm>
          <a:solidFill>
            <a:srgbClr val="FFFF00"/>
          </a:solidFill>
        </p:spPr>
        <p:txBody>
          <a:bodyPr>
            <a:normAutofit/>
          </a:bodyPr>
          <a:lstStyle>
            <a:lvl1pPr marL="228600" indent="0" algn="l">
              <a:defRPr sz="3200">
                <a:latin typeface="Times New Roman" pitchFamily="18" charset="0"/>
                <a:cs typeface="Times New Roman" pitchFamily="18" charset="0"/>
              </a:defRPr>
            </a:lvl1pPr>
          </a:lstStyle>
          <a:p>
            <a:r>
              <a:rPr lang="en-US" dirty="0"/>
              <a:t>Click to edit Master title style</a:t>
            </a:r>
          </a:p>
        </p:txBody>
      </p:sp>
      <p:sp>
        <p:nvSpPr>
          <p:cNvPr id="3" name="Content Placeholder 2"/>
          <p:cNvSpPr>
            <a:spLocks noGrp="1"/>
          </p:cNvSpPr>
          <p:nvPr>
            <p:ph idx="1"/>
          </p:nvPr>
        </p:nvSpPr>
        <p:spPr>
          <a:xfrm>
            <a:off x="0" y="1066800"/>
            <a:ext cx="9144000" cy="5562600"/>
          </a:xfrm>
        </p:spPr>
        <p:txBody>
          <a:bodyPr/>
          <a:lstStyle>
            <a:lvl1pPr marL="679450" indent="-342900">
              <a:buClr>
                <a:srgbClr val="000099"/>
              </a:buClr>
              <a:buSzPct val="120000"/>
              <a:buFont typeface="Times New Roman" pitchFamily="18" charset="0"/>
              <a:buChar char="•"/>
              <a:defRPr>
                <a:latin typeface="Times New Roman" pitchFamily="18" charset="0"/>
                <a:cs typeface="Times New Roman" pitchFamily="18" charset="0"/>
              </a:defRPr>
            </a:lvl1pPr>
            <a:lvl2pPr marL="971550" indent="-285750">
              <a:buClr>
                <a:srgbClr val="000099"/>
              </a:buClr>
              <a:buSzPct val="115000"/>
              <a:defRPr>
                <a:latin typeface="Times New Roman" pitchFamily="18" charset="0"/>
                <a:cs typeface="Times New Roman" pitchFamily="18" charset="0"/>
              </a:defRPr>
            </a:lvl2pPr>
            <a:lvl3pPr marL="1317625" indent="-228600">
              <a:buClr>
                <a:srgbClr val="000099"/>
              </a:buClr>
              <a:buSzPct val="120000"/>
              <a:defRPr>
                <a:latin typeface="Times New Roman" pitchFamily="18" charset="0"/>
                <a:cs typeface="Times New Roman" pitchFamily="18" charset="0"/>
              </a:defRPr>
            </a:lvl3pPr>
            <a:lvl4pPr>
              <a:buClr>
                <a:srgbClr val="000099"/>
              </a:buClr>
              <a:defRPr>
                <a:latin typeface="Times New Roman" pitchFamily="18" charset="0"/>
                <a:cs typeface="Times New Roman" pitchFamily="18" charset="0"/>
              </a:defRPr>
            </a:lvl4pPr>
            <a:lvl5pPr marL="1828800" indent="-228600">
              <a:buClr>
                <a:srgbClr val="000099"/>
              </a:buClr>
              <a:defRPr>
                <a:latin typeface="Times New Roman" pitchFamily="18" charset="0"/>
                <a:cs typeface="Times New Roman" pitchFamily="18" charset="0"/>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Date Placeholder 3"/>
          <p:cNvSpPr>
            <a:spLocks noGrp="1"/>
          </p:cNvSpPr>
          <p:nvPr>
            <p:ph type="dt" sz="half" idx="10"/>
          </p:nvPr>
        </p:nvSpPr>
        <p:spPr>
          <a:xfrm>
            <a:off x="0" y="6629400"/>
            <a:ext cx="3048000" cy="228600"/>
          </a:xfrm>
          <a:solidFill>
            <a:srgbClr val="F8F200"/>
          </a:solidFill>
        </p:spPr>
        <p:txBody>
          <a:bodyPr/>
          <a:lstStyle>
            <a:lvl1pPr algn="l">
              <a:defRPr b="1">
                <a:solidFill>
                  <a:schemeClr val="tx1"/>
                </a:solidFill>
                <a:latin typeface="Times New Roman" pitchFamily="18" charset="0"/>
                <a:cs typeface="Times New Roman" pitchFamily="18" charset="0"/>
              </a:defRPr>
            </a:lvl1pPr>
          </a:lstStyle>
          <a:p>
            <a:fld id="{E7067A60-51C7-4095-BFA9-1CE32DCBA06F}" type="datetime1">
              <a:rPr lang="en-US" smtClean="0"/>
              <a:pPr/>
              <a:t>2/9/2026</a:t>
            </a:fld>
            <a:endParaRPr lang="en-US" dirty="0"/>
          </a:p>
        </p:txBody>
      </p:sp>
      <p:sp>
        <p:nvSpPr>
          <p:cNvPr id="5" name="Footer Placeholder 4"/>
          <p:cNvSpPr>
            <a:spLocks noGrp="1"/>
          </p:cNvSpPr>
          <p:nvPr>
            <p:ph type="ftr" sz="quarter" idx="11"/>
          </p:nvPr>
        </p:nvSpPr>
        <p:spPr>
          <a:xfrm>
            <a:off x="2476501" y="6629400"/>
            <a:ext cx="4136571" cy="228600"/>
          </a:xfrm>
          <a:solidFill>
            <a:srgbClr val="868FE6"/>
          </a:solidFill>
        </p:spPr>
        <p:txBody>
          <a:bodyPr/>
          <a:lstStyle>
            <a:lvl1pPr>
              <a:defRPr b="1">
                <a:solidFill>
                  <a:schemeClr val="tx1"/>
                </a:solidFill>
                <a:latin typeface="Times New Roman" pitchFamily="18" charset="0"/>
                <a:cs typeface="Times New Roman" pitchFamily="18" charset="0"/>
              </a:defRPr>
            </a:lvl1pPr>
          </a:lstStyle>
          <a:p>
            <a:r>
              <a:rPr lang="en-US" dirty="0"/>
              <a:t>Dr. Sibarama Panigrahi</a:t>
            </a:r>
          </a:p>
        </p:txBody>
      </p:sp>
      <p:sp>
        <p:nvSpPr>
          <p:cNvPr id="6" name="Slide Number Placeholder 5"/>
          <p:cNvSpPr>
            <a:spLocks noGrp="1"/>
          </p:cNvSpPr>
          <p:nvPr>
            <p:ph type="sldNum" sz="quarter" idx="12"/>
          </p:nvPr>
        </p:nvSpPr>
        <p:spPr>
          <a:xfrm>
            <a:off x="6096000" y="6629400"/>
            <a:ext cx="3048000" cy="228600"/>
          </a:xfrm>
          <a:solidFill>
            <a:srgbClr val="F8F200"/>
          </a:solidFill>
        </p:spPr>
        <p:txBody>
          <a:bodyPr/>
          <a:lstStyle>
            <a:lvl1pPr>
              <a:defRPr b="1">
                <a:latin typeface="Times New Roman" pitchFamily="18" charset="0"/>
                <a:cs typeface="Times New Roman" pitchFamily="18" charset="0"/>
              </a:defRPr>
            </a:lvl1pPr>
          </a:lstStyle>
          <a:p>
            <a:fld id="{A03BBF96-A7A5-4867-9A4A-2F26A3CC4EC3}" type="slidenum">
              <a:rPr lang="en-US" smtClean="0"/>
              <a:pPr/>
              <a:t>‹#›</a:t>
            </a:fld>
            <a:endParaRPr lang="en-US" dirty="0"/>
          </a:p>
        </p:txBody>
      </p:sp>
      <p:sp>
        <p:nvSpPr>
          <p:cNvPr id="7" name="Rectangle 6"/>
          <p:cNvSpPr/>
          <p:nvPr userDrawn="1"/>
        </p:nvSpPr>
        <p:spPr>
          <a:xfrm>
            <a:off x="0" y="0"/>
            <a:ext cx="4572000" cy="304800"/>
          </a:xfrm>
          <a:prstGeom prst="rect">
            <a:avLst/>
          </a:prstGeom>
          <a:solidFill>
            <a:srgbClr val="3116F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r"/>
            <a:endParaRPr lang="en-US" dirty="0">
              <a:solidFill>
                <a:schemeClr val="accent6">
                  <a:lumMod val="75000"/>
                </a:schemeClr>
              </a:solidFill>
              <a:latin typeface="Times New Roman" pitchFamily="18" charset="0"/>
              <a:cs typeface="Times New Roman" pitchFamily="18" charset="0"/>
            </a:endParaRPr>
          </a:p>
        </p:txBody>
      </p:sp>
      <p:sp>
        <p:nvSpPr>
          <p:cNvPr id="8" name="Rectangle 7"/>
          <p:cNvSpPr/>
          <p:nvPr userDrawn="1"/>
        </p:nvSpPr>
        <p:spPr>
          <a:xfrm>
            <a:off x="4572000" y="0"/>
            <a:ext cx="4572000" cy="304800"/>
          </a:xfrm>
          <a:prstGeom prst="rect">
            <a:avLst/>
          </a:prstGeom>
          <a:solidFill>
            <a:srgbClr val="FFFF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3071107086"/>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FB9D4D4F-EEF4-46A6-B5D1-8C280D223A1A}" type="datetime1">
              <a:rPr lang="en-US" smtClean="0"/>
              <a:pPr/>
              <a:t>2/9/2026</a:t>
            </a:fld>
            <a:endParaRPr lang="en-US"/>
          </a:p>
        </p:txBody>
      </p:sp>
      <p:sp>
        <p:nvSpPr>
          <p:cNvPr id="5" name="Footer Placeholder 4"/>
          <p:cNvSpPr>
            <a:spLocks noGrp="1"/>
          </p:cNvSpPr>
          <p:nvPr>
            <p:ph type="ftr" sz="quarter" idx="11"/>
          </p:nvPr>
        </p:nvSpPr>
        <p:spPr/>
        <p:txBody>
          <a:bodyPr/>
          <a:lstStyle/>
          <a:p>
            <a:r>
              <a:rPr lang="en-US"/>
              <a:t>Sibarama Panigrahi (14060001)</a:t>
            </a:r>
          </a:p>
        </p:txBody>
      </p:sp>
      <p:sp>
        <p:nvSpPr>
          <p:cNvPr id="6" name="Slide Number Placeholder 5"/>
          <p:cNvSpPr>
            <a:spLocks noGrp="1"/>
          </p:cNvSpPr>
          <p:nvPr>
            <p:ph type="sldNum" sz="quarter" idx="12"/>
          </p:nvPr>
        </p:nvSpPr>
        <p:spPr/>
        <p:txBody>
          <a:bodyPr/>
          <a:lstStyle/>
          <a:p>
            <a:fld id="{A03BBF96-A7A5-4867-9A4A-2F26A3CC4EC3}" type="slidenum">
              <a:rPr lang="en-US" smtClean="0"/>
              <a:pPr/>
              <a:t>‹#›</a:t>
            </a:fld>
            <a:endParaRPr lang="en-US"/>
          </a:p>
        </p:txBody>
      </p:sp>
    </p:spTree>
    <p:extLst>
      <p:ext uri="{BB962C8B-B14F-4D97-AF65-F5344CB8AC3E}">
        <p14:creationId xmlns:p14="http://schemas.microsoft.com/office/powerpoint/2010/main" val="3035628790"/>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310E1CC1-438B-4F0B-95B1-1612D9CFC6CD}" type="datetime1">
              <a:rPr lang="en-US" smtClean="0"/>
              <a:pPr/>
              <a:t>2/9/2026</a:t>
            </a:fld>
            <a:endParaRPr lang="en-US"/>
          </a:p>
        </p:txBody>
      </p:sp>
      <p:sp>
        <p:nvSpPr>
          <p:cNvPr id="6" name="Footer Placeholder 5"/>
          <p:cNvSpPr>
            <a:spLocks noGrp="1"/>
          </p:cNvSpPr>
          <p:nvPr>
            <p:ph type="ftr" sz="quarter" idx="11"/>
          </p:nvPr>
        </p:nvSpPr>
        <p:spPr/>
        <p:txBody>
          <a:bodyPr/>
          <a:lstStyle/>
          <a:p>
            <a:r>
              <a:rPr lang="en-US"/>
              <a:t>Sibarama Panigrahi (14060001)</a:t>
            </a:r>
          </a:p>
        </p:txBody>
      </p:sp>
      <p:sp>
        <p:nvSpPr>
          <p:cNvPr id="7" name="Slide Number Placeholder 6"/>
          <p:cNvSpPr>
            <a:spLocks noGrp="1"/>
          </p:cNvSpPr>
          <p:nvPr>
            <p:ph type="sldNum" sz="quarter" idx="12"/>
          </p:nvPr>
        </p:nvSpPr>
        <p:spPr/>
        <p:txBody>
          <a:bodyPr/>
          <a:lstStyle/>
          <a:p>
            <a:fld id="{A03BBF96-A7A5-4867-9A4A-2F26A3CC4EC3}" type="slidenum">
              <a:rPr lang="en-US" smtClean="0"/>
              <a:pPr/>
              <a:t>‹#›</a:t>
            </a:fld>
            <a:endParaRPr lang="en-US"/>
          </a:p>
        </p:txBody>
      </p:sp>
    </p:spTree>
    <p:extLst>
      <p:ext uri="{BB962C8B-B14F-4D97-AF65-F5344CB8AC3E}">
        <p14:creationId xmlns:p14="http://schemas.microsoft.com/office/powerpoint/2010/main" val="304476374"/>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4349799C-F5A4-4E5B-8630-623DC9FF7C30}" type="datetime1">
              <a:rPr lang="en-US" smtClean="0"/>
              <a:pPr/>
              <a:t>2/9/2026</a:t>
            </a:fld>
            <a:endParaRPr lang="en-US"/>
          </a:p>
        </p:txBody>
      </p:sp>
      <p:sp>
        <p:nvSpPr>
          <p:cNvPr id="8" name="Footer Placeholder 7"/>
          <p:cNvSpPr>
            <a:spLocks noGrp="1"/>
          </p:cNvSpPr>
          <p:nvPr>
            <p:ph type="ftr" sz="quarter" idx="11"/>
          </p:nvPr>
        </p:nvSpPr>
        <p:spPr/>
        <p:txBody>
          <a:bodyPr/>
          <a:lstStyle/>
          <a:p>
            <a:r>
              <a:rPr lang="en-US"/>
              <a:t>Sibarama Panigrahi (14060001)</a:t>
            </a:r>
          </a:p>
        </p:txBody>
      </p:sp>
      <p:sp>
        <p:nvSpPr>
          <p:cNvPr id="9" name="Slide Number Placeholder 8"/>
          <p:cNvSpPr>
            <a:spLocks noGrp="1"/>
          </p:cNvSpPr>
          <p:nvPr>
            <p:ph type="sldNum" sz="quarter" idx="12"/>
          </p:nvPr>
        </p:nvSpPr>
        <p:spPr/>
        <p:txBody>
          <a:bodyPr/>
          <a:lstStyle/>
          <a:p>
            <a:fld id="{A03BBF96-A7A5-4867-9A4A-2F26A3CC4EC3}" type="slidenum">
              <a:rPr lang="en-US" smtClean="0"/>
              <a:pPr/>
              <a:t>‹#›</a:t>
            </a:fld>
            <a:endParaRPr lang="en-US"/>
          </a:p>
        </p:txBody>
      </p:sp>
    </p:spTree>
    <p:extLst>
      <p:ext uri="{BB962C8B-B14F-4D97-AF65-F5344CB8AC3E}">
        <p14:creationId xmlns:p14="http://schemas.microsoft.com/office/powerpoint/2010/main" val="4188579763"/>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EF57B150-147A-432C-98B5-21C9F224D92D}" type="datetime1">
              <a:rPr lang="en-US" smtClean="0"/>
              <a:pPr/>
              <a:t>2/9/2026</a:t>
            </a:fld>
            <a:endParaRPr lang="en-US"/>
          </a:p>
        </p:txBody>
      </p:sp>
      <p:sp>
        <p:nvSpPr>
          <p:cNvPr id="4" name="Footer Placeholder 3"/>
          <p:cNvSpPr>
            <a:spLocks noGrp="1"/>
          </p:cNvSpPr>
          <p:nvPr>
            <p:ph type="ftr" sz="quarter" idx="11"/>
          </p:nvPr>
        </p:nvSpPr>
        <p:spPr/>
        <p:txBody>
          <a:bodyPr/>
          <a:lstStyle/>
          <a:p>
            <a:r>
              <a:rPr lang="en-US"/>
              <a:t>Sibarama Panigrahi (14060001)</a:t>
            </a:r>
          </a:p>
        </p:txBody>
      </p:sp>
      <p:sp>
        <p:nvSpPr>
          <p:cNvPr id="5" name="Slide Number Placeholder 4"/>
          <p:cNvSpPr>
            <a:spLocks noGrp="1"/>
          </p:cNvSpPr>
          <p:nvPr>
            <p:ph type="sldNum" sz="quarter" idx="12"/>
          </p:nvPr>
        </p:nvSpPr>
        <p:spPr/>
        <p:txBody>
          <a:bodyPr/>
          <a:lstStyle/>
          <a:p>
            <a:fld id="{A03BBF96-A7A5-4867-9A4A-2F26A3CC4EC3}" type="slidenum">
              <a:rPr lang="en-US" smtClean="0"/>
              <a:pPr/>
              <a:t>‹#›</a:t>
            </a:fld>
            <a:endParaRPr lang="en-US"/>
          </a:p>
        </p:txBody>
      </p:sp>
    </p:spTree>
    <p:extLst>
      <p:ext uri="{BB962C8B-B14F-4D97-AF65-F5344CB8AC3E}">
        <p14:creationId xmlns:p14="http://schemas.microsoft.com/office/powerpoint/2010/main" val="2513363580"/>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491E5B76-AA36-4300-B44D-6285C79C7A43}" type="datetime1">
              <a:rPr lang="en-US" smtClean="0"/>
              <a:pPr/>
              <a:t>2/9/2026</a:t>
            </a:fld>
            <a:endParaRPr lang="en-US"/>
          </a:p>
        </p:txBody>
      </p:sp>
      <p:sp>
        <p:nvSpPr>
          <p:cNvPr id="3" name="Footer Placeholder 2"/>
          <p:cNvSpPr>
            <a:spLocks noGrp="1"/>
          </p:cNvSpPr>
          <p:nvPr>
            <p:ph type="ftr" sz="quarter" idx="11"/>
          </p:nvPr>
        </p:nvSpPr>
        <p:spPr/>
        <p:txBody>
          <a:bodyPr/>
          <a:lstStyle/>
          <a:p>
            <a:r>
              <a:rPr lang="en-US"/>
              <a:t>Sibarama Panigrahi (14060001)</a:t>
            </a:r>
          </a:p>
        </p:txBody>
      </p:sp>
      <p:sp>
        <p:nvSpPr>
          <p:cNvPr id="4" name="Slide Number Placeholder 3"/>
          <p:cNvSpPr>
            <a:spLocks noGrp="1"/>
          </p:cNvSpPr>
          <p:nvPr>
            <p:ph type="sldNum" sz="quarter" idx="12"/>
          </p:nvPr>
        </p:nvSpPr>
        <p:spPr/>
        <p:txBody>
          <a:bodyPr/>
          <a:lstStyle/>
          <a:p>
            <a:fld id="{A03BBF96-A7A5-4867-9A4A-2F26A3CC4EC3}" type="slidenum">
              <a:rPr lang="en-US" smtClean="0"/>
              <a:pPr/>
              <a:t>‹#›</a:t>
            </a:fld>
            <a:endParaRPr lang="en-US"/>
          </a:p>
        </p:txBody>
      </p:sp>
    </p:spTree>
    <p:extLst>
      <p:ext uri="{BB962C8B-B14F-4D97-AF65-F5344CB8AC3E}">
        <p14:creationId xmlns:p14="http://schemas.microsoft.com/office/powerpoint/2010/main" val="3311111255"/>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7CDB1C88-916D-4A5B-979E-72DFFBC2920F}" type="datetime1">
              <a:rPr lang="en-US" smtClean="0"/>
              <a:pPr/>
              <a:t>2/9/2026</a:t>
            </a:fld>
            <a:endParaRPr lang="en-US"/>
          </a:p>
        </p:txBody>
      </p:sp>
      <p:sp>
        <p:nvSpPr>
          <p:cNvPr id="6" name="Footer Placeholder 5"/>
          <p:cNvSpPr>
            <a:spLocks noGrp="1"/>
          </p:cNvSpPr>
          <p:nvPr>
            <p:ph type="ftr" sz="quarter" idx="11"/>
          </p:nvPr>
        </p:nvSpPr>
        <p:spPr/>
        <p:txBody>
          <a:bodyPr/>
          <a:lstStyle/>
          <a:p>
            <a:r>
              <a:rPr lang="en-US"/>
              <a:t>Sibarama Panigrahi (14060001)</a:t>
            </a:r>
          </a:p>
        </p:txBody>
      </p:sp>
      <p:sp>
        <p:nvSpPr>
          <p:cNvPr id="7" name="Slide Number Placeholder 6"/>
          <p:cNvSpPr>
            <a:spLocks noGrp="1"/>
          </p:cNvSpPr>
          <p:nvPr>
            <p:ph type="sldNum" sz="quarter" idx="12"/>
          </p:nvPr>
        </p:nvSpPr>
        <p:spPr/>
        <p:txBody>
          <a:bodyPr/>
          <a:lstStyle/>
          <a:p>
            <a:fld id="{A03BBF96-A7A5-4867-9A4A-2F26A3CC4EC3}" type="slidenum">
              <a:rPr lang="en-US" smtClean="0"/>
              <a:pPr/>
              <a:t>‹#›</a:t>
            </a:fld>
            <a:endParaRPr lang="en-US"/>
          </a:p>
        </p:txBody>
      </p:sp>
    </p:spTree>
    <p:extLst>
      <p:ext uri="{BB962C8B-B14F-4D97-AF65-F5344CB8AC3E}">
        <p14:creationId xmlns:p14="http://schemas.microsoft.com/office/powerpoint/2010/main" val="1085060713"/>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D904A43D-656C-462D-AD7D-E6A6493D95B7}" type="datetime1">
              <a:rPr lang="en-US" smtClean="0"/>
              <a:pPr/>
              <a:t>2/9/2026</a:t>
            </a:fld>
            <a:endParaRPr lang="en-US"/>
          </a:p>
        </p:txBody>
      </p:sp>
      <p:sp>
        <p:nvSpPr>
          <p:cNvPr id="6" name="Footer Placeholder 5"/>
          <p:cNvSpPr>
            <a:spLocks noGrp="1"/>
          </p:cNvSpPr>
          <p:nvPr>
            <p:ph type="ftr" sz="quarter" idx="11"/>
          </p:nvPr>
        </p:nvSpPr>
        <p:spPr/>
        <p:txBody>
          <a:bodyPr/>
          <a:lstStyle/>
          <a:p>
            <a:r>
              <a:rPr lang="en-US"/>
              <a:t>Sibarama Panigrahi (14060001)</a:t>
            </a:r>
          </a:p>
        </p:txBody>
      </p:sp>
      <p:sp>
        <p:nvSpPr>
          <p:cNvPr id="7" name="Slide Number Placeholder 6"/>
          <p:cNvSpPr>
            <a:spLocks noGrp="1"/>
          </p:cNvSpPr>
          <p:nvPr>
            <p:ph type="sldNum" sz="quarter" idx="12"/>
          </p:nvPr>
        </p:nvSpPr>
        <p:spPr/>
        <p:txBody>
          <a:bodyPr/>
          <a:lstStyle/>
          <a:p>
            <a:fld id="{A03BBF96-A7A5-4867-9A4A-2F26A3CC4EC3}" type="slidenum">
              <a:rPr lang="en-US" smtClean="0"/>
              <a:pPr/>
              <a:t>‹#›</a:t>
            </a:fld>
            <a:endParaRPr lang="en-US"/>
          </a:p>
        </p:txBody>
      </p:sp>
    </p:spTree>
    <p:extLst>
      <p:ext uri="{BB962C8B-B14F-4D97-AF65-F5344CB8AC3E}">
        <p14:creationId xmlns:p14="http://schemas.microsoft.com/office/powerpoint/2010/main" val="1370688405"/>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D7F77D66-8A31-470F-A4E6-836089B21670}" type="datetime1">
              <a:rPr lang="en-US" smtClean="0"/>
              <a:pPr/>
              <a:t>2/9/2026</a:t>
            </a:fld>
            <a:endParaRPr lang="en-US"/>
          </a:p>
        </p:txBody>
      </p:sp>
      <p:sp>
        <p:nvSpPr>
          <p:cNvPr id="5" name="Footer Placeholder 4"/>
          <p:cNvSpPr>
            <a:spLocks noGrp="1"/>
          </p:cNvSpPr>
          <p:nvPr>
            <p:ph type="ftr" sz="quarter" idx="11"/>
          </p:nvPr>
        </p:nvSpPr>
        <p:spPr/>
        <p:txBody>
          <a:bodyPr/>
          <a:lstStyle/>
          <a:p>
            <a:r>
              <a:rPr lang="en-US"/>
              <a:t>Sibarama Panigrahi (14060001)</a:t>
            </a:r>
          </a:p>
        </p:txBody>
      </p:sp>
      <p:sp>
        <p:nvSpPr>
          <p:cNvPr id="6" name="Slide Number Placeholder 5"/>
          <p:cNvSpPr>
            <a:spLocks noGrp="1"/>
          </p:cNvSpPr>
          <p:nvPr>
            <p:ph type="sldNum" sz="quarter" idx="12"/>
          </p:nvPr>
        </p:nvSpPr>
        <p:spPr/>
        <p:txBody>
          <a:bodyPr/>
          <a:lstStyle/>
          <a:p>
            <a:fld id="{A03BBF96-A7A5-4867-9A4A-2F26A3CC4EC3}" type="slidenum">
              <a:rPr lang="en-US" smtClean="0"/>
              <a:pPr/>
              <a:t>‹#›</a:t>
            </a:fld>
            <a:endParaRPr lang="en-US"/>
          </a:p>
        </p:txBody>
      </p:sp>
    </p:spTree>
    <p:extLst>
      <p:ext uri="{BB962C8B-B14F-4D97-AF65-F5344CB8AC3E}">
        <p14:creationId xmlns:p14="http://schemas.microsoft.com/office/powerpoint/2010/main" val="3099226280"/>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F76D2EC9-486B-4812-8B68-F5CA9E63A95D}" type="datetime1">
              <a:rPr lang="en-US" smtClean="0"/>
              <a:pPr/>
              <a:t>2/9/2026</a:t>
            </a:fld>
            <a:endParaRPr lang="en-US"/>
          </a:p>
        </p:txBody>
      </p:sp>
      <p:sp>
        <p:nvSpPr>
          <p:cNvPr id="5" name="Footer Placeholder 4"/>
          <p:cNvSpPr>
            <a:spLocks noGrp="1"/>
          </p:cNvSpPr>
          <p:nvPr>
            <p:ph type="ftr" sz="quarter" idx="11"/>
          </p:nvPr>
        </p:nvSpPr>
        <p:spPr/>
        <p:txBody>
          <a:bodyPr/>
          <a:lstStyle/>
          <a:p>
            <a:r>
              <a:rPr lang="en-US"/>
              <a:t>Sibarama Panigrahi (14060001)</a:t>
            </a:r>
          </a:p>
        </p:txBody>
      </p:sp>
      <p:sp>
        <p:nvSpPr>
          <p:cNvPr id="6" name="Slide Number Placeholder 5"/>
          <p:cNvSpPr>
            <a:spLocks noGrp="1"/>
          </p:cNvSpPr>
          <p:nvPr>
            <p:ph type="sldNum" sz="quarter" idx="12"/>
          </p:nvPr>
        </p:nvSpPr>
        <p:spPr/>
        <p:txBody>
          <a:bodyPr/>
          <a:lstStyle/>
          <a:p>
            <a:fld id="{A03BBF96-A7A5-4867-9A4A-2F26A3CC4EC3}" type="slidenum">
              <a:rPr lang="en-US" smtClean="0"/>
              <a:pPr/>
              <a:t>‹#›</a:t>
            </a:fld>
            <a:endParaRPr lang="en-US"/>
          </a:p>
        </p:txBody>
      </p:sp>
    </p:spTree>
    <p:extLst>
      <p:ext uri="{BB962C8B-B14F-4D97-AF65-F5344CB8AC3E}">
        <p14:creationId xmlns:p14="http://schemas.microsoft.com/office/powerpoint/2010/main" val="3733934211"/>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772B7D22-2C88-4DF1-9193-CBF93B33A788}" type="datetime1">
              <a:rPr lang="en-US" smtClean="0">
                <a:solidFill>
                  <a:prstClr val="black">
                    <a:tint val="75000"/>
                  </a:prstClr>
                </a:solidFill>
              </a:rPr>
              <a:pPr/>
              <a:t>2/9/2026</a:t>
            </a:fld>
            <a:endParaRPr lang="en-US">
              <a:solidFill>
                <a:prstClr val="black">
                  <a:tint val="75000"/>
                </a:prstClr>
              </a:solidFill>
            </a:endParaRPr>
          </a:p>
        </p:txBody>
      </p:sp>
      <p:sp>
        <p:nvSpPr>
          <p:cNvPr id="5" name="Footer Placeholder 4"/>
          <p:cNvSpPr>
            <a:spLocks noGrp="1"/>
          </p:cNvSpPr>
          <p:nvPr>
            <p:ph type="ftr" sz="quarter" idx="11"/>
          </p:nvPr>
        </p:nvSpPr>
        <p:spPr/>
        <p:txBody>
          <a:bodyPr/>
          <a:lstStyle/>
          <a:p>
            <a:r>
              <a:rPr lang="en-US">
                <a:solidFill>
                  <a:prstClr val="black">
                    <a:tint val="75000"/>
                  </a:prstClr>
                </a:solidFill>
              </a:rPr>
              <a:t>Sibarama Panigrahi (14060001)</a:t>
            </a:r>
          </a:p>
        </p:txBody>
      </p:sp>
      <p:sp>
        <p:nvSpPr>
          <p:cNvPr id="6" name="Slide Number Placeholder 5"/>
          <p:cNvSpPr>
            <a:spLocks noGrp="1"/>
          </p:cNvSpPr>
          <p:nvPr>
            <p:ph type="sldNum" sz="quarter" idx="12"/>
          </p:nvPr>
        </p:nvSpPr>
        <p:spPr/>
        <p:txBody>
          <a:bodyPr/>
          <a:lstStyle/>
          <a:p>
            <a:fld id="{A03BBF96-A7A5-4867-9A4A-2F26A3CC4EC3}" type="slidenum">
              <a:rPr lang="en-US" smtClean="0">
                <a:solidFill>
                  <a:prstClr val="black">
                    <a:tint val="75000"/>
                  </a:prstClr>
                </a:solidFill>
              </a:rPr>
              <a:pPr/>
              <a:t>‹#›</a:t>
            </a:fld>
            <a:endParaRPr lang="en-US">
              <a:solidFill>
                <a:prstClr val="black">
                  <a:tint val="75000"/>
                </a:prstClr>
              </a:solidFill>
            </a:endParaRPr>
          </a:p>
        </p:txBody>
      </p:sp>
    </p:spTree>
    <p:extLst>
      <p:ext uri="{BB962C8B-B14F-4D97-AF65-F5344CB8AC3E}">
        <p14:creationId xmlns:p14="http://schemas.microsoft.com/office/powerpoint/2010/main" val="1451717504"/>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0" y="304800"/>
            <a:ext cx="9144000" cy="685800"/>
          </a:xfrm>
          <a:solidFill>
            <a:srgbClr val="FFFF00"/>
          </a:solidFill>
        </p:spPr>
        <p:txBody>
          <a:bodyPr>
            <a:normAutofit/>
          </a:bodyPr>
          <a:lstStyle>
            <a:lvl1pPr marL="228600" indent="0" algn="l">
              <a:defRPr sz="3200">
                <a:latin typeface="Times New Roman" pitchFamily="18" charset="0"/>
                <a:cs typeface="Times New Roman" pitchFamily="18" charset="0"/>
              </a:defRPr>
            </a:lvl1pPr>
          </a:lstStyle>
          <a:p>
            <a:r>
              <a:rPr lang="en-US" dirty="0"/>
              <a:t>Click to edit Master title style</a:t>
            </a:r>
          </a:p>
        </p:txBody>
      </p:sp>
      <p:sp>
        <p:nvSpPr>
          <p:cNvPr id="3" name="Content Placeholder 2"/>
          <p:cNvSpPr>
            <a:spLocks noGrp="1"/>
          </p:cNvSpPr>
          <p:nvPr>
            <p:ph idx="1"/>
          </p:nvPr>
        </p:nvSpPr>
        <p:spPr>
          <a:xfrm>
            <a:off x="0" y="1066800"/>
            <a:ext cx="9144000" cy="5562600"/>
          </a:xfrm>
        </p:spPr>
        <p:txBody>
          <a:bodyPr/>
          <a:lstStyle>
            <a:lvl1pPr marL="679450" indent="-342900">
              <a:buClr>
                <a:srgbClr val="000099"/>
              </a:buClr>
              <a:buSzPct val="120000"/>
              <a:buFont typeface="Times New Roman" pitchFamily="18" charset="0"/>
              <a:buChar char="•"/>
              <a:defRPr>
                <a:latin typeface="Times New Roman" pitchFamily="18" charset="0"/>
                <a:cs typeface="Times New Roman" pitchFamily="18" charset="0"/>
              </a:defRPr>
            </a:lvl1pPr>
            <a:lvl2pPr marL="971550" indent="-285750">
              <a:buClr>
                <a:srgbClr val="000099"/>
              </a:buClr>
              <a:buSzPct val="115000"/>
              <a:defRPr>
                <a:latin typeface="Times New Roman" pitchFamily="18" charset="0"/>
                <a:cs typeface="Times New Roman" pitchFamily="18" charset="0"/>
              </a:defRPr>
            </a:lvl2pPr>
            <a:lvl3pPr marL="1317625" indent="-228600">
              <a:buClr>
                <a:srgbClr val="000099"/>
              </a:buClr>
              <a:buSzPct val="120000"/>
              <a:defRPr>
                <a:latin typeface="Times New Roman" pitchFamily="18" charset="0"/>
                <a:cs typeface="Times New Roman" pitchFamily="18" charset="0"/>
              </a:defRPr>
            </a:lvl3pPr>
            <a:lvl4pPr>
              <a:buClr>
                <a:srgbClr val="000099"/>
              </a:buClr>
              <a:defRPr>
                <a:latin typeface="Times New Roman" pitchFamily="18" charset="0"/>
                <a:cs typeface="Times New Roman" pitchFamily="18" charset="0"/>
              </a:defRPr>
            </a:lvl4pPr>
            <a:lvl5pPr marL="1828800" indent="-228600">
              <a:buClr>
                <a:srgbClr val="000099"/>
              </a:buClr>
              <a:defRPr>
                <a:latin typeface="Times New Roman" pitchFamily="18" charset="0"/>
                <a:cs typeface="Times New Roman" pitchFamily="18" charset="0"/>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Date Placeholder 3"/>
          <p:cNvSpPr>
            <a:spLocks noGrp="1"/>
          </p:cNvSpPr>
          <p:nvPr>
            <p:ph type="dt" sz="half" idx="10"/>
          </p:nvPr>
        </p:nvSpPr>
        <p:spPr>
          <a:xfrm>
            <a:off x="0" y="6629400"/>
            <a:ext cx="3048000" cy="228600"/>
          </a:xfrm>
          <a:solidFill>
            <a:srgbClr val="F8F200"/>
          </a:solidFill>
        </p:spPr>
        <p:txBody>
          <a:bodyPr/>
          <a:lstStyle>
            <a:lvl1pPr algn="l">
              <a:defRPr b="1">
                <a:solidFill>
                  <a:schemeClr val="tx1"/>
                </a:solidFill>
                <a:latin typeface="Times New Roman" pitchFamily="18" charset="0"/>
                <a:cs typeface="Times New Roman" pitchFamily="18" charset="0"/>
              </a:defRPr>
            </a:lvl1pPr>
          </a:lstStyle>
          <a:p>
            <a:fld id="{E7067A60-51C7-4095-BFA9-1CE32DCBA06F}" type="datetime1">
              <a:rPr lang="en-US" smtClean="0">
                <a:solidFill>
                  <a:prstClr val="black"/>
                </a:solidFill>
              </a:rPr>
              <a:pPr/>
              <a:t>2/9/2026</a:t>
            </a:fld>
            <a:endParaRPr lang="en-US" dirty="0">
              <a:solidFill>
                <a:prstClr val="black"/>
              </a:solidFill>
            </a:endParaRPr>
          </a:p>
        </p:txBody>
      </p:sp>
      <p:sp>
        <p:nvSpPr>
          <p:cNvPr id="5" name="Footer Placeholder 4"/>
          <p:cNvSpPr>
            <a:spLocks noGrp="1"/>
          </p:cNvSpPr>
          <p:nvPr>
            <p:ph type="ftr" sz="quarter" idx="11"/>
          </p:nvPr>
        </p:nvSpPr>
        <p:spPr>
          <a:xfrm>
            <a:off x="2476501" y="6629400"/>
            <a:ext cx="4136571" cy="228600"/>
          </a:xfrm>
          <a:solidFill>
            <a:srgbClr val="868FE6"/>
          </a:solidFill>
        </p:spPr>
        <p:txBody>
          <a:bodyPr/>
          <a:lstStyle>
            <a:lvl1pPr>
              <a:defRPr b="1">
                <a:solidFill>
                  <a:schemeClr val="tx1"/>
                </a:solidFill>
                <a:latin typeface="Times New Roman" pitchFamily="18" charset="0"/>
                <a:cs typeface="Times New Roman" pitchFamily="18" charset="0"/>
              </a:defRPr>
            </a:lvl1pPr>
          </a:lstStyle>
          <a:p>
            <a:r>
              <a:rPr lang="en-US" dirty="0">
                <a:solidFill>
                  <a:prstClr val="black"/>
                </a:solidFill>
              </a:rPr>
              <a:t>Dr. Sibarama Panigrahi</a:t>
            </a:r>
          </a:p>
        </p:txBody>
      </p:sp>
      <p:sp>
        <p:nvSpPr>
          <p:cNvPr id="6" name="Slide Number Placeholder 5"/>
          <p:cNvSpPr>
            <a:spLocks noGrp="1"/>
          </p:cNvSpPr>
          <p:nvPr>
            <p:ph type="sldNum" sz="quarter" idx="12"/>
          </p:nvPr>
        </p:nvSpPr>
        <p:spPr>
          <a:xfrm>
            <a:off x="6096000" y="6629400"/>
            <a:ext cx="3048000" cy="228600"/>
          </a:xfrm>
          <a:solidFill>
            <a:srgbClr val="F8F200"/>
          </a:solidFill>
        </p:spPr>
        <p:txBody>
          <a:bodyPr/>
          <a:lstStyle>
            <a:lvl1pPr>
              <a:defRPr b="1">
                <a:latin typeface="Times New Roman" pitchFamily="18" charset="0"/>
                <a:cs typeface="Times New Roman" pitchFamily="18" charset="0"/>
              </a:defRPr>
            </a:lvl1pPr>
          </a:lstStyle>
          <a:p>
            <a:fld id="{A03BBF96-A7A5-4867-9A4A-2F26A3CC4EC3}" type="slidenum">
              <a:rPr lang="en-US" smtClean="0">
                <a:solidFill>
                  <a:prstClr val="black">
                    <a:tint val="75000"/>
                  </a:prstClr>
                </a:solidFill>
              </a:rPr>
              <a:pPr/>
              <a:t>‹#›</a:t>
            </a:fld>
            <a:endParaRPr lang="en-US" dirty="0">
              <a:solidFill>
                <a:prstClr val="black">
                  <a:tint val="75000"/>
                </a:prstClr>
              </a:solidFill>
            </a:endParaRPr>
          </a:p>
        </p:txBody>
      </p:sp>
      <p:sp>
        <p:nvSpPr>
          <p:cNvPr id="7" name="Rectangle 6"/>
          <p:cNvSpPr/>
          <p:nvPr userDrawn="1"/>
        </p:nvSpPr>
        <p:spPr>
          <a:xfrm>
            <a:off x="0" y="0"/>
            <a:ext cx="4572000" cy="304800"/>
          </a:xfrm>
          <a:prstGeom prst="rect">
            <a:avLst/>
          </a:prstGeom>
          <a:solidFill>
            <a:srgbClr val="3116F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r"/>
            <a:endParaRPr lang="en-US" dirty="0">
              <a:solidFill>
                <a:srgbClr val="F79646">
                  <a:lumMod val="75000"/>
                </a:srgbClr>
              </a:solidFill>
              <a:latin typeface="Times New Roman" pitchFamily="18" charset="0"/>
              <a:cs typeface="Times New Roman" pitchFamily="18" charset="0"/>
            </a:endParaRPr>
          </a:p>
        </p:txBody>
      </p:sp>
      <p:sp>
        <p:nvSpPr>
          <p:cNvPr id="8" name="Rectangle 7"/>
          <p:cNvSpPr/>
          <p:nvPr userDrawn="1"/>
        </p:nvSpPr>
        <p:spPr>
          <a:xfrm>
            <a:off x="4572000" y="0"/>
            <a:ext cx="4572000" cy="304800"/>
          </a:xfrm>
          <a:prstGeom prst="rect">
            <a:avLst/>
          </a:prstGeom>
          <a:solidFill>
            <a:srgbClr val="FFFF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prstClr val="white"/>
              </a:solidFill>
            </a:endParaRPr>
          </a:p>
        </p:txBody>
      </p:sp>
    </p:spTree>
    <p:extLst>
      <p:ext uri="{BB962C8B-B14F-4D97-AF65-F5344CB8AC3E}">
        <p14:creationId xmlns:p14="http://schemas.microsoft.com/office/powerpoint/2010/main" val="1589834929"/>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FB9D4D4F-EEF4-46A6-B5D1-8C280D223A1A}" type="datetime1">
              <a:rPr lang="en-US" smtClean="0">
                <a:solidFill>
                  <a:prstClr val="black">
                    <a:tint val="75000"/>
                  </a:prstClr>
                </a:solidFill>
              </a:rPr>
              <a:pPr/>
              <a:t>2/9/2026</a:t>
            </a:fld>
            <a:endParaRPr lang="en-US">
              <a:solidFill>
                <a:prstClr val="black">
                  <a:tint val="75000"/>
                </a:prstClr>
              </a:solidFill>
            </a:endParaRPr>
          </a:p>
        </p:txBody>
      </p:sp>
      <p:sp>
        <p:nvSpPr>
          <p:cNvPr id="5" name="Footer Placeholder 4"/>
          <p:cNvSpPr>
            <a:spLocks noGrp="1"/>
          </p:cNvSpPr>
          <p:nvPr>
            <p:ph type="ftr" sz="quarter" idx="11"/>
          </p:nvPr>
        </p:nvSpPr>
        <p:spPr/>
        <p:txBody>
          <a:bodyPr/>
          <a:lstStyle/>
          <a:p>
            <a:r>
              <a:rPr lang="en-US">
                <a:solidFill>
                  <a:prstClr val="black">
                    <a:tint val="75000"/>
                  </a:prstClr>
                </a:solidFill>
              </a:rPr>
              <a:t>Sibarama Panigrahi (14060001)</a:t>
            </a:r>
          </a:p>
        </p:txBody>
      </p:sp>
      <p:sp>
        <p:nvSpPr>
          <p:cNvPr id="6" name="Slide Number Placeholder 5"/>
          <p:cNvSpPr>
            <a:spLocks noGrp="1"/>
          </p:cNvSpPr>
          <p:nvPr>
            <p:ph type="sldNum" sz="quarter" idx="12"/>
          </p:nvPr>
        </p:nvSpPr>
        <p:spPr/>
        <p:txBody>
          <a:bodyPr/>
          <a:lstStyle/>
          <a:p>
            <a:fld id="{A03BBF96-A7A5-4867-9A4A-2F26A3CC4EC3}" type="slidenum">
              <a:rPr lang="en-US" smtClean="0">
                <a:solidFill>
                  <a:prstClr val="black">
                    <a:tint val="75000"/>
                  </a:prstClr>
                </a:solidFill>
              </a:rPr>
              <a:pPr/>
              <a:t>‹#›</a:t>
            </a:fld>
            <a:endParaRPr lang="en-US">
              <a:solidFill>
                <a:prstClr val="black">
                  <a:tint val="75000"/>
                </a:prstClr>
              </a:solidFill>
            </a:endParaRPr>
          </a:p>
        </p:txBody>
      </p:sp>
    </p:spTree>
    <p:extLst>
      <p:ext uri="{BB962C8B-B14F-4D97-AF65-F5344CB8AC3E}">
        <p14:creationId xmlns:p14="http://schemas.microsoft.com/office/powerpoint/2010/main" val="1193776447"/>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310E1CC1-438B-4F0B-95B1-1612D9CFC6CD}" type="datetime1">
              <a:rPr lang="en-US" smtClean="0">
                <a:solidFill>
                  <a:prstClr val="black">
                    <a:tint val="75000"/>
                  </a:prstClr>
                </a:solidFill>
              </a:rPr>
              <a:pPr/>
              <a:t>2/9/2026</a:t>
            </a:fld>
            <a:endParaRPr lang="en-US">
              <a:solidFill>
                <a:prstClr val="black">
                  <a:tint val="75000"/>
                </a:prstClr>
              </a:solidFill>
            </a:endParaRPr>
          </a:p>
        </p:txBody>
      </p:sp>
      <p:sp>
        <p:nvSpPr>
          <p:cNvPr id="6" name="Footer Placeholder 5"/>
          <p:cNvSpPr>
            <a:spLocks noGrp="1"/>
          </p:cNvSpPr>
          <p:nvPr>
            <p:ph type="ftr" sz="quarter" idx="11"/>
          </p:nvPr>
        </p:nvSpPr>
        <p:spPr/>
        <p:txBody>
          <a:bodyPr/>
          <a:lstStyle/>
          <a:p>
            <a:r>
              <a:rPr lang="en-US">
                <a:solidFill>
                  <a:prstClr val="black">
                    <a:tint val="75000"/>
                  </a:prstClr>
                </a:solidFill>
              </a:rPr>
              <a:t>Sibarama Panigrahi (14060001)</a:t>
            </a:r>
          </a:p>
        </p:txBody>
      </p:sp>
      <p:sp>
        <p:nvSpPr>
          <p:cNvPr id="7" name="Slide Number Placeholder 6"/>
          <p:cNvSpPr>
            <a:spLocks noGrp="1"/>
          </p:cNvSpPr>
          <p:nvPr>
            <p:ph type="sldNum" sz="quarter" idx="12"/>
          </p:nvPr>
        </p:nvSpPr>
        <p:spPr/>
        <p:txBody>
          <a:bodyPr/>
          <a:lstStyle/>
          <a:p>
            <a:fld id="{A03BBF96-A7A5-4867-9A4A-2F26A3CC4EC3}" type="slidenum">
              <a:rPr lang="en-US" smtClean="0">
                <a:solidFill>
                  <a:prstClr val="black">
                    <a:tint val="75000"/>
                  </a:prstClr>
                </a:solidFill>
              </a:rPr>
              <a:pPr/>
              <a:t>‹#›</a:t>
            </a:fld>
            <a:endParaRPr lang="en-US">
              <a:solidFill>
                <a:prstClr val="black">
                  <a:tint val="75000"/>
                </a:prstClr>
              </a:solidFill>
            </a:endParaRPr>
          </a:p>
        </p:txBody>
      </p:sp>
    </p:spTree>
    <p:extLst>
      <p:ext uri="{BB962C8B-B14F-4D97-AF65-F5344CB8AC3E}">
        <p14:creationId xmlns:p14="http://schemas.microsoft.com/office/powerpoint/2010/main" val="4010749964"/>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4349799C-F5A4-4E5B-8630-623DC9FF7C30}" type="datetime1">
              <a:rPr lang="en-US" smtClean="0">
                <a:solidFill>
                  <a:prstClr val="black">
                    <a:tint val="75000"/>
                  </a:prstClr>
                </a:solidFill>
              </a:rPr>
              <a:pPr/>
              <a:t>2/9/2026</a:t>
            </a:fld>
            <a:endParaRPr lang="en-US">
              <a:solidFill>
                <a:prstClr val="black">
                  <a:tint val="75000"/>
                </a:prstClr>
              </a:solidFill>
            </a:endParaRPr>
          </a:p>
        </p:txBody>
      </p:sp>
      <p:sp>
        <p:nvSpPr>
          <p:cNvPr id="8" name="Footer Placeholder 7"/>
          <p:cNvSpPr>
            <a:spLocks noGrp="1"/>
          </p:cNvSpPr>
          <p:nvPr>
            <p:ph type="ftr" sz="quarter" idx="11"/>
          </p:nvPr>
        </p:nvSpPr>
        <p:spPr/>
        <p:txBody>
          <a:bodyPr/>
          <a:lstStyle/>
          <a:p>
            <a:r>
              <a:rPr lang="en-US">
                <a:solidFill>
                  <a:prstClr val="black">
                    <a:tint val="75000"/>
                  </a:prstClr>
                </a:solidFill>
              </a:rPr>
              <a:t>Sibarama Panigrahi (14060001)</a:t>
            </a:r>
          </a:p>
        </p:txBody>
      </p:sp>
      <p:sp>
        <p:nvSpPr>
          <p:cNvPr id="9" name="Slide Number Placeholder 8"/>
          <p:cNvSpPr>
            <a:spLocks noGrp="1"/>
          </p:cNvSpPr>
          <p:nvPr>
            <p:ph type="sldNum" sz="quarter" idx="12"/>
          </p:nvPr>
        </p:nvSpPr>
        <p:spPr/>
        <p:txBody>
          <a:bodyPr/>
          <a:lstStyle/>
          <a:p>
            <a:fld id="{A03BBF96-A7A5-4867-9A4A-2F26A3CC4EC3}" type="slidenum">
              <a:rPr lang="en-US" smtClean="0">
                <a:solidFill>
                  <a:prstClr val="black">
                    <a:tint val="75000"/>
                  </a:prstClr>
                </a:solidFill>
              </a:rPr>
              <a:pPr/>
              <a:t>‹#›</a:t>
            </a:fld>
            <a:endParaRPr lang="en-US">
              <a:solidFill>
                <a:prstClr val="black">
                  <a:tint val="75000"/>
                </a:prstClr>
              </a:solidFill>
            </a:endParaRPr>
          </a:p>
        </p:txBody>
      </p:sp>
    </p:spTree>
    <p:extLst>
      <p:ext uri="{BB962C8B-B14F-4D97-AF65-F5344CB8AC3E}">
        <p14:creationId xmlns:p14="http://schemas.microsoft.com/office/powerpoint/2010/main" val="1341156880"/>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EF57B150-147A-432C-98B5-21C9F224D92D}" type="datetime1">
              <a:rPr lang="en-US" smtClean="0">
                <a:solidFill>
                  <a:prstClr val="black">
                    <a:tint val="75000"/>
                  </a:prstClr>
                </a:solidFill>
              </a:rPr>
              <a:pPr/>
              <a:t>2/9/2026</a:t>
            </a:fld>
            <a:endParaRPr lang="en-US">
              <a:solidFill>
                <a:prstClr val="black">
                  <a:tint val="75000"/>
                </a:prstClr>
              </a:solidFill>
            </a:endParaRPr>
          </a:p>
        </p:txBody>
      </p:sp>
      <p:sp>
        <p:nvSpPr>
          <p:cNvPr id="4" name="Footer Placeholder 3"/>
          <p:cNvSpPr>
            <a:spLocks noGrp="1"/>
          </p:cNvSpPr>
          <p:nvPr>
            <p:ph type="ftr" sz="quarter" idx="11"/>
          </p:nvPr>
        </p:nvSpPr>
        <p:spPr/>
        <p:txBody>
          <a:bodyPr/>
          <a:lstStyle/>
          <a:p>
            <a:r>
              <a:rPr lang="en-US">
                <a:solidFill>
                  <a:prstClr val="black">
                    <a:tint val="75000"/>
                  </a:prstClr>
                </a:solidFill>
              </a:rPr>
              <a:t>Sibarama Panigrahi (14060001)</a:t>
            </a:r>
          </a:p>
        </p:txBody>
      </p:sp>
      <p:sp>
        <p:nvSpPr>
          <p:cNvPr id="5" name="Slide Number Placeholder 4"/>
          <p:cNvSpPr>
            <a:spLocks noGrp="1"/>
          </p:cNvSpPr>
          <p:nvPr>
            <p:ph type="sldNum" sz="quarter" idx="12"/>
          </p:nvPr>
        </p:nvSpPr>
        <p:spPr/>
        <p:txBody>
          <a:bodyPr/>
          <a:lstStyle/>
          <a:p>
            <a:fld id="{A03BBF96-A7A5-4867-9A4A-2F26A3CC4EC3}" type="slidenum">
              <a:rPr lang="en-US" smtClean="0">
                <a:solidFill>
                  <a:prstClr val="black">
                    <a:tint val="75000"/>
                  </a:prstClr>
                </a:solidFill>
              </a:rPr>
              <a:pPr/>
              <a:t>‹#›</a:t>
            </a:fld>
            <a:endParaRPr lang="en-US">
              <a:solidFill>
                <a:prstClr val="black">
                  <a:tint val="75000"/>
                </a:prstClr>
              </a:solidFill>
            </a:endParaRPr>
          </a:p>
        </p:txBody>
      </p:sp>
    </p:spTree>
    <p:extLst>
      <p:ext uri="{BB962C8B-B14F-4D97-AF65-F5344CB8AC3E}">
        <p14:creationId xmlns:p14="http://schemas.microsoft.com/office/powerpoint/2010/main" val="3277881302"/>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491E5B76-AA36-4300-B44D-6285C79C7A43}" type="datetime1">
              <a:rPr lang="en-US" smtClean="0">
                <a:solidFill>
                  <a:prstClr val="black">
                    <a:tint val="75000"/>
                  </a:prstClr>
                </a:solidFill>
              </a:rPr>
              <a:pPr/>
              <a:t>2/9/2026</a:t>
            </a:fld>
            <a:endParaRPr lang="en-US">
              <a:solidFill>
                <a:prstClr val="black">
                  <a:tint val="75000"/>
                </a:prstClr>
              </a:solidFill>
            </a:endParaRPr>
          </a:p>
        </p:txBody>
      </p:sp>
      <p:sp>
        <p:nvSpPr>
          <p:cNvPr id="3" name="Footer Placeholder 2"/>
          <p:cNvSpPr>
            <a:spLocks noGrp="1"/>
          </p:cNvSpPr>
          <p:nvPr>
            <p:ph type="ftr" sz="quarter" idx="11"/>
          </p:nvPr>
        </p:nvSpPr>
        <p:spPr/>
        <p:txBody>
          <a:bodyPr/>
          <a:lstStyle/>
          <a:p>
            <a:r>
              <a:rPr lang="en-US">
                <a:solidFill>
                  <a:prstClr val="black">
                    <a:tint val="75000"/>
                  </a:prstClr>
                </a:solidFill>
              </a:rPr>
              <a:t>Sibarama Panigrahi (14060001)</a:t>
            </a:r>
          </a:p>
        </p:txBody>
      </p:sp>
      <p:sp>
        <p:nvSpPr>
          <p:cNvPr id="4" name="Slide Number Placeholder 3"/>
          <p:cNvSpPr>
            <a:spLocks noGrp="1"/>
          </p:cNvSpPr>
          <p:nvPr>
            <p:ph type="sldNum" sz="quarter" idx="12"/>
          </p:nvPr>
        </p:nvSpPr>
        <p:spPr/>
        <p:txBody>
          <a:bodyPr/>
          <a:lstStyle/>
          <a:p>
            <a:fld id="{A03BBF96-A7A5-4867-9A4A-2F26A3CC4EC3}" type="slidenum">
              <a:rPr lang="en-US" smtClean="0">
                <a:solidFill>
                  <a:prstClr val="black">
                    <a:tint val="75000"/>
                  </a:prstClr>
                </a:solidFill>
              </a:rPr>
              <a:pPr/>
              <a:t>‹#›</a:t>
            </a:fld>
            <a:endParaRPr lang="en-US">
              <a:solidFill>
                <a:prstClr val="black">
                  <a:tint val="75000"/>
                </a:prstClr>
              </a:solidFill>
            </a:endParaRPr>
          </a:p>
        </p:txBody>
      </p:sp>
    </p:spTree>
    <p:extLst>
      <p:ext uri="{BB962C8B-B14F-4D97-AF65-F5344CB8AC3E}">
        <p14:creationId xmlns:p14="http://schemas.microsoft.com/office/powerpoint/2010/main" val="3216064146"/>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7CDB1C88-916D-4A5B-979E-72DFFBC2920F}" type="datetime1">
              <a:rPr lang="en-US" smtClean="0">
                <a:solidFill>
                  <a:prstClr val="black">
                    <a:tint val="75000"/>
                  </a:prstClr>
                </a:solidFill>
              </a:rPr>
              <a:pPr/>
              <a:t>2/9/2026</a:t>
            </a:fld>
            <a:endParaRPr lang="en-US">
              <a:solidFill>
                <a:prstClr val="black">
                  <a:tint val="75000"/>
                </a:prstClr>
              </a:solidFill>
            </a:endParaRPr>
          </a:p>
        </p:txBody>
      </p:sp>
      <p:sp>
        <p:nvSpPr>
          <p:cNvPr id="6" name="Footer Placeholder 5"/>
          <p:cNvSpPr>
            <a:spLocks noGrp="1"/>
          </p:cNvSpPr>
          <p:nvPr>
            <p:ph type="ftr" sz="quarter" idx="11"/>
          </p:nvPr>
        </p:nvSpPr>
        <p:spPr/>
        <p:txBody>
          <a:bodyPr/>
          <a:lstStyle/>
          <a:p>
            <a:r>
              <a:rPr lang="en-US">
                <a:solidFill>
                  <a:prstClr val="black">
                    <a:tint val="75000"/>
                  </a:prstClr>
                </a:solidFill>
              </a:rPr>
              <a:t>Sibarama Panigrahi (14060001)</a:t>
            </a:r>
          </a:p>
        </p:txBody>
      </p:sp>
      <p:sp>
        <p:nvSpPr>
          <p:cNvPr id="7" name="Slide Number Placeholder 6"/>
          <p:cNvSpPr>
            <a:spLocks noGrp="1"/>
          </p:cNvSpPr>
          <p:nvPr>
            <p:ph type="sldNum" sz="quarter" idx="12"/>
          </p:nvPr>
        </p:nvSpPr>
        <p:spPr/>
        <p:txBody>
          <a:bodyPr/>
          <a:lstStyle/>
          <a:p>
            <a:fld id="{A03BBF96-A7A5-4867-9A4A-2F26A3CC4EC3}" type="slidenum">
              <a:rPr lang="en-US" smtClean="0">
                <a:solidFill>
                  <a:prstClr val="black">
                    <a:tint val="75000"/>
                  </a:prstClr>
                </a:solidFill>
              </a:rPr>
              <a:pPr/>
              <a:t>‹#›</a:t>
            </a:fld>
            <a:endParaRPr lang="en-US">
              <a:solidFill>
                <a:prstClr val="black">
                  <a:tint val="75000"/>
                </a:prstClr>
              </a:solidFill>
            </a:endParaRPr>
          </a:p>
        </p:txBody>
      </p:sp>
    </p:spTree>
    <p:extLst>
      <p:ext uri="{BB962C8B-B14F-4D97-AF65-F5344CB8AC3E}">
        <p14:creationId xmlns:p14="http://schemas.microsoft.com/office/powerpoint/2010/main" val="3453126578"/>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D904A43D-656C-462D-AD7D-E6A6493D95B7}" type="datetime1">
              <a:rPr lang="en-US" smtClean="0">
                <a:solidFill>
                  <a:prstClr val="black">
                    <a:tint val="75000"/>
                  </a:prstClr>
                </a:solidFill>
              </a:rPr>
              <a:pPr/>
              <a:t>2/9/2026</a:t>
            </a:fld>
            <a:endParaRPr lang="en-US">
              <a:solidFill>
                <a:prstClr val="black">
                  <a:tint val="75000"/>
                </a:prstClr>
              </a:solidFill>
            </a:endParaRPr>
          </a:p>
        </p:txBody>
      </p:sp>
      <p:sp>
        <p:nvSpPr>
          <p:cNvPr id="6" name="Footer Placeholder 5"/>
          <p:cNvSpPr>
            <a:spLocks noGrp="1"/>
          </p:cNvSpPr>
          <p:nvPr>
            <p:ph type="ftr" sz="quarter" idx="11"/>
          </p:nvPr>
        </p:nvSpPr>
        <p:spPr/>
        <p:txBody>
          <a:bodyPr/>
          <a:lstStyle/>
          <a:p>
            <a:r>
              <a:rPr lang="en-US">
                <a:solidFill>
                  <a:prstClr val="black">
                    <a:tint val="75000"/>
                  </a:prstClr>
                </a:solidFill>
              </a:rPr>
              <a:t>Sibarama Panigrahi (14060001)</a:t>
            </a:r>
          </a:p>
        </p:txBody>
      </p:sp>
      <p:sp>
        <p:nvSpPr>
          <p:cNvPr id="7" name="Slide Number Placeholder 6"/>
          <p:cNvSpPr>
            <a:spLocks noGrp="1"/>
          </p:cNvSpPr>
          <p:nvPr>
            <p:ph type="sldNum" sz="quarter" idx="12"/>
          </p:nvPr>
        </p:nvSpPr>
        <p:spPr/>
        <p:txBody>
          <a:bodyPr/>
          <a:lstStyle/>
          <a:p>
            <a:fld id="{A03BBF96-A7A5-4867-9A4A-2F26A3CC4EC3}" type="slidenum">
              <a:rPr lang="en-US" smtClean="0">
                <a:solidFill>
                  <a:prstClr val="black">
                    <a:tint val="75000"/>
                  </a:prstClr>
                </a:solidFill>
              </a:rPr>
              <a:pPr/>
              <a:t>‹#›</a:t>
            </a:fld>
            <a:endParaRPr lang="en-US">
              <a:solidFill>
                <a:prstClr val="black">
                  <a:tint val="75000"/>
                </a:prstClr>
              </a:solidFill>
            </a:endParaRPr>
          </a:p>
        </p:txBody>
      </p:sp>
    </p:spTree>
    <p:extLst>
      <p:ext uri="{BB962C8B-B14F-4D97-AF65-F5344CB8AC3E}">
        <p14:creationId xmlns:p14="http://schemas.microsoft.com/office/powerpoint/2010/main" val="1336093488"/>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D7F77D66-8A31-470F-A4E6-836089B21670}" type="datetime1">
              <a:rPr lang="en-US" smtClean="0">
                <a:solidFill>
                  <a:prstClr val="black">
                    <a:tint val="75000"/>
                  </a:prstClr>
                </a:solidFill>
              </a:rPr>
              <a:pPr/>
              <a:t>2/9/2026</a:t>
            </a:fld>
            <a:endParaRPr lang="en-US">
              <a:solidFill>
                <a:prstClr val="black">
                  <a:tint val="75000"/>
                </a:prstClr>
              </a:solidFill>
            </a:endParaRPr>
          </a:p>
        </p:txBody>
      </p:sp>
      <p:sp>
        <p:nvSpPr>
          <p:cNvPr id="5" name="Footer Placeholder 4"/>
          <p:cNvSpPr>
            <a:spLocks noGrp="1"/>
          </p:cNvSpPr>
          <p:nvPr>
            <p:ph type="ftr" sz="quarter" idx="11"/>
          </p:nvPr>
        </p:nvSpPr>
        <p:spPr/>
        <p:txBody>
          <a:bodyPr/>
          <a:lstStyle/>
          <a:p>
            <a:r>
              <a:rPr lang="en-US">
                <a:solidFill>
                  <a:prstClr val="black">
                    <a:tint val="75000"/>
                  </a:prstClr>
                </a:solidFill>
              </a:rPr>
              <a:t>Sibarama Panigrahi (14060001)</a:t>
            </a:r>
          </a:p>
        </p:txBody>
      </p:sp>
      <p:sp>
        <p:nvSpPr>
          <p:cNvPr id="6" name="Slide Number Placeholder 5"/>
          <p:cNvSpPr>
            <a:spLocks noGrp="1"/>
          </p:cNvSpPr>
          <p:nvPr>
            <p:ph type="sldNum" sz="quarter" idx="12"/>
          </p:nvPr>
        </p:nvSpPr>
        <p:spPr/>
        <p:txBody>
          <a:bodyPr/>
          <a:lstStyle/>
          <a:p>
            <a:fld id="{A03BBF96-A7A5-4867-9A4A-2F26A3CC4EC3}" type="slidenum">
              <a:rPr lang="en-US" smtClean="0">
                <a:solidFill>
                  <a:prstClr val="black">
                    <a:tint val="75000"/>
                  </a:prstClr>
                </a:solidFill>
              </a:rPr>
              <a:pPr/>
              <a:t>‹#›</a:t>
            </a:fld>
            <a:endParaRPr lang="en-US">
              <a:solidFill>
                <a:prstClr val="black">
                  <a:tint val="75000"/>
                </a:prstClr>
              </a:solidFill>
            </a:endParaRPr>
          </a:p>
        </p:txBody>
      </p:sp>
    </p:spTree>
    <p:extLst>
      <p:ext uri="{BB962C8B-B14F-4D97-AF65-F5344CB8AC3E}">
        <p14:creationId xmlns:p14="http://schemas.microsoft.com/office/powerpoint/2010/main" val="112308406"/>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F76D2EC9-486B-4812-8B68-F5CA9E63A95D}" type="datetime1">
              <a:rPr lang="en-US" smtClean="0">
                <a:solidFill>
                  <a:prstClr val="black">
                    <a:tint val="75000"/>
                  </a:prstClr>
                </a:solidFill>
              </a:rPr>
              <a:pPr/>
              <a:t>2/9/2026</a:t>
            </a:fld>
            <a:endParaRPr lang="en-US">
              <a:solidFill>
                <a:prstClr val="black">
                  <a:tint val="75000"/>
                </a:prstClr>
              </a:solidFill>
            </a:endParaRPr>
          </a:p>
        </p:txBody>
      </p:sp>
      <p:sp>
        <p:nvSpPr>
          <p:cNvPr id="5" name="Footer Placeholder 4"/>
          <p:cNvSpPr>
            <a:spLocks noGrp="1"/>
          </p:cNvSpPr>
          <p:nvPr>
            <p:ph type="ftr" sz="quarter" idx="11"/>
          </p:nvPr>
        </p:nvSpPr>
        <p:spPr/>
        <p:txBody>
          <a:bodyPr/>
          <a:lstStyle/>
          <a:p>
            <a:r>
              <a:rPr lang="en-US">
                <a:solidFill>
                  <a:prstClr val="black">
                    <a:tint val="75000"/>
                  </a:prstClr>
                </a:solidFill>
              </a:rPr>
              <a:t>Sibarama Panigrahi (14060001)</a:t>
            </a:r>
          </a:p>
        </p:txBody>
      </p:sp>
      <p:sp>
        <p:nvSpPr>
          <p:cNvPr id="6" name="Slide Number Placeholder 5"/>
          <p:cNvSpPr>
            <a:spLocks noGrp="1"/>
          </p:cNvSpPr>
          <p:nvPr>
            <p:ph type="sldNum" sz="quarter" idx="12"/>
          </p:nvPr>
        </p:nvSpPr>
        <p:spPr/>
        <p:txBody>
          <a:bodyPr/>
          <a:lstStyle/>
          <a:p>
            <a:fld id="{A03BBF96-A7A5-4867-9A4A-2F26A3CC4EC3}" type="slidenum">
              <a:rPr lang="en-US" smtClean="0">
                <a:solidFill>
                  <a:prstClr val="black">
                    <a:tint val="75000"/>
                  </a:prstClr>
                </a:solidFill>
              </a:rPr>
              <a:pPr/>
              <a:t>‹#›</a:t>
            </a:fld>
            <a:endParaRPr lang="en-US">
              <a:solidFill>
                <a:prstClr val="black">
                  <a:tint val="75000"/>
                </a:prstClr>
              </a:solidFill>
            </a:endParaRPr>
          </a:p>
        </p:txBody>
      </p:sp>
    </p:spTree>
    <p:extLst>
      <p:ext uri="{BB962C8B-B14F-4D97-AF65-F5344CB8AC3E}">
        <p14:creationId xmlns:p14="http://schemas.microsoft.com/office/powerpoint/2010/main" val="2135122495"/>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19.xml"/><Relationship Id="rId3" Type="http://schemas.openxmlformats.org/officeDocument/2006/relationships/slideLayout" Target="../slideLayouts/slideLayout14.xml"/><Relationship Id="rId7" Type="http://schemas.openxmlformats.org/officeDocument/2006/relationships/slideLayout" Target="../slideLayouts/slideLayout18.xml"/><Relationship Id="rId12" Type="http://schemas.openxmlformats.org/officeDocument/2006/relationships/theme" Target="../theme/theme2.xml"/><Relationship Id="rId2" Type="http://schemas.openxmlformats.org/officeDocument/2006/relationships/slideLayout" Target="../slideLayouts/slideLayout13.xml"/><Relationship Id="rId1" Type="http://schemas.openxmlformats.org/officeDocument/2006/relationships/slideLayout" Target="../slideLayouts/slideLayout12.xml"/><Relationship Id="rId6" Type="http://schemas.openxmlformats.org/officeDocument/2006/relationships/slideLayout" Target="../slideLayouts/slideLayout17.xml"/><Relationship Id="rId11" Type="http://schemas.openxmlformats.org/officeDocument/2006/relationships/slideLayout" Target="../slideLayouts/slideLayout22.xml"/><Relationship Id="rId5" Type="http://schemas.openxmlformats.org/officeDocument/2006/relationships/slideLayout" Target="../slideLayouts/slideLayout16.xml"/><Relationship Id="rId10" Type="http://schemas.openxmlformats.org/officeDocument/2006/relationships/slideLayout" Target="../slideLayouts/slideLayout21.xml"/><Relationship Id="rId4" Type="http://schemas.openxmlformats.org/officeDocument/2006/relationships/slideLayout" Target="../slideLayouts/slideLayout15.xml"/><Relationship Id="rId9" Type="http://schemas.openxmlformats.org/officeDocument/2006/relationships/slideLayout" Target="../slideLayouts/slideLayout20.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dirty="0"/>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3EA26D2-F621-4592-8E48-717E2985FB13}" type="datetime1">
              <a:rPr lang="en-US" smtClean="0"/>
              <a:pPr/>
              <a:t>2/9/2026</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r>
              <a:rPr lang="en-US"/>
              <a:t>Sibarama Panigrahi (14060001)</a:t>
            </a:r>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A03BBF96-A7A5-4867-9A4A-2F26A3CC4EC3}" type="slidenum">
              <a:rPr lang="en-US" smtClean="0"/>
              <a:pPr/>
              <a:t>‹#›</a:t>
            </a:fld>
            <a:endParaRPr lang="en-US"/>
          </a:p>
        </p:txBody>
      </p:sp>
    </p:spTree>
    <p:extLst>
      <p:ext uri="{BB962C8B-B14F-4D97-AF65-F5344CB8AC3E}">
        <p14:creationId xmlns:p14="http://schemas.microsoft.com/office/powerpoint/2010/main" val="2614334698"/>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hdr="0"/>
  <p:txStyles>
    <p:titleStyle>
      <a:lvl1pPr algn="ctr" defTabSz="914400" rtl="0" eaLnBrk="1" latinLnBrk="0" hangingPunct="1">
        <a:spcBef>
          <a:spcPct val="0"/>
        </a:spcBef>
        <a:buNone/>
        <a:defRPr sz="3200" kern="1200">
          <a:solidFill>
            <a:schemeClr val="tx1"/>
          </a:solidFill>
          <a:latin typeface="Times New Roman" pitchFamily="18" charset="0"/>
          <a:ea typeface="+mj-ea"/>
          <a:cs typeface="Times New Roman" pitchFamily="18" charset="0"/>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Times New Roman" pitchFamily="18" charset="0"/>
          <a:ea typeface="+mn-ea"/>
          <a:cs typeface="Times New Roman" pitchFamily="18" charset="0"/>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Times New Roman" pitchFamily="18" charset="0"/>
          <a:ea typeface="+mn-ea"/>
          <a:cs typeface="Times New Roman" pitchFamily="18" charset="0"/>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Times New Roman" pitchFamily="18" charset="0"/>
          <a:ea typeface="+mn-ea"/>
          <a:cs typeface="Times New Roman" pitchFamily="18" charset="0"/>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Times New Roman" pitchFamily="18" charset="0"/>
          <a:ea typeface="+mn-ea"/>
          <a:cs typeface="Times New Roman" pitchFamily="18" charset="0"/>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Times New Roman" pitchFamily="18" charset="0"/>
          <a:ea typeface="+mn-ea"/>
          <a:cs typeface="Times New Roman" pitchFamily="18" charset="0"/>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dirty="0"/>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3EA26D2-F621-4592-8E48-717E2985FB13}" type="datetime1">
              <a:rPr lang="en-US" smtClean="0">
                <a:solidFill>
                  <a:prstClr val="black">
                    <a:tint val="75000"/>
                  </a:prstClr>
                </a:solidFill>
              </a:rPr>
              <a:pPr/>
              <a:t>2/9/2026</a:t>
            </a:fld>
            <a:endParaRPr lang="en-US">
              <a:solidFill>
                <a:prstClr val="black">
                  <a:tint val="75000"/>
                </a:prstClr>
              </a:solidFill>
            </a:endParaRPr>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r>
              <a:rPr lang="en-US">
                <a:solidFill>
                  <a:prstClr val="black">
                    <a:tint val="75000"/>
                  </a:prstClr>
                </a:solidFill>
              </a:rPr>
              <a:t>Sibarama Panigrahi (14060001)</a:t>
            </a:r>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A03BBF96-A7A5-4867-9A4A-2F26A3CC4EC3}" type="slidenum">
              <a:rPr lang="en-US" smtClean="0">
                <a:solidFill>
                  <a:prstClr val="black">
                    <a:tint val="75000"/>
                  </a:prstClr>
                </a:solidFill>
              </a:rPr>
              <a:pPr/>
              <a:t>‹#›</a:t>
            </a:fld>
            <a:endParaRPr lang="en-US">
              <a:solidFill>
                <a:prstClr val="black">
                  <a:tint val="75000"/>
                </a:prstClr>
              </a:solidFill>
            </a:endParaRPr>
          </a:p>
        </p:txBody>
      </p:sp>
    </p:spTree>
    <p:extLst>
      <p:ext uri="{BB962C8B-B14F-4D97-AF65-F5344CB8AC3E}">
        <p14:creationId xmlns:p14="http://schemas.microsoft.com/office/powerpoint/2010/main" val="1463264401"/>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Lst>
  <p:hf hdr="0"/>
  <p:txStyles>
    <p:titleStyle>
      <a:lvl1pPr algn="ctr" defTabSz="914400" rtl="0" eaLnBrk="1" latinLnBrk="0" hangingPunct="1">
        <a:spcBef>
          <a:spcPct val="0"/>
        </a:spcBef>
        <a:buNone/>
        <a:defRPr sz="3200" kern="1200">
          <a:solidFill>
            <a:schemeClr val="tx1"/>
          </a:solidFill>
          <a:latin typeface="Times New Roman" pitchFamily="18" charset="0"/>
          <a:ea typeface="+mj-ea"/>
          <a:cs typeface="Times New Roman" pitchFamily="18" charset="0"/>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Times New Roman" pitchFamily="18" charset="0"/>
          <a:ea typeface="+mn-ea"/>
          <a:cs typeface="Times New Roman" pitchFamily="18" charset="0"/>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Times New Roman" pitchFamily="18" charset="0"/>
          <a:ea typeface="+mn-ea"/>
          <a:cs typeface="Times New Roman" pitchFamily="18" charset="0"/>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Times New Roman" pitchFamily="18" charset="0"/>
          <a:ea typeface="+mn-ea"/>
          <a:cs typeface="Times New Roman" pitchFamily="18" charset="0"/>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Times New Roman" pitchFamily="18" charset="0"/>
          <a:ea typeface="+mn-ea"/>
          <a:cs typeface="Times New Roman" pitchFamily="18" charset="0"/>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Times New Roman" pitchFamily="18" charset="0"/>
          <a:ea typeface="+mn-ea"/>
          <a:cs typeface="Times New Roman" pitchFamily="18" charset="0"/>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12.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510.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7.png"/><Relationship Id="rId1" Type="http://schemas.openxmlformats.org/officeDocument/2006/relationships/slideLayout" Target="../slideLayouts/slideLayout2.xml"/><Relationship Id="rId4" Type="http://schemas.openxmlformats.org/officeDocument/2006/relationships/image" Target="../media/image9.png"/></Relationships>
</file>

<file path=ppt/slides/_rels/slide10.xml.rels><?xml version="1.0" encoding="UTF-8" standalone="yes"?>
<Relationships xmlns="http://schemas.openxmlformats.org/package/2006/relationships"><Relationship Id="rId3" Type="http://schemas.openxmlformats.org/officeDocument/2006/relationships/chart" Target="../charts/chart1.xml"/><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3" Type="http://schemas.openxmlformats.org/officeDocument/2006/relationships/chart" Target="../charts/chart2.xml"/><Relationship Id="rId2" Type="http://schemas.openxmlformats.org/officeDocument/2006/relationships/image" Target="../media/image10.pn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3" Type="http://schemas.openxmlformats.org/officeDocument/2006/relationships/chart" Target="../charts/chart3.xml"/><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5.xml"/><Relationship Id="rId1" Type="http://schemas.openxmlformats.org/officeDocument/2006/relationships/slideLayout" Target="../slideLayouts/slideLayout2.xml"/><Relationship Id="rId4" Type="http://schemas.openxmlformats.org/officeDocument/2006/relationships/image" Target="../media/image11.png"/></Relationships>
</file>

<file path=ppt/slides/_rels/slide14.xml.rels><?xml version="1.0" encoding="UTF-8" standalone="yes"?>
<Relationships xmlns="http://schemas.openxmlformats.org/package/2006/relationships"><Relationship Id="rId2" Type="http://schemas.openxmlformats.org/officeDocument/2006/relationships/chart" Target="../charts/chart4.xml"/><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8" Type="http://schemas.openxmlformats.org/officeDocument/2006/relationships/image" Target="../media/image12.png"/><Relationship Id="rId3" Type="http://schemas.openxmlformats.org/officeDocument/2006/relationships/image" Target="../media/image810.png"/><Relationship Id="rId7" Type="http://schemas.openxmlformats.org/officeDocument/2006/relationships/image" Target="../media/image12.emf"/><Relationship Id="rId2" Type="http://schemas.openxmlformats.org/officeDocument/2006/relationships/image" Target="../media/image710.png"/><Relationship Id="rId1" Type="http://schemas.openxmlformats.org/officeDocument/2006/relationships/slideLayout" Target="../slideLayouts/slideLayout2.xml"/><Relationship Id="rId6" Type="http://schemas.openxmlformats.org/officeDocument/2006/relationships/image" Target="../media/image100.png"/><Relationship Id="rId5" Type="http://schemas.openxmlformats.org/officeDocument/2006/relationships/image" Target="../media/image92.png"/><Relationship Id="rId4" Type="http://schemas.openxmlformats.org/officeDocument/2006/relationships/chart" Target="../charts/chart5.xml"/><Relationship Id="rId9" Type="http://schemas.openxmlformats.org/officeDocument/2006/relationships/image" Target="../media/image13.png"/></Relationships>
</file>

<file path=ppt/slides/_rels/slide16.xml.rels><?xml version="1.0" encoding="UTF-8" standalone="yes"?>
<Relationships xmlns="http://schemas.openxmlformats.org/package/2006/relationships"><Relationship Id="rId3" Type="http://schemas.openxmlformats.org/officeDocument/2006/relationships/chart" Target="../charts/chart6.xml"/><Relationship Id="rId7" Type="http://schemas.openxmlformats.org/officeDocument/2006/relationships/image" Target="../media/image17.png"/><Relationship Id="rId2" Type="http://schemas.openxmlformats.org/officeDocument/2006/relationships/image" Target="../media/image14.png"/><Relationship Id="rId1" Type="http://schemas.openxmlformats.org/officeDocument/2006/relationships/slideLayout" Target="../slideLayouts/slideLayout2.xml"/><Relationship Id="rId6" Type="http://schemas.openxmlformats.org/officeDocument/2006/relationships/image" Target="../media/image16.png"/><Relationship Id="rId5" Type="http://schemas.openxmlformats.org/officeDocument/2006/relationships/image" Target="../media/image15.png"/><Relationship Id="rId4" Type="http://schemas.openxmlformats.org/officeDocument/2006/relationships/image" Target="../media/image92.png"/></Relationships>
</file>

<file path=ppt/slides/_rels/slide17.xml.rels><?xml version="1.0" encoding="UTF-8" standalone="yes"?>
<Relationships xmlns="http://schemas.openxmlformats.org/package/2006/relationships"><Relationship Id="rId3" Type="http://schemas.openxmlformats.org/officeDocument/2006/relationships/chart" Target="../charts/chart7.xml"/><Relationship Id="rId7" Type="http://schemas.openxmlformats.org/officeDocument/2006/relationships/image" Target="../media/image19.png"/><Relationship Id="rId2" Type="http://schemas.openxmlformats.org/officeDocument/2006/relationships/image" Target="../media/image18.png"/><Relationship Id="rId1" Type="http://schemas.openxmlformats.org/officeDocument/2006/relationships/slideLayout" Target="../slideLayouts/slideLayout2.xml"/><Relationship Id="rId6" Type="http://schemas.openxmlformats.org/officeDocument/2006/relationships/image" Target="../media/image17.png"/><Relationship Id="rId5" Type="http://schemas.openxmlformats.org/officeDocument/2006/relationships/image" Target="../media/image15.png"/><Relationship Id="rId4" Type="http://schemas.openxmlformats.org/officeDocument/2006/relationships/image" Target="../media/image92.png"/></Relationships>
</file>

<file path=ppt/slides/_rels/slide18.xml.rels><?xml version="1.0" encoding="UTF-8" standalone="yes"?>
<Relationships xmlns="http://schemas.openxmlformats.org/package/2006/relationships"><Relationship Id="rId3" Type="http://schemas.openxmlformats.org/officeDocument/2006/relationships/chart" Target="../charts/chart8.xml"/><Relationship Id="rId7" Type="http://schemas.openxmlformats.org/officeDocument/2006/relationships/image" Target="../media/image19.png"/><Relationship Id="rId2" Type="http://schemas.openxmlformats.org/officeDocument/2006/relationships/image" Target="../media/image20.png"/><Relationship Id="rId1" Type="http://schemas.openxmlformats.org/officeDocument/2006/relationships/slideLayout" Target="../slideLayouts/slideLayout2.xml"/><Relationship Id="rId6" Type="http://schemas.openxmlformats.org/officeDocument/2006/relationships/image" Target="../media/image22.png"/><Relationship Id="rId5" Type="http://schemas.openxmlformats.org/officeDocument/2006/relationships/image" Target="../media/image21.png"/><Relationship Id="rId4" Type="http://schemas.openxmlformats.org/officeDocument/2006/relationships/image" Target="../media/image92.png"/></Relationships>
</file>

<file path=ppt/slides/_rels/slide19.xml.rels><?xml version="1.0" encoding="UTF-8" standalone="yes"?>
<Relationships xmlns="http://schemas.openxmlformats.org/package/2006/relationships"><Relationship Id="rId3" Type="http://schemas.openxmlformats.org/officeDocument/2006/relationships/chart" Target="../charts/chart9.xml"/><Relationship Id="rId2" Type="http://schemas.openxmlformats.org/officeDocument/2006/relationships/image" Target="../media/image23.png"/><Relationship Id="rId1" Type="http://schemas.openxmlformats.org/officeDocument/2006/relationships/slideLayout" Target="../slideLayouts/slideLayout2.xml"/><Relationship Id="rId6" Type="http://schemas.openxmlformats.org/officeDocument/2006/relationships/image" Target="../media/image19.png"/><Relationship Id="rId5" Type="http://schemas.openxmlformats.org/officeDocument/2006/relationships/image" Target="../media/image21.png"/><Relationship Id="rId4" Type="http://schemas.openxmlformats.org/officeDocument/2006/relationships/image" Target="../media/image92.png"/></Relationships>
</file>

<file path=ppt/slides/_rels/slide20.xml.rels><?xml version="1.0" encoding="UTF-8" standalone="yes"?>
<Relationships xmlns="http://schemas.openxmlformats.org/package/2006/relationships"><Relationship Id="rId3" Type="http://schemas.openxmlformats.org/officeDocument/2006/relationships/chart" Target="../charts/chart10.xml"/><Relationship Id="rId7" Type="http://schemas.openxmlformats.org/officeDocument/2006/relationships/image" Target="../media/image24.png"/><Relationship Id="rId2" Type="http://schemas.openxmlformats.org/officeDocument/2006/relationships/image" Target="../media/image23.png"/><Relationship Id="rId1" Type="http://schemas.openxmlformats.org/officeDocument/2006/relationships/slideLayout" Target="../slideLayouts/slideLayout2.xml"/><Relationship Id="rId6" Type="http://schemas.openxmlformats.org/officeDocument/2006/relationships/image" Target="../media/image19.png"/><Relationship Id="rId5" Type="http://schemas.openxmlformats.org/officeDocument/2006/relationships/image" Target="../media/image21.png"/><Relationship Id="rId4" Type="http://schemas.openxmlformats.org/officeDocument/2006/relationships/image" Target="../media/image92.png"/></Relationships>
</file>

<file path=ppt/slides/_rels/slide21.xml.rels><?xml version="1.0" encoding="UTF-8" standalone="yes"?>
<Relationships xmlns="http://schemas.openxmlformats.org/package/2006/relationships"><Relationship Id="rId2" Type="http://schemas.openxmlformats.org/officeDocument/2006/relationships/image" Target="../media/image25.png"/><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3" Type="http://schemas.openxmlformats.org/officeDocument/2006/relationships/image" Target="../media/image92.png"/><Relationship Id="rId2" Type="http://schemas.openxmlformats.org/officeDocument/2006/relationships/chart" Target="../charts/chart11.xml"/><Relationship Id="rId1" Type="http://schemas.openxmlformats.org/officeDocument/2006/relationships/slideLayout" Target="../slideLayouts/slideLayout2.xml"/><Relationship Id="rId4" Type="http://schemas.openxmlformats.org/officeDocument/2006/relationships/image" Target="../media/image21.png"/></Relationships>
</file>

<file path=ppt/slides/_rels/slide23.xml.rels><?xml version="1.0" encoding="UTF-8" standalone="yes"?>
<Relationships xmlns="http://schemas.openxmlformats.org/package/2006/relationships"><Relationship Id="rId3" Type="http://schemas.openxmlformats.org/officeDocument/2006/relationships/image" Target="../media/image92.png"/><Relationship Id="rId2" Type="http://schemas.openxmlformats.org/officeDocument/2006/relationships/chart" Target="../charts/chart12.xml"/><Relationship Id="rId1" Type="http://schemas.openxmlformats.org/officeDocument/2006/relationships/slideLayout" Target="../slideLayouts/slideLayout2.xml"/><Relationship Id="rId4" Type="http://schemas.openxmlformats.org/officeDocument/2006/relationships/image" Target="../media/image21.png"/></Relationships>
</file>

<file path=ppt/slides/_rels/slide24.xml.rels><?xml version="1.0" encoding="UTF-8" standalone="yes"?>
<Relationships xmlns="http://schemas.openxmlformats.org/package/2006/relationships"><Relationship Id="rId3" Type="http://schemas.openxmlformats.org/officeDocument/2006/relationships/image" Target="../media/image92.png"/><Relationship Id="rId2" Type="http://schemas.openxmlformats.org/officeDocument/2006/relationships/chart" Target="../charts/chart13.xml"/><Relationship Id="rId1" Type="http://schemas.openxmlformats.org/officeDocument/2006/relationships/slideLayout" Target="../slideLayouts/slideLayout2.xml"/><Relationship Id="rId4" Type="http://schemas.openxmlformats.org/officeDocument/2006/relationships/image" Target="../media/image21.png"/></Relationships>
</file>

<file path=ppt/slides/_rels/slide25.xml.rels><?xml version="1.0" encoding="UTF-8" standalone="yes"?>
<Relationships xmlns="http://schemas.openxmlformats.org/package/2006/relationships"><Relationship Id="rId3" Type="http://schemas.openxmlformats.org/officeDocument/2006/relationships/image" Target="../media/image92.png"/><Relationship Id="rId2" Type="http://schemas.openxmlformats.org/officeDocument/2006/relationships/chart" Target="../charts/chart14.xml"/><Relationship Id="rId1" Type="http://schemas.openxmlformats.org/officeDocument/2006/relationships/slideLayout" Target="../slideLayouts/slideLayout2.xml"/><Relationship Id="rId4" Type="http://schemas.openxmlformats.org/officeDocument/2006/relationships/image" Target="../media/image21.png"/></Relationships>
</file>

<file path=ppt/slides/_rels/slide26.xml.rels><?xml version="1.0" encoding="UTF-8" standalone="yes"?>
<Relationships xmlns="http://schemas.openxmlformats.org/package/2006/relationships"><Relationship Id="rId3" Type="http://schemas.openxmlformats.org/officeDocument/2006/relationships/image" Target="../media/image27.png"/><Relationship Id="rId2" Type="http://schemas.openxmlformats.org/officeDocument/2006/relationships/image" Target="../media/image26.png"/><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3" Type="http://schemas.openxmlformats.org/officeDocument/2006/relationships/image" Target="../media/image29.png"/><Relationship Id="rId2" Type="http://schemas.openxmlformats.org/officeDocument/2006/relationships/image" Target="../media/image28.png"/><Relationship Id="rId1" Type="http://schemas.openxmlformats.org/officeDocument/2006/relationships/slideLayout" Target="../slideLayouts/slideLayout2.xml"/><Relationship Id="rId4" Type="http://schemas.openxmlformats.org/officeDocument/2006/relationships/image" Target="../media/image30.png"/></Relationships>
</file>

<file path=ppt/slides/_rels/slide28.xml.rels><?xml version="1.0" encoding="UTF-8" standalone="yes"?>
<Relationships xmlns="http://schemas.openxmlformats.org/package/2006/relationships"><Relationship Id="rId2" Type="http://schemas.openxmlformats.org/officeDocument/2006/relationships/image" Target="../media/image31.png"/><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3" Type="http://schemas.openxmlformats.org/officeDocument/2006/relationships/image" Target="../media/image33.png"/><Relationship Id="rId2" Type="http://schemas.openxmlformats.org/officeDocument/2006/relationships/image" Target="../media/image32.png"/><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2" Type="http://schemas.openxmlformats.org/officeDocument/2006/relationships/image" Target="../media/image34.jpeg"/><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3" Type="http://schemas.openxmlformats.org/officeDocument/2006/relationships/image" Target="../media/image36.jpeg"/><Relationship Id="rId2" Type="http://schemas.openxmlformats.org/officeDocument/2006/relationships/image" Target="../media/image35.jpeg"/><Relationship Id="rId1" Type="http://schemas.openxmlformats.org/officeDocument/2006/relationships/slideLayout" Target="../slideLayouts/slideLayout2.xml"/><Relationship Id="rId4" Type="http://schemas.openxmlformats.org/officeDocument/2006/relationships/image" Target="../media/image37.png"/></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2" Type="http://schemas.openxmlformats.org/officeDocument/2006/relationships/image" Target="../media/image38.png"/><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3" Type="http://schemas.openxmlformats.org/officeDocument/2006/relationships/image" Target="../media/image40.png"/><Relationship Id="rId2" Type="http://schemas.openxmlformats.org/officeDocument/2006/relationships/image" Target="../media/image39.png"/><Relationship Id="rId1" Type="http://schemas.openxmlformats.org/officeDocument/2006/relationships/slideLayout" Target="../slideLayouts/slideLayout2.xml"/><Relationship Id="rId4" Type="http://schemas.openxmlformats.org/officeDocument/2006/relationships/image" Target="../media/image41.png"/></Relationships>
</file>

<file path=ppt/slides/_rels/slide39.xml.rels><?xml version="1.0" encoding="UTF-8" standalone="yes"?>
<Relationships xmlns="http://schemas.openxmlformats.org/package/2006/relationships"><Relationship Id="rId2" Type="http://schemas.openxmlformats.org/officeDocument/2006/relationships/image" Target="../media/image430.png"/><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3" Type="http://schemas.openxmlformats.org/officeDocument/2006/relationships/image" Target="../media/image43.png"/><Relationship Id="rId2" Type="http://schemas.openxmlformats.org/officeDocument/2006/relationships/image" Target="../media/image42.png"/><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3" Type="http://schemas.openxmlformats.org/officeDocument/2006/relationships/image" Target="../media/image45.png"/><Relationship Id="rId2" Type="http://schemas.openxmlformats.org/officeDocument/2006/relationships/image" Target="../media/image44.png"/><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3" Type="http://schemas.openxmlformats.org/officeDocument/2006/relationships/image" Target="../media/image46.png"/><Relationship Id="rId2" Type="http://schemas.openxmlformats.org/officeDocument/2006/relationships/image" Target="../media/image48.png"/><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3" Type="http://schemas.openxmlformats.org/officeDocument/2006/relationships/image" Target="../media/image49.png"/><Relationship Id="rId2" Type="http://schemas.openxmlformats.org/officeDocument/2006/relationships/image" Target="../media/image47.png"/><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3" Type="http://schemas.openxmlformats.org/officeDocument/2006/relationships/image" Target="../media/image50.png"/><Relationship Id="rId2" Type="http://schemas.openxmlformats.org/officeDocument/2006/relationships/notesSlide" Target="../notesSlides/notesSlide6.xml"/><Relationship Id="rId1" Type="http://schemas.openxmlformats.org/officeDocument/2006/relationships/slideLayout" Target="../slideLayouts/slideLayout2.xml"/><Relationship Id="rId4" Type="http://schemas.openxmlformats.org/officeDocument/2006/relationships/image" Target="../media/image51.png"/></Relationships>
</file>

<file path=ppt/slides/_rels/slide47.xml.rels><?xml version="1.0" encoding="UTF-8" standalone="yes"?>
<Relationships xmlns="http://schemas.openxmlformats.org/package/2006/relationships"><Relationship Id="rId8" Type="http://schemas.openxmlformats.org/officeDocument/2006/relationships/diagramLayout" Target="../diagrams/layout2.xml"/><Relationship Id="rId3" Type="http://schemas.openxmlformats.org/officeDocument/2006/relationships/diagramLayout" Target="../diagrams/layout1.xml"/><Relationship Id="rId7" Type="http://schemas.openxmlformats.org/officeDocument/2006/relationships/diagramData" Target="../diagrams/data2.xml"/><Relationship Id="rId2" Type="http://schemas.openxmlformats.org/officeDocument/2006/relationships/diagramData" Target="../diagrams/data1.xml"/><Relationship Id="rId1" Type="http://schemas.openxmlformats.org/officeDocument/2006/relationships/slideLayout" Target="../slideLayouts/slideLayout2.xml"/><Relationship Id="rId6" Type="http://schemas.microsoft.com/office/2007/relationships/diagramDrawing" Target="../diagrams/drawing1.xml"/><Relationship Id="rId11" Type="http://schemas.microsoft.com/office/2007/relationships/diagramDrawing" Target="../diagrams/drawing2.xml"/><Relationship Id="rId5" Type="http://schemas.openxmlformats.org/officeDocument/2006/relationships/diagramColors" Target="../diagrams/colors1.xml"/><Relationship Id="rId10" Type="http://schemas.openxmlformats.org/officeDocument/2006/relationships/diagramColors" Target="../diagrams/colors2.xml"/><Relationship Id="rId4" Type="http://schemas.openxmlformats.org/officeDocument/2006/relationships/diagramQuickStyle" Target="../diagrams/quickStyle1.xml"/><Relationship Id="rId9" Type="http://schemas.openxmlformats.org/officeDocument/2006/relationships/diagramQuickStyle" Target="../diagrams/quickStyle2.xml"/></Relationships>
</file>

<file path=ppt/slides/_rels/slide48.xml.rels><?xml version="1.0" encoding="UTF-8" standalone="yes"?>
<Relationships xmlns="http://schemas.openxmlformats.org/package/2006/relationships"><Relationship Id="rId2" Type="http://schemas.openxmlformats.org/officeDocument/2006/relationships/image" Target="../media/image52.png"/><Relationship Id="rId1" Type="http://schemas.openxmlformats.org/officeDocument/2006/relationships/slideLayout" Target="../slideLayouts/slideLayout2.xml"/></Relationships>
</file>

<file path=ppt/slides/_rels/slide49.xml.rels><?xml version="1.0" encoding="UTF-8" standalone="yes"?>
<Relationships xmlns="http://schemas.openxmlformats.org/package/2006/relationships"><Relationship Id="rId2" Type="http://schemas.openxmlformats.org/officeDocument/2006/relationships/image" Target="../media/image52.png"/><Relationship Id="rId1" Type="http://schemas.openxmlformats.org/officeDocument/2006/relationships/slideLayout" Target="../slideLayouts/slideLayout2.xml"/></Relationships>
</file>

<file path=ppt/slides/_rels/slide50.xml.rels><?xml version="1.0" encoding="UTF-8" standalone="yes"?>
<Relationships xmlns="http://schemas.openxmlformats.org/package/2006/relationships"><Relationship Id="rId3" Type="http://schemas.openxmlformats.org/officeDocument/2006/relationships/image" Target="../media/image54.png"/><Relationship Id="rId2" Type="http://schemas.openxmlformats.org/officeDocument/2006/relationships/image" Target="../media/image53.png"/><Relationship Id="rId1" Type="http://schemas.openxmlformats.org/officeDocument/2006/relationships/slideLayout" Target="../slideLayouts/slideLayout2.xml"/><Relationship Id="rId6" Type="http://schemas.openxmlformats.org/officeDocument/2006/relationships/image" Target="../media/image57.png"/><Relationship Id="rId5" Type="http://schemas.openxmlformats.org/officeDocument/2006/relationships/image" Target="../media/image56.png"/><Relationship Id="rId4" Type="http://schemas.openxmlformats.org/officeDocument/2006/relationships/image" Target="../media/image55.png"/></Relationships>
</file>

<file path=ppt/slides/_rels/slide51.xml.rels><?xml version="1.0" encoding="UTF-8" standalone="yes"?>
<Relationships xmlns="http://schemas.openxmlformats.org/package/2006/relationships"><Relationship Id="rId2" Type="http://schemas.openxmlformats.org/officeDocument/2006/relationships/image" Target="../media/image58.png"/><Relationship Id="rId1" Type="http://schemas.openxmlformats.org/officeDocument/2006/relationships/slideLayout" Target="../slideLayouts/slideLayout2.xml"/></Relationships>
</file>

<file path=ppt/slides/_rels/slide52.xml.rels><?xml version="1.0" encoding="UTF-8" standalone="yes"?>
<Relationships xmlns="http://schemas.openxmlformats.org/package/2006/relationships"><Relationship Id="rId3" Type="http://schemas.openxmlformats.org/officeDocument/2006/relationships/image" Target="../media/image62.png"/><Relationship Id="rId2" Type="http://schemas.openxmlformats.org/officeDocument/2006/relationships/image" Target="../media/image61.png"/><Relationship Id="rId1" Type="http://schemas.openxmlformats.org/officeDocument/2006/relationships/slideLayout" Target="../slideLayouts/slideLayout2.xml"/><Relationship Id="rId6" Type="http://schemas.openxmlformats.org/officeDocument/2006/relationships/image" Target="../media/image65.png"/><Relationship Id="rId5" Type="http://schemas.openxmlformats.org/officeDocument/2006/relationships/image" Target="../media/image64.png"/><Relationship Id="rId4" Type="http://schemas.openxmlformats.org/officeDocument/2006/relationships/image" Target="../media/image63.png"/></Relationships>
</file>

<file path=ppt/slides/_rels/slide53.xml.rels><?xml version="1.0" encoding="UTF-8" standalone="yes"?>
<Relationships xmlns="http://schemas.openxmlformats.org/package/2006/relationships"><Relationship Id="rId2" Type="http://schemas.openxmlformats.org/officeDocument/2006/relationships/hyperlink" Target="https://arxiv.org/pdf/1502.03167v3.pdf" TargetMode="External"/><Relationship Id="rId1" Type="http://schemas.openxmlformats.org/officeDocument/2006/relationships/slideLayout" Target="../slideLayouts/slideLayout2.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5.xml.rels><?xml version="1.0" encoding="UTF-8" standalone="yes"?>
<Relationships xmlns="http://schemas.openxmlformats.org/package/2006/relationships"><Relationship Id="rId3" Type="http://schemas.openxmlformats.org/officeDocument/2006/relationships/image" Target="../media/image60.png"/><Relationship Id="rId2" Type="http://schemas.openxmlformats.org/officeDocument/2006/relationships/image" Target="../media/image59.png"/><Relationship Id="rId1" Type="http://schemas.openxmlformats.org/officeDocument/2006/relationships/slideLayout" Target="../slideLayouts/slideLayout2.xml"/><Relationship Id="rId4" Type="http://schemas.openxmlformats.org/officeDocument/2006/relationships/image" Target="../media/image66.png"/></Relationships>
</file>

<file path=ppt/slides/_rels/slide56.xml.rels><?xml version="1.0" encoding="UTF-8" standalone="yes"?>
<Relationships xmlns="http://schemas.openxmlformats.org/package/2006/relationships"><Relationship Id="rId3" Type="http://schemas.openxmlformats.org/officeDocument/2006/relationships/image" Target="../media/image70.png"/><Relationship Id="rId7" Type="http://schemas.openxmlformats.org/officeDocument/2006/relationships/image" Target="../media/image74.png"/><Relationship Id="rId2" Type="http://schemas.openxmlformats.org/officeDocument/2006/relationships/image" Target="../media/image69.png"/><Relationship Id="rId1" Type="http://schemas.openxmlformats.org/officeDocument/2006/relationships/slideLayout" Target="../slideLayouts/slideLayout2.xml"/><Relationship Id="rId6" Type="http://schemas.openxmlformats.org/officeDocument/2006/relationships/image" Target="../media/image73.png"/><Relationship Id="rId5" Type="http://schemas.openxmlformats.org/officeDocument/2006/relationships/image" Target="../media/image72.png"/><Relationship Id="rId4" Type="http://schemas.openxmlformats.org/officeDocument/2006/relationships/image" Target="../media/image71.png"/></Relationships>
</file>

<file path=ppt/slides/_rels/slide57.xml.rels><?xml version="1.0" encoding="UTF-8" standalone="yes"?>
<Relationships xmlns="http://schemas.openxmlformats.org/package/2006/relationships"><Relationship Id="rId8" Type="http://schemas.openxmlformats.org/officeDocument/2006/relationships/image" Target="../media/image76.png"/><Relationship Id="rId3" Type="http://schemas.openxmlformats.org/officeDocument/2006/relationships/image" Target="../media/image75.png"/><Relationship Id="rId7" Type="http://schemas.openxmlformats.org/officeDocument/2006/relationships/image" Target="../media/image73.png"/><Relationship Id="rId2" Type="http://schemas.openxmlformats.org/officeDocument/2006/relationships/notesSlide" Target="../notesSlides/notesSlide7.xml"/><Relationship Id="rId1" Type="http://schemas.openxmlformats.org/officeDocument/2006/relationships/slideLayout" Target="../slideLayouts/slideLayout2.xml"/><Relationship Id="rId6" Type="http://schemas.openxmlformats.org/officeDocument/2006/relationships/image" Target="../media/image72.png"/><Relationship Id="rId5" Type="http://schemas.openxmlformats.org/officeDocument/2006/relationships/image" Target="../media/image71.png"/><Relationship Id="rId4" Type="http://schemas.openxmlformats.org/officeDocument/2006/relationships/image" Target="../media/image70.png"/></Relationships>
</file>

<file path=ppt/slides/_rels/slide58.xml.rels><?xml version="1.0" encoding="UTF-8" standalone="yes"?>
<Relationships xmlns="http://schemas.openxmlformats.org/package/2006/relationships"><Relationship Id="rId3" Type="http://schemas.openxmlformats.org/officeDocument/2006/relationships/image" Target="../media/image70.png"/><Relationship Id="rId7" Type="http://schemas.openxmlformats.org/officeDocument/2006/relationships/image" Target="../media/image78.png"/><Relationship Id="rId2" Type="http://schemas.openxmlformats.org/officeDocument/2006/relationships/image" Target="../media/image77.png"/><Relationship Id="rId1" Type="http://schemas.openxmlformats.org/officeDocument/2006/relationships/slideLayout" Target="../slideLayouts/slideLayout2.xml"/><Relationship Id="rId6" Type="http://schemas.openxmlformats.org/officeDocument/2006/relationships/image" Target="../media/image73.png"/><Relationship Id="rId5" Type="http://schemas.openxmlformats.org/officeDocument/2006/relationships/image" Target="../media/image72.png"/><Relationship Id="rId4" Type="http://schemas.openxmlformats.org/officeDocument/2006/relationships/image" Target="../media/image71.png"/></Relationships>
</file>

<file path=ppt/slides/_rels/slide59.xml.rels><?xml version="1.0" encoding="UTF-8" standalone="yes"?>
<Relationships xmlns="http://schemas.openxmlformats.org/package/2006/relationships"><Relationship Id="rId3" Type="http://schemas.openxmlformats.org/officeDocument/2006/relationships/image" Target="../media/image68.png"/><Relationship Id="rId2" Type="http://schemas.openxmlformats.org/officeDocument/2006/relationships/image" Target="../media/image67.png"/><Relationship Id="rId1" Type="http://schemas.openxmlformats.org/officeDocument/2006/relationships/slideLayout" Target="../slideLayouts/slideLayout2.xml"/><Relationship Id="rId4" Type="http://schemas.openxmlformats.org/officeDocument/2006/relationships/image" Target="../media/image30.png"/></Relationships>
</file>

<file path=ppt/slides/_rels/slide60.xml.rels><?xml version="1.0" encoding="UTF-8" standalone="yes"?>
<Relationships xmlns="http://schemas.openxmlformats.org/package/2006/relationships"><Relationship Id="rId3" Type="http://schemas.openxmlformats.org/officeDocument/2006/relationships/image" Target="../media/image68.png"/><Relationship Id="rId2" Type="http://schemas.openxmlformats.org/officeDocument/2006/relationships/image" Target="../media/image67.png"/><Relationship Id="rId1" Type="http://schemas.openxmlformats.org/officeDocument/2006/relationships/slideLayout" Target="../slideLayouts/slideLayout2.xml"/></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2.xml.rels><?xml version="1.0" encoding="UTF-8" standalone="yes"?>
<Relationships xmlns="http://schemas.openxmlformats.org/package/2006/relationships"><Relationship Id="rId2" Type="http://schemas.openxmlformats.org/officeDocument/2006/relationships/image" Target="../media/image79.png"/><Relationship Id="rId1" Type="http://schemas.openxmlformats.org/officeDocument/2006/relationships/slideLayout" Target="../slideLayouts/slideLayout2.xml"/></Relationships>
</file>

<file path=ppt/slides/_rels/slide6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4.xml.rels><?xml version="1.0" encoding="UTF-8" standalone="yes"?>
<Relationships xmlns="http://schemas.openxmlformats.org/package/2006/relationships"><Relationship Id="rId3" Type="http://schemas.openxmlformats.org/officeDocument/2006/relationships/image" Target="../media/image80.png"/><Relationship Id="rId2" Type="http://schemas.openxmlformats.org/officeDocument/2006/relationships/image" Target="../media/image30.png"/><Relationship Id="rId1" Type="http://schemas.openxmlformats.org/officeDocument/2006/relationships/slideLayout" Target="../slideLayouts/slideLayout2.xml"/><Relationship Id="rId4" Type="http://schemas.openxmlformats.org/officeDocument/2006/relationships/image" Target="../media/image83.png"/></Relationships>
</file>

<file path=ppt/slides/_rels/slide6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7.xml.rels><?xml version="1.0" encoding="UTF-8" standalone="yes"?>
<Relationships xmlns="http://schemas.openxmlformats.org/package/2006/relationships"><Relationship Id="rId3" Type="http://schemas.openxmlformats.org/officeDocument/2006/relationships/image" Target="../media/image85.png"/><Relationship Id="rId2" Type="http://schemas.openxmlformats.org/officeDocument/2006/relationships/image" Target="../media/image84.png"/><Relationship Id="rId1" Type="http://schemas.openxmlformats.org/officeDocument/2006/relationships/slideLayout" Target="../slideLayouts/slideLayout2.xml"/></Relationships>
</file>

<file path=ppt/slides/_rels/slide6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9.xml.rels><?xml version="1.0" encoding="UTF-8" standalone="yes"?>
<Relationships xmlns="http://schemas.openxmlformats.org/package/2006/relationships"><Relationship Id="rId3" Type="http://schemas.openxmlformats.org/officeDocument/2006/relationships/image" Target="../media/image81.png"/><Relationship Id="rId2" Type="http://schemas.openxmlformats.org/officeDocument/2006/relationships/hyperlink" Target="https://arxiv.org/pdf/1412.6980.pdf" TargetMode="External"/><Relationship Id="rId1" Type="http://schemas.openxmlformats.org/officeDocument/2006/relationships/slideLayout" Target="../slideLayouts/slideLayout2.xml"/></Relationships>
</file>

<file path=ppt/slides/_rels/slide7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2.xml.rels><?xml version="1.0" encoding="UTF-8" standalone="yes"?>
<Relationships xmlns="http://schemas.openxmlformats.org/package/2006/relationships"><Relationship Id="rId2" Type="http://schemas.openxmlformats.org/officeDocument/2006/relationships/hyperlink" Target="https://www.colab.research.google.com/" TargetMode="External"/><Relationship Id="rId1" Type="http://schemas.openxmlformats.org/officeDocument/2006/relationships/slideLayout" Target="../slideLayouts/slideLayout2.xml"/></Relationships>
</file>

<file path=ppt/slides/_rels/slide73.xml.rels><?xml version="1.0" encoding="UTF-8" standalone="yes"?>
<Relationships xmlns="http://schemas.openxmlformats.org/package/2006/relationships"><Relationship Id="rId2" Type="http://schemas.openxmlformats.org/officeDocument/2006/relationships/hyperlink" Target="http://playground.tensorflow.org/" TargetMode="External"/><Relationship Id="rId1" Type="http://schemas.openxmlformats.org/officeDocument/2006/relationships/slideLayout" Target="../slideLayouts/slideLayout2.xml"/></Relationships>
</file>

<file path=ppt/slides/_rels/slide7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7.xml.rels><?xml version="1.0" encoding="UTF-8" standalone="yes"?>
<Relationships xmlns="http://schemas.openxmlformats.org/package/2006/relationships"><Relationship Id="rId2" Type="http://schemas.openxmlformats.org/officeDocument/2006/relationships/image" Target="../media/image82.png"/><Relationship Id="rId1" Type="http://schemas.openxmlformats.org/officeDocument/2006/relationships/slideLayout" Target="../slideLayouts/slideLayout2.xml"/></Relationships>
</file>

<file path=ppt/slides/_rels/slide78.xml.rels><?xml version="1.0" encoding="UTF-8" standalone="yes"?>
<Relationships xmlns="http://schemas.openxmlformats.org/package/2006/relationships"><Relationship Id="rId2" Type="http://schemas.openxmlformats.org/officeDocument/2006/relationships/image" Target="../media/image170.png"/><Relationship Id="rId1" Type="http://schemas.openxmlformats.org/officeDocument/2006/relationships/slideLayout" Target="../slideLayouts/slideLayout2.xml"/></Relationships>
</file>

<file path=ppt/slides/_rels/slide7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2.xml.rels><?xml version="1.0" encoding="UTF-8" standalone="yes"?>
<Relationships xmlns="http://schemas.openxmlformats.org/package/2006/relationships"><Relationship Id="rId2" Type="http://schemas.openxmlformats.org/officeDocument/2006/relationships/hyperlink" Target="https://doi.org/10.1016/j.ins.2023.120021" TargetMode="External"/><Relationship Id="rId1" Type="http://schemas.openxmlformats.org/officeDocument/2006/relationships/slideLayout" Target="../slideLayouts/slideLayout2.xml"/></Relationships>
</file>

<file path=ppt/slides/_rels/slide83.xml.rels><?xml version="1.0" encoding="UTF-8" standalone="yes"?>
<Relationships xmlns="http://schemas.openxmlformats.org/package/2006/relationships"><Relationship Id="rId2" Type="http://schemas.openxmlformats.org/officeDocument/2006/relationships/image" Target="../media/image82.png"/><Relationship Id="rId1" Type="http://schemas.openxmlformats.org/officeDocument/2006/relationships/slideLayout" Target="../slideLayouts/slideLayout2.xml"/></Relationships>
</file>

<file path=ppt/slides/_rels/slide84.xml.rels><?xml version="1.0" encoding="UTF-8" standalone="yes"?>
<Relationships xmlns="http://schemas.openxmlformats.org/package/2006/relationships"><Relationship Id="rId3" Type="http://schemas.openxmlformats.org/officeDocument/2006/relationships/image" Target="../media/image86.png"/><Relationship Id="rId2" Type="http://schemas.openxmlformats.org/officeDocument/2006/relationships/image" Target="../media/image180.png"/><Relationship Id="rId1" Type="http://schemas.openxmlformats.org/officeDocument/2006/relationships/slideLayout" Target="../slideLayouts/slideLayout2.xml"/></Relationships>
</file>

<file path=ppt/slides/_rels/slide85.xml.rels><?xml version="1.0" encoding="UTF-8" standalone="yes"?>
<Relationships xmlns="http://schemas.openxmlformats.org/package/2006/relationships"><Relationship Id="rId2" Type="http://schemas.openxmlformats.org/officeDocument/2006/relationships/image" Target="../media/image87.png"/><Relationship Id="rId1" Type="http://schemas.openxmlformats.org/officeDocument/2006/relationships/slideLayout" Target="../slideLayouts/slideLayout2.xml"/></Relationships>
</file>

<file path=ppt/slides/_rels/slide86.xml.rels><?xml version="1.0" encoding="UTF-8" standalone="yes"?>
<Relationships xmlns="http://schemas.openxmlformats.org/package/2006/relationships"><Relationship Id="rId2" Type="http://schemas.openxmlformats.org/officeDocument/2006/relationships/image" Target="../media/image88.png"/><Relationship Id="rId1" Type="http://schemas.openxmlformats.org/officeDocument/2006/relationships/slideLayout" Target="../slideLayouts/slideLayout2.xml"/></Relationships>
</file>

<file path=ppt/slides/_rels/slide87.xml.rels><?xml version="1.0" encoding="UTF-8" standalone="yes"?>
<Relationships xmlns="http://schemas.openxmlformats.org/package/2006/relationships"><Relationship Id="rId2" Type="http://schemas.openxmlformats.org/officeDocument/2006/relationships/image" Target="../media/image89.png"/><Relationship Id="rId1" Type="http://schemas.openxmlformats.org/officeDocument/2006/relationships/slideLayout" Target="../slideLayouts/slideLayout2.xml"/></Relationships>
</file>

<file path=ppt/slides/_rels/slide88.xml.rels><?xml version="1.0" encoding="UTF-8" standalone="yes"?>
<Relationships xmlns="http://schemas.openxmlformats.org/package/2006/relationships"><Relationship Id="rId2" Type="http://schemas.openxmlformats.org/officeDocument/2006/relationships/image" Target="../media/image82.png"/><Relationship Id="rId1" Type="http://schemas.openxmlformats.org/officeDocument/2006/relationships/slideLayout" Target="../slideLayouts/slideLayout2.xml"/></Relationships>
</file>

<file path=ppt/slides/_rels/slide89.xml.rels><?xml version="1.0" encoding="UTF-8" standalone="yes"?>
<Relationships xmlns="http://schemas.openxmlformats.org/package/2006/relationships"><Relationship Id="rId2" Type="http://schemas.openxmlformats.org/officeDocument/2006/relationships/image" Target="../media/image90.gif"/><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1657350" y="2228850"/>
            <a:ext cx="5829300" cy="3829050"/>
          </a:xfrm>
        </p:spPr>
        <p:txBody>
          <a:bodyPr>
            <a:normAutofit/>
          </a:bodyPr>
          <a:lstStyle/>
          <a:p>
            <a:r>
              <a:rPr lang="en-US" sz="2025" b="1" i="1" dirty="0">
                <a:solidFill>
                  <a:srgbClr val="000000"/>
                </a:solidFill>
                <a:latin typeface="Times New Roman"/>
              </a:rPr>
              <a:t/>
            </a:r>
            <a:br>
              <a:rPr lang="en-US" sz="2025" b="1" i="1" dirty="0">
                <a:solidFill>
                  <a:srgbClr val="000000"/>
                </a:solidFill>
                <a:latin typeface="Times New Roman"/>
              </a:rPr>
            </a:br>
            <a:r>
              <a:rPr lang="en-US" sz="2025" b="1" i="1" dirty="0">
                <a:solidFill>
                  <a:srgbClr val="000000"/>
                </a:solidFill>
                <a:latin typeface="Times New Roman"/>
              </a:rPr>
              <a:t/>
            </a:r>
            <a:br>
              <a:rPr lang="en-US" sz="2025" b="1" i="1" dirty="0">
                <a:solidFill>
                  <a:srgbClr val="000000"/>
                </a:solidFill>
                <a:latin typeface="Times New Roman"/>
              </a:rPr>
            </a:br>
            <a:r>
              <a:rPr lang="en-US" sz="2025" b="1" i="1" dirty="0">
                <a:solidFill>
                  <a:srgbClr val="000000"/>
                </a:solidFill>
                <a:latin typeface="Times New Roman"/>
              </a:rPr>
              <a:t/>
            </a:r>
            <a:br>
              <a:rPr lang="en-US" sz="2025" b="1" i="1" dirty="0">
                <a:solidFill>
                  <a:srgbClr val="000000"/>
                </a:solidFill>
                <a:latin typeface="Times New Roman"/>
              </a:rPr>
            </a:br>
            <a:r>
              <a:rPr lang="en-US" sz="2025" b="1" i="1" dirty="0">
                <a:solidFill>
                  <a:srgbClr val="000000"/>
                </a:solidFill>
                <a:latin typeface="Times New Roman"/>
              </a:rPr>
              <a:t/>
            </a:r>
            <a:br>
              <a:rPr lang="en-US" sz="2025" b="1" i="1" dirty="0">
                <a:solidFill>
                  <a:srgbClr val="000000"/>
                </a:solidFill>
                <a:latin typeface="Times New Roman"/>
              </a:rPr>
            </a:br>
            <a:r>
              <a:rPr lang="en-US" sz="1650" dirty="0">
                <a:solidFill>
                  <a:srgbClr val="2312FA"/>
                </a:solidFill>
              </a:rPr>
              <a:t/>
            </a:r>
            <a:br>
              <a:rPr lang="en-US" sz="1650" dirty="0">
                <a:solidFill>
                  <a:srgbClr val="2312FA"/>
                </a:solidFill>
              </a:rPr>
            </a:br>
            <a:endParaRPr lang="en-US" sz="1650" dirty="0">
              <a:solidFill>
                <a:srgbClr val="2312FA"/>
              </a:solidFill>
            </a:endParaRPr>
          </a:p>
        </p:txBody>
      </p:sp>
      <p:sp>
        <p:nvSpPr>
          <p:cNvPr id="4" name="Rounded Rectangle 3"/>
          <p:cNvSpPr/>
          <p:nvPr/>
        </p:nvSpPr>
        <p:spPr>
          <a:xfrm>
            <a:off x="137972" y="1974588"/>
            <a:ext cx="8864600" cy="1200150"/>
          </a:xfrm>
          <a:prstGeom prst="roundRect">
            <a:avLst/>
          </a:prstGeom>
          <a:solidFill>
            <a:srgbClr val="2312FA"/>
          </a:solidFill>
          <a:effectLst>
            <a:innerShdw blurRad="63500" dist="50800" dir="2700000">
              <a:prstClr val="black">
                <a:alpha val="50000"/>
              </a:prstClr>
            </a:inn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3600" b="1" dirty="0">
                <a:solidFill>
                  <a:prstClr val="white"/>
                </a:solidFill>
                <a:latin typeface="Times New Roman" pitchFamily="18" charset="0"/>
                <a:cs typeface="Times New Roman" pitchFamily="18" charset="0"/>
              </a:rPr>
              <a:t>Introduction to </a:t>
            </a:r>
            <a:r>
              <a:rPr lang="en-US" sz="3600" b="1" dirty="0" smtClean="0">
                <a:solidFill>
                  <a:prstClr val="white"/>
                </a:solidFill>
                <a:latin typeface="Times New Roman" pitchFamily="18" charset="0"/>
                <a:cs typeface="Times New Roman" pitchFamily="18" charset="0"/>
              </a:rPr>
              <a:t>Neural Network and Deep Learning</a:t>
            </a:r>
            <a:endParaRPr lang="en-US" sz="3600" b="1" dirty="0">
              <a:solidFill>
                <a:prstClr val="white"/>
              </a:solidFill>
              <a:latin typeface="Times New Roman" pitchFamily="18" charset="0"/>
              <a:cs typeface="Times New Roman" pitchFamily="18" charset="0"/>
            </a:endParaRPr>
          </a:p>
        </p:txBody>
      </p:sp>
      <p:sp>
        <p:nvSpPr>
          <p:cNvPr id="5" name="Rounded Rectangle 3">
            <a:extLst>
              <a:ext uri="{FF2B5EF4-FFF2-40B4-BE49-F238E27FC236}">
                <a16:creationId xmlns:a16="http://schemas.microsoft.com/office/drawing/2014/main" id="{0D6ED181-B007-4A09-9CED-F9F4795A8C72}"/>
              </a:ext>
            </a:extLst>
          </p:cNvPr>
          <p:cNvSpPr/>
          <p:nvPr/>
        </p:nvSpPr>
        <p:spPr>
          <a:xfrm>
            <a:off x="632883" y="3429000"/>
            <a:ext cx="7543800" cy="2171700"/>
          </a:xfrm>
          <a:prstGeom prst="roundRect">
            <a:avLst/>
          </a:prstGeom>
          <a:noFill/>
          <a:ln>
            <a:noFill/>
          </a:ln>
          <a:effectLst>
            <a:innerShdw blurRad="63500" dist="50800" dir="2700000">
              <a:prstClr val="black">
                <a:alpha val="50000"/>
              </a:prstClr>
            </a:inn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b="1" dirty="0">
              <a:solidFill>
                <a:srgbClr val="2312FA"/>
              </a:solidFill>
              <a:latin typeface="Times New Roman" pitchFamily="18" charset="0"/>
              <a:cs typeface="Times New Roman" pitchFamily="18" charset="0"/>
            </a:endParaRPr>
          </a:p>
          <a:p>
            <a:pPr algn="ctr"/>
            <a:endParaRPr lang="en-US" b="1" dirty="0">
              <a:solidFill>
                <a:srgbClr val="2312FA"/>
              </a:solidFill>
              <a:latin typeface="Times New Roman" pitchFamily="18" charset="0"/>
              <a:cs typeface="Times New Roman" pitchFamily="18" charset="0"/>
            </a:endParaRPr>
          </a:p>
          <a:p>
            <a:pPr algn="ctr"/>
            <a:endParaRPr lang="en-US" b="1" dirty="0">
              <a:solidFill>
                <a:srgbClr val="2312FA"/>
              </a:solidFill>
              <a:latin typeface="Times New Roman" pitchFamily="18" charset="0"/>
              <a:cs typeface="Times New Roman" pitchFamily="18" charset="0"/>
            </a:endParaRPr>
          </a:p>
          <a:p>
            <a:pPr algn="ctr"/>
            <a:r>
              <a:rPr lang="en-US" sz="2000" b="1" dirty="0">
                <a:solidFill>
                  <a:srgbClr val="2312FA"/>
                </a:solidFill>
                <a:latin typeface="Times New Roman" pitchFamily="18" charset="0"/>
                <a:cs typeface="Times New Roman" pitchFamily="18" charset="0"/>
              </a:rPr>
              <a:t>By</a:t>
            </a:r>
          </a:p>
          <a:p>
            <a:pPr algn="ctr"/>
            <a:r>
              <a:rPr lang="en-US" sz="2000" b="1" dirty="0">
                <a:solidFill>
                  <a:srgbClr val="2312FA"/>
                </a:solidFill>
                <a:latin typeface="Times New Roman" pitchFamily="18" charset="0"/>
                <a:cs typeface="Times New Roman" pitchFamily="18" charset="0"/>
              </a:rPr>
              <a:t>Dr. Sibarama Panigrahi </a:t>
            </a:r>
          </a:p>
          <a:p>
            <a:pPr algn="ctr"/>
            <a:r>
              <a:rPr lang="en-US" sz="2000" b="1" dirty="0">
                <a:solidFill>
                  <a:srgbClr val="990033"/>
                </a:solidFill>
                <a:latin typeface="Times New Roman" pitchFamily="18" charset="0"/>
                <a:cs typeface="Times New Roman" pitchFamily="18" charset="0"/>
              </a:rPr>
              <a:t>Senior Member, IEEE</a:t>
            </a:r>
          </a:p>
          <a:p>
            <a:pPr algn="ctr"/>
            <a:r>
              <a:rPr lang="en-US" sz="2000" dirty="0">
                <a:solidFill>
                  <a:prstClr val="black"/>
                </a:solidFill>
                <a:latin typeface="Times New Roman" pitchFamily="18" charset="0"/>
                <a:cs typeface="Times New Roman" pitchFamily="18" charset="0"/>
              </a:rPr>
              <a:t>Assistant Professor, Department of Computer Sc. &amp; Engineering</a:t>
            </a:r>
          </a:p>
          <a:p>
            <a:pPr algn="ctr"/>
            <a:r>
              <a:rPr lang="en-US" sz="2000" dirty="0">
                <a:solidFill>
                  <a:prstClr val="black"/>
                </a:solidFill>
                <a:latin typeface="Times New Roman" pitchFamily="18" charset="0"/>
                <a:cs typeface="Times New Roman" pitchFamily="18" charset="0"/>
              </a:rPr>
              <a:t>National Institute of Technology, Rourkela, Odisha, 769008, India</a:t>
            </a:r>
          </a:p>
          <a:p>
            <a:pPr algn="ctr"/>
            <a:r>
              <a:rPr lang="en-US" sz="2000" dirty="0">
                <a:solidFill>
                  <a:srgbClr val="3116F6"/>
                </a:solidFill>
                <a:latin typeface="Times New Roman" pitchFamily="18" charset="0"/>
                <a:cs typeface="Times New Roman" pitchFamily="18" charset="0"/>
              </a:rPr>
              <a:t>Mobile No.:</a:t>
            </a:r>
            <a:r>
              <a:rPr lang="en-US" sz="2000" dirty="0">
                <a:solidFill>
                  <a:prstClr val="black"/>
                </a:solidFill>
                <a:latin typeface="Times New Roman" pitchFamily="18" charset="0"/>
                <a:cs typeface="Times New Roman" pitchFamily="18" charset="0"/>
              </a:rPr>
              <a:t> +91-7377302566</a:t>
            </a:r>
          </a:p>
          <a:p>
            <a:pPr algn="ctr"/>
            <a:r>
              <a:rPr lang="en-US" sz="2000" dirty="0">
                <a:solidFill>
                  <a:srgbClr val="3116F6"/>
                </a:solidFill>
                <a:latin typeface="Times New Roman" pitchFamily="18" charset="0"/>
                <a:cs typeface="Times New Roman" pitchFamily="18" charset="0"/>
              </a:rPr>
              <a:t>Email: </a:t>
            </a:r>
            <a:r>
              <a:rPr lang="en-US" sz="2000" dirty="0" err="1">
                <a:solidFill>
                  <a:schemeClr val="tx1"/>
                </a:solidFill>
                <a:latin typeface="Times New Roman" pitchFamily="18" charset="0"/>
                <a:cs typeface="Times New Roman" pitchFamily="18" charset="0"/>
              </a:rPr>
              <a:t>panigrahis</a:t>
            </a:r>
            <a:r>
              <a:rPr lang="en-US" sz="2000" dirty="0">
                <a:solidFill>
                  <a:schemeClr val="tx1"/>
                </a:solidFill>
                <a:latin typeface="Times New Roman" pitchFamily="18" charset="0"/>
                <a:cs typeface="Times New Roman" pitchFamily="18" charset="0"/>
              </a:rPr>
              <a:t>[at]</a:t>
            </a:r>
            <a:r>
              <a:rPr lang="en-US" sz="2000" dirty="0" err="1">
                <a:solidFill>
                  <a:schemeClr val="tx1"/>
                </a:solidFill>
                <a:latin typeface="Times New Roman" pitchFamily="18" charset="0"/>
                <a:cs typeface="Times New Roman" pitchFamily="18" charset="0"/>
              </a:rPr>
              <a:t>nitrkl</a:t>
            </a:r>
            <a:r>
              <a:rPr lang="en-US" sz="2000" dirty="0">
                <a:solidFill>
                  <a:schemeClr val="tx1"/>
                </a:solidFill>
                <a:latin typeface="Times New Roman" pitchFamily="18" charset="0"/>
                <a:cs typeface="Times New Roman" pitchFamily="18" charset="0"/>
              </a:rPr>
              <a:t>[dot]ac[dot]in                            </a:t>
            </a:r>
          </a:p>
          <a:p>
            <a:pPr algn="ctr"/>
            <a:r>
              <a:rPr lang="en-US" sz="2000" dirty="0">
                <a:solidFill>
                  <a:schemeClr val="tx1"/>
                </a:solidFill>
                <a:latin typeface="Times New Roman" pitchFamily="18" charset="0"/>
                <a:cs typeface="Times New Roman" pitchFamily="18" charset="0"/>
              </a:rPr>
              <a:t>                         </a:t>
            </a:r>
            <a:r>
              <a:rPr lang="en-US" sz="2000" dirty="0" err="1">
                <a:solidFill>
                  <a:schemeClr val="tx1"/>
                </a:solidFill>
                <a:latin typeface="Times New Roman" pitchFamily="18" charset="0"/>
                <a:cs typeface="Times New Roman" pitchFamily="18" charset="0"/>
              </a:rPr>
              <a:t>panigrahi</a:t>
            </a:r>
            <a:r>
              <a:rPr lang="en-US" sz="2000" dirty="0">
                <a:solidFill>
                  <a:schemeClr val="tx1"/>
                </a:solidFill>
                <a:latin typeface="Times New Roman" pitchFamily="18" charset="0"/>
                <a:cs typeface="Times New Roman" pitchFamily="18" charset="0"/>
              </a:rPr>
              <a:t>[dot]</a:t>
            </a:r>
            <a:r>
              <a:rPr lang="en-US" sz="2000" dirty="0" err="1">
                <a:solidFill>
                  <a:schemeClr val="tx1"/>
                </a:solidFill>
                <a:latin typeface="Times New Roman" pitchFamily="18" charset="0"/>
                <a:cs typeface="Times New Roman" pitchFamily="18" charset="0"/>
              </a:rPr>
              <a:t>sibarama</a:t>
            </a:r>
            <a:r>
              <a:rPr lang="en-US" sz="2000" dirty="0">
                <a:solidFill>
                  <a:schemeClr val="tx1"/>
                </a:solidFill>
                <a:latin typeface="Times New Roman" pitchFamily="18" charset="0"/>
                <a:cs typeface="Times New Roman" pitchFamily="18" charset="0"/>
              </a:rPr>
              <a:t>[at]</a:t>
            </a:r>
            <a:r>
              <a:rPr lang="en-US" sz="2000" dirty="0" err="1">
                <a:solidFill>
                  <a:schemeClr val="tx1"/>
                </a:solidFill>
                <a:latin typeface="Times New Roman" pitchFamily="18" charset="0"/>
                <a:cs typeface="Times New Roman" pitchFamily="18" charset="0"/>
              </a:rPr>
              <a:t>gmail</a:t>
            </a:r>
            <a:r>
              <a:rPr lang="en-US" sz="2000" dirty="0">
                <a:solidFill>
                  <a:schemeClr val="tx1"/>
                </a:solidFill>
                <a:latin typeface="Times New Roman" pitchFamily="18" charset="0"/>
                <a:cs typeface="Times New Roman" pitchFamily="18" charset="0"/>
              </a:rPr>
              <a:t>[dot]com</a:t>
            </a:r>
          </a:p>
          <a:p>
            <a:pPr algn="ctr"/>
            <a:endParaRPr lang="en-US" sz="1500" dirty="0">
              <a:solidFill>
                <a:schemeClr val="tx1"/>
              </a:solidFill>
              <a:latin typeface="Times New Roman" pitchFamily="18" charset="0"/>
              <a:cs typeface="Times New Roman" pitchFamily="18" charset="0"/>
            </a:endParaRPr>
          </a:p>
          <a:p>
            <a:pPr algn="ctr"/>
            <a:endParaRPr lang="en-US" sz="1500" dirty="0">
              <a:solidFill>
                <a:prstClr val="black"/>
              </a:solidFill>
              <a:latin typeface="Times New Roman" pitchFamily="18" charset="0"/>
              <a:cs typeface="Times New Roman" pitchFamily="18" charset="0"/>
            </a:endParaRPr>
          </a:p>
        </p:txBody>
      </p:sp>
      <p:sp>
        <p:nvSpPr>
          <p:cNvPr id="7" name="TextBox 6">
            <a:extLst>
              <a:ext uri="{FF2B5EF4-FFF2-40B4-BE49-F238E27FC236}">
                <a16:creationId xmlns:a16="http://schemas.microsoft.com/office/drawing/2014/main" id="{550A3DE1-1C1A-4433-BFF4-0052B4457C43}"/>
              </a:ext>
            </a:extLst>
          </p:cNvPr>
          <p:cNvSpPr txBox="1"/>
          <p:nvPr/>
        </p:nvSpPr>
        <p:spPr>
          <a:xfrm>
            <a:off x="723049" y="167839"/>
            <a:ext cx="7823200" cy="1638910"/>
          </a:xfrm>
          <a:prstGeom prst="rect">
            <a:avLst/>
          </a:prstGeom>
          <a:noFill/>
        </p:spPr>
        <p:txBody>
          <a:bodyPr wrap="square">
            <a:spAutoFit/>
          </a:bodyPr>
          <a:lstStyle/>
          <a:p>
            <a:pPr algn="ctr"/>
            <a:r>
              <a:rPr lang="en-US" sz="2100" b="1" dirty="0">
                <a:latin typeface="Times New Roman" pitchFamily="18" charset="0"/>
                <a:cs typeface="Times New Roman" pitchFamily="18" charset="0"/>
              </a:rPr>
              <a:t>Faculty Development Program</a:t>
            </a:r>
          </a:p>
          <a:p>
            <a:pPr algn="ctr"/>
            <a:r>
              <a:rPr lang="en-US" sz="2100" b="1" dirty="0">
                <a:latin typeface="Times New Roman" pitchFamily="18" charset="0"/>
                <a:cs typeface="Times New Roman" pitchFamily="18" charset="0"/>
              </a:rPr>
              <a:t>On</a:t>
            </a:r>
          </a:p>
          <a:p>
            <a:pPr algn="ctr"/>
            <a:r>
              <a:rPr lang="en-IN" sz="1950" b="1" dirty="0">
                <a:highlight>
                  <a:srgbClr val="FFFFFF"/>
                </a:highlight>
                <a:latin typeface="Times New Roman" panose="02020603050405020304" pitchFamily="18" charset="0"/>
                <a:cs typeface="Times New Roman" panose="02020603050405020304" pitchFamily="18" charset="0"/>
              </a:rPr>
              <a:t>ARTIFICIAL INTELLIGENCE &amp; MACHINE LEARNING</a:t>
            </a:r>
          </a:p>
          <a:p>
            <a:pPr algn="ctr"/>
            <a:r>
              <a:rPr lang="en-IN" sz="1950" b="1" dirty="0">
                <a:highlight>
                  <a:srgbClr val="FFFFFF"/>
                </a:highlight>
                <a:latin typeface="Times New Roman" panose="02020603050405020304" pitchFamily="18" charset="0"/>
                <a:cs typeface="Times New Roman" panose="02020603050405020304" pitchFamily="18" charset="0"/>
              </a:rPr>
              <a:t>5</a:t>
            </a:r>
            <a:r>
              <a:rPr lang="en-IN" sz="1950" b="1" baseline="30000" dirty="0">
                <a:highlight>
                  <a:srgbClr val="FFFFFF"/>
                </a:highlight>
                <a:latin typeface="Times New Roman" panose="02020603050405020304" pitchFamily="18" charset="0"/>
                <a:cs typeface="Times New Roman" panose="02020603050405020304" pitchFamily="18" charset="0"/>
              </a:rPr>
              <a:t>th</a:t>
            </a:r>
            <a:r>
              <a:rPr lang="en-IN" sz="1950" b="1" dirty="0">
                <a:highlight>
                  <a:srgbClr val="FFFFFF"/>
                </a:highlight>
                <a:latin typeface="Times New Roman" panose="02020603050405020304" pitchFamily="18" charset="0"/>
                <a:cs typeface="Times New Roman" panose="02020603050405020304" pitchFamily="18" charset="0"/>
              </a:rPr>
              <a:t> – 9</a:t>
            </a:r>
            <a:r>
              <a:rPr lang="en-IN" sz="1950" b="1" baseline="30000" dirty="0">
                <a:highlight>
                  <a:srgbClr val="FFFFFF"/>
                </a:highlight>
                <a:latin typeface="Times New Roman" panose="02020603050405020304" pitchFamily="18" charset="0"/>
                <a:cs typeface="Times New Roman" panose="02020603050405020304" pitchFamily="18" charset="0"/>
              </a:rPr>
              <a:t>th</a:t>
            </a:r>
            <a:r>
              <a:rPr lang="en-IN" sz="1950" b="1" dirty="0">
                <a:highlight>
                  <a:srgbClr val="FFFFFF"/>
                </a:highlight>
                <a:latin typeface="Times New Roman" panose="02020603050405020304" pitchFamily="18" charset="0"/>
                <a:cs typeface="Times New Roman" panose="02020603050405020304" pitchFamily="18" charset="0"/>
              </a:rPr>
              <a:t> February</a:t>
            </a:r>
          </a:p>
          <a:p>
            <a:pPr algn="ctr"/>
            <a:endParaRPr lang="en-US" sz="1950" dirty="0">
              <a:latin typeface="Times New Roman" panose="02020603050405020304" pitchFamily="18" charset="0"/>
              <a:cs typeface="Times New Roman" pitchFamily="18" charset="0"/>
            </a:endParaRPr>
          </a:p>
        </p:txBody>
      </p:sp>
      <p:pic>
        <p:nvPicPr>
          <p:cNvPr id="8" name="Picture 7"/>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8466" y="46565"/>
            <a:ext cx="1248835" cy="1248835"/>
          </a:xfrm>
          <a:prstGeom prst="rect">
            <a:avLst/>
          </a:prstGeom>
        </p:spPr>
      </p:pic>
      <p:pic>
        <p:nvPicPr>
          <p:cNvPr id="3" name="Picture 2" descr="IMG">
            <a:extLst>
              <a:ext uri="{FF2B5EF4-FFF2-40B4-BE49-F238E27FC236}">
                <a16:creationId xmlns:a16="http://schemas.microsoft.com/office/drawing/2014/main" id="{C5620C9B-6D28-8A59-E6F2-F4AA852E40D5}"/>
              </a:ext>
            </a:extLst>
          </p:cNvPr>
          <p:cNvPicPr>
            <a:picLocks noChangeAspect="1"/>
          </p:cNvPicPr>
          <p:nvPr/>
        </p:nvPicPr>
        <p:blipFill>
          <a:blip r:embed="rId3"/>
          <a:stretch/>
        </p:blipFill>
        <p:spPr bwMode="auto">
          <a:xfrm>
            <a:off x="8000999" y="0"/>
            <a:ext cx="1134536" cy="1207733"/>
          </a:xfrm>
          <a:prstGeom prst="rect">
            <a:avLst/>
          </a:prstGeom>
          <a:noFill/>
          <a:ln>
            <a:noFill/>
          </a:ln>
        </p:spPr>
      </p:pic>
    </p:spTree>
    <p:extLst>
      <p:ext uri="{BB962C8B-B14F-4D97-AF65-F5344CB8AC3E}">
        <p14:creationId xmlns:p14="http://schemas.microsoft.com/office/powerpoint/2010/main" val="74203894"/>
      </p:ext>
    </p:extLst>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Outlines</a:t>
            </a:r>
            <a:endParaRPr lang="en-US" dirty="0"/>
          </a:p>
        </p:txBody>
      </p:sp>
      <p:sp>
        <p:nvSpPr>
          <p:cNvPr id="3" name="Content Placeholder 2"/>
          <p:cNvSpPr>
            <a:spLocks noGrp="1"/>
          </p:cNvSpPr>
          <p:nvPr>
            <p:ph sz="quarter" idx="1"/>
          </p:nvPr>
        </p:nvSpPr>
        <p:spPr/>
        <p:txBody>
          <a:bodyPr/>
          <a:lstStyle/>
          <a:p>
            <a:pPr algn="just"/>
            <a:r>
              <a:rPr lang="en-US" sz="2400" dirty="0" smtClean="0"/>
              <a:t>Introduction to Neural Network</a:t>
            </a:r>
          </a:p>
          <a:p>
            <a:pPr algn="just"/>
            <a:r>
              <a:rPr lang="en-US" sz="2400" b="1" dirty="0" smtClean="0"/>
              <a:t>Mathematical Model for Neural Network</a:t>
            </a:r>
          </a:p>
          <a:p>
            <a:pPr algn="just"/>
            <a:r>
              <a:rPr lang="en-US" sz="2400" dirty="0" smtClean="0"/>
              <a:t>Differentiation and its Application to Train Neural Network</a:t>
            </a:r>
          </a:p>
          <a:p>
            <a:pPr algn="just"/>
            <a:r>
              <a:rPr lang="en-US" sz="2400" b="1" dirty="0" smtClean="0"/>
              <a:t>Deep Neural Network</a:t>
            </a:r>
          </a:p>
          <a:p>
            <a:pPr algn="just"/>
            <a:r>
              <a:rPr lang="en-US" sz="2400" dirty="0" smtClean="0"/>
              <a:t>Recent Advances in Deep Learning</a:t>
            </a:r>
          </a:p>
          <a:p>
            <a:pPr lvl="1" algn="just"/>
            <a:r>
              <a:rPr lang="en-US" sz="2400" dirty="0" smtClean="0">
                <a:solidFill>
                  <a:srgbClr val="3116F6"/>
                </a:solidFill>
              </a:rPr>
              <a:t>Activation Function, Weight Initialization (Xavier &amp; </a:t>
            </a:r>
            <a:r>
              <a:rPr lang="en-US" sz="2400" dirty="0" err="1" smtClean="0">
                <a:solidFill>
                  <a:srgbClr val="3116F6"/>
                </a:solidFill>
              </a:rPr>
              <a:t>Glorot</a:t>
            </a:r>
            <a:r>
              <a:rPr lang="en-US" sz="2400" dirty="0" smtClean="0">
                <a:solidFill>
                  <a:srgbClr val="3116F6"/>
                </a:solidFill>
              </a:rPr>
              <a:t>, He)</a:t>
            </a:r>
          </a:p>
          <a:p>
            <a:pPr lvl="1" algn="just"/>
            <a:r>
              <a:rPr lang="en-US" sz="2400" dirty="0" smtClean="0"/>
              <a:t>Dropout and Regularization, Batch Normalization</a:t>
            </a:r>
          </a:p>
          <a:p>
            <a:pPr lvl="1" algn="just"/>
            <a:r>
              <a:rPr lang="en-US" sz="2400" dirty="0" smtClean="0">
                <a:solidFill>
                  <a:srgbClr val="3116F6"/>
                </a:solidFill>
              </a:rPr>
              <a:t>Optimizers </a:t>
            </a:r>
            <a:r>
              <a:rPr lang="en-US" sz="2000" dirty="0" smtClean="0">
                <a:solidFill>
                  <a:srgbClr val="3116F6"/>
                </a:solidFill>
              </a:rPr>
              <a:t>(SGD, NAG, </a:t>
            </a:r>
            <a:r>
              <a:rPr lang="en-US" sz="2000" dirty="0" err="1" smtClean="0">
                <a:solidFill>
                  <a:srgbClr val="3116F6"/>
                </a:solidFill>
              </a:rPr>
              <a:t>AdaGrad</a:t>
            </a:r>
            <a:r>
              <a:rPr lang="en-US" sz="2000" dirty="0" smtClean="0">
                <a:solidFill>
                  <a:srgbClr val="3116F6"/>
                </a:solidFill>
              </a:rPr>
              <a:t>, </a:t>
            </a:r>
            <a:r>
              <a:rPr lang="en-US" sz="2000" dirty="0" err="1" smtClean="0">
                <a:solidFill>
                  <a:srgbClr val="3116F6"/>
                </a:solidFill>
              </a:rPr>
              <a:t>AdaDelta</a:t>
            </a:r>
            <a:r>
              <a:rPr lang="en-US" sz="2000" dirty="0" smtClean="0">
                <a:solidFill>
                  <a:srgbClr val="3116F6"/>
                </a:solidFill>
              </a:rPr>
              <a:t>, RMSPROP, ADAM)</a:t>
            </a:r>
          </a:p>
          <a:p>
            <a:pPr lvl="1" algn="just"/>
            <a:r>
              <a:rPr lang="en-US" sz="2400" dirty="0"/>
              <a:t> </a:t>
            </a:r>
            <a:r>
              <a:rPr lang="en-US" sz="2400" dirty="0" smtClean="0"/>
              <a:t>Building and Training Deep Neural Network using Python</a:t>
            </a:r>
          </a:p>
          <a:p>
            <a:pPr algn="just"/>
            <a:r>
              <a:rPr lang="en-US" sz="2400" b="1" dirty="0" smtClean="0"/>
              <a:t>Introduction to Hyper-Parameter Optimization</a:t>
            </a:r>
            <a:endParaRPr lang="en-US" dirty="0" smtClean="0"/>
          </a:p>
          <a:p>
            <a:pPr algn="just"/>
            <a:endParaRPr lang="en-US" dirty="0">
              <a:latin typeface="Times New Roman" pitchFamily="18" charset="0"/>
              <a:cs typeface="Times New Roman" pitchFamily="18" charset="0"/>
            </a:endParaRPr>
          </a:p>
        </p:txBody>
      </p:sp>
      <p:sp>
        <p:nvSpPr>
          <p:cNvPr id="4" name="TextBox 3"/>
          <p:cNvSpPr txBox="1"/>
          <p:nvPr/>
        </p:nvSpPr>
        <p:spPr>
          <a:xfrm>
            <a:off x="0" y="0"/>
            <a:ext cx="4572000" cy="369332"/>
          </a:xfrm>
          <a:prstGeom prst="rect">
            <a:avLst/>
          </a:prstGeom>
          <a:noFill/>
        </p:spPr>
        <p:txBody>
          <a:bodyPr wrap="square" rtlCol="0">
            <a:spAutoFit/>
          </a:bodyPr>
          <a:lstStyle/>
          <a:p>
            <a:pPr algn="r"/>
            <a:r>
              <a:rPr lang="en-US" b="1" dirty="0">
                <a:solidFill>
                  <a:schemeClr val="bg1"/>
                </a:solidFill>
              </a:rPr>
              <a:t>Introduction to Neural Network</a:t>
            </a:r>
          </a:p>
        </p:txBody>
      </p:sp>
      <p:sp>
        <p:nvSpPr>
          <p:cNvPr id="5" name="Date Placeholder 3"/>
          <p:cNvSpPr>
            <a:spLocks noGrp="1"/>
          </p:cNvSpPr>
          <p:nvPr>
            <p:ph type="dt" sz="half" idx="10"/>
          </p:nvPr>
        </p:nvSpPr>
        <p:spPr>
          <a:xfrm>
            <a:off x="0" y="6629400"/>
            <a:ext cx="3048000" cy="228600"/>
          </a:xfrm>
        </p:spPr>
        <p:txBody>
          <a:bodyPr/>
          <a:lstStyle/>
          <a:p>
            <a:fld id="{E7067A60-51C7-4095-BFA9-1CE32DCBA06F}" type="datetime1">
              <a:rPr lang="en-US" smtClean="0"/>
              <a:pPr/>
              <a:t>2/9/2026</a:t>
            </a:fld>
            <a:endParaRPr lang="en-US" dirty="0"/>
          </a:p>
        </p:txBody>
      </p:sp>
      <p:sp>
        <p:nvSpPr>
          <p:cNvPr id="6" name="Slide Number Placeholder 5"/>
          <p:cNvSpPr>
            <a:spLocks noGrp="1"/>
          </p:cNvSpPr>
          <p:nvPr>
            <p:ph type="sldNum" sz="quarter" idx="12"/>
          </p:nvPr>
        </p:nvSpPr>
        <p:spPr>
          <a:xfrm>
            <a:off x="6096000" y="6629400"/>
            <a:ext cx="3048000" cy="228600"/>
          </a:xfrm>
        </p:spPr>
        <p:txBody>
          <a:bodyPr/>
          <a:lstStyle/>
          <a:p>
            <a:r>
              <a:rPr lang="en-US" dirty="0" smtClean="0"/>
              <a:t>1</a:t>
            </a:r>
            <a:endParaRPr lang="en-US" dirty="0"/>
          </a:p>
        </p:txBody>
      </p:sp>
      <p:sp>
        <p:nvSpPr>
          <p:cNvPr id="7" name="Footer Placeholder 4">
            <a:extLst>
              <a:ext uri="{FF2B5EF4-FFF2-40B4-BE49-F238E27FC236}">
                <a16:creationId xmlns:a16="http://schemas.microsoft.com/office/drawing/2014/main" id="{CBB301ED-B8A4-4772-B559-A9E41E7472BD}"/>
              </a:ext>
            </a:extLst>
          </p:cNvPr>
          <p:cNvSpPr>
            <a:spLocks noGrp="1"/>
          </p:cNvSpPr>
          <p:nvPr>
            <p:ph type="ftr" sz="quarter" idx="11"/>
          </p:nvPr>
        </p:nvSpPr>
        <p:spPr>
          <a:xfrm>
            <a:off x="2286000" y="6629400"/>
            <a:ext cx="4136571" cy="228600"/>
          </a:xfrm>
        </p:spPr>
        <p:txBody>
          <a:bodyPr/>
          <a:lstStyle/>
          <a:p>
            <a:r>
              <a:rPr lang="en-US" dirty="0"/>
              <a:t>Dr. Sibarama Panigrahi, Dept. of CSE, NIT Rourkela</a:t>
            </a:r>
          </a:p>
        </p:txBody>
      </p:sp>
      <p:sp>
        <p:nvSpPr>
          <p:cNvPr id="8" name="TextBox 7"/>
          <p:cNvSpPr txBox="1"/>
          <p:nvPr/>
        </p:nvSpPr>
        <p:spPr>
          <a:xfrm flipH="1">
            <a:off x="6472238" y="6600824"/>
            <a:ext cx="2366962" cy="307777"/>
          </a:xfrm>
          <a:prstGeom prst="rect">
            <a:avLst/>
          </a:prstGeom>
          <a:noFill/>
        </p:spPr>
        <p:txBody>
          <a:bodyPr wrap="square" rtlCol="0">
            <a:spAutoFit/>
          </a:bodyPr>
          <a:lstStyle/>
          <a:p>
            <a:r>
              <a:rPr lang="en-US" sz="1400" dirty="0" smtClean="0">
                <a:latin typeface="Times New Roman" panose="02020603050405020304" pitchFamily="18" charset="0"/>
                <a:cs typeface="Times New Roman" panose="02020603050405020304" pitchFamily="18" charset="0"/>
              </a:rPr>
              <a:t>Block Diagram of Bio NS</a:t>
            </a:r>
            <a:endParaRPr lang="en-IN" sz="14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614952616"/>
      </p:ext>
    </p:extLst>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Artificial Neural Network</a:t>
            </a:r>
          </a:p>
        </p:txBody>
      </p:sp>
      <p:sp>
        <p:nvSpPr>
          <p:cNvPr id="3" name="Content Placeholder 2"/>
          <p:cNvSpPr>
            <a:spLocks noGrp="1"/>
          </p:cNvSpPr>
          <p:nvPr>
            <p:ph sz="quarter" idx="1"/>
          </p:nvPr>
        </p:nvSpPr>
        <p:spPr/>
        <p:txBody>
          <a:bodyPr/>
          <a:lstStyle/>
          <a:p>
            <a:pPr algn="just"/>
            <a:r>
              <a:rPr lang="en-US" dirty="0">
                <a:latin typeface="Times New Roman" pitchFamily="18" charset="0"/>
                <a:cs typeface="Times New Roman" pitchFamily="18" charset="0"/>
              </a:rPr>
              <a:t>An Artificial Neural Network (ANN) is a </a:t>
            </a:r>
            <a:r>
              <a:rPr lang="en-US" dirty="0">
                <a:solidFill>
                  <a:srgbClr val="3116F6"/>
                </a:solidFill>
                <a:latin typeface="Times New Roman" pitchFamily="18" charset="0"/>
                <a:cs typeface="Times New Roman" pitchFamily="18" charset="0"/>
              </a:rPr>
              <a:t>mathematical model </a:t>
            </a:r>
            <a:r>
              <a:rPr lang="en-US" dirty="0">
                <a:latin typeface="Times New Roman" pitchFamily="18" charset="0"/>
                <a:cs typeface="Times New Roman" pitchFamily="18" charset="0"/>
              </a:rPr>
              <a:t>that </a:t>
            </a:r>
            <a:r>
              <a:rPr lang="en-US" i="1" dirty="0" smtClean="0">
                <a:solidFill>
                  <a:srgbClr val="C00000"/>
                </a:solidFill>
                <a:latin typeface="Times New Roman" pitchFamily="18" charset="0"/>
                <a:cs typeface="Times New Roman" pitchFamily="18" charset="0"/>
              </a:rPr>
              <a:t>loosely simulates</a:t>
            </a:r>
            <a:r>
              <a:rPr lang="en-US" dirty="0" smtClean="0">
                <a:latin typeface="Times New Roman" pitchFamily="18" charset="0"/>
                <a:cs typeface="Times New Roman" pitchFamily="18" charset="0"/>
              </a:rPr>
              <a:t> </a:t>
            </a:r>
            <a:r>
              <a:rPr lang="en-US" dirty="0">
                <a:solidFill>
                  <a:srgbClr val="3116F6"/>
                </a:solidFill>
                <a:latin typeface="Times New Roman" pitchFamily="18" charset="0"/>
                <a:cs typeface="Times New Roman" pitchFamily="18" charset="0"/>
              </a:rPr>
              <a:t>the structure and functionality</a:t>
            </a:r>
            <a:r>
              <a:rPr lang="en-US" dirty="0">
                <a:latin typeface="Times New Roman" pitchFamily="18" charset="0"/>
                <a:cs typeface="Times New Roman" pitchFamily="18" charset="0"/>
              </a:rPr>
              <a:t> of </a:t>
            </a:r>
            <a:r>
              <a:rPr lang="en-US" b="1" dirty="0">
                <a:solidFill>
                  <a:srgbClr val="3116F6"/>
                </a:solidFill>
                <a:latin typeface="Times New Roman" pitchFamily="18" charset="0"/>
                <a:cs typeface="Times New Roman" pitchFamily="18" charset="0"/>
              </a:rPr>
              <a:t>Biological</a:t>
            </a:r>
            <a:r>
              <a:rPr lang="en-US" dirty="0">
                <a:latin typeface="Times New Roman" pitchFamily="18" charset="0"/>
                <a:cs typeface="Times New Roman" pitchFamily="18" charset="0"/>
              </a:rPr>
              <a:t> </a:t>
            </a:r>
            <a:r>
              <a:rPr lang="en-US" dirty="0">
                <a:solidFill>
                  <a:srgbClr val="3116F6"/>
                </a:solidFill>
                <a:latin typeface="Times New Roman" pitchFamily="18" charset="0"/>
                <a:cs typeface="Times New Roman" pitchFamily="18" charset="0"/>
              </a:rPr>
              <a:t>nervous </a:t>
            </a:r>
            <a:r>
              <a:rPr lang="en-US" dirty="0" smtClean="0">
                <a:solidFill>
                  <a:srgbClr val="3116F6"/>
                </a:solidFill>
                <a:latin typeface="Times New Roman" pitchFamily="18" charset="0"/>
                <a:cs typeface="Times New Roman" pitchFamily="18" charset="0"/>
              </a:rPr>
              <a:t>system</a:t>
            </a:r>
            <a:r>
              <a:rPr lang="en-US" dirty="0" smtClean="0">
                <a:latin typeface="Times New Roman" pitchFamily="18" charset="0"/>
                <a:cs typeface="Times New Roman" pitchFamily="18" charset="0"/>
              </a:rPr>
              <a:t> to map the inputs </a:t>
            </a:r>
            <a:r>
              <a:rPr lang="en-US" smtClean="0">
                <a:latin typeface="Times New Roman" pitchFamily="18" charset="0"/>
                <a:cs typeface="Times New Roman" pitchFamily="18" charset="0"/>
              </a:rPr>
              <a:t>to outputs.</a:t>
            </a:r>
            <a:endParaRPr lang="en-US" dirty="0">
              <a:latin typeface="Times New Roman" pitchFamily="18" charset="0"/>
              <a:cs typeface="Times New Roman" pitchFamily="18" charset="0"/>
            </a:endParaRPr>
          </a:p>
        </p:txBody>
      </p:sp>
      <p:sp>
        <p:nvSpPr>
          <p:cNvPr id="4" name="TextBox 3"/>
          <p:cNvSpPr txBox="1"/>
          <p:nvPr/>
        </p:nvSpPr>
        <p:spPr>
          <a:xfrm>
            <a:off x="0" y="0"/>
            <a:ext cx="4572000" cy="369332"/>
          </a:xfrm>
          <a:prstGeom prst="rect">
            <a:avLst/>
          </a:prstGeom>
          <a:noFill/>
        </p:spPr>
        <p:txBody>
          <a:bodyPr wrap="square" rtlCol="0">
            <a:spAutoFit/>
          </a:bodyPr>
          <a:lstStyle/>
          <a:p>
            <a:pPr algn="r"/>
            <a:r>
              <a:rPr lang="en-US" b="1" dirty="0">
                <a:solidFill>
                  <a:schemeClr val="bg1"/>
                </a:solidFill>
              </a:rPr>
              <a:t>Introduction to Neural Network</a:t>
            </a:r>
          </a:p>
        </p:txBody>
      </p:sp>
      <p:sp>
        <p:nvSpPr>
          <p:cNvPr id="5" name="Date Placeholder 3"/>
          <p:cNvSpPr>
            <a:spLocks noGrp="1"/>
          </p:cNvSpPr>
          <p:nvPr>
            <p:ph type="dt" sz="half" idx="10"/>
          </p:nvPr>
        </p:nvSpPr>
        <p:spPr>
          <a:xfrm>
            <a:off x="0" y="6629400"/>
            <a:ext cx="3048000" cy="228600"/>
          </a:xfrm>
        </p:spPr>
        <p:txBody>
          <a:bodyPr/>
          <a:lstStyle/>
          <a:p>
            <a:fld id="{E7067A60-51C7-4095-BFA9-1CE32DCBA06F}" type="datetime1">
              <a:rPr lang="en-US" smtClean="0"/>
              <a:pPr/>
              <a:t>2/9/2026</a:t>
            </a:fld>
            <a:endParaRPr lang="en-US" dirty="0"/>
          </a:p>
        </p:txBody>
      </p:sp>
      <p:sp>
        <p:nvSpPr>
          <p:cNvPr id="6" name="Slide Number Placeholder 5"/>
          <p:cNvSpPr>
            <a:spLocks noGrp="1"/>
          </p:cNvSpPr>
          <p:nvPr>
            <p:ph type="sldNum" sz="quarter" idx="12"/>
          </p:nvPr>
        </p:nvSpPr>
        <p:spPr>
          <a:xfrm>
            <a:off x="6096000" y="6629400"/>
            <a:ext cx="3048000" cy="228600"/>
          </a:xfrm>
        </p:spPr>
        <p:txBody>
          <a:bodyPr/>
          <a:lstStyle/>
          <a:p>
            <a:r>
              <a:rPr lang="en-US" dirty="0" smtClean="0"/>
              <a:t>1</a:t>
            </a:r>
            <a:endParaRPr lang="en-US" dirty="0"/>
          </a:p>
        </p:txBody>
      </p:sp>
      <p:sp>
        <p:nvSpPr>
          <p:cNvPr id="7" name="Footer Placeholder 4">
            <a:extLst>
              <a:ext uri="{FF2B5EF4-FFF2-40B4-BE49-F238E27FC236}">
                <a16:creationId xmlns:a16="http://schemas.microsoft.com/office/drawing/2014/main" id="{CBB301ED-B8A4-4772-B559-A9E41E7472BD}"/>
              </a:ext>
            </a:extLst>
          </p:cNvPr>
          <p:cNvSpPr>
            <a:spLocks noGrp="1"/>
          </p:cNvSpPr>
          <p:nvPr>
            <p:ph type="ftr" sz="quarter" idx="11"/>
          </p:nvPr>
        </p:nvSpPr>
        <p:spPr>
          <a:xfrm>
            <a:off x="2286000" y="6629400"/>
            <a:ext cx="4136571" cy="228600"/>
          </a:xfrm>
        </p:spPr>
        <p:txBody>
          <a:bodyPr/>
          <a:lstStyle/>
          <a:p>
            <a:r>
              <a:rPr lang="en-US" dirty="0"/>
              <a:t>Dr. Sibarama Panigrahi, Dept. of CSE, NIT Rourkela</a:t>
            </a:r>
          </a:p>
        </p:txBody>
      </p:sp>
      <p:sp>
        <p:nvSpPr>
          <p:cNvPr id="8" name="TextBox 7"/>
          <p:cNvSpPr txBox="1"/>
          <p:nvPr/>
        </p:nvSpPr>
        <p:spPr>
          <a:xfrm flipH="1">
            <a:off x="6472238" y="6600824"/>
            <a:ext cx="2366962" cy="307777"/>
          </a:xfrm>
          <a:prstGeom prst="rect">
            <a:avLst/>
          </a:prstGeom>
          <a:noFill/>
        </p:spPr>
        <p:txBody>
          <a:bodyPr wrap="square" rtlCol="0">
            <a:spAutoFit/>
          </a:bodyPr>
          <a:lstStyle/>
          <a:p>
            <a:r>
              <a:rPr lang="en-US" sz="1400" dirty="0" smtClean="0">
                <a:latin typeface="Times New Roman" panose="02020603050405020304" pitchFamily="18" charset="0"/>
                <a:cs typeface="Times New Roman" panose="02020603050405020304" pitchFamily="18" charset="0"/>
              </a:rPr>
              <a:t>Block Diagram of Bio NS</a:t>
            </a:r>
            <a:endParaRPr lang="en-IN" sz="1400" dirty="0">
              <a:latin typeface="Times New Roman" panose="02020603050405020304" pitchFamily="18" charset="0"/>
              <a:cs typeface="Times New Roman" panose="02020603050405020304" pitchFamily="18" charset="0"/>
            </a:endParaRPr>
          </a:p>
        </p:txBody>
      </p:sp>
    </p:spTree>
  </p:cSld>
  <p:clrMapOvr>
    <a:masterClrMapping/>
  </p:clrMapOvr>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sz="3600" dirty="0"/>
              <a:t>Block Diagram of Biological Nervous System</a:t>
            </a:r>
          </a:p>
        </p:txBody>
      </p:sp>
      <p:sp>
        <p:nvSpPr>
          <p:cNvPr id="3" name="Content Placeholder 2"/>
          <p:cNvSpPr>
            <a:spLocks noGrp="1"/>
          </p:cNvSpPr>
          <p:nvPr>
            <p:ph sz="quarter" idx="1"/>
          </p:nvPr>
        </p:nvSpPr>
        <p:spPr>
          <a:xfrm>
            <a:off x="612648" y="1600200"/>
            <a:ext cx="8153400" cy="4953000"/>
          </a:xfrm>
        </p:spPr>
        <p:txBody>
          <a:bodyPr/>
          <a:lstStyle/>
          <a:p>
            <a:endParaRPr lang="en-US" dirty="0">
              <a:latin typeface="Times New Roman" pitchFamily="18" charset="0"/>
              <a:cs typeface="Times New Roman" pitchFamily="18" charset="0"/>
            </a:endParaRPr>
          </a:p>
        </p:txBody>
      </p:sp>
      <p:sp>
        <p:nvSpPr>
          <p:cNvPr id="6" name="Rectangle 5"/>
          <p:cNvSpPr/>
          <p:nvPr/>
        </p:nvSpPr>
        <p:spPr>
          <a:xfrm>
            <a:off x="2362200" y="2971800"/>
            <a:ext cx="1371600" cy="1600200"/>
          </a:xfrm>
          <a:prstGeom prst="rect">
            <a:avLst/>
          </a:prstGeom>
          <a:noFill/>
          <a:ln w="63500">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 name="Rectangle 6"/>
          <p:cNvSpPr/>
          <p:nvPr/>
        </p:nvSpPr>
        <p:spPr>
          <a:xfrm>
            <a:off x="4190999" y="2971800"/>
            <a:ext cx="1359027" cy="1600200"/>
          </a:xfrm>
          <a:prstGeom prst="rect">
            <a:avLst/>
          </a:prstGeom>
          <a:noFill/>
          <a:ln w="63500">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Rectangle 7"/>
          <p:cNvSpPr/>
          <p:nvPr/>
        </p:nvSpPr>
        <p:spPr>
          <a:xfrm>
            <a:off x="6129336" y="2971800"/>
            <a:ext cx="1371600" cy="1600200"/>
          </a:xfrm>
          <a:prstGeom prst="rect">
            <a:avLst/>
          </a:prstGeom>
          <a:noFill/>
          <a:ln w="63500">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TextBox 8"/>
          <p:cNvSpPr txBox="1"/>
          <p:nvPr/>
        </p:nvSpPr>
        <p:spPr>
          <a:xfrm>
            <a:off x="0" y="11668"/>
            <a:ext cx="4572000" cy="369332"/>
          </a:xfrm>
          <a:prstGeom prst="rect">
            <a:avLst/>
          </a:prstGeom>
          <a:noFill/>
        </p:spPr>
        <p:txBody>
          <a:bodyPr wrap="square" rtlCol="0">
            <a:spAutoFit/>
          </a:bodyPr>
          <a:lstStyle/>
          <a:p>
            <a:pPr algn="r"/>
            <a:r>
              <a:rPr lang="en-US" b="1" dirty="0">
                <a:solidFill>
                  <a:schemeClr val="bg1"/>
                </a:solidFill>
              </a:rPr>
              <a:t>Introduction to Neural Network</a:t>
            </a:r>
          </a:p>
        </p:txBody>
      </p:sp>
      <p:sp>
        <p:nvSpPr>
          <p:cNvPr id="10" name="Rounded Rectangle 9"/>
          <p:cNvSpPr/>
          <p:nvPr/>
        </p:nvSpPr>
        <p:spPr>
          <a:xfrm>
            <a:off x="2425827" y="3048000"/>
            <a:ext cx="1219200" cy="1447800"/>
          </a:xfrm>
          <a:prstGeom prst="round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N" sz="1600" b="1" dirty="0" smtClean="0">
                <a:solidFill>
                  <a:schemeClr val="tx1"/>
                </a:solidFill>
                <a:latin typeface="Times New Roman" panose="02020603050405020304" pitchFamily="18" charset="0"/>
                <a:cs typeface="Times New Roman" panose="02020603050405020304" pitchFamily="18" charset="0"/>
              </a:rPr>
              <a:t>Receptors</a:t>
            </a:r>
            <a:endParaRPr lang="en-IN" sz="1600" b="1" dirty="0">
              <a:solidFill>
                <a:schemeClr val="tx1"/>
              </a:solidFill>
              <a:latin typeface="Times New Roman" panose="02020603050405020304" pitchFamily="18" charset="0"/>
              <a:cs typeface="Times New Roman" panose="02020603050405020304" pitchFamily="18" charset="0"/>
            </a:endParaRPr>
          </a:p>
        </p:txBody>
      </p:sp>
      <p:sp>
        <p:nvSpPr>
          <p:cNvPr id="12" name="Rounded Rectangle 11"/>
          <p:cNvSpPr/>
          <p:nvPr/>
        </p:nvSpPr>
        <p:spPr>
          <a:xfrm>
            <a:off x="4267200" y="3048000"/>
            <a:ext cx="1219200" cy="1447800"/>
          </a:xfrm>
          <a:prstGeom prst="round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N" sz="1600" b="1" dirty="0" smtClean="0">
                <a:solidFill>
                  <a:schemeClr val="tx1"/>
                </a:solidFill>
                <a:latin typeface="Times New Roman" panose="02020603050405020304" pitchFamily="18" charset="0"/>
                <a:cs typeface="Times New Roman" panose="02020603050405020304" pitchFamily="18" charset="0"/>
              </a:rPr>
              <a:t>Neural</a:t>
            </a:r>
          </a:p>
          <a:p>
            <a:pPr algn="ctr"/>
            <a:r>
              <a:rPr lang="en-IN" sz="1600" b="1" dirty="0" smtClean="0">
                <a:solidFill>
                  <a:schemeClr val="tx1"/>
                </a:solidFill>
                <a:latin typeface="Times New Roman" panose="02020603050405020304" pitchFamily="18" charset="0"/>
                <a:cs typeface="Times New Roman" panose="02020603050405020304" pitchFamily="18" charset="0"/>
              </a:rPr>
              <a:t>Network</a:t>
            </a:r>
          </a:p>
          <a:p>
            <a:pPr algn="ctr"/>
            <a:r>
              <a:rPr lang="en-IN" sz="1600" b="1" dirty="0" smtClean="0">
                <a:solidFill>
                  <a:schemeClr val="tx1"/>
                </a:solidFill>
                <a:latin typeface="Times New Roman" panose="02020603050405020304" pitchFamily="18" charset="0"/>
                <a:cs typeface="Times New Roman" panose="02020603050405020304" pitchFamily="18" charset="0"/>
              </a:rPr>
              <a:t>Or</a:t>
            </a:r>
          </a:p>
          <a:p>
            <a:pPr algn="ctr"/>
            <a:r>
              <a:rPr lang="en-IN" sz="1600" b="1" dirty="0" smtClean="0">
                <a:solidFill>
                  <a:schemeClr val="tx1"/>
                </a:solidFill>
                <a:latin typeface="Times New Roman" panose="02020603050405020304" pitchFamily="18" charset="0"/>
                <a:cs typeface="Times New Roman" panose="02020603050405020304" pitchFamily="18" charset="0"/>
              </a:rPr>
              <a:t>Brain</a:t>
            </a:r>
            <a:endParaRPr lang="en-IN" sz="1600" b="1" dirty="0">
              <a:solidFill>
                <a:schemeClr val="tx1"/>
              </a:solidFill>
              <a:latin typeface="Times New Roman" panose="02020603050405020304" pitchFamily="18" charset="0"/>
              <a:cs typeface="Times New Roman" panose="02020603050405020304" pitchFamily="18" charset="0"/>
            </a:endParaRPr>
          </a:p>
        </p:txBody>
      </p:sp>
      <p:sp>
        <p:nvSpPr>
          <p:cNvPr id="13" name="Rounded Rectangle 12"/>
          <p:cNvSpPr/>
          <p:nvPr/>
        </p:nvSpPr>
        <p:spPr>
          <a:xfrm>
            <a:off x="6205536" y="3048000"/>
            <a:ext cx="1219200" cy="1447800"/>
          </a:xfrm>
          <a:prstGeom prst="round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N" sz="1600" b="1" dirty="0" smtClean="0">
                <a:solidFill>
                  <a:schemeClr val="tx1"/>
                </a:solidFill>
                <a:latin typeface="Times New Roman" panose="02020603050405020304" pitchFamily="18" charset="0"/>
                <a:cs typeface="Times New Roman" panose="02020603050405020304" pitchFamily="18" charset="0"/>
              </a:rPr>
              <a:t>Effectors</a:t>
            </a:r>
            <a:endParaRPr lang="en-IN" sz="1600" b="1" dirty="0">
              <a:solidFill>
                <a:schemeClr val="tx1"/>
              </a:solidFill>
              <a:latin typeface="Times New Roman" panose="02020603050405020304" pitchFamily="18" charset="0"/>
              <a:cs typeface="Times New Roman" panose="02020603050405020304" pitchFamily="18" charset="0"/>
            </a:endParaRPr>
          </a:p>
        </p:txBody>
      </p:sp>
      <p:sp>
        <p:nvSpPr>
          <p:cNvPr id="11" name="Left-Right Arrow 10"/>
          <p:cNvSpPr/>
          <p:nvPr/>
        </p:nvSpPr>
        <p:spPr>
          <a:xfrm>
            <a:off x="3657600" y="3581400"/>
            <a:ext cx="609600" cy="228600"/>
          </a:xfrm>
          <a:prstGeom prst="left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15" name="Left-Right Arrow 14"/>
          <p:cNvSpPr/>
          <p:nvPr/>
        </p:nvSpPr>
        <p:spPr>
          <a:xfrm>
            <a:off x="5562600" y="3581400"/>
            <a:ext cx="609600" cy="228600"/>
          </a:xfrm>
          <a:prstGeom prst="left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14" name="Right Arrow 13"/>
          <p:cNvSpPr/>
          <p:nvPr/>
        </p:nvSpPr>
        <p:spPr>
          <a:xfrm>
            <a:off x="1905000" y="3581400"/>
            <a:ext cx="520827" cy="228600"/>
          </a:xfrm>
          <a:prstGeom prst="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17" name="Right Arrow 16"/>
          <p:cNvSpPr/>
          <p:nvPr/>
        </p:nvSpPr>
        <p:spPr>
          <a:xfrm>
            <a:off x="7453312" y="3581400"/>
            <a:ext cx="520827" cy="228600"/>
          </a:xfrm>
          <a:prstGeom prst="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16" name="TextBox 15"/>
          <p:cNvSpPr txBox="1"/>
          <p:nvPr/>
        </p:nvSpPr>
        <p:spPr>
          <a:xfrm>
            <a:off x="745997" y="3457514"/>
            <a:ext cx="1235203" cy="400110"/>
          </a:xfrm>
          <a:prstGeom prst="rect">
            <a:avLst/>
          </a:prstGeom>
          <a:noFill/>
        </p:spPr>
        <p:txBody>
          <a:bodyPr wrap="square" rtlCol="0">
            <a:spAutoFit/>
          </a:bodyPr>
          <a:lstStyle/>
          <a:p>
            <a:r>
              <a:rPr lang="en-IN" sz="2000" b="1" dirty="0" smtClean="0">
                <a:latin typeface="Times New Roman" panose="02020603050405020304" pitchFamily="18" charset="0"/>
                <a:cs typeface="Times New Roman" panose="02020603050405020304" pitchFamily="18" charset="0"/>
              </a:rPr>
              <a:t>Stimulus</a:t>
            </a:r>
            <a:endParaRPr lang="en-IN" sz="2000" b="1" dirty="0">
              <a:latin typeface="Times New Roman" panose="02020603050405020304" pitchFamily="18" charset="0"/>
              <a:cs typeface="Times New Roman" panose="02020603050405020304" pitchFamily="18" charset="0"/>
            </a:endParaRPr>
          </a:p>
        </p:txBody>
      </p:sp>
      <p:sp>
        <p:nvSpPr>
          <p:cNvPr id="19" name="TextBox 18"/>
          <p:cNvSpPr txBox="1"/>
          <p:nvPr/>
        </p:nvSpPr>
        <p:spPr>
          <a:xfrm>
            <a:off x="7984997" y="3486090"/>
            <a:ext cx="1235203" cy="400110"/>
          </a:xfrm>
          <a:prstGeom prst="rect">
            <a:avLst/>
          </a:prstGeom>
          <a:noFill/>
        </p:spPr>
        <p:txBody>
          <a:bodyPr wrap="square" rtlCol="0">
            <a:spAutoFit/>
          </a:bodyPr>
          <a:lstStyle/>
          <a:p>
            <a:r>
              <a:rPr lang="en-IN" sz="2000" b="1" dirty="0" smtClean="0">
                <a:latin typeface="Times New Roman" panose="02020603050405020304" pitchFamily="18" charset="0"/>
                <a:cs typeface="Times New Roman" panose="02020603050405020304" pitchFamily="18" charset="0"/>
              </a:rPr>
              <a:t>Response</a:t>
            </a:r>
            <a:endParaRPr lang="en-IN" sz="2000" b="1" dirty="0">
              <a:latin typeface="Times New Roman" panose="02020603050405020304" pitchFamily="18" charset="0"/>
              <a:cs typeface="Times New Roman" panose="02020603050405020304" pitchFamily="18" charset="0"/>
            </a:endParaRPr>
          </a:p>
        </p:txBody>
      </p:sp>
      <p:sp>
        <p:nvSpPr>
          <p:cNvPr id="20" name="Date Placeholder 3"/>
          <p:cNvSpPr>
            <a:spLocks noGrp="1"/>
          </p:cNvSpPr>
          <p:nvPr>
            <p:ph type="dt" sz="half" idx="10"/>
          </p:nvPr>
        </p:nvSpPr>
        <p:spPr>
          <a:xfrm>
            <a:off x="0" y="6629400"/>
            <a:ext cx="3048000" cy="228600"/>
          </a:xfrm>
        </p:spPr>
        <p:txBody>
          <a:bodyPr/>
          <a:lstStyle/>
          <a:p>
            <a:fld id="{E7067A60-51C7-4095-BFA9-1CE32DCBA06F}" type="datetime1">
              <a:rPr lang="en-US" smtClean="0"/>
              <a:pPr/>
              <a:t>2/9/2026</a:t>
            </a:fld>
            <a:endParaRPr lang="en-US" dirty="0"/>
          </a:p>
        </p:txBody>
      </p:sp>
      <p:sp>
        <p:nvSpPr>
          <p:cNvPr id="21" name="Slide Number Placeholder 5"/>
          <p:cNvSpPr>
            <a:spLocks noGrp="1"/>
          </p:cNvSpPr>
          <p:nvPr>
            <p:ph type="sldNum" sz="quarter" idx="12"/>
          </p:nvPr>
        </p:nvSpPr>
        <p:spPr>
          <a:xfrm>
            <a:off x="6096000" y="6629400"/>
            <a:ext cx="3048000" cy="228600"/>
          </a:xfrm>
        </p:spPr>
        <p:txBody>
          <a:bodyPr/>
          <a:lstStyle/>
          <a:p>
            <a:r>
              <a:rPr lang="en-US" dirty="0" smtClean="0"/>
              <a:t>2</a:t>
            </a:r>
            <a:endParaRPr lang="en-US" dirty="0"/>
          </a:p>
        </p:txBody>
      </p:sp>
      <p:sp>
        <p:nvSpPr>
          <p:cNvPr id="22" name="Footer Placeholder 4">
            <a:extLst>
              <a:ext uri="{FF2B5EF4-FFF2-40B4-BE49-F238E27FC236}">
                <a16:creationId xmlns:a16="http://schemas.microsoft.com/office/drawing/2014/main" id="{CBB301ED-B8A4-4772-B559-A9E41E7472BD}"/>
              </a:ext>
            </a:extLst>
          </p:cNvPr>
          <p:cNvSpPr>
            <a:spLocks noGrp="1"/>
          </p:cNvSpPr>
          <p:nvPr>
            <p:ph type="ftr" sz="quarter" idx="11"/>
          </p:nvPr>
        </p:nvSpPr>
        <p:spPr>
          <a:xfrm>
            <a:off x="2286000" y="6629400"/>
            <a:ext cx="4136571" cy="228600"/>
          </a:xfrm>
        </p:spPr>
        <p:txBody>
          <a:bodyPr/>
          <a:lstStyle/>
          <a:p>
            <a:r>
              <a:rPr lang="en-US" dirty="0"/>
              <a:t>Dr. Sibarama Panigrahi, Dept. of CSE, NIT Rourkela</a:t>
            </a:r>
          </a:p>
        </p:txBody>
      </p:sp>
      <p:sp>
        <p:nvSpPr>
          <p:cNvPr id="23" name="TextBox 22"/>
          <p:cNvSpPr txBox="1"/>
          <p:nvPr/>
        </p:nvSpPr>
        <p:spPr>
          <a:xfrm flipH="1">
            <a:off x="6472238" y="6600824"/>
            <a:ext cx="2366962" cy="307777"/>
          </a:xfrm>
          <a:prstGeom prst="rect">
            <a:avLst/>
          </a:prstGeom>
          <a:noFill/>
        </p:spPr>
        <p:txBody>
          <a:bodyPr wrap="square" rtlCol="0">
            <a:spAutoFit/>
          </a:bodyPr>
          <a:lstStyle/>
          <a:p>
            <a:r>
              <a:rPr lang="en-US" sz="1400" dirty="0" smtClean="0">
                <a:latin typeface="Times New Roman" panose="02020603050405020304" pitchFamily="18" charset="0"/>
                <a:cs typeface="Times New Roman" panose="02020603050405020304" pitchFamily="18" charset="0"/>
              </a:rPr>
              <a:t>Typical Human Brain</a:t>
            </a:r>
            <a:endParaRPr lang="en-IN" sz="1400" dirty="0">
              <a:latin typeface="Times New Roman" panose="02020603050405020304" pitchFamily="18" charset="0"/>
              <a:cs typeface="Times New Roman" panose="02020603050405020304" pitchFamily="18" charset="0"/>
            </a:endParaRPr>
          </a:p>
        </p:txBody>
      </p:sp>
    </p:spTree>
  </p:cSld>
  <p:clrMapOvr>
    <a:masterClrMapping/>
  </p:clrMapOvr>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dirty="0"/>
              <a:t>Typical Human Brain</a:t>
            </a:r>
          </a:p>
        </p:txBody>
      </p:sp>
      <p:pic>
        <p:nvPicPr>
          <p:cNvPr id="1026" name="Picture 2" descr="C:\Users\user\Desktop\1.png"/>
          <p:cNvPicPr>
            <a:picLocks noChangeAspect="1" noChangeArrowheads="1"/>
          </p:cNvPicPr>
          <p:nvPr/>
        </p:nvPicPr>
        <p:blipFill>
          <a:blip r:embed="rId3"/>
          <a:srcRect/>
          <a:stretch>
            <a:fillRect/>
          </a:stretch>
        </p:blipFill>
        <p:spPr bwMode="auto">
          <a:xfrm>
            <a:off x="650875" y="990600"/>
            <a:ext cx="7731125" cy="5592769"/>
          </a:xfrm>
          <a:prstGeom prst="rect">
            <a:avLst/>
          </a:prstGeom>
          <a:noFill/>
        </p:spPr>
      </p:pic>
      <p:sp>
        <p:nvSpPr>
          <p:cNvPr id="11" name="TextBox 10"/>
          <p:cNvSpPr txBox="1"/>
          <p:nvPr/>
        </p:nvSpPr>
        <p:spPr>
          <a:xfrm>
            <a:off x="0" y="0"/>
            <a:ext cx="4572000" cy="369332"/>
          </a:xfrm>
          <a:prstGeom prst="rect">
            <a:avLst/>
          </a:prstGeom>
          <a:noFill/>
        </p:spPr>
        <p:txBody>
          <a:bodyPr wrap="square" rtlCol="0">
            <a:spAutoFit/>
          </a:bodyPr>
          <a:lstStyle/>
          <a:p>
            <a:pPr algn="r"/>
            <a:r>
              <a:rPr lang="en-US" b="1" dirty="0">
                <a:solidFill>
                  <a:schemeClr val="bg1"/>
                </a:solidFill>
              </a:rPr>
              <a:t>Introduction to Neural Network</a:t>
            </a:r>
          </a:p>
        </p:txBody>
      </p:sp>
      <p:sp>
        <p:nvSpPr>
          <p:cNvPr id="5" name="Date Placeholder 3"/>
          <p:cNvSpPr>
            <a:spLocks noGrp="1"/>
          </p:cNvSpPr>
          <p:nvPr>
            <p:ph type="dt" sz="half" idx="10"/>
          </p:nvPr>
        </p:nvSpPr>
        <p:spPr>
          <a:xfrm>
            <a:off x="0" y="6629400"/>
            <a:ext cx="3048000" cy="228600"/>
          </a:xfrm>
        </p:spPr>
        <p:txBody>
          <a:bodyPr/>
          <a:lstStyle/>
          <a:p>
            <a:fld id="{E7067A60-51C7-4095-BFA9-1CE32DCBA06F}" type="datetime1">
              <a:rPr lang="en-US" smtClean="0"/>
              <a:pPr/>
              <a:t>2/9/2026</a:t>
            </a:fld>
            <a:endParaRPr lang="en-US" dirty="0"/>
          </a:p>
        </p:txBody>
      </p:sp>
      <p:sp>
        <p:nvSpPr>
          <p:cNvPr id="6" name="Slide Number Placeholder 5"/>
          <p:cNvSpPr>
            <a:spLocks noGrp="1"/>
          </p:cNvSpPr>
          <p:nvPr>
            <p:ph type="sldNum" sz="quarter" idx="12"/>
          </p:nvPr>
        </p:nvSpPr>
        <p:spPr>
          <a:xfrm>
            <a:off x="6096000" y="6629400"/>
            <a:ext cx="3048000" cy="228600"/>
          </a:xfrm>
        </p:spPr>
        <p:txBody>
          <a:bodyPr/>
          <a:lstStyle/>
          <a:p>
            <a:r>
              <a:rPr lang="en-US" dirty="0" smtClean="0"/>
              <a:t>3</a:t>
            </a:r>
            <a:endParaRPr lang="en-US" dirty="0"/>
          </a:p>
        </p:txBody>
      </p:sp>
      <p:sp>
        <p:nvSpPr>
          <p:cNvPr id="7" name="Footer Placeholder 4">
            <a:extLst>
              <a:ext uri="{FF2B5EF4-FFF2-40B4-BE49-F238E27FC236}">
                <a16:creationId xmlns:a16="http://schemas.microsoft.com/office/drawing/2014/main" id="{CBB301ED-B8A4-4772-B559-A9E41E7472BD}"/>
              </a:ext>
            </a:extLst>
          </p:cNvPr>
          <p:cNvSpPr>
            <a:spLocks noGrp="1"/>
          </p:cNvSpPr>
          <p:nvPr>
            <p:ph type="ftr" sz="quarter" idx="11"/>
          </p:nvPr>
        </p:nvSpPr>
        <p:spPr>
          <a:xfrm>
            <a:off x="2286000" y="6629400"/>
            <a:ext cx="4136571" cy="228600"/>
          </a:xfrm>
        </p:spPr>
        <p:txBody>
          <a:bodyPr/>
          <a:lstStyle/>
          <a:p>
            <a:r>
              <a:rPr lang="en-US" dirty="0"/>
              <a:t>Dr. Sibarama Panigrahi, Dept. of CSE, NIT Rourkela</a:t>
            </a:r>
          </a:p>
        </p:txBody>
      </p:sp>
      <p:sp>
        <p:nvSpPr>
          <p:cNvPr id="3" name="TextBox 2"/>
          <p:cNvSpPr txBox="1"/>
          <p:nvPr/>
        </p:nvSpPr>
        <p:spPr>
          <a:xfrm>
            <a:off x="4586287" y="5334000"/>
            <a:ext cx="877163" cy="307777"/>
          </a:xfrm>
          <a:prstGeom prst="rect">
            <a:avLst/>
          </a:prstGeom>
          <a:noFill/>
        </p:spPr>
        <p:txBody>
          <a:bodyPr wrap="none" rtlCol="0">
            <a:spAutoFit/>
          </a:bodyPr>
          <a:lstStyle/>
          <a:p>
            <a:r>
              <a:rPr lang="en-US" sz="1400" b="1" dirty="0" smtClean="0"/>
              <a:t>Cell Body</a:t>
            </a:r>
            <a:endParaRPr lang="en-IN" sz="1400" b="1" dirty="0"/>
          </a:p>
        </p:txBody>
      </p:sp>
      <p:sp>
        <p:nvSpPr>
          <p:cNvPr id="9" name="TextBox 8"/>
          <p:cNvSpPr txBox="1"/>
          <p:nvPr/>
        </p:nvSpPr>
        <p:spPr>
          <a:xfrm flipH="1">
            <a:off x="6472238" y="6600824"/>
            <a:ext cx="2366962" cy="307777"/>
          </a:xfrm>
          <a:prstGeom prst="rect">
            <a:avLst/>
          </a:prstGeom>
          <a:noFill/>
        </p:spPr>
        <p:txBody>
          <a:bodyPr wrap="square" rtlCol="0">
            <a:spAutoFit/>
          </a:bodyPr>
          <a:lstStyle/>
          <a:p>
            <a:r>
              <a:rPr lang="en-US" sz="1400" dirty="0" smtClean="0">
                <a:latin typeface="Times New Roman" panose="02020603050405020304" pitchFamily="18" charset="0"/>
                <a:cs typeface="Times New Roman" panose="02020603050405020304" pitchFamily="18" charset="0"/>
              </a:rPr>
              <a:t>Human Neuron </a:t>
            </a:r>
            <a:r>
              <a:rPr lang="en-US" sz="1400" dirty="0" err="1" smtClean="0">
                <a:latin typeface="Times New Roman" panose="02020603050405020304" pitchFamily="18" charset="0"/>
                <a:cs typeface="Times New Roman" panose="02020603050405020304" pitchFamily="18" charset="0"/>
              </a:rPr>
              <a:t>vs</a:t>
            </a:r>
            <a:r>
              <a:rPr lang="en-US" sz="1400" dirty="0" smtClean="0">
                <a:latin typeface="Times New Roman" panose="02020603050405020304" pitchFamily="18" charset="0"/>
                <a:cs typeface="Times New Roman" panose="02020603050405020304" pitchFamily="18" charset="0"/>
              </a:rPr>
              <a:t> Art Neuron</a:t>
            </a:r>
            <a:endParaRPr lang="en-IN" sz="1400" dirty="0">
              <a:latin typeface="Times New Roman" panose="02020603050405020304" pitchFamily="18" charset="0"/>
              <a:cs typeface="Times New Roman" panose="02020603050405020304" pitchFamily="18" charset="0"/>
            </a:endParaRPr>
          </a:p>
        </p:txBody>
      </p:sp>
    </p:spTree>
  </p:cSld>
  <p:clrMapOvr>
    <a:masterClrMapping/>
  </p:clrMapOvr>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dirty="0"/>
              <a:t>Human Brain Neuron </a:t>
            </a:r>
            <a:r>
              <a:rPr lang="en-US" dirty="0" err="1"/>
              <a:t>vs</a:t>
            </a:r>
            <a:r>
              <a:rPr lang="en-US" dirty="0"/>
              <a:t> Artificial Neuron</a:t>
            </a:r>
          </a:p>
        </p:txBody>
      </p:sp>
      <p:pic>
        <p:nvPicPr>
          <p:cNvPr id="3" name="Picture 2"/>
          <p:cNvPicPr>
            <a:picLocks noChangeAspect="1" noChangeArrowheads="1"/>
          </p:cNvPicPr>
          <p:nvPr/>
        </p:nvPicPr>
        <p:blipFill>
          <a:blip r:embed="rId2"/>
          <a:srcRect/>
          <a:stretch>
            <a:fillRect/>
          </a:stretch>
        </p:blipFill>
        <p:spPr bwMode="auto">
          <a:xfrm>
            <a:off x="415925" y="1589087"/>
            <a:ext cx="8347075" cy="4735513"/>
          </a:xfrm>
          <a:prstGeom prst="rect">
            <a:avLst/>
          </a:prstGeom>
          <a:noFill/>
          <a:ln w="9525">
            <a:noFill/>
            <a:miter lim="800000"/>
            <a:headEnd/>
            <a:tailEnd/>
          </a:ln>
          <a:effectLst/>
        </p:spPr>
      </p:pic>
      <p:sp>
        <p:nvSpPr>
          <p:cNvPr id="9" name="TextBox 8"/>
          <p:cNvSpPr txBox="1"/>
          <p:nvPr/>
        </p:nvSpPr>
        <p:spPr>
          <a:xfrm>
            <a:off x="0" y="0"/>
            <a:ext cx="4572000" cy="369332"/>
          </a:xfrm>
          <a:prstGeom prst="rect">
            <a:avLst/>
          </a:prstGeom>
          <a:noFill/>
        </p:spPr>
        <p:txBody>
          <a:bodyPr wrap="square" rtlCol="0">
            <a:spAutoFit/>
          </a:bodyPr>
          <a:lstStyle/>
          <a:p>
            <a:pPr algn="r"/>
            <a:r>
              <a:rPr lang="en-US" b="1" dirty="0">
                <a:solidFill>
                  <a:schemeClr val="bg1"/>
                </a:solidFill>
              </a:rPr>
              <a:t>Introduction to Neural Network</a:t>
            </a:r>
          </a:p>
        </p:txBody>
      </p:sp>
      <p:sp>
        <p:nvSpPr>
          <p:cNvPr id="5" name="Date Placeholder 3"/>
          <p:cNvSpPr>
            <a:spLocks noGrp="1"/>
          </p:cNvSpPr>
          <p:nvPr>
            <p:ph type="dt" sz="half" idx="10"/>
          </p:nvPr>
        </p:nvSpPr>
        <p:spPr>
          <a:xfrm>
            <a:off x="0" y="6629400"/>
            <a:ext cx="3048000" cy="228600"/>
          </a:xfrm>
        </p:spPr>
        <p:txBody>
          <a:bodyPr/>
          <a:lstStyle/>
          <a:p>
            <a:fld id="{E7067A60-51C7-4095-BFA9-1CE32DCBA06F}" type="datetime1">
              <a:rPr lang="en-US" smtClean="0"/>
              <a:pPr/>
              <a:t>2/9/2026</a:t>
            </a:fld>
            <a:endParaRPr lang="en-US" dirty="0"/>
          </a:p>
        </p:txBody>
      </p:sp>
      <p:sp>
        <p:nvSpPr>
          <p:cNvPr id="6" name="Slide Number Placeholder 5"/>
          <p:cNvSpPr>
            <a:spLocks noGrp="1"/>
          </p:cNvSpPr>
          <p:nvPr>
            <p:ph type="sldNum" sz="quarter" idx="12"/>
          </p:nvPr>
        </p:nvSpPr>
        <p:spPr>
          <a:xfrm>
            <a:off x="6096000" y="6629400"/>
            <a:ext cx="3048000" cy="228600"/>
          </a:xfrm>
        </p:spPr>
        <p:txBody>
          <a:bodyPr/>
          <a:lstStyle/>
          <a:p>
            <a:r>
              <a:rPr lang="en-US" dirty="0" smtClean="0"/>
              <a:t>4</a:t>
            </a:r>
            <a:endParaRPr lang="en-US" dirty="0"/>
          </a:p>
        </p:txBody>
      </p:sp>
      <p:sp>
        <p:nvSpPr>
          <p:cNvPr id="7" name="Footer Placeholder 4">
            <a:extLst>
              <a:ext uri="{FF2B5EF4-FFF2-40B4-BE49-F238E27FC236}">
                <a16:creationId xmlns:a16="http://schemas.microsoft.com/office/drawing/2014/main" id="{CBB301ED-B8A4-4772-B559-A9E41E7472BD}"/>
              </a:ext>
            </a:extLst>
          </p:cNvPr>
          <p:cNvSpPr>
            <a:spLocks noGrp="1"/>
          </p:cNvSpPr>
          <p:nvPr>
            <p:ph type="ftr" sz="quarter" idx="11"/>
          </p:nvPr>
        </p:nvSpPr>
        <p:spPr>
          <a:xfrm>
            <a:off x="2286000" y="6629400"/>
            <a:ext cx="4136571" cy="228600"/>
          </a:xfrm>
        </p:spPr>
        <p:txBody>
          <a:bodyPr/>
          <a:lstStyle/>
          <a:p>
            <a:r>
              <a:rPr lang="en-US" dirty="0"/>
              <a:t>Dr. Sibarama Panigrahi, Dept. of CSE, NIT Rourkela</a:t>
            </a:r>
          </a:p>
        </p:txBody>
      </p:sp>
      <p:sp>
        <p:nvSpPr>
          <p:cNvPr id="8" name="TextBox 7"/>
          <p:cNvSpPr txBox="1"/>
          <p:nvPr/>
        </p:nvSpPr>
        <p:spPr>
          <a:xfrm flipH="1">
            <a:off x="6472238" y="6600824"/>
            <a:ext cx="2366962" cy="307777"/>
          </a:xfrm>
          <a:prstGeom prst="rect">
            <a:avLst/>
          </a:prstGeom>
          <a:noFill/>
        </p:spPr>
        <p:txBody>
          <a:bodyPr wrap="square" rtlCol="0">
            <a:spAutoFit/>
          </a:bodyPr>
          <a:lstStyle/>
          <a:p>
            <a:r>
              <a:rPr lang="en-US" sz="1400" dirty="0" smtClean="0">
                <a:latin typeface="Times New Roman" panose="02020603050405020304" pitchFamily="18" charset="0"/>
                <a:cs typeface="Times New Roman" panose="02020603050405020304" pitchFamily="18" charset="0"/>
              </a:rPr>
              <a:t>Artificial Neuron</a:t>
            </a:r>
            <a:endParaRPr lang="en-IN" sz="1400" dirty="0">
              <a:latin typeface="Times New Roman" panose="02020603050405020304" pitchFamily="18" charset="0"/>
              <a:cs typeface="Times New Roman" panose="02020603050405020304" pitchFamily="18" charset="0"/>
            </a:endParaRPr>
          </a:p>
        </p:txBody>
      </p:sp>
    </p:spTree>
  </p:cSld>
  <p:clrMapOvr>
    <a:masterClrMapping/>
  </p:clrMapOvr>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Artificial Neuron</a:t>
            </a:r>
          </a:p>
        </p:txBody>
      </p:sp>
      <p:sp>
        <p:nvSpPr>
          <p:cNvPr id="5" name="Oval 4"/>
          <p:cNvSpPr/>
          <p:nvPr/>
        </p:nvSpPr>
        <p:spPr>
          <a:xfrm>
            <a:off x="3429000" y="2971800"/>
            <a:ext cx="1066800" cy="1295400"/>
          </a:xfrm>
          <a:prstGeom prst="ellipse">
            <a:avLst/>
          </a:prstGeom>
          <a:solidFill>
            <a:schemeClr val="accent1">
              <a:alpha val="17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4400" b="1" dirty="0">
                <a:solidFill>
                  <a:schemeClr val="tx1"/>
                </a:solidFill>
              </a:rPr>
              <a:t>∑</a:t>
            </a:r>
          </a:p>
        </p:txBody>
      </p:sp>
      <p:cxnSp>
        <p:nvCxnSpPr>
          <p:cNvPr id="7" name="Straight Arrow Connector 6"/>
          <p:cNvCxnSpPr/>
          <p:nvPr/>
        </p:nvCxnSpPr>
        <p:spPr>
          <a:xfrm>
            <a:off x="1676400" y="2590800"/>
            <a:ext cx="1828800" cy="685800"/>
          </a:xfrm>
          <a:prstGeom prst="straightConnector1">
            <a:avLst/>
          </a:prstGeom>
          <a:ln w="25400">
            <a:tailEnd type="arrow"/>
          </a:ln>
        </p:spPr>
        <p:style>
          <a:lnRef idx="1">
            <a:schemeClr val="accent1"/>
          </a:lnRef>
          <a:fillRef idx="0">
            <a:schemeClr val="accent1"/>
          </a:fillRef>
          <a:effectRef idx="0">
            <a:schemeClr val="accent1"/>
          </a:effectRef>
          <a:fontRef idx="minor">
            <a:schemeClr val="tx1"/>
          </a:fontRef>
        </p:style>
      </p:cxnSp>
      <p:cxnSp>
        <p:nvCxnSpPr>
          <p:cNvPr id="9" name="Straight Arrow Connector 8"/>
          <p:cNvCxnSpPr/>
          <p:nvPr/>
        </p:nvCxnSpPr>
        <p:spPr>
          <a:xfrm>
            <a:off x="1613848" y="3020704"/>
            <a:ext cx="1828800" cy="457200"/>
          </a:xfrm>
          <a:prstGeom prst="straightConnector1">
            <a:avLst/>
          </a:prstGeom>
          <a:ln w="25400">
            <a:tailEnd type="arrow"/>
          </a:ln>
        </p:spPr>
        <p:style>
          <a:lnRef idx="1">
            <a:schemeClr val="accent1"/>
          </a:lnRef>
          <a:fillRef idx="0">
            <a:schemeClr val="accent1"/>
          </a:fillRef>
          <a:effectRef idx="0">
            <a:schemeClr val="accent1"/>
          </a:effectRef>
          <a:fontRef idx="minor">
            <a:schemeClr val="tx1"/>
          </a:fontRef>
        </p:style>
      </p:cxnSp>
      <p:cxnSp>
        <p:nvCxnSpPr>
          <p:cNvPr id="10" name="Straight Arrow Connector 9"/>
          <p:cNvCxnSpPr/>
          <p:nvPr/>
        </p:nvCxnSpPr>
        <p:spPr>
          <a:xfrm>
            <a:off x="1608160" y="3589360"/>
            <a:ext cx="1828800" cy="76200"/>
          </a:xfrm>
          <a:prstGeom prst="straightConnector1">
            <a:avLst/>
          </a:prstGeom>
          <a:ln w="25400">
            <a:tailEnd type="arrow"/>
          </a:ln>
        </p:spPr>
        <p:style>
          <a:lnRef idx="1">
            <a:schemeClr val="accent1"/>
          </a:lnRef>
          <a:fillRef idx="0">
            <a:schemeClr val="accent1"/>
          </a:fillRef>
          <a:effectRef idx="0">
            <a:schemeClr val="accent1"/>
          </a:effectRef>
          <a:fontRef idx="minor">
            <a:schemeClr val="tx1"/>
          </a:fontRef>
        </p:style>
      </p:cxnSp>
      <p:cxnSp>
        <p:nvCxnSpPr>
          <p:cNvPr id="11" name="Straight Arrow Connector 10"/>
          <p:cNvCxnSpPr>
            <a:endCxn id="5" idx="3"/>
          </p:cNvCxnSpPr>
          <p:nvPr/>
        </p:nvCxnSpPr>
        <p:spPr>
          <a:xfrm flipV="1">
            <a:off x="1600200" y="4077493"/>
            <a:ext cx="1985029" cy="646907"/>
          </a:xfrm>
          <a:prstGeom prst="straightConnector1">
            <a:avLst/>
          </a:prstGeom>
          <a:ln w="25400">
            <a:tailEnd type="arrow"/>
          </a:ln>
        </p:spPr>
        <p:style>
          <a:lnRef idx="1">
            <a:schemeClr val="accent1"/>
          </a:lnRef>
          <a:fillRef idx="0">
            <a:schemeClr val="accent1"/>
          </a:fillRef>
          <a:effectRef idx="0">
            <a:schemeClr val="accent1"/>
          </a:effectRef>
          <a:fontRef idx="minor">
            <a:schemeClr val="tx1"/>
          </a:fontRef>
        </p:style>
      </p:cxnSp>
      <p:sp>
        <p:nvSpPr>
          <p:cNvPr id="16" name="TextBox 15"/>
          <p:cNvSpPr txBox="1"/>
          <p:nvPr/>
        </p:nvSpPr>
        <p:spPr>
          <a:xfrm>
            <a:off x="1371600" y="2373868"/>
            <a:ext cx="457200" cy="369332"/>
          </a:xfrm>
          <a:prstGeom prst="rect">
            <a:avLst/>
          </a:prstGeom>
          <a:noFill/>
        </p:spPr>
        <p:txBody>
          <a:bodyPr wrap="square" rtlCol="0">
            <a:spAutoFit/>
          </a:bodyPr>
          <a:lstStyle/>
          <a:p>
            <a:r>
              <a:rPr lang="en-US" dirty="0"/>
              <a:t>x</a:t>
            </a:r>
            <a:r>
              <a:rPr lang="en-US" baseline="-25000" dirty="0"/>
              <a:t>1</a:t>
            </a:r>
          </a:p>
        </p:txBody>
      </p:sp>
      <p:sp>
        <p:nvSpPr>
          <p:cNvPr id="17" name="TextBox 16"/>
          <p:cNvSpPr txBox="1"/>
          <p:nvPr/>
        </p:nvSpPr>
        <p:spPr>
          <a:xfrm>
            <a:off x="1295400" y="2831068"/>
            <a:ext cx="457200" cy="369332"/>
          </a:xfrm>
          <a:prstGeom prst="rect">
            <a:avLst/>
          </a:prstGeom>
          <a:noFill/>
        </p:spPr>
        <p:txBody>
          <a:bodyPr wrap="square" rtlCol="0">
            <a:spAutoFit/>
          </a:bodyPr>
          <a:lstStyle/>
          <a:p>
            <a:r>
              <a:rPr lang="en-US" dirty="0"/>
              <a:t>x</a:t>
            </a:r>
            <a:r>
              <a:rPr lang="en-US" baseline="-25000" dirty="0"/>
              <a:t>2</a:t>
            </a:r>
          </a:p>
        </p:txBody>
      </p:sp>
      <p:sp>
        <p:nvSpPr>
          <p:cNvPr id="18" name="TextBox 17"/>
          <p:cNvSpPr txBox="1"/>
          <p:nvPr/>
        </p:nvSpPr>
        <p:spPr>
          <a:xfrm>
            <a:off x="1295400" y="3364468"/>
            <a:ext cx="457200" cy="369332"/>
          </a:xfrm>
          <a:prstGeom prst="rect">
            <a:avLst/>
          </a:prstGeom>
          <a:noFill/>
        </p:spPr>
        <p:txBody>
          <a:bodyPr wrap="square" rtlCol="0">
            <a:spAutoFit/>
          </a:bodyPr>
          <a:lstStyle/>
          <a:p>
            <a:r>
              <a:rPr lang="en-US" dirty="0"/>
              <a:t>x</a:t>
            </a:r>
            <a:r>
              <a:rPr lang="en-US" baseline="-25000" dirty="0"/>
              <a:t>3</a:t>
            </a:r>
          </a:p>
        </p:txBody>
      </p:sp>
      <p:sp>
        <p:nvSpPr>
          <p:cNvPr id="19" name="TextBox 18"/>
          <p:cNvSpPr txBox="1"/>
          <p:nvPr/>
        </p:nvSpPr>
        <p:spPr>
          <a:xfrm>
            <a:off x="1295400" y="4507468"/>
            <a:ext cx="457200" cy="369332"/>
          </a:xfrm>
          <a:prstGeom prst="rect">
            <a:avLst/>
          </a:prstGeom>
          <a:noFill/>
        </p:spPr>
        <p:txBody>
          <a:bodyPr wrap="square" rtlCol="0">
            <a:spAutoFit/>
          </a:bodyPr>
          <a:lstStyle/>
          <a:p>
            <a:r>
              <a:rPr lang="en-US" dirty="0" err="1"/>
              <a:t>x</a:t>
            </a:r>
            <a:r>
              <a:rPr lang="en-US" baseline="-25000" dirty="0" err="1"/>
              <a:t>n</a:t>
            </a:r>
            <a:endParaRPr lang="en-US" baseline="-25000" dirty="0"/>
          </a:p>
        </p:txBody>
      </p:sp>
      <p:sp>
        <p:nvSpPr>
          <p:cNvPr id="20" name="TextBox 19"/>
          <p:cNvSpPr txBox="1"/>
          <p:nvPr/>
        </p:nvSpPr>
        <p:spPr>
          <a:xfrm>
            <a:off x="1905000" y="3733800"/>
            <a:ext cx="76200" cy="923330"/>
          </a:xfrm>
          <a:prstGeom prst="rect">
            <a:avLst/>
          </a:prstGeom>
          <a:noFill/>
        </p:spPr>
        <p:txBody>
          <a:bodyPr wrap="square" rtlCol="0">
            <a:spAutoFit/>
          </a:bodyPr>
          <a:lstStyle/>
          <a:p>
            <a:r>
              <a:rPr lang="en-US" dirty="0"/>
              <a:t>:</a:t>
            </a:r>
          </a:p>
          <a:p>
            <a:r>
              <a:rPr lang="en-US" dirty="0"/>
              <a:t>:</a:t>
            </a:r>
          </a:p>
          <a:p>
            <a:r>
              <a:rPr lang="en-US" dirty="0"/>
              <a:t>:</a:t>
            </a:r>
          </a:p>
        </p:txBody>
      </p:sp>
      <p:sp>
        <p:nvSpPr>
          <p:cNvPr id="21" name="TextBox 20"/>
          <p:cNvSpPr txBox="1"/>
          <p:nvPr/>
        </p:nvSpPr>
        <p:spPr>
          <a:xfrm>
            <a:off x="3352800" y="4267200"/>
            <a:ext cx="1143000" cy="369332"/>
          </a:xfrm>
          <a:prstGeom prst="rect">
            <a:avLst/>
          </a:prstGeom>
          <a:noFill/>
        </p:spPr>
        <p:txBody>
          <a:bodyPr wrap="square" rtlCol="0">
            <a:spAutoFit/>
          </a:bodyPr>
          <a:lstStyle/>
          <a:p>
            <a:r>
              <a:rPr lang="en-US" dirty="0" err="1"/>
              <a:t>K</a:t>
            </a:r>
            <a:r>
              <a:rPr lang="en-US" baseline="30000" dirty="0" err="1"/>
              <a:t>th</a:t>
            </a:r>
            <a:r>
              <a:rPr lang="en-US" dirty="0"/>
              <a:t> Neuron</a:t>
            </a:r>
            <a:endParaRPr lang="en-US" baseline="30000" dirty="0"/>
          </a:p>
        </p:txBody>
      </p:sp>
      <p:sp>
        <p:nvSpPr>
          <p:cNvPr id="22" name="TextBox 21"/>
          <p:cNvSpPr txBox="1"/>
          <p:nvPr/>
        </p:nvSpPr>
        <p:spPr>
          <a:xfrm>
            <a:off x="2133600" y="2514600"/>
            <a:ext cx="567784" cy="369332"/>
          </a:xfrm>
          <a:prstGeom prst="rect">
            <a:avLst/>
          </a:prstGeom>
          <a:noFill/>
        </p:spPr>
        <p:txBody>
          <a:bodyPr wrap="none" rtlCol="0">
            <a:spAutoFit/>
          </a:bodyPr>
          <a:lstStyle/>
          <a:p>
            <a:r>
              <a:rPr lang="en-US" dirty="0"/>
              <a:t>W</a:t>
            </a:r>
            <a:r>
              <a:rPr lang="en-US" baseline="-25000" dirty="0"/>
              <a:t>k1</a:t>
            </a:r>
          </a:p>
        </p:txBody>
      </p:sp>
      <p:sp>
        <p:nvSpPr>
          <p:cNvPr id="23" name="TextBox 22"/>
          <p:cNvSpPr txBox="1"/>
          <p:nvPr/>
        </p:nvSpPr>
        <p:spPr>
          <a:xfrm>
            <a:off x="2133600" y="2907268"/>
            <a:ext cx="567784" cy="369332"/>
          </a:xfrm>
          <a:prstGeom prst="rect">
            <a:avLst/>
          </a:prstGeom>
          <a:noFill/>
        </p:spPr>
        <p:txBody>
          <a:bodyPr wrap="none" rtlCol="0">
            <a:spAutoFit/>
          </a:bodyPr>
          <a:lstStyle/>
          <a:p>
            <a:r>
              <a:rPr lang="en-US" dirty="0"/>
              <a:t>W</a:t>
            </a:r>
            <a:r>
              <a:rPr lang="en-US" baseline="-25000" dirty="0"/>
              <a:t>k2</a:t>
            </a:r>
          </a:p>
        </p:txBody>
      </p:sp>
      <p:sp>
        <p:nvSpPr>
          <p:cNvPr id="24" name="TextBox 23"/>
          <p:cNvSpPr txBox="1"/>
          <p:nvPr/>
        </p:nvSpPr>
        <p:spPr>
          <a:xfrm>
            <a:off x="2133600" y="3276600"/>
            <a:ext cx="567784" cy="369332"/>
          </a:xfrm>
          <a:prstGeom prst="rect">
            <a:avLst/>
          </a:prstGeom>
          <a:noFill/>
        </p:spPr>
        <p:txBody>
          <a:bodyPr wrap="none" rtlCol="0">
            <a:spAutoFit/>
          </a:bodyPr>
          <a:lstStyle/>
          <a:p>
            <a:r>
              <a:rPr lang="en-US" dirty="0"/>
              <a:t>W</a:t>
            </a:r>
            <a:r>
              <a:rPr lang="en-US" baseline="-25000" dirty="0"/>
              <a:t>k3</a:t>
            </a:r>
          </a:p>
        </p:txBody>
      </p:sp>
      <p:sp>
        <p:nvSpPr>
          <p:cNvPr id="25" name="TextBox 24"/>
          <p:cNvSpPr txBox="1"/>
          <p:nvPr/>
        </p:nvSpPr>
        <p:spPr>
          <a:xfrm>
            <a:off x="2209800" y="4050268"/>
            <a:ext cx="550151" cy="369332"/>
          </a:xfrm>
          <a:prstGeom prst="rect">
            <a:avLst/>
          </a:prstGeom>
          <a:noFill/>
        </p:spPr>
        <p:txBody>
          <a:bodyPr wrap="none" rtlCol="0">
            <a:spAutoFit/>
          </a:bodyPr>
          <a:lstStyle/>
          <a:p>
            <a:r>
              <a:rPr lang="en-US" dirty="0" err="1"/>
              <a:t>W</a:t>
            </a:r>
            <a:r>
              <a:rPr lang="en-US" baseline="-25000" dirty="0" err="1"/>
              <a:t>kn</a:t>
            </a:r>
            <a:endParaRPr lang="en-US" baseline="-25000" dirty="0"/>
          </a:p>
        </p:txBody>
      </p:sp>
      <p:cxnSp>
        <p:nvCxnSpPr>
          <p:cNvPr id="27" name="Straight Arrow Connector 26"/>
          <p:cNvCxnSpPr>
            <a:stCxn id="5" idx="6"/>
          </p:cNvCxnSpPr>
          <p:nvPr/>
        </p:nvCxnSpPr>
        <p:spPr>
          <a:xfrm>
            <a:off x="4495800" y="3619500"/>
            <a:ext cx="914400" cy="38100"/>
          </a:xfrm>
          <a:prstGeom prst="straightConnector1">
            <a:avLst/>
          </a:prstGeom>
          <a:ln w="44450">
            <a:tailEnd type="arrow"/>
          </a:ln>
        </p:spPr>
        <p:style>
          <a:lnRef idx="1">
            <a:schemeClr val="accent1"/>
          </a:lnRef>
          <a:fillRef idx="0">
            <a:schemeClr val="accent1"/>
          </a:fillRef>
          <a:effectRef idx="0">
            <a:schemeClr val="accent1"/>
          </a:effectRef>
          <a:fontRef idx="minor">
            <a:schemeClr val="tx1"/>
          </a:fontRef>
        </p:style>
      </p:cxnSp>
      <p:sp>
        <p:nvSpPr>
          <p:cNvPr id="29" name="TextBox 28"/>
          <p:cNvSpPr txBox="1"/>
          <p:nvPr/>
        </p:nvSpPr>
        <p:spPr>
          <a:xfrm>
            <a:off x="4648200" y="3200400"/>
            <a:ext cx="533400" cy="369332"/>
          </a:xfrm>
          <a:prstGeom prst="rect">
            <a:avLst/>
          </a:prstGeom>
          <a:noFill/>
        </p:spPr>
        <p:txBody>
          <a:bodyPr wrap="square" rtlCol="0">
            <a:spAutoFit/>
          </a:bodyPr>
          <a:lstStyle/>
          <a:p>
            <a:r>
              <a:rPr lang="en-US" dirty="0" err="1"/>
              <a:t>V</a:t>
            </a:r>
            <a:r>
              <a:rPr lang="en-US" baseline="-25000" dirty="0" err="1"/>
              <a:t>k</a:t>
            </a:r>
            <a:endParaRPr lang="en-US" baseline="-25000" dirty="0"/>
          </a:p>
        </p:txBody>
      </p:sp>
      <mc:AlternateContent xmlns:mc="http://schemas.openxmlformats.org/markup-compatibility/2006" xmlns:a14="http://schemas.microsoft.com/office/drawing/2010/main">
        <mc:Choice Requires="a14">
          <p:sp>
            <p:nvSpPr>
              <p:cNvPr id="30" name="TextBox 29"/>
              <p:cNvSpPr txBox="1"/>
              <p:nvPr/>
            </p:nvSpPr>
            <p:spPr>
              <a:xfrm>
                <a:off x="533400" y="5134981"/>
                <a:ext cx="8534400" cy="884025"/>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r>
                        <a:rPr lang="en-US" sz="2400" b="1" i="1" dirty="0" smtClean="0">
                          <a:latin typeface="Cambria Math" panose="02040503050406030204" pitchFamily="18" charset="0"/>
                          <a:cs typeface="Times New Roman" pitchFamily="18" charset="0"/>
                        </a:rPr>
                        <m:t>𝑽</m:t>
                      </m:r>
                      <m:r>
                        <a:rPr lang="en-US" sz="2400" b="1" i="1" baseline="-25000" dirty="0" err="1">
                          <a:latin typeface="Cambria Math" panose="02040503050406030204" pitchFamily="18" charset="0"/>
                          <a:cs typeface="Times New Roman" pitchFamily="18" charset="0"/>
                        </a:rPr>
                        <m:t>𝒌</m:t>
                      </m:r>
                      <m:r>
                        <a:rPr lang="en-US" sz="2400" b="1" i="1" dirty="0">
                          <a:latin typeface="Cambria Math" panose="02040503050406030204" pitchFamily="18" charset="0"/>
                          <a:cs typeface="Times New Roman" pitchFamily="18" charset="0"/>
                        </a:rPr>
                        <m:t>= </m:t>
                      </m:r>
                      <m:r>
                        <a:rPr lang="en-US" sz="2400" b="1" i="1" dirty="0">
                          <a:solidFill>
                            <a:srgbClr val="C00000"/>
                          </a:solidFill>
                          <a:latin typeface="Cambria Math" panose="02040503050406030204" pitchFamily="18" charset="0"/>
                          <a:cs typeface="Times New Roman" pitchFamily="18" charset="0"/>
                        </a:rPr>
                        <m:t>𝑾</m:t>
                      </m:r>
                      <m:r>
                        <a:rPr lang="en-US" sz="2400" b="1" i="1" baseline="-25000" dirty="0">
                          <a:solidFill>
                            <a:srgbClr val="C00000"/>
                          </a:solidFill>
                          <a:latin typeface="Cambria Math" panose="02040503050406030204" pitchFamily="18" charset="0"/>
                          <a:cs typeface="Times New Roman" pitchFamily="18" charset="0"/>
                        </a:rPr>
                        <m:t>𝒌</m:t>
                      </m:r>
                      <m:r>
                        <a:rPr lang="en-US" sz="2400" b="1" i="1" baseline="-25000" dirty="0">
                          <a:solidFill>
                            <a:srgbClr val="C00000"/>
                          </a:solidFill>
                          <a:latin typeface="Cambria Math" panose="02040503050406030204" pitchFamily="18" charset="0"/>
                          <a:cs typeface="Times New Roman" pitchFamily="18" charset="0"/>
                        </a:rPr>
                        <m:t>𝟏</m:t>
                      </m:r>
                      <m:r>
                        <a:rPr lang="en-US" sz="2400" b="1" i="1" dirty="0">
                          <a:solidFill>
                            <a:srgbClr val="C00000"/>
                          </a:solidFill>
                          <a:latin typeface="Cambria Math" panose="02040503050406030204" pitchFamily="18" charset="0"/>
                          <a:cs typeface="Times New Roman" pitchFamily="18" charset="0"/>
                        </a:rPr>
                        <m:t>∗</m:t>
                      </m:r>
                      <m:r>
                        <a:rPr lang="en-US" sz="2400" b="1" i="1" dirty="0">
                          <a:solidFill>
                            <a:srgbClr val="C00000"/>
                          </a:solidFill>
                          <a:latin typeface="Cambria Math" panose="02040503050406030204" pitchFamily="18" charset="0"/>
                          <a:cs typeface="Times New Roman" pitchFamily="18" charset="0"/>
                        </a:rPr>
                        <m:t>𝒙</m:t>
                      </m:r>
                      <m:r>
                        <a:rPr lang="en-US" sz="2400" b="1" i="1" baseline="-25000" dirty="0">
                          <a:solidFill>
                            <a:srgbClr val="C00000"/>
                          </a:solidFill>
                          <a:latin typeface="Cambria Math" panose="02040503050406030204" pitchFamily="18" charset="0"/>
                          <a:cs typeface="Times New Roman" pitchFamily="18" charset="0"/>
                        </a:rPr>
                        <m:t>𝟏</m:t>
                      </m:r>
                      <m:r>
                        <a:rPr lang="en-US" sz="2400" b="1" i="1" dirty="0">
                          <a:solidFill>
                            <a:srgbClr val="C00000"/>
                          </a:solidFill>
                          <a:latin typeface="Cambria Math" panose="02040503050406030204" pitchFamily="18" charset="0"/>
                          <a:cs typeface="Times New Roman" pitchFamily="18" charset="0"/>
                        </a:rPr>
                        <m:t> +</m:t>
                      </m:r>
                      <m:r>
                        <a:rPr lang="en-US" sz="2400" b="1" i="1" dirty="0">
                          <a:solidFill>
                            <a:srgbClr val="C00000"/>
                          </a:solidFill>
                          <a:latin typeface="Cambria Math" panose="02040503050406030204" pitchFamily="18" charset="0"/>
                          <a:cs typeface="Times New Roman" pitchFamily="18" charset="0"/>
                        </a:rPr>
                        <m:t>𝑾𝒌</m:t>
                      </m:r>
                      <m:r>
                        <a:rPr lang="en-US" sz="2400" b="1" i="1" baseline="-25000" dirty="0">
                          <a:solidFill>
                            <a:srgbClr val="C00000"/>
                          </a:solidFill>
                          <a:latin typeface="Cambria Math" panose="02040503050406030204" pitchFamily="18" charset="0"/>
                          <a:cs typeface="Times New Roman" pitchFamily="18" charset="0"/>
                        </a:rPr>
                        <m:t>𝟐</m:t>
                      </m:r>
                      <m:r>
                        <a:rPr lang="en-US" sz="2400" b="1" i="1" dirty="0">
                          <a:solidFill>
                            <a:srgbClr val="C00000"/>
                          </a:solidFill>
                          <a:latin typeface="Cambria Math" panose="02040503050406030204" pitchFamily="18" charset="0"/>
                          <a:cs typeface="Times New Roman" pitchFamily="18" charset="0"/>
                        </a:rPr>
                        <m:t>∗</m:t>
                      </m:r>
                      <m:r>
                        <a:rPr lang="en-US" sz="2400" b="1" i="1" dirty="0">
                          <a:solidFill>
                            <a:srgbClr val="C00000"/>
                          </a:solidFill>
                          <a:latin typeface="Cambria Math" panose="02040503050406030204" pitchFamily="18" charset="0"/>
                          <a:cs typeface="Times New Roman" pitchFamily="18" charset="0"/>
                        </a:rPr>
                        <m:t>𝒙</m:t>
                      </m:r>
                      <m:r>
                        <a:rPr lang="en-US" sz="2400" b="1" i="1" baseline="-25000" dirty="0">
                          <a:solidFill>
                            <a:srgbClr val="C00000"/>
                          </a:solidFill>
                          <a:latin typeface="Cambria Math" panose="02040503050406030204" pitchFamily="18" charset="0"/>
                          <a:cs typeface="Times New Roman" pitchFamily="18" charset="0"/>
                        </a:rPr>
                        <m:t>𝟐</m:t>
                      </m:r>
                      <m:r>
                        <a:rPr lang="en-US" sz="2400" b="1" i="1" dirty="0">
                          <a:solidFill>
                            <a:srgbClr val="C00000"/>
                          </a:solidFill>
                          <a:latin typeface="Cambria Math" panose="02040503050406030204" pitchFamily="18" charset="0"/>
                          <a:cs typeface="Times New Roman" pitchFamily="18" charset="0"/>
                        </a:rPr>
                        <m:t> +</m:t>
                      </m:r>
                      <m:r>
                        <a:rPr lang="en-US" sz="2400" b="1" i="1" dirty="0">
                          <a:solidFill>
                            <a:srgbClr val="C00000"/>
                          </a:solidFill>
                          <a:latin typeface="Cambria Math" panose="02040503050406030204" pitchFamily="18" charset="0"/>
                          <a:cs typeface="Times New Roman" pitchFamily="18" charset="0"/>
                        </a:rPr>
                        <m:t>𝑾𝒌</m:t>
                      </m:r>
                      <m:r>
                        <a:rPr lang="en-US" sz="2400" b="1" i="1" baseline="-25000" dirty="0">
                          <a:solidFill>
                            <a:srgbClr val="C00000"/>
                          </a:solidFill>
                          <a:latin typeface="Cambria Math" panose="02040503050406030204" pitchFamily="18" charset="0"/>
                          <a:cs typeface="Times New Roman" pitchFamily="18" charset="0"/>
                        </a:rPr>
                        <m:t>𝟑</m:t>
                      </m:r>
                      <m:r>
                        <a:rPr lang="en-US" sz="2400" b="1" i="1" dirty="0">
                          <a:solidFill>
                            <a:srgbClr val="C00000"/>
                          </a:solidFill>
                          <a:latin typeface="Cambria Math" panose="02040503050406030204" pitchFamily="18" charset="0"/>
                          <a:cs typeface="Times New Roman" pitchFamily="18" charset="0"/>
                        </a:rPr>
                        <m:t>∗</m:t>
                      </m:r>
                      <m:r>
                        <a:rPr lang="en-US" sz="2400" b="1" i="1" dirty="0">
                          <a:solidFill>
                            <a:srgbClr val="C00000"/>
                          </a:solidFill>
                          <a:latin typeface="Cambria Math" panose="02040503050406030204" pitchFamily="18" charset="0"/>
                          <a:cs typeface="Times New Roman" pitchFamily="18" charset="0"/>
                        </a:rPr>
                        <m:t>𝒙</m:t>
                      </m:r>
                      <m:r>
                        <a:rPr lang="en-US" sz="2400" b="1" i="1" baseline="-25000" dirty="0">
                          <a:solidFill>
                            <a:srgbClr val="C00000"/>
                          </a:solidFill>
                          <a:latin typeface="Cambria Math" panose="02040503050406030204" pitchFamily="18" charset="0"/>
                          <a:cs typeface="Times New Roman" pitchFamily="18" charset="0"/>
                        </a:rPr>
                        <m:t>𝟑</m:t>
                      </m:r>
                      <m:r>
                        <a:rPr lang="en-US" sz="2400" b="1" i="1" dirty="0">
                          <a:solidFill>
                            <a:srgbClr val="C00000"/>
                          </a:solidFill>
                          <a:latin typeface="Cambria Math" panose="02040503050406030204" pitchFamily="18" charset="0"/>
                          <a:cs typeface="Times New Roman" pitchFamily="18" charset="0"/>
                        </a:rPr>
                        <m:t> +…+ </m:t>
                      </m:r>
                      <m:r>
                        <a:rPr lang="en-US" sz="2400" b="1" i="1" dirty="0" err="1">
                          <a:solidFill>
                            <a:srgbClr val="C00000"/>
                          </a:solidFill>
                          <a:latin typeface="Cambria Math" panose="02040503050406030204" pitchFamily="18" charset="0"/>
                          <a:cs typeface="Times New Roman" pitchFamily="18" charset="0"/>
                        </a:rPr>
                        <m:t>𝑾</m:t>
                      </m:r>
                      <m:r>
                        <a:rPr lang="en-US" sz="2400" b="1" i="1" baseline="-25000" dirty="0" err="1">
                          <a:solidFill>
                            <a:srgbClr val="C00000"/>
                          </a:solidFill>
                          <a:latin typeface="Cambria Math" panose="02040503050406030204" pitchFamily="18" charset="0"/>
                          <a:cs typeface="Times New Roman" pitchFamily="18" charset="0"/>
                        </a:rPr>
                        <m:t>𝒌𝒏</m:t>
                      </m:r>
                      <m:r>
                        <a:rPr lang="en-US" sz="2400" b="1" i="1" dirty="0">
                          <a:solidFill>
                            <a:srgbClr val="C00000"/>
                          </a:solidFill>
                          <a:latin typeface="Cambria Math" panose="02040503050406030204" pitchFamily="18" charset="0"/>
                          <a:cs typeface="Times New Roman" pitchFamily="18" charset="0"/>
                        </a:rPr>
                        <m:t>∗</m:t>
                      </m:r>
                      <m:r>
                        <a:rPr lang="en-US" sz="2400" b="1" i="1" dirty="0" err="1">
                          <a:solidFill>
                            <a:srgbClr val="C00000"/>
                          </a:solidFill>
                          <a:latin typeface="Cambria Math" panose="02040503050406030204" pitchFamily="18" charset="0"/>
                          <a:cs typeface="Times New Roman" pitchFamily="18" charset="0"/>
                        </a:rPr>
                        <m:t>𝒙</m:t>
                      </m:r>
                      <m:r>
                        <a:rPr lang="en-US" sz="2400" b="1" i="1" baseline="-25000" dirty="0" err="1">
                          <a:solidFill>
                            <a:srgbClr val="C00000"/>
                          </a:solidFill>
                          <a:latin typeface="Cambria Math" panose="02040503050406030204" pitchFamily="18" charset="0"/>
                          <a:cs typeface="Times New Roman" pitchFamily="18" charset="0"/>
                        </a:rPr>
                        <m:t>𝒏</m:t>
                      </m:r>
                      <m:r>
                        <a:rPr lang="en-US" sz="2400" b="1" i="1" baseline="-25000" dirty="0">
                          <a:solidFill>
                            <a:srgbClr val="C00000"/>
                          </a:solidFill>
                          <a:latin typeface="Cambria Math" panose="02040503050406030204" pitchFamily="18" charset="0"/>
                          <a:cs typeface="Times New Roman" pitchFamily="18" charset="0"/>
                        </a:rPr>
                        <m:t> </m:t>
                      </m:r>
                      <m:r>
                        <a:rPr lang="en-US" sz="2400" b="1" i="1" dirty="0">
                          <a:solidFill>
                            <a:srgbClr val="C00000"/>
                          </a:solidFill>
                          <a:latin typeface="Cambria Math" panose="02040503050406030204" pitchFamily="18" charset="0"/>
                          <a:cs typeface="Times New Roman" pitchFamily="18" charset="0"/>
                        </a:rPr>
                        <m:t> </m:t>
                      </m:r>
                      <m:r>
                        <a:rPr lang="en-US" sz="2400" b="1" i="1" dirty="0">
                          <a:latin typeface="Cambria Math" panose="02040503050406030204" pitchFamily="18" charset="0"/>
                          <a:cs typeface="Times New Roman" pitchFamily="18" charset="0"/>
                        </a:rPr>
                        <m:t>+ </m:t>
                      </m:r>
                      <m:r>
                        <a:rPr lang="en-US" sz="2400" b="1" i="1" dirty="0" err="1">
                          <a:latin typeface="Cambria Math" panose="02040503050406030204" pitchFamily="18" charset="0"/>
                          <a:cs typeface="Times New Roman" pitchFamily="18" charset="0"/>
                        </a:rPr>
                        <m:t>𝒃</m:t>
                      </m:r>
                      <m:r>
                        <a:rPr lang="en-US" sz="2400" b="1" i="1" baseline="-25000" dirty="0" err="1">
                          <a:latin typeface="Cambria Math" panose="02040503050406030204" pitchFamily="18" charset="0"/>
                          <a:cs typeface="Times New Roman" pitchFamily="18" charset="0"/>
                        </a:rPr>
                        <m:t>𝒌</m:t>
                      </m:r>
                      <m:r>
                        <a:rPr lang="en-US" sz="2400" b="1" i="1" baseline="-25000" dirty="0">
                          <a:latin typeface="Cambria Math" panose="02040503050406030204" pitchFamily="18" charset="0"/>
                          <a:cs typeface="Times New Roman" pitchFamily="18" charset="0"/>
                        </a:rPr>
                        <m:t> </m:t>
                      </m:r>
                    </m:oMath>
                  </m:oMathPara>
                </a14:m>
                <a:endParaRPr lang="en-US" sz="2400" b="1" baseline="-25000" dirty="0">
                  <a:latin typeface="Times New Roman" pitchFamily="18" charset="0"/>
                  <a:cs typeface="Times New Roman" pitchFamily="18" charset="0"/>
                </a:endParaRPr>
              </a:p>
              <a:p>
                <a:endParaRPr lang="en-US" sz="2800" dirty="0"/>
              </a:p>
            </p:txBody>
          </p:sp>
        </mc:Choice>
        <mc:Fallback xmlns="">
          <p:sp>
            <p:nvSpPr>
              <p:cNvPr id="30" name="TextBox 29"/>
              <p:cNvSpPr txBox="1">
                <a:spLocks noRot="1" noChangeAspect="1" noMove="1" noResize="1" noEditPoints="1" noAdjustHandles="1" noChangeArrowheads="1" noChangeShapeType="1" noTextEdit="1"/>
              </p:cNvSpPr>
              <p:nvPr/>
            </p:nvSpPr>
            <p:spPr>
              <a:xfrm>
                <a:off x="533400" y="5134981"/>
                <a:ext cx="8534400" cy="884025"/>
              </a:xfrm>
              <a:prstGeom prst="rect">
                <a:avLst/>
              </a:prstGeom>
              <a:blipFill>
                <a:blip r:embed="rId2"/>
                <a:stretch>
                  <a:fillRect/>
                </a:stretch>
              </a:blipFill>
            </p:spPr>
            <p:txBody>
              <a:bodyPr/>
              <a:lstStyle/>
              <a:p>
                <a:r>
                  <a:rPr lang="en-IN">
                    <a:noFill/>
                  </a:rPr>
                  <a:t> </a:t>
                </a:r>
              </a:p>
            </p:txBody>
          </p:sp>
        </mc:Fallback>
      </mc:AlternateContent>
      <p:cxnSp>
        <p:nvCxnSpPr>
          <p:cNvPr id="31" name="Straight Arrow Connector 30"/>
          <p:cNvCxnSpPr/>
          <p:nvPr/>
        </p:nvCxnSpPr>
        <p:spPr>
          <a:xfrm rot="5400000">
            <a:off x="3580606" y="2590800"/>
            <a:ext cx="762794" cy="794"/>
          </a:xfrm>
          <a:prstGeom prst="straightConnector1">
            <a:avLst/>
          </a:prstGeom>
          <a:ln w="25400">
            <a:tailEnd type="arrow"/>
          </a:ln>
        </p:spPr>
        <p:style>
          <a:lnRef idx="1">
            <a:schemeClr val="accent1"/>
          </a:lnRef>
          <a:fillRef idx="0">
            <a:schemeClr val="accent1"/>
          </a:fillRef>
          <a:effectRef idx="0">
            <a:schemeClr val="accent1"/>
          </a:effectRef>
          <a:fontRef idx="minor">
            <a:schemeClr val="tx1"/>
          </a:fontRef>
        </p:style>
      </p:cxnSp>
      <p:sp>
        <p:nvSpPr>
          <p:cNvPr id="34" name="TextBox 33"/>
          <p:cNvSpPr txBox="1"/>
          <p:nvPr/>
        </p:nvSpPr>
        <p:spPr>
          <a:xfrm>
            <a:off x="3888570" y="2286000"/>
            <a:ext cx="378630" cy="369332"/>
          </a:xfrm>
          <a:prstGeom prst="rect">
            <a:avLst/>
          </a:prstGeom>
          <a:noFill/>
        </p:spPr>
        <p:txBody>
          <a:bodyPr wrap="none" rtlCol="0">
            <a:spAutoFit/>
          </a:bodyPr>
          <a:lstStyle/>
          <a:p>
            <a:r>
              <a:rPr lang="en-US" dirty="0" err="1"/>
              <a:t>b</a:t>
            </a:r>
            <a:r>
              <a:rPr lang="en-US" baseline="-25000" dirty="0" err="1"/>
              <a:t>k</a:t>
            </a:r>
            <a:endParaRPr lang="en-US" baseline="-25000" dirty="0"/>
          </a:p>
        </p:txBody>
      </p:sp>
      <p:sp>
        <p:nvSpPr>
          <p:cNvPr id="26" name="TextBox 25"/>
          <p:cNvSpPr txBox="1"/>
          <p:nvPr/>
        </p:nvSpPr>
        <p:spPr>
          <a:xfrm>
            <a:off x="0" y="0"/>
            <a:ext cx="4572000" cy="369332"/>
          </a:xfrm>
          <a:prstGeom prst="rect">
            <a:avLst/>
          </a:prstGeom>
          <a:noFill/>
        </p:spPr>
        <p:txBody>
          <a:bodyPr wrap="square" rtlCol="0">
            <a:spAutoFit/>
          </a:bodyPr>
          <a:lstStyle/>
          <a:p>
            <a:pPr algn="r"/>
            <a:r>
              <a:rPr lang="en-US" b="1" dirty="0">
                <a:solidFill>
                  <a:schemeClr val="bg1"/>
                </a:solidFill>
              </a:rPr>
              <a:t>Introduction to Neural Network</a:t>
            </a:r>
          </a:p>
        </p:txBody>
      </p:sp>
      <p:sp>
        <p:nvSpPr>
          <p:cNvPr id="28" name="Date Placeholder 3"/>
          <p:cNvSpPr>
            <a:spLocks noGrp="1"/>
          </p:cNvSpPr>
          <p:nvPr>
            <p:ph type="dt" sz="half" idx="10"/>
          </p:nvPr>
        </p:nvSpPr>
        <p:spPr>
          <a:xfrm>
            <a:off x="0" y="6629400"/>
            <a:ext cx="3048000" cy="228600"/>
          </a:xfrm>
        </p:spPr>
        <p:txBody>
          <a:bodyPr/>
          <a:lstStyle/>
          <a:p>
            <a:fld id="{E7067A60-51C7-4095-BFA9-1CE32DCBA06F}" type="datetime1">
              <a:rPr lang="en-US" smtClean="0"/>
              <a:pPr/>
              <a:t>2/9/2026</a:t>
            </a:fld>
            <a:endParaRPr lang="en-US" dirty="0"/>
          </a:p>
        </p:txBody>
      </p:sp>
      <p:sp>
        <p:nvSpPr>
          <p:cNvPr id="32" name="Slide Number Placeholder 5"/>
          <p:cNvSpPr>
            <a:spLocks noGrp="1"/>
          </p:cNvSpPr>
          <p:nvPr>
            <p:ph type="sldNum" sz="quarter" idx="12"/>
          </p:nvPr>
        </p:nvSpPr>
        <p:spPr>
          <a:xfrm>
            <a:off x="6096000" y="6629400"/>
            <a:ext cx="3048000" cy="228600"/>
          </a:xfrm>
        </p:spPr>
        <p:txBody>
          <a:bodyPr/>
          <a:lstStyle/>
          <a:p>
            <a:r>
              <a:rPr lang="en-US" dirty="0" smtClean="0"/>
              <a:t>5</a:t>
            </a:r>
            <a:endParaRPr lang="en-US" dirty="0"/>
          </a:p>
        </p:txBody>
      </p:sp>
      <p:sp>
        <p:nvSpPr>
          <p:cNvPr id="33" name="Footer Placeholder 4">
            <a:extLst>
              <a:ext uri="{FF2B5EF4-FFF2-40B4-BE49-F238E27FC236}">
                <a16:creationId xmlns:a16="http://schemas.microsoft.com/office/drawing/2014/main" id="{CBB301ED-B8A4-4772-B559-A9E41E7472BD}"/>
              </a:ext>
            </a:extLst>
          </p:cNvPr>
          <p:cNvSpPr>
            <a:spLocks noGrp="1"/>
          </p:cNvSpPr>
          <p:nvPr>
            <p:ph type="ftr" sz="quarter" idx="11"/>
          </p:nvPr>
        </p:nvSpPr>
        <p:spPr>
          <a:xfrm>
            <a:off x="2286000" y="6629400"/>
            <a:ext cx="4136571" cy="228600"/>
          </a:xfrm>
        </p:spPr>
        <p:txBody>
          <a:bodyPr/>
          <a:lstStyle/>
          <a:p>
            <a:r>
              <a:rPr lang="en-US" dirty="0"/>
              <a:t>Dr. Sibarama Panigrahi, Dept. of CSE, NIT Rourkela</a:t>
            </a:r>
          </a:p>
        </p:txBody>
      </p:sp>
      <p:sp>
        <p:nvSpPr>
          <p:cNvPr id="35" name="TextBox 34"/>
          <p:cNvSpPr txBox="1"/>
          <p:nvPr/>
        </p:nvSpPr>
        <p:spPr>
          <a:xfrm flipH="1">
            <a:off x="6472238" y="6600824"/>
            <a:ext cx="2366962" cy="307777"/>
          </a:xfrm>
          <a:prstGeom prst="rect">
            <a:avLst/>
          </a:prstGeom>
          <a:noFill/>
        </p:spPr>
        <p:txBody>
          <a:bodyPr wrap="square" rtlCol="0">
            <a:spAutoFit/>
          </a:bodyPr>
          <a:lstStyle/>
          <a:p>
            <a:r>
              <a:rPr lang="en-US" sz="1400" dirty="0" smtClean="0">
                <a:latin typeface="Times New Roman" panose="02020603050405020304" pitchFamily="18" charset="0"/>
                <a:cs typeface="Times New Roman" panose="02020603050405020304" pitchFamily="18" charset="0"/>
              </a:rPr>
              <a:t>Artificial Neuron</a:t>
            </a:r>
            <a:endParaRPr lang="en-IN" sz="1400" dirty="0">
              <a:latin typeface="Times New Roman" panose="02020603050405020304" pitchFamily="18" charset="0"/>
              <a:cs typeface="Times New Roman" panose="02020603050405020304" pitchFamily="18" charset="0"/>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nodeType="clickEffect">
                                  <p:stCondLst>
                                    <p:cond delay="0"/>
                                  </p:stCondLst>
                                  <p:childTnLst>
                                    <p:set>
                                      <p:cBhvr>
                                        <p:cTn id="6" dur="1" fill="hold">
                                          <p:stCondLst>
                                            <p:cond delay="0"/>
                                          </p:stCondLst>
                                        </p:cTn>
                                        <p:tgtEl>
                                          <p:spTgt spid="7"/>
                                        </p:tgtEl>
                                        <p:attrNameLst>
                                          <p:attrName>style.visibility</p:attrName>
                                        </p:attrNameLst>
                                      </p:cBhvr>
                                      <p:to>
                                        <p:strVal val="visible"/>
                                      </p:to>
                                    </p:set>
                                    <p:animEffect transition="in" filter="wipe(left)">
                                      <p:cBhvr>
                                        <p:cTn id="7" dur="500"/>
                                        <p:tgtEl>
                                          <p:spTgt spid="7"/>
                                        </p:tgtEl>
                                      </p:cBhvr>
                                    </p:animEffect>
                                  </p:childTnLst>
                                </p:cTn>
                              </p:par>
                              <p:par>
                                <p:cTn id="8" presetID="22" presetClass="entr" presetSubtype="8" fill="hold" grpId="0" nodeType="withEffect">
                                  <p:stCondLst>
                                    <p:cond delay="0"/>
                                  </p:stCondLst>
                                  <p:childTnLst>
                                    <p:set>
                                      <p:cBhvr>
                                        <p:cTn id="9" dur="1" fill="hold">
                                          <p:stCondLst>
                                            <p:cond delay="0"/>
                                          </p:stCondLst>
                                        </p:cTn>
                                        <p:tgtEl>
                                          <p:spTgt spid="16"/>
                                        </p:tgtEl>
                                        <p:attrNameLst>
                                          <p:attrName>style.visibility</p:attrName>
                                        </p:attrNameLst>
                                      </p:cBhvr>
                                      <p:to>
                                        <p:strVal val="visible"/>
                                      </p:to>
                                    </p:set>
                                    <p:animEffect transition="in" filter="wipe(left)">
                                      <p:cBhvr>
                                        <p:cTn id="10" dur="500"/>
                                        <p:tgtEl>
                                          <p:spTgt spid="16"/>
                                        </p:tgtEl>
                                      </p:cBhvr>
                                    </p:animEffect>
                                  </p:childTnLst>
                                </p:cTn>
                              </p:par>
                            </p:childTnLst>
                          </p:cTn>
                        </p:par>
                        <p:par>
                          <p:cTn id="11" fill="hold">
                            <p:stCondLst>
                              <p:cond delay="500"/>
                            </p:stCondLst>
                            <p:childTnLst>
                              <p:par>
                                <p:cTn id="12" presetID="22" presetClass="entr" presetSubtype="8" fill="hold" nodeType="afterEffect">
                                  <p:stCondLst>
                                    <p:cond delay="0"/>
                                  </p:stCondLst>
                                  <p:childTnLst>
                                    <p:set>
                                      <p:cBhvr>
                                        <p:cTn id="13" dur="1" fill="hold">
                                          <p:stCondLst>
                                            <p:cond delay="0"/>
                                          </p:stCondLst>
                                        </p:cTn>
                                        <p:tgtEl>
                                          <p:spTgt spid="9"/>
                                        </p:tgtEl>
                                        <p:attrNameLst>
                                          <p:attrName>style.visibility</p:attrName>
                                        </p:attrNameLst>
                                      </p:cBhvr>
                                      <p:to>
                                        <p:strVal val="visible"/>
                                      </p:to>
                                    </p:set>
                                    <p:animEffect transition="in" filter="wipe(left)">
                                      <p:cBhvr>
                                        <p:cTn id="14" dur="500"/>
                                        <p:tgtEl>
                                          <p:spTgt spid="9"/>
                                        </p:tgtEl>
                                      </p:cBhvr>
                                    </p:animEffect>
                                  </p:childTnLst>
                                </p:cTn>
                              </p:par>
                              <p:par>
                                <p:cTn id="15" presetID="22" presetClass="entr" presetSubtype="8" fill="hold" grpId="0" nodeType="withEffect">
                                  <p:stCondLst>
                                    <p:cond delay="0"/>
                                  </p:stCondLst>
                                  <p:childTnLst>
                                    <p:set>
                                      <p:cBhvr>
                                        <p:cTn id="16" dur="1" fill="hold">
                                          <p:stCondLst>
                                            <p:cond delay="0"/>
                                          </p:stCondLst>
                                        </p:cTn>
                                        <p:tgtEl>
                                          <p:spTgt spid="17"/>
                                        </p:tgtEl>
                                        <p:attrNameLst>
                                          <p:attrName>style.visibility</p:attrName>
                                        </p:attrNameLst>
                                      </p:cBhvr>
                                      <p:to>
                                        <p:strVal val="visible"/>
                                      </p:to>
                                    </p:set>
                                    <p:animEffect transition="in" filter="wipe(left)">
                                      <p:cBhvr>
                                        <p:cTn id="17" dur="500"/>
                                        <p:tgtEl>
                                          <p:spTgt spid="17"/>
                                        </p:tgtEl>
                                      </p:cBhvr>
                                    </p:animEffect>
                                  </p:childTnLst>
                                </p:cTn>
                              </p:par>
                            </p:childTnLst>
                          </p:cTn>
                        </p:par>
                        <p:par>
                          <p:cTn id="18" fill="hold">
                            <p:stCondLst>
                              <p:cond delay="1000"/>
                            </p:stCondLst>
                            <p:childTnLst>
                              <p:par>
                                <p:cTn id="19" presetID="22" presetClass="entr" presetSubtype="8" fill="hold" nodeType="afterEffect">
                                  <p:stCondLst>
                                    <p:cond delay="0"/>
                                  </p:stCondLst>
                                  <p:childTnLst>
                                    <p:set>
                                      <p:cBhvr>
                                        <p:cTn id="20" dur="1" fill="hold">
                                          <p:stCondLst>
                                            <p:cond delay="0"/>
                                          </p:stCondLst>
                                        </p:cTn>
                                        <p:tgtEl>
                                          <p:spTgt spid="10"/>
                                        </p:tgtEl>
                                        <p:attrNameLst>
                                          <p:attrName>style.visibility</p:attrName>
                                        </p:attrNameLst>
                                      </p:cBhvr>
                                      <p:to>
                                        <p:strVal val="visible"/>
                                      </p:to>
                                    </p:set>
                                    <p:animEffect transition="in" filter="wipe(left)">
                                      <p:cBhvr>
                                        <p:cTn id="21" dur="500"/>
                                        <p:tgtEl>
                                          <p:spTgt spid="10"/>
                                        </p:tgtEl>
                                      </p:cBhvr>
                                    </p:animEffect>
                                  </p:childTnLst>
                                </p:cTn>
                              </p:par>
                              <p:par>
                                <p:cTn id="22" presetID="22" presetClass="entr" presetSubtype="8" fill="hold" grpId="0" nodeType="withEffect">
                                  <p:stCondLst>
                                    <p:cond delay="0"/>
                                  </p:stCondLst>
                                  <p:childTnLst>
                                    <p:set>
                                      <p:cBhvr>
                                        <p:cTn id="23" dur="1" fill="hold">
                                          <p:stCondLst>
                                            <p:cond delay="0"/>
                                          </p:stCondLst>
                                        </p:cTn>
                                        <p:tgtEl>
                                          <p:spTgt spid="18"/>
                                        </p:tgtEl>
                                        <p:attrNameLst>
                                          <p:attrName>style.visibility</p:attrName>
                                        </p:attrNameLst>
                                      </p:cBhvr>
                                      <p:to>
                                        <p:strVal val="visible"/>
                                      </p:to>
                                    </p:set>
                                    <p:animEffect transition="in" filter="wipe(left)">
                                      <p:cBhvr>
                                        <p:cTn id="24" dur="500"/>
                                        <p:tgtEl>
                                          <p:spTgt spid="18"/>
                                        </p:tgtEl>
                                      </p:cBhvr>
                                    </p:animEffect>
                                  </p:childTnLst>
                                </p:cTn>
                              </p:par>
                            </p:childTnLst>
                          </p:cTn>
                        </p:par>
                        <p:par>
                          <p:cTn id="25" fill="hold">
                            <p:stCondLst>
                              <p:cond delay="1500"/>
                            </p:stCondLst>
                            <p:childTnLst>
                              <p:par>
                                <p:cTn id="26" presetID="22" presetClass="entr" presetSubtype="1" fill="hold" grpId="0" nodeType="afterEffect">
                                  <p:stCondLst>
                                    <p:cond delay="0"/>
                                  </p:stCondLst>
                                  <p:childTnLst>
                                    <p:set>
                                      <p:cBhvr>
                                        <p:cTn id="27" dur="1" fill="hold">
                                          <p:stCondLst>
                                            <p:cond delay="0"/>
                                          </p:stCondLst>
                                        </p:cTn>
                                        <p:tgtEl>
                                          <p:spTgt spid="20"/>
                                        </p:tgtEl>
                                        <p:attrNameLst>
                                          <p:attrName>style.visibility</p:attrName>
                                        </p:attrNameLst>
                                      </p:cBhvr>
                                      <p:to>
                                        <p:strVal val="visible"/>
                                      </p:to>
                                    </p:set>
                                    <p:animEffect transition="in" filter="wipe(up)">
                                      <p:cBhvr>
                                        <p:cTn id="28" dur="500"/>
                                        <p:tgtEl>
                                          <p:spTgt spid="20"/>
                                        </p:tgtEl>
                                      </p:cBhvr>
                                    </p:animEffect>
                                  </p:childTnLst>
                                </p:cTn>
                              </p:par>
                              <p:par>
                                <p:cTn id="29" presetID="22" presetClass="entr" presetSubtype="8" fill="hold" nodeType="withEffect">
                                  <p:stCondLst>
                                    <p:cond delay="0"/>
                                  </p:stCondLst>
                                  <p:childTnLst>
                                    <p:set>
                                      <p:cBhvr>
                                        <p:cTn id="30" dur="1" fill="hold">
                                          <p:stCondLst>
                                            <p:cond delay="0"/>
                                          </p:stCondLst>
                                        </p:cTn>
                                        <p:tgtEl>
                                          <p:spTgt spid="11"/>
                                        </p:tgtEl>
                                        <p:attrNameLst>
                                          <p:attrName>style.visibility</p:attrName>
                                        </p:attrNameLst>
                                      </p:cBhvr>
                                      <p:to>
                                        <p:strVal val="visible"/>
                                      </p:to>
                                    </p:set>
                                    <p:animEffect transition="in" filter="wipe(left)">
                                      <p:cBhvr>
                                        <p:cTn id="31" dur="500"/>
                                        <p:tgtEl>
                                          <p:spTgt spid="11"/>
                                        </p:tgtEl>
                                      </p:cBhvr>
                                    </p:animEffect>
                                  </p:childTnLst>
                                </p:cTn>
                              </p:par>
                              <p:par>
                                <p:cTn id="32" presetID="22" presetClass="entr" presetSubtype="8" fill="hold" grpId="0" nodeType="withEffect">
                                  <p:stCondLst>
                                    <p:cond delay="0"/>
                                  </p:stCondLst>
                                  <p:childTnLst>
                                    <p:set>
                                      <p:cBhvr>
                                        <p:cTn id="33" dur="1" fill="hold">
                                          <p:stCondLst>
                                            <p:cond delay="0"/>
                                          </p:stCondLst>
                                        </p:cTn>
                                        <p:tgtEl>
                                          <p:spTgt spid="19"/>
                                        </p:tgtEl>
                                        <p:attrNameLst>
                                          <p:attrName>style.visibility</p:attrName>
                                        </p:attrNameLst>
                                      </p:cBhvr>
                                      <p:to>
                                        <p:strVal val="visible"/>
                                      </p:to>
                                    </p:set>
                                    <p:animEffect transition="in" filter="wipe(left)">
                                      <p:cBhvr>
                                        <p:cTn id="34" dur="500"/>
                                        <p:tgtEl>
                                          <p:spTgt spid="19"/>
                                        </p:tgtEl>
                                      </p:cBhvr>
                                    </p:animEffect>
                                  </p:childTnLst>
                                </p:cTn>
                              </p:par>
                            </p:childTnLst>
                          </p:cTn>
                        </p:par>
                      </p:childTnLst>
                    </p:cTn>
                  </p:par>
                  <p:par>
                    <p:cTn id="35" fill="hold">
                      <p:stCondLst>
                        <p:cond delay="indefinite"/>
                      </p:stCondLst>
                      <p:childTnLst>
                        <p:par>
                          <p:cTn id="36" fill="hold">
                            <p:stCondLst>
                              <p:cond delay="0"/>
                            </p:stCondLst>
                            <p:childTnLst>
                              <p:par>
                                <p:cTn id="37" presetID="10" presetClass="entr" presetSubtype="0" fill="hold" grpId="0" nodeType="clickEffect">
                                  <p:stCondLst>
                                    <p:cond delay="0"/>
                                  </p:stCondLst>
                                  <p:childTnLst>
                                    <p:set>
                                      <p:cBhvr>
                                        <p:cTn id="38" dur="1" fill="hold">
                                          <p:stCondLst>
                                            <p:cond delay="0"/>
                                          </p:stCondLst>
                                        </p:cTn>
                                        <p:tgtEl>
                                          <p:spTgt spid="22"/>
                                        </p:tgtEl>
                                        <p:attrNameLst>
                                          <p:attrName>style.visibility</p:attrName>
                                        </p:attrNameLst>
                                      </p:cBhvr>
                                      <p:to>
                                        <p:strVal val="visible"/>
                                      </p:to>
                                    </p:set>
                                    <p:animEffect transition="in" filter="fade">
                                      <p:cBhvr>
                                        <p:cTn id="39" dur="2000"/>
                                        <p:tgtEl>
                                          <p:spTgt spid="22"/>
                                        </p:tgtEl>
                                      </p:cBhvr>
                                    </p:animEffect>
                                  </p:childTnLst>
                                </p:cTn>
                              </p:par>
                            </p:childTnLst>
                          </p:cTn>
                        </p:par>
                        <p:par>
                          <p:cTn id="40" fill="hold">
                            <p:stCondLst>
                              <p:cond delay="2000"/>
                            </p:stCondLst>
                            <p:childTnLst>
                              <p:par>
                                <p:cTn id="41" presetID="10" presetClass="entr" presetSubtype="0" fill="hold" grpId="0" nodeType="afterEffect">
                                  <p:stCondLst>
                                    <p:cond delay="0"/>
                                  </p:stCondLst>
                                  <p:childTnLst>
                                    <p:set>
                                      <p:cBhvr>
                                        <p:cTn id="42" dur="1" fill="hold">
                                          <p:stCondLst>
                                            <p:cond delay="0"/>
                                          </p:stCondLst>
                                        </p:cTn>
                                        <p:tgtEl>
                                          <p:spTgt spid="23"/>
                                        </p:tgtEl>
                                        <p:attrNameLst>
                                          <p:attrName>style.visibility</p:attrName>
                                        </p:attrNameLst>
                                      </p:cBhvr>
                                      <p:to>
                                        <p:strVal val="visible"/>
                                      </p:to>
                                    </p:set>
                                    <p:animEffect transition="in" filter="fade">
                                      <p:cBhvr>
                                        <p:cTn id="43" dur="2000"/>
                                        <p:tgtEl>
                                          <p:spTgt spid="23"/>
                                        </p:tgtEl>
                                      </p:cBhvr>
                                    </p:animEffect>
                                  </p:childTnLst>
                                </p:cTn>
                              </p:par>
                            </p:childTnLst>
                          </p:cTn>
                        </p:par>
                        <p:par>
                          <p:cTn id="44" fill="hold">
                            <p:stCondLst>
                              <p:cond delay="4000"/>
                            </p:stCondLst>
                            <p:childTnLst>
                              <p:par>
                                <p:cTn id="45" presetID="10" presetClass="entr" presetSubtype="0" fill="hold" grpId="0" nodeType="afterEffect">
                                  <p:stCondLst>
                                    <p:cond delay="0"/>
                                  </p:stCondLst>
                                  <p:childTnLst>
                                    <p:set>
                                      <p:cBhvr>
                                        <p:cTn id="46" dur="1" fill="hold">
                                          <p:stCondLst>
                                            <p:cond delay="0"/>
                                          </p:stCondLst>
                                        </p:cTn>
                                        <p:tgtEl>
                                          <p:spTgt spid="24"/>
                                        </p:tgtEl>
                                        <p:attrNameLst>
                                          <p:attrName>style.visibility</p:attrName>
                                        </p:attrNameLst>
                                      </p:cBhvr>
                                      <p:to>
                                        <p:strVal val="visible"/>
                                      </p:to>
                                    </p:set>
                                    <p:animEffect transition="in" filter="fade">
                                      <p:cBhvr>
                                        <p:cTn id="47" dur="2000"/>
                                        <p:tgtEl>
                                          <p:spTgt spid="24"/>
                                        </p:tgtEl>
                                      </p:cBhvr>
                                    </p:animEffect>
                                  </p:childTnLst>
                                </p:cTn>
                              </p:par>
                            </p:childTnLst>
                          </p:cTn>
                        </p:par>
                        <p:par>
                          <p:cTn id="48" fill="hold">
                            <p:stCondLst>
                              <p:cond delay="6000"/>
                            </p:stCondLst>
                            <p:childTnLst>
                              <p:par>
                                <p:cTn id="49" presetID="10" presetClass="entr" presetSubtype="0" fill="hold" grpId="0" nodeType="afterEffect">
                                  <p:stCondLst>
                                    <p:cond delay="0"/>
                                  </p:stCondLst>
                                  <p:childTnLst>
                                    <p:set>
                                      <p:cBhvr>
                                        <p:cTn id="50" dur="1" fill="hold">
                                          <p:stCondLst>
                                            <p:cond delay="0"/>
                                          </p:stCondLst>
                                        </p:cTn>
                                        <p:tgtEl>
                                          <p:spTgt spid="25"/>
                                        </p:tgtEl>
                                        <p:attrNameLst>
                                          <p:attrName>style.visibility</p:attrName>
                                        </p:attrNameLst>
                                      </p:cBhvr>
                                      <p:to>
                                        <p:strVal val="visible"/>
                                      </p:to>
                                    </p:set>
                                    <p:animEffect transition="in" filter="fade">
                                      <p:cBhvr>
                                        <p:cTn id="51" dur="2000"/>
                                        <p:tgtEl>
                                          <p:spTgt spid="25"/>
                                        </p:tgtEl>
                                      </p:cBhvr>
                                    </p:animEffect>
                                  </p:childTnLst>
                                </p:cTn>
                              </p:par>
                            </p:childTnLst>
                          </p:cTn>
                        </p:par>
                      </p:childTnLst>
                    </p:cTn>
                  </p:par>
                  <p:par>
                    <p:cTn id="52" fill="hold">
                      <p:stCondLst>
                        <p:cond delay="indefinite"/>
                      </p:stCondLst>
                      <p:childTnLst>
                        <p:par>
                          <p:cTn id="53" fill="hold">
                            <p:stCondLst>
                              <p:cond delay="0"/>
                            </p:stCondLst>
                            <p:childTnLst>
                              <p:par>
                                <p:cTn id="54" presetID="22" presetClass="entr" presetSubtype="1" fill="hold" grpId="0" nodeType="clickEffect">
                                  <p:stCondLst>
                                    <p:cond delay="0"/>
                                  </p:stCondLst>
                                  <p:childTnLst>
                                    <p:set>
                                      <p:cBhvr>
                                        <p:cTn id="55" dur="1" fill="hold">
                                          <p:stCondLst>
                                            <p:cond delay="0"/>
                                          </p:stCondLst>
                                        </p:cTn>
                                        <p:tgtEl>
                                          <p:spTgt spid="34"/>
                                        </p:tgtEl>
                                        <p:attrNameLst>
                                          <p:attrName>style.visibility</p:attrName>
                                        </p:attrNameLst>
                                      </p:cBhvr>
                                      <p:to>
                                        <p:strVal val="visible"/>
                                      </p:to>
                                    </p:set>
                                    <p:animEffect transition="in" filter="wipe(up)">
                                      <p:cBhvr>
                                        <p:cTn id="56" dur="500"/>
                                        <p:tgtEl>
                                          <p:spTgt spid="34"/>
                                        </p:tgtEl>
                                      </p:cBhvr>
                                    </p:animEffect>
                                  </p:childTnLst>
                                </p:cTn>
                              </p:par>
                              <p:par>
                                <p:cTn id="57" presetID="22" presetClass="entr" presetSubtype="1" fill="hold" nodeType="withEffect">
                                  <p:stCondLst>
                                    <p:cond delay="0"/>
                                  </p:stCondLst>
                                  <p:childTnLst>
                                    <p:set>
                                      <p:cBhvr>
                                        <p:cTn id="58" dur="1" fill="hold">
                                          <p:stCondLst>
                                            <p:cond delay="0"/>
                                          </p:stCondLst>
                                        </p:cTn>
                                        <p:tgtEl>
                                          <p:spTgt spid="31"/>
                                        </p:tgtEl>
                                        <p:attrNameLst>
                                          <p:attrName>style.visibility</p:attrName>
                                        </p:attrNameLst>
                                      </p:cBhvr>
                                      <p:to>
                                        <p:strVal val="visible"/>
                                      </p:to>
                                    </p:set>
                                    <p:animEffect transition="in" filter="wipe(up)">
                                      <p:cBhvr>
                                        <p:cTn id="59" dur="500"/>
                                        <p:tgtEl>
                                          <p:spTgt spid="31"/>
                                        </p:tgtEl>
                                      </p:cBhvr>
                                    </p:animEffect>
                                  </p:childTnLst>
                                </p:cTn>
                              </p:par>
                            </p:childTnLst>
                          </p:cTn>
                        </p:par>
                      </p:childTnLst>
                    </p:cTn>
                  </p:par>
                  <p:par>
                    <p:cTn id="60" fill="hold">
                      <p:stCondLst>
                        <p:cond delay="indefinite"/>
                      </p:stCondLst>
                      <p:childTnLst>
                        <p:par>
                          <p:cTn id="61" fill="hold">
                            <p:stCondLst>
                              <p:cond delay="0"/>
                            </p:stCondLst>
                            <p:childTnLst>
                              <p:par>
                                <p:cTn id="62" presetID="10" presetClass="entr" presetSubtype="0" fill="hold" nodeType="clickEffect">
                                  <p:stCondLst>
                                    <p:cond delay="0"/>
                                  </p:stCondLst>
                                  <p:childTnLst>
                                    <p:set>
                                      <p:cBhvr>
                                        <p:cTn id="63" dur="1" fill="hold">
                                          <p:stCondLst>
                                            <p:cond delay="0"/>
                                          </p:stCondLst>
                                        </p:cTn>
                                        <p:tgtEl>
                                          <p:spTgt spid="5">
                                            <p:txEl>
                                              <p:pRg st="0" end="0"/>
                                            </p:txEl>
                                          </p:spTgt>
                                        </p:tgtEl>
                                        <p:attrNameLst>
                                          <p:attrName>style.visibility</p:attrName>
                                        </p:attrNameLst>
                                      </p:cBhvr>
                                      <p:to>
                                        <p:strVal val="visible"/>
                                      </p:to>
                                    </p:set>
                                    <p:animEffect transition="in" filter="fade">
                                      <p:cBhvr>
                                        <p:cTn id="64" dur="2000"/>
                                        <p:tgtEl>
                                          <p:spTgt spid="5">
                                            <p:txEl>
                                              <p:pRg st="0" end="0"/>
                                            </p:txEl>
                                          </p:spTgt>
                                        </p:tgtEl>
                                      </p:cBhvr>
                                    </p:animEffect>
                                  </p:childTnLst>
                                </p:cTn>
                              </p:par>
                            </p:childTnLst>
                          </p:cTn>
                        </p:par>
                      </p:childTnLst>
                    </p:cTn>
                  </p:par>
                  <p:par>
                    <p:cTn id="65" fill="hold">
                      <p:stCondLst>
                        <p:cond delay="indefinite"/>
                      </p:stCondLst>
                      <p:childTnLst>
                        <p:par>
                          <p:cTn id="66" fill="hold">
                            <p:stCondLst>
                              <p:cond delay="0"/>
                            </p:stCondLst>
                            <p:childTnLst>
                              <p:par>
                                <p:cTn id="67" presetID="22" presetClass="entr" presetSubtype="8" fill="hold" nodeType="clickEffect">
                                  <p:stCondLst>
                                    <p:cond delay="0"/>
                                  </p:stCondLst>
                                  <p:childTnLst>
                                    <p:set>
                                      <p:cBhvr>
                                        <p:cTn id="68" dur="1" fill="hold">
                                          <p:stCondLst>
                                            <p:cond delay="0"/>
                                          </p:stCondLst>
                                        </p:cTn>
                                        <p:tgtEl>
                                          <p:spTgt spid="27"/>
                                        </p:tgtEl>
                                        <p:attrNameLst>
                                          <p:attrName>style.visibility</p:attrName>
                                        </p:attrNameLst>
                                      </p:cBhvr>
                                      <p:to>
                                        <p:strVal val="visible"/>
                                      </p:to>
                                    </p:set>
                                    <p:animEffect transition="in" filter="wipe(left)">
                                      <p:cBhvr>
                                        <p:cTn id="69" dur="500"/>
                                        <p:tgtEl>
                                          <p:spTgt spid="27"/>
                                        </p:tgtEl>
                                      </p:cBhvr>
                                    </p:animEffect>
                                  </p:childTnLst>
                                </p:cTn>
                              </p:par>
                              <p:par>
                                <p:cTn id="70" presetID="22" presetClass="entr" presetSubtype="8" fill="hold" grpId="0" nodeType="withEffect">
                                  <p:stCondLst>
                                    <p:cond delay="0"/>
                                  </p:stCondLst>
                                  <p:childTnLst>
                                    <p:set>
                                      <p:cBhvr>
                                        <p:cTn id="71" dur="1" fill="hold">
                                          <p:stCondLst>
                                            <p:cond delay="0"/>
                                          </p:stCondLst>
                                        </p:cTn>
                                        <p:tgtEl>
                                          <p:spTgt spid="29"/>
                                        </p:tgtEl>
                                        <p:attrNameLst>
                                          <p:attrName>style.visibility</p:attrName>
                                        </p:attrNameLst>
                                      </p:cBhvr>
                                      <p:to>
                                        <p:strVal val="visible"/>
                                      </p:to>
                                    </p:set>
                                    <p:animEffect transition="in" filter="wipe(left)">
                                      <p:cBhvr>
                                        <p:cTn id="72" dur="500"/>
                                        <p:tgtEl>
                                          <p:spTgt spid="29"/>
                                        </p:tgtEl>
                                      </p:cBhvr>
                                    </p:animEffect>
                                  </p:childTnLst>
                                </p:cTn>
                              </p:par>
                            </p:childTnLst>
                          </p:cTn>
                        </p:par>
                      </p:childTnLst>
                    </p:cTn>
                  </p:par>
                  <p:par>
                    <p:cTn id="73" fill="hold">
                      <p:stCondLst>
                        <p:cond delay="indefinite"/>
                      </p:stCondLst>
                      <p:childTnLst>
                        <p:par>
                          <p:cTn id="74" fill="hold">
                            <p:stCondLst>
                              <p:cond delay="0"/>
                            </p:stCondLst>
                            <p:childTnLst>
                              <p:par>
                                <p:cTn id="75" presetID="27" presetClass="entr" presetSubtype="0" fill="hold" nodeType="clickEffect">
                                  <p:stCondLst>
                                    <p:cond delay="0"/>
                                  </p:stCondLst>
                                  <p:iterate type="lt">
                                    <p:tmPct val="50000"/>
                                  </p:iterate>
                                  <p:childTnLst>
                                    <p:set>
                                      <p:cBhvr>
                                        <p:cTn id="76" dur="1" fill="hold">
                                          <p:stCondLst>
                                            <p:cond delay="0"/>
                                          </p:stCondLst>
                                        </p:cTn>
                                        <p:tgtEl>
                                          <p:spTgt spid="30">
                                            <p:txEl>
                                              <p:pRg st="0" end="0"/>
                                            </p:txEl>
                                          </p:spTgt>
                                        </p:tgtEl>
                                        <p:attrNameLst>
                                          <p:attrName>style.visibility</p:attrName>
                                        </p:attrNameLst>
                                      </p:cBhvr>
                                      <p:to>
                                        <p:strVal val="visible"/>
                                      </p:to>
                                    </p:set>
                                    <p:anim calcmode="discrete" valueType="clr">
                                      <p:cBhvr override="childStyle">
                                        <p:cTn id="77" dur="80"/>
                                        <p:tgtEl>
                                          <p:spTgt spid="30">
                                            <p:txEl>
                                              <p:pRg st="0" end="0"/>
                                            </p:txEl>
                                          </p:spTgt>
                                        </p:tgtEl>
                                        <p:attrNameLst>
                                          <p:attrName>style.color</p:attrName>
                                        </p:attrNameLst>
                                      </p:cBhvr>
                                      <p:tavLst>
                                        <p:tav tm="0">
                                          <p:val>
                                            <p:clrVal>
                                              <a:schemeClr val="accent2"/>
                                            </p:clrVal>
                                          </p:val>
                                        </p:tav>
                                        <p:tav tm="50000">
                                          <p:val>
                                            <p:clrVal>
                                              <a:schemeClr val="hlink"/>
                                            </p:clrVal>
                                          </p:val>
                                        </p:tav>
                                      </p:tavLst>
                                    </p:anim>
                                    <p:anim calcmode="discrete" valueType="clr">
                                      <p:cBhvr>
                                        <p:cTn id="78" dur="80"/>
                                        <p:tgtEl>
                                          <p:spTgt spid="30">
                                            <p:txEl>
                                              <p:pRg st="0" end="0"/>
                                            </p:txEl>
                                          </p:spTgt>
                                        </p:tgtEl>
                                        <p:attrNameLst>
                                          <p:attrName>fillcolor</p:attrName>
                                        </p:attrNameLst>
                                      </p:cBhvr>
                                      <p:tavLst>
                                        <p:tav tm="0">
                                          <p:val>
                                            <p:clrVal>
                                              <a:schemeClr val="accent2"/>
                                            </p:clrVal>
                                          </p:val>
                                        </p:tav>
                                        <p:tav tm="50000">
                                          <p:val>
                                            <p:clrVal>
                                              <a:schemeClr val="hlink"/>
                                            </p:clrVal>
                                          </p:val>
                                        </p:tav>
                                      </p:tavLst>
                                    </p:anim>
                                    <p:set>
                                      <p:cBhvr>
                                        <p:cTn id="79" dur="80"/>
                                        <p:tgtEl>
                                          <p:spTgt spid="30">
                                            <p:txEl>
                                              <p:pRg st="0" end="0"/>
                                            </p:txEl>
                                          </p:spTgt>
                                        </p:tgtEl>
                                        <p:attrNameLst>
                                          <p:attrName>fill.type</p:attrName>
                                        </p:attrNameLst>
                                      </p:cBhvr>
                                      <p:to>
                                        <p:strVal val="solid"/>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6" grpId="0"/>
      <p:bldP spid="17" grpId="0"/>
      <p:bldP spid="18" grpId="0"/>
      <p:bldP spid="19" grpId="0"/>
      <p:bldP spid="20" grpId="0"/>
      <p:bldP spid="22" grpId="0"/>
      <p:bldP spid="23" grpId="0"/>
      <p:bldP spid="24" grpId="0"/>
      <p:bldP spid="25" grpId="0"/>
      <p:bldP spid="29" grpId="0"/>
      <p:bldP spid="34" grpId="0"/>
    </p:bld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Artificial Neuron</a:t>
            </a:r>
          </a:p>
        </p:txBody>
      </p:sp>
      <p:sp>
        <p:nvSpPr>
          <p:cNvPr id="5" name="Oval 4"/>
          <p:cNvSpPr/>
          <p:nvPr/>
        </p:nvSpPr>
        <p:spPr>
          <a:xfrm>
            <a:off x="3429000" y="2971800"/>
            <a:ext cx="1066800" cy="1295400"/>
          </a:xfrm>
          <a:prstGeom prst="ellipse">
            <a:avLst/>
          </a:prstGeom>
          <a:solidFill>
            <a:schemeClr val="accent1">
              <a:alpha val="17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4400" b="1" dirty="0">
                <a:solidFill>
                  <a:schemeClr val="tx1"/>
                </a:solidFill>
              </a:rPr>
              <a:t>∑</a:t>
            </a:r>
          </a:p>
        </p:txBody>
      </p:sp>
      <p:cxnSp>
        <p:nvCxnSpPr>
          <p:cNvPr id="7" name="Straight Arrow Connector 6"/>
          <p:cNvCxnSpPr/>
          <p:nvPr/>
        </p:nvCxnSpPr>
        <p:spPr>
          <a:xfrm>
            <a:off x="1676400" y="2590800"/>
            <a:ext cx="1828800" cy="685800"/>
          </a:xfrm>
          <a:prstGeom prst="straightConnector1">
            <a:avLst/>
          </a:prstGeom>
          <a:ln w="25400">
            <a:tailEnd type="arrow"/>
          </a:ln>
        </p:spPr>
        <p:style>
          <a:lnRef idx="1">
            <a:schemeClr val="accent1"/>
          </a:lnRef>
          <a:fillRef idx="0">
            <a:schemeClr val="accent1"/>
          </a:fillRef>
          <a:effectRef idx="0">
            <a:schemeClr val="accent1"/>
          </a:effectRef>
          <a:fontRef idx="minor">
            <a:schemeClr val="tx1"/>
          </a:fontRef>
        </p:style>
      </p:cxnSp>
      <p:cxnSp>
        <p:nvCxnSpPr>
          <p:cNvPr id="9" name="Straight Arrow Connector 8"/>
          <p:cNvCxnSpPr/>
          <p:nvPr/>
        </p:nvCxnSpPr>
        <p:spPr>
          <a:xfrm>
            <a:off x="1613848" y="3020704"/>
            <a:ext cx="1828800" cy="457200"/>
          </a:xfrm>
          <a:prstGeom prst="straightConnector1">
            <a:avLst/>
          </a:prstGeom>
          <a:ln w="25400">
            <a:tailEnd type="arrow"/>
          </a:ln>
        </p:spPr>
        <p:style>
          <a:lnRef idx="1">
            <a:schemeClr val="accent1"/>
          </a:lnRef>
          <a:fillRef idx="0">
            <a:schemeClr val="accent1"/>
          </a:fillRef>
          <a:effectRef idx="0">
            <a:schemeClr val="accent1"/>
          </a:effectRef>
          <a:fontRef idx="minor">
            <a:schemeClr val="tx1"/>
          </a:fontRef>
        </p:style>
      </p:cxnSp>
      <p:cxnSp>
        <p:nvCxnSpPr>
          <p:cNvPr id="10" name="Straight Arrow Connector 9"/>
          <p:cNvCxnSpPr/>
          <p:nvPr/>
        </p:nvCxnSpPr>
        <p:spPr>
          <a:xfrm>
            <a:off x="1608160" y="3589360"/>
            <a:ext cx="1828800" cy="76200"/>
          </a:xfrm>
          <a:prstGeom prst="straightConnector1">
            <a:avLst/>
          </a:prstGeom>
          <a:ln w="25400">
            <a:tailEnd type="arrow"/>
          </a:ln>
        </p:spPr>
        <p:style>
          <a:lnRef idx="1">
            <a:schemeClr val="accent1"/>
          </a:lnRef>
          <a:fillRef idx="0">
            <a:schemeClr val="accent1"/>
          </a:fillRef>
          <a:effectRef idx="0">
            <a:schemeClr val="accent1"/>
          </a:effectRef>
          <a:fontRef idx="minor">
            <a:schemeClr val="tx1"/>
          </a:fontRef>
        </p:style>
      </p:cxnSp>
      <p:cxnSp>
        <p:nvCxnSpPr>
          <p:cNvPr id="11" name="Straight Arrow Connector 10"/>
          <p:cNvCxnSpPr>
            <a:endCxn id="5" idx="3"/>
          </p:cNvCxnSpPr>
          <p:nvPr/>
        </p:nvCxnSpPr>
        <p:spPr>
          <a:xfrm flipV="1">
            <a:off x="1600200" y="4077493"/>
            <a:ext cx="1985029" cy="646907"/>
          </a:xfrm>
          <a:prstGeom prst="straightConnector1">
            <a:avLst/>
          </a:prstGeom>
          <a:ln w="25400">
            <a:tailEnd type="arrow"/>
          </a:ln>
        </p:spPr>
        <p:style>
          <a:lnRef idx="1">
            <a:schemeClr val="accent1"/>
          </a:lnRef>
          <a:fillRef idx="0">
            <a:schemeClr val="accent1"/>
          </a:fillRef>
          <a:effectRef idx="0">
            <a:schemeClr val="accent1"/>
          </a:effectRef>
          <a:fontRef idx="minor">
            <a:schemeClr val="tx1"/>
          </a:fontRef>
        </p:style>
      </p:cxnSp>
      <p:sp>
        <p:nvSpPr>
          <p:cNvPr id="16" name="TextBox 15"/>
          <p:cNvSpPr txBox="1"/>
          <p:nvPr/>
        </p:nvSpPr>
        <p:spPr>
          <a:xfrm>
            <a:off x="1371600" y="2373868"/>
            <a:ext cx="457200" cy="369332"/>
          </a:xfrm>
          <a:prstGeom prst="rect">
            <a:avLst/>
          </a:prstGeom>
          <a:noFill/>
        </p:spPr>
        <p:txBody>
          <a:bodyPr wrap="square" rtlCol="0">
            <a:spAutoFit/>
          </a:bodyPr>
          <a:lstStyle/>
          <a:p>
            <a:r>
              <a:rPr lang="en-US" dirty="0"/>
              <a:t>x</a:t>
            </a:r>
            <a:r>
              <a:rPr lang="en-US" baseline="-25000" dirty="0"/>
              <a:t>1</a:t>
            </a:r>
          </a:p>
        </p:txBody>
      </p:sp>
      <p:sp>
        <p:nvSpPr>
          <p:cNvPr id="17" name="TextBox 16"/>
          <p:cNvSpPr txBox="1"/>
          <p:nvPr/>
        </p:nvSpPr>
        <p:spPr>
          <a:xfrm>
            <a:off x="1295400" y="2831068"/>
            <a:ext cx="457200" cy="369332"/>
          </a:xfrm>
          <a:prstGeom prst="rect">
            <a:avLst/>
          </a:prstGeom>
          <a:noFill/>
        </p:spPr>
        <p:txBody>
          <a:bodyPr wrap="square" rtlCol="0">
            <a:spAutoFit/>
          </a:bodyPr>
          <a:lstStyle/>
          <a:p>
            <a:r>
              <a:rPr lang="en-US" dirty="0"/>
              <a:t>x</a:t>
            </a:r>
            <a:r>
              <a:rPr lang="en-US" baseline="-25000" dirty="0"/>
              <a:t>2</a:t>
            </a:r>
          </a:p>
        </p:txBody>
      </p:sp>
      <p:sp>
        <p:nvSpPr>
          <p:cNvPr id="18" name="TextBox 17"/>
          <p:cNvSpPr txBox="1"/>
          <p:nvPr/>
        </p:nvSpPr>
        <p:spPr>
          <a:xfrm>
            <a:off x="1295400" y="3364468"/>
            <a:ext cx="457200" cy="369332"/>
          </a:xfrm>
          <a:prstGeom prst="rect">
            <a:avLst/>
          </a:prstGeom>
          <a:noFill/>
        </p:spPr>
        <p:txBody>
          <a:bodyPr wrap="square" rtlCol="0">
            <a:spAutoFit/>
          </a:bodyPr>
          <a:lstStyle/>
          <a:p>
            <a:r>
              <a:rPr lang="en-US" dirty="0"/>
              <a:t>x</a:t>
            </a:r>
            <a:r>
              <a:rPr lang="en-US" baseline="-25000" dirty="0"/>
              <a:t>3</a:t>
            </a:r>
          </a:p>
        </p:txBody>
      </p:sp>
      <p:sp>
        <p:nvSpPr>
          <p:cNvPr id="19" name="TextBox 18"/>
          <p:cNvSpPr txBox="1"/>
          <p:nvPr/>
        </p:nvSpPr>
        <p:spPr>
          <a:xfrm>
            <a:off x="1295400" y="4507468"/>
            <a:ext cx="457200" cy="369332"/>
          </a:xfrm>
          <a:prstGeom prst="rect">
            <a:avLst/>
          </a:prstGeom>
          <a:noFill/>
        </p:spPr>
        <p:txBody>
          <a:bodyPr wrap="square" rtlCol="0">
            <a:spAutoFit/>
          </a:bodyPr>
          <a:lstStyle/>
          <a:p>
            <a:r>
              <a:rPr lang="en-US" dirty="0" err="1"/>
              <a:t>x</a:t>
            </a:r>
            <a:r>
              <a:rPr lang="en-US" baseline="-25000" dirty="0" err="1"/>
              <a:t>n</a:t>
            </a:r>
            <a:endParaRPr lang="en-US" baseline="-25000" dirty="0"/>
          </a:p>
        </p:txBody>
      </p:sp>
      <p:sp>
        <p:nvSpPr>
          <p:cNvPr id="20" name="TextBox 19"/>
          <p:cNvSpPr txBox="1"/>
          <p:nvPr/>
        </p:nvSpPr>
        <p:spPr>
          <a:xfrm>
            <a:off x="1905000" y="3733800"/>
            <a:ext cx="76200" cy="923330"/>
          </a:xfrm>
          <a:prstGeom prst="rect">
            <a:avLst/>
          </a:prstGeom>
          <a:noFill/>
        </p:spPr>
        <p:txBody>
          <a:bodyPr wrap="square" rtlCol="0">
            <a:spAutoFit/>
          </a:bodyPr>
          <a:lstStyle/>
          <a:p>
            <a:r>
              <a:rPr lang="en-US" dirty="0"/>
              <a:t>:</a:t>
            </a:r>
          </a:p>
          <a:p>
            <a:r>
              <a:rPr lang="en-US" dirty="0"/>
              <a:t>:</a:t>
            </a:r>
          </a:p>
          <a:p>
            <a:r>
              <a:rPr lang="en-US" dirty="0"/>
              <a:t>:</a:t>
            </a:r>
          </a:p>
        </p:txBody>
      </p:sp>
      <p:sp>
        <p:nvSpPr>
          <p:cNvPr id="21" name="TextBox 20"/>
          <p:cNvSpPr txBox="1"/>
          <p:nvPr/>
        </p:nvSpPr>
        <p:spPr>
          <a:xfrm>
            <a:off x="3352800" y="4267200"/>
            <a:ext cx="1143000" cy="369332"/>
          </a:xfrm>
          <a:prstGeom prst="rect">
            <a:avLst/>
          </a:prstGeom>
          <a:noFill/>
        </p:spPr>
        <p:txBody>
          <a:bodyPr wrap="square" rtlCol="0">
            <a:spAutoFit/>
          </a:bodyPr>
          <a:lstStyle/>
          <a:p>
            <a:r>
              <a:rPr lang="en-US" dirty="0" err="1"/>
              <a:t>K</a:t>
            </a:r>
            <a:r>
              <a:rPr lang="en-US" baseline="30000" dirty="0" err="1"/>
              <a:t>th</a:t>
            </a:r>
            <a:r>
              <a:rPr lang="en-US" dirty="0"/>
              <a:t> Neuron</a:t>
            </a:r>
            <a:endParaRPr lang="en-US" baseline="30000" dirty="0"/>
          </a:p>
        </p:txBody>
      </p:sp>
      <p:sp>
        <p:nvSpPr>
          <p:cNvPr id="22" name="TextBox 21"/>
          <p:cNvSpPr txBox="1"/>
          <p:nvPr/>
        </p:nvSpPr>
        <p:spPr>
          <a:xfrm>
            <a:off x="2133600" y="2514600"/>
            <a:ext cx="567784" cy="369332"/>
          </a:xfrm>
          <a:prstGeom prst="rect">
            <a:avLst/>
          </a:prstGeom>
          <a:noFill/>
        </p:spPr>
        <p:txBody>
          <a:bodyPr wrap="none" rtlCol="0">
            <a:spAutoFit/>
          </a:bodyPr>
          <a:lstStyle/>
          <a:p>
            <a:r>
              <a:rPr lang="en-US" dirty="0"/>
              <a:t>W</a:t>
            </a:r>
            <a:r>
              <a:rPr lang="en-US" baseline="-25000" dirty="0"/>
              <a:t>k1</a:t>
            </a:r>
          </a:p>
        </p:txBody>
      </p:sp>
      <p:sp>
        <p:nvSpPr>
          <p:cNvPr id="23" name="TextBox 22"/>
          <p:cNvSpPr txBox="1"/>
          <p:nvPr/>
        </p:nvSpPr>
        <p:spPr>
          <a:xfrm>
            <a:off x="2133600" y="2907268"/>
            <a:ext cx="567784" cy="369332"/>
          </a:xfrm>
          <a:prstGeom prst="rect">
            <a:avLst/>
          </a:prstGeom>
          <a:noFill/>
        </p:spPr>
        <p:txBody>
          <a:bodyPr wrap="none" rtlCol="0">
            <a:spAutoFit/>
          </a:bodyPr>
          <a:lstStyle/>
          <a:p>
            <a:r>
              <a:rPr lang="en-US" dirty="0"/>
              <a:t>W</a:t>
            </a:r>
            <a:r>
              <a:rPr lang="en-US" baseline="-25000" dirty="0"/>
              <a:t>k2</a:t>
            </a:r>
          </a:p>
        </p:txBody>
      </p:sp>
      <p:sp>
        <p:nvSpPr>
          <p:cNvPr id="24" name="TextBox 23"/>
          <p:cNvSpPr txBox="1"/>
          <p:nvPr/>
        </p:nvSpPr>
        <p:spPr>
          <a:xfrm>
            <a:off x="2133600" y="3276600"/>
            <a:ext cx="567784" cy="369332"/>
          </a:xfrm>
          <a:prstGeom prst="rect">
            <a:avLst/>
          </a:prstGeom>
          <a:noFill/>
        </p:spPr>
        <p:txBody>
          <a:bodyPr wrap="none" rtlCol="0">
            <a:spAutoFit/>
          </a:bodyPr>
          <a:lstStyle/>
          <a:p>
            <a:r>
              <a:rPr lang="en-US" dirty="0"/>
              <a:t>W</a:t>
            </a:r>
            <a:r>
              <a:rPr lang="en-US" baseline="-25000" dirty="0"/>
              <a:t>k3</a:t>
            </a:r>
          </a:p>
        </p:txBody>
      </p:sp>
      <p:sp>
        <p:nvSpPr>
          <p:cNvPr id="25" name="TextBox 24"/>
          <p:cNvSpPr txBox="1"/>
          <p:nvPr/>
        </p:nvSpPr>
        <p:spPr>
          <a:xfrm>
            <a:off x="2209800" y="4050268"/>
            <a:ext cx="550151" cy="369332"/>
          </a:xfrm>
          <a:prstGeom prst="rect">
            <a:avLst/>
          </a:prstGeom>
          <a:noFill/>
        </p:spPr>
        <p:txBody>
          <a:bodyPr wrap="none" rtlCol="0">
            <a:spAutoFit/>
          </a:bodyPr>
          <a:lstStyle/>
          <a:p>
            <a:r>
              <a:rPr lang="en-US" dirty="0" err="1"/>
              <a:t>W</a:t>
            </a:r>
            <a:r>
              <a:rPr lang="en-US" baseline="-25000" dirty="0" err="1"/>
              <a:t>kn</a:t>
            </a:r>
            <a:endParaRPr lang="en-US" baseline="-25000" dirty="0"/>
          </a:p>
        </p:txBody>
      </p:sp>
      <p:cxnSp>
        <p:nvCxnSpPr>
          <p:cNvPr id="27" name="Straight Arrow Connector 26"/>
          <p:cNvCxnSpPr>
            <a:stCxn id="5" idx="6"/>
          </p:cNvCxnSpPr>
          <p:nvPr/>
        </p:nvCxnSpPr>
        <p:spPr>
          <a:xfrm>
            <a:off x="4495800" y="3619500"/>
            <a:ext cx="914400" cy="38100"/>
          </a:xfrm>
          <a:prstGeom prst="straightConnector1">
            <a:avLst/>
          </a:prstGeom>
          <a:ln w="44450">
            <a:tailEnd type="arrow"/>
          </a:ln>
        </p:spPr>
        <p:style>
          <a:lnRef idx="1">
            <a:schemeClr val="accent1"/>
          </a:lnRef>
          <a:fillRef idx="0">
            <a:schemeClr val="accent1"/>
          </a:fillRef>
          <a:effectRef idx="0">
            <a:schemeClr val="accent1"/>
          </a:effectRef>
          <a:fontRef idx="minor">
            <a:schemeClr val="tx1"/>
          </a:fontRef>
        </p:style>
      </p:cxnSp>
      <p:sp>
        <p:nvSpPr>
          <p:cNvPr id="28" name="Rectangle 27"/>
          <p:cNvSpPr/>
          <p:nvPr/>
        </p:nvSpPr>
        <p:spPr>
          <a:xfrm>
            <a:off x="5410200" y="3124200"/>
            <a:ext cx="1981200" cy="9906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rgbClr val="C00000"/>
                </a:solidFill>
              </a:rPr>
              <a:t>Activation   Function</a:t>
            </a:r>
          </a:p>
        </p:txBody>
      </p:sp>
      <p:sp>
        <p:nvSpPr>
          <p:cNvPr id="29" name="TextBox 28"/>
          <p:cNvSpPr txBox="1"/>
          <p:nvPr/>
        </p:nvSpPr>
        <p:spPr>
          <a:xfrm>
            <a:off x="4648200" y="3200400"/>
            <a:ext cx="533400" cy="369332"/>
          </a:xfrm>
          <a:prstGeom prst="rect">
            <a:avLst/>
          </a:prstGeom>
          <a:noFill/>
        </p:spPr>
        <p:txBody>
          <a:bodyPr wrap="square" rtlCol="0">
            <a:spAutoFit/>
          </a:bodyPr>
          <a:lstStyle/>
          <a:p>
            <a:r>
              <a:rPr lang="en-US" dirty="0" err="1"/>
              <a:t>V</a:t>
            </a:r>
            <a:r>
              <a:rPr lang="en-US" baseline="-25000" dirty="0" err="1"/>
              <a:t>k</a:t>
            </a:r>
            <a:endParaRPr lang="en-US" baseline="-25000" dirty="0"/>
          </a:p>
        </p:txBody>
      </p:sp>
      <mc:AlternateContent xmlns:mc="http://schemas.openxmlformats.org/markup-compatibility/2006" xmlns:a14="http://schemas.microsoft.com/office/drawing/2010/main">
        <mc:Choice Requires="a14">
          <p:sp>
            <p:nvSpPr>
              <p:cNvPr id="30" name="TextBox 29"/>
              <p:cNvSpPr txBox="1"/>
              <p:nvPr/>
            </p:nvSpPr>
            <p:spPr>
              <a:xfrm>
                <a:off x="2095500" y="4724400"/>
                <a:ext cx="6172200" cy="1423210"/>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r>
                        <a:rPr lang="en-US" sz="2400" b="1" i="1" dirty="0" smtClean="0">
                          <a:latin typeface="Cambria Math" panose="02040503050406030204" pitchFamily="18" charset="0"/>
                          <a:cs typeface="Times New Roman" pitchFamily="18" charset="0"/>
                        </a:rPr>
                        <m:t>𝑽</m:t>
                      </m:r>
                      <m:r>
                        <a:rPr lang="en-US" sz="2400" b="1" i="1" baseline="-25000" dirty="0" err="1">
                          <a:latin typeface="Cambria Math" panose="02040503050406030204" pitchFamily="18" charset="0"/>
                          <a:cs typeface="Times New Roman" pitchFamily="18" charset="0"/>
                        </a:rPr>
                        <m:t>𝒌</m:t>
                      </m:r>
                      <m:r>
                        <a:rPr lang="en-US" sz="2400" b="1" i="1" dirty="0">
                          <a:latin typeface="Cambria Math" panose="02040503050406030204" pitchFamily="18" charset="0"/>
                          <a:cs typeface="Times New Roman" pitchFamily="18" charset="0"/>
                        </a:rPr>
                        <m:t>= </m:t>
                      </m:r>
                      <m:nary>
                        <m:naryPr>
                          <m:chr m:val="∑"/>
                          <m:ctrlPr>
                            <a:rPr lang="en-US" sz="2400" b="1" i="1" dirty="0" smtClean="0">
                              <a:latin typeface="Cambria Math" panose="02040503050406030204" pitchFamily="18" charset="0"/>
                              <a:cs typeface="Times New Roman" pitchFamily="18" charset="0"/>
                            </a:rPr>
                          </m:ctrlPr>
                        </m:naryPr>
                        <m:sub>
                          <m:r>
                            <m:rPr>
                              <m:brk m:alnAt="23"/>
                            </m:rPr>
                            <a:rPr lang="en-US" sz="2400" b="1" i="1" dirty="0" smtClean="0">
                              <a:latin typeface="Cambria Math" panose="02040503050406030204" pitchFamily="18" charset="0"/>
                              <a:cs typeface="Times New Roman" pitchFamily="18" charset="0"/>
                            </a:rPr>
                            <m:t>𝒋</m:t>
                          </m:r>
                          <m:r>
                            <a:rPr lang="en-US" sz="2400" b="1" i="1" dirty="0" smtClean="0">
                              <a:latin typeface="Cambria Math" panose="02040503050406030204" pitchFamily="18" charset="0"/>
                              <a:cs typeface="Times New Roman" pitchFamily="18" charset="0"/>
                            </a:rPr>
                            <m:t>=</m:t>
                          </m:r>
                          <m:r>
                            <a:rPr lang="en-US" sz="2400" b="1" i="1" dirty="0" smtClean="0">
                              <a:latin typeface="Cambria Math" panose="02040503050406030204" pitchFamily="18" charset="0"/>
                              <a:cs typeface="Times New Roman" pitchFamily="18" charset="0"/>
                            </a:rPr>
                            <m:t>𝟏</m:t>
                          </m:r>
                        </m:sub>
                        <m:sup>
                          <m:r>
                            <a:rPr lang="en-US" sz="2400" b="1" i="1" dirty="0" smtClean="0">
                              <a:latin typeface="Cambria Math" panose="02040503050406030204" pitchFamily="18" charset="0"/>
                              <a:cs typeface="Times New Roman" pitchFamily="18" charset="0"/>
                            </a:rPr>
                            <m:t>𝒏</m:t>
                          </m:r>
                        </m:sup>
                        <m:e>
                          <m:r>
                            <a:rPr lang="en-US" sz="2400" b="1" i="1" dirty="0">
                              <a:solidFill>
                                <a:srgbClr val="3116F6"/>
                              </a:solidFill>
                              <a:latin typeface="Cambria Math" panose="02040503050406030204" pitchFamily="18" charset="0"/>
                              <a:cs typeface="Times New Roman" pitchFamily="18" charset="0"/>
                            </a:rPr>
                            <m:t>(</m:t>
                          </m:r>
                          <m:r>
                            <a:rPr lang="en-US" sz="2400" b="1" i="1" dirty="0" err="1">
                              <a:solidFill>
                                <a:srgbClr val="3116F6"/>
                              </a:solidFill>
                              <a:latin typeface="Cambria Math" panose="02040503050406030204" pitchFamily="18" charset="0"/>
                              <a:cs typeface="Times New Roman" pitchFamily="18" charset="0"/>
                            </a:rPr>
                            <m:t>𝑾</m:t>
                          </m:r>
                          <m:r>
                            <a:rPr lang="en-US" sz="2400" b="1" i="1" baseline="-25000" dirty="0" err="1">
                              <a:solidFill>
                                <a:srgbClr val="3116F6"/>
                              </a:solidFill>
                              <a:latin typeface="Cambria Math" panose="02040503050406030204" pitchFamily="18" charset="0"/>
                              <a:cs typeface="Times New Roman" pitchFamily="18" charset="0"/>
                            </a:rPr>
                            <m:t>𝒌𝒋</m:t>
                          </m:r>
                          <m:r>
                            <a:rPr lang="en-US" sz="2400" b="1" i="1" dirty="0">
                              <a:solidFill>
                                <a:srgbClr val="3116F6"/>
                              </a:solidFill>
                              <a:latin typeface="Cambria Math" panose="02040503050406030204" pitchFamily="18" charset="0"/>
                              <a:cs typeface="Times New Roman" pitchFamily="18" charset="0"/>
                            </a:rPr>
                            <m:t>∗</m:t>
                          </m:r>
                          <m:r>
                            <a:rPr lang="en-US" sz="2400" b="1" i="1" dirty="0" err="1">
                              <a:solidFill>
                                <a:srgbClr val="3116F6"/>
                              </a:solidFill>
                              <a:latin typeface="Cambria Math" panose="02040503050406030204" pitchFamily="18" charset="0"/>
                              <a:cs typeface="Times New Roman" pitchFamily="18" charset="0"/>
                            </a:rPr>
                            <m:t>𝒙</m:t>
                          </m:r>
                          <m:r>
                            <a:rPr lang="en-US" sz="2400" b="1" i="1" baseline="-25000" dirty="0" err="1">
                              <a:solidFill>
                                <a:srgbClr val="3116F6"/>
                              </a:solidFill>
                              <a:latin typeface="Cambria Math" panose="02040503050406030204" pitchFamily="18" charset="0"/>
                              <a:cs typeface="Times New Roman" pitchFamily="18" charset="0"/>
                            </a:rPr>
                            <m:t>𝒋</m:t>
                          </m:r>
                          <m:r>
                            <a:rPr lang="en-US" sz="2400" b="1" i="1" dirty="0">
                              <a:solidFill>
                                <a:srgbClr val="3116F6"/>
                              </a:solidFill>
                              <a:latin typeface="Cambria Math" panose="02040503050406030204" pitchFamily="18" charset="0"/>
                              <a:cs typeface="Times New Roman" pitchFamily="18" charset="0"/>
                            </a:rPr>
                            <m:t>) </m:t>
                          </m:r>
                          <m:r>
                            <a:rPr lang="en-US" sz="2400" b="1" i="1" dirty="0">
                              <a:latin typeface="Cambria Math" panose="02040503050406030204" pitchFamily="18" charset="0"/>
                              <a:cs typeface="Times New Roman" pitchFamily="18" charset="0"/>
                            </a:rPr>
                            <m:t>+ </m:t>
                          </m:r>
                          <m:r>
                            <a:rPr lang="en-US" sz="2400" b="1" i="1" dirty="0" err="1">
                              <a:latin typeface="Cambria Math" panose="02040503050406030204" pitchFamily="18" charset="0"/>
                              <a:cs typeface="Times New Roman" pitchFamily="18" charset="0"/>
                            </a:rPr>
                            <m:t>𝒃</m:t>
                          </m:r>
                          <m:r>
                            <a:rPr lang="en-US" sz="2400" b="1" i="1" baseline="-25000" dirty="0" err="1">
                              <a:latin typeface="Cambria Math" panose="02040503050406030204" pitchFamily="18" charset="0"/>
                              <a:cs typeface="Times New Roman" pitchFamily="18" charset="0"/>
                            </a:rPr>
                            <m:t>𝒌</m:t>
                          </m:r>
                        </m:e>
                      </m:nary>
                    </m:oMath>
                  </m:oMathPara>
                </a14:m>
                <a:endParaRPr lang="en-US" sz="2400" b="1" baseline="-25000" dirty="0">
                  <a:latin typeface="Times New Roman" pitchFamily="18" charset="0"/>
                  <a:cs typeface="Times New Roman" pitchFamily="18" charset="0"/>
                </a:endParaRPr>
              </a:p>
              <a:p>
                <a:endParaRPr lang="en-US" b="1" dirty="0"/>
              </a:p>
            </p:txBody>
          </p:sp>
        </mc:Choice>
        <mc:Fallback xmlns="">
          <p:sp>
            <p:nvSpPr>
              <p:cNvPr id="30" name="TextBox 29"/>
              <p:cNvSpPr txBox="1">
                <a:spLocks noRot="1" noChangeAspect="1" noMove="1" noResize="1" noEditPoints="1" noAdjustHandles="1" noChangeArrowheads="1" noChangeShapeType="1" noTextEdit="1"/>
              </p:cNvSpPr>
              <p:nvPr/>
            </p:nvSpPr>
            <p:spPr>
              <a:xfrm>
                <a:off x="2095500" y="4724400"/>
                <a:ext cx="6172200" cy="1423210"/>
              </a:xfrm>
              <a:prstGeom prst="rect">
                <a:avLst/>
              </a:prstGeom>
              <a:blipFill rotWithShape="0">
                <a:blip r:embed="rId2"/>
                <a:stretch>
                  <a:fillRect/>
                </a:stretch>
              </a:blipFill>
            </p:spPr>
            <p:txBody>
              <a:bodyPr/>
              <a:lstStyle/>
              <a:p>
                <a:r>
                  <a:rPr lang="en-IN">
                    <a:noFill/>
                  </a:rPr>
                  <a:t> </a:t>
                </a:r>
              </a:p>
            </p:txBody>
          </p:sp>
        </mc:Fallback>
      </mc:AlternateContent>
      <p:cxnSp>
        <p:nvCxnSpPr>
          <p:cNvPr id="31" name="Straight Arrow Connector 30"/>
          <p:cNvCxnSpPr/>
          <p:nvPr/>
        </p:nvCxnSpPr>
        <p:spPr>
          <a:xfrm rot="5400000">
            <a:off x="3580606" y="2590800"/>
            <a:ext cx="762794" cy="794"/>
          </a:xfrm>
          <a:prstGeom prst="straightConnector1">
            <a:avLst/>
          </a:prstGeom>
          <a:ln w="25400">
            <a:tailEnd type="arrow"/>
          </a:ln>
        </p:spPr>
        <p:style>
          <a:lnRef idx="1">
            <a:schemeClr val="accent1"/>
          </a:lnRef>
          <a:fillRef idx="0">
            <a:schemeClr val="accent1"/>
          </a:fillRef>
          <a:effectRef idx="0">
            <a:schemeClr val="accent1"/>
          </a:effectRef>
          <a:fontRef idx="minor">
            <a:schemeClr val="tx1"/>
          </a:fontRef>
        </p:style>
      </p:cxnSp>
      <p:sp>
        <p:nvSpPr>
          <p:cNvPr id="34" name="TextBox 33"/>
          <p:cNvSpPr txBox="1"/>
          <p:nvPr/>
        </p:nvSpPr>
        <p:spPr>
          <a:xfrm>
            <a:off x="3888570" y="2286000"/>
            <a:ext cx="378630" cy="369332"/>
          </a:xfrm>
          <a:prstGeom prst="rect">
            <a:avLst/>
          </a:prstGeom>
          <a:noFill/>
        </p:spPr>
        <p:txBody>
          <a:bodyPr wrap="none" rtlCol="0">
            <a:spAutoFit/>
          </a:bodyPr>
          <a:lstStyle/>
          <a:p>
            <a:r>
              <a:rPr lang="en-US" dirty="0" err="1"/>
              <a:t>b</a:t>
            </a:r>
            <a:r>
              <a:rPr lang="en-US" baseline="-25000" dirty="0" err="1"/>
              <a:t>k</a:t>
            </a:r>
            <a:endParaRPr lang="en-US" baseline="-25000" dirty="0"/>
          </a:p>
        </p:txBody>
      </p:sp>
      <p:cxnSp>
        <p:nvCxnSpPr>
          <p:cNvPr id="26" name="Straight Arrow Connector 25"/>
          <p:cNvCxnSpPr/>
          <p:nvPr/>
        </p:nvCxnSpPr>
        <p:spPr>
          <a:xfrm>
            <a:off x="7391400" y="3657600"/>
            <a:ext cx="914400" cy="38100"/>
          </a:xfrm>
          <a:prstGeom prst="straightConnector1">
            <a:avLst/>
          </a:prstGeom>
          <a:ln w="44450">
            <a:tailEnd type="arrow"/>
          </a:ln>
        </p:spPr>
        <p:style>
          <a:lnRef idx="1">
            <a:schemeClr val="accent1"/>
          </a:lnRef>
          <a:fillRef idx="0">
            <a:schemeClr val="accent1"/>
          </a:fillRef>
          <a:effectRef idx="0">
            <a:schemeClr val="accent1"/>
          </a:effectRef>
          <a:fontRef idx="minor">
            <a:schemeClr val="tx1"/>
          </a:fontRef>
        </p:style>
      </p:cxnSp>
      <p:sp>
        <p:nvSpPr>
          <p:cNvPr id="32" name="TextBox 31"/>
          <p:cNvSpPr txBox="1"/>
          <p:nvPr/>
        </p:nvSpPr>
        <p:spPr>
          <a:xfrm>
            <a:off x="8305800" y="3352800"/>
            <a:ext cx="533400" cy="523220"/>
          </a:xfrm>
          <a:prstGeom prst="rect">
            <a:avLst/>
          </a:prstGeom>
          <a:noFill/>
        </p:spPr>
        <p:txBody>
          <a:bodyPr wrap="square" rtlCol="0">
            <a:spAutoFit/>
          </a:bodyPr>
          <a:lstStyle/>
          <a:p>
            <a:r>
              <a:rPr lang="en-US" sz="2800" dirty="0" err="1"/>
              <a:t>y</a:t>
            </a:r>
            <a:r>
              <a:rPr lang="en-US" baseline="-25000" dirty="0" err="1"/>
              <a:t>k</a:t>
            </a:r>
            <a:endParaRPr lang="en-US" baseline="-25000" dirty="0"/>
          </a:p>
        </p:txBody>
      </p:sp>
      <mc:AlternateContent xmlns:mc="http://schemas.openxmlformats.org/markup-compatibility/2006" xmlns:a14="http://schemas.microsoft.com/office/drawing/2010/main">
        <mc:Choice Requires="a14">
          <p:sp>
            <p:nvSpPr>
              <p:cNvPr id="33" name="TextBox 32"/>
              <p:cNvSpPr txBox="1"/>
              <p:nvPr/>
            </p:nvSpPr>
            <p:spPr>
              <a:xfrm>
                <a:off x="2531165" y="5859941"/>
                <a:ext cx="3581400" cy="738664"/>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r>
                        <a:rPr lang="en-US" sz="2400" b="1" i="1" dirty="0" smtClean="0">
                          <a:latin typeface="Cambria Math" panose="02040503050406030204" pitchFamily="18" charset="0"/>
                          <a:cs typeface="Times New Roman" pitchFamily="18" charset="0"/>
                        </a:rPr>
                        <m:t>𝒚</m:t>
                      </m:r>
                      <m:r>
                        <a:rPr lang="en-US" sz="2400" b="1" i="1" baseline="-25000" dirty="0" err="1">
                          <a:latin typeface="Cambria Math" panose="02040503050406030204" pitchFamily="18" charset="0"/>
                          <a:cs typeface="Times New Roman" pitchFamily="18" charset="0"/>
                        </a:rPr>
                        <m:t>𝒌</m:t>
                      </m:r>
                      <m:r>
                        <a:rPr lang="en-US" sz="2400" b="1" i="1" dirty="0">
                          <a:latin typeface="Cambria Math" panose="02040503050406030204" pitchFamily="18" charset="0"/>
                          <a:cs typeface="Times New Roman" pitchFamily="18" charset="0"/>
                        </a:rPr>
                        <m:t>= </m:t>
                      </m:r>
                      <m:r>
                        <a:rPr lang="en-US" sz="2400" b="1" i="1" dirty="0" smtClean="0">
                          <a:latin typeface="Cambria Math" panose="02040503050406030204" pitchFamily="18" charset="0"/>
                          <a:cs typeface="Times New Roman" pitchFamily="18" charset="0"/>
                        </a:rPr>
                        <m:t>𝒇</m:t>
                      </m:r>
                      <m:r>
                        <a:rPr lang="en-US" sz="2400" b="1" i="1" dirty="0" smtClean="0">
                          <a:latin typeface="Cambria Math" panose="02040503050406030204" pitchFamily="18" charset="0"/>
                          <a:cs typeface="Times New Roman" pitchFamily="18" charset="0"/>
                        </a:rPr>
                        <m:t>(</m:t>
                      </m:r>
                      <m:r>
                        <a:rPr lang="en-US" sz="2400" b="1" i="1" dirty="0" err="1" smtClean="0">
                          <a:latin typeface="Cambria Math" panose="02040503050406030204" pitchFamily="18" charset="0"/>
                          <a:cs typeface="Times New Roman" pitchFamily="18" charset="0"/>
                        </a:rPr>
                        <m:t>𝑽</m:t>
                      </m:r>
                      <m:r>
                        <a:rPr lang="en-US" sz="2400" b="1" i="1" baseline="-25000" dirty="0" err="1" smtClean="0">
                          <a:latin typeface="Cambria Math" panose="02040503050406030204" pitchFamily="18" charset="0"/>
                          <a:cs typeface="Times New Roman" pitchFamily="18" charset="0"/>
                        </a:rPr>
                        <m:t>𝒌</m:t>
                      </m:r>
                      <m:r>
                        <a:rPr lang="en-US" sz="2400" b="1" i="1" dirty="0">
                          <a:latin typeface="Cambria Math" panose="02040503050406030204" pitchFamily="18" charset="0"/>
                          <a:cs typeface="Times New Roman" pitchFamily="18" charset="0"/>
                        </a:rPr>
                        <m:t>)</m:t>
                      </m:r>
                      <m:r>
                        <a:rPr lang="en-US" sz="2400" b="1" i="1" baseline="-25000" dirty="0">
                          <a:latin typeface="Cambria Math" panose="02040503050406030204" pitchFamily="18" charset="0"/>
                          <a:cs typeface="Times New Roman" pitchFamily="18" charset="0"/>
                        </a:rPr>
                        <m:t> </m:t>
                      </m:r>
                    </m:oMath>
                  </m:oMathPara>
                </a14:m>
                <a:endParaRPr lang="en-US" sz="2400" b="1" baseline="-25000" dirty="0">
                  <a:latin typeface="Times New Roman" pitchFamily="18" charset="0"/>
                  <a:cs typeface="Times New Roman" pitchFamily="18" charset="0"/>
                </a:endParaRPr>
              </a:p>
              <a:p>
                <a:endParaRPr lang="en-US" b="1" dirty="0"/>
              </a:p>
            </p:txBody>
          </p:sp>
        </mc:Choice>
        <mc:Fallback xmlns="">
          <p:sp>
            <p:nvSpPr>
              <p:cNvPr id="33" name="TextBox 32"/>
              <p:cNvSpPr txBox="1">
                <a:spLocks noRot="1" noChangeAspect="1" noMove="1" noResize="1" noEditPoints="1" noAdjustHandles="1" noChangeArrowheads="1" noChangeShapeType="1" noTextEdit="1"/>
              </p:cNvSpPr>
              <p:nvPr/>
            </p:nvSpPr>
            <p:spPr>
              <a:xfrm>
                <a:off x="2531165" y="5859941"/>
                <a:ext cx="3581400" cy="738664"/>
              </a:xfrm>
              <a:prstGeom prst="rect">
                <a:avLst/>
              </a:prstGeom>
              <a:blipFill rotWithShape="0">
                <a:blip r:embed="rId3"/>
                <a:stretch>
                  <a:fillRect/>
                </a:stretch>
              </a:blipFill>
            </p:spPr>
            <p:txBody>
              <a:bodyPr/>
              <a:lstStyle/>
              <a:p>
                <a:r>
                  <a:rPr lang="en-IN">
                    <a:noFill/>
                  </a:rPr>
                  <a:t> </a:t>
                </a:r>
              </a:p>
            </p:txBody>
          </p:sp>
        </mc:Fallback>
      </mc:AlternateContent>
      <p:sp>
        <p:nvSpPr>
          <p:cNvPr id="35" name="TextBox 34"/>
          <p:cNvSpPr txBox="1"/>
          <p:nvPr/>
        </p:nvSpPr>
        <p:spPr>
          <a:xfrm>
            <a:off x="0" y="0"/>
            <a:ext cx="4572000" cy="369332"/>
          </a:xfrm>
          <a:prstGeom prst="rect">
            <a:avLst/>
          </a:prstGeom>
          <a:noFill/>
        </p:spPr>
        <p:txBody>
          <a:bodyPr wrap="square" rtlCol="0">
            <a:spAutoFit/>
          </a:bodyPr>
          <a:lstStyle/>
          <a:p>
            <a:pPr algn="r"/>
            <a:r>
              <a:rPr lang="en-US" b="1" dirty="0">
                <a:solidFill>
                  <a:schemeClr val="bg1"/>
                </a:solidFill>
              </a:rPr>
              <a:t>Introduction to Neural Network</a:t>
            </a:r>
          </a:p>
        </p:txBody>
      </p:sp>
      <p:sp>
        <p:nvSpPr>
          <p:cNvPr id="36" name="Date Placeholder 3"/>
          <p:cNvSpPr>
            <a:spLocks noGrp="1"/>
          </p:cNvSpPr>
          <p:nvPr>
            <p:ph type="dt" sz="half" idx="10"/>
          </p:nvPr>
        </p:nvSpPr>
        <p:spPr>
          <a:xfrm>
            <a:off x="0" y="6629400"/>
            <a:ext cx="3048000" cy="228600"/>
          </a:xfrm>
        </p:spPr>
        <p:txBody>
          <a:bodyPr/>
          <a:lstStyle/>
          <a:p>
            <a:fld id="{E7067A60-51C7-4095-BFA9-1CE32DCBA06F}" type="datetime1">
              <a:rPr lang="en-US" smtClean="0"/>
              <a:pPr/>
              <a:t>2/9/2026</a:t>
            </a:fld>
            <a:endParaRPr lang="en-US" dirty="0"/>
          </a:p>
        </p:txBody>
      </p:sp>
      <p:sp>
        <p:nvSpPr>
          <p:cNvPr id="37" name="Slide Number Placeholder 5"/>
          <p:cNvSpPr>
            <a:spLocks noGrp="1"/>
          </p:cNvSpPr>
          <p:nvPr>
            <p:ph type="sldNum" sz="quarter" idx="12"/>
          </p:nvPr>
        </p:nvSpPr>
        <p:spPr>
          <a:xfrm>
            <a:off x="6096000" y="6629400"/>
            <a:ext cx="3048000" cy="228600"/>
          </a:xfrm>
        </p:spPr>
        <p:txBody>
          <a:bodyPr/>
          <a:lstStyle/>
          <a:p>
            <a:r>
              <a:rPr lang="en-US" dirty="0" smtClean="0"/>
              <a:t>6</a:t>
            </a:r>
            <a:endParaRPr lang="en-US" dirty="0"/>
          </a:p>
        </p:txBody>
      </p:sp>
      <p:sp>
        <p:nvSpPr>
          <p:cNvPr id="38" name="Footer Placeholder 4">
            <a:extLst>
              <a:ext uri="{FF2B5EF4-FFF2-40B4-BE49-F238E27FC236}">
                <a16:creationId xmlns:a16="http://schemas.microsoft.com/office/drawing/2014/main" id="{CBB301ED-B8A4-4772-B559-A9E41E7472BD}"/>
              </a:ext>
            </a:extLst>
          </p:cNvPr>
          <p:cNvSpPr>
            <a:spLocks noGrp="1"/>
          </p:cNvSpPr>
          <p:nvPr>
            <p:ph type="ftr" sz="quarter" idx="11"/>
          </p:nvPr>
        </p:nvSpPr>
        <p:spPr>
          <a:xfrm>
            <a:off x="2286000" y="6629400"/>
            <a:ext cx="4136571" cy="228600"/>
          </a:xfrm>
        </p:spPr>
        <p:txBody>
          <a:bodyPr/>
          <a:lstStyle/>
          <a:p>
            <a:r>
              <a:rPr lang="en-US" dirty="0"/>
              <a:t>Dr. Sibarama Panigrahi, Dept. of CSE, NIT Rourkela</a:t>
            </a:r>
          </a:p>
        </p:txBody>
      </p:sp>
      <p:sp>
        <p:nvSpPr>
          <p:cNvPr id="39" name="TextBox 38"/>
          <p:cNvSpPr txBox="1"/>
          <p:nvPr/>
        </p:nvSpPr>
        <p:spPr>
          <a:xfrm flipH="1">
            <a:off x="6472238" y="6600824"/>
            <a:ext cx="2366962" cy="307777"/>
          </a:xfrm>
          <a:prstGeom prst="rect">
            <a:avLst/>
          </a:prstGeom>
          <a:noFill/>
        </p:spPr>
        <p:txBody>
          <a:bodyPr wrap="square" rtlCol="0">
            <a:spAutoFit/>
          </a:bodyPr>
          <a:lstStyle/>
          <a:p>
            <a:r>
              <a:rPr lang="en-US" sz="1400" dirty="0" smtClean="0">
                <a:latin typeface="Times New Roman" panose="02020603050405020304" pitchFamily="18" charset="0"/>
                <a:cs typeface="Times New Roman" panose="02020603050405020304" pitchFamily="18" charset="0"/>
              </a:rPr>
              <a:t>Single Neuron with Single </a:t>
            </a:r>
            <a:r>
              <a:rPr lang="en-US" sz="1400" dirty="0" err="1" smtClean="0">
                <a:latin typeface="Times New Roman" panose="02020603050405020304" pitchFamily="18" charset="0"/>
                <a:cs typeface="Times New Roman" panose="02020603050405020304" pitchFamily="18" charset="0"/>
              </a:rPr>
              <a:t>i</a:t>
            </a:r>
            <a:r>
              <a:rPr lang="en-US" sz="1400" dirty="0" smtClean="0">
                <a:latin typeface="Times New Roman" panose="02020603050405020304" pitchFamily="18" charset="0"/>
                <a:cs typeface="Times New Roman" panose="02020603050405020304" pitchFamily="18" charset="0"/>
              </a:rPr>
              <a:t>/p</a:t>
            </a:r>
            <a:endParaRPr lang="en-IN" sz="1400" dirty="0">
              <a:latin typeface="Times New Roman" panose="02020603050405020304" pitchFamily="18" charset="0"/>
              <a:cs typeface="Times New Roman" panose="02020603050405020304" pitchFamily="18" charset="0"/>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28"/>
                                        </p:tgtEl>
                                        <p:attrNameLst>
                                          <p:attrName>style.visibility</p:attrName>
                                        </p:attrNameLst>
                                      </p:cBhvr>
                                      <p:to>
                                        <p:strVal val="visible"/>
                                      </p:to>
                                    </p:set>
                                    <p:animEffect transition="in" filter="fade">
                                      <p:cBhvr>
                                        <p:cTn id="7" dur="1000"/>
                                        <p:tgtEl>
                                          <p:spTgt spid="28"/>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nodeType="clickEffect">
                                  <p:stCondLst>
                                    <p:cond delay="0"/>
                                  </p:stCondLst>
                                  <p:childTnLst>
                                    <p:set>
                                      <p:cBhvr>
                                        <p:cTn id="11" dur="1" fill="hold">
                                          <p:stCondLst>
                                            <p:cond delay="0"/>
                                          </p:stCondLst>
                                        </p:cTn>
                                        <p:tgtEl>
                                          <p:spTgt spid="26"/>
                                        </p:tgtEl>
                                        <p:attrNameLst>
                                          <p:attrName>style.visibility</p:attrName>
                                        </p:attrNameLst>
                                      </p:cBhvr>
                                      <p:to>
                                        <p:strVal val="visible"/>
                                      </p:to>
                                    </p:set>
                                    <p:animEffect transition="in" filter="wipe(left)">
                                      <p:cBhvr>
                                        <p:cTn id="12" dur="500"/>
                                        <p:tgtEl>
                                          <p:spTgt spid="26"/>
                                        </p:tgtEl>
                                      </p:cBhvr>
                                    </p:animEffect>
                                  </p:childTnLst>
                                </p:cTn>
                              </p:par>
                              <p:par>
                                <p:cTn id="13" presetID="22" presetClass="entr" presetSubtype="8" fill="hold" grpId="0" nodeType="withEffect">
                                  <p:stCondLst>
                                    <p:cond delay="0"/>
                                  </p:stCondLst>
                                  <p:childTnLst>
                                    <p:set>
                                      <p:cBhvr>
                                        <p:cTn id="14" dur="1" fill="hold">
                                          <p:stCondLst>
                                            <p:cond delay="0"/>
                                          </p:stCondLst>
                                        </p:cTn>
                                        <p:tgtEl>
                                          <p:spTgt spid="32"/>
                                        </p:tgtEl>
                                        <p:attrNameLst>
                                          <p:attrName>style.visibility</p:attrName>
                                        </p:attrNameLst>
                                      </p:cBhvr>
                                      <p:to>
                                        <p:strVal val="visible"/>
                                      </p:to>
                                    </p:set>
                                    <p:animEffect transition="in" filter="wipe(left)">
                                      <p:cBhvr>
                                        <p:cTn id="15" dur="500"/>
                                        <p:tgtEl>
                                          <p:spTgt spid="32"/>
                                        </p:tgtEl>
                                      </p:cBhvr>
                                    </p:animEffect>
                                  </p:childTnLst>
                                </p:cTn>
                              </p:par>
                            </p:childTnLst>
                          </p:cTn>
                        </p:par>
                      </p:childTnLst>
                    </p:cTn>
                  </p:par>
                  <p:par>
                    <p:cTn id="16" fill="hold">
                      <p:stCondLst>
                        <p:cond delay="indefinite"/>
                      </p:stCondLst>
                      <p:childTnLst>
                        <p:par>
                          <p:cTn id="17" fill="hold">
                            <p:stCondLst>
                              <p:cond delay="0"/>
                            </p:stCondLst>
                            <p:childTnLst>
                              <p:par>
                                <p:cTn id="18" presetID="27" presetClass="entr" presetSubtype="0" fill="hold" grpId="0" nodeType="clickEffect">
                                  <p:stCondLst>
                                    <p:cond delay="0"/>
                                  </p:stCondLst>
                                  <p:iterate type="lt">
                                    <p:tmPct val="50000"/>
                                  </p:iterate>
                                  <p:childTnLst>
                                    <p:set>
                                      <p:cBhvr>
                                        <p:cTn id="19" dur="1" fill="hold">
                                          <p:stCondLst>
                                            <p:cond delay="0"/>
                                          </p:stCondLst>
                                        </p:cTn>
                                        <p:tgtEl>
                                          <p:spTgt spid="33"/>
                                        </p:tgtEl>
                                        <p:attrNameLst>
                                          <p:attrName>style.visibility</p:attrName>
                                        </p:attrNameLst>
                                      </p:cBhvr>
                                      <p:to>
                                        <p:strVal val="visible"/>
                                      </p:to>
                                    </p:set>
                                    <p:anim calcmode="discrete" valueType="clr">
                                      <p:cBhvr override="childStyle">
                                        <p:cTn id="20" dur="80"/>
                                        <p:tgtEl>
                                          <p:spTgt spid="33"/>
                                        </p:tgtEl>
                                        <p:attrNameLst>
                                          <p:attrName>style.color</p:attrName>
                                        </p:attrNameLst>
                                      </p:cBhvr>
                                      <p:tavLst>
                                        <p:tav tm="0">
                                          <p:val>
                                            <p:clrVal>
                                              <a:schemeClr val="accent2"/>
                                            </p:clrVal>
                                          </p:val>
                                        </p:tav>
                                        <p:tav tm="50000">
                                          <p:val>
                                            <p:clrVal>
                                              <a:schemeClr val="hlink"/>
                                            </p:clrVal>
                                          </p:val>
                                        </p:tav>
                                      </p:tavLst>
                                    </p:anim>
                                    <p:anim calcmode="discrete" valueType="clr">
                                      <p:cBhvr>
                                        <p:cTn id="21" dur="80"/>
                                        <p:tgtEl>
                                          <p:spTgt spid="33"/>
                                        </p:tgtEl>
                                        <p:attrNameLst>
                                          <p:attrName>fillcolor</p:attrName>
                                        </p:attrNameLst>
                                      </p:cBhvr>
                                      <p:tavLst>
                                        <p:tav tm="0">
                                          <p:val>
                                            <p:clrVal>
                                              <a:schemeClr val="accent2"/>
                                            </p:clrVal>
                                          </p:val>
                                        </p:tav>
                                        <p:tav tm="50000">
                                          <p:val>
                                            <p:clrVal>
                                              <a:schemeClr val="hlink"/>
                                            </p:clrVal>
                                          </p:val>
                                        </p:tav>
                                      </p:tavLst>
                                    </p:anim>
                                    <p:set>
                                      <p:cBhvr>
                                        <p:cTn id="22" dur="80"/>
                                        <p:tgtEl>
                                          <p:spTgt spid="33"/>
                                        </p:tgtEl>
                                        <p:attrNameLst>
                                          <p:attrName>fill.type</p:attrName>
                                        </p:attrNameLst>
                                      </p:cBhvr>
                                      <p:to>
                                        <p:strVal val="solid"/>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8" grpId="0" animBg="1"/>
      <p:bldP spid="32" grpId="0"/>
      <p:bldP spid="33" grpId="0"/>
    </p:bld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p:txBody>
          <a:bodyPr>
            <a:normAutofit/>
          </a:bodyPr>
          <a:lstStyle/>
          <a:p>
            <a:pPr lvl="0"/>
            <a:r>
              <a:rPr lang="en-US" dirty="0"/>
              <a:t>Single Neuron Model</a:t>
            </a:r>
          </a:p>
        </p:txBody>
      </p:sp>
      <p:sp>
        <p:nvSpPr>
          <p:cNvPr id="5" name="Content Placeholder 4"/>
          <p:cNvSpPr>
            <a:spLocks noGrp="1"/>
          </p:cNvSpPr>
          <p:nvPr>
            <p:ph idx="1"/>
          </p:nvPr>
        </p:nvSpPr>
        <p:spPr/>
        <p:txBody>
          <a:bodyPr/>
          <a:lstStyle/>
          <a:p>
            <a:endParaRPr lang="en-US" dirty="0"/>
          </a:p>
        </p:txBody>
      </p:sp>
      <p:sp>
        <p:nvSpPr>
          <p:cNvPr id="7" name="Content Placeholder 2"/>
          <p:cNvSpPr txBox="1">
            <a:spLocks/>
          </p:cNvSpPr>
          <p:nvPr/>
        </p:nvSpPr>
        <p:spPr>
          <a:xfrm>
            <a:off x="838200" y="838200"/>
            <a:ext cx="8153400" cy="4495800"/>
          </a:xfrm>
          <a:prstGeom prst="rect">
            <a:avLst/>
          </a:prstGeom>
        </p:spPr>
        <p:txBody>
          <a:bodyPr vert="horz" lIns="91440" tIns="45720" rIns="91440" bIns="45720" rtlCol="0">
            <a:normAutofit/>
          </a:bodyPr>
          <a:lstStyle/>
          <a:p>
            <a:pPr marL="679450" marR="0" lvl="0" indent="-342900" algn="l" defTabSz="914400" rtl="0" eaLnBrk="1" fontAlgn="auto" latinLnBrk="0" hangingPunct="1">
              <a:lnSpc>
                <a:spcPct val="100000"/>
              </a:lnSpc>
              <a:spcBef>
                <a:spcPct val="20000"/>
              </a:spcBef>
              <a:spcAft>
                <a:spcPts val="0"/>
              </a:spcAft>
              <a:buClr>
                <a:srgbClr val="000099"/>
              </a:buClr>
              <a:buSzPct val="120000"/>
              <a:buFont typeface="Times New Roman" pitchFamily="18" charset="0"/>
              <a:buChar char="•"/>
              <a:tabLst/>
              <a:defRPr/>
            </a:pPr>
            <a:endParaRPr kumimoji="0" lang="en-US" sz="3200" b="0" i="0" u="none" strike="noStrike" kern="1200" cap="none" spc="0" normalizeH="0" baseline="0" noProof="0" dirty="0">
              <a:ln>
                <a:noFill/>
              </a:ln>
              <a:solidFill>
                <a:schemeClr val="tx1"/>
              </a:solidFill>
              <a:effectLst/>
              <a:uLnTx/>
              <a:uFillTx/>
              <a:latin typeface="Times New Roman" pitchFamily="18" charset="0"/>
              <a:ea typeface="+mn-ea"/>
              <a:cs typeface="Times New Roman" pitchFamily="18" charset="0"/>
            </a:endParaRPr>
          </a:p>
          <a:p>
            <a:pPr marL="679450" marR="0" lvl="0" indent="-342900" algn="l" defTabSz="914400" rtl="0" eaLnBrk="1" fontAlgn="auto" latinLnBrk="0" hangingPunct="1">
              <a:lnSpc>
                <a:spcPct val="100000"/>
              </a:lnSpc>
              <a:spcBef>
                <a:spcPct val="20000"/>
              </a:spcBef>
              <a:spcAft>
                <a:spcPts val="0"/>
              </a:spcAft>
              <a:buClr>
                <a:srgbClr val="000099"/>
              </a:buClr>
              <a:buSzPct val="120000"/>
              <a:buFont typeface="Times New Roman" pitchFamily="18" charset="0"/>
              <a:buChar char="•"/>
              <a:tabLst/>
              <a:defRPr/>
            </a:pPr>
            <a:endParaRPr kumimoji="0" lang="en-US" sz="3200" b="0" i="0" u="none" strike="noStrike" kern="1200" cap="none" spc="0" normalizeH="0" baseline="0" noProof="0" dirty="0">
              <a:ln>
                <a:noFill/>
              </a:ln>
              <a:solidFill>
                <a:schemeClr val="tx1"/>
              </a:solidFill>
              <a:effectLst/>
              <a:uLnTx/>
              <a:uFillTx/>
              <a:latin typeface="Times New Roman" pitchFamily="18" charset="0"/>
              <a:ea typeface="+mn-ea"/>
              <a:cs typeface="Times New Roman" pitchFamily="18" charset="0"/>
            </a:endParaRPr>
          </a:p>
          <a:p>
            <a:pPr marL="679450" marR="0" lvl="0" indent="-342900" algn="l" defTabSz="914400" rtl="0" eaLnBrk="1" fontAlgn="auto" latinLnBrk="0" hangingPunct="1">
              <a:lnSpc>
                <a:spcPct val="100000"/>
              </a:lnSpc>
              <a:spcBef>
                <a:spcPct val="20000"/>
              </a:spcBef>
              <a:spcAft>
                <a:spcPts val="0"/>
              </a:spcAft>
              <a:buClr>
                <a:srgbClr val="000099"/>
              </a:buClr>
              <a:buSzPct val="120000"/>
              <a:buFont typeface="Times New Roman" pitchFamily="18" charset="0"/>
              <a:buChar char="•"/>
              <a:tabLst/>
              <a:defRPr/>
            </a:pPr>
            <a:endParaRPr kumimoji="0" lang="en-US" sz="3200" b="0" i="0" u="none" strike="noStrike" kern="1200" cap="none" spc="0" normalizeH="0" baseline="0" noProof="0" dirty="0">
              <a:ln>
                <a:noFill/>
              </a:ln>
              <a:solidFill>
                <a:schemeClr val="tx1"/>
              </a:solidFill>
              <a:effectLst/>
              <a:uLnTx/>
              <a:uFillTx/>
              <a:latin typeface="Times New Roman" pitchFamily="18" charset="0"/>
              <a:ea typeface="+mn-ea"/>
              <a:cs typeface="Times New Roman" pitchFamily="18" charset="0"/>
            </a:endParaRPr>
          </a:p>
          <a:p>
            <a:pPr marL="679450" marR="0" lvl="0" indent="-342900" algn="l" defTabSz="914400" rtl="0" eaLnBrk="1" fontAlgn="auto" latinLnBrk="0" hangingPunct="1">
              <a:lnSpc>
                <a:spcPct val="100000"/>
              </a:lnSpc>
              <a:spcBef>
                <a:spcPct val="20000"/>
              </a:spcBef>
              <a:spcAft>
                <a:spcPts val="0"/>
              </a:spcAft>
              <a:buClr>
                <a:srgbClr val="000099"/>
              </a:buClr>
              <a:buSzPct val="120000"/>
              <a:buFont typeface="Times New Roman" pitchFamily="18" charset="0"/>
              <a:buChar char="•"/>
              <a:tabLst/>
              <a:defRPr/>
            </a:pPr>
            <a:endParaRPr kumimoji="0" lang="en-US" sz="3200" b="0" i="0" u="none" strike="noStrike" kern="1200" cap="none" spc="0" normalizeH="0" baseline="0" noProof="0" dirty="0">
              <a:ln>
                <a:noFill/>
              </a:ln>
              <a:solidFill>
                <a:schemeClr val="tx1"/>
              </a:solidFill>
              <a:effectLst/>
              <a:uLnTx/>
              <a:uFillTx/>
              <a:latin typeface="Times New Roman" pitchFamily="18" charset="0"/>
              <a:ea typeface="+mn-ea"/>
              <a:cs typeface="Times New Roman" pitchFamily="18" charset="0"/>
            </a:endParaRPr>
          </a:p>
          <a:p>
            <a:pPr marL="679450" marR="0" lvl="0" indent="-342900" algn="l" defTabSz="914400" rtl="0" eaLnBrk="1" fontAlgn="auto" latinLnBrk="0" hangingPunct="1">
              <a:lnSpc>
                <a:spcPct val="100000"/>
              </a:lnSpc>
              <a:spcBef>
                <a:spcPct val="20000"/>
              </a:spcBef>
              <a:spcAft>
                <a:spcPts val="0"/>
              </a:spcAft>
              <a:buClr>
                <a:srgbClr val="000099"/>
              </a:buClr>
              <a:buSzPct val="120000"/>
              <a:buFont typeface="Times New Roman" pitchFamily="18" charset="0"/>
              <a:buChar char="•"/>
              <a:tabLst/>
              <a:defRPr/>
            </a:pPr>
            <a:endParaRPr kumimoji="0" lang="en-US" sz="3200" b="0" i="0" u="none" strike="noStrike" kern="1200" cap="none" spc="0" normalizeH="0" baseline="0" noProof="0" dirty="0">
              <a:ln>
                <a:noFill/>
              </a:ln>
              <a:solidFill>
                <a:schemeClr val="tx1"/>
              </a:solidFill>
              <a:effectLst/>
              <a:uLnTx/>
              <a:uFillTx/>
              <a:latin typeface="Times New Roman" pitchFamily="18" charset="0"/>
              <a:ea typeface="+mn-ea"/>
              <a:cs typeface="Times New Roman" pitchFamily="18" charset="0"/>
            </a:endParaRPr>
          </a:p>
          <a:p>
            <a:pPr marL="679450" marR="0" lvl="0" indent="-342900" algn="l" defTabSz="914400" rtl="0" eaLnBrk="1" fontAlgn="auto" latinLnBrk="0" hangingPunct="1">
              <a:lnSpc>
                <a:spcPct val="100000"/>
              </a:lnSpc>
              <a:spcBef>
                <a:spcPct val="20000"/>
              </a:spcBef>
              <a:spcAft>
                <a:spcPts val="0"/>
              </a:spcAft>
              <a:buClr>
                <a:srgbClr val="000099"/>
              </a:buClr>
              <a:buSzPct val="120000"/>
              <a:buFont typeface="Times New Roman" pitchFamily="18" charset="0"/>
              <a:buChar char="•"/>
              <a:tabLst/>
              <a:defRPr/>
            </a:pPr>
            <a:endParaRPr kumimoji="0" lang="en-US" sz="3200" b="0" i="0" u="none" strike="noStrike" kern="1200" cap="none" spc="0" normalizeH="0" baseline="0" noProof="0" dirty="0">
              <a:ln>
                <a:noFill/>
              </a:ln>
              <a:solidFill>
                <a:schemeClr val="tx1"/>
              </a:solidFill>
              <a:effectLst/>
              <a:uLnTx/>
              <a:uFillTx/>
              <a:latin typeface="Times New Roman" pitchFamily="18" charset="0"/>
              <a:ea typeface="+mn-ea"/>
              <a:cs typeface="Times New Roman" pitchFamily="18" charset="0"/>
            </a:endParaRPr>
          </a:p>
          <a:p>
            <a:pPr marL="679450" marR="0" lvl="0" indent="-342900" algn="l" defTabSz="914400" rtl="0" eaLnBrk="1" fontAlgn="auto" latinLnBrk="0" hangingPunct="1">
              <a:lnSpc>
                <a:spcPct val="100000"/>
              </a:lnSpc>
              <a:spcBef>
                <a:spcPct val="20000"/>
              </a:spcBef>
              <a:spcAft>
                <a:spcPts val="0"/>
              </a:spcAft>
              <a:buClr>
                <a:srgbClr val="000099"/>
              </a:buClr>
              <a:buSzPct val="120000"/>
              <a:buFont typeface="Times New Roman" pitchFamily="18" charset="0"/>
              <a:buChar char="•"/>
              <a:tabLst/>
              <a:defRPr/>
            </a:pPr>
            <a:endParaRPr kumimoji="0" lang="en-US" sz="3200" b="0" i="0" u="none" strike="noStrike" kern="1200" cap="none" spc="0" normalizeH="0" baseline="0" noProof="0" dirty="0">
              <a:ln>
                <a:noFill/>
              </a:ln>
              <a:solidFill>
                <a:schemeClr val="tx1"/>
              </a:solidFill>
              <a:effectLst/>
              <a:uLnTx/>
              <a:uFillTx/>
              <a:latin typeface="Times New Roman" pitchFamily="18" charset="0"/>
              <a:ea typeface="+mn-ea"/>
              <a:cs typeface="Times New Roman" pitchFamily="18" charset="0"/>
            </a:endParaRPr>
          </a:p>
        </p:txBody>
      </p:sp>
      <p:sp>
        <p:nvSpPr>
          <p:cNvPr id="8" name="Oval 7"/>
          <p:cNvSpPr/>
          <p:nvPr/>
        </p:nvSpPr>
        <p:spPr>
          <a:xfrm>
            <a:off x="3654552" y="2971800"/>
            <a:ext cx="1066800" cy="1295400"/>
          </a:xfrm>
          <a:prstGeom prst="ellipse">
            <a:avLst/>
          </a:prstGeom>
          <a:solidFill>
            <a:schemeClr val="accent1">
              <a:alpha val="17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4400" b="1" dirty="0">
                <a:solidFill>
                  <a:schemeClr val="tx1"/>
                </a:solidFill>
              </a:rPr>
              <a:t>∑</a:t>
            </a:r>
          </a:p>
        </p:txBody>
      </p:sp>
      <p:cxnSp>
        <p:nvCxnSpPr>
          <p:cNvPr id="9" name="Straight Arrow Connector 8"/>
          <p:cNvCxnSpPr/>
          <p:nvPr/>
        </p:nvCxnSpPr>
        <p:spPr>
          <a:xfrm>
            <a:off x="2816352" y="3656012"/>
            <a:ext cx="838200" cy="1588"/>
          </a:xfrm>
          <a:prstGeom prst="straightConnector1">
            <a:avLst/>
          </a:prstGeom>
          <a:ln w="25400">
            <a:tailEnd type="arrow"/>
          </a:ln>
        </p:spPr>
        <p:style>
          <a:lnRef idx="1">
            <a:schemeClr val="accent1"/>
          </a:lnRef>
          <a:fillRef idx="0">
            <a:schemeClr val="accent1"/>
          </a:fillRef>
          <a:effectRef idx="0">
            <a:schemeClr val="accent1"/>
          </a:effectRef>
          <a:fontRef idx="minor">
            <a:schemeClr val="tx1"/>
          </a:fontRef>
        </p:style>
      </p:cxnSp>
      <p:sp>
        <p:nvSpPr>
          <p:cNvPr id="10" name="TextBox 9"/>
          <p:cNvSpPr txBox="1"/>
          <p:nvPr/>
        </p:nvSpPr>
        <p:spPr>
          <a:xfrm>
            <a:off x="2435352" y="3440668"/>
            <a:ext cx="457200" cy="369332"/>
          </a:xfrm>
          <a:prstGeom prst="rect">
            <a:avLst/>
          </a:prstGeom>
          <a:noFill/>
        </p:spPr>
        <p:txBody>
          <a:bodyPr wrap="square" rtlCol="0">
            <a:spAutoFit/>
          </a:bodyPr>
          <a:lstStyle/>
          <a:p>
            <a:r>
              <a:rPr lang="en-US" dirty="0"/>
              <a:t>x</a:t>
            </a:r>
            <a:r>
              <a:rPr lang="en-US" baseline="-25000" dirty="0"/>
              <a:t>1</a:t>
            </a:r>
          </a:p>
        </p:txBody>
      </p:sp>
      <p:sp>
        <p:nvSpPr>
          <p:cNvPr id="11" name="TextBox 10"/>
          <p:cNvSpPr txBox="1"/>
          <p:nvPr/>
        </p:nvSpPr>
        <p:spPr>
          <a:xfrm>
            <a:off x="3010568" y="3288268"/>
            <a:ext cx="567784" cy="369332"/>
          </a:xfrm>
          <a:prstGeom prst="rect">
            <a:avLst/>
          </a:prstGeom>
          <a:noFill/>
        </p:spPr>
        <p:txBody>
          <a:bodyPr wrap="none" rtlCol="0">
            <a:spAutoFit/>
          </a:bodyPr>
          <a:lstStyle/>
          <a:p>
            <a:r>
              <a:rPr lang="en-US" dirty="0"/>
              <a:t>W</a:t>
            </a:r>
            <a:r>
              <a:rPr lang="en-US" baseline="-25000" dirty="0"/>
              <a:t>k1</a:t>
            </a:r>
          </a:p>
        </p:txBody>
      </p:sp>
      <p:cxnSp>
        <p:nvCxnSpPr>
          <p:cNvPr id="12" name="Straight Arrow Connector 11"/>
          <p:cNvCxnSpPr>
            <a:stCxn id="8" idx="6"/>
            <a:endCxn id="19" idx="1"/>
          </p:cNvCxnSpPr>
          <p:nvPr/>
        </p:nvCxnSpPr>
        <p:spPr>
          <a:xfrm>
            <a:off x="4721352" y="3619500"/>
            <a:ext cx="762001" cy="13856"/>
          </a:xfrm>
          <a:prstGeom prst="straightConnector1">
            <a:avLst/>
          </a:prstGeom>
          <a:ln w="44450">
            <a:tailEnd type="arrow"/>
          </a:ln>
        </p:spPr>
        <p:style>
          <a:lnRef idx="1">
            <a:schemeClr val="accent1"/>
          </a:lnRef>
          <a:fillRef idx="0">
            <a:schemeClr val="accent1"/>
          </a:fillRef>
          <a:effectRef idx="0">
            <a:schemeClr val="accent1"/>
          </a:effectRef>
          <a:fontRef idx="minor">
            <a:schemeClr val="tx1"/>
          </a:fontRef>
        </p:style>
      </p:cxnSp>
      <p:sp>
        <p:nvSpPr>
          <p:cNvPr id="13" name="TextBox 12"/>
          <p:cNvSpPr txBox="1"/>
          <p:nvPr/>
        </p:nvSpPr>
        <p:spPr>
          <a:xfrm>
            <a:off x="4873752" y="3200400"/>
            <a:ext cx="533400" cy="369332"/>
          </a:xfrm>
          <a:prstGeom prst="rect">
            <a:avLst/>
          </a:prstGeom>
          <a:noFill/>
        </p:spPr>
        <p:txBody>
          <a:bodyPr wrap="square" rtlCol="0">
            <a:spAutoFit/>
          </a:bodyPr>
          <a:lstStyle/>
          <a:p>
            <a:r>
              <a:rPr lang="en-US" dirty="0" err="1"/>
              <a:t>V</a:t>
            </a:r>
            <a:r>
              <a:rPr lang="en-US" baseline="-25000" dirty="0" err="1"/>
              <a:t>k</a:t>
            </a:r>
            <a:endParaRPr lang="en-US" baseline="-25000" dirty="0"/>
          </a:p>
        </p:txBody>
      </p:sp>
      <p:cxnSp>
        <p:nvCxnSpPr>
          <p:cNvPr id="14" name="Straight Arrow Connector 13"/>
          <p:cNvCxnSpPr/>
          <p:nvPr/>
        </p:nvCxnSpPr>
        <p:spPr>
          <a:xfrm rot="5400000">
            <a:off x="3958558" y="2743200"/>
            <a:ext cx="457994" cy="794"/>
          </a:xfrm>
          <a:prstGeom prst="straightConnector1">
            <a:avLst/>
          </a:prstGeom>
          <a:ln w="25400">
            <a:tailEnd type="arrow"/>
          </a:ln>
        </p:spPr>
        <p:style>
          <a:lnRef idx="1">
            <a:schemeClr val="accent1"/>
          </a:lnRef>
          <a:fillRef idx="0">
            <a:schemeClr val="accent1"/>
          </a:fillRef>
          <a:effectRef idx="0">
            <a:schemeClr val="accent1"/>
          </a:effectRef>
          <a:fontRef idx="minor">
            <a:schemeClr val="tx1"/>
          </a:fontRef>
        </p:style>
      </p:cxnSp>
      <p:sp>
        <p:nvSpPr>
          <p:cNvPr id="15" name="TextBox 14"/>
          <p:cNvSpPr txBox="1"/>
          <p:nvPr/>
        </p:nvSpPr>
        <p:spPr>
          <a:xfrm>
            <a:off x="4190322" y="2450068"/>
            <a:ext cx="378630" cy="369332"/>
          </a:xfrm>
          <a:prstGeom prst="rect">
            <a:avLst/>
          </a:prstGeom>
          <a:noFill/>
        </p:spPr>
        <p:txBody>
          <a:bodyPr wrap="none" rtlCol="0">
            <a:spAutoFit/>
          </a:bodyPr>
          <a:lstStyle/>
          <a:p>
            <a:r>
              <a:rPr lang="en-US" dirty="0" err="1"/>
              <a:t>b</a:t>
            </a:r>
            <a:r>
              <a:rPr lang="en-US" baseline="-25000" dirty="0" err="1"/>
              <a:t>k</a:t>
            </a:r>
            <a:endParaRPr lang="en-US" baseline="-25000" dirty="0"/>
          </a:p>
        </p:txBody>
      </p:sp>
      <p:cxnSp>
        <p:nvCxnSpPr>
          <p:cNvPr id="16" name="Straight Arrow Connector 15"/>
          <p:cNvCxnSpPr/>
          <p:nvPr/>
        </p:nvCxnSpPr>
        <p:spPr>
          <a:xfrm flipV="1">
            <a:off x="6092952" y="3614410"/>
            <a:ext cx="533400" cy="18946"/>
          </a:xfrm>
          <a:prstGeom prst="straightConnector1">
            <a:avLst/>
          </a:prstGeom>
          <a:ln w="44450">
            <a:tailEnd type="arrow"/>
          </a:ln>
        </p:spPr>
        <p:style>
          <a:lnRef idx="1">
            <a:schemeClr val="accent1"/>
          </a:lnRef>
          <a:fillRef idx="0">
            <a:schemeClr val="accent1"/>
          </a:fillRef>
          <a:effectRef idx="0">
            <a:schemeClr val="accent1"/>
          </a:effectRef>
          <a:fontRef idx="minor">
            <a:schemeClr val="tx1"/>
          </a:fontRef>
        </p:style>
      </p:cxnSp>
      <p:sp>
        <p:nvSpPr>
          <p:cNvPr id="17" name="TextBox 16"/>
          <p:cNvSpPr txBox="1"/>
          <p:nvPr/>
        </p:nvSpPr>
        <p:spPr>
          <a:xfrm>
            <a:off x="6702552" y="3352800"/>
            <a:ext cx="533400" cy="523220"/>
          </a:xfrm>
          <a:prstGeom prst="rect">
            <a:avLst/>
          </a:prstGeom>
          <a:noFill/>
        </p:spPr>
        <p:txBody>
          <a:bodyPr wrap="square" rtlCol="0">
            <a:spAutoFit/>
          </a:bodyPr>
          <a:lstStyle/>
          <a:p>
            <a:r>
              <a:rPr lang="en-US" sz="2800" dirty="0" err="1"/>
              <a:t>y</a:t>
            </a:r>
            <a:r>
              <a:rPr lang="en-US" baseline="-25000" dirty="0" err="1"/>
              <a:t>k</a:t>
            </a:r>
            <a:endParaRPr lang="en-US" baseline="-25000" dirty="0"/>
          </a:p>
        </p:txBody>
      </p:sp>
      <p:pic>
        <p:nvPicPr>
          <p:cNvPr id="19" name="Picture 2"/>
          <p:cNvPicPr>
            <a:picLocks noChangeAspect="1" noChangeArrowheads="1"/>
          </p:cNvPicPr>
          <p:nvPr/>
        </p:nvPicPr>
        <p:blipFill>
          <a:blip r:embed="rId2"/>
          <a:srcRect/>
          <a:stretch>
            <a:fillRect/>
          </a:stretch>
        </p:blipFill>
        <p:spPr bwMode="auto">
          <a:xfrm>
            <a:off x="5483353" y="3228111"/>
            <a:ext cx="685799" cy="810489"/>
          </a:xfrm>
          <a:prstGeom prst="rect">
            <a:avLst/>
          </a:prstGeom>
          <a:noFill/>
          <a:ln w="9525">
            <a:noFill/>
            <a:miter lim="800000"/>
            <a:headEnd/>
            <a:tailEnd/>
          </a:ln>
          <a:effectLst/>
        </p:spPr>
      </p:pic>
      <mc:AlternateContent xmlns:mc="http://schemas.openxmlformats.org/markup-compatibility/2006" xmlns:a14="http://schemas.microsoft.com/office/drawing/2010/main">
        <mc:Choice Requires="a14">
          <p:sp>
            <p:nvSpPr>
              <p:cNvPr id="20" name="TextBox 19"/>
              <p:cNvSpPr txBox="1"/>
              <p:nvPr/>
            </p:nvSpPr>
            <p:spPr>
              <a:xfrm>
                <a:off x="2435352" y="4267200"/>
                <a:ext cx="3581400" cy="738664"/>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r>
                        <a:rPr lang="en-US" sz="2400" b="1" i="1" dirty="0" smtClean="0">
                          <a:latin typeface="Cambria Math" panose="02040503050406030204" pitchFamily="18" charset="0"/>
                        </a:rPr>
                        <m:t>𝑽</m:t>
                      </m:r>
                      <m:r>
                        <a:rPr lang="en-US" sz="2400" b="1" i="1" baseline="-25000" dirty="0" err="1">
                          <a:latin typeface="Cambria Math" panose="02040503050406030204" pitchFamily="18" charset="0"/>
                        </a:rPr>
                        <m:t>𝒌</m:t>
                      </m:r>
                      <m:r>
                        <a:rPr lang="en-US" sz="2400" b="1" i="1" dirty="0">
                          <a:latin typeface="Cambria Math" panose="02040503050406030204" pitchFamily="18" charset="0"/>
                        </a:rPr>
                        <m:t>= </m:t>
                      </m:r>
                      <m:r>
                        <a:rPr lang="en-US" sz="2400" b="1" i="1" dirty="0">
                          <a:solidFill>
                            <a:srgbClr val="C00000"/>
                          </a:solidFill>
                          <a:latin typeface="Cambria Math" panose="02040503050406030204" pitchFamily="18" charset="0"/>
                        </a:rPr>
                        <m:t>𝑾</m:t>
                      </m:r>
                      <m:r>
                        <a:rPr lang="en-US" sz="2400" b="1" i="1" baseline="-25000" dirty="0">
                          <a:solidFill>
                            <a:srgbClr val="C00000"/>
                          </a:solidFill>
                          <a:latin typeface="Cambria Math" panose="02040503050406030204" pitchFamily="18" charset="0"/>
                        </a:rPr>
                        <m:t>𝒌</m:t>
                      </m:r>
                      <m:r>
                        <a:rPr lang="en-US" sz="2400" b="1" i="1" baseline="-25000" dirty="0">
                          <a:solidFill>
                            <a:srgbClr val="C00000"/>
                          </a:solidFill>
                          <a:latin typeface="Cambria Math" panose="02040503050406030204" pitchFamily="18" charset="0"/>
                        </a:rPr>
                        <m:t>𝟏</m:t>
                      </m:r>
                      <m:r>
                        <a:rPr lang="en-US" sz="2400" b="1" i="1" dirty="0">
                          <a:solidFill>
                            <a:srgbClr val="C00000"/>
                          </a:solidFill>
                          <a:latin typeface="Cambria Math" panose="02040503050406030204" pitchFamily="18" charset="0"/>
                        </a:rPr>
                        <m:t>∗</m:t>
                      </m:r>
                      <m:r>
                        <a:rPr lang="en-US" sz="2400" b="1" i="1" dirty="0">
                          <a:solidFill>
                            <a:srgbClr val="C00000"/>
                          </a:solidFill>
                          <a:latin typeface="Cambria Math" panose="02040503050406030204" pitchFamily="18" charset="0"/>
                        </a:rPr>
                        <m:t>𝒙</m:t>
                      </m:r>
                      <m:r>
                        <a:rPr lang="en-US" sz="2400" b="1" i="1" baseline="-25000" dirty="0">
                          <a:solidFill>
                            <a:srgbClr val="C00000"/>
                          </a:solidFill>
                          <a:latin typeface="Cambria Math" panose="02040503050406030204" pitchFamily="18" charset="0"/>
                        </a:rPr>
                        <m:t>𝟏</m:t>
                      </m:r>
                      <m:r>
                        <a:rPr lang="en-US" sz="2400" b="1" i="1" dirty="0">
                          <a:solidFill>
                            <a:srgbClr val="C00000"/>
                          </a:solidFill>
                          <a:latin typeface="Cambria Math" panose="02040503050406030204" pitchFamily="18" charset="0"/>
                        </a:rPr>
                        <m:t> </m:t>
                      </m:r>
                      <m:r>
                        <a:rPr lang="en-US" sz="2400" b="1" i="1" dirty="0">
                          <a:latin typeface="Cambria Math" panose="02040503050406030204" pitchFamily="18" charset="0"/>
                        </a:rPr>
                        <m:t>+ </m:t>
                      </m:r>
                      <m:r>
                        <a:rPr lang="en-US" sz="2400" b="1" i="1" dirty="0" err="1">
                          <a:latin typeface="Cambria Math" panose="02040503050406030204" pitchFamily="18" charset="0"/>
                        </a:rPr>
                        <m:t>𝒃</m:t>
                      </m:r>
                      <m:r>
                        <a:rPr lang="en-US" sz="2400" b="1" i="1" baseline="-25000" dirty="0" err="1">
                          <a:latin typeface="Cambria Math" panose="02040503050406030204" pitchFamily="18" charset="0"/>
                        </a:rPr>
                        <m:t>𝒌</m:t>
                      </m:r>
                      <m:r>
                        <a:rPr lang="en-US" sz="2400" b="1" i="1" baseline="-25000" dirty="0">
                          <a:latin typeface="Cambria Math" panose="02040503050406030204" pitchFamily="18" charset="0"/>
                        </a:rPr>
                        <m:t> </m:t>
                      </m:r>
                    </m:oMath>
                  </m:oMathPara>
                </a14:m>
                <a:endParaRPr lang="en-US" sz="2400" b="1" baseline="-25000" dirty="0"/>
              </a:p>
              <a:p>
                <a:endParaRPr lang="en-US" b="1" dirty="0"/>
              </a:p>
            </p:txBody>
          </p:sp>
        </mc:Choice>
        <mc:Fallback xmlns="">
          <p:sp>
            <p:nvSpPr>
              <p:cNvPr id="20" name="TextBox 19"/>
              <p:cNvSpPr txBox="1">
                <a:spLocks noRot="1" noChangeAspect="1" noMove="1" noResize="1" noEditPoints="1" noAdjustHandles="1" noChangeArrowheads="1" noChangeShapeType="1" noTextEdit="1"/>
              </p:cNvSpPr>
              <p:nvPr/>
            </p:nvSpPr>
            <p:spPr>
              <a:xfrm>
                <a:off x="2435352" y="4267200"/>
                <a:ext cx="3581400" cy="738664"/>
              </a:xfrm>
              <a:prstGeom prst="rect">
                <a:avLst/>
              </a:prstGeom>
              <a:blipFill rotWithShape="0">
                <a:blip r:embed="rId3"/>
                <a:stretch>
                  <a:fillRect/>
                </a:stretch>
              </a:blipFill>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21" name="TextBox 20"/>
              <p:cNvSpPr txBox="1"/>
              <p:nvPr/>
            </p:nvSpPr>
            <p:spPr>
              <a:xfrm>
                <a:off x="2514600" y="4806315"/>
                <a:ext cx="4498848" cy="910570"/>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r>
                        <a:rPr lang="en-US" sz="3600" b="1" i="1" dirty="0" smtClean="0">
                          <a:latin typeface="Cambria Math" panose="02040503050406030204" pitchFamily="18" charset="0"/>
                        </a:rPr>
                        <m:t>𝒚</m:t>
                      </m:r>
                      <m:r>
                        <a:rPr lang="en-US" sz="2400" b="1" i="1" baseline="-25000" dirty="0" err="1">
                          <a:latin typeface="Cambria Math" panose="02040503050406030204" pitchFamily="18" charset="0"/>
                        </a:rPr>
                        <m:t>𝒌</m:t>
                      </m:r>
                      <m:r>
                        <a:rPr lang="en-US" sz="2400" b="1" i="1" dirty="0">
                          <a:latin typeface="Cambria Math" panose="02040503050406030204" pitchFamily="18" charset="0"/>
                        </a:rPr>
                        <m:t>= </m:t>
                      </m:r>
                      <m:r>
                        <a:rPr lang="en-US" sz="2400" b="1" i="1" dirty="0">
                          <a:latin typeface="Cambria Math" panose="02040503050406030204" pitchFamily="18" charset="0"/>
                        </a:rPr>
                        <m:t>𝒇</m:t>
                      </m:r>
                      <m:r>
                        <a:rPr lang="en-US" sz="2400" b="1" i="1" dirty="0">
                          <a:latin typeface="Cambria Math" panose="02040503050406030204" pitchFamily="18" charset="0"/>
                        </a:rPr>
                        <m:t>(</m:t>
                      </m:r>
                      <m:r>
                        <a:rPr lang="en-US" sz="2400" b="1" i="1" dirty="0" err="1">
                          <a:latin typeface="Cambria Math" panose="02040503050406030204" pitchFamily="18" charset="0"/>
                        </a:rPr>
                        <m:t>𝑽</m:t>
                      </m:r>
                      <m:r>
                        <a:rPr lang="en-US" sz="2400" b="1" i="1" baseline="-25000" dirty="0" err="1">
                          <a:latin typeface="Cambria Math" panose="02040503050406030204" pitchFamily="18" charset="0"/>
                        </a:rPr>
                        <m:t>𝒌</m:t>
                      </m:r>
                      <m:r>
                        <a:rPr lang="en-US" sz="2400" b="1" i="1" dirty="0">
                          <a:latin typeface="Cambria Math" panose="02040503050406030204" pitchFamily="18" charset="0"/>
                        </a:rPr>
                        <m:t>)=</m:t>
                      </m:r>
                      <m:r>
                        <a:rPr lang="en-US" sz="2400" b="1" i="1" dirty="0">
                          <a:solidFill>
                            <a:srgbClr val="FFC000"/>
                          </a:solidFill>
                          <a:latin typeface="Cambria Math" panose="02040503050406030204" pitchFamily="18" charset="0"/>
                        </a:rPr>
                        <m:t> </m:t>
                      </m:r>
                      <m:r>
                        <a:rPr lang="en-US" sz="2400" b="1" i="1" dirty="0">
                          <a:solidFill>
                            <a:srgbClr val="C00000"/>
                          </a:solidFill>
                          <a:latin typeface="Cambria Math" panose="02040503050406030204" pitchFamily="18" charset="0"/>
                        </a:rPr>
                        <m:t>𝑾</m:t>
                      </m:r>
                      <m:r>
                        <a:rPr lang="en-US" sz="2400" b="1" i="1" baseline="-25000" dirty="0">
                          <a:solidFill>
                            <a:srgbClr val="C00000"/>
                          </a:solidFill>
                          <a:latin typeface="Cambria Math" panose="02040503050406030204" pitchFamily="18" charset="0"/>
                        </a:rPr>
                        <m:t>𝒌</m:t>
                      </m:r>
                      <m:r>
                        <a:rPr lang="en-US" sz="2400" b="1" i="1" baseline="-25000" dirty="0">
                          <a:solidFill>
                            <a:srgbClr val="C00000"/>
                          </a:solidFill>
                          <a:latin typeface="Cambria Math" panose="02040503050406030204" pitchFamily="18" charset="0"/>
                        </a:rPr>
                        <m:t>𝟏</m:t>
                      </m:r>
                      <m:r>
                        <a:rPr lang="en-US" sz="2400" b="1" i="1" dirty="0">
                          <a:solidFill>
                            <a:srgbClr val="C00000"/>
                          </a:solidFill>
                          <a:latin typeface="Cambria Math" panose="02040503050406030204" pitchFamily="18" charset="0"/>
                        </a:rPr>
                        <m:t>∗</m:t>
                      </m:r>
                      <m:r>
                        <a:rPr lang="en-US" sz="2400" b="1" i="1" dirty="0">
                          <a:solidFill>
                            <a:srgbClr val="C00000"/>
                          </a:solidFill>
                          <a:latin typeface="Cambria Math" panose="02040503050406030204" pitchFamily="18" charset="0"/>
                        </a:rPr>
                        <m:t>𝒙</m:t>
                      </m:r>
                      <m:r>
                        <a:rPr lang="en-US" sz="2400" b="1" i="1" baseline="-25000" dirty="0">
                          <a:solidFill>
                            <a:srgbClr val="C00000"/>
                          </a:solidFill>
                          <a:latin typeface="Cambria Math" panose="02040503050406030204" pitchFamily="18" charset="0"/>
                        </a:rPr>
                        <m:t>𝟏</m:t>
                      </m:r>
                      <m:r>
                        <a:rPr lang="en-US" sz="2400" b="1" i="1" dirty="0">
                          <a:solidFill>
                            <a:srgbClr val="C00000"/>
                          </a:solidFill>
                          <a:latin typeface="Cambria Math" panose="02040503050406030204" pitchFamily="18" charset="0"/>
                        </a:rPr>
                        <m:t> </m:t>
                      </m:r>
                      <m:r>
                        <a:rPr lang="en-US" sz="2400" b="1" i="1" dirty="0">
                          <a:latin typeface="Cambria Math" panose="02040503050406030204" pitchFamily="18" charset="0"/>
                        </a:rPr>
                        <m:t>+ </m:t>
                      </m:r>
                      <m:r>
                        <a:rPr lang="en-US" sz="2400" b="1" i="1" dirty="0" err="1">
                          <a:latin typeface="Cambria Math" panose="02040503050406030204" pitchFamily="18" charset="0"/>
                        </a:rPr>
                        <m:t>𝒃</m:t>
                      </m:r>
                      <m:r>
                        <a:rPr lang="en-US" sz="2400" b="1" i="1" baseline="-25000" dirty="0" err="1">
                          <a:latin typeface="Cambria Math" panose="02040503050406030204" pitchFamily="18" charset="0"/>
                        </a:rPr>
                        <m:t>𝒌</m:t>
                      </m:r>
                      <m:r>
                        <a:rPr lang="en-US" sz="2400" b="1" i="1" baseline="-25000" dirty="0">
                          <a:latin typeface="Cambria Math" panose="02040503050406030204" pitchFamily="18" charset="0"/>
                        </a:rPr>
                        <m:t> </m:t>
                      </m:r>
                    </m:oMath>
                  </m:oMathPara>
                </a14:m>
                <a:endParaRPr lang="en-US" sz="2400" b="1" baseline="-25000" dirty="0"/>
              </a:p>
              <a:p>
                <a:endParaRPr lang="en-US" b="1" dirty="0"/>
              </a:p>
            </p:txBody>
          </p:sp>
        </mc:Choice>
        <mc:Fallback xmlns="">
          <p:sp>
            <p:nvSpPr>
              <p:cNvPr id="21" name="TextBox 20"/>
              <p:cNvSpPr txBox="1">
                <a:spLocks noRot="1" noChangeAspect="1" noMove="1" noResize="1" noEditPoints="1" noAdjustHandles="1" noChangeArrowheads="1" noChangeShapeType="1" noTextEdit="1"/>
              </p:cNvSpPr>
              <p:nvPr/>
            </p:nvSpPr>
            <p:spPr>
              <a:xfrm>
                <a:off x="2514600" y="4806315"/>
                <a:ext cx="4498848" cy="910570"/>
              </a:xfrm>
              <a:prstGeom prst="rect">
                <a:avLst/>
              </a:prstGeom>
              <a:blipFill rotWithShape="0">
                <a:blip r:embed="rId4"/>
                <a:stretch>
                  <a:fillRect/>
                </a:stretch>
              </a:blipFill>
            </p:spPr>
            <p:txBody>
              <a:bodyPr/>
              <a:lstStyle/>
              <a:p>
                <a:r>
                  <a:rPr lang="en-IN">
                    <a:noFill/>
                  </a:rPr>
                  <a:t> </a:t>
                </a:r>
              </a:p>
            </p:txBody>
          </p:sp>
        </mc:Fallback>
      </mc:AlternateContent>
      <p:sp>
        <p:nvSpPr>
          <p:cNvPr id="22" name="Oval Callout 21"/>
          <p:cNvSpPr/>
          <p:nvPr/>
        </p:nvSpPr>
        <p:spPr>
          <a:xfrm>
            <a:off x="377952" y="3048000"/>
            <a:ext cx="1981200" cy="1600200"/>
          </a:xfrm>
          <a:prstGeom prst="wedgeEllipseCallout">
            <a:avLst>
              <a:gd name="adj1" fmla="val 68482"/>
              <a:gd name="adj2" fmla="val 76271"/>
            </a:avLst>
          </a:prstGeom>
          <a:solidFill>
            <a:schemeClr val="accent1">
              <a:alpha val="25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latin typeface="Times New Roman" pitchFamily="18" charset="0"/>
                <a:cs typeface="Times New Roman" pitchFamily="18" charset="0"/>
              </a:rPr>
              <a:t>Output is Linearly Dependent on Input Parameters</a:t>
            </a:r>
          </a:p>
        </p:txBody>
      </p:sp>
      <p:sp>
        <p:nvSpPr>
          <p:cNvPr id="26" name="TextBox 25"/>
          <p:cNvSpPr txBox="1"/>
          <p:nvPr/>
        </p:nvSpPr>
        <p:spPr>
          <a:xfrm>
            <a:off x="0" y="0"/>
            <a:ext cx="4572000" cy="369332"/>
          </a:xfrm>
          <a:prstGeom prst="rect">
            <a:avLst/>
          </a:prstGeom>
          <a:noFill/>
        </p:spPr>
        <p:txBody>
          <a:bodyPr wrap="square" rtlCol="0">
            <a:spAutoFit/>
          </a:bodyPr>
          <a:lstStyle/>
          <a:p>
            <a:pPr algn="r"/>
            <a:r>
              <a:rPr lang="en-US" b="1" dirty="0">
                <a:solidFill>
                  <a:schemeClr val="bg1"/>
                </a:solidFill>
              </a:rPr>
              <a:t>Introduction to Neural Network</a:t>
            </a:r>
          </a:p>
        </p:txBody>
      </p:sp>
      <p:sp>
        <p:nvSpPr>
          <p:cNvPr id="23" name="Date Placeholder 3"/>
          <p:cNvSpPr>
            <a:spLocks noGrp="1"/>
          </p:cNvSpPr>
          <p:nvPr>
            <p:ph type="dt" sz="half" idx="10"/>
          </p:nvPr>
        </p:nvSpPr>
        <p:spPr>
          <a:xfrm>
            <a:off x="0" y="6629400"/>
            <a:ext cx="3048000" cy="228600"/>
          </a:xfrm>
        </p:spPr>
        <p:txBody>
          <a:bodyPr/>
          <a:lstStyle/>
          <a:p>
            <a:fld id="{E7067A60-51C7-4095-BFA9-1CE32DCBA06F}" type="datetime1">
              <a:rPr lang="en-US" smtClean="0"/>
              <a:pPr/>
              <a:t>2/9/2026</a:t>
            </a:fld>
            <a:endParaRPr lang="en-US" dirty="0"/>
          </a:p>
        </p:txBody>
      </p:sp>
      <p:sp>
        <p:nvSpPr>
          <p:cNvPr id="24" name="Slide Number Placeholder 5"/>
          <p:cNvSpPr>
            <a:spLocks noGrp="1"/>
          </p:cNvSpPr>
          <p:nvPr>
            <p:ph type="sldNum" sz="quarter" idx="12"/>
          </p:nvPr>
        </p:nvSpPr>
        <p:spPr>
          <a:xfrm>
            <a:off x="6096000" y="6629400"/>
            <a:ext cx="3048000" cy="228600"/>
          </a:xfrm>
        </p:spPr>
        <p:txBody>
          <a:bodyPr/>
          <a:lstStyle/>
          <a:p>
            <a:r>
              <a:rPr lang="en-US" dirty="0" smtClean="0"/>
              <a:t>7</a:t>
            </a:r>
            <a:endParaRPr lang="en-US" dirty="0"/>
          </a:p>
        </p:txBody>
      </p:sp>
      <p:sp>
        <p:nvSpPr>
          <p:cNvPr id="25" name="Footer Placeholder 4">
            <a:extLst>
              <a:ext uri="{FF2B5EF4-FFF2-40B4-BE49-F238E27FC236}">
                <a16:creationId xmlns:a16="http://schemas.microsoft.com/office/drawing/2014/main" id="{CBB301ED-B8A4-4772-B559-A9E41E7472BD}"/>
              </a:ext>
            </a:extLst>
          </p:cNvPr>
          <p:cNvSpPr>
            <a:spLocks noGrp="1"/>
          </p:cNvSpPr>
          <p:nvPr>
            <p:ph type="ftr" sz="quarter" idx="11"/>
          </p:nvPr>
        </p:nvSpPr>
        <p:spPr>
          <a:xfrm>
            <a:off x="2286000" y="6629400"/>
            <a:ext cx="4136571" cy="228600"/>
          </a:xfrm>
        </p:spPr>
        <p:txBody>
          <a:bodyPr/>
          <a:lstStyle/>
          <a:p>
            <a:r>
              <a:rPr lang="en-US" dirty="0"/>
              <a:t>Dr. Sibarama Panigrahi, Dept. of CSE, NIT Rourkela</a:t>
            </a:r>
          </a:p>
        </p:txBody>
      </p:sp>
      <p:sp>
        <p:nvSpPr>
          <p:cNvPr id="27" name="TextBox 26"/>
          <p:cNvSpPr txBox="1"/>
          <p:nvPr/>
        </p:nvSpPr>
        <p:spPr>
          <a:xfrm flipH="1">
            <a:off x="6472238" y="6600824"/>
            <a:ext cx="2366962" cy="307777"/>
          </a:xfrm>
          <a:prstGeom prst="rect">
            <a:avLst/>
          </a:prstGeom>
          <a:noFill/>
        </p:spPr>
        <p:txBody>
          <a:bodyPr wrap="square" rtlCol="0">
            <a:spAutoFit/>
          </a:bodyPr>
          <a:lstStyle/>
          <a:p>
            <a:r>
              <a:rPr lang="en-US" sz="1400" dirty="0" smtClean="0">
                <a:latin typeface="Times New Roman" panose="02020603050405020304" pitchFamily="18" charset="0"/>
                <a:cs typeface="Times New Roman" panose="02020603050405020304" pitchFamily="18" charset="0"/>
              </a:rPr>
              <a:t>Data Fitting Application</a:t>
            </a:r>
            <a:endParaRPr lang="en-IN" sz="1400" dirty="0">
              <a:latin typeface="Times New Roman" panose="02020603050405020304" pitchFamily="18" charset="0"/>
              <a:cs typeface="Times New Roman" panose="02020603050405020304" pitchFamily="18" charset="0"/>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7" presetClass="entr" presetSubtype="0" fill="hold" grpId="0" nodeType="clickEffect">
                                  <p:stCondLst>
                                    <p:cond delay="0"/>
                                  </p:stCondLst>
                                  <p:iterate type="lt">
                                    <p:tmPct val="50000"/>
                                  </p:iterate>
                                  <p:childTnLst>
                                    <p:set>
                                      <p:cBhvr>
                                        <p:cTn id="6" dur="1" fill="hold">
                                          <p:stCondLst>
                                            <p:cond delay="0"/>
                                          </p:stCondLst>
                                        </p:cTn>
                                        <p:tgtEl>
                                          <p:spTgt spid="21"/>
                                        </p:tgtEl>
                                        <p:attrNameLst>
                                          <p:attrName>style.visibility</p:attrName>
                                        </p:attrNameLst>
                                      </p:cBhvr>
                                      <p:to>
                                        <p:strVal val="visible"/>
                                      </p:to>
                                    </p:set>
                                    <p:anim calcmode="discrete" valueType="clr">
                                      <p:cBhvr override="childStyle">
                                        <p:cTn id="7" dur="80"/>
                                        <p:tgtEl>
                                          <p:spTgt spid="21"/>
                                        </p:tgtEl>
                                        <p:attrNameLst>
                                          <p:attrName>style.color</p:attrName>
                                        </p:attrNameLst>
                                      </p:cBhvr>
                                      <p:tavLst>
                                        <p:tav tm="0">
                                          <p:val>
                                            <p:clrVal>
                                              <a:schemeClr val="accent2"/>
                                            </p:clrVal>
                                          </p:val>
                                        </p:tav>
                                        <p:tav tm="50000">
                                          <p:val>
                                            <p:clrVal>
                                              <a:schemeClr val="hlink"/>
                                            </p:clrVal>
                                          </p:val>
                                        </p:tav>
                                      </p:tavLst>
                                    </p:anim>
                                    <p:anim calcmode="discrete" valueType="clr">
                                      <p:cBhvr>
                                        <p:cTn id="8" dur="80"/>
                                        <p:tgtEl>
                                          <p:spTgt spid="21"/>
                                        </p:tgtEl>
                                        <p:attrNameLst>
                                          <p:attrName>fillcolor</p:attrName>
                                        </p:attrNameLst>
                                      </p:cBhvr>
                                      <p:tavLst>
                                        <p:tav tm="0">
                                          <p:val>
                                            <p:clrVal>
                                              <a:schemeClr val="accent2"/>
                                            </p:clrVal>
                                          </p:val>
                                        </p:tav>
                                        <p:tav tm="50000">
                                          <p:val>
                                            <p:clrVal>
                                              <a:schemeClr val="hlink"/>
                                            </p:clrVal>
                                          </p:val>
                                        </p:tav>
                                      </p:tavLst>
                                    </p:anim>
                                    <p:set>
                                      <p:cBhvr>
                                        <p:cTn id="9" dur="80"/>
                                        <p:tgtEl>
                                          <p:spTgt spid="21"/>
                                        </p:tgtEl>
                                        <p:attrNameLst>
                                          <p:attrName>fill.type</p:attrName>
                                        </p:attrNameLst>
                                      </p:cBhvr>
                                      <p:to>
                                        <p:strVal val="solid"/>
                                      </p:to>
                                    </p:set>
                                  </p:childTnLst>
                                </p:cTn>
                              </p:par>
                            </p:childTnLst>
                          </p:cTn>
                        </p:par>
                      </p:childTnLst>
                    </p:cTn>
                  </p:par>
                  <p:par>
                    <p:cTn id="10" fill="hold">
                      <p:stCondLst>
                        <p:cond delay="indefinite"/>
                      </p:stCondLst>
                      <p:childTnLst>
                        <p:par>
                          <p:cTn id="11" fill="hold">
                            <p:stCondLst>
                              <p:cond delay="0"/>
                            </p:stCondLst>
                            <p:childTnLst>
                              <p:par>
                                <p:cTn id="12" presetID="22" presetClass="entr" presetSubtype="2" fill="hold" grpId="0" nodeType="clickEffect">
                                  <p:stCondLst>
                                    <p:cond delay="0"/>
                                  </p:stCondLst>
                                  <p:childTnLst>
                                    <p:set>
                                      <p:cBhvr>
                                        <p:cTn id="13" dur="1" fill="hold">
                                          <p:stCondLst>
                                            <p:cond delay="0"/>
                                          </p:stCondLst>
                                        </p:cTn>
                                        <p:tgtEl>
                                          <p:spTgt spid="22"/>
                                        </p:tgtEl>
                                        <p:attrNameLst>
                                          <p:attrName>style.visibility</p:attrName>
                                        </p:attrNameLst>
                                      </p:cBhvr>
                                      <p:to>
                                        <p:strVal val="visible"/>
                                      </p:to>
                                    </p:set>
                                    <p:animEffect transition="in" filter="wipe(right)">
                                      <p:cBhvr>
                                        <p:cTn id="14" dur="500"/>
                                        <p:tgtEl>
                                          <p:spTgt spid="2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1" grpId="0"/>
      <p:bldP spid="22" grpId="0" animBg="1"/>
    </p:bld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Single Neuron Model</a:t>
            </a:r>
          </a:p>
        </p:txBody>
      </p:sp>
      <p:sp>
        <p:nvSpPr>
          <p:cNvPr id="3" name="Content Placeholder 2"/>
          <p:cNvSpPr>
            <a:spLocks noGrp="1"/>
          </p:cNvSpPr>
          <p:nvPr>
            <p:ph sz="quarter" idx="1"/>
          </p:nvPr>
        </p:nvSpPr>
        <p:spPr/>
        <p:txBody>
          <a:bodyPr/>
          <a:lstStyle/>
          <a:p>
            <a:r>
              <a:rPr lang="en-US" b="1" u="sng" dirty="0"/>
              <a:t>Application</a:t>
            </a:r>
          </a:p>
          <a:p>
            <a:pPr lvl="1"/>
            <a:r>
              <a:rPr lang="en-US" dirty="0"/>
              <a:t>For data Fitting applications where we have to fit a straight line to a large data set.</a:t>
            </a:r>
          </a:p>
        </p:txBody>
      </p:sp>
      <p:graphicFrame>
        <p:nvGraphicFramePr>
          <p:cNvPr id="4" name="Chart 3"/>
          <p:cNvGraphicFramePr/>
          <p:nvPr/>
        </p:nvGraphicFramePr>
        <p:xfrm>
          <a:off x="1524000" y="3200400"/>
          <a:ext cx="6324600" cy="3048000"/>
        </p:xfrm>
        <a:graphic>
          <a:graphicData uri="http://schemas.openxmlformats.org/drawingml/2006/chart">
            <c:chart xmlns:c="http://schemas.openxmlformats.org/drawingml/2006/chart" xmlns:r="http://schemas.openxmlformats.org/officeDocument/2006/relationships" r:id="rId3"/>
          </a:graphicData>
        </a:graphic>
      </p:graphicFrame>
      <p:sp>
        <p:nvSpPr>
          <p:cNvPr id="10" name="Oval 9"/>
          <p:cNvSpPr/>
          <p:nvPr/>
        </p:nvSpPr>
        <p:spPr>
          <a:xfrm>
            <a:off x="2514600" y="5334000"/>
            <a:ext cx="76200" cy="76200"/>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Oval 10"/>
          <p:cNvSpPr/>
          <p:nvPr/>
        </p:nvSpPr>
        <p:spPr>
          <a:xfrm>
            <a:off x="2590800" y="5181600"/>
            <a:ext cx="76200" cy="76200"/>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Oval 11"/>
          <p:cNvSpPr/>
          <p:nvPr/>
        </p:nvSpPr>
        <p:spPr>
          <a:xfrm>
            <a:off x="2743200" y="5257800"/>
            <a:ext cx="76200" cy="76200"/>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Oval 12"/>
          <p:cNvSpPr/>
          <p:nvPr/>
        </p:nvSpPr>
        <p:spPr>
          <a:xfrm>
            <a:off x="2743200" y="5029200"/>
            <a:ext cx="76200" cy="76200"/>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Oval 13"/>
          <p:cNvSpPr/>
          <p:nvPr/>
        </p:nvSpPr>
        <p:spPr>
          <a:xfrm>
            <a:off x="2971800" y="5105400"/>
            <a:ext cx="76200" cy="76200"/>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 name="Oval 14"/>
          <p:cNvSpPr/>
          <p:nvPr/>
        </p:nvSpPr>
        <p:spPr>
          <a:xfrm>
            <a:off x="2971800" y="4876800"/>
            <a:ext cx="76200" cy="76200"/>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Oval 15"/>
          <p:cNvSpPr/>
          <p:nvPr/>
        </p:nvSpPr>
        <p:spPr>
          <a:xfrm>
            <a:off x="3200400" y="4800600"/>
            <a:ext cx="76200" cy="76200"/>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7" name="Oval 16"/>
          <p:cNvSpPr/>
          <p:nvPr/>
        </p:nvSpPr>
        <p:spPr>
          <a:xfrm>
            <a:off x="3200400" y="5029200"/>
            <a:ext cx="76200" cy="76200"/>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8" name="Oval 17"/>
          <p:cNvSpPr/>
          <p:nvPr/>
        </p:nvSpPr>
        <p:spPr>
          <a:xfrm>
            <a:off x="3581400" y="4648200"/>
            <a:ext cx="76200" cy="76200"/>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9" name="Oval 18"/>
          <p:cNvSpPr/>
          <p:nvPr/>
        </p:nvSpPr>
        <p:spPr>
          <a:xfrm>
            <a:off x="3505200" y="4876800"/>
            <a:ext cx="76200" cy="76200"/>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0" name="Oval 19"/>
          <p:cNvSpPr/>
          <p:nvPr/>
        </p:nvSpPr>
        <p:spPr>
          <a:xfrm>
            <a:off x="3810000" y="4572000"/>
            <a:ext cx="76200" cy="76200"/>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1" name="Oval 20"/>
          <p:cNvSpPr/>
          <p:nvPr/>
        </p:nvSpPr>
        <p:spPr>
          <a:xfrm>
            <a:off x="4114800" y="4495800"/>
            <a:ext cx="76200" cy="76200"/>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2" name="Oval 21"/>
          <p:cNvSpPr/>
          <p:nvPr/>
        </p:nvSpPr>
        <p:spPr>
          <a:xfrm>
            <a:off x="4191000" y="4648200"/>
            <a:ext cx="76200" cy="76200"/>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3" name="Oval 22"/>
          <p:cNvSpPr/>
          <p:nvPr/>
        </p:nvSpPr>
        <p:spPr>
          <a:xfrm>
            <a:off x="4343400" y="4495800"/>
            <a:ext cx="76200" cy="76200"/>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4" name="Oval 23"/>
          <p:cNvSpPr/>
          <p:nvPr/>
        </p:nvSpPr>
        <p:spPr>
          <a:xfrm>
            <a:off x="3810000" y="4724400"/>
            <a:ext cx="76200" cy="76200"/>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5" name="Oval 24"/>
          <p:cNvSpPr/>
          <p:nvPr/>
        </p:nvSpPr>
        <p:spPr>
          <a:xfrm>
            <a:off x="3048000" y="4800600"/>
            <a:ext cx="76200" cy="76200"/>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6" name="Oval 25"/>
          <p:cNvSpPr/>
          <p:nvPr/>
        </p:nvSpPr>
        <p:spPr>
          <a:xfrm>
            <a:off x="3581400" y="5029200"/>
            <a:ext cx="76200" cy="76200"/>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7" name="Oval 26"/>
          <p:cNvSpPr/>
          <p:nvPr/>
        </p:nvSpPr>
        <p:spPr>
          <a:xfrm>
            <a:off x="4800600" y="4267200"/>
            <a:ext cx="76200" cy="76200"/>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8" name="Oval 27"/>
          <p:cNvSpPr/>
          <p:nvPr/>
        </p:nvSpPr>
        <p:spPr>
          <a:xfrm>
            <a:off x="4648200" y="4267200"/>
            <a:ext cx="76200" cy="76200"/>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9" name="Oval 28"/>
          <p:cNvSpPr/>
          <p:nvPr/>
        </p:nvSpPr>
        <p:spPr>
          <a:xfrm>
            <a:off x="5029200" y="4114800"/>
            <a:ext cx="76200" cy="76200"/>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0" name="Oval 29"/>
          <p:cNvSpPr/>
          <p:nvPr/>
        </p:nvSpPr>
        <p:spPr>
          <a:xfrm>
            <a:off x="5029200" y="4267200"/>
            <a:ext cx="76200" cy="76200"/>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1" name="Oval 30"/>
          <p:cNvSpPr/>
          <p:nvPr/>
        </p:nvSpPr>
        <p:spPr>
          <a:xfrm>
            <a:off x="4800600" y="4419600"/>
            <a:ext cx="76200" cy="76200"/>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2" name="Oval 31"/>
          <p:cNvSpPr/>
          <p:nvPr/>
        </p:nvSpPr>
        <p:spPr>
          <a:xfrm>
            <a:off x="5257800" y="4038600"/>
            <a:ext cx="76200" cy="76200"/>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3" name="Oval 32"/>
          <p:cNvSpPr/>
          <p:nvPr/>
        </p:nvSpPr>
        <p:spPr>
          <a:xfrm>
            <a:off x="5257800" y="4343400"/>
            <a:ext cx="76200" cy="76200"/>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4" name="Oval 33"/>
          <p:cNvSpPr/>
          <p:nvPr/>
        </p:nvSpPr>
        <p:spPr>
          <a:xfrm>
            <a:off x="5791200" y="3962400"/>
            <a:ext cx="76200" cy="76200"/>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5" name="Oval 34"/>
          <p:cNvSpPr/>
          <p:nvPr/>
        </p:nvSpPr>
        <p:spPr>
          <a:xfrm>
            <a:off x="5638800" y="4038600"/>
            <a:ext cx="76200" cy="76200"/>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6" name="Oval 35"/>
          <p:cNvSpPr/>
          <p:nvPr/>
        </p:nvSpPr>
        <p:spPr>
          <a:xfrm>
            <a:off x="5943600" y="3962400"/>
            <a:ext cx="76200" cy="76200"/>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7" name="Oval 36"/>
          <p:cNvSpPr/>
          <p:nvPr/>
        </p:nvSpPr>
        <p:spPr>
          <a:xfrm>
            <a:off x="6324600" y="3733800"/>
            <a:ext cx="76200" cy="76200"/>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8" name="Oval 37"/>
          <p:cNvSpPr/>
          <p:nvPr/>
        </p:nvSpPr>
        <p:spPr>
          <a:xfrm>
            <a:off x="6172200" y="3810000"/>
            <a:ext cx="76200" cy="76200"/>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err="1"/>
              <a:t>vcv</a:t>
            </a:r>
            <a:endParaRPr lang="en-US" dirty="0"/>
          </a:p>
        </p:txBody>
      </p:sp>
      <p:sp>
        <p:nvSpPr>
          <p:cNvPr id="39" name="Oval 38"/>
          <p:cNvSpPr/>
          <p:nvPr/>
        </p:nvSpPr>
        <p:spPr>
          <a:xfrm>
            <a:off x="6629400" y="3657600"/>
            <a:ext cx="76200" cy="76200"/>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0" name="Oval 39"/>
          <p:cNvSpPr/>
          <p:nvPr/>
        </p:nvSpPr>
        <p:spPr>
          <a:xfrm>
            <a:off x="6705600" y="3810000"/>
            <a:ext cx="76200" cy="76200"/>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1" name="Oval 40"/>
          <p:cNvSpPr/>
          <p:nvPr/>
        </p:nvSpPr>
        <p:spPr>
          <a:xfrm>
            <a:off x="6858000" y="3657600"/>
            <a:ext cx="76200" cy="76200"/>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2" name="Oval 41"/>
          <p:cNvSpPr/>
          <p:nvPr/>
        </p:nvSpPr>
        <p:spPr>
          <a:xfrm>
            <a:off x="6858000" y="3733800"/>
            <a:ext cx="76200" cy="76200"/>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3" name="Oval 42"/>
          <p:cNvSpPr/>
          <p:nvPr/>
        </p:nvSpPr>
        <p:spPr>
          <a:xfrm>
            <a:off x="7162800" y="3581400"/>
            <a:ext cx="76200" cy="76200"/>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4" name="Oval 43"/>
          <p:cNvSpPr/>
          <p:nvPr/>
        </p:nvSpPr>
        <p:spPr>
          <a:xfrm>
            <a:off x="7467600" y="3429000"/>
            <a:ext cx="76200" cy="76200"/>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5" name="Oval 44"/>
          <p:cNvSpPr/>
          <p:nvPr/>
        </p:nvSpPr>
        <p:spPr>
          <a:xfrm>
            <a:off x="7467600" y="3567752"/>
            <a:ext cx="76200" cy="76200"/>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6" name="Oval 45"/>
          <p:cNvSpPr/>
          <p:nvPr/>
        </p:nvSpPr>
        <p:spPr>
          <a:xfrm>
            <a:off x="5410200" y="4191000"/>
            <a:ext cx="76200" cy="76200"/>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7" name="Oval 46"/>
          <p:cNvSpPr/>
          <p:nvPr/>
        </p:nvSpPr>
        <p:spPr>
          <a:xfrm>
            <a:off x="6019800" y="4191000"/>
            <a:ext cx="76200" cy="76200"/>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8" name="Oval 47"/>
          <p:cNvSpPr/>
          <p:nvPr/>
        </p:nvSpPr>
        <p:spPr>
          <a:xfrm>
            <a:off x="5410200" y="4038600"/>
            <a:ext cx="76200" cy="76200"/>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50" name="Straight Connector 49"/>
          <p:cNvCxnSpPr/>
          <p:nvPr/>
        </p:nvCxnSpPr>
        <p:spPr>
          <a:xfrm flipV="1">
            <a:off x="2057400" y="3469945"/>
            <a:ext cx="5475241" cy="1940255"/>
          </a:xfrm>
          <a:prstGeom prst="line">
            <a:avLst/>
          </a:prstGeom>
          <a:ln w="73025">
            <a:solidFill>
              <a:srgbClr val="C00000"/>
            </a:solidFill>
          </a:ln>
        </p:spPr>
        <p:style>
          <a:lnRef idx="1">
            <a:schemeClr val="accent1"/>
          </a:lnRef>
          <a:fillRef idx="0">
            <a:schemeClr val="accent1"/>
          </a:fillRef>
          <a:effectRef idx="0">
            <a:schemeClr val="accent1"/>
          </a:effectRef>
          <a:fontRef idx="minor">
            <a:schemeClr val="tx1"/>
          </a:fontRef>
        </p:style>
      </p:cxnSp>
      <p:sp>
        <p:nvSpPr>
          <p:cNvPr id="51" name="Oval 50"/>
          <p:cNvSpPr/>
          <p:nvPr/>
        </p:nvSpPr>
        <p:spPr>
          <a:xfrm>
            <a:off x="3733800" y="4953000"/>
            <a:ext cx="76200" cy="76200"/>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2" name="Oval 51"/>
          <p:cNvSpPr/>
          <p:nvPr/>
        </p:nvSpPr>
        <p:spPr>
          <a:xfrm>
            <a:off x="4038600" y="4800600"/>
            <a:ext cx="76200" cy="76200"/>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3" name="Oval 52"/>
          <p:cNvSpPr/>
          <p:nvPr/>
        </p:nvSpPr>
        <p:spPr>
          <a:xfrm>
            <a:off x="4572000" y="4495800"/>
            <a:ext cx="76200" cy="76200"/>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4" name="Oval 53"/>
          <p:cNvSpPr/>
          <p:nvPr/>
        </p:nvSpPr>
        <p:spPr>
          <a:xfrm>
            <a:off x="5867400" y="4114800"/>
            <a:ext cx="76200" cy="76200"/>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5" name="Oval 54"/>
          <p:cNvSpPr/>
          <p:nvPr/>
        </p:nvSpPr>
        <p:spPr>
          <a:xfrm>
            <a:off x="6172200" y="3962400"/>
            <a:ext cx="76200" cy="76200"/>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6" name="Oval 55"/>
          <p:cNvSpPr/>
          <p:nvPr/>
        </p:nvSpPr>
        <p:spPr>
          <a:xfrm>
            <a:off x="6324600" y="4114800"/>
            <a:ext cx="76200" cy="76200"/>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7" name="Oval 56"/>
          <p:cNvSpPr/>
          <p:nvPr/>
        </p:nvSpPr>
        <p:spPr>
          <a:xfrm>
            <a:off x="6553200" y="3962400"/>
            <a:ext cx="76200" cy="76200"/>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8" name="Oval 57"/>
          <p:cNvSpPr/>
          <p:nvPr/>
        </p:nvSpPr>
        <p:spPr>
          <a:xfrm>
            <a:off x="6705600" y="3810000"/>
            <a:ext cx="76200" cy="76200"/>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9" name="Oval 58"/>
          <p:cNvSpPr/>
          <p:nvPr/>
        </p:nvSpPr>
        <p:spPr>
          <a:xfrm>
            <a:off x="7162800" y="3733800"/>
            <a:ext cx="76200" cy="76200"/>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0" name="Oval 59"/>
          <p:cNvSpPr/>
          <p:nvPr/>
        </p:nvSpPr>
        <p:spPr>
          <a:xfrm>
            <a:off x="7391400" y="3505200"/>
            <a:ext cx="76200" cy="76200"/>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1" name="Oval 60"/>
          <p:cNvSpPr/>
          <p:nvPr/>
        </p:nvSpPr>
        <p:spPr>
          <a:xfrm>
            <a:off x="6934200" y="3505200"/>
            <a:ext cx="76200" cy="76200"/>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2" name="Oval 61"/>
          <p:cNvSpPr/>
          <p:nvPr/>
        </p:nvSpPr>
        <p:spPr>
          <a:xfrm>
            <a:off x="7239000" y="3429000"/>
            <a:ext cx="76200" cy="76200"/>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3" name="Oval 62"/>
          <p:cNvSpPr/>
          <p:nvPr/>
        </p:nvSpPr>
        <p:spPr>
          <a:xfrm>
            <a:off x="6019800" y="3810000"/>
            <a:ext cx="76200" cy="76200"/>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4" name="Oval 63"/>
          <p:cNvSpPr/>
          <p:nvPr/>
        </p:nvSpPr>
        <p:spPr>
          <a:xfrm>
            <a:off x="6172200" y="3886200"/>
            <a:ext cx="76200" cy="76200"/>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5" name="TextBox 64"/>
          <p:cNvSpPr txBox="1"/>
          <p:nvPr/>
        </p:nvSpPr>
        <p:spPr>
          <a:xfrm>
            <a:off x="4343400" y="5943600"/>
            <a:ext cx="4191000" cy="369332"/>
          </a:xfrm>
          <a:prstGeom prst="rect">
            <a:avLst/>
          </a:prstGeom>
          <a:noFill/>
        </p:spPr>
        <p:txBody>
          <a:bodyPr wrap="square" rtlCol="0">
            <a:spAutoFit/>
          </a:bodyPr>
          <a:lstStyle/>
          <a:p>
            <a:r>
              <a:rPr lang="en-US" dirty="0"/>
              <a:t>Height</a:t>
            </a:r>
          </a:p>
        </p:txBody>
      </p:sp>
      <p:sp>
        <p:nvSpPr>
          <p:cNvPr id="66" name="TextBox 65"/>
          <p:cNvSpPr txBox="1"/>
          <p:nvPr/>
        </p:nvSpPr>
        <p:spPr>
          <a:xfrm>
            <a:off x="1219200" y="3429000"/>
            <a:ext cx="304800" cy="1754326"/>
          </a:xfrm>
          <a:prstGeom prst="rect">
            <a:avLst/>
          </a:prstGeom>
          <a:noFill/>
        </p:spPr>
        <p:txBody>
          <a:bodyPr wrap="square" rtlCol="0">
            <a:spAutoFit/>
          </a:bodyPr>
          <a:lstStyle/>
          <a:p>
            <a:r>
              <a:rPr lang="en-US" dirty="0"/>
              <a:t>W</a:t>
            </a:r>
          </a:p>
          <a:p>
            <a:r>
              <a:rPr lang="en-US" dirty="0"/>
              <a:t>E</a:t>
            </a:r>
          </a:p>
          <a:p>
            <a:r>
              <a:rPr lang="en-US" dirty="0"/>
              <a:t> I</a:t>
            </a:r>
          </a:p>
          <a:p>
            <a:r>
              <a:rPr lang="en-US" dirty="0"/>
              <a:t>G</a:t>
            </a:r>
          </a:p>
          <a:p>
            <a:r>
              <a:rPr lang="en-US" dirty="0"/>
              <a:t>H</a:t>
            </a:r>
          </a:p>
          <a:p>
            <a:r>
              <a:rPr lang="en-US" dirty="0"/>
              <a:t>T</a:t>
            </a:r>
          </a:p>
        </p:txBody>
      </p:sp>
      <p:sp>
        <p:nvSpPr>
          <p:cNvPr id="67" name="Oval 66"/>
          <p:cNvSpPr/>
          <p:nvPr/>
        </p:nvSpPr>
        <p:spPr>
          <a:xfrm>
            <a:off x="6740856" y="5562600"/>
            <a:ext cx="103496" cy="152400"/>
          </a:xfrm>
          <a:prstGeom prst="ellipse">
            <a:avLst/>
          </a:prstGeom>
          <a:solidFill>
            <a:srgbClr val="FF0000"/>
          </a:solidFill>
          <a:ln>
            <a:solidFill>
              <a:schemeClr val="accent2">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69" name="Straight Connector 68"/>
          <p:cNvCxnSpPr/>
          <p:nvPr/>
        </p:nvCxnSpPr>
        <p:spPr>
          <a:xfrm rot="5400000" flipH="1">
            <a:off x="5796602" y="4664406"/>
            <a:ext cx="1981200" cy="10804"/>
          </a:xfrm>
          <a:prstGeom prst="line">
            <a:avLst/>
          </a:prstGeom>
          <a:ln w="254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71" name="Straight Connector 70"/>
          <p:cNvCxnSpPr/>
          <p:nvPr/>
        </p:nvCxnSpPr>
        <p:spPr>
          <a:xfrm>
            <a:off x="2084696" y="3733800"/>
            <a:ext cx="4724400" cy="1588"/>
          </a:xfrm>
          <a:prstGeom prst="line">
            <a:avLst/>
          </a:prstGeom>
          <a:ln w="25400">
            <a:solidFill>
              <a:schemeClr val="tx1"/>
            </a:solidFill>
          </a:ln>
        </p:spPr>
        <p:style>
          <a:lnRef idx="1">
            <a:schemeClr val="accent1"/>
          </a:lnRef>
          <a:fillRef idx="0">
            <a:schemeClr val="accent1"/>
          </a:fillRef>
          <a:effectRef idx="0">
            <a:schemeClr val="accent1"/>
          </a:effectRef>
          <a:fontRef idx="minor">
            <a:schemeClr val="tx1"/>
          </a:fontRef>
        </p:style>
      </p:cxnSp>
      <p:sp>
        <p:nvSpPr>
          <p:cNvPr id="73" name="Rectangle 72"/>
          <p:cNvSpPr/>
          <p:nvPr/>
        </p:nvSpPr>
        <p:spPr>
          <a:xfrm>
            <a:off x="762000" y="1676400"/>
            <a:ext cx="8382000" cy="1524000"/>
          </a:xfrm>
          <a:prstGeom prst="rect">
            <a:avLst/>
          </a:prstGeom>
          <a:solidFill>
            <a:srgbClr val="FFC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sz="5400" dirty="0">
                <a:solidFill>
                  <a:schemeClr val="tx1"/>
                </a:solidFill>
              </a:rPr>
              <a:t>y</a:t>
            </a:r>
            <a:r>
              <a:rPr lang="en-US" sz="2400" b="1" dirty="0">
                <a:solidFill>
                  <a:schemeClr val="tx1"/>
                </a:solidFill>
              </a:rPr>
              <a:t>=</a:t>
            </a:r>
            <a:r>
              <a:rPr lang="en-US" sz="3600" dirty="0" err="1">
                <a:solidFill>
                  <a:schemeClr val="tx1"/>
                </a:solidFill>
              </a:rPr>
              <a:t>mx+c</a:t>
            </a:r>
            <a:endParaRPr lang="en-US" sz="3600" dirty="0">
              <a:solidFill>
                <a:schemeClr val="tx1"/>
              </a:solidFill>
            </a:endParaRPr>
          </a:p>
          <a:p>
            <a:r>
              <a:rPr lang="en-US" sz="2000" dirty="0">
                <a:solidFill>
                  <a:schemeClr val="tx1"/>
                </a:solidFill>
              </a:rPr>
              <a:t>Where m=Slope Of Straight Line</a:t>
            </a:r>
          </a:p>
          <a:p>
            <a:r>
              <a:rPr lang="en-US" sz="2000" dirty="0">
                <a:solidFill>
                  <a:schemeClr val="tx1"/>
                </a:solidFill>
              </a:rPr>
              <a:t>X=Height    c=Intercept     y=Weight</a:t>
            </a:r>
          </a:p>
        </p:txBody>
      </p:sp>
      <p:sp>
        <p:nvSpPr>
          <p:cNvPr id="68" name="TextBox 67"/>
          <p:cNvSpPr txBox="1"/>
          <p:nvPr/>
        </p:nvSpPr>
        <p:spPr>
          <a:xfrm>
            <a:off x="0" y="0"/>
            <a:ext cx="4572000" cy="369332"/>
          </a:xfrm>
          <a:prstGeom prst="rect">
            <a:avLst/>
          </a:prstGeom>
          <a:noFill/>
        </p:spPr>
        <p:txBody>
          <a:bodyPr wrap="square" rtlCol="0">
            <a:spAutoFit/>
          </a:bodyPr>
          <a:lstStyle/>
          <a:p>
            <a:pPr algn="r"/>
            <a:r>
              <a:rPr lang="en-US" b="1" dirty="0">
                <a:solidFill>
                  <a:schemeClr val="bg1"/>
                </a:solidFill>
              </a:rPr>
              <a:t>Introduction to Neural Network</a:t>
            </a:r>
          </a:p>
        </p:txBody>
      </p:sp>
      <p:sp>
        <p:nvSpPr>
          <p:cNvPr id="70" name="Date Placeholder 3"/>
          <p:cNvSpPr>
            <a:spLocks noGrp="1"/>
          </p:cNvSpPr>
          <p:nvPr>
            <p:ph type="dt" sz="half" idx="10"/>
          </p:nvPr>
        </p:nvSpPr>
        <p:spPr>
          <a:xfrm>
            <a:off x="0" y="6629400"/>
            <a:ext cx="3048000" cy="228600"/>
          </a:xfrm>
        </p:spPr>
        <p:txBody>
          <a:bodyPr/>
          <a:lstStyle/>
          <a:p>
            <a:fld id="{E7067A60-51C7-4095-BFA9-1CE32DCBA06F}" type="datetime1">
              <a:rPr lang="en-US" smtClean="0"/>
              <a:pPr/>
              <a:t>2/9/2026</a:t>
            </a:fld>
            <a:endParaRPr lang="en-US" dirty="0"/>
          </a:p>
        </p:txBody>
      </p:sp>
      <p:sp>
        <p:nvSpPr>
          <p:cNvPr id="72" name="Slide Number Placeholder 5"/>
          <p:cNvSpPr>
            <a:spLocks noGrp="1"/>
          </p:cNvSpPr>
          <p:nvPr>
            <p:ph type="sldNum" sz="quarter" idx="12"/>
          </p:nvPr>
        </p:nvSpPr>
        <p:spPr>
          <a:xfrm>
            <a:off x="6096000" y="6629400"/>
            <a:ext cx="3048000" cy="228600"/>
          </a:xfrm>
        </p:spPr>
        <p:txBody>
          <a:bodyPr/>
          <a:lstStyle/>
          <a:p>
            <a:r>
              <a:rPr lang="en-US" dirty="0" smtClean="0"/>
              <a:t>8</a:t>
            </a:r>
            <a:endParaRPr lang="en-US" dirty="0"/>
          </a:p>
        </p:txBody>
      </p:sp>
      <p:sp>
        <p:nvSpPr>
          <p:cNvPr id="74" name="Footer Placeholder 4">
            <a:extLst>
              <a:ext uri="{FF2B5EF4-FFF2-40B4-BE49-F238E27FC236}">
                <a16:creationId xmlns:a16="http://schemas.microsoft.com/office/drawing/2014/main" id="{CBB301ED-B8A4-4772-B559-A9E41E7472BD}"/>
              </a:ext>
            </a:extLst>
          </p:cNvPr>
          <p:cNvSpPr>
            <a:spLocks noGrp="1"/>
          </p:cNvSpPr>
          <p:nvPr>
            <p:ph type="ftr" sz="quarter" idx="11"/>
          </p:nvPr>
        </p:nvSpPr>
        <p:spPr>
          <a:xfrm>
            <a:off x="2286000" y="6629400"/>
            <a:ext cx="4136571" cy="228600"/>
          </a:xfrm>
        </p:spPr>
        <p:txBody>
          <a:bodyPr/>
          <a:lstStyle/>
          <a:p>
            <a:r>
              <a:rPr lang="en-US" dirty="0"/>
              <a:t>Dr. Sibarama Panigrahi, Dept. of CSE, NIT Rourkela</a:t>
            </a:r>
          </a:p>
        </p:txBody>
      </p:sp>
      <p:sp>
        <p:nvSpPr>
          <p:cNvPr id="75" name="TextBox 74"/>
          <p:cNvSpPr txBox="1"/>
          <p:nvPr/>
        </p:nvSpPr>
        <p:spPr>
          <a:xfrm flipH="1">
            <a:off x="6472238" y="6600824"/>
            <a:ext cx="2366962" cy="307777"/>
          </a:xfrm>
          <a:prstGeom prst="rect">
            <a:avLst/>
          </a:prstGeom>
          <a:noFill/>
        </p:spPr>
        <p:txBody>
          <a:bodyPr wrap="square" rtlCol="0">
            <a:spAutoFit/>
          </a:bodyPr>
          <a:lstStyle/>
          <a:p>
            <a:r>
              <a:rPr lang="en-US" sz="1400" dirty="0" smtClean="0">
                <a:latin typeface="Times New Roman" panose="02020603050405020304" pitchFamily="18" charset="0"/>
                <a:cs typeface="Times New Roman" panose="02020603050405020304" pitchFamily="18" charset="0"/>
              </a:rPr>
              <a:t>Error Calculation</a:t>
            </a:r>
            <a:endParaRPr lang="en-IN" sz="1400" dirty="0">
              <a:latin typeface="Times New Roman" panose="02020603050405020304" pitchFamily="18" charset="0"/>
              <a:cs typeface="Times New Roman" panose="02020603050405020304" pitchFamily="18" charset="0"/>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 presetClass="entr" presetSubtype="16" fill="hold" grpId="0" nodeType="clickEffect">
                                  <p:stCondLst>
                                    <p:cond delay="0"/>
                                  </p:stCondLst>
                                  <p:childTnLst>
                                    <p:set>
                                      <p:cBhvr>
                                        <p:cTn id="6" dur="1" fill="hold">
                                          <p:stCondLst>
                                            <p:cond delay="0"/>
                                          </p:stCondLst>
                                        </p:cTn>
                                        <p:tgtEl>
                                          <p:spTgt spid="10"/>
                                        </p:tgtEl>
                                        <p:attrNameLst>
                                          <p:attrName>style.visibility</p:attrName>
                                        </p:attrNameLst>
                                      </p:cBhvr>
                                      <p:to>
                                        <p:strVal val="visible"/>
                                      </p:to>
                                    </p:set>
                                    <p:animEffect transition="in" filter="box(in)">
                                      <p:cBhvr>
                                        <p:cTn id="7" dur="500"/>
                                        <p:tgtEl>
                                          <p:spTgt spid="10"/>
                                        </p:tgtEl>
                                      </p:cBhvr>
                                    </p:animEffect>
                                  </p:childTnLst>
                                </p:cTn>
                              </p:par>
                              <p:par>
                                <p:cTn id="8" presetID="4" presetClass="entr" presetSubtype="16" fill="hold" grpId="0" nodeType="withEffect">
                                  <p:stCondLst>
                                    <p:cond delay="0"/>
                                  </p:stCondLst>
                                  <p:childTnLst>
                                    <p:set>
                                      <p:cBhvr>
                                        <p:cTn id="9" dur="1" fill="hold">
                                          <p:stCondLst>
                                            <p:cond delay="0"/>
                                          </p:stCondLst>
                                        </p:cTn>
                                        <p:tgtEl>
                                          <p:spTgt spid="11"/>
                                        </p:tgtEl>
                                        <p:attrNameLst>
                                          <p:attrName>style.visibility</p:attrName>
                                        </p:attrNameLst>
                                      </p:cBhvr>
                                      <p:to>
                                        <p:strVal val="visible"/>
                                      </p:to>
                                    </p:set>
                                    <p:animEffect transition="in" filter="box(in)">
                                      <p:cBhvr>
                                        <p:cTn id="10" dur="500"/>
                                        <p:tgtEl>
                                          <p:spTgt spid="11"/>
                                        </p:tgtEl>
                                      </p:cBhvr>
                                    </p:animEffect>
                                  </p:childTnLst>
                                </p:cTn>
                              </p:par>
                            </p:childTnLst>
                          </p:cTn>
                        </p:par>
                        <p:par>
                          <p:cTn id="11" fill="hold">
                            <p:stCondLst>
                              <p:cond delay="500"/>
                            </p:stCondLst>
                            <p:childTnLst>
                              <p:par>
                                <p:cTn id="12" presetID="4" presetClass="entr" presetSubtype="16" fill="hold" grpId="0" nodeType="afterEffect">
                                  <p:stCondLst>
                                    <p:cond delay="0"/>
                                  </p:stCondLst>
                                  <p:childTnLst>
                                    <p:set>
                                      <p:cBhvr>
                                        <p:cTn id="13" dur="1" fill="hold">
                                          <p:stCondLst>
                                            <p:cond delay="0"/>
                                          </p:stCondLst>
                                        </p:cTn>
                                        <p:tgtEl>
                                          <p:spTgt spid="12"/>
                                        </p:tgtEl>
                                        <p:attrNameLst>
                                          <p:attrName>style.visibility</p:attrName>
                                        </p:attrNameLst>
                                      </p:cBhvr>
                                      <p:to>
                                        <p:strVal val="visible"/>
                                      </p:to>
                                    </p:set>
                                    <p:animEffect transition="in" filter="box(in)">
                                      <p:cBhvr>
                                        <p:cTn id="14" dur="500"/>
                                        <p:tgtEl>
                                          <p:spTgt spid="12"/>
                                        </p:tgtEl>
                                      </p:cBhvr>
                                    </p:animEffect>
                                  </p:childTnLst>
                                </p:cTn>
                              </p:par>
                              <p:par>
                                <p:cTn id="15" presetID="4" presetClass="entr" presetSubtype="16" fill="hold" grpId="0" nodeType="withEffect">
                                  <p:stCondLst>
                                    <p:cond delay="0"/>
                                  </p:stCondLst>
                                  <p:childTnLst>
                                    <p:set>
                                      <p:cBhvr>
                                        <p:cTn id="16" dur="1" fill="hold">
                                          <p:stCondLst>
                                            <p:cond delay="0"/>
                                          </p:stCondLst>
                                        </p:cTn>
                                        <p:tgtEl>
                                          <p:spTgt spid="13"/>
                                        </p:tgtEl>
                                        <p:attrNameLst>
                                          <p:attrName>style.visibility</p:attrName>
                                        </p:attrNameLst>
                                      </p:cBhvr>
                                      <p:to>
                                        <p:strVal val="visible"/>
                                      </p:to>
                                    </p:set>
                                    <p:animEffect transition="in" filter="box(in)">
                                      <p:cBhvr>
                                        <p:cTn id="17" dur="500"/>
                                        <p:tgtEl>
                                          <p:spTgt spid="13"/>
                                        </p:tgtEl>
                                      </p:cBhvr>
                                    </p:animEffect>
                                  </p:childTnLst>
                                </p:cTn>
                              </p:par>
                            </p:childTnLst>
                          </p:cTn>
                        </p:par>
                        <p:par>
                          <p:cTn id="18" fill="hold">
                            <p:stCondLst>
                              <p:cond delay="1000"/>
                            </p:stCondLst>
                            <p:childTnLst>
                              <p:par>
                                <p:cTn id="19" presetID="4" presetClass="entr" presetSubtype="16" fill="hold" grpId="0" nodeType="afterEffect">
                                  <p:stCondLst>
                                    <p:cond delay="0"/>
                                  </p:stCondLst>
                                  <p:childTnLst>
                                    <p:set>
                                      <p:cBhvr>
                                        <p:cTn id="20" dur="1" fill="hold">
                                          <p:stCondLst>
                                            <p:cond delay="0"/>
                                          </p:stCondLst>
                                        </p:cTn>
                                        <p:tgtEl>
                                          <p:spTgt spid="14"/>
                                        </p:tgtEl>
                                        <p:attrNameLst>
                                          <p:attrName>style.visibility</p:attrName>
                                        </p:attrNameLst>
                                      </p:cBhvr>
                                      <p:to>
                                        <p:strVal val="visible"/>
                                      </p:to>
                                    </p:set>
                                    <p:animEffect transition="in" filter="box(in)">
                                      <p:cBhvr>
                                        <p:cTn id="21" dur="500"/>
                                        <p:tgtEl>
                                          <p:spTgt spid="14"/>
                                        </p:tgtEl>
                                      </p:cBhvr>
                                    </p:animEffect>
                                  </p:childTnLst>
                                </p:cTn>
                              </p:par>
                              <p:par>
                                <p:cTn id="22" presetID="4" presetClass="entr" presetSubtype="16" fill="hold" grpId="0" nodeType="withEffect">
                                  <p:stCondLst>
                                    <p:cond delay="0"/>
                                  </p:stCondLst>
                                  <p:childTnLst>
                                    <p:set>
                                      <p:cBhvr>
                                        <p:cTn id="23" dur="1" fill="hold">
                                          <p:stCondLst>
                                            <p:cond delay="0"/>
                                          </p:stCondLst>
                                        </p:cTn>
                                        <p:tgtEl>
                                          <p:spTgt spid="15"/>
                                        </p:tgtEl>
                                        <p:attrNameLst>
                                          <p:attrName>style.visibility</p:attrName>
                                        </p:attrNameLst>
                                      </p:cBhvr>
                                      <p:to>
                                        <p:strVal val="visible"/>
                                      </p:to>
                                    </p:set>
                                    <p:animEffect transition="in" filter="box(in)">
                                      <p:cBhvr>
                                        <p:cTn id="24" dur="500"/>
                                        <p:tgtEl>
                                          <p:spTgt spid="15"/>
                                        </p:tgtEl>
                                      </p:cBhvr>
                                    </p:animEffect>
                                  </p:childTnLst>
                                </p:cTn>
                              </p:par>
                            </p:childTnLst>
                          </p:cTn>
                        </p:par>
                        <p:par>
                          <p:cTn id="25" fill="hold">
                            <p:stCondLst>
                              <p:cond delay="1500"/>
                            </p:stCondLst>
                            <p:childTnLst>
                              <p:par>
                                <p:cTn id="26" presetID="4" presetClass="entr" presetSubtype="16" fill="hold" grpId="0" nodeType="afterEffect">
                                  <p:stCondLst>
                                    <p:cond delay="0"/>
                                  </p:stCondLst>
                                  <p:childTnLst>
                                    <p:set>
                                      <p:cBhvr>
                                        <p:cTn id="27" dur="1" fill="hold">
                                          <p:stCondLst>
                                            <p:cond delay="0"/>
                                          </p:stCondLst>
                                        </p:cTn>
                                        <p:tgtEl>
                                          <p:spTgt spid="16"/>
                                        </p:tgtEl>
                                        <p:attrNameLst>
                                          <p:attrName>style.visibility</p:attrName>
                                        </p:attrNameLst>
                                      </p:cBhvr>
                                      <p:to>
                                        <p:strVal val="visible"/>
                                      </p:to>
                                    </p:set>
                                    <p:animEffect transition="in" filter="box(in)">
                                      <p:cBhvr>
                                        <p:cTn id="28" dur="500"/>
                                        <p:tgtEl>
                                          <p:spTgt spid="16"/>
                                        </p:tgtEl>
                                      </p:cBhvr>
                                    </p:animEffect>
                                  </p:childTnLst>
                                </p:cTn>
                              </p:par>
                              <p:par>
                                <p:cTn id="29" presetID="4" presetClass="entr" presetSubtype="16" fill="hold" grpId="0" nodeType="withEffect">
                                  <p:stCondLst>
                                    <p:cond delay="0"/>
                                  </p:stCondLst>
                                  <p:childTnLst>
                                    <p:set>
                                      <p:cBhvr>
                                        <p:cTn id="30" dur="1" fill="hold">
                                          <p:stCondLst>
                                            <p:cond delay="0"/>
                                          </p:stCondLst>
                                        </p:cTn>
                                        <p:tgtEl>
                                          <p:spTgt spid="17"/>
                                        </p:tgtEl>
                                        <p:attrNameLst>
                                          <p:attrName>style.visibility</p:attrName>
                                        </p:attrNameLst>
                                      </p:cBhvr>
                                      <p:to>
                                        <p:strVal val="visible"/>
                                      </p:to>
                                    </p:set>
                                    <p:animEffect transition="in" filter="box(in)">
                                      <p:cBhvr>
                                        <p:cTn id="31" dur="500"/>
                                        <p:tgtEl>
                                          <p:spTgt spid="17"/>
                                        </p:tgtEl>
                                      </p:cBhvr>
                                    </p:animEffect>
                                  </p:childTnLst>
                                </p:cTn>
                              </p:par>
                            </p:childTnLst>
                          </p:cTn>
                        </p:par>
                        <p:par>
                          <p:cTn id="32" fill="hold">
                            <p:stCondLst>
                              <p:cond delay="2000"/>
                            </p:stCondLst>
                            <p:childTnLst>
                              <p:par>
                                <p:cTn id="33" presetID="4" presetClass="entr" presetSubtype="16" fill="hold" grpId="0" nodeType="afterEffect">
                                  <p:stCondLst>
                                    <p:cond delay="0"/>
                                  </p:stCondLst>
                                  <p:childTnLst>
                                    <p:set>
                                      <p:cBhvr>
                                        <p:cTn id="34" dur="1" fill="hold">
                                          <p:stCondLst>
                                            <p:cond delay="0"/>
                                          </p:stCondLst>
                                        </p:cTn>
                                        <p:tgtEl>
                                          <p:spTgt spid="18"/>
                                        </p:tgtEl>
                                        <p:attrNameLst>
                                          <p:attrName>style.visibility</p:attrName>
                                        </p:attrNameLst>
                                      </p:cBhvr>
                                      <p:to>
                                        <p:strVal val="visible"/>
                                      </p:to>
                                    </p:set>
                                    <p:animEffect transition="in" filter="box(in)">
                                      <p:cBhvr>
                                        <p:cTn id="35" dur="500"/>
                                        <p:tgtEl>
                                          <p:spTgt spid="18"/>
                                        </p:tgtEl>
                                      </p:cBhvr>
                                    </p:animEffect>
                                  </p:childTnLst>
                                </p:cTn>
                              </p:par>
                              <p:par>
                                <p:cTn id="36" presetID="4" presetClass="entr" presetSubtype="16" fill="hold" grpId="0" nodeType="withEffect">
                                  <p:stCondLst>
                                    <p:cond delay="0"/>
                                  </p:stCondLst>
                                  <p:childTnLst>
                                    <p:set>
                                      <p:cBhvr>
                                        <p:cTn id="37" dur="1" fill="hold">
                                          <p:stCondLst>
                                            <p:cond delay="0"/>
                                          </p:stCondLst>
                                        </p:cTn>
                                        <p:tgtEl>
                                          <p:spTgt spid="19"/>
                                        </p:tgtEl>
                                        <p:attrNameLst>
                                          <p:attrName>style.visibility</p:attrName>
                                        </p:attrNameLst>
                                      </p:cBhvr>
                                      <p:to>
                                        <p:strVal val="visible"/>
                                      </p:to>
                                    </p:set>
                                    <p:animEffect transition="in" filter="box(in)">
                                      <p:cBhvr>
                                        <p:cTn id="38" dur="500"/>
                                        <p:tgtEl>
                                          <p:spTgt spid="19"/>
                                        </p:tgtEl>
                                      </p:cBhvr>
                                    </p:animEffect>
                                  </p:childTnLst>
                                </p:cTn>
                              </p:par>
                              <p:par>
                                <p:cTn id="39" presetID="4" presetClass="entr" presetSubtype="16" fill="hold" grpId="0" nodeType="withEffect">
                                  <p:stCondLst>
                                    <p:cond delay="0"/>
                                  </p:stCondLst>
                                  <p:childTnLst>
                                    <p:set>
                                      <p:cBhvr>
                                        <p:cTn id="40" dur="1" fill="hold">
                                          <p:stCondLst>
                                            <p:cond delay="0"/>
                                          </p:stCondLst>
                                        </p:cTn>
                                        <p:tgtEl>
                                          <p:spTgt spid="20"/>
                                        </p:tgtEl>
                                        <p:attrNameLst>
                                          <p:attrName>style.visibility</p:attrName>
                                        </p:attrNameLst>
                                      </p:cBhvr>
                                      <p:to>
                                        <p:strVal val="visible"/>
                                      </p:to>
                                    </p:set>
                                    <p:animEffect transition="in" filter="box(in)">
                                      <p:cBhvr>
                                        <p:cTn id="41" dur="500"/>
                                        <p:tgtEl>
                                          <p:spTgt spid="20"/>
                                        </p:tgtEl>
                                      </p:cBhvr>
                                    </p:animEffect>
                                  </p:childTnLst>
                                </p:cTn>
                              </p:par>
                              <p:par>
                                <p:cTn id="42" presetID="4" presetClass="entr" presetSubtype="16" fill="hold" grpId="0" nodeType="withEffect">
                                  <p:stCondLst>
                                    <p:cond delay="0"/>
                                  </p:stCondLst>
                                  <p:childTnLst>
                                    <p:set>
                                      <p:cBhvr>
                                        <p:cTn id="43" dur="1" fill="hold">
                                          <p:stCondLst>
                                            <p:cond delay="0"/>
                                          </p:stCondLst>
                                        </p:cTn>
                                        <p:tgtEl>
                                          <p:spTgt spid="21"/>
                                        </p:tgtEl>
                                        <p:attrNameLst>
                                          <p:attrName>style.visibility</p:attrName>
                                        </p:attrNameLst>
                                      </p:cBhvr>
                                      <p:to>
                                        <p:strVal val="visible"/>
                                      </p:to>
                                    </p:set>
                                    <p:animEffect transition="in" filter="box(in)">
                                      <p:cBhvr>
                                        <p:cTn id="44" dur="500"/>
                                        <p:tgtEl>
                                          <p:spTgt spid="21"/>
                                        </p:tgtEl>
                                      </p:cBhvr>
                                    </p:animEffect>
                                  </p:childTnLst>
                                </p:cTn>
                              </p:par>
                              <p:par>
                                <p:cTn id="45" presetID="4" presetClass="entr" presetSubtype="16" fill="hold" grpId="0" nodeType="withEffect">
                                  <p:stCondLst>
                                    <p:cond delay="0"/>
                                  </p:stCondLst>
                                  <p:childTnLst>
                                    <p:set>
                                      <p:cBhvr>
                                        <p:cTn id="46" dur="1" fill="hold">
                                          <p:stCondLst>
                                            <p:cond delay="0"/>
                                          </p:stCondLst>
                                        </p:cTn>
                                        <p:tgtEl>
                                          <p:spTgt spid="22"/>
                                        </p:tgtEl>
                                        <p:attrNameLst>
                                          <p:attrName>style.visibility</p:attrName>
                                        </p:attrNameLst>
                                      </p:cBhvr>
                                      <p:to>
                                        <p:strVal val="visible"/>
                                      </p:to>
                                    </p:set>
                                    <p:animEffect transition="in" filter="box(in)">
                                      <p:cBhvr>
                                        <p:cTn id="47" dur="500"/>
                                        <p:tgtEl>
                                          <p:spTgt spid="22"/>
                                        </p:tgtEl>
                                      </p:cBhvr>
                                    </p:animEffect>
                                  </p:childTnLst>
                                </p:cTn>
                              </p:par>
                            </p:childTnLst>
                          </p:cTn>
                        </p:par>
                        <p:par>
                          <p:cTn id="48" fill="hold">
                            <p:stCondLst>
                              <p:cond delay="2500"/>
                            </p:stCondLst>
                            <p:childTnLst>
                              <p:par>
                                <p:cTn id="49" presetID="4" presetClass="entr" presetSubtype="16" fill="hold" grpId="0" nodeType="afterEffect">
                                  <p:stCondLst>
                                    <p:cond delay="0"/>
                                  </p:stCondLst>
                                  <p:childTnLst>
                                    <p:set>
                                      <p:cBhvr>
                                        <p:cTn id="50" dur="1" fill="hold">
                                          <p:stCondLst>
                                            <p:cond delay="0"/>
                                          </p:stCondLst>
                                        </p:cTn>
                                        <p:tgtEl>
                                          <p:spTgt spid="23"/>
                                        </p:tgtEl>
                                        <p:attrNameLst>
                                          <p:attrName>style.visibility</p:attrName>
                                        </p:attrNameLst>
                                      </p:cBhvr>
                                      <p:to>
                                        <p:strVal val="visible"/>
                                      </p:to>
                                    </p:set>
                                    <p:animEffect transition="in" filter="box(in)">
                                      <p:cBhvr>
                                        <p:cTn id="51" dur="500"/>
                                        <p:tgtEl>
                                          <p:spTgt spid="23"/>
                                        </p:tgtEl>
                                      </p:cBhvr>
                                    </p:animEffect>
                                  </p:childTnLst>
                                </p:cTn>
                              </p:par>
                              <p:par>
                                <p:cTn id="52" presetID="4" presetClass="entr" presetSubtype="16" fill="hold" grpId="0" nodeType="withEffect">
                                  <p:stCondLst>
                                    <p:cond delay="0"/>
                                  </p:stCondLst>
                                  <p:childTnLst>
                                    <p:set>
                                      <p:cBhvr>
                                        <p:cTn id="53" dur="1" fill="hold">
                                          <p:stCondLst>
                                            <p:cond delay="0"/>
                                          </p:stCondLst>
                                        </p:cTn>
                                        <p:tgtEl>
                                          <p:spTgt spid="24"/>
                                        </p:tgtEl>
                                        <p:attrNameLst>
                                          <p:attrName>style.visibility</p:attrName>
                                        </p:attrNameLst>
                                      </p:cBhvr>
                                      <p:to>
                                        <p:strVal val="visible"/>
                                      </p:to>
                                    </p:set>
                                    <p:animEffect transition="in" filter="box(in)">
                                      <p:cBhvr>
                                        <p:cTn id="54" dur="500"/>
                                        <p:tgtEl>
                                          <p:spTgt spid="24"/>
                                        </p:tgtEl>
                                      </p:cBhvr>
                                    </p:animEffect>
                                  </p:childTnLst>
                                </p:cTn>
                              </p:par>
                              <p:par>
                                <p:cTn id="55" presetID="4" presetClass="entr" presetSubtype="16" fill="hold" grpId="0" nodeType="withEffect">
                                  <p:stCondLst>
                                    <p:cond delay="0"/>
                                  </p:stCondLst>
                                  <p:childTnLst>
                                    <p:set>
                                      <p:cBhvr>
                                        <p:cTn id="56" dur="1" fill="hold">
                                          <p:stCondLst>
                                            <p:cond delay="0"/>
                                          </p:stCondLst>
                                        </p:cTn>
                                        <p:tgtEl>
                                          <p:spTgt spid="25"/>
                                        </p:tgtEl>
                                        <p:attrNameLst>
                                          <p:attrName>style.visibility</p:attrName>
                                        </p:attrNameLst>
                                      </p:cBhvr>
                                      <p:to>
                                        <p:strVal val="visible"/>
                                      </p:to>
                                    </p:set>
                                    <p:animEffect transition="in" filter="box(in)">
                                      <p:cBhvr>
                                        <p:cTn id="57" dur="500"/>
                                        <p:tgtEl>
                                          <p:spTgt spid="25"/>
                                        </p:tgtEl>
                                      </p:cBhvr>
                                    </p:animEffect>
                                  </p:childTnLst>
                                </p:cTn>
                              </p:par>
                            </p:childTnLst>
                          </p:cTn>
                        </p:par>
                        <p:par>
                          <p:cTn id="58" fill="hold">
                            <p:stCondLst>
                              <p:cond delay="3000"/>
                            </p:stCondLst>
                            <p:childTnLst>
                              <p:par>
                                <p:cTn id="59" presetID="4" presetClass="entr" presetSubtype="16" fill="hold" grpId="0" nodeType="afterEffect">
                                  <p:stCondLst>
                                    <p:cond delay="0"/>
                                  </p:stCondLst>
                                  <p:childTnLst>
                                    <p:set>
                                      <p:cBhvr>
                                        <p:cTn id="60" dur="1" fill="hold">
                                          <p:stCondLst>
                                            <p:cond delay="0"/>
                                          </p:stCondLst>
                                        </p:cTn>
                                        <p:tgtEl>
                                          <p:spTgt spid="26"/>
                                        </p:tgtEl>
                                        <p:attrNameLst>
                                          <p:attrName>style.visibility</p:attrName>
                                        </p:attrNameLst>
                                      </p:cBhvr>
                                      <p:to>
                                        <p:strVal val="visible"/>
                                      </p:to>
                                    </p:set>
                                    <p:animEffect transition="in" filter="box(in)">
                                      <p:cBhvr>
                                        <p:cTn id="61" dur="500"/>
                                        <p:tgtEl>
                                          <p:spTgt spid="26"/>
                                        </p:tgtEl>
                                      </p:cBhvr>
                                    </p:animEffect>
                                  </p:childTnLst>
                                </p:cTn>
                              </p:par>
                            </p:childTnLst>
                          </p:cTn>
                        </p:par>
                        <p:par>
                          <p:cTn id="62" fill="hold">
                            <p:stCondLst>
                              <p:cond delay="3500"/>
                            </p:stCondLst>
                            <p:childTnLst>
                              <p:par>
                                <p:cTn id="63" presetID="4" presetClass="entr" presetSubtype="16" fill="hold" grpId="0" nodeType="afterEffect">
                                  <p:stCondLst>
                                    <p:cond delay="0"/>
                                  </p:stCondLst>
                                  <p:childTnLst>
                                    <p:set>
                                      <p:cBhvr>
                                        <p:cTn id="64" dur="1" fill="hold">
                                          <p:stCondLst>
                                            <p:cond delay="0"/>
                                          </p:stCondLst>
                                        </p:cTn>
                                        <p:tgtEl>
                                          <p:spTgt spid="27"/>
                                        </p:tgtEl>
                                        <p:attrNameLst>
                                          <p:attrName>style.visibility</p:attrName>
                                        </p:attrNameLst>
                                      </p:cBhvr>
                                      <p:to>
                                        <p:strVal val="visible"/>
                                      </p:to>
                                    </p:set>
                                    <p:animEffect transition="in" filter="box(in)">
                                      <p:cBhvr>
                                        <p:cTn id="65" dur="500"/>
                                        <p:tgtEl>
                                          <p:spTgt spid="27"/>
                                        </p:tgtEl>
                                      </p:cBhvr>
                                    </p:animEffect>
                                  </p:childTnLst>
                                </p:cTn>
                              </p:par>
                              <p:par>
                                <p:cTn id="66" presetID="4" presetClass="entr" presetSubtype="16" fill="hold" grpId="0" nodeType="withEffect">
                                  <p:stCondLst>
                                    <p:cond delay="0"/>
                                  </p:stCondLst>
                                  <p:childTnLst>
                                    <p:set>
                                      <p:cBhvr>
                                        <p:cTn id="67" dur="1" fill="hold">
                                          <p:stCondLst>
                                            <p:cond delay="0"/>
                                          </p:stCondLst>
                                        </p:cTn>
                                        <p:tgtEl>
                                          <p:spTgt spid="28"/>
                                        </p:tgtEl>
                                        <p:attrNameLst>
                                          <p:attrName>style.visibility</p:attrName>
                                        </p:attrNameLst>
                                      </p:cBhvr>
                                      <p:to>
                                        <p:strVal val="visible"/>
                                      </p:to>
                                    </p:set>
                                    <p:animEffect transition="in" filter="box(in)">
                                      <p:cBhvr>
                                        <p:cTn id="68" dur="500"/>
                                        <p:tgtEl>
                                          <p:spTgt spid="28"/>
                                        </p:tgtEl>
                                      </p:cBhvr>
                                    </p:animEffect>
                                  </p:childTnLst>
                                </p:cTn>
                              </p:par>
                              <p:par>
                                <p:cTn id="69" presetID="4" presetClass="entr" presetSubtype="16" fill="hold" grpId="0" nodeType="withEffect">
                                  <p:stCondLst>
                                    <p:cond delay="0"/>
                                  </p:stCondLst>
                                  <p:childTnLst>
                                    <p:set>
                                      <p:cBhvr>
                                        <p:cTn id="70" dur="1" fill="hold">
                                          <p:stCondLst>
                                            <p:cond delay="0"/>
                                          </p:stCondLst>
                                        </p:cTn>
                                        <p:tgtEl>
                                          <p:spTgt spid="29"/>
                                        </p:tgtEl>
                                        <p:attrNameLst>
                                          <p:attrName>style.visibility</p:attrName>
                                        </p:attrNameLst>
                                      </p:cBhvr>
                                      <p:to>
                                        <p:strVal val="visible"/>
                                      </p:to>
                                    </p:set>
                                    <p:animEffect transition="in" filter="box(in)">
                                      <p:cBhvr>
                                        <p:cTn id="71" dur="500"/>
                                        <p:tgtEl>
                                          <p:spTgt spid="29"/>
                                        </p:tgtEl>
                                      </p:cBhvr>
                                    </p:animEffect>
                                  </p:childTnLst>
                                </p:cTn>
                              </p:par>
                              <p:par>
                                <p:cTn id="72" presetID="4" presetClass="entr" presetSubtype="16" fill="hold" grpId="0" nodeType="withEffect">
                                  <p:stCondLst>
                                    <p:cond delay="0"/>
                                  </p:stCondLst>
                                  <p:childTnLst>
                                    <p:set>
                                      <p:cBhvr>
                                        <p:cTn id="73" dur="1" fill="hold">
                                          <p:stCondLst>
                                            <p:cond delay="0"/>
                                          </p:stCondLst>
                                        </p:cTn>
                                        <p:tgtEl>
                                          <p:spTgt spid="30"/>
                                        </p:tgtEl>
                                        <p:attrNameLst>
                                          <p:attrName>style.visibility</p:attrName>
                                        </p:attrNameLst>
                                      </p:cBhvr>
                                      <p:to>
                                        <p:strVal val="visible"/>
                                      </p:to>
                                    </p:set>
                                    <p:animEffect transition="in" filter="box(in)">
                                      <p:cBhvr>
                                        <p:cTn id="74" dur="500"/>
                                        <p:tgtEl>
                                          <p:spTgt spid="30"/>
                                        </p:tgtEl>
                                      </p:cBhvr>
                                    </p:animEffect>
                                  </p:childTnLst>
                                </p:cTn>
                              </p:par>
                            </p:childTnLst>
                          </p:cTn>
                        </p:par>
                        <p:par>
                          <p:cTn id="75" fill="hold">
                            <p:stCondLst>
                              <p:cond delay="4000"/>
                            </p:stCondLst>
                            <p:childTnLst>
                              <p:par>
                                <p:cTn id="76" presetID="4" presetClass="entr" presetSubtype="16" fill="hold" grpId="0" nodeType="afterEffect">
                                  <p:stCondLst>
                                    <p:cond delay="0"/>
                                  </p:stCondLst>
                                  <p:childTnLst>
                                    <p:set>
                                      <p:cBhvr>
                                        <p:cTn id="77" dur="1" fill="hold">
                                          <p:stCondLst>
                                            <p:cond delay="0"/>
                                          </p:stCondLst>
                                        </p:cTn>
                                        <p:tgtEl>
                                          <p:spTgt spid="31"/>
                                        </p:tgtEl>
                                        <p:attrNameLst>
                                          <p:attrName>style.visibility</p:attrName>
                                        </p:attrNameLst>
                                      </p:cBhvr>
                                      <p:to>
                                        <p:strVal val="visible"/>
                                      </p:to>
                                    </p:set>
                                    <p:animEffect transition="in" filter="box(in)">
                                      <p:cBhvr>
                                        <p:cTn id="78" dur="500"/>
                                        <p:tgtEl>
                                          <p:spTgt spid="31"/>
                                        </p:tgtEl>
                                      </p:cBhvr>
                                    </p:animEffect>
                                  </p:childTnLst>
                                </p:cTn>
                              </p:par>
                            </p:childTnLst>
                          </p:cTn>
                        </p:par>
                        <p:par>
                          <p:cTn id="79" fill="hold">
                            <p:stCondLst>
                              <p:cond delay="4500"/>
                            </p:stCondLst>
                            <p:childTnLst>
                              <p:par>
                                <p:cTn id="80" presetID="4" presetClass="entr" presetSubtype="16" fill="hold" grpId="0" nodeType="afterEffect">
                                  <p:stCondLst>
                                    <p:cond delay="0"/>
                                  </p:stCondLst>
                                  <p:childTnLst>
                                    <p:set>
                                      <p:cBhvr>
                                        <p:cTn id="81" dur="1" fill="hold">
                                          <p:stCondLst>
                                            <p:cond delay="0"/>
                                          </p:stCondLst>
                                        </p:cTn>
                                        <p:tgtEl>
                                          <p:spTgt spid="32"/>
                                        </p:tgtEl>
                                        <p:attrNameLst>
                                          <p:attrName>style.visibility</p:attrName>
                                        </p:attrNameLst>
                                      </p:cBhvr>
                                      <p:to>
                                        <p:strVal val="visible"/>
                                      </p:to>
                                    </p:set>
                                    <p:animEffect transition="in" filter="box(in)">
                                      <p:cBhvr>
                                        <p:cTn id="82" dur="500"/>
                                        <p:tgtEl>
                                          <p:spTgt spid="32"/>
                                        </p:tgtEl>
                                      </p:cBhvr>
                                    </p:animEffect>
                                  </p:childTnLst>
                                </p:cTn>
                              </p:par>
                              <p:par>
                                <p:cTn id="83" presetID="4" presetClass="entr" presetSubtype="16" fill="hold" grpId="0" nodeType="withEffect">
                                  <p:stCondLst>
                                    <p:cond delay="0"/>
                                  </p:stCondLst>
                                  <p:childTnLst>
                                    <p:set>
                                      <p:cBhvr>
                                        <p:cTn id="84" dur="1" fill="hold">
                                          <p:stCondLst>
                                            <p:cond delay="0"/>
                                          </p:stCondLst>
                                        </p:cTn>
                                        <p:tgtEl>
                                          <p:spTgt spid="33"/>
                                        </p:tgtEl>
                                        <p:attrNameLst>
                                          <p:attrName>style.visibility</p:attrName>
                                        </p:attrNameLst>
                                      </p:cBhvr>
                                      <p:to>
                                        <p:strVal val="visible"/>
                                      </p:to>
                                    </p:set>
                                    <p:animEffect transition="in" filter="box(in)">
                                      <p:cBhvr>
                                        <p:cTn id="85" dur="500"/>
                                        <p:tgtEl>
                                          <p:spTgt spid="33"/>
                                        </p:tgtEl>
                                      </p:cBhvr>
                                    </p:animEffect>
                                  </p:childTnLst>
                                </p:cTn>
                              </p:par>
                              <p:par>
                                <p:cTn id="86" presetID="4" presetClass="entr" presetSubtype="16" fill="hold" grpId="0" nodeType="withEffect">
                                  <p:stCondLst>
                                    <p:cond delay="0"/>
                                  </p:stCondLst>
                                  <p:childTnLst>
                                    <p:set>
                                      <p:cBhvr>
                                        <p:cTn id="87" dur="1" fill="hold">
                                          <p:stCondLst>
                                            <p:cond delay="0"/>
                                          </p:stCondLst>
                                        </p:cTn>
                                        <p:tgtEl>
                                          <p:spTgt spid="34"/>
                                        </p:tgtEl>
                                        <p:attrNameLst>
                                          <p:attrName>style.visibility</p:attrName>
                                        </p:attrNameLst>
                                      </p:cBhvr>
                                      <p:to>
                                        <p:strVal val="visible"/>
                                      </p:to>
                                    </p:set>
                                    <p:animEffect transition="in" filter="box(in)">
                                      <p:cBhvr>
                                        <p:cTn id="88" dur="500"/>
                                        <p:tgtEl>
                                          <p:spTgt spid="34"/>
                                        </p:tgtEl>
                                      </p:cBhvr>
                                    </p:animEffect>
                                  </p:childTnLst>
                                </p:cTn>
                              </p:par>
                            </p:childTnLst>
                          </p:cTn>
                        </p:par>
                        <p:par>
                          <p:cTn id="89" fill="hold">
                            <p:stCondLst>
                              <p:cond delay="5000"/>
                            </p:stCondLst>
                            <p:childTnLst>
                              <p:par>
                                <p:cTn id="90" presetID="4" presetClass="entr" presetSubtype="16" fill="hold" grpId="0" nodeType="afterEffect">
                                  <p:stCondLst>
                                    <p:cond delay="0"/>
                                  </p:stCondLst>
                                  <p:childTnLst>
                                    <p:set>
                                      <p:cBhvr>
                                        <p:cTn id="91" dur="1" fill="hold">
                                          <p:stCondLst>
                                            <p:cond delay="0"/>
                                          </p:stCondLst>
                                        </p:cTn>
                                        <p:tgtEl>
                                          <p:spTgt spid="35"/>
                                        </p:tgtEl>
                                        <p:attrNameLst>
                                          <p:attrName>style.visibility</p:attrName>
                                        </p:attrNameLst>
                                      </p:cBhvr>
                                      <p:to>
                                        <p:strVal val="visible"/>
                                      </p:to>
                                    </p:set>
                                    <p:animEffect transition="in" filter="box(in)">
                                      <p:cBhvr>
                                        <p:cTn id="92" dur="500"/>
                                        <p:tgtEl>
                                          <p:spTgt spid="35"/>
                                        </p:tgtEl>
                                      </p:cBhvr>
                                    </p:animEffect>
                                  </p:childTnLst>
                                </p:cTn>
                              </p:par>
                              <p:par>
                                <p:cTn id="93" presetID="4" presetClass="entr" presetSubtype="16" fill="hold" grpId="0" nodeType="withEffect">
                                  <p:stCondLst>
                                    <p:cond delay="0"/>
                                  </p:stCondLst>
                                  <p:childTnLst>
                                    <p:set>
                                      <p:cBhvr>
                                        <p:cTn id="94" dur="1" fill="hold">
                                          <p:stCondLst>
                                            <p:cond delay="0"/>
                                          </p:stCondLst>
                                        </p:cTn>
                                        <p:tgtEl>
                                          <p:spTgt spid="36"/>
                                        </p:tgtEl>
                                        <p:attrNameLst>
                                          <p:attrName>style.visibility</p:attrName>
                                        </p:attrNameLst>
                                      </p:cBhvr>
                                      <p:to>
                                        <p:strVal val="visible"/>
                                      </p:to>
                                    </p:set>
                                    <p:animEffect transition="in" filter="box(in)">
                                      <p:cBhvr>
                                        <p:cTn id="95" dur="500"/>
                                        <p:tgtEl>
                                          <p:spTgt spid="36"/>
                                        </p:tgtEl>
                                      </p:cBhvr>
                                    </p:animEffect>
                                  </p:childTnLst>
                                </p:cTn>
                              </p:par>
                            </p:childTnLst>
                          </p:cTn>
                        </p:par>
                        <p:par>
                          <p:cTn id="96" fill="hold">
                            <p:stCondLst>
                              <p:cond delay="5500"/>
                            </p:stCondLst>
                            <p:childTnLst>
                              <p:par>
                                <p:cTn id="97" presetID="4" presetClass="entr" presetSubtype="16" fill="hold" grpId="0" nodeType="afterEffect">
                                  <p:stCondLst>
                                    <p:cond delay="0"/>
                                  </p:stCondLst>
                                  <p:childTnLst>
                                    <p:set>
                                      <p:cBhvr>
                                        <p:cTn id="98" dur="1" fill="hold">
                                          <p:stCondLst>
                                            <p:cond delay="0"/>
                                          </p:stCondLst>
                                        </p:cTn>
                                        <p:tgtEl>
                                          <p:spTgt spid="37"/>
                                        </p:tgtEl>
                                        <p:attrNameLst>
                                          <p:attrName>style.visibility</p:attrName>
                                        </p:attrNameLst>
                                      </p:cBhvr>
                                      <p:to>
                                        <p:strVal val="visible"/>
                                      </p:to>
                                    </p:set>
                                    <p:animEffect transition="in" filter="box(in)">
                                      <p:cBhvr>
                                        <p:cTn id="99" dur="500"/>
                                        <p:tgtEl>
                                          <p:spTgt spid="37"/>
                                        </p:tgtEl>
                                      </p:cBhvr>
                                    </p:animEffect>
                                  </p:childTnLst>
                                </p:cTn>
                              </p:par>
                              <p:par>
                                <p:cTn id="100" presetID="4" presetClass="entr" presetSubtype="16" fill="hold" grpId="0" nodeType="withEffect">
                                  <p:stCondLst>
                                    <p:cond delay="0"/>
                                  </p:stCondLst>
                                  <p:childTnLst>
                                    <p:set>
                                      <p:cBhvr>
                                        <p:cTn id="101" dur="1" fill="hold">
                                          <p:stCondLst>
                                            <p:cond delay="0"/>
                                          </p:stCondLst>
                                        </p:cTn>
                                        <p:tgtEl>
                                          <p:spTgt spid="38"/>
                                        </p:tgtEl>
                                        <p:attrNameLst>
                                          <p:attrName>style.visibility</p:attrName>
                                        </p:attrNameLst>
                                      </p:cBhvr>
                                      <p:to>
                                        <p:strVal val="visible"/>
                                      </p:to>
                                    </p:set>
                                    <p:animEffect transition="in" filter="box(in)">
                                      <p:cBhvr>
                                        <p:cTn id="102" dur="500"/>
                                        <p:tgtEl>
                                          <p:spTgt spid="38"/>
                                        </p:tgtEl>
                                      </p:cBhvr>
                                    </p:animEffect>
                                  </p:childTnLst>
                                </p:cTn>
                              </p:par>
                              <p:par>
                                <p:cTn id="103" presetID="4" presetClass="entr" presetSubtype="16" fill="hold" grpId="0" nodeType="withEffect">
                                  <p:stCondLst>
                                    <p:cond delay="0"/>
                                  </p:stCondLst>
                                  <p:childTnLst>
                                    <p:set>
                                      <p:cBhvr>
                                        <p:cTn id="104" dur="1" fill="hold">
                                          <p:stCondLst>
                                            <p:cond delay="0"/>
                                          </p:stCondLst>
                                        </p:cTn>
                                        <p:tgtEl>
                                          <p:spTgt spid="39"/>
                                        </p:tgtEl>
                                        <p:attrNameLst>
                                          <p:attrName>style.visibility</p:attrName>
                                        </p:attrNameLst>
                                      </p:cBhvr>
                                      <p:to>
                                        <p:strVal val="visible"/>
                                      </p:to>
                                    </p:set>
                                    <p:animEffect transition="in" filter="box(in)">
                                      <p:cBhvr>
                                        <p:cTn id="105" dur="500"/>
                                        <p:tgtEl>
                                          <p:spTgt spid="39"/>
                                        </p:tgtEl>
                                      </p:cBhvr>
                                    </p:animEffect>
                                  </p:childTnLst>
                                </p:cTn>
                              </p:par>
                              <p:par>
                                <p:cTn id="106" presetID="4" presetClass="entr" presetSubtype="16" fill="hold" grpId="0" nodeType="withEffect">
                                  <p:stCondLst>
                                    <p:cond delay="0"/>
                                  </p:stCondLst>
                                  <p:childTnLst>
                                    <p:set>
                                      <p:cBhvr>
                                        <p:cTn id="107" dur="1" fill="hold">
                                          <p:stCondLst>
                                            <p:cond delay="0"/>
                                          </p:stCondLst>
                                        </p:cTn>
                                        <p:tgtEl>
                                          <p:spTgt spid="40"/>
                                        </p:tgtEl>
                                        <p:attrNameLst>
                                          <p:attrName>style.visibility</p:attrName>
                                        </p:attrNameLst>
                                      </p:cBhvr>
                                      <p:to>
                                        <p:strVal val="visible"/>
                                      </p:to>
                                    </p:set>
                                    <p:animEffect transition="in" filter="box(in)">
                                      <p:cBhvr>
                                        <p:cTn id="108" dur="500"/>
                                        <p:tgtEl>
                                          <p:spTgt spid="40"/>
                                        </p:tgtEl>
                                      </p:cBhvr>
                                    </p:animEffect>
                                  </p:childTnLst>
                                </p:cTn>
                              </p:par>
                            </p:childTnLst>
                          </p:cTn>
                        </p:par>
                        <p:par>
                          <p:cTn id="109" fill="hold">
                            <p:stCondLst>
                              <p:cond delay="6000"/>
                            </p:stCondLst>
                            <p:childTnLst>
                              <p:par>
                                <p:cTn id="110" presetID="4" presetClass="entr" presetSubtype="16" fill="hold" grpId="0" nodeType="afterEffect">
                                  <p:stCondLst>
                                    <p:cond delay="0"/>
                                  </p:stCondLst>
                                  <p:childTnLst>
                                    <p:set>
                                      <p:cBhvr>
                                        <p:cTn id="111" dur="1" fill="hold">
                                          <p:stCondLst>
                                            <p:cond delay="0"/>
                                          </p:stCondLst>
                                        </p:cTn>
                                        <p:tgtEl>
                                          <p:spTgt spid="41"/>
                                        </p:tgtEl>
                                        <p:attrNameLst>
                                          <p:attrName>style.visibility</p:attrName>
                                        </p:attrNameLst>
                                      </p:cBhvr>
                                      <p:to>
                                        <p:strVal val="visible"/>
                                      </p:to>
                                    </p:set>
                                    <p:animEffect transition="in" filter="box(in)">
                                      <p:cBhvr>
                                        <p:cTn id="112" dur="500"/>
                                        <p:tgtEl>
                                          <p:spTgt spid="41"/>
                                        </p:tgtEl>
                                      </p:cBhvr>
                                    </p:animEffect>
                                  </p:childTnLst>
                                </p:cTn>
                              </p:par>
                              <p:par>
                                <p:cTn id="113" presetID="4" presetClass="entr" presetSubtype="16" fill="hold" grpId="0" nodeType="withEffect">
                                  <p:stCondLst>
                                    <p:cond delay="0"/>
                                  </p:stCondLst>
                                  <p:childTnLst>
                                    <p:set>
                                      <p:cBhvr>
                                        <p:cTn id="114" dur="1" fill="hold">
                                          <p:stCondLst>
                                            <p:cond delay="0"/>
                                          </p:stCondLst>
                                        </p:cTn>
                                        <p:tgtEl>
                                          <p:spTgt spid="42"/>
                                        </p:tgtEl>
                                        <p:attrNameLst>
                                          <p:attrName>style.visibility</p:attrName>
                                        </p:attrNameLst>
                                      </p:cBhvr>
                                      <p:to>
                                        <p:strVal val="visible"/>
                                      </p:to>
                                    </p:set>
                                    <p:animEffect transition="in" filter="box(in)">
                                      <p:cBhvr>
                                        <p:cTn id="115" dur="500"/>
                                        <p:tgtEl>
                                          <p:spTgt spid="42"/>
                                        </p:tgtEl>
                                      </p:cBhvr>
                                    </p:animEffect>
                                  </p:childTnLst>
                                </p:cTn>
                              </p:par>
                            </p:childTnLst>
                          </p:cTn>
                        </p:par>
                        <p:par>
                          <p:cTn id="116" fill="hold">
                            <p:stCondLst>
                              <p:cond delay="6500"/>
                            </p:stCondLst>
                            <p:childTnLst>
                              <p:par>
                                <p:cTn id="117" presetID="4" presetClass="entr" presetSubtype="16" fill="hold" grpId="0" nodeType="afterEffect">
                                  <p:stCondLst>
                                    <p:cond delay="0"/>
                                  </p:stCondLst>
                                  <p:childTnLst>
                                    <p:set>
                                      <p:cBhvr>
                                        <p:cTn id="118" dur="1" fill="hold">
                                          <p:stCondLst>
                                            <p:cond delay="0"/>
                                          </p:stCondLst>
                                        </p:cTn>
                                        <p:tgtEl>
                                          <p:spTgt spid="43"/>
                                        </p:tgtEl>
                                        <p:attrNameLst>
                                          <p:attrName>style.visibility</p:attrName>
                                        </p:attrNameLst>
                                      </p:cBhvr>
                                      <p:to>
                                        <p:strVal val="visible"/>
                                      </p:to>
                                    </p:set>
                                    <p:animEffect transition="in" filter="box(in)">
                                      <p:cBhvr>
                                        <p:cTn id="119" dur="500"/>
                                        <p:tgtEl>
                                          <p:spTgt spid="43"/>
                                        </p:tgtEl>
                                      </p:cBhvr>
                                    </p:animEffect>
                                  </p:childTnLst>
                                </p:cTn>
                              </p:par>
                              <p:par>
                                <p:cTn id="120" presetID="4" presetClass="entr" presetSubtype="16" fill="hold" grpId="0" nodeType="withEffect">
                                  <p:stCondLst>
                                    <p:cond delay="0"/>
                                  </p:stCondLst>
                                  <p:childTnLst>
                                    <p:set>
                                      <p:cBhvr>
                                        <p:cTn id="121" dur="1" fill="hold">
                                          <p:stCondLst>
                                            <p:cond delay="0"/>
                                          </p:stCondLst>
                                        </p:cTn>
                                        <p:tgtEl>
                                          <p:spTgt spid="44"/>
                                        </p:tgtEl>
                                        <p:attrNameLst>
                                          <p:attrName>style.visibility</p:attrName>
                                        </p:attrNameLst>
                                      </p:cBhvr>
                                      <p:to>
                                        <p:strVal val="visible"/>
                                      </p:to>
                                    </p:set>
                                    <p:animEffect transition="in" filter="box(in)">
                                      <p:cBhvr>
                                        <p:cTn id="122" dur="500"/>
                                        <p:tgtEl>
                                          <p:spTgt spid="44"/>
                                        </p:tgtEl>
                                      </p:cBhvr>
                                    </p:animEffect>
                                  </p:childTnLst>
                                </p:cTn>
                              </p:par>
                            </p:childTnLst>
                          </p:cTn>
                        </p:par>
                        <p:par>
                          <p:cTn id="123" fill="hold">
                            <p:stCondLst>
                              <p:cond delay="7000"/>
                            </p:stCondLst>
                            <p:childTnLst>
                              <p:par>
                                <p:cTn id="124" presetID="4" presetClass="entr" presetSubtype="16" fill="hold" grpId="0" nodeType="afterEffect">
                                  <p:stCondLst>
                                    <p:cond delay="0"/>
                                  </p:stCondLst>
                                  <p:childTnLst>
                                    <p:set>
                                      <p:cBhvr>
                                        <p:cTn id="125" dur="1" fill="hold">
                                          <p:stCondLst>
                                            <p:cond delay="0"/>
                                          </p:stCondLst>
                                        </p:cTn>
                                        <p:tgtEl>
                                          <p:spTgt spid="45"/>
                                        </p:tgtEl>
                                        <p:attrNameLst>
                                          <p:attrName>style.visibility</p:attrName>
                                        </p:attrNameLst>
                                      </p:cBhvr>
                                      <p:to>
                                        <p:strVal val="visible"/>
                                      </p:to>
                                    </p:set>
                                    <p:animEffect transition="in" filter="box(in)">
                                      <p:cBhvr>
                                        <p:cTn id="126" dur="500"/>
                                        <p:tgtEl>
                                          <p:spTgt spid="45"/>
                                        </p:tgtEl>
                                      </p:cBhvr>
                                    </p:animEffect>
                                  </p:childTnLst>
                                </p:cTn>
                              </p:par>
                              <p:par>
                                <p:cTn id="127" presetID="4" presetClass="entr" presetSubtype="16" fill="hold" grpId="0" nodeType="withEffect">
                                  <p:stCondLst>
                                    <p:cond delay="0"/>
                                  </p:stCondLst>
                                  <p:childTnLst>
                                    <p:set>
                                      <p:cBhvr>
                                        <p:cTn id="128" dur="1" fill="hold">
                                          <p:stCondLst>
                                            <p:cond delay="0"/>
                                          </p:stCondLst>
                                        </p:cTn>
                                        <p:tgtEl>
                                          <p:spTgt spid="46"/>
                                        </p:tgtEl>
                                        <p:attrNameLst>
                                          <p:attrName>style.visibility</p:attrName>
                                        </p:attrNameLst>
                                      </p:cBhvr>
                                      <p:to>
                                        <p:strVal val="visible"/>
                                      </p:to>
                                    </p:set>
                                    <p:animEffect transition="in" filter="box(in)">
                                      <p:cBhvr>
                                        <p:cTn id="129" dur="500"/>
                                        <p:tgtEl>
                                          <p:spTgt spid="46"/>
                                        </p:tgtEl>
                                      </p:cBhvr>
                                    </p:animEffect>
                                  </p:childTnLst>
                                </p:cTn>
                              </p:par>
                            </p:childTnLst>
                          </p:cTn>
                        </p:par>
                        <p:par>
                          <p:cTn id="130" fill="hold">
                            <p:stCondLst>
                              <p:cond delay="7500"/>
                            </p:stCondLst>
                            <p:childTnLst>
                              <p:par>
                                <p:cTn id="131" presetID="4" presetClass="entr" presetSubtype="16" fill="hold" grpId="0" nodeType="afterEffect">
                                  <p:stCondLst>
                                    <p:cond delay="0"/>
                                  </p:stCondLst>
                                  <p:childTnLst>
                                    <p:set>
                                      <p:cBhvr>
                                        <p:cTn id="132" dur="1" fill="hold">
                                          <p:stCondLst>
                                            <p:cond delay="0"/>
                                          </p:stCondLst>
                                        </p:cTn>
                                        <p:tgtEl>
                                          <p:spTgt spid="47"/>
                                        </p:tgtEl>
                                        <p:attrNameLst>
                                          <p:attrName>style.visibility</p:attrName>
                                        </p:attrNameLst>
                                      </p:cBhvr>
                                      <p:to>
                                        <p:strVal val="visible"/>
                                      </p:to>
                                    </p:set>
                                    <p:animEffect transition="in" filter="box(in)">
                                      <p:cBhvr>
                                        <p:cTn id="133" dur="500"/>
                                        <p:tgtEl>
                                          <p:spTgt spid="47"/>
                                        </p:tgtEl>
                                      </p:cBhvr>
                                    </p:animEffect>
                                  </p:childTnLst>
                                </p:cTn>
                              </p:par>
                              <p:par>
                                <p:cTn id="134" presetID="4" presetClass="entr" presetSubtype="16" fill="hold" grpId="0" nodeType="withEffect">
                                  <p:stCondLst>
                                    <p:cond delay="0"/>
                                  </p:stCondLst>
                                  <p:childTnLst>
                                    <p:set>
                                      <p:cBhvr>
                                        <p:cTn id="135" dur="1" fill="hold">
                                          <p:stCondLst>
                                            <p:cond delay="0"/>
                                          </p:stCondLst>
                                        </p:cTn>
                                        <p:tgtEl>
                                          <p:spTgt spid="48"/>
                                        </p:tgtEl>
                                        <p:attrNameLst>
                                          <p:attrName>style.visibility</p:attrName>
                                        </p:attrNameLst>
                                      </p:cBhvr>
                                      <p:to>
                                        <p:strVal val="visible"/>
                                      </p:to>
                                    </p:set>
                                    <p:animEffect transition="in" filter="box(in)">
                                      <p:cBhvr>
                                        <p:cTn id="136" dur="500"/>
                                        <p:tgtEl>
                                          <p:spTgt spid="48"/>
                                        </p:tgtEl>
                                      </p:cBhvr>
                                    </p:animEffect>
                                  </p:childTnLst>
                                </p:cTn>
                              </p:par>
                              <p:par>
                                <p:cTn id="137" presetID="4" presetClass="entr" presetSubtype="16" fill="hold" grpId="0" nodeType="withEffect">
                                  <p:stCondLst>
                                    <p:cond delay="0"/>
                                  </p:stCondLst>
                                  <p:childTnLst>
                                    <p:set>
                                      <p:cBhvr>
                                        <p:cTn id="138" dur="1" fill="hold">
                                          <p:stCondLst>
                                            <p:cond delay="0"/>
                                          </p:stCondLst>
                                        </p:cTn>
                                        <p:tgtEl>
                                          <p:spTgt spid="51"/>
                                        </p:tgtEl>
                                        <p:attrNameLst>
                                          <p:attrName>style.visibility</p:attrName>
                                        </p:attrNameLst>
                                      </p:cBhvr>
                                      <p:to>
                                        <p:strVal val="visible"/>
                                      </p:to>
                                    </p:set>
                                    <p:animEffect transition="in" filter="box(in)">
                                      <p:cBhvr>
                                        <p:cTn id="139" dur="500"/>
                                        <p:tgtEl>
                                          <p:spTgt spid="51"/>
                                        </p:tgtEl>
                                      </p:cBhvr>
                                    </p:animEffect>
                                  </p:childTnLst>
                                </p:cTn>
                              </p:par>
                            </p:childTnLst>
                          </p:cTn>
                        </p:par>
                        <p:par>
                          <p:cTn id="140" fill="hold">
                            <p:stCondLst>
                              <p:cond delay="8000"/>
                            </p:stCondLst>
                            <p:childTnLst>
                              <p:par>
                                <p:cTn id="141" presetID="4" presetClass="entr" presetSubtype="16" fill="hold" grpId="0" nodeType="afterEffect">
                                  <p:stCondLst>
                                    <p:cond delay="0"/>
                                  </p:stCondLst>
                                  <p:childTnLst>
                                    <p:set>
                                      <p:cBhvr>
                                        <p:cTn id="142" dur="1" fill="hold">
                                          <p:stCondLst>
                                            <p:cond delay="0"/>
                                          </p:stCondLst>
                                        </p:cTn>
                                        <p:tgtEl>
                                          <p:spTgt spid="52"/>
                                        </p:tgtEl>
                                        <p:attrNameLst>
                                          <p:attrName>style.visibility</p:attrName>
                                        </p:attrNameLst>
                                      </p:cBhvr>
                                      <p:to>
                                        <p:strVal val="visible"/>
                                      </p:to>
                                    </p:set>
                                    <p:animEffect transition="in" filter="box(in)">
                                      <p:cBhvr>
                                        <p:cTn id="143" dur="500"/>
                                        <p:tgtEl>
                                          <p:spTgt spid="52"/>
                                        </p:tgtEl>
                                      </p:cBhvr>
                                    </p:animEffect>
                                  </p:childTnLst>
                                </p:cTn>
                              </p:par>
                              <p:par>
                                <p:cTn id="144" presetID="4" presetClass="entr" presetSubtype="16" fill="hold" grpId="0" nodeType="withEffect">
                                  <p:stCondLst>
                                    <p:cond delay="0"/>
                                  </p:stCondLst>
                                  <p:childTnLst>
                                    <p:set>
                                      <p:cBhvr>
                                        <p:cTn id="145" dur="1" fill="hold">
                                          <p:stCondLst>
                                            <p:cond delay="0"/>
                                          </p:stCondLst>
                                        </p:cTn>
                                        <p:tgtEl>
                                          <p:spTgt spid="53"/>
                                        </p:tgtEl>
                                        <p:attrNameLst>
                                          <p:attrName>style.visibility</p:attrName>
                                        </p:attrNameLst>
                                      </p:cBhvr>
                                      <p:to>
                                        <p:strVal val="visible"/>
                                      </p:to>
                                    </p:set>
                                    <p:animEffect transition="in" filter="box(in)">
                                      <p:cBhvr>
                                        <p:cTn id="146" dur="500"/>
                                        <p:tgtEl>
                                          <p:spTgt spid="53"/>
                                        </p:tgtEl>
                                      </p:cBhvr>
                                    </p:animEffect>
                                  </p:childTnLst>
                                </p:cTn>
                              </p:par>
                              <p:par>
                                <p:cTn id="147" presetID="4" presetClass="entr" presetSubtype="16" fill="hold" grpId="0" nodeType="withEffect">
                                  <p:stCondLst>
                                    <p:cond delay="0"/>
                                  </p:stCondLst>
                                  <p:childTnLst>
                                    <p:set>
                                      <p:cBhvr>
                                        <p:cTn id="148" dur="1" fill="hold">
                                          <p:stCondLst>
                                            <p:cond delay="0"/>
                                          </p:stCondLst>
                                        </p:cTn>
                                        <p:tgtEl>
                                          <p:spTgt spid="54"/>
                                        </p:tgtEl>
                                        <p:attrNameLst>
                                          <p:attrName>style.visibility</p:attrName>
                                        </p:attrNameLst>
                                      </p:cBhvr>
                                      <p:to>
                                        <p:strVal val="visible"/>
                                      </p:to>
                                    </p:set>
                                    <p:animEffect transition="in" filter="box(in)">
                                      <p:cBhvr>
                                        <p:cTn id="149" dur="500"/>
                                        <p:tgtEl>
                                          <p:spTgt spid="54"/>
                                        </p:tgtEl>
                                      </p:cBhvr>
                                    </p:animEffect>
                                  </p:childTnLst>
                                </p:cTn>
                              </p:par>
                            </p:childTnLst>
                          </p:cTn>
                        </p:par>
                        <p:par>
                          <p:cTn id="150" fill="hold">
                            <p:stCondLst>
                              <p:cond delay="8500"/>
                            </p:stCondLst>
                            <p:childTnLst>
                              <p:par>
                                <p:cTn id="151" presetID="4" presetClass="entr" presetSubtype="16" fill="hold" grpId="0" nodeType="afterEffect">
                                  <p:stCondLst>
                                    <p:cond delay="0"/>
                                  </p:stCondLst>
                                  <p:childTnLst>
                                    <p:set>
                                      <p:cBhvr>
                                        <p:cTn id="152" dur="1" fill="hold">
                                          <p:stCondLst>
                                            <p:cond delay="0"/>
                                          </p:stCondLst>
                                        </p:cTn>
                                        <p:tgtEl>
                                          <p:spTgt spid="55"/>
                                        </p:tgtEl>
                                        <p:attrNameLst>
                                          <p:attrName>style.visibility</p:attrName>
                                        </p:attrNameLst>
                                      </p:cBhvr>
                                      <p:to>
                                        <p:strVal val="visible"/>
                                      </p:to>
                                    </p:set>
                                    <p:animEffect transition="in" filter="box(in)">
                                      <p:cBhvr>
                                        <p:cTn id="153" dur="500"/>
                                        <p:tgtEl>
                                          <p:spTgt spid="55"/>
                                        </p:tgtEl>
                                      </p:cBhvr>
                                    </p:animEffect>
                                  </p:childTnLst>
                                </p:cTn>
                              </p:par>
                              <p:par>
                                <p:cTn id="154" presetID="4" presetClass="entr" presetSubtype="16" fill="hold" grpId="0" nodeType="withEffect">
                                  <p:stCondLst>
                                    <p:cond delay="0"/>
                                  </p:stCondLst>
                                  <p:childTnLst>
                                    <p:set>
                                      <p:cBhvr>
                                        <p:cTn id="155" dur="1" fill="hold">
                                          <p:stCondLst>
                                            <p:cond delay="0"/>
                                          </p:stCondLst>
                                        </p:cTn>
                                        <p:tgtEl>
                                          <p:spTgt spid="56"/>
                                        </p:tgtEl>
                                        <p:attrNameLst>
                                          <p:attrName>style.visibility</p:attrName>
                                        </p:attrNameLst>
                                      </p:cBhvr>
                                      <p:to>
                                        <p:strVal val="visible"/>
                                      </p:to>
                                    </p:set>
                                    <p:animEffect transition="in" filter="box(in)">
                                      <p:cBhvr>
                                        <p:cTn id="156" dur="500"/>
                                        <p:tgtEl>
                                          <p:spTgt spid="56"/>
                                        </p:tgtEl>
                                      </p:cBhvr>
                                    </p:animEffect>
                                  </p:childTnLst>
                                </p:cTn>
                              </p:par>
                              <p:par>
                                <p:cTn id="157" presetID="4" presetClass="entr" presetSubtype="16" fill="hold" grpId="0" nodeType="withEffect">
                                  <p:stCondLst>
                                    <p:cond delay="0"/>
                                  </p:stCondLst>
                                  <p:childTnLst>
                                    <p:set>
                                      <p:cBhvr>
                                        <p:cTn id="158" dur="1" fill="hold">
                                          <p:stCondLst>
                                            <p:cond delay="0"/>
                                          </p:stCondLst>
                                        </p:cTn>
                                        <p:tgtEl>
                                          <p:spTgt spid="57"/>
                                        </p:tgtEl>
                                        <p:attrNameLst>
                                          <p:attrName>style.visibility</p:attrName>
                                        </p:attrNameLst>
                                      </p:cBhvr>
                                      <p:to>
                                        <p:strVal val="visible"/>
                                      </p:to>
                                    </p:set>
                                    <p:animEffect transition="in" filter="box(in)">
                                      <p:cBhvr>
                                        <p:cTn id="159" dur="500"/>
                                        <p:tgtEl>
                                          <p:spTgt spid="57"/>
                                        </p:tgtEl>
                                      </p:cBhvr>
                                    </p:animEffect>
                                  </p:childTnLst>
                                </p:cTn>
                              </p:par>
                            </p:childTnLst>
                          </p:cTn>
                        </p:par>
                        <p:par>
                          <p:cTn id="160" fill="hold">
                            <p:stCondLst>
                              <p:cond delay="9000"/>
                            </p:stCondLst>
                            <p:childTnLst>
                              <p:par>
                                <p:cTn id="161" presetID="4" presetClass="entr" presetSubtype="16" fill="hold" grpId="0" nodeType="afterEffect">
                                  <p:stCondLst>
                                    <p:cond delay="0"/>
                                  </p:stCondLst>
                                  <p:childTnLst>
                                    <p:set>
                                      <p:cBhvr>
                                        <p:cTn id="162" dur="1" fill="hold">
                                          <p:stCondLst>
                                            <p:cond delay="0"/>
                                          </p:stCondLst>
                                        </p:cTn>
                                        <p:tgtEl>
                                          <p:spTgt spid="58"/>
                                        </p:tgtEl>
                                        <p:attrNameLst>
                                          <p:attrName>style.visibility</p:attrName>
                                        </p:attrNameLst>
                                      </p:cBhvr>
                                      <p:to>
                                        <p:strVal val="visible"/>
                                      </p:to>
                                    </p:set>
                                    <p:animEffect transition="in" filter="box(in)">
                                      <p:cBhvr>
                                        <p:cTn id="163" dur="500"/>
                                        <p:tgtEl>
                                          <p:spTgt spid="58"/>
                                        </p:tgtEl>
                                      </p:cBhvr>
                                    </p:animEffect>
                                  </p:childTnLst>
                                </p:cTn>
                              </p:par>
                              <p:par>
                                <p:cTn id="164" presetID="4" presetClass="entr" presetSubtype="16" fill="hold" grpId="0" nodeType="withEffect">
                                  <p:stCondLst>
                                    <p:cond delay="0"/>
                                  </p:stCondLst>
                                  <p:childTnLst>
                                    <p:set>
                                      <p:cBhvr>
                                        <p:cTn id="165" dur="1" fill="hold">
                                          <p:stCondLst>
                                            <p:cond delay="0"/>
                                          </p:stCondLst>
                                        </p:cTn>
                                        <p:tgtEl>
                                          <p:spTgt spid="59"/>
                                        </p:tgtEl>
                                        <p:attrNameLst>
                                          <p:attrName>style.visibility</p:attrName>
                                        </p:attrNameLst>
                                      </p:cBhvr>
                                      <p:to>
                                        <p:strVal val="visible"/>
                                      </p:to>
                                    </p:set>
                                    <p:animEffect transition="in" filter="box(in)">
                                      <p:cBhvr>
                                        <p:cTn id="166" dur="500"/>
                                        <p:tgtEl>
                                          <p:spTgt spid="59"/>
                                        </p:tgtEl>
                                      </p:cBhvr>
                                    </p:animEffect>
                                  </p:childTnLst>
                                </p:cTn>
                              </p:par>
                            </p:childTnLst>
                          </p:cTn>
                        </p:par>
                        <p:par>
                          <p:cTn id="167" fill="hold">
                            <p:stCondLst>
                              <p:cond delay="9500"/>
                            </p:stCondLst>
                            <p:childTnLst>
                              <p:par>
                                <p:cTn id="168" presetID="4" presetClass="entr" presetSubtype="16" fill="hold" grpId="0" nodeType="afterEffect">
                                  <p:stCondLst>
                                    <p:cond delay="0"/>
                                  </p:stCondLst>
                                  <p:childTnLst>
                                    <p:set>
                                      <p:cBhvr>
                                        <p:cTn id="169" dur="1" fill="hold">
                                          <p:stCondLst>
                                            <p:cond delay="0"/>
                                          </p:stCondLst>
                                        </p:cTn>
                                        <p:tgtEl>
                                          <p:spTgt spid="60"/>
                                        </p:tgtEl>
                                        <p:attrNameLst>
                                          <p:attrName>style.visibility</p:attrName>
                                        </p:attrNameLst>
                                      </p:cBhvr>
                                      <p:to>
                                        <p:strVal val="visible"/>
                                      </p:to>
                                    </p:set>
                                    <p:animEffect transition="in" filter="box(in)">
                                      <p:cBhvr>
                                        <p:cTn id="170" dur="500"/>
                                        <p:tgtEl>
                                          <p:spTgt spid="60"/>
                                        </p:tgtEl>
                                      </p:cBhvr>
                                    </p:animEffect>
                                  </p:childTnLst>
                                </p:cTn>
                              </p:par>
                              <p:par>
                                <p:cTn id="171" presetID="4" presetClass="entr" presetSubtype="16" fill="hold" grpId="0" nodeType="withEffect">
                                  <p:stCondLst>
                                    <p:cond delay="0"/>
                                  </p:stCondLst>
                                  <p:childTnLst>
                                    <p:set>
                                      <p:cBhvr>
                                        <p:cTn id="172" dur="1" fill="hold">
                                          <p:stCondLst>
                                            <p:cond delay="0"/>
                                          </p:stCondLst>
                                        </p:cTn>
                                        <p:tgtEl>
                                          <p:spTgt spid="61"/>
                                        </p:tgtEl>
                                        <p:attrNameLst>
                                          <p:attrName>style.visibility</p:attrName>
                                        </p:attrNameLst>
                                      </p:cBhvr>
                                      <p:to>
                                        <p:strVal val="visible"/>
                                      </p:to>
                                    </p:set>
                                    <p:animEffect transition="in" filter="box(in)">
                                      <p:cBhvr>
                                        <p:cTn id="173" dur="500"/>
                                        <p:tgtEl>
                                          <p:spTgt spid="61"/>
                                        </p:tgtEl>
                                      </p:cBhvr>
                                    </p:animEffect>
                                  </p:childTnLst>
                                </p:cTn>
                              </p:par>
                            </p:childTnLst>
                          </p:cTn>
                        </p:par>
                        <p:par>
                          <p:cTn id="174" fill="hold">
                            <p:stCondLst>
                              <p:cond delay="10000"/>
                            </p:stCondLst>
                            <p:childTnLst>
                              <p:par>
                                <p:cTn id="175" presetID="4" presetClass="entr" presetSubtype="16" fill="hold" grpId="0" nodeType="afterEffect">
                                  <p:stCondLst>
                                    <p:cond delay="0"/>
                                  </p:stCondLst>
                                  <p:childTnLst>
                                    <p:set>
                                      <p:cBhvr>
                                        <p:cTn id="176" dur="1" fill="hold">
                                          <p:stCondLst>
                                            <p:cond delay="0"/>
                                          </p:stCondLst>
                                        </p:cTn>
                                        <p:tgtEl>
                                          <p:spTgt spid="62"/>
                                        </p:tgtEl>
                                        <p:attrNameLst>
                                          <p:attrName>style.visibility</p:attrName>
                                        </p:attrNameLst>
                                      </p:cBhvr>
                                      <p:to>
                                        <p:strVal val="visible"/>
                                      </p:to>
                                    </p:set>
                                    <p:animEffect transition="in" filter="box(in)">
                                      <p:cBhvr>
                                        <p:cTn id="177" dur="500"/>
                                        <p:tgtEl>
                                          <p:spTgt spid="62"/>
                                        </p:tgtEl>
                                      </p:cBhvr>
                                    </p:animEffect>
                                  </p:childTnLst>
                                </p:cTn>
                              </p:par>
                              <p:par>
                                <p:cTn id="178" presetID="4" presetClass="entr" presetSubtype="16" fill="hold" grpId="0" nodeType="withEffect">
                                  <p:stCondLst>
                                    <p:cond delay="0"/>
                                  </p:stCondLst>
                                  <p:childTnLst>
                                    <p:set>
                                      <p:cBhvr>
                                        <p:cTn id="179" dur="1" fill="hold">
                                          <p:stCondLst>
                                            <p:cond delay="0"/>
                                          </p:stCondLst>
                                        </p:cTn>
                                        <p:tgtEl>
                                          <p:spTgt spid="63"/>
                                        </p:tgtEl>
                                        <p:attrNameLst>
                                          <p:attrName>style.visibility</p:attrName>
                                        </p:attrNameLst>
                                      </p:cBhvr>
                                      <p:to>
                                        <p:strVal val="visible"/>
                                      </p:to>
                                    </p:set>
                                    <p:animEffect transition="in" filter="box(in)">
                                      <p:cBhvr>
                                        <p:cTn id="180" dur="500"/>
                                        <p:tgtEl>
                                          <p:spTgt spid="63"/>
                                        </p:tgtEl>
                                      </p:cBhvr>
                                    </p:animEffect>
                                  </p:childTnLst>
                                </p:cTn>
                              </p:par>
                            </p:childTnLst>
                          </p:cTn>
                        </p:par>
                        <p:par>
                          <p:cTn id="181" fill="hold">
                            <p:stCondLst>
                              <p:cond delay="10500"/>
                            </p:stCondLst>
                            <p:childTnLst>
                              <p:par>
                                <p:cTn id="182" presetID="4" presetClass="entr" presetSubtype="16" fill="hold" grpId="0" nodeType="afterEffect">
                                  <p:stCondLst>
                                    <p:cond delay="0"/>
                                  </p:stCondLst>
                                  <p:childTnLst>
                                    <p:set>
                                      <p:cBhvr>
                                        <p:cTn id="183" dur="1" fill="hold">
                                          <p:stCondLst>
                                            <p:cond delay="0"/>
                                          </p:stCondLst>
                                        </p:cTn>
                                        <p:tgtEl>
                                          <p:spTgt spid="64"/>
                                        </p:tgtEl>
                                        <p:attrNameLst>
                                          <p:attrName>style.visibility</p:attrName>
                                        </p:attrNameLst>
                                      </p:cBhvr>
                                      <p:to>
                                        <p:strVal val="visible"/>
                                      </p:to>
                                    </p:set>
                                    <p:animEffect transition="in" filter="box(in)">
                                      <p:cBhvr>
                                        <p:cTn id="184" dur="500"/>
                                        <p:tgtEl>
                                          <p:spTgt spid="64"/>
                                        </p:tgtEl>
                                      </p:cBhvr>
                                    </p:animEffect>
                                  </p:childTnLst>
                                </p:cTn>
                              </p:par>
                            </p:childTnLst>
                          </p:cTn>
                        </p:par>
                      </p:childTnLst>
                    </p:cTn>
                  </p:par>
                  <p:par>
                    <p:cTn id="185" fill="hold">
                      <p:stCondLst>
                        <p:cond delay="indefinite"/>
                      </p:stCondLst>
                      <p:childTnLst>
                        <p:par>
                          <p:cTn id="186" fill="hold">
                            <p:stCondLst>
                              <p:cond delay="0"/>
                            </p:stCondLst>
                            <p:childTnLst>
                              <p:par>
                                <p:cTn id="187" presetID="22" presetClass="entr" presetSubtype="4" fill="hold" nodeType="clickEffect">
                                  <p:stCondLst>
                                    <p:cond delay="0"/>
                                  </p:stCondLst>
                                  <p:childTnLst>
                                    <p:set>
                                      <p:cBhvr>
                                        <p:cTn id="188" dur="1" fill="hold">
                                          <p:stCondLst>
                                            <p:cond delay="0"/>
                                          </p:stCondLst>
                                        </p:cTn>
                                        <p:tgtEl>
                                          <p:spTgt spid="50"/>
                                        </p:tgtEl>
                                        <p:attrNameLst>
                                          <p:attrName>style.visibility</p:attrName>
                                        </p:attrNameLst>
                                      </p:cBhvr>
                                      <p:to>
                                        <p:strVal val="visible"/>
                                      </p:to>
                                    </p:set>
                                    <p:animEffect transition="in" filter="wipe(down)">
                                      <p:cBhvr>
                                        <p:cTn id="189" dur="500"/>
                                        <p:tgtEl>
                                          <p:spTgt spid="50"/>
                                        </p:tgtEl>
                                      </p:cBhvr>
                                    </p:animEffect>
                                  </p:childTnLst>
                                </p:cTn>
                              </p:par>
                            </p:childTnLst>
                          </p:cTn>
                        </p:par>
                      </p:childTnLst>
                    </p:cTn>
                  </p:par>
                  <p:par>
                    <p:cTn id="190" fill="hold">
                      <p:stCondLst>
                        <p:cond delay="indefinite"/>
                      </p:stCondLst>
                      <p:childTnLst>
                        <p:par>
                          <p:cTn id="191" fill="hold">
                            <p:stCondLst>
                              <p:cond delay="0"/>
                            </p:stCondLst>
                            <p:childTnLst>
                              <p:par>
                                <p:cTn id="192" presetID="6" presetClass="entr" presetSubtype="16" fill="hold" grpId="0" nodeType="clickEffect">
                                  <p:stCondLst>
                                    <p:cond delay="0"/>
                                  </p:stCondLst>
                                  <p:childTnLst>
                                    <p:set>
                                      <p:cBhvr>
                                        <p:cTn id="193" dur="1" fill="hold">
                                          <p:stCondLst>
                                            <p:cond delay="0"/>
                                          </p:stCondLst>
                                        </p:cTn>
                                        <p:tgtEl>
                                          <p:spTgt spid="67"/>
                                        </p:tgtEl>
                                        <p:attrNameLst>
                                          <p:attrName>style.visibility</p:attrName>
                                        </p:attrNameLst>
                                      </p:cBhvr>
                                      <p:to>
                                        <p:strVal val="visible"/>
                                      </p:to>
                                    </p:set>
                                    <p:animEffect transition="in" filter="circle(in)">
                                      <p:cBhvr>
                                        <p:cTn id="194" dur="500"/>
                                        <p:tgtEl>
                                          <p:spTgt spid="67"/>
                                        </p:tgtEl>
                                      </p:cBhvr>
                                    </p:animEffect>
                                  </p:childTnLst>
                                </p:cTn>
                              </p:par>
                            </p:childTnLst>
                          </p:cTn>
                        </p:par>
                      </p:childTnLst>
                    </p:cTn>
                  </p:par>
                  <p:par>
                    <p:cTn id="195" fill="hold">
                      <p:stCondLst>
                        <p:cond delay="indefinite"/>
                      </p:stCondLst>
                      <p:childTnLst>
                        <p:par>
                          <p:cTn id="196" fill="hold">
                            <p:stCondLst>
                              <p:cond delay="0"/>
                            </p:stCondLst>
                            <p:childTnLst>
                              <p:par>
                                <p:cTn id="197" presetID="22" presetClass="entr" presetSubtype="4" fill="hold" nodeType="clickEffect">
                                  <p:stCondLst>
                                    <p:cond delay="0"/>
                                  </p:stCondLst>
                                  <p:childTnLst>
                                    <p:set>
                                      <p:cBhvr>
                                        <p:cTn id="198" dur="1" fill="hold">
                                          <p:stCondLst>
                                            <p:cond delay="0"/>
                                          </p:stCondLst>
                                        </p:cTn>
                                        <p:tgtEl>
                                          <p:spTgt spid="69"/>
                                        </p:tgtEl>
                                        <p:attrNameLst>
                                          <p:attrName>style.visibility</p:attrName>
                                        </p:attrNameLst>
                                      </p:cBhvr>
                                      <p:to>
                                        <p:strVal val="visible"/>
                                      </p:to>
                                    </p:set>
                                    <p:animEffect transition="in" filter="wipe(down)">
                                      <p:cBhvr>
                                        <p:cTn id="199" dur="500"/>
                                        <p:tgtEl>
                                          <p:spTgt spid="69"/>
                                        </p:tgtEl>
                                      </p:cBhvr>
                                    </p:animEffect>
                                  </p:childTnLst>
                                </p:cTn>
                              </p:par>
                            </p:childTnLst>
                          </p:cTn>
                        </p:par>
                      </p:childTnLst>
                    </p:cTn>
                  </p:par>
                  <p:par>
                    <p:cTn id="200" fill="hold">
                      <p:stCondLst>
                        <p:cond delay="indefinite"/>
                      </p:stCondLst>
                      <p:childTnLst>
                        <p:par>
                          <p:cTn id="201" fill="hold">
                            <p:stCondLst>
                              <p:cond delay="0"/>
                            </p:stCondLst>
                            <p:childTnLst>
                              <p:par>
                                <p:cTn id="202" presetID="22" presetClass="entr" presetSubtype="2" fill="hold" nodeType="clickEffect">
                                  <p:stCondLst>
                                    <p:cond delay="0"/>
                                  </p:stCondLst>
                                  <p:childTnLst>
                                    <p:set>
                                      <p:cBhvr>
                                        <p:cTn id="203" dur="1" fill="hold">
                                          <p:stCondLst>
                                            <p:cond delay="0"/>
                                          </p:stCondLst>
                                        </p:cTn>
                                        <p:tgtEl>
                                          <p:spTgt spid="71"/>
                                        </p:tgtEl>
                                        <p:attrNameLst>
                                          <p:attrName>style.visibility</p:attrName>
                                        </p:attrNameLst>
                                      </p:cBhvr>
                                      <p:to>
                                        <p:strVal val="visible"/>
                                      </p:to>
                                    </p:set>
                                    <p:animEffect transition="in" filter="wipe(right)">
                                      <p:cBhvr>
                                        <p:cTn id="204" dur="500"/>
                                        <p:tgtEl>
                                          <p:spTgt spid="71"/>
                                        </p:tgtEl>
                                      </p:cBhvr>
                                    </p:animEffect>
                                  </p:childTnLst>
                                </p:cTn>
                              </p:par>
                            </p:childTnLst>
                          </p:cTn>
                        </p:par>
                      </p:childTnLst>
                    </p:cTn>
                  </p:par>
                  <p:par>
                    <p:cTn id="205" fill="hold">
                      <p:stCondLst>
                        <p:cond delay="indefinite"/>
                      </p:stCondLst>
                      <p:childTnLst>
                        <p:par>
                          <p:cTn id="206" fill="hold">
                            <p:stCondLst>
                              <p:cond delay="0"/>
                            </p:stCondLst>
                            <p:childTnLst>
                              <p:par>
                                <p:cTn id="207" presetID="1" presetClass="entr" presetSubtype="0" fill="hold" grpId="0" nodeType="clickEffect">
                                  <p:stCondLst>
                                    <p:cond delay="0"/>
                                  </p:stCondLst>
                                  <p:childTnLst>
                                    <p:set>
                                      <p:cBhvr>
                                        <p:cTn id="208" dur="1" fill="hold">
                                          <p:stCondLst>
                                            <p:cond delay="0"/>
                                          </p:stCondLst>
                                        </p:cTn>
                                        <p:tgtEl>
                                          <p:spTgt spid="7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 grpId="0" animBg="1"/>
      <p:bldP spid="11" grpId="0" animBg="1"/>
      <p:bldP spid="12" grpId="0" animBg="1"/>
      <p:bldP spid="13" grpId="0" animBg="1"/>
      <p:bldP spid="14" grpId="0" animBg="1"/>
      <p:bldP spid="15" grpId="0" animBg="1"/>
      <p:bldP spid="16" grpId="0" animBg="1"/>
      <p:bldP spid="17" grpId="0" animBg="1"/>
      <p:bldP spid="18" grpId="0" animBg="1"/>
      <p:bldP spid="19" grpId="0" animBg="1"/>
      <p:bldP spid="20" grpId="0" animBg="1"/>
      <p:bldP spid="21" grpId="0" animBg="1"/>
      <p:bldP spid="22" grpId="0" animBg="1"/>
      <p:bldP spid="23" grpId="0" animBg="1"/>
      <p:bldP spid="24" grpId="0" animBg="1"/>
      <p:bldP spid="25" grpId="0" animBg="1"/>
      <p:bldP spid="26" grpId="0" animBg="1"/>
      <p:bldP spid="27" grpId="0" animBg="1"/>
      <p:bldP spid="28" grpId="0" animBg="1"/>
      <p:bldP spid="29" grpId="0" animBg="1"/>
      <p:bldP spid="30" grpId="0" animBg="1"/>
      <p:bldP spid="31" grpId="0" animBg="1"/>
      <p:bldP spid="32" grpId="0" animBg="1"/>
      <p:bldP spid="33" grpId="0" animBg="1"/>
      <p:bldP spid="34" grpId="0" animBg="1"/>
      <p:bldP spid="35" grpId="0" animBg="1"/>
      <p:bldP spid="36" grpId="0" animBg="1"/>
      <p:bldP spid="37" grpId="0" animBg="1"/>
      <p:bldP spid="38" grpId="0" animBg="1"/>
      <p:bldP spid="39" grpId="0" animBg="1"/>
      <p:bldP spid="40" grpId="0" animBg="1"/>
      <p:bldP spid="41" grpId="0" animBg="1"/>
      <p:bldP spid="42" grpId="0" animBg="1"/>
      <p:bldP spid="43" grpId="0" animBg="1"/>
      <p:bldP spid="44" grpId="0" animBg="1"/>
      <p:bldP spid="45" grpId="0" animBg="1"/>
      <p:bldP spid="46" grpId="0" animBg="1"/>
      <p:bldP spid="47" grpId="0" animBg="1"/>
      <p:bldP spid="48" grpId="0" animBg="1"/>
      <p:bldP spid="51" grpId="0" animBg="1"/>
      <p:bldP spid="52" grpId="0" animBg="1"/>
      <p:bldP spid="53" grpId="0" animBg="1"/>
      <p:bldP spid="54" grpId="0" animBg="1"/>
      <p:bldP spid="55" grpId="0" animBg="1"/>
      <p:bldP spid="56" grpId="0" animBg="1"/>
      <p:bldP spid="57" grpId="0" animBg="1"/>
      <p:bldP spid="58" grpId="0" animBg="1"/>
      <p:bldP spid="59" grpId="0" animBg="1"/>
      <p:bldP spid="60" grpId="0" animBg="1"/>
      <p:bldP spid="61" grpId="0" animBg="1"/>
      <p:bldP spid="62" grpId="0" animBg="1"/>
      <p:bldP spid="63" grpId="0" animBg="1"/>
      <p:bldP spid="64" grpId="0" animBg="1"/>
      <p:bldP spid="67" grpId="0" animBg="1"/>
      <p:bldP spid="73" grpId="0" animBg="1"/>
    </p:bld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Single Neuron Model</a:t>
            </a:r>
          </a:p>
        </p:txBody>
      </p:sp>
      <mc:AlternateContent xmlns:mc="http://schemas.openxmlformats.org/markup-compatibility/2006" xmlns:a14="http://schemas.microsoft.com/office/drawing/2010/main">
        <mc:Choice Requires="a14">
          <p:sp>
            <p:nvSpPr>
              <p:cNvPr id="3" name="Content Placeholder 2"/>
              <p:cNvSpPr>
                <a:spLocks noGrp="1"/>
              </p:cNvSpPr>
              <p:nvPr>
                <p:ph sz="quarter" idx="1"/>
              </p:nvPr>
            </p:nvSpPr>
            <p:spPr/>
            <p:txBody>
              <a:bodyPr/>
              <a:lstStyle/>
              <a:p>
                <a:pPr>
                  <a:buNone/>
                </a:pPr>
                <a:r>
                  <a:rPr lang="en-US" b="1" u="sng" dirty="0"/>
                  <a:t>Error Calculation</a:t>
                </a:r>
              </a:p>
              <a:p>
                <a:r>
                  <a:rPr lang="en-US" sz="2400" dirty="0"/>
                  <a:t>The error </a:t>
                </a:r>
                <a:r>
                  <a:rPr lang="en-US" sz="2400" dirty="0" err="1" smtClean="0"/>
                  <a:t>E</a:t>
                </a:r>
                <a:r>
                  <a:rPr lang="en-US" sz="2400" baseline="-25000" dirty="0" err="1" smtClean="0"/>
                  <a:t>i</a:t>
                </a:r>
                <a:r>
                  <a:rPr lang="en-US" sz="2400" dirty="0" smtClean="0"/>
                  <a:t>=(</a:t>
                </a:r>
                <a:r>
                  <a:rPr lang="en-US" sz="2400" dirty="0"/>
                  <a:t>Actual Value – </a:t>
                </a:r>
                <a:r>
                  <a:rPr lang="en-US" sz="2400" dirty="0" smtClean="0"/>
                  <a:t>Predicted </a:t>
                </a:r>
                <a:r>
                  <a:rPr lang="en-US" sz="2400" dirty="0"/>
                  <a:t>value)=</a:t>
                </a:r>
                <a14:m>
                  <m:oMath xmlns:m="http://schemas.openxmlformats.org/officeDocument/2006/math">
                    <m:r>
                      <a:rPr lang="en-US" sz="2400" i="1" dirty="0" smtClean="0">
                        <a:latin typeface="Cambria Math" panose="02040503050406030204" pitchFamily="18" charset="0"/>
                      </a:rPr>
                      <m:t>(</m:t>
                    </m:r>
                    <m:r>
                      <a:rPr lang="en-US" sz="2400" i="1" dirty="0" smtClean="0">
                        <a:latin typeface="Cambria Math" panose="02040503050406030204" pitchFamily="18" charset="0"/>
                      </a:rPr>
                      <m:t>𝑇𝑖</m:t>
                    </m:r>
                    <m:r>
                      <a:rPr lang="en-US" sz="2400" i="1" dirty="0" smtClean="0">
                        <a:latin typeface="Cambria Math" panose="02040503050406030204" pitchFamily="18" charset="0"/>
                      </a:rPr>
                      <m:t>−</m:t>
                    </m:r>
                    <m:r>
                      <a:rPr lang="en-US" sz="2400" i="1" dirty="0" err="1" smtClean="0">
                        <a:latin typeface="Cambria Math" panose="02040503050406030204" pitchFamily="18" charset="0"/>
                      </a:rPr>
                      <m:t>𝑦</m:t>
                    </m:r>
                    <m:r>
                      <a:rPr lang="en-US" sz="2400" i="1" baseline="-25000" dirty="0" err="1" smtClean="0">
                        <a:latin typeface="Cambria Math" panose="02040503050406030204" pitchFamily="18" charset="0"/>
                      </a:rPr>
                      <m:t>𝑖</m:t>
                    </m:r>
                    <m:r>
                      <a:rPr lang="en-US" sz="2400" i="1" dirty="0" smtClean="0">
                        <a:latin typeface="Cambria Math" panose="02040503050406030204" pitchFamily="18" charset="0"/>
                      </a:rPr>
                      <m:t>)</m:t>
                    </m:r>
                  </m:oMath>
                </a14:m>
                <a:endParaRPr lang="en-US" sz="2400" dirty="0"/>
              </a:p>
              <a:p>
                <a:r>
                  <a:rPr lang="en-US" sz="2400" dirty="0"/>
                  <a:t>For making +</a:t>
                </a:r>
                <a:r>
                  <a:rPr lang="en-US" sz="2400" dirty="0" err="1" smtClean="0"/>
                  <a:t>ve</a:t>
                </a:r>
                <a:r>
                  <a:rPr lang="en-US" sz="2400" dirty="0" smtClean="0"/>
                  <a:t>= </a:t>
                </a:r>
                <a14:m>
                  <m:oMath xmlns:m="http://schemas.openxmlformats.org/officeDocument/2006/math">
                    <m:r>
                      <a:rPr lang="en-US" sz="2400" i="1" dirty="0" smtClean="0">
                        <a:latin typeface="Cambria Math" panose="02040503050406030204" pitchFamily="18" charset="0"/>
                      </a:rPr>
                      <m:t>𝐸</m:t>
                    </m:r>
                    <m:r>
                      <a:rPr lang="en-US" sz="2400" i="1" baseline="-25000" dirty="0" err="1" smtClean="0">
                        <a:latin typeface="Cambria Math" panose="02040503050406030204" pitchFamily="18" charset="0"/>
                      </a:rPr>
                      <m:t>𝑖</m:t>
                    </m:r>
                    <m:r>
                      <a:rPr lang="en-US" sz="2400" i="1" dirty="0" smtClean="0">
                        <a:latin typeface="Cambria Math" panose="02040503050406030204" pitchFamily="18" charset="0"/>
                      </a:rPr>
                      <m:t>= </m:t>
                    </m:r>
                    <m:r>
                      <a:rPr lang="en-US" sz="2400" i="1" dirty="0">
                        <a:latin typeface="Cambria Math" panose="02040503050406030204" pitchFamily="18" charset="0"/>
                      </a:rPr>
                      <m:t>(</m:t>
                    </m:r>
                    <m:r>
                      <a:rPr lang="en-US" sz="2400" i="1" dirty="0" smtClean="0">
                        <a:latin typeface="Cambria Math" panose="02040503050406030204" pitchFamily="18" charset="0"/>
                      </a:rPr>
                      <m:t>𝑇</m:t>
                    </m:r>
                    <m:r>
                      <a:rPr lang="en-US" sz="2400" i="1" baseline="-25000" dirty="0" smtClean="0">
                        <a:latin typeface="Cambria Math" panose="02040503050406030204" pitchFamily="18" charset="0"/>
                      </a:rPr>
                      <m:t>𝑖</m:t>
                    </m:r>
                    <m:r>
                      <a:rPr lang="en-US" sz="2400" i="1" dirty="0" smtClean="0">
                        <a:latin typeface="Cambria Math" panose="02040503050406030204" pitchFamily="18" charset="0"/>
                      </a:rPr>
                      <m:t>−</m:t>
                    </m:r>
                    <m:r>
                      <a:rPr lang="en-US" sz="2400" i="1" dirty="0" err="1" smtClean="0">
                        <a:latin typeface="Cambria Math" panose="02040503050406030204" pitchFamily="18" charset="0"/>
                      </a:rPr>
                      <m:t>𝑦</m:t>
                    </m:r>
                    <m:r>
                      <a:rPr lang="en-US" sz="2400" i="1" baseline="-25000" dirty="0" err="1" smtClean="0">
                        <a:latin typeface="Cambria Math" panose="02040503050406030204" pitchFamily="18" charset="0"/>
                      </a:rPr>
                      <m:t>𝑖</m:t>
                    </m:r>
                    <m:r>
                      <a:rPr lang="en-US" sz="2400" i="1" dirty="0" smtClean="0">
                        <a:latin typeface="Cambria Math" panose="02040503050406030204" pitchFamily="18" charset="0"/>
                      </a:rPr>
                      <m:t>)</m:t>
                    </m:r>
                    <m:r>
                      <a:rPr lang="en-US" sz="2400" i="1" baseline="30000" dirty="0" smtClean="0">
                        <a:latin typeface="Cambria Math" panose="02040503050406030204" pitchFamily="18" charset="0"/>
                      </a:rPr>
                      <m:t>2 </m:t>
                    </m:r>
                    <m:r>
                      <a:rPr lang="en-US" sz="2400" i="1" dirty="0" smtClean="0">
                        <a:latin typeface="Cambria Math" panose="02040503050406030204" pitchFamily="18" charset="0"/>
                      </a:rPr>
                      <m:t> </m:t>
                    </m:r>
                  </m:oMath>
                </a14:m>
                <a:r>
                  <a:rPr lang="en-US" sz="2400" dirty="0" smtClean="0"/>
                  <a:t>[</a:t>
                </a:r>
                <a:r>
                  <a:rPr lang="en-US" sz="2400" dirty="0"/>
                  <a:t>Error </a:t>
                </a:r>
                <a:r>
                  <a:rPr lang="en-US" sz="2400" dirty="0" smtClean="0"/>
                  <a:t>for </a:t>
                </a:r>
                <a:r>
                  <a:rPr lang="en-US" sz="2400" dirty="0" err="1" smtClean="0"/>
                  <a:t>i</a:t>
                </a:r>
                <a:r>
                  <a:rPr lang="en-US" sz="2400" baseline="30000" dirty="0" err="1" smtClean="0"/>
                  <a:t>th</a:t>
                </a:r>
                <a:r>
                  <a:rPr lang="en-US" sz="2400" dirty="0" smtClean="0"/>
                  <a:t> input instance]</a:t>
                </a:r>
              </a:p>
              <a:p>
                <a:pPr marL="336550" indent="0">
                  <a:buNone/>
                </a:pPr>
                <a:endParaRPr lang="en-US" sz="2400" baseline="30000" dirty="0"/>
              </a:p>
            </p:txBody>
          </p:sp>
        </mc:Choice>
        <mc:Fallback xmlns="">
          <p:sp>
            <p:nvSpPr>
              <p:cNvPr id="3" name="Content Placeholder 2"/>
              <p:cNvSpPr>
                <a:spLocks noGrp="1" noRot="1" noChangeAspect="1" noMove="1" noResize="1" noEditPoints="1" noAdjustHandles="1" noChangeArrowheads="1" noChangeShapeType="1" noTextEdit="1"/>
              </p:cNvSpPr>
              <p:nvPr>
                <p:ph sz="quarter" idx="1"/>
              </p:nvPr>
            </p:nvSpPr>
            <p:spPr>
              <a:blipFill rotWithShape="0">
                <a:blip r:embed="rId2"/>
                <a:stretch>
                  <a:fillRect t="-1533"/>
                </a:stretch>
              </a:blipFill>
            </p:spPr>
            <p:txBody>
              <a:bodyPr/>
              <a:lstStyle/>
              <a:p>
                <a:r>
                  <a:rPr lang="en-IN">
                    <a:noFill/>
                  </a:rPr>
                  <a:t> </a:t>
                </a:r>
              </a:p>
            </p:txBody>
          </p:sp>
        </mc:Fallback>
      </mc:AlternateContent>
      <p:sp>
        <p:nvSpPr>
          <p:cNvPr id="4" name="TextBox 3"/>
          <p:cNvSpPr txBox="1"/>
          <p:nvPr/>
        </p:nvSpPr>
        <p:spPr>
          <a:xfrm>
            <a:off x="0" y="0"/>
            <a:ext cx="4572000" cy="369332"/>
          </a:xfrm>
          <a:prstGeom prst="rect">
            <a:avLst/>
          </a:prstGeom>
          <a:noFill/>
        </p:spPr>
        <p:txBody>
          <a:bodyPr wrap="square" rtlCol="0">
            <a:spAutoFit/>
          </a:bodyPr>
          <a:lstStyle/>
          <a:p>
            <a:pPr algn="r"/>
            <a:r>
              <a:rPr lang="en-US" b="1" dirty="0">
                <a:solidFill>
                  <a:schemeClr val="bg1"/>
                </a:solidFill>
              </a:rPr>
              <a:t>Introduction to Neural Network</a:t>
            </a:r>
          </a:p>
        </p:txBody>
      </p:sp>
      <p:sp>
        <p:nvSpPr>
          <p:cNvPr id="5" name="Date Placeholder 3"/>
          <p:cNvSpPr>
            <a:spLocks noGrp="1"/>
          </p:cNvSpPr>
          <p:nvPr>
            <p:ph type="dt" sz="half" idx="10"/>
          </p:nvPr>
        </p:nvSpPr>
        <p:spPr>
          <a:xfrm>
            <a:off x="0" y="6629400"/>
            <a:ext cx="3048000" cy="228600"/>
          </a:xfrm>
        </p:spPr>
        <p:txBody>
          <a:bodyPr/>
          <a:lstStyle/>
          <a:p>
            <a:fld id="{E7067A60-51C7-4095-BFA9-1CE32DCBA06F}" type="datetime1">
              <a:rPr lang="en-US" smtClean="0"/>
              <a:pPr/>
              <a:t>2/9/2026</a:t>
            </a:fld>
            <a:endParaRPr lang="en-US" dirty="0"/>
          </a:p>
        </p:txBody>
      </p:sp>
      <p:sp>
        <p:nvSpPr>
          <p:cNvPr id="6" name="Slide Number Placeholder 5"/>
          <p:cNvSpPr>
            <a:spLocks noGrp="1"/>
          </p:cNvSpPr>
          <p:nvPr>
            <p:ph type="sldNum" sz="quarter" idx="12"/>
          </p:nvPr>
        </p:nvSpPr>
        <p:spPr>
          <a:xfrm>
            <a:off x="6096000" y="6629400"/>
            <a:ext cx="3048000" cy="228600"/>
          </a:xfrm>
        </p:spPr>
        <p:txBody>
          <a:bodyPr/>
          <a:lstStyle/>
          <a:p>
            <a:r>
              <a:rPr lang="en-US" dirty="0" smtClean="0"/>
              <a:t>9</a:t>
            </a:r>
            <a:endParaRPr lang="en-US" dirty="0"/>
          </a:p>
        </p:txBody>
      </p:sp>
      <p:sp>
        <p:nvSpPr>
          <p:cNvPr id="7" name="Footer Placeholder 4">
            <a:extLst>
              <a:ext uri="{FF2B5EF4-FFF2-40B4-BE49-F238E27FC236}">
                <a16:creationId xmlns:a16="http://schemas.microsoft.com/office/drawing/2014/main" id="{CBB301ED-B8A4-4772-B559-A9E41E7472BD}"/>
              </a:ext>
            </a:extLst>
          </p:cNvPr>
          <p:cNvSpPr>
            <a:spLocks noGrp="1"/>
          </p:cNvSpPr>
          <p:nvPr>
            <p:ph type="ftr" sz="quarter" idx="11"/>
          </p:nvPr>
        </p:nvSpPr>
        <p:spPr>
          <a:xfrm>
            <a:off x="2286000" y="6629400"/>
            <a:ext cx="4136571" cy="228600"/>
          </a:xfrm>
        </p:spPr>
        <p:txBody>
          <a:bodyPr/>
          <a:lstStyle/>
          <a:p>
            <a:r>
              <a:rPr lang="en-US" dirty="0"/>
              <a:t>Dr. Sibarama Panigrahi, Dept. of CSE, NIT Rourkela</a:t>
            </a:r>
          </a:p>
        </p:txBody>
      </p:sp>
      <p:sp>
        <p:nvSpPr>
          <p:cNvPr id="8" name="Title 1"/>
          <p:cNvSpPr txBox="1">
            <a:spLocks/>
          </p:cNvSpPr>
          <p:nvPr/>
        </p:nvSpPr>
        <p:spPr>
          <a:xfrm>
            <a:off x="0" y="304800"/>
            <a:ext cx="9144000" cy="685800"/>
          </a:xfrm>
          <a:prstGeom prst="rect">
            <a:avLst/>
          </a:prstGeom>
          <a:solidFill>
            <a:srgbClr val="FFFF00"/>
          </a:solidFill>
        </p:spPr>
        <p:txBody>
          <a:bodyPr vert="horz" lIns="91440" tIns="45720" rIns="91440" bIns="45720" rtlCol="0" anchor="ctr">
            <a:normAutofit/>
          </a:bodyPr>
          <a:lstStyle>
            <a:lvl1pPr marL="228600" indent="0" algn="l" defTabSz="914400" rtl="0" eaLnBrk="1" latinLnBrk="0" hangingPunct="1">
              <a:spcBef>
                <a:spcPct val="0"/>
              </a:spcBef>
              <a:buNone/>
              <a:defRPr sz="3200" kern="1200">
                <a:solidFill>
                  <a:schemeClr val="tx1"/>
                </a:solidFill>
                <a:latin typeface="Times New Roman" pitchFamily="18" charset="0"/>
                <a:ea typeface="+mj-ea"/>
                <a:cs typeface="Times New Roman" pitchFamily="18" charset="0"/>
              </a:defRPr>
            </a:lvl1pPr>
          </a:lstStyle>
          <a:p>
            <a:r>
              <a:rPr lang="en-US" dirty="0" smtClean="0"/>
              <a:t>Single Neuron Model</a:t>
            </a:r>
            <a:endParaRPr lang="en-US" dirty="0"/>
          </a:p>
        </p:txBody>
      </p:sp>
      <p:graphicFrame>
        <p:nvGraphicFramePr>
          <p:cNvPr id="9" name="Chart 8"/>
          <p:cNvGraphicFramePr/>
          <p:nvPr/>
        </p:nvGraphicFramePr>
        <p:xfrm>
          <a:off x="1524000" y="3200400"/>
          <a:ext cx="6324600" cy="3048000"/>
        </p:xfrm>
        <a:graphic>
          <a:graphicData uri="http://schemas.openxmlformats.org/drawingml/2006/chart">
            <c:chart xmlns:c="http://schemas.openxmlformats.org/drawingml/2006/chart" xmlns:r="http://schemas.openxmlformats.org/officeDocument/2006/relationships" r:id="rId3"/>
          </a:graphicData>
        </a:graphic>
      </p:graphicFrame>
      <p:sp>
        <p:nvSpPr>
          <p:cNvPr id="10" name="Oval 9"/>
          <p:cNvSpPr/>
          <p:nvPr/>
        </p:nvSpPr>
        <p:spPr>
          <a:xfrm>
            <a:off x="2514600" y="5334000"/>
            <a:ext cx="76200" cy="76200"/>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Oval 10"/>
          <p:cNvSpPr/>
          <p:nvPr/>
        </p:nvSpPr>
        <p:spPr>
          <a:xfrm>
            <a:off x="2590800" y="5181600"/>
            <a:ext cx="76200" cy="76200"/>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Oval 11"/>
          <p:cNvSpPr/>
          <p:nvPr/>
        </p:nvSpPr>
        <p:spPr>
          <a:xfrm>
            <a:off x="2743200" y="5257800"/>
            <a:ext cx="76200" cy="76200"/>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Oval 12"/>
          <p:cNvSpPr/>
          <p:nvPr/>
        </p:nvSpPr>
        <p:spPr>
          <a:xfrm>
            <a:off x="2743200" y="5029200"/>
            <a:ext cx="76200" cy="76200"/>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Oval 13"/>
          <p:cNvSpPr/>
          <p:nvPr/>
        </p:nvSpPr>
        <p:spPr>
          <a:xfrm>
            <a:off x="2971800" y="5105400"/>
            <a:ext cx="76200" cy="76200"/>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 name="Oval 14"/>
          <p:cNvSpPr/>
          <p:nvPr/>
        </p:nvSpPr>
        <p:spPr>
          <a:xfrm>
            <a:off x="2971800" y="4876800"/>
            <a:ext cx="76200" cy="76200"/>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Oval 15"/>
          <p:cNvSpPr/>
          <p:nvPr/>
        </p:nvSpPr>
        <p:spPr>
          <a:xfrm>
            <a:off x="3200400" y="4800600"/>
            <a:ext cx="76200" cy="76200"/>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7" name="Oval 16"/>
          <p:cNvSpPr/>
          <p:nvPr/>
        </p:nvSpPr>
        <p:spPr>
          <a:xfrm>
            <a:off x="3200400" y="5029200"/>
            <a:ext cx="76200" cy="76200"/>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8" name="Oval 17"/>
          <p:cNvSpPr/>
          <p:nvPr/>
        </p:nvSpPr>
        <p:spPr>
          <a:xfrm>
            <a:off x="3581400" y="4648200"/>
            <a:ext cx="76200" cy="76200"/>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9" name="Oval 18"/>
          <p:cNvSpPr/>
          <p:nvPr/>
        </p:nvSpPr>
        <p:spPr>
          <a:xfrm>
            <a:off x="3505200" y="4876800"/>
            <a:ext cx="76200" cy="76200"/>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0" name="Oval 19"/>
          <p:cNvSpPr/>
          <p:nvPr/>
        </p:nvSpPr>
        <p:spPr>
          <a:xfrm>
            <a:off x="3810000" y="4572000"/>
            <a:ext cx="76200" cy="76200"/>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1" name="Oval 20"/>
          <p:cNvSpPr/>
          <p:nvPr/>
        </p:nvSpPr>
        <p:spPr>
          <a:xfrm>
            <a:off x="4484641" y="3987800"/>
            <a:ext cx="76200" cy="141287"/>
          </a:xfrm>
          <a:prstGeom prst="ellipse">
            <a:avLst/>
          </a:prstGeom>
          <a:solidFill>
            <a:srgbClr val="FF0000"/>
          </a:solid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2" name="Oval 21"/>
          <p:cNvSpPr/>
          <p:nvPr/>
        </p:nvSpPr>
        <p:spPr>
          <a:xfrm>
            <a:off x="4191000" y="4648200"/>
            <a:ext cx="76200" cy="76200"/>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3" name="Oval 22"/>
          <p:cNvSpPr/>
          <p:nvPr/>
        </p:nvSpPr>
        <p:spPr>
          <a:xfrm>
            <a:off x="4343400" y="4495800"/>
            <a:ext cx="76200" cy="76200"/>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4" name="Oval 23"/>
          <p:cNvSpPr/>
          <p:nvPr/>
        </p:nvSpPr>
        <p:spPr>
          <a:xfrm>
            <a:off x="3810000" y="4724400"/>
            <a:ext cx="76200" cy="76200"/>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5" name="Oval 24"/>
          <p:cNvSpPr/>
          <p:nvPr/>
        </p:nvSpPr>
        <p:spPr>
          <a:xfrm>
            <a:off x="3048000" y="4800600"/>
            <a:ext cx="76200" cy="76200"/>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6" name="Oval 25"/>
          <p:cNvSpPr/>
          <p:nvPr/>
        </p:nvSpPr>
        <p:spPr>
          <a:xfrm>
            <a:off x="3581400" y="5029200"/>
            <a:ext cx="76200" cy="76200"/>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7" name="Oval 26"/>
          <p:cNvSpPr/>
          <p:nvPr/>
        </p:nvSpPr>
        <p:spPr>
          <a:xfrm>
            <a:off x="4800600" y="4267200"/>
            <a:ext cx="76200" cy="76200"/>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8" name="Oval 27"/>
          <p:cNvSpPr/>
          <p:nvPr/>
        </p:nvSpPr>
        <p:spPr>
          <a:xfrm>
            <a:off x="4648200" y="4267200"/>
            <a:ext cx="76200" cy="76200"/>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9" name="Oval 28"/>
          <p:cNvSpPr/>
          <p:nvPr/>
        </p:nvSpPr>
        <p:spPr>
          <a:xfrm>
            <a:off x="5029200" y="4114800"/>
            <a:ext cx="76200" cy="76200"/>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0" name="Oval 29"/>
          <p:cNvSpPr/>
          <p:nvPr/>
        </p:nvSpPr>
        <p:spPr>
          <a:xfrm>
            <a:off x="5029200" y="4267200"/>
            <a:ext cx="76200" cy="76200"/>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1" name="Oval 30"/>
          <p:cNvSpPr/>
          <p:nvPr/>
        </p:nvSpPr>
        <p:spPr>
          <a:xfrm>
            <a:off x="4800600" y="4419600"/>
            <a:ext cx="76200" cy="76200"/>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2" name="Oval 31"/>
          <p:cNvSpPr/>
          <p:nvPr/>
        </p:nvSpPr>
        <p:spPr>
          <a:xfrm>
            <a:off x="5257800" y="4038600"/>
            <a:ext cx="76200" cy="76200"/>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3" name="Oval 32"/>
          <p:cNvSpPr/>
          <p:nvPr/>
        </p:nvSpPr>
        <p:spPr>
          <a:xfrm>
            <a:off x="5257800" y="4343400"/>
            <a:ext cx="76200" cy="76200"/>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4" name="Oval 33"/>
          <p:cNvSpPr/>
          <p:nvPr/>
        </p:nvSpPr>
        <p:spPr>
          <a:xfrm>
            <a:off x="5791200" y="3962400"/>
            <a:ext cx="76200" cy="76200"/>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5" name="Oval 34"/>
          <p:cNvSpPr/>
          <p:nvPr/>
        </p:nvSpPr>
        <p:spPr>
          <a:xfrm>
            <a:off x="5638800" y="4038600"/>
            <a:ext cx="76200" cy="76200"/>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6" name="Oval 35"/>
          <p:cNvSpPr/>
          <p:nvPr/>
        </p:nvSpPr>
        <p:spPr>
          <a:xfrm>
            <a:off x="5943600" y="3962400"/>
            <a:ext cx="76200" cy="76200"/>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7" name="Oval 36"/>
          <p:cNvSpPr/>
          <p:nvPr/>
        </p:nvSpPr>
        <p:spPr>
          <a:xfrm>
            <a:off x="6324600" y="3733800"/>
            <a:ext cx="76200" cy="76200"/>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8" name="Oval 37"/>
          <p:cNvSpPr/>
          <p:nvPr/>
        </p:nvSpPr>
        <p:spPr>
          <a:xfrm>
            <a:off x="6172200" y="3810000"/>
            <a:ext cx="76200" cy="76200"/>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err="1"/>
              <a:t>vcv</a:t>
            </a:r>
            <a:endParaRPr lang="en-US" dirty="0"/>
          </a:p>
        </p:txBody>
      </p:sp>
      <p:sp>
        <p:nvSpPr>
          <p:cNvPr id="39" name="Oval 38"/>
          <p:cNvSpPr/>
          <p:nvPr/>
        </p:nvSpPr>
        <p:spPr>
          <a:xfrm>
            <a:off x="6629400" y="3657600"/>
            <a:ext cx="76200" cy="76200"/>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0" name="Oval 39"/>
          <p:cNvSpPr/>
          <p:nvPr/>
        </p:nvSpPr>
        <p:spPr>
          <a:xfrm>
            <a:off x="6705600" y="3810000"/>
            <a:ext cx="76200" cy="76200"/>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1" name="Oval 40"/>
          <p:cNvSpPr/>
          <p:nvPr/>
        </p:nvSpPr>
        <p:spPr>
          <a:xfrm>
            <a:off x="6858000" y="3657600"/>
            <a:ext cx="76200" cy="76200"/>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2" name="Oval 41"/>
          <p:cNvSpPr/>
          <p:nvPr/>
        </p:nvSpPr>
        <p:spPr>
          <a:xfrm>
            <a:off x="6858000" y="3733800"/>
            <a:ext cx="76200" cy="76200"/>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3" name="Oval 42"/>
          <p:cNvSpPr/>
          <p:nvPr/>
        </p:nvSpPr>
        <p:spPr>
          <a:xfrm>
            <a:off x="7162800" y="3581400"/>
            <a:ext cx="76200" cy="76200"/>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4" name="Oval 43"/>
          <p:cNvSpPr/>
          <p:nvPr/>
        </p:nvSpPr>
        <p:spPr>
          <a:xfrm>
            <a:off x="7467600" y="3429000"/>
            <a:ext cx="76200" cy="76200"/>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5" name="Oval 44"/>
          <p:cNvSpPr/>
          <p:nvPr/>
        </p:nvSpPr>
        <p:spPr>
          <a:xfrm>
            <a:off x="7467600" y="3567752"/>
            <a:ext cx="76200" cy="76200"/>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6" name="Oval 45"/>
          <p:cNvSpPr/>
          <p:nvPr/>
        </p:nvSpPr>
        <p:spPr>
          <a:xfrm>
            <a:off x="5410200" y="4191000"/>
            <a:ext cx="76200" cy="76200"/>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7" name="Oval 46"/>
          <p:cNvSpPr/>
          <p:nvPr/>
        </p:nvSpPr>
        <p:spPr>
          <a:xfrm>
            <a:off x="6019800" y="4191000"/>
            <a:ext cx="76200" cy="76200"/>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8" name="Oval 47"/>
          <p:cNvSpPr/>
          <p:nvPr/>
        </p:nvSpPr>
        <p:spPr>
          <a:xfrm>
            <a:off x="5410200" y="4038600"/>
            <a:ext cx="76200" cy="76200"/>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49" name="Straight Connector 48"/>
          <p:cNvCxnSpPr/>
          <p:nvPr/>
        </p:nvCxnSpPr>
        <p:spPr>
          <a:xfrm flipV="1">
            <a:off x="2057400" y="3469945"/>
            <a:ext cx="5475241" cy="1940255"/>
          </a:xfrm>
          <a:prstGeom prst="line">
            <a:avLst/>
          </a:prstGeom>
          <a:ln w="73025">
            <a:solidFill>
              <a:srgbClr val="C00000"/>
            </a:solidFill>
          </a:ln>
        </p:spPr>
        <p:style>
          <a:lnRef idx="1">
            <a:schemeClr val="accent1"/>
          </a:lnRef>
          <a:fillRef idx="0">
            <a:schemeClr val="accent1"/>
          </a:fillRef>
          <a:effectRef idx="0">
            <a:schemeClr val="accent1"/>
          </a:effectRef>
          <a:fontRef idx="minor">
            <a:schemeClr val="tx1"/>
          </a:fontRef>
        </p:style>
      </p:cxnSp>
      <p:sp>
        <p:nvSpPr>
          <p:cNvPr id="50" name="Oval 49"/>
          <p:cNvSpPr/>
          <p:nvPr/>
        </p:nvSpPr>
        <p:spPr>
          <a:xfrm>
            <a:off x="3733800" y="4953000"/>
            <a:ext cx="76200" cy="76200"/>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1" name="Oval 50"/>
          <p:cNvSpPr/>
          <p:nvPr/>
        </p:nvSpPr>
        <p:spPr>
          <a:xfrm flipH="1" flipV="1">
            <a:off x="4214812" y="5170487"/>
            <a:ext cx="166688" cy="87313"/>
          </a:xfrm>
          <a:prstGeom prst="ellipse">
            <a:avLst/>
          </a:prstGeom>
          <a:solidFill>
            <a:schemeClr val="tx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2" name="Oval 51"/>
          <p:cNvSpPr/>
          <p:nvPr/>
        </p:nvSpPr>
        <p:spPr>
          <a:xfrm>
            <a:off x="4572000" y="4495800"/>
            <a:ext cx="76200" cy="76200"/>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3" name="Oval 52"/>
          <p:cNvSpPr/>
          <p:nvPr/>
        </p:nvSpPr>
        <p:spPr>
          <a:xfrm>
            <a:off x="5867400" y="4114800"/>
            <a:ext cx="76200" cy="76200"/>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4" name="Oval 53"/>
          <p:cNvSpPr/>
          <p:nvPr/>
        </p:nvSpPr>
        <p:spPr>
          <a:xfrm>
            <a:off x="6172200" y="3962400"/>
            <a:ext cx="76200" cy="76200"/>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5" name="Oval 54"/>
          <p:cNvSpPr/>
          <p:nvPr/>
        </p:nvSpPr>
        <p:spPr>
          <a:xfrm>
            <a:off x="6324600" y="4114800"/>
            <a:ext cx="76200" cy="76200"/>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6" name="Oval 55"/>
          <p:cNvSpPr/>
          <p:nvPr/>
        </p:nvSpPr>
        <p:spPr>
          <a:xfrm>
            <a:off x="6553200" y="3962400"/>
            <a:ext cx="76200" cy="76200"/>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7" name="Oval 56"/>
          <p:cNvSpPr/>
          <p:nvPr/>
        </p:nvSpPr>
        <p:spPr>
          <a:xfrm>
            <a:off x="6705600" y="3810000"/>
            <a:ext cx="76200" cy="76200"/>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8" name="Oval 57"/>
          <p:cNvSpPr/>
          <p:nvPr/>
        </p:nvSpPr>
        <p:spPr>
          <a:xfrm>
            <a:off x="7162800" y="3733800"/>
            <a:ext cx="76200" cy="76200"/>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9" name="Oval 58"/>
          <p:cNvSpPr/>
          <p:nvPr/>
        </p:nvSpPr>
        <p:spPr>
          <a:xfrm>
            <a:off x="7391400" y="3505200"/>
            <a:ext cx="76200" cy="76200"/>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0" name="Oval 59"/>
          <p:cNvSpPr/>
          <p:nvPr/>
        </p:nvSpPr>
        <p:spPr>
          <a:xfrm>
            <a:off x="6934200" y="3505200"/>
            <a:ext cx="76200" cy="76200"/>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1" name="Oval 60"/>
          <p:cNvSpPr/>
          <p:nvPr/>
        </p:nvSpPr>
        <p:spPr>
          <a:xfrm>
            <a:off x="7239000" y="3429000"/>
            <a:ext cx="76200" cy="76200"/>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2" name="Oval 61"/>
          <p:cNvSpPr/>
          <p:nvPr/>
        </p:nvSpPr>
        <p:spPr>
          <a:xfrm>
            <a:off x="6019800" y="3810000"/>
            <a:ext cx="76200" cy="76200"/>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3" name="Oval 62"/>
          <p:cNvSpPr/>
          <p:nvPr/>
        </p:nvSpPr>
        <p:spPr>
          <a:xfrm>
            <a:off x="6172200" y="3886200"/>
            <a:ext cx="76200" cy="76200"/>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4" name="TextBox 63"/>
          <p:cNvSpPr txBox="1"/>
          <p:nvPr/>
        </p:nvSpPr>
        <p:spPr>
          <a:xfrm>
            <a:off x="4343400" y="5943600"/>
            <a:ext cx="4191000" cy="369332"/>
          </a:xfrm>
          <a:prstGeom prst="rect">
            <a:avLst/>
          </a:prstGeom>
          <a:noFill/>
        </p:spPr>
        <p:txBody>
          <a:bodyPr wrap="square" rtlCol="0">
            <a:spAutoFit/>
          </a:bodyPr>
          <a:lstStyle/>
          <a:p>
            <a:r>
              <a:rPr lang="en-US" dirty="0"/>
              <a:t>Height</a:t>
            </a:r>
          </a:p>
        </p:txBody>
      </p:sp>
      <p:sp>
        <p:nvSpPr>
          <p:cNvPr id="65" name="TextBox 64"/>
          <p:cNvSpPr txBox="1"/>
          <p:nvPr/>
        </p:nvSpPr>
        <p:spPr>
          <a:xfrm>
            <a:off x="1219200" y="3429000"/>
            <a:ext cx="304800" cy="1754326"/>
          </a:xfrm>
          <a:prstGeom prst="rect">
            <a:avLst/>
          </a:prstGeom>
          <a:noFill/>
        </p:spPr>
        <p:txBody>
          <a:bodyPr wrap="square" rtlCol="0">
            <a:spAutoFit/>
          </a:bodyPr>
          <a:lstStyle/>
          <a:p>
            <a:r>
              <a:rPr lang="en-US" dirty="0"/>
              <a:t>W</a:t>
            </a:r>
          </a:p>
          <a:p>
            <a:r>
              <a:rPr lang="en-US" dirty="0"/>
              <a:t>E</a:t>
            </a:r>
          </a:p>
          <a:p>
            <a:r>
              <a:rPr lang="en-US" dirty="0"/>
              <a:t> I</a:t>
            </a:r>
          </a:p>
          <a:p>
            <a:r>
              <a:rPr lang="en-US" dirty="0"/>
              <a:t>G</a:t>
            </a:r>
          </a:p>
          <a:p>
            <a:r>
              <a:rPr lang="en-US" dirty="0"/>
              <a:t>H</a:t>
            </a:r>
          </a:p>
          <a:p>
            <a:r>
              <a:rPr lang="en-US" dirty="0"/>
              <a:t>T</a:t>
            </a:r>
          </a:p>
        </p:txBody>
      </p:sp>
      <p:sp>
        <p:nvSpPr>
          <p:cNvPr id="66" name="Oval 65"/>
          <p:cNvSpPr/>
          <p:nvPr/>
        </p:nvSpPr>
        <p:spPr>
          <a:xfrm>
            <a:off x="6740856" y="5562600"/>
            <a:ext cx="103496" cy="152400"/>
          </a:xfrm>
          <a:prstGeom prst="ellipse">
            <a:avLst/>
          </a:prstGeom>
          <a:solidFill>
            <a:srgbClr val="FF0000"/>
          </a:solidFill>
          <a:ln>
            <a:solidFill>
              <a:schemeClr val="accent2">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67" name="Straight Connector 66"/>
          <p:cNvCxnSpPr/>
          <p:nvPr/>
        </p:nvCxnSpPr>
        <p:spPr>
          <a:xfrm rot="5400000" flipH="1">
            <a:off x="5796602" y="4664406"/>
            <a:ext cx="1981200" cy="10804"/>
          </a:xfrm>
          <a:prstGeom prst="line">
            <a:avLst/>
          </a:prstGeom>
          <a:ln w="254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68" name="Straight Connector 67"/>
          <p:cNvCxnSpPr/>
          <p:nvPr/>
        </p:nvCxnSpPr>
        <p:spPr>
          <a:xfrm>
            <a:off x="2084696" y="3733800"/>
            <a:ext cx="4724400" cy="1588"/>
          </a:xfrm>
          <a:prstGeom prst="line">
            <a:avLst/>
          </a:prstGeom>
          <a:ln w="254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70" name="Straight Arrow Connector 69"/>
          <p:cNvCxnSpPr>
            <a:stCxn id="22" idx="3"/>
            <a:endCxn id="51" idx="5"/>
          </p:cNvCxnSpPr>
          <p:nvPr/>
        </p:nvCxnSpPr>
        <p:spPr>
          <a:xfrm>
            <a:off x="4202159" y="4713241"/>
            <a:ext cx="37064" cy="470033"/>
          </a:xfrm>
          <a:prstGeom prst="straightConnector1">
            <a:avLst/>
          </a:prstGeom>
          <a:ln w="44450">
            <a:solidFill>
              <a:schemeClr val="tx1"/>
            </a:solidFill>
            <a:headEnd type="triangle"/>
            <a:tailEnd type="triangle"/>
          </a:ln>
        </p:spPr>
        <p:style>
          <a:lnRef idx="1">
            <a:schemeClr val="accent1"/>
          </a:lnRef>
          <a:fillRef idx="0">
            <a:schemeClr val="accent1"/>
          </a:fillRef>
          <a:effectRef idx="0">
            <a:schemeClr val="accent1"/>
          </a:effectRef>
          <a:fontRef idx="minor">
            <a:schemeClr val="tx1"/>
          </a:fontRef>
        </p:style>
      </p:cxnSp>
      <p:cxnSp>
        <p:nvCxnSpPr>
          <p:cNvPr id="76" name="Straight Arrow Connector 75"/>
          <p:cNvCxnSpPr/>
          <p:nvPr/>
        </p:nvCxnSpPr>
        <p:spPr>
          <a:xfrm>
            <a:off x="4510825" y="4097204"/>
            <a:ext cx="37064" cy="470033"/>
          </a:xfrm>
          <a:prstGeom prst="straightConnector1">
            <a:avLst/>
          </a:prstGeom>
          <a:ln w="44450">
            <a:solidFill>
              <a:srgbClr val="FF0000"/>
            </a:solidFill>
            <a:headEnd type="triangle"/>
            <a:tailEnd type="triangle"/>
          </a:ln>
        </p:spPr>
        <p:style>
          <a:lnRef idx="1">
            <a:schemeClr val="accent1"/>
          </a:lnRef>
          <a:fillRef idx="0">
            <a:schemeClr val="accent1"/>
          </a:fillRef>
          <a:effectRef idx="0">
            <a:schemeClr val="accent1"/>
          </a:effectRef>
          <a:fontRef idx="minor">
            <a:schemeClr val="tx1"/>
          </a:fontRef>
        </p:style>
      </p:cxnSp>
      <p:sp>
        <p:nvSpPr>
          <p:cNvPr id="71" name="TextBox 70"/>
          <p:cNvSpPr txBox="1"/>
          <p:nvPr/>
        </p:nvSpPr>
        <p:spPr>
          <a:xfrm flipH="1">
            <a:off x="6472238" y="6600824"/>
            <a:ext cx="2366962" cy="307777"/>
          </a:xfrm>
          <a:prstGeom prst="rect">
            <a:avLst/>
          </a:prstGeom>
          <a:noFill/>
        </p:spPr>
        <p:txBody>
          <a:bodyPr wrap="square" rtlCol="0">
            <a:spAutoFit/>
          </a:bodyPr>
          <a:lstStyle/>
          <a:p>
            <a:r>
              <a:rPr lang="en-US" sz="1400" dirty="0" smtClean="0">
                <a:latin typeface="Times New Roman" panose="02020603050405020304" pitchFamily="18" charset="0"/>
                <a:cs typeface="Times New Roman" panose="02020603050405020304" pitchFamily="18" charset="0"/>
              </a:rPr>
              <a:t>Why error Calculation?</a:t>
            </a:r>
            <a:endParaRPr lang="en-IN" sz="1400" dirty="0">
              <a:latin typeface="Times New Roman" panose="02020603050405020304" pitchFamily="18" charset="0"/>
              <a:cs typeface="Times New Roman" panose="02020603050405020304" pitchFamily="18" charset="0"/>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6" presetClass="emph" presetSubtype="0" fill="hold" grpId="0" nodeType="clickEffect">
                                  <p:stCondLst>
                                    <p:cond delay="0"/>
                                  </p:stCondLst>
                                  <p:childTnLst>
                                    <p:animScale>
                                      <p:cBhvr>
                                        <p:cTn id="6" dur="2000" fill="hold"/>
                                        <p:tgtEl>
                                          <p:spTgt spid="51"/>
                                        </p:tgtEl>
                                      </p:cBhvr>
                                      <p:by x="150000" y="150000"/>
                                    </p:animScale>
                                  </p:childTnLst>
                                </p:cTn>
                              </p:par>
                            </p:childTnLst>
                          </p:cTn>
                        </p:par>
                      </p:childTnLst>
                    </p:cTn>
                  </p:par>
                  <p:par>
                    <p:cTn id="7" fill="hold">
                      <p:stCondLst>
                        <p:cond delay="indefinite"/>
                      </p:stCondLst>
                      <p:childTnLst>
                        <p:par>
                          <p:cTn id="8" fill="hold">
                            <p:stCondLst>
                              <p:cond delay="0"/>
                            </p:stCondLst>
                            <p:childTnLst>
                              <p:par>
                                <p:cTn id="9" presetID="22" presetClass="entr" presetSubtype="4" fill="hold" nodeType="clickEffect">
                                  <p:stCondLst>
                                    <p:cond delay="0"/>
                                  </p:stCondLst>
                                  <p:childTnLst>
                                    <p:set>
                                      <p:cBhvr>
                                        <p:cTn id="10" dur="1" fill="hold">
                                          <p:stCondLst>
                                            <p:cond delay="0"/>
                                          </p:stCondLst>
                                        </p:cTn>
                                        <p:tgtEl>
                                          <p:spTgt spid="70"/>
                                        </p:tgtEl>
                                        <p:attrNameLst>
                                          <p:attrName>style.visibility</p:attrName>
                                        </p:attrNameLst>
                                      </p:cBhvr>
                                      <p:to>
                                        <p:strVal val="visible"/>
                                      </p:to>
                                    </p:set>
                                    <p:animEffect transition="in" filter="wipe(down)">
                                      <p:cBhvr>
                                        <p:cTn id="11" dur="500"/>
                                        <p:tgtEl>
                                          <p:spTgt spid="70"/>
                                        </p:tgtEl>
                                      </p:cBhvr>
                                    </p:animEffect>
                                  </p:childTnLst>
                                </p:cTn>
                              </p:par>
                            </p:childTnLst>
                          </p:cTn>
                        </p:par>
                      </p:childTnLst>
                    </p:cTn>
                  </p:par>
                  <p:par>
                    <p:cTn id="12" fill="hold">
                      <p:stCondLst>
                        <p:cond delay="indefinite"/>
                      </p:stCondLst>
                      <p:childTnLst>
                        <p:par>
                          <p:cTn id="13" fill="hold">
                            <p:stCondLst>
                              <p:cond delay="0"/>
                            </p:stCondLst>
                            <p:childTnLst>
                              <p:par>
                                <p:cTn id="14" presetID="6" presetClass="emph" presetSubtype="0" fill="hold" grpId="0" nodeType="clickEffect">
                                  <p:stCondLst>
                                    <p:cond delay="0"/>
                                  </p:stCondLst>
                                  <p:childTnLst>
                                    <p:animScale>
                                      <p:cBhvr>
                                        <p:cTn id="15" dur="2000" fill="hold"/>
                                        <p:tgtEl>
                                          <p:spTgt spid="21"/>
                                        </p:tgtEl>
                                      </p:cBhvr>
                                      <p:by x="150000" y="150000"/>
                                    </p:animScale>
                                  </p:childTnLst>
                                </p:cTn>
                              </p:par>
                            </p:childTnLst>
                          </p:cTn>
                        </p:par>
                      </p:childTnLst>
                    </p:cTn>
                  </p:par>
                  <p:par>
                    <p:cTn id="16" fill="hold">
                      <p:stCondLst>
                        <p:cond delay="indefinite"/>
                      </p:stCondLst>
                      <p:childTnLst>
                        <p:par>
                          <p:cTn id="17" fill="hold">
                            <p:stCondLst>
                              <p:cond delay="0"/>
                            </p:stCondLst>
                            <p:childTnLst>
                              <p:par>
                                <p:cTn id="18" presetID="22" presetClass="entr" presetSubtype="4" fill="hold" nodeType="clickEffect">
                                  <p:stCondLst>
                                    <p:cond delay="0"/>
                                  </p:stCondLst>
                                  <p:childTnLst>
                                    <p:set>
                                      <p:cBhvr>
                                        <p:cTn id="19" dur="1" fill="hold">
                                          <p:stCondLst>
                                            <p:cond delay="0"/>
                                          </p:stCondLst>
                                        </p:cTn>
                                        <p:tgtEl>
                                          <p:spTgt spid="76"/>
                                        </p:tgtEl>
                                        <p:attrNameLst>
                                          <p:attrName>style.visibility</p:attrName>
                                        </p:attrNameLst>
                                      </p:cBhvr>
                                      <p:to>
                                        <p:strVal val="visible"/>
                                      </p:to>
                                    </p:set>
                                    <p:animEffect transition="in" filter="wipe(down)">
                                      <p:cBhvr>
                                        <p:cTn id="20" dur="500"/>
                                        <p:tgtEl>
                                          <p:spTgt spid="7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1" grpId="0" animBg="1"/>
      <p:bldP spid="51" grpId="0" animBg="1"/>
    </p:bld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Linear Neural Network</a:t>
            </a:r>
          </a:p>
        </p:txBody>
      </p:sp>
      <p:sp>
        <p:nvSpPr>
          <p:cNvPr id="3" name="Content Placeholder 2"/>
          <p:cNvSpPr>
            <a:spLocks noGrp="1"/>
          </p:cNvSpPr>
          <p:nvPr>
            <p:ph sz="quarter" idx="1"/>
          </p:nvPr>
        </p:nvSpPr>
        <p:spPr/>
        <p:txBody>
          <a:bodyPr/>
          <a:lstStyle/>
          <a:p>
            <a:r>
              <a:rPr lang="en-US" b="1" u="sng" dirty="0"/>
              <a:t>Error Calculation</a:t>
            </a:r>
          </a:p>
          <a:p>
            <a:pPr lvl="1"/>
            <a:r>
              <a:rPr lang="en-US" dirty="0"/>
              <a:t>It is done to adjust the slope(m) and intercept for better fitting next time.</a:t>
            </a:r>
          </a:p>
          <a:p>
            <a:pPr lvl="1"/>
            <a:endParaRPr lang="en-US" dirty="0"/>
          </a:p>
        </p:txBody>
      </p:sp>
      <p:graphicFrame>
        <p:nvGraphicFramePr>
          <p:cNvPr id="4" name="Chart 3"/>
          <p:cNvGraphicFramePr/>
          <p:nvPr>
            <p:extLst>
              <p:ext uri="{D42A27DB-BD31-4B8C-83A1-F6EECF244321}">
                <p14:modId xmlns:p14="http://schemas.microsoft.com/office/powerpoint/2010/main" val="4064240624"/>
              </p:ext>
            </p:extLst>
          </p:nvPr>
        </p:nvGraphicFramePr>
        <p:xfrm>
          <a:off x="1485900" y="3429000"/>
          <a:ext cx="6324600" cy="3048000"/>
        </p:xfrm>
        <a:graphic>
          <a:graphicData uri="http://schemas.openxmlformats.org/drawingml/2006/chart">
            <c:chart xmlns:c="http://schemas.openxmlformats.org/drawingml/2006/chart" xmlns:r="http://schemas.openxmlformats.org/officeDocument/2006/relationships" r:id="rId3"/>
          </a:graphicData>
        </a:graphic>
      </p:graphicFrame>
      <p:sp>
        <p:nvSpPr>
          <p:cNvPr id="10" name="Oval 9"/>
          <p:cNvSpPr/>
          <p:nvPr/>
        </p:nvSpPr>
        <p:spPr>
          <a:xfrm>
            <a:off x="2438400" y="5638800"/>
            <a:ext cx="76200" cy="76200"/>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Oval 10"/>
          <p:cNvSpPr/>
          <p:nvPr/>
        </p:nvSpPr>
        <p:spPr>
          <a:xfrm>
            <a:off x="2590800" y="5562600"/>
            <a:ext cx="76200" cy="76200"/>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50" name="Straight Connector 49"/>
          <p:cNvCxnSpPr/>
          <p:nvPr/>
        </p:nvCxnSpPr>
        <p:spPr>
          <a:xfrm flipV="1">
            <a:off x="2057400" y="3886200"/>
            <a:ext cx="5475241" cy="1940255"/>
          </a:xfrm>
          <a:prstGeom prst="line">
            <a:avLst/>
          </a:prstGeom>
          <a:ln w="73025">
            <a:solidFill>
              <a:srgbClr val="C00000"/>
            </a:solidFill>
          </a:ln>
        </p:spPr>
        <p:style>
          <a:lnRef idx="1">
            <a:schemeClr val="accent1"/>
          </a:lnRef>
          <a:fillRef idx="0">
            <a:schemeClr val="accent1"/>
          </a:fillRef>
          <a:effectRef idx="0">
            <a:schemeClr val="accent1"/>
          </a:effectRef>
          <a:fontRef idx="minor">
            <a:schemeClr val="tx1"/>
          </a:fontRef>
        </p:style>
      </p:cxnSp>
      <p:sp>
        <p:nvSpPr>
          <p:cNvPr id="65" name="TextBox 64"/>
          <p:cNvSpPr txBox="1"/>
          <p:nvPr/>
        </p:nvSpPr>
        <p:spPr>
          <a:xfrm>
            <a:off x="4343400" y="6260068"/>
            <a:ext cx="4191000" cy="369332"/>
          </a:xfrm>
          <a:prstGeom prst="rect">
            <a:avLst/>
          </a:prstGeom>
          <a:noFill/>
        </p:spPr>
        <p:txBody>
          <a:bodyPr wrap="square" rtlCol="0">
            <a:spAutoFit/>
          </a:bodyPr>
          <a:lstStyle/>
          <a:p>
            <a:r>
              <a:rPr lang="en-US" b="1" dirty="0">
                <a:latin typeface="Times New Roman" panose="02020603050405020304" pitchFamily="18" charset="0"/>
                <a:cs typeface="Times New Roman" panose="02020603050405020304" pitchFamily="18" charset="0"/>
              </a:rPr>
              <a:t>Height</a:t>
            </a:r>
          </a:p>
        </p:txBody>
      </p:sp>
      <p:sp>
        <p:nvSpPr>
          <p:cNvPr id="66" name="TextBox 65"/>
          <p:cNvSpPr txBox="1"/>
          <p:nvPr/>
        </p:nvSpPr>
        <p:spPr>
          <a:xfrm>
            <a:off x="1219200" y="3962400"/>
            <a:ext cx="304800" cy="1754326"/>
          </a:xfrm>
          <a:prstGeom prst="rect">
            <a:avLst/>
          </a:prstGeom>
          <a:noFill/>
        </p:spPr>
        <p:txBody>
          <a:bodyPr wrap="square" rtlCol="0">
            <a:spAutoFit/>
          </a:bodyPr>
          <a:lstStyle/>
          <a:p>
            <a:r>
              <a:rPr lang="en-US" b="1" dirty="0">
                <a:latin typeface="Times New Roman" panose="02020603050405020304" pitchFamily="18" charset="0"/>
                <a:cs typeface="Times New Roman" panose="02020603050405020304" pitchFamily="18" charset="0"/>
              </a:rPr>
              <a:t>W</a:t>
            </a:r>
          </a:p>
          <a:p>
            <a:r>
              <a:rPr lang="en-US" b="1" dirty="0">
                <a:latin typeface="Times New Roman" panose="02020603050405020304" pitchFamily="18" charset="0"/>
                <a:cs typeface="Times New Roman" panose="02020603050405020304" pitchFamily="18" charset="0"/>
              </a:rPr>
              <a:t>E</a:t>
            </a:r>
          </a:p>
          <a:p>
            <a:r>
              <a:rPr lang="en-US" b="1" dirty="0" smtClean="0">
                <a:latin typeface="Times New Roman" panose="02020603050405020304" pitchFamily="18" charset="0"/>
                <a:cs typeface="Times New Roman" panose="02020603050405020304" pitchFamily="18" charset="0"/>
              </a:rPr>
              <a:t>I</a:t>
            </a:r>
            <a:endParaRPr lang="en-US" b="1" dirty="0">
              <a:latin typeface="Times New Roman" panose="02020603050405020304" pitchFamily="18" charset="0"/>
              <a:cs typeface="Times New Roman" panose="02020603050405020304" pitchFamily="18" charset="0"/>
            </a:endParaRPr>
          </a:p>
          <a:p>
            <a:r>
              <a:rPr lang="en-US" b="1" dirty="0">
                <a:latin typeface="Times New Roman" panose="02020603050405020304" pitchFamily="18" charset="0"/>
                <a:cs typeface="Times New Roman" panose="02020603050405020304" pitchFamily="18" charset="0"/>
              </a:rPr>
              <a:t>G</a:t>
            </a:r>
          </a:p>
          <a:p>
            <a:r>
              <a:rPr lang="en-US" b="1" dirty="0">
                <a:latin typeface="Times New Roman" panose="02020603050405020304" pitchFamily="18" charset="0"/>
                <a:cs typeface="Times New Roman" panose="02020603050405020304" pitchFamily="18" charset="0"/>
              </a:rPr>
              <a:t>H</a:t>
            </a:r>
          </a:p>
          <a:p>
            <a:r>
              <a:rPr lang="en-US" b="1" dirty="0">
                <a:latin typeface="Times New Roman" panose="02020603050405020304" pitchFamily="18" charset="0"/>
                <a:cs typeface="Times New Roman" panose="02020603050405020304" pitchFamily="18" charset="0"/>
              </a:rPr>
              <a:t>T</a:t>
            </a:r>
          </a:p>
        </p:txBody>
      </p:sp>
      <p:sp>
        <p:nvSpPr>
          <p:cNvPr id="68" name="Oval 67"/>
          <p:cNvSpPr/>
          <p:nvPr/>
        </p:nvSpPr>
        <p:spPr>
          <a:xfrm>
            <a:off x="2743200" y="5334000"/>
            <a:ext cx="76200" cy="76200"/>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0" name="Oval 69"/>
          <p:cNvSpPr/>
          <p:nvPr/>
        </p:nvSpPr>
        <p:spPr>
          <a:xfrm>
            <a:off x="2895600" y="5257800"/>
            <a:ext cx="76200" cy="76200"/>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2" name="Oval 71"/>
          <p:cNvSpPr/>
          <p:nvPr/>
        </p:nvSpPr>
        <p:spPr>
          <a:xfrm>
            <a:off x="3200400" y="5181600"/>
            <a:ext cx="76200" cy="76200"/>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4" name="Oval 73"/>
          <p:cNvSpPr/>
          <p:nvPr/>
        </p:nvSpPr>
        <p:spPr>
          <a:xfrm>
            <a:off x="3352800" y="5257800"/>
            <a:ext cx="76200" cy="76200"/>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5" name="Oval 74"/>
          <p:cNvSpPr/>
          <p:nvPr/>
        </p:nvSpPr>
        <p:spPr>
          <a:xfrm>
            <a:off x="3200400" y="5486400"/>
            <a:ext cx="76200" cy="76200"/>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6" name="Oval 75"/>
          <p:cNvSpPr/>
          <p:nvPr/>
        </p:nvSpPr>
        <p:spPr>
          <a:xfrm>
            <a:off x="3657600" y="5410200"/>
            <a:ext cx="76200" cy="76200"/>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7" name="Oval 76"/>
          <p:cNvSpPr/>
          <p:nvPr/>
        </p:nvSpPr>
        <p:spPr>
          <a:xfrm>
            <a:off x="3810000" y="5334000"/>
            <a:ext cx="76200" cy="76200"/>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8" name="Oval 77"/>
          <p:cNvSpPr/>
          <p:nvPr/>
        </p:nvSpPr>
        <p:spPr>
          <a:xfrm>
            <a:off x="3810000" y="5181600"/>
            <a:ext cx="76200" cy="76200"/>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79" name="Straight Connector 78"/>
          <p:cNvCxnSpPr/>
          <p:nvPr/>
        </p:nvCxnSpPr>
        <p:spPr>
          <a:xfrm flipV="1">
            <a:off x="2057400" y="4114800"/>
            <a:ext cx="5638800" cy="1600200"/>
          </a:xfrm>
          <a:prstGeom prst="line">
            <a:avLst/>
          </a:prstGeom>
          <a:ln w="73025">
            <a:solidFill>
              <a:srgbClr val="C00000"/>
            </a:solidFill>
          </a:ln>
        </p:spPr>
        <p:style>
          <a:lnRef idx="1">
            <a:schemeClr val="accent1"/>
          </a:lnRef>
          <a:fillRef idx="0">
            <a:schemeClr val="accent1"/>
          </a:fillRef>
          <a:effectRef idx="0">
            <a:schemeClr val="accent1"/>
          </a:effectRef>
          <a:fontRef idx="minor">
            <a:schemeClr val="tx1"/>
          </a:fontRef>
        </p:style>
      </p:cxnSp>
      <p:sp>
        <p:nvSpPr>
          <p:cNvPr id="81" name="Oval 80"/>
          <p:cNvSpPr/>
          <p:nvPr/>
        </p:nvSpPr>
        <p:spPr>
          <a:xfrm>
            <a:off x="4114800" y="5334000"/>
            <a:ext cx="76200" cy="76200"/>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2" name="Oval 81"/>
          <p:cNvSpPr/>
          <p:nvPr/>
        </p:nvSpPr>
        <p:spPr>
          <a:xfrm>
            <a:off x="4419600" y="5181600"/>
            <a:ext cx="76200" cy="76200"/>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3" name="Oval 82"/>
          <p:cNvSpPr/>
          <p:nvPr/>
        </p:nvSpPr>
        <p:spPr>
          <a:xfrm>
            <a:off x="4572000" y="5105400"/>
            <a:ext cx="76200" cy="76200"/>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4" name="Oval 83"/>
          <p:cNvSpPr/>
          <p:nvPr/>
        </p:nvSpPr>
        <p:spPr>
          <a:xfrm>
            <a:off x="4724400" y="4876800"/>
            <a:ext cx="76200" cy="76200"/>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5" name="Oval 84"/>
          <p:cNvSpPr/>
          <p:nvPr/>
        </p:nvSpPr>
        <p:spPr>
          <a:xfrm>
            <a:off x="4953000" y="4953000"/>
            <a:ext cx="76200" cy="76200"/>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6" name="Oval 85"/>
          <p:cNvSpPr/>
          <p:nvPr/>
        </p:nvSpPr>
        <p:spPr>
          <a:xfrm>
            <a:off x="5105400" y="4876800"/>
            <a:ext cx="76200" cy="76200"/>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7" name="Oval 86"/>
          <p:cNvSpPr/>
          <p:nvPr/>
        </p:nvSpPr>
        <p:spPr>
          <a:xfrm>
            <a:off x="5562600" y="4800600"/>
            <a:ext cx="76200" cy="76200"/>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8" name="Oval 87"/>
          <p:cNvSpPr/>
          <p:nvPr/>
        </p:nvSpPr>
        <p:spPr>
          <a:xfrm>
            <a:off x="5715000" y="4572000"/>
            <a:ext cx="76200" cy="76200"/>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2" name="Oval 91"/>
          <p:cNvSpPr/>
          <p:nvPr/>
        </p:nvSpPr>
        <p:spPr>
          <a:xfrm>
            <a:off x="3429000" y="5029200"/>
            <a:ext cx="76200" cy="76200"/>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3" name="Oval 92"/>
          <p:cNvSpPr/>
          <p:nvPr/>
        </p:nvSpPr>
        <p:spPr>
          <a:xfrm>
            <a:off x="3810000" y="4953000"/>
            <a:ext cx="76200" cy="76200"/>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4" name="Oval 93"/>
          <p:cNvSpPr/>
          <p:nvPr/>
        </p:nvSpPr>
        <p:spPr>
          <a:xfrm>
            <a:off x="2819400" y="5181600"/>
            <a:ext cx="76200" cy="76200"/>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5" name="Oval 94"/>
          <p:cNvSpPr/>
          <p:nvPr/>
        </p:nvSpPr>
        <p:spPr>
          <a:xfrm>
            <a:off x="3962400" y="5105400"/>
            <a:ext cx="76200" cy="76200"/>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1" name="TextBox 30"/>
          <p:cNvSpPr txBox="1"/>
          <p:nvPr/>
        </p:nvSpPr>
        <p:spPr>
          <a:xfrm>
            <a:off x="0" y="0"/>
            <a:ext cx="4572000" cy="369332"/>
          </a:xfrm>
          <a:prstGeom prst="rect">
            <a:avLst/>
          </a:prstGeom>
          <a:noFill/>
        </p:spPr>
        <p:txBody>
          <a:bodyPr wrap="square" rtlCol="0">
            <a:spAutoFit/>
          </a:bodyPr>
          <a:lstStyle/>
          <a:p>
            <a:pPr algn="r"/>
            <a:r>
              <a:rPr lang="en-US" b="1" dirty="0">
                <a:solidFill>
                  <a:schemeClr val="bg1"/>
                </a:solidFill>
              </a:rPr>
              <a:t>Introduction to Neural Network</a:t>
            </a:r>
          </a:p>
        </p:txBody>
      </p:sp>
      <p:sp>
        <p:nvSpPr>
          <p:cNvPr id="32" name="Date Placeholder 3"/>
          <p:cNvSpPr>
            <a:spLocks noGrp="1"/>
          </p:cNvSpPr>
          <p:nvPr>
            <p:ph type="dt" sz="half" idx="10"/>
          </p:nvPr>
        </p:nvSpPr>
        <p:spPr>
          <a:xfrm>
            <a:off x="0" y="6629400"/>
            <a:ext cx="3048000" cy="228600"/>
          </a:xfrm>
        </p:spPr>
        <p:txBody>
          <a:bodyPr/>
          <a:lstStyle/>
          <a:p>
            <a:fld id="{E7067A60-51C7-4095-BFA9-1CE32DCBA06F}" type="datetime1">
              <a:rPr lang="en-US" smtClean="0"/>
              <a:pPr/>
              <a:t>2/9/2026</a:t>
            </a:fld>
            <a:endParaRPr lang="en-US" dirty="0"/>
          </a:p>
        </p:txBody>
      </p:sp>
      <p:sp>
        <p:nvSpPr>
          <p:cNvPr id="33" name="Slide Number Placeholder 5"/>
          <p:cNvSpPr>
            <a:spLocks noGrp="1"/>
          </p:cNvSpPr>
          <p:nvPr>
            <p:ph type="sldNum" sz="quarter" idx="12"/>
          </p:nvPr>
        </p:nvSpPr>
        <p:spPr>
          <a:xfrm>
            <a:off x="6096000" y="6629400"/>
            <a:ext cx="3048000" cy="228600"/>
          </a:xfrm>
        </p:spPr>
        <p:txBody>
          <a:bodyPr/>
          <a:lstStyle/>
          <a:p>
            <a:r>
              <a:rPr lang="en-US" dirty="0" smtClean="0"/>
              <a:t>10</a:t>
            </a:r>
            <a:endParaRPr lang="en-US" dirty="0"/>
          </a:p>
        </p:txBody>
      </p:sp>
      <p:sp>
        <p:nvSpPr>
          <p:cNvPr id="34" name="Footer Placeholder 4">
            <a:extLst>
              <a:ext uri="{FF2B5EF4-FFF2-40B4-BE49-F238E27FC236}">
                <a16:creationId xmlns:a16="http://schemas.microsoft.com/office/drawing/2014/main" id="{CBB301ED-B8A4-4772-B559-A9E41E7472BD}"/>
              </a:ext>
            </a:extLst>
          </p:cNvPr>
          <p:cNvSpPr>
            <a:spLocks noGrp="1"/>
          </p:cNvSpPr>
          <p:nvPr>
            <p:ph type="ftr" sz="quarter" idx="11"/>
          </p:nvPr>
        </p:nvSpPr>
        <p:spPr>
          <a:xfrm>
            <a:off x="2286000" y="6629400"/>
            <a:ext cx="4136571" cy="228600"/>
          </a:xfrm>
        </p:spPr>
        <p:txBody>
          <a:bodyPr/>
          <a:lstStyle/>
          <a:p>
            <a:r>
              <a:rPr lang="en-US" dirty="0"/>
              <a:t>Dr. Sibarama Panigrahi, Dept. of CSE, NIT Rourkela</a:t>
            </a:r>
          </a:p>
        </p:txBody>
      </p:sp>
      <p:sp>
        <p:nvSpPr>
          <p:cNvPr id="35" name="TextBox 34"/>
          <p:cNvSpPr txBox="1"/>
          <p:nvPr/>
        </p:nvSpPr>
        <p:spPr>
          <a:xfrm flipH="1">
            <a:off x="6324600" y="6600824"/>
            <a:ext cx="2819400" cy="307777"/>
          </a:xfrm>
          <a:prstGeom prst="rect">
            <a:avLst/>
          </a:prstGeom>
          <a:noFill/>
        </p:spPr>
        <p:txBody>
          <a:bodyPr wrap="square" rtlCol="0">
            <a:spAutoFit/>
          </a:bodyPr>
          <a:lstStyle/>
          <a:p>
            <a:r>
              <a:rPr lang="en-US" sz="1400" dirty="0" smtClean="0">
                <a:latin typeface="Times New Roman" panose="02020603050405020304" pitchFamily="18" charset="0"/>
                <a:cs typeface="Times New Roman" panose="02020603050405020304" pitchFamily="18" charset="0"/>
              </a:rPr>
              <a:t>Equivalence of Data </a:t>
            </a:r>
            <a:r>
              <a:rPr lang="en-US" sz="1400" dirty="0" err="1" smtClean="0">
                <a:latin typeface="Times New Roman" panose="02020603050405020304" pitchFamily="18" charset="0"/>
                <a:cs typeface="Times New Roman" panose="02020603050405020304" pitchFamily="18" charset="0"/>
              </a:rPr>
              <a:t>Fitting&amp;ANN</a:t>
            </a:r>
            <a:endParaRPr lang="en-IN" sz="1400" dirty="0">
              <a:latin typeface="Times New Roman" panose="02020603050405020304" pitchFamily="18" charset="0"/>
              <a:cs typeface="Times New Roman" panose="02020603050405020304" pitchFamily="18" charset="0"/>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6" presetClass="entr" presetSubtype="16" fill="hold" grpId="0" nodeType="clickEffect">
                                  <p:stCondLst>
                                    <p:cond delay="0"/>
                                  </p:stCondLst>
                                  <p:childTnLst>
                                    <p:set>
                                      <p:cBhvr>
                                        <p:cTn id="6" dur="1" fill="hold">
                                          <p:stCondLst>
                                            <p:cond delay="0"/>
                                          </p:stCondLst>
                                        </p:cTn>
                                        <p:tgtEl>
                                          <p:spTgt spid="10"/>
                                        </p:tgtEl>
                                        <p:attrNameLst>
                                          <p:attrName>style.visibility</p:attrName>
                                        </p:attrNameLst>
                                      </p:cBhvr>
                                      <p:to>
                                        <p:strVal val="visible"/>
                                      </p:to>
                                    </p:set>
                                    <p:animEffect transition="in" filter="circle(in)">
                                      <p:cBhvr>
                                        <p:cTn id="7" dur="500"/>
                                        <p:tgtEl>
                                          <p:spTgt spid="10"/>
                                        </p:tgtEl>
                                      </p:cBhvr>
                                    </p:animEffect>
                                  </p:childTnLst>
                                </p:cTn>
                              </p:par>
                            </p:childTnLst>
                          </p:cTn>
                        </p:par>
                        <p:par>
                          <p:cTn id="8" fill="hold">
                            <p:stCondLst>
                              <p:cond delay="500"/>
                            </p:stCondLst>
                            <p:childTnLst>
                              <p:par>
                                <p:cTn id="9" presetID="6" presetClass="entr" presetSubtype="16" fill="hold" grpId="0" nodeType="afterEffect">
                                  <p:stCondLst>
                                    <p:cond delay="0"/>
                                  </p:stCondLst>
                                  <p:childTnLst>
                                    <p:set>
                                      <p:cBhvr>
                                        <p:cTn id="10" dur="1" fill="hold">
                                          <p:stCondLst>
                                            <p:cond delay="0"/>
                                          </p:stCondLst>
                                        </p:cTn>
                                        <p:tgtEl>
                                          <p:spTgt spid="11"/>
                                        </p:tgtEl>
                                        <p:attrNameLst>
                                          <p:attrName>style.visibility</p:attrName>
                                        </p:attrNameLst>
                                      </p:cBhvr>
                                      <p:to>
                                        <p:strVal val="visible"/>
                                      </p:to>
                                    </p:set>
                                    <p:animEffect transition="in" filter="circle(in)">
                                      <p:cBhvr>
                                        <p:cTn id="11" dur="500"/>
                                        <p:tgtEl>
                                          <p:spTgt spid="11"/>
                                        </p:tgtEl>
                                      </p:cBhvr>
                                    </p:animEffect>
                                  </p:childTnLst>
                                </p:cTn>
                              </p:par>
                            </p:childTnLst>
                          </p:cTn>
                        </p:par>
                      </p:childTnLst>
                    </p:cTn>
                  </p:par>
                  <p:par>
                    <p:cTn id="12" fill="hold">
                      <p:stCondLst>
                        <p:cond delay="indefinite"/>
                      </p:stCondLst>
                      <p:childTnLst>
                        <p:par>
                          <p:cTn id="13" fill="hold">
                            <p:stCondLst>
                              <p:cond delay="0"/>
                            </p:stCondLst>
                            <p:childTnLst>
                              <p:par>
                                <p:cTn id="14" presetID="22" presetClass="entr" presetSubtype="8" fill="hold" nodeType="clickEffect">
                                  <p:stCondLst>
                                    <p:cond delay="0"/>
                                  </p:stCondLst>
                                  <p:childTnLst>
                                    <p:set>
                                      <p:cBhvr>
                                        <p:cTn id="15" dur="1" fill="hold">
                                          <p:stCondLst>
                                            <p:cond delay="0"/>
                                          </p:stCondLst>
                                        </p:cTn>
                                        <p:tgtEl>
                                          <p:spTgt spid="50"/>
                                        </p:tgtEl>
                                        <p:attrNameLst>
                                          <p:attrName>style.visibility</p:attrName>
                                        </p:attrNameLst>
                                      </p:cBhvr>
                                      <p:to>
                                        <p:strVal val="visible"/>
                                      </p:to>
                                    </p:set>
                                    <p:animEffect transition="in" filter="wipe(left)">
                                      <p:cBhvr>
                                        <p:cTn id="16" dur="2000"/>
                                        <p:tgtEl>
                                          <p:spTgt spid="50"/>
                                        </p:tgtEl>
                                      </p:cBhvr>
                                    </p:animEffect>
                                  </p:childTnLst>
                                </p:cTn>
                              </p:par>
                            </p:childTnLst>
                          </p:cTn>
                        </p:par>
                      </p:childTnLst>
                    </p:cTn>
                  </p:par>
                  <p:par>
                    <p:cTn id="17" fill="hold">
                      <p:stCondLst>
                        <p:cond delay="indefinite"/>
                      </p:stCondLst>
                      <p:childTnLst>
                        <p:par>
                          <p:cTn id="18" fill="hold">
                            <p:stCondLst>
                              <p:cond delay="0"/>
                            </p:stCondLst>
                            <p:childTnLst>
                              <p:par>
                                <p:cTn id="19" presetID="6" presetClass="entr" presetSubtype="16" fill="hold" grpId="0" nodeType="clickEffect">
                                  <p:stCondLst>
                                    <p:cond delay="0"/>
                                  </p:stCondLst>
                                  <p:childTnLst>
                                    <p:set>
                                      <p:cBhvr>
                                        <p:cTn id="20" dur="1" fill="hold">
                                          <p:stCondLst>
                                            <p:cond delay="0"/>
                                          </p:stCondLst>
                                        </p:cTn>
                                        <p:tgtEl>
                                          <p:spTgt spid="68"/>
                                        </p:tgtEl>
                                        <p:attrNameLst>
                                          <p:attrName>style.visibility</p:attrName>
                                        </p:attrNameLst>
                                      </p:cBhvr>
                                      <p:to>
                                        <p:strVal val="visible"/>
                                      </p:to>
                                    </p:set>
                                    <p:animEffect transition="in" filter="circle(in)">
                                      <p:cBhvr>
                                        <p:cTn id="21" dur="500"/>
                                        <p:tgtEl>
                                          <p:spTgt spid="68"/>
                                        </p:tgtEl>
                                      </p:cBhvr>
                                    </p:animEffect>
                                  </p:childTnLst>
                                </p:cTn>
                              </p:par>
                            </p:childTnLst>
                          </p:cTn>
                        </p:par>
                        <p:par>
                          <p:cTn id="22" fill="hold">
                            <p:stCondLst>
                              <p:cond delay="500"/>
                            </p:stCondLst>
                            <p:childTnLst>
                              <p:par>
                                <p:cTn id="23" presetID="6" presetClass="entr" presetSubtype="16" fill="hold" grpId="0" nodeType="afterEffect">
                                  <p:stCondLst>
                                    <p:cond delay="0"/>
                                  </p:stCondLst>
                                  <p:childTnLst>
                                    <p:set>
                                      <p:cBhvr>
                                        <p:cTn id="24" dur="1" fill="hold">
                                          <p:stCondLst>
                                            <p:cond delay="0"/>
                                          </p:stCondLst>
                                        </p:cTn>
                                        <p:tgtEl>
                                          <p:spTgt spid="92"/>
                                        </p:tgtEl>
                                        <p:attrNameLst>
                                          <p:attrName>style.visibility</p:attrName>
                                        </p:attrNameLst>
                                      </p:cBhvr>
                                      <p:to>
                                        <p:strVal val="visible"/>
                                      </p:to>
                                    </p:set>
                                    <p:animEffect transition="in" filter="circle(in)">
                                      <p:cBhvr>
                                        <p:cTn id="25" dur="500"/>
                                        <p:tgtEl>
                                          <p:spTgt spid="92"/>
                                        </p:tgtEl>
                                      </p:cBhvr>
                                    </p:animEffect>
                                  </p:childTnLst>
                                </p:cTn>
                              </p:par>
                            </p:childTnLst>
                          </p:cTn>
                        </p:par>
                        <p:par>
                          <p:cTn id="26" fill="hold">
                            <p:stCondLst>
                              <p:cond delay="1000"/>
                            </p:stCondLst>
                            <p:childTnLst>
                              <p:par>
                                <p:cTn id="27" presetID="6" presetClass="entr" presetSubtype="16" fill="hold" grpId="0" nodeType="afterEffect">
                                  <p:stCondLst>
                                    <p:cond delay="0"/>
                                  </p:stCondLst>
                                  <p:childTnLst>
                                    <p:set>
                                      <p:cBhvr>
                                        <p:cTn id="28" dur="1" fill="hold">
                                          <p:stCondLst>
                                            <p:cond delay="0"/>
                                          </p:stCondLst>
                                        </p:cTn>
                                        <p:tgtEl>
                                          <p:spTgt spid="93"/>
                                        </p:tgtEl>
                                        <p:attrNameLst>
                                          <p:attrName>style.visibility</p:attrName>
                                        </p:attrNameLst>
                                      </p:cBhvr>
                                      <p:to>
                                        <p:strVal val="visible"/>
                                      </p:to>
                                    </p:set>
                                    <p:animEffect transition="in" filter="circle(in)">
                                      <p:cBhvr>
                                        <p:cTn id="29" dur="500"/>
                                        <p:tgtEl>
                                          <p:spTgt spid="93"/>
                                        </p:tgtEl>
                                      </p:cBhvr>
                                    </p:animEffect>
                                  </p:childTnLst>
                                </p:cTn>
                              </p:par>
                            </p:childTnLst>
                          </p:cTn>
                        </p:par>
                        <p:par>
                          <p:cTn id="30" fill="hold">
                            <p:stCondLst>
                              <p:cond delay="1500"/>
                            </p:stCondLst>
                            <p:childTnLst>
                              <p:par>
                                <p:cTn id="31" presetID="6" presetClass="entr" presetSubtype="16" fill="hold" grpId="0" nodeType="afterEffect">
                                  <p:stCondLst>
                                    <p:cond delay="0"/>
                                  </p:stCondLst>
                                  <p:childTnLst>
                                    <p:set>
                                      <p:cBhvr>
                                        <p:cTn id="32" dur="1" fill="hold">
                                          <p:stCondLst>
                                            <p:cond delay="0"/>
                                          </p:stCondLst>
                                        </p:cTn>
                                        <p:tgtEl>
                                          <p:spTgt spid="94"/>
                                        </p:tgtEl>
                                        <p:attrNameLst>
                                          <p:attrName>style.visibility</p:attrName>
                                        </p:attrNameLst>
                                      </p:cBhvr>
                                      <p:to>
                                        <p:strVal val="visible"/>
                                      </p:to>
                                    </p:set>
                                    <p:animEffect transition="in" filter="circle(in)">
                                      <p:cBhvr>
                                        <p:cTn id="33" dur="500"/>
                                        <p:tgtEl>
                                          <p:spTgt spid="94"/>
                                        </p:tgtEl>
                                      </p:cBhvr>
                                    </p:animEffect>
                                  </p:childTnLst>
                                </p:cTn>
                              </p:par>
                            </p:childTnLst>
                          </p:cTn>
                        </p:par>
                        <p:par>
                          <p:cTn id="34" fill="hold">
                            <p:stCondLst>
                              <p:cond delay="2000"/>
                            </p:stCondLst>
                            <p:childTnLst>
                              <p:par>
                                <p:cTn id="35" presetID="6" presetClass="entr" presetSubtype="16" fill="hold" grpId="0" nodeType="afterEffect">
                                  <p:stCondLst>
                                    <p:cond delay="0"/>
                                  </p:stCondLst>
                                  <p:childTnLst>
                                    <p:set>
                                      <p:cBhvr>
                                        <p:cTn id="36" dur="1" fill="hold">
                                          <p:stCondLst>
                                            <p:cond delay="0"/>
                                          </p:stCondLst>
                                        </p:cTn>
                                        <p:tgtEl>
                                          <p:spTgt spid="95"/>
                                        </p:tgtEl>
                                        <p:attrNameLst>
                                          <p:attrName>style.visibility</p:attrName>
                                        </p:attrNameLst>
                                      </p:cBhvr>
                                      <p:to>
                                        <p:strVal val="visible"/>
                                      </p:to>
                                    </p:set>
                                    <p:animEffect transition="in" filter="circle(in)">
                                      <p:cBhvr>
                                        <p:cTn id="37" dur="500"/>
                                        <p:tgtEl>
                                          <p:spTgt spid="95"/>
                                        </p:tgtEl>
                                      </p:cBhvr>
                                    </p:animEffect>
                                  </p:childTnLst>
                                </p:cTn>
                              </p:par>
                            </p:childTnLst>
                          </p:cTn>
                        </p:par>
                        <p:par>
                          <p:cTn id="38" fill="hold">
                            <p:stCondLst>
                              <p:cond delay="2500"/>
                            </p:stCondLst>
                            <p:childTnLst>
                              <p:par>
                                <p:cTn id="39" presetID="6" presetClass="entr" presetSubtype="16" fill="hold" grpId="0" nodeType="afterEffect">
                                  <p:stCondLst>
                                    <p:cond delay="0"/>
                                  </p:stCondLst>
                                  <p:childTnLst>
                                    <p:set>
                                      <p:cBhvr>
                                        <p:cTn id="40" dur="1" fill="hold">
                                          <p:stCondLst>
                                            <p:cond delay="0"/>
                                          </p:stCondLst>
                                        </p:cTn>
                                        <p:tgtEl>
                                          <p:spTgt spid="70"/>
                                        </p:tgtEl>
                                        <p:attrNameLst>
                                          <p:attrName>style.visibility</p:attrName>
                                        </p:attrNameLst>
                                      </p:cBhvr>
                                      <p:to>
                                        <p:strVal val="visible"/>
                                      </p:to>
                                    </p:set>
                                    <p:animEffect transition="in" filter="circle(in)">
                                      <p:cBhvr>
                                        <p:cTn id="41" dur="500"/>
                                        <p:tgtEl>
                                          <p:spTgt spid="70"/>
                                        </p:tgtEl>
                                      </p:cBhvr>
                                    </p:animEffect>
                                  </p:childTnLst>
                                </p:cTn>
                              </p:par>
                            </p:childTnLst>
                          </p:cTn>
                        </p:par>
                        <p:par>
                          <p:cTn id="42" fill="hold">
                            <p:stCondLst>
                              <p:cond delay="3000"/>
                            </p:stCondLst>
                            <p:childTnLst>
                              <p:par>
                                <p:cTn id="43" presetID="6" presetClass="entr" presetSubtype="16" fill="hold" grpId="0" nodeType="afterEffect">
                                  <p:stCondLst>
                                    <p:cond delay="0"/>
                                  </p:stCondLst>
                                  <p:childTnLst>
                                    <p:set>
                                      <p:cBhvr>
                                        <p:cTn id="44" dur="1" fill="hold">
                                          <p:stCondLst>
                                            <p:cond delay="0"/>
                                          </p:stCondLst>
                                        </p:cTn>
                                        <p:tgtEl>
                                          <p:spTgt spid="72"/>
                                        </p:tgtEl>
                                        <p:attrNameLst>
                                          <p:attrName>style.visibility</p:attrName>
                                        </p:attrNameLst>
                                      </p:cBhvr>
                                      <p:to>
                                        <p:strVal val="visible"/>
                                      </p:to>
                                    </p:set>
                                    <p:animEffect transition="in" filter="circle(in)">
                                      <p:cBhvr>
                                        <p:cTn id="45" dur="500"/>
                                        <p:tgtEl>
                                          <p:spTgt spid="72"/>
                                        </p:tgtEl>
                                      </p:cBhvr>
                                    </p:animEffect>
                                  </p:childTnLst>
                                </p:cTn>
                              </p:par>
                            </p:childTnLst>
                          </p:cTn>
                        </p:par>
                      </p:childTnLst>
                    </p:cTn>
                  </p:par>
                  <p:par>
                    <p:cTn id="46" fill="hold">
                      <p:stCondLst>
                        <p:cond delay="indefinite"/>
                      </p:stCondLst>
                      <p:childTnLst>
                        <p:par>
                          <p:cTn id="47" fill="hold">
                            <p:stCondLst>
                              <p:cond delay="0"/>
                            </p:stCondLst>
                            <p:childTnLst>
                              <p:par>
                                <p:cTn id="48" presetID="64" presetClass="path" presetSubtype="0" accel="50000" decel="50000" fill="hold" nodeType="clickEffect">
                                  <p:stCondLst>
                                    <p:cond delay="0"/>
                                  </p:stCondLst>
                                  <p:childTnLst>
                                    <p:animMotion origin="layout" path="M -0.0007 -9.80574E-7 L 4.44444E-6 -0.0303 " pathEditMode="relative" rAng="0" ptsTypes="AA">
                                      <p:cBhvr>
                                        <p:cTn id="49" dur="2000" fill="hold"/>
                                        <p:tgtEl>
                                          <p:spTgt spid="50"/>
                                        </p:tgtEl>
                                        <p:attrNameLst>
                                          <p:attrName>ppt_x</p:attrName>
                                          <p:attrName>ppt_y</p:attrName>
                                        </p:attrNameLst>
                                      </p:cBhvr>
                                      <p:rCtr x="0" y="-15"/>
                                    </p:animMotion>
                                  </p:childTnLst>
                                </p:cTn>
                              </p:par>
                            </p:childTnLst>
                          </p:cTn>
                        </p:par>
                        <p:par>
                          <p:cTn id="50" fill="hold">
                            <p:stCondLst>
                              <p:cond delay="2000"/>
                            </p:stCondLst>
                            <p:childTnLst>
                              <p:par>
                                <p:cTn id="51" presetID="6" presetClass="entr" presetSubtype="16" fill="hold" grpId="0" nodeType="afterEffect">
                                  <p:stCondLst>
                                    <p:cond delay="0"/>
                                  </p:stCondLst>
                                  <p:childTnLst>
                                    <p:set>
                                      <p:cBhvr>
                                        <p:cTn id="52" dur="1" fill="hold">
                                          <p:stCondLst>
                                            <p:cond delay="0"/>
                                          </p:stCondLst>
                                        </p:cTn>
                                        <p:tgtEl>
                                          <p:spTgt spid="74"/>
                                        </p:tgtEl>
                                        <p:attrNameLst>
                                          <p:attrName>style.visibility</p:attrName>
                                        </p:attrNameLst>
                                      </p:cBhvr>
                                      <p:to>
                                        <p:strVal val="visible"/>
                                      </p:to>
                                    </p:set>
                                    <p:animEffect transition="in" filter="circle(in)">
                                      <p:cBhvr>
                                        <p:cTn id="53" dur="500"/>
                                        <p:tgtEl>
                                          <p:spTgt spid="74"/>
                                        </p:tgtEl>
                                      </p:cBhvr>
                                    </p:animEffect>
                                  </p:childTnLst>
                                </p:cTn>
                              </p:par>
                            </p:childTnLst>
                          </p:cTn>
                        </p:par>
                        <p:par>
                          <p:cTn id="54" fill="hold">
                            <p:stCondLst>
                              <p:cond delay="2500"/>
                            </p:stCondLst>
                            <p:childTnLst>
                              <p:par>
                                <p:cTn id="55" presetID="6" presetClass="entr" presetSubtype="16" fill="hold" grpId="0" nodeType="afterEffect">
                                  <p:stCondLst>
                                    <p:cond delay="0"/>
                                  </p:stCondLst>
                                  <p:childTnLst>
                                    <p:set>
                                      <p:cBhvr>
                                        <p:cTn id="56" dur="1" fill="hold">
                                          <p:stCondLst>
                                            <p:cond delay="0"/>
                                          </p:stCondLst>
                                        </p:cTn>
                                        <p:tgtEl>
                                          <p:spTgt spid="75"/>
                                        </p:tgtEl>
                                        <p:attrNameLst>
                                          <p:attrName>style.visibility</p:attrName>
                                        </p:attrNameLst>
                                      </p:cBhvr>
                                      <p:to>
                                        <p:strVal val="visible"/>
                                      </p:to>
                                    </p:set>
                                    <p:animEffect transition="in" filter="circle(in)">
                                      <p:cBhvr>
                                        <p:cTn id="57" dur="500"/>
                                        <p:tgtEl>
                                          <p:spTgt spid="75"/>
                                        </p:tgtEl>
                                      </p:cBhvr>
                                    </p:animEffect>
                                  </p:childTnLst>
                                </p:cTn>
                              </p:par>
                            </p:childTnLst>
                          </p:cTn>
                        </p:par>
                        <p:par>
                          <p:cTn id="58" fill="hold">
                            <p:stCondLst>
                              <p:cond delay="3000"/>
                            </p:stCondLst>
                            <p:childTnLst>
                              <p:par>
                                <p:cTn id="59" presetID="6" presetClass="entr" presetSubtype="16" fill="hold" grpId="0" nodeType="afterEffect">
                                  <p:stCondLst>
                                    <p:cond delay="0"/>
                                  </p:stCondLst>
                                  <p:childTnLst>
                                    <p:set>
                                      <p:cBhvr>
                                        <p:cTn id="60" dur="1" fill="hold">
                                          <p:stCondLst>
                                            <p:cond delay="0"/>
                                          </p:stCondLst>
                                        </p:cTn>
                                        <p:tgtEl>
                                          <p:spTgt spid="76"/>
                                        </p:tgtEl>
                                        <p:attrNameLst>
                                          <p:attrName>style.visibility</p:attrName>
                                        </p:attrNameLst>
                                      </p:cBhvr>
                                      <p:to>
                                        <p:strVal val="visible"/>
                                      </p:to>
                                    </p:set>
                                    <p:animEffect transition="in" filter="circle(in)">
                                      <p:cBhvr>
                                        <p:cTn id="61" dur="500"/>
                                        <p:tgtEl>
                                          <p:spTgt spid="76"/>
                                        </p:tgtEl>
                                      </p:cBhvr>
                                    </p:animEffect>
                                  </p:childTnLst>
                                </p:cTn>
                              </p:par>
                            </p:childTnLst>
                          </p:cTn>
                        </p:par>
                        <p:par>
                          <p:cTn id="62" fill="hold">
                            <p:stCondLst>
                              <p:cond delay="3500"/>
                            </p:stCondLst>
                            <p:childTnLst>
                              <p:par>
                                <p:cTn id="63" presetID="6" presetClass="entr" presetSubtype="16" fill="hold" grpId="0" nodeType="afterEffect">
                                  <p:stCondLst>
                                    <p:cond delay="0"/>
                                  </p:stCondLst>
                                  <p:childTnLst>
                                    <p:set>
                                      <p:cBhvr>
                                        <p:cTn id="64" dur="1" fill="hold">
                                          <p:stCondLst>
                                            <p:cond delay="0"/>
                                          </p:stCondLst>
                                        </p:cTn>
                                        <p:tgtEl>
                                          <p:spTgt spid="77"/>
                                        </p:tgtEl>
                                        <p:attrNameLst>
                                          <p:attrName>style.visibility</p:attrName>
                                        </p:attrNameLst>
                                      </p:cBhvr>
                                      <p:to>
                                        <p:strVal val="visible"/>
                                      </p:to>
                                    </p:set>
                                    <p:animEffect transition="in" filter="circle(in)">
                                      <p:cBhvr>
                                        <p:cTn id="65" dur="500"/>
                                        <p:tgtEl>
                                          <p:spTgt spid="77"/>
                                        </p:tgtEl>
                                      </p:cBhvr>
                                    </p:animEffect>
                                  </p:childTnLst>
                                </p:cTn>
                              </p:par>
                            </p:childTnLst>
                          </p:cTn>
                        </p:par>
                        <p:par>
                          <p:cTn id="66" fill="hold">
                            <p:stCondLst>
                              <p:cond delay="4000"/>
                            </p:stCondLst>
                            <p:childTnLst>
                              <p:par>
                                <p:cTn id="67" presetID="6" presetClass="entr" presetSubtype="16" fill="hold" grpId="0" nodeType="afterEffect">
                                  <p:stCondLst>
                                    <p:cond delay="0"/>
                                  </p:stCondLst>
                                  <p:childTnLst>
                                    <p:set>
                                      <p:cBhvr>
                                        <p:cTn id="68" dur="1" fill="hold">
                                          <p:stCondLst>
                                            <p:cond delay="0"/>
                                          </p:stCondLst>
                                        </p:cTn>
                                        <p:tgtEl>
                                          <p:spTgt spid="78"/>
                                        </p:tgtEl>
                                        <p:attrNameLst>
                                          <p:attrName>style.visibility</p:attrName>
                                        </p:attrNameLst>
                                      </p:cBhvr>
                                      <p:to>
                                        <p:strVal val="visible"/>
                                      </p:to>
                                    </p:set>
                                    <p:animEffect transition="in" filter="circle(in)">
                                      <p:cBhvr>
                                        <p:cTn id="69" dur="500"/>
                                        <p:tgtEl>
                                          <p:spTgt spid="78"/>
                                        </p:tgtEl>
                                      </p:cBhvr>
                                    </p:animEffect>
                                  </p:childTnLst>
                                </p:cTn>
                              </p:par>
                            </p:childTnLst>
                          </p:cTn>
                        </p:par>
                      </p:childTnLst>
                    </p:cTn>
                  </p:par>
                  <p:par>
                    <p:cTn id="70" fill="hold">
                      <p:stCondLst>
                        <p:cond delay="indefinite"/>
                      </p:stCondLst>
                      <p:childTnLst>
                        <p:par>
                          <p:cTn id="71" fill="hold">
                            <p:stCondLst>
                              <p:cond delay="0"/>
                            </p:stCondLst>
                            <p:childTnLst>
                              <p:par>
                                <p:cTn id="72" presetID="42" presetClass="path" presetSubtype="0" accel="50000" decel="50000" fill="hold" nodeType="clickEffect">
                                  <p:stCondLst>
                                    <p:cond delay="0"/>
                                  </p:stCondLst>
                                  <p:childTnLst>
                                    <p:animMotion origin="layout" path="M 4.44444E-6 -7.86309E-7 L 0.00069 0.0111 " pathEditMode="relative" rAng="0" ptsTypes="AA">
                                      <p:cBhvr>
                                        <p:cTn id="73" dur="2000" fill="hold"/>
                                        <p:tgtEl>
                                          <p:spTgt spid="50"/>
                                        </p:tgtEl>
                                        <p:attrNameLst>
                                          <p:attrName>ppt_x</p:attrName>
                                          <p:attrName>ppt_y</p:attrName>
                                        </p:attrNameLst>
                                      </p:cBhvr>
                                      <p:rCtr x="0" y="6"/>
                                    </p:animMotion>
                                  </p:childTnLst>
                                </p:cTn>
                              </p:par>
                            </p:childTnLst>
                          </p:cTn>
                        </p:par>
                        <p:par>
                          <p:cTn id="74" fill="hold">
                            <p:stCondLst>
                              <p:cond delay="2000"/>
                            </p:stCondLst>
                            <p:childTnLst>
                              <p:par>
                                <p:cTn id="75" presetID="6" presetClass="entr" presetSubtype="16" fill="hold" grpId="0" nodeType="afterEffect">
                                  <p:stCondLst>
                                    <p:cond delay="0"/>
                                  </p:stCondLst>
                                  <p:childTnLst>
                                    <p:set>
                                      <p:cBhvr>
                                        <p:cTn id="76" dur="1" fill="hold">
                                          <p:stCondLst>
                                            <p:cond delay="0"/>
                                          </p:stCondLst>
                                        </p:cTn>
                                        <p:tgtEl>
                                          <p:spTgt spid="81"/>
                                        </p:tgtEl>
                                        <p:attrNameLst>
                                          <p:attrName>style.visibility</p:attrName>
                                        </p:attrNameLst>
                                      </p:cBhvr>
                                      <p:to>
                                        <p:strVal val="visible"/>
                                      </p:to>
                                    </p:set>
                                    <p:animEffect transition="in" filter="circle(in)">
                                      <p:cBhvr>
                                        <p:cTn id="77" dur="500"/>
                                        <p:tgtEl>
                                          <p:spTgt spid="81"/>
                                        </p:tgtEl>
                                      </p:cBhvr>
                                    </p:animEffect>
                                  </p:childTnLst>
                                </p:cTn>
                              </p:par>
                            </p:childTnLst>
                          </p:cTn>
                        </p:par>
                        <p:par>
                          <p:cTn id="78" fill="hold">
                            <p:stCondLst>
                              <p:cond delay="2500"/>
                            </p:stCondLst>
                            <p:childTnLst>
                              <p:par>
                                <p:cTn id="79" presetID="6" presetClass="entr" presetSubtype="16" fill="hold" grpId="0" nodeType="afterEffect">
                                  <p:stCondLst>
                                    <p:cond delay="0"/>
                                  </p:stCondLst>
                                  <p:childTnLst>
                                    <p:set>
                                      <p:cBhvr>
                                        <p:cTn id="80" dur="1" fill="hold">
                                          <p:stCondLst>
                                            <p:cond delay="0"/>
                                          </p:stCondLst>
                                        </p:cTn>
                                        <p:tgtEl>
                                          <p:spTgt spid="82"/>
                                        </p:tgtEl>
                                        <p:attrNameLst>
                                          <p:attrName>style.visibility</p:attrName>
                                        </p:attrNameLst>
                                      </p:cBhvr>
                                      <p:to>
                                        <p:strVal val="visible"/>
                                      </p:to>
                                    </p:set>
                                    <p:animEffect transition="in" filter="circle(in)">
                                      <p:cBhvr>
                                        <p:cTn id="81" dur="500"/>
                                        <p:tgtEl>
                                          <p:spTgt spid="82"/>
                                        </p:tgtEl>
                                      </p:cBhvr>
                                    </p:animEffect>
                                  </p:childTnLst>
                                </p:cTn>
                              </p:par>
                            </p:childTnLst>
                          </p:cTn>
                        </p:par>
                        <p:par>
                          <p:cTn id="82" fill="hold">
                            <p:stCondLst>
                              <p:cond delay="3000"/>
                            </p:stCondLst>
                            <p:childTnLst>
                              <p:par>
                                <p:cTn id="83" presetID="6" presetClass="entr" presetSubtype="16" fill="hold" grpId="0" nodeType="afterEffect">
                                  <p:stCondLst>
                                    <p:cond delay="0"/>
                                  </p:stCondLst>
                                  <p:childTnLst>
                                    <p:set>
                                      <p:cBhvr>
                                        <p:cTn id="84" dur="1" fill="hold">
                                          <p:stCondLst>
                                            <p:cond delay="0"/>
                                          </p:stCondLst>
                                        </p:cTn>
                                        <p:tgtEl>
                                          <p:spTgt spid="83"/>
                                        </p:tgtEl>
                                        <p:attrNameLst>
                                          <p:attrName>style.visibility</p:attrName>
                                        </p:attrNameLst>
                                      </p:cBhvr>
                                      <p:to>
                                        <p:strVal val="visible"/>
                                      </p:to>
                                    </p:set>
                                    <p:animEffect transition="in" filter="circle(in)">
                                      <p:cBhvr>
                                        <p:cTn id="85" dur="500"/>
                                        <p:tgtEl>
                                          <p:spTgt spid="83"/>
                                        </p:tgtEl>
                                      </p:cBhvr>
                                    </p:animEffect>
                                  </p:childTnLst>
                                </p:cTn>
                              </p:par>
                            </p:childTnLst>
                          </p:cTn>
                        </p:par>
                        <p:par>
                          <p:cTn id="86" fill="hold">
                            <p:stCondLst>
                              <p:cond delay="3500"/>
                            </p:stCondLst>
                            <p:childTnLst>
                              <p:par>
                                <p:cTn id="87" presetID="6" presetClass="entr" presetSubtype="16" fill="hold" grpId="0" nodeType="afterEffect">
                                  <p:stCondLst>
                                    <p:cond delay="0"/>
                                  </p:stCondLst>
                                  <p:childTnLst>
                                    <p:set>
                                      <p:cBhvr>
                                        <p:cTn id="88" dur="1" fill="hold">
                                          <p:stCondLst>
                                            <p:cond delay="0"/>
                                          </p:stCondLst>
                                        </p:cTn>
                                        <p:tgtEl>
                                          <p:spTgt spid="84"/>
                                        </p:tgtEl>
                                        <p:attrNameLst>
                                          <p:attrName>style.visibility</p:attrName>
                                        </p:attrNameLst>
                                      </p:cBhvr>
                                      <p:to>
                                        <p:strVal val="visible"/>
                                      </p:to>
                                    </p:set>
                                    <p:animEffect transition="in" filter="circle(in)">
                                      <p:cBhvr>
                                        <p:cTn id="89" dur="500"/>
                                        <p:tgtEl>
                                          <p:spTgt spid="84"/>
                                        </p:tgtEl>
                                      </p:cBhvr>
                                    </p:animEffect>
                                  </p:childTnLst>
                                </p:cTn>
                              </p:par>
                            </p:childTnLst>
                          </p:cTn>
                        </p:par>
                        <p:par>
                          <p:cTn id="90" fill="hold">
                            <p:stCondLst>
                              <p:cond delay="4000"/>
                            </p:stCondLst>
                            <p:childTnLst>
                              <p:par>
                                <p:cTn id="91" presetID="6" presetClass="entr" presetSubtype="16" fill="hold" grpId="0" nodeType="afterEffect">
                                  <p:stCondLst>
                                    <p:cond delay="0"/>
                                  </p:stCondLst>
                                  <p:childTnLst>
                                    <p:set>
                                      <p:cBhvr>
                                        <p:cTn id="92" dur="1" fill="hold">
                                          <p:stCondLst>
                                            <p:cond delay="0"/>
                                          </p:stCondLst>
                                        </p:cTn>
                                        <p:tgtEl>
                                          <p:spTgt spid="85"/>
                                        </p:tgtEl>
                                        <p:attrNameLst>
                                          <p:attrName>style.visibility</p:attrName>
                                        </p:attrNameLst>
                                      </p:cBhvr>
                                      <p:to>
                                        <p:strVal val="visible"/>
                                      </p:to>
                                    </p:set>
                                    <p:animEffect transition="in" filter="circle(in)">
                                      <p:cBhvr>
                                        <p:cTn id="93" dur="500"/>
                                        <p:tgtEl>
                                          <p:spTgt spid="85"/>
                                        </p:tgtEl>
                                      </p:cBhvr>
                                    </p:animEffect>
                                  </p:childTnLst>
                                </p:cTn>
                              </p:par>
                            </p:childTnLst>
                          </p:cTn>
                        </p:par>
                        <p:par>
                          <p:cTn id="94" fill="hold">
                            <p:stCondLst>
                              <p:cond delay="4500"/>
                            </p:stCondLst>
                            <p:childTnLst>
                              <p:par>
                                <p:cTn id="95" presetID="6" presetClass="entr" presetSubtype="16" fill="hold" grpId="0" nodeType="afterEffect">
                                  <p:stCondLst>
                                    <p:cond delay="0"/>
                                  </p:stCondLst>
                                  <p:childTnLst>
                                    <p:set>
                                      <p:cBhvr>
                                        <p:cTn id="96" dur="1" fill="hold">
                                          <p:stCondLst>
                                            <p:cond delay="0"/>
                                          </p:stCondLst>
                                        </p:cTn>
                                        <p:tgtEl>
                                          <p:spTgt spid="86"/>
                                        </p:tgtEl>
                                        <p:attrNameLst>
                                          <p:attrName>style.visibility</p:attrName>
                                        </p:attrNameLst>
                                      </p:cBhvr>
                                      <p:to>
                                        <p:strVal val="visible"/>
                                      </p:to>
                                    </p:set>
                                    <p:animEffect transition="in" filter="circle(in)">
                                      <p:cBhvr>
                                        <p:cTn id="97" dur="500"/>
                                        <p:tgtEl>
                                          <p:spTgt spid="86"/>
                                        </p:tgtEl>
                                      </p:cBhvr>
                                    </p:animEffect>
                                  </p:childTnLst>
                                </p:cTn>
                              </p:par>
                            </p:childTnLst>
                          </p:cTn>
                        </p:par>
                        <p:par>
                          <p:cTn id="98" fill="hold">
                            <p:stCondLst>
                              <p:cond delay="5000"/>
                            </p:stCondLst>
                            <p:childTnLst>
                              <p:par>
                                <p:cTn id="99" presetID="6" presetClass="entr" presetSubtype="16" fill="hold" grpId="0" nodeType="afterEffect">
                                  <p:stCondLst>
                                    <p:cond delay="0"/>
                                  </p:stCondLst>
                                  <p:childTnLst>
                                    <p:set>
                                      <p:cBhvr>
                                        <p:cTn id="100" dur="1" fill="hold">
                                          <p:stCondLst>
                                            <p:cond delay="0"/>
                                          </p:stCondLst>
                                        </p:cTn>
                                        <p:tgtEl>
                                          <p:spTgt spid="87"/>
                                        </p:tgtEl>
                                        <p:attrNameLst>
                                          <p:attrName>style.visibility</p:attrName>
                                        </p:attrNameLst>
                                      </p:cBhvr>
                                      <p:to>
                                        <p:strVal val="visible"/>
                                      </p:to>
                                    </p:set>
                                    <p:animEffect transition="in" filter="circle(in)">
                                      <p:cBhvr>
                                        <p:cTn id="101" dur="500"/>
                                        <p:tgtEl>
                                          <p:spTgt spid="87"/>
                                        </p:tgtEl>
                                      </p:cBhvr>
                                    </p:animEffect>
                                  </p:childTnLst>
                                </p:cTn>
                              </p:par>
                            </p:childTnLst>
                          </p:cTn>
                        </p:par>
                        <p:par>
                          <p:cTn id="102" fill="hold">
                            <p:stCondLst>
                              <p:cond delay="5500"/>
                            </p:stCondLst>
                            <p:childTnLst>
                              <p:par>
                                <p:cTn id="103" presetID="6" presetClass="entr" presetSubtype="16" fill="hold" grpId="0" nodeType="afterEffect">
                                  <p:stCondLst>
                                    <p:cond delay="0"/>
                                  </p:stCondLst>
                                  <p:childTnLst>
                                    <p:set>
                                      <p:cBhvr>
                                        <p:cTn id="104" dur="1" fill="hold">
                                          <p:stCondLst>
                                            <p:cond delay="0"/>
                                          </p:stCondLst>
                                        </p:cTn>
                                        <p:tgtEl>
                                          <p:spTgt spid="88"/>
                                        </p:tgtEl>
                                        <p:attrNameLst>
                                          <p:attrName>style.visibility</p:attrName>
                                        </p:attrNameLst>
                                      </p:cBhvr>
                                      <p:to>
                                        <p:strVal val="visible"/>
                                      </p:to>
                                    </p:set>
                                    <p:animEffect transition="in" filter="circle(in)">
                                      <p:cBhvr>
                                        <p:cTn id="105" dur="500"/>
                                        <p:tgtEl>
                                          <p:spTgt spid="88"/>
                                        </p:tgtEl>
                                      </p:cBhvr>
                                    </p:animEffect>
                                  </p:childTnLst>
                                </p:cTn>
                              </p:par>
                            </p:childTnLst>
                          </p:cTn>
                        </p:par>
                      </p:childTnLst>
                    </p:cTn>
                  </p:par>
                  <p:par>
                    <p:cTn id="106" fill="hold">
                      <p:stCondLst>
                        <p:cond delay="indefinite"/>
                      </p:stCondLst>
                      <p:childTnLst>
                        <p:par>
                          <p:cTn id="107" fill="hold">
                            <p:stCondLst>
                              <p:cond delay="0"/>
                            </p:stCondLst>
                            <p:childTnLst>
                              <p:par>
                                <p:cTn id="108" presetID="10" presetClass="entr" presetSubtype="0" fill="hold" nodeType="clickEffect">
                                  <p:stCondLst>
                                    <p:cond delay="0"/>
                                  </p:stCondLst>
                                  <p:childTnLst>
                                    <p:set>
                                      <p:cBhvr>
                                        <p:cTn id="109" dur="1" fill="hold">
                                          <p:stCondLst>
                                            <p:cond delay="0"/>
                                          </p:stCondLst>
                                        </p:cTn>
                                        <p:tgtEl>
                                          <p:spTgt spid="79"/>
                                        </p:tgtEl>
                                        <p:attrNameLst>
                                          <p:attrName>style.visibility</p:attrName>
                                        </p:attrNameLst>
                                      </p:cBhvr>
                                      <p:to>
                                        <p:strVal val="visible"/>
                                      </p:to>
                                    </p:set>
                                    <p:animEffect transition="in" filter="fade">
                                      <p:cBhvr>
                                        <p:cTn id="110" dur="500"/>
                                        <p:tgtEl>
                                          <p:spTgt spid="79"/>
                                        </p:tgtEl>
                                      </p:cBhvr>
                                    </p:animEffect>
                                  </p:childTnLst>
                                </p:cTn>
                              </p:par>
                              <p:par>
                                <p:cTn id="111" presetID="10" presetClass="exit" presetSubtype="0" fill="hold" nodeType="withEffect">
                                  <p:stCondLst>
                                    <p:cond delay="0"/>
                                  </p:stCondLst>
                                  <p:childTnLst>
                                    <p:animEffect transition="out" filter="fade">
                                      <p:cBhvr>
                                        <p:cTn id="112" dur="2000"/>
                                        <p:tgtEl>
                                          <p:spTgt spid="50"/>
                                        </p:tgtEl>
                                      </p:cBhvr>
                                    </p:animEffect>
                                    <p:set>
                                      <p:cBhvr>
                                        <p:cTn id="113" dur="1" fill="hold">
                                          <p:stCondLst>
                                            <p:cond delay="1999"/>
                                          </p:stCondLst>
                                        </p:cTn>
                                        <p:tgtEl>
                                          <p:spTgt spid="50"/>
                                        </p:tgtEl>
                                        <p:attrNameLst>
                                          <p:attrName>style.visibility</p:attrName>
                                        </p:attrNameLst>
                                      </p:cBhvr>
                                      <p:to>
                                        <p:strVal val="hidden"/>
                                      </p:to>
                                    </p:set>
                                  </p:childTnLst>
                                </p:cTn>
                              </p:par>
                              <p:par>
                                <p:cTn id="114" presetID="42" presetClass="path" presetSubtype="0" accel="50000" decel="50000" fill="hold" nodeType="withEffect">
                                  <p:stCondLst>
                                    <p:cond delay="0"/>
                                  </p:stCondLst>
                                  <p:childTnLst>
                                    <p:animMotion origin="layout" path="M 0.04166 -0.0111 L 0.04236 0.003 " pathEditMode="relative" rAng="0" ptsTypes="AA">
                                      <p:cBhvr>
                                        <p:cTn id="115" dur="2000" fill="hold"/>
                                        <p:tgtEl>
                                          <p:spTgt spid="50"/>
                                        </p:tgtEl>
                                        <p:attrNameLst>
                                          <p:attrName>ppt_x</p:attrName>
                                          <p:attrName>ppt_y</p:attrName>
                                        </p:attrNameLst>
                                      </p:cBhvr>
                                      <p:rCtr x="0" y="7"/>
                                    </p:animMotion>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 grpId="0" animBg="1"/>
      <p:bldP spid="11" grpId="0" animBg="1"/>
      <p:bldP spid="68" grpId="0" animBg="1"/>
      <p:bldP spid="70" grpId="0" animBg="1"/>
      <p:bldP spid="72" grpId="0" animBg="1"/>
      <p:bldP spid="74" grpId="0" animBg="1"/>
      <p:bldP spid="75" grpId="0" animBg="1"/>
      <p:bldP spid="76" grpId="0" animBg="1"/>
      <p:bldP spid="77" grpId="0" animBg="1"/>
      <p:bldP spid="78" grpId="0" animBg="1"/>
      <p:bldP spid="81" grpId="0" animBg="1"/>
      <p:bldP spid="82" grpId="0" animBg="1"/>
      <p:bldP spid="83" grpId="0" animBg="1"/>
      <p:bldP spid="84" grpId="0" animBg="1"/>
      <p:bldP spid="85" grpId="0" animBg="1"/>
      <p:bldP spid="86" grpId="0" animBg="1"/>
      <p:bldP spid="87" grpId="0" animBg="1"/>
      <p:bldP spid="88" grpId="0" animBg="1"/>
      <p:bldP spid="92" grpId="0" animBg="1"/>
      <p:bldP spid="93" grpId="0" animBg="1"/>
      <p:bldP spid="94" grpId="0" animBg="1"/>
      <p:bldP spid="95" grpId="0" animBg="1"/>
    </p:bld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 name="Title 30"/>
          <p:cNvSpPr>
            <a:spLocks noGrp="1"/>
          </p:cNvSpPr>
          <p:nvPr>
            <p:ph type="title"/>
          </p:nvPr>
        </p:nvSpPr>
        <p:spPr/>
        <p:txBody>
          <a:bodyPr>
            <a:normAutofit/>
          </a:bodyPr>
          <a:lstStyle/>
          <a:p>
            <a:pPr lvl="0"/>
            <a:r>
              <a:rPr lang="en-US" dirty="0"/>
              <a:t>Linear Neural Network</a:t>
            </a:r>
          </a:p>
        </p:txBody>
      </p:sp>
      <p:sp>
        <p:nvSpPr>
          <p:cNvPr id="32" name="Content Placeholder 31"/>
          <p:cNvSpPr>
            <a:spLocks noGrp="1"/>
          </p:cNvSpPr>
          <p:nvPr>
            <p:ph idx="1"/>
          </p:nvPr>
        </p:nvSpPr>
        <p:spPr/>
        <p:txBody>
          <a:bodyPr/>
          <a:lstStyle/>
          <a:p>
            <a:endParaRPr lang="en-US"/>
          </a:p>
        </p:txBody>
      </p:sp>
      <p:sp>
        <p:nvSpPr>
          <p:cNvPr id="34" name="Content Placeholder 2"/>
          <p:cNvSpPr txBox="1">
            <a:spLocks/>
          </p:cNvSpPr>
          <p:nvPr/>
        </p:nvSpPr>
        <p:spPr>
          <a:xfrm>
            <a:off x="612648" y="1676400"/>
            <a:ext cx="8153400" cy="4495800"/>
          </a:xfrm>
          <a:prstGeom prst="rect">
            <a:avLst/>
          </a:prstGeom>
        </p:spPr>
        <p:txBody>
          <a:bodyPr vert="horz" lIns="91440" tIns="45720" rIns="91440" bIns="45720" rtlCol="0">
            <a:normAutofit/>
          </a:bodyPr>
          <a:lstStyle/>
          <a:p>
            <a:pPr marL="679450" marR="0" lvl="0" indent="-342900" algn="l" defTabSz="914400" rtl="0" eaLnBrk="1" fontAlgn="auto" latinLnBrk="0" hangingPunct="1">
              <a:lnSpc>
                <a:spcPct val="100000"/>
              </a:lnSpc>
              <a:spcBef>
                <a:spcPct val="20000"/>
              </a:spcBef>
              <a:spcAft>
                <a:spcPts val="0"/>
              </a:spcAft>
              <a:buClr>
                <a:srgbClr val="000099"/>
              </a:buClr>
              <a:buSzPct val="120000"/>
              <a:buFont typeface="Times New Roman" pitchFamily="18" charset="0"/>
              <a:buChar char="•"/>
              <a:tabLst/>
              <a:defRPr/>
            </a:pPr>
            <a:endParaRPr kumimoji="0" lang="en-US" sz="3200" b="0" i="0" u="none" strike="noStrike" kern="1200" cap="none" spc="0" normalizeH="0" baseline="0" noProof="0">
              <a:ln>
                <a:noFill/>
              </a:ln>
              <a:solidFill>
                <a:schemeClr val="tx1"/>
              </a:solidFill>
              <a:effectLst/>
              <a:uLnTx/>
              <a:uFillTx/>
              <a:latin typeface="Times New Roman" pitchFamily="18" charset="0"/>
              <a:ea typeface="+mn-ea"/>
              <a:cs typeface="Times New Roman" pitchFamily="18" charset="0"/>
            </a:endParaRPr>
          </a:p>
          <a:p>
            <a:pPr marL="679450" marR="0" lvl="0" indent="-342900" algn="l" defTabSz="914400" rtl="0" eaLnBrk="1" fontAlgn="auto" latinLnBrk="0" hangingPunct="1">
              <a:lnSpc>
                <a:spcPct val="100000"/>
              </a:lnSpc>
              <a:spcBef>
                <a:spcPct val="20000"/>
              </a:spcBef>
              <a:spcAft>
                <a:spcPts val="0"/>
              </a:spcAft>
              <a:buClr>
                <a:srgbClr val="000099"/>
              </a:buClr>
              <a:buSzPct val="120000"/>
              <a:buFont typeface="Times New Roman" pitchFamily="18" charset="0"/>
              <a:buChar char="•"/>
              <a:tabLst/>
              <a:defRPr/>
            </a:pPr>
            <a:endParaRPr kumimoji="0" lang="en-US" sz="3200" b="0" i="0" u="none" strike="noStrike" kern="1200" cap="none" spc="0" normalizeH="0" baseline="0" noProof="0">
              <a:ln>
                <a:noFill/>
              </a:ln>
              <a:solidFill>
                <a:schemeClr val="tx1"/>
              </a:solidFill>
              <a:effectLst/>
              <a:uLnTx/>
              <a:uFillTx/>
              <a:latin typeface="Times New Roman" pitchFamily="18" charset="0"/>
              <a:ea typeface="+mn-ea"/>
              <a:cs typeface="Times New Roman" pitchFamily="18" charset="0"/>
            </a:endParaRPr>
          </a:p>
          <a:p>
            <a:pPr marL="679450" marR="0" lvl="0" indent="-342900" algn="l" defTabSz="914400" rtl="0" eaLnBrk="1" fontAlgn="auto" latinLnBrk="0" hangingPunct="1">
              <a:lnSpc>
                <a:spcPct val="100000"/>
              </a:lnSpc>
              <a:spcBef>
                <a:spcPct val="20000"/>
              </a:spcBef>
              <a:spcAft>
                <a:spcPts val="0"/>
              </a:spcAft>
              <a:buClr>
                <a:srgbClr val="000099"/>
              </a:buClr>
              <a:buSzPct val="120000"/>
              <a:buFont typeface="Times New Roman" pitchFamily="18" charset="0"/>
              <a:buChar char="•"/>
              <a:tabLst/>
              <a:defRPr/>
            </a:pPr>
            <a:endParaRPr kumimoji="0" lang="en-US" sz="3200" b="0" i="0" u="none" strike="noStrike" kern="1200" cap="none" spc="0" normalizeH="0" baseline="0" noProof="0">
              <a:ln>
                <a:noFill/>
              </a:ln>
              <a:solidFill>
                <a:schemeClr val="tx1"/>
              </a:solidFill>
              <a:effectLst/>
              <a:uLnTx/>
              <a:uFillTx/>
              <a:latin typeface="Times New Roman" pitchFamily="18" charset="0"/>
              <a:ea typeface="+mn-ea"/>
              <a:cs typeface="Times New Roman" pitchFamily="18" charset="0"/>
            </a:endParaRPr>
          </a:p>
          <a:p>
            <a:pPr marL="679450" marR="0" lvl="0" indent="-342900" algn="l" defTabSz="914400" rtl="0" eaLnBrk="1" fontAlgn="auto" latinLnBrk="0" hangingPunct="1">
              <a:lnSpc>
                <a:spcPct val="100000"/>
              </a:lnSpc>
              <a:spcBef>
                <a:spcPct val="20000"/>
              </a:spcBef>
              <a:spcAft>
                <a:spcPts val="0"/>
              </a:spcAft>
              <a:buClr>
                <a:srgbClr val="000099"/>
              </a:buClr>
              <a:buSzPct val="120000"/>
              <a:buFont typeface="Times New Roman" pitchFamily="18" charset="0"/>
              <a:buChar char="•"/>
              <a:tabLst/>
              <a:defRPr/>
            </a:pPr>
            <a:endParaRPr kumimoji="0" lang="en-US" sz="3200" b="0" i="0" u="none" strike="noStrike" kern="1200" cap="none" spc="0" normalizeH="0" baseline="0" noProof="0">
              <a:ln>
                <a:noFill/>
              </a:ln>
              <a:solidFill>
                <a:schemeClr val="tx1"/>
              </a:solidFill>
              <a:effectLst/>
              <a:uLnTx/>
              <a:uFillTx/>
              <a:latin typeface="Times New Roman" pitchFamily="18" charset="0"/>
              <a:ea typeface="+mn-ea"/>
              <a:cs typeface="Times New Roman" pitchFamily="18" charset="0"/>
            </a:endParaRPr>
          </a:p>
          <a:p>
            <a:pPr marL="679450" marR="0" lvl="0" indent="-342900" algn="l" defTabSz="914400" rtl="0" eaLnBrk="1" fontAlgn="auto" latinLnBrk="0" hangingPunct="1">
              <a:lnSpc>
                <a:spcPct val="100000"/>
              </a:lnSpc>
              <a:spcBef>
                <a:spcPct val="20000"/>
              </a:spcBef>
              <a:spcAft>
                <a:spcPts val="0"/>
              </a:spcAft>
              <a:buClr>
                <a:srgbClr val="000099"/>
              </a:buClr>
              <a:buSzPct val="120000"/>
              <a:buFont typeface="Times New Roman" pitchFamily="18" charset="0"/>
              <a:buChar char="•"/>
              <a:tabLst/>
              <a:defRPr/>
            </a:pPr>
            <a:endParaRPr kumimoji="0" lang="en-US" sz="3200" b="0" i="0" u="none" strike="noStrike" kern="1200" cap="none" spc="0" normalizeH="0" baseline="0" noProof="0">
              <a:ln>
                <a:noFill/>
              </a:ln>
              <a:solidFill>
                <a:schemeClr val="tx1"/>
              </a:solidFill>
              <a:effectLst/>
              <a:uLnTx/>
              <a:uFillTx/>
              <a:latin typeface="Times New Roman" pitchFamily="18" charset="0"/>
              <a:ea typeface="+mn-ea"/>
              <a:cs typeface="Times New Roman" pitchFamily="18" charset="0"/>
            </a:endParaRPr>
          </a:p>
          <a:p>
            <a:pPr marL="679450" marR="0" lvl="0" indent="-342900" algn="l" defTabSz="914400" rtl="0" eaLnBrk="1" fontAlgn="auto" latinLnBrk="0" hangingPunct="1">
              <a:lnSpc>
                <a:spcPct val="100000"/>
              </a:lnSpc>
              <a:spcBef>
                <a:spcPct val="20000"/>
              </a:spcBef>
              <a:spcAft>
                <a:spcPts val="0"/>
              </a:spcAft>
              <a:buClr>
                <a:srgbClr val="000099"/>
              </a:buClr>
              <a:buSzPct val="120000"/>
              <a:buFont typeface="Times New Roman" pitchFamily="18" charset="0"/>
              <a:buChar char="•"/>
              <a:tabLst/>
              <a:defRPr/>
            </a:pPr>
            <a:endParaRPr kumimoji="0" lang="en-US" sz="3200" b="0" i="0" u="none" strike="noStrike" kern="1200" cap="none" spc="0" normalizeH="0" baseline="0" noProof="0">
              <a:ln>
                <a:noFill/>
              </a:ln>
              <a:solidFill>
                <a:schemeClr val="tx1"/>
              </a:solidFill>
              <a:effectLst/>
              <a:uLnTx/>
              <a:uFillTx/>
              <a:latin typeface="Times New Roman" pitchFamily="18" charset="0"/>
              <a:ea typeface="+mn-ea"/>
              <a:cs typeface="Times New Roman" pitchFamily="18" charset="0"/>
            </a:endParaRPr>
          </a:p>
          <a:p>
            <a:pPr marL="679450" marR="0" lvl="0" indent="-342900" algn="l" defTabSz="914400" rtl="0" eaLnBrk="1" fontAlgn="auto" latinLnBrk="0" hangingPunct="1">
              <a:lnSpc>
                <a:spcPct val="100000"/>
              </a:lnSpc>
              <a:spcBef>
                <a:spcPct val="20000"/>
              </a:spcBef>
              <a:spcAft>
                <a:spcPts val="0"/>
              </a:spcAft>
              <a:buClr>
                <a:srgbClr val="000099"/>
              </a:buClr>
              <a:buSzPct val="120000"/>
              <a:buFont typeface="Times New Roman" pitchFamily="18" charset="0"/>
              <a:buChar char="•"/>
              <a:tabLst/>
              <a:defRPr/>
            </a:pPr>
            <a:endParaRPr kumimoji="0" lang="en-US" sz="3200" b="0" i="0" u="none" strike="noStrike" kern="1200" cap="none" spc="0" normalizeH="0" baseline="0" noProof="0" dirty="0">
              <a:ln>
                <a:noFill/>
              </a:ln>
              <a:solidFill>
                <a:schemeClr val="tx1"/>
              </a:solidFill>
              <a:effectLst/>
              <a:uLnTx/>
              <a:uFillTx/>
              <a:latin typeface="Times New Roman" pitchFamily="18" charset="0"/>
              <a:ea typeface="+mn-ea"/>
              <a:cs typeface="Times New Roman" pitchFamily="18" charset="0"/>
            </a:endParaRPr>
          </a:p>
        </p:txBody>
      </p:sp>
      <p:sp>
        <p:nvSpPr>
          <p:cNvPr id="35" name="Oval 34"/>
          <p:cNvSpPr/>
          <p:nvPr/>
        </p:nvSpPr>
        <p:spPr>
          <a:xfrm>
            <a:off x="3429000" y="3810000"/>
            <a:ext cx="1066800" cy="1295400"/>
          </a:xfrm>
          <a:prstGeom prst="ellipse">
            <a:avLst/>
          </a:prstGeom>
          <a:solidFill>
            <a:schemeClr val="accent1">
              <a:alpha val="17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4400" b="1" dirty="0">
                <a:solidFill>
                  <a:schemeClr val="tx1"/>
                </a:solidFill>
              </a:rPr>
              <a:t>∑</a:t>
            </a:r>
          </a:p>
        </p:txBody>
      </p:sp>
      <p:cxnSp>
        <p:nvCxnSpPr>
          <p:cNvPr id="36" name="Straight Arrow Connector 35"/>
          <p:cNvCxnSpPr/>
          <p:nvPr/>
        </p:nvCxnSpPr>
        <p:spPr>
          <a:xfrm>
            <a:off x="2590800" y="4494212"/>
            <a:ext cx="838200" cy="1588"/>
          </a:xfrm>
          <a:prstGeom prst="straightConnector1">
            <a:avLst/>
          </a:prstGeom>
          <a:ln w="25400">
            <a:tailEnd type="arrow"/>
          </a:ln>
        </p:spPr>
        <p:style>
          <a:lnRef idx="1">
            <a:schemeClr val="accent1"/>
          </a:lnRef>
          <a:fillRef idx="0">
            <a:schemeClr val="accent1"/>
          </a:fillRef>
          <a:effectRef idx="0">
            <a:schemeClr val="accent1"/>
          </a:effectRef>
          <a:fontRef idx="minor">
            <a:schemeClr val="tx1"/>
          </a:fontRef>
        </p:style>
      </p:cxnSp>
      <p:sp>
        <p:nvSpPr>
          <p:cNvPr id="37" name="TextBox 36"/>
          <p:cNvSpPr txBox="1"/>
          <p:nvPr/>
        </p:nvSpPr>
        <p:spPr>
          <a:xfrm>
            <a:off x="2209800" y="4278868"/>
            <a:ext cx="457200" cy="369332"/>
          </a:xfrm>
          <a:prstGeom prst="rect">
            <a:avLst/>
          </a:prstGeom>
          <a:noFill/>
        </p:spPr>
        <p:txBody>
          <a:bodyPr wrap="square" rtlCol="0">
            <a:spAutoFit/>
          </a:bodyPr>
          <a:lstStyle/>
          <a:p>
            <a:r>
              <a:rPr lang="en-US" dirty="0"/>
              <a:t>x</a:t>
            </a:r>
            <a:r>
              <a:rPr lang="en-US" baseline="-25000" dirty="0"/>
              <a:t>1</a:t>
            </a:r>
          </a:p>
        </p:txBody>
      </p:sp>
      <p:sp>
        <p:nvSpPr>
          <p:cNvPr id="38" name="TextBox 37"/>
          <p:cNvSpPr txBox="1"/>
          <p:nvPr/>
        </p:nvSpPr>
        <p:spPr>
          <a:xfrm>
            <a:off x="2785016" y="4126468"/>
            <a:ext cx="567784" cy="369332"/>
          </a:xfrm>
          <a:prstGeom prst="rect">
            <a:avLst/>
          </a:prstGeom>
          <a:noFill/>
        </p:spPr>
        <p:txBody>
          <a:bodyPr wrap="none" rtlCol="0">
            <a:spAutoFit/>
          </a:bodyPr>
          <a:lstStyle/>
          <a:p>
            <a:r>
              <a:rPr lang="en-US" dirty="0"/>
              <a:t>W</a:t>
            </a:r>
            <a:r>
              <a:rPr lang="en-US" baseline="-25000" dirty="0"/>
              <a:t>k1</a:t>
            </a:r>
          </a:p>
        </p:txBody>
      </p:sp>
      <p:cxnSp>
        <p:nvCxnSpPr>
          <p:cNvPr id="39" name="Straight Arrow Connector 38"/>
          <p:cNvCxnSpPr>
            <a:stCxn id="35" idx="6"/>
          </p:cNvCxnSpPr>
          <p:nvPr/>
        </p:nvCxnSpPr>
        <p:spPr>
          <a:xfrm>
            <a:off x="4495800" y="4457700"/>
            <a:ext cx="762000" cy="38100"/>
          </a:xfrm>
          <a:prstGeom prst="straightConnector1">
            <a:avLst/>
          </a:prstGeom>
          <a:ln w="44450">
            <a:tailEnd type="arrow"/>
          </a:ln>
        </p:spPr>
        <p:style>
          <a:lnRef idx="1">
            <a:schemeClr val="accent1"/>
          </a:lnRef>
          <a:fillRef idx="0">
            <a:schemeClr val="accent1"/>
          </a:fillRef>
          <a:effectRef idx="0">
            <a:schemeClr val="accent1"/>
          </a:effectRef>
          <a:fontRef idx="minor">
            <a:schemeClr val="tx1"/>
          </a:fontRef>
        </p:style>
      </p:cxnSp>
      <p:sp>
        <p:nvSpPr>
          <p:cNvPr id="40" name="TextBox 39"/>
          <p:cNvSpPr txBox="1"/>
          <p:nvPr/>
        </p:nvSpPr>
        <p:spPr>
          <a:xfrm>
            <a:off x="4648200" y="4038600"/>
            <a:ext cx="533400" cy="369332"/>
          </a:xfrm>
          <a:prstGeom prst="rect">
            <a:avLst/>
          </a:prstGeom>
          <a:noFill/>
        </p:spPr>
        <p:txBody>
          <a:bodyPr wrap="square" rtlCol="0">
            <a:spAutoFit/>
          </a:bodyPr>
          <a:lstStyle/>
          <a:p>
            <a:r>
              <a:rPr lang="en-US" dirty="0" err="1"/>
              <a:t>V</a:t>
            </a:r>
            <a:r>
              <a:rPr lang="en-US" baseline="-25000" dirty="0" err="1"/>
              <a:t>k</a:t>
            </a:r>
            <a:endParaRPr lang="en-US" baseline="-25000" dirty="0"/>
          </a:p>
        </p:txBody>
      </p:sp>
      <p:cxnSp>
        <p:nvCxnSpPr>
          <p:cNvPr id="41" name="Straight Arrow Connector 40"/>
          <p:cNvCxnSpPr/>
          <p:nvPr/>
        </p:nvCxnSpPr>
        <p:spPr>
          <a:xfrm rot="5400000">
            <a:off x="3733006" y="3581400"/>
            <a:ext cx="457994" cy="794"/>
          </a:xfrm>
          <a:prstGeom prst="straightConnector1">
            <a:avLst/>
          </a:prstGeom>
          <a:ln w="25400">
            <a:tailEnd type="arrow"/>
          </a:ln>
        </p:spPr>
        <p:style>
          <a:lnRef idx="1">
            <a:schemeClr val="accent1"/>
          </a:lnRef>
          <a:fillRef idx="0">
            <a:schemeClr val="accent1"/>
          </a:fillRef>
          <a:effectRef idx="0">
            <a:schemeClr val="accent1"/>
          </a:effectRef>
          <a:fontRef idx="minor">
            <a:schemeClr val="tx1"/>
          </a:fontRef>
        </p:style>
      </p:cxnSp>
      <p:sp>
        <p:nvSpPr>
          <p:cNvPr id="42" name="TextBox 41"/>
          <p:cNvSpPr txBox="1"/>
          <p:nvPr/>
        </p:nvSpPr>
        <p:spPr>
          <a:xfrm>
            <a:off x="3964770" y="3288268"/>
            <a:ext cx="378630" cy="369332"/>
          </a:xfrm>
          <a:prstGeom prst="rect">
            <a:avLst/>
          </a:prstGeom>
          <a:noFill/>
        </p:spPr>
        <p:txBody>
          <a:bodyPr wrap="none" rtlCol="0">
            <a:spAutoFit/>
          </a:bodyPr>
          <a:lstStyle/>
          <a:p>
            <a:r>
              <a:rPr lang="en-US" dirty="0" err="1"/>
              <a:t>b</a:t>
            </a:r>
            <a:r>
              <a:rPr lang="en-US" baseline="-25000" dirty="0" err="1"/>
              <a:t>k</a:t>
            </a:r>
            <a:endParaRPr lang="en-US" baseline="-25000" dirty="0"/>
          </a:p>
        </p:txBody>
      </p:sp>
      <p:cxnSp>
        <p:nvCxnSpPr>
          <p:cNvPr id="43" name="Straight Arrow Connector 42"/>
          <p:cNvCxnSpPr/>
          <p:nvPr/>
        </p:nvCxnSpPr>
        <p:spPr>
          <a:xfrm>
            <a:off x="5867400" y="4495800"/>
            <a:ext cx="609600" cy="1588"/>
          </a:xfrm>
          <a:prstGeom prst="straightConnector1">
            <a:avLst/>
          </a:prstGeom>
          <a:ln w="44450">
            <a:tailEnd type="arrow"/>
          </a:ln>
        </p:spPr>
        <p:style>
          <a:lnRef idx="1">
            <a:schemeClr val="accent1"/>
          </a:lnRef>
          <a:fillRef idx="0">
            <a:schemeClr val="accent1"/>
          </a:fillRef>
          <a:effectRef idx="0">
            <a:schemeClr val="accent1"/>
          </a:effectRef>
          <a:fontRef idx="minor">
            <a:schemeClr val="tx1"/>
          </a:fontRef>
        </p:style>
      </p:cxnSp>
      <p:sp>
        <p:nvSpPr>
          <p:cNvPr id="44" name="TextBox 43"/>
          <p:cNvSpPr txBox="1"/>
          <p:nvPr/>
        </p:nvSpPr>
        <p:spPr>
          <a:xfrm>
            <a:off x="6477000" y="4191000"/>
            <a:ext cx="533400" cy="523220"/>
          </a:xfrm>
          <a:prstGeom prst="rect">
            <a:avLst/>
          </a:prstGeom>
          <a:noFill/>
        </p:spPr>
        <p:txBody>
          <a:bodyPr wrap="square" rtlCol="0">
            <a:spAutoFit/>
          </a:bodyPr>
          <a:lstStyle/>
          <a:p>
            <a:r>
              <a:rPr lang="en-US" sz="2800" dirty="0" err="1"/>
              <a:t>y</a:t>
            </a:r>
            <a:r>
              <a:rPr lang="en-US" baseline="-25000" dirty="0" err="1"/>
              <a:t>k</a:t>
            </a:r>
            <a:endParaRPr lang="en-US" baseline="-25000" dirty="0"/>
          </a:p>
        </p:txBody>
      </p:sp>
      <p:pic>
        <p:nvPicPr>
          <p:cNvPr id="45" name="Picture 2"/>
          <p:cNvPicPr>
            <a:picLocks noChangeAspect="1" noChangeArrowheads="1"/>
          </p:cNvPicPr>
          <p:nvPr/>
        </p:nvPicPr>
        <p:blipFill>
          <a:blip r:embed="rId3"/>
          <a:srcRect/>
          <a:stretch>
            <a:fillRect/>
          </a:stretch>
        </p:blipFill>
        <p:spPr bwMode="auto">
          <a:xfrm>
            <a:off x="5257801" y="4066311"/>
            <a:ext cx="685799" cy="810489"/>
          </a:xfrm>
          <a:prstGeom prst="rect">
            <a:avLst/>
          </a:prstGeom>
          <a:noFill/>
          <a:ln w="9525">
            <a:noFill/>
            <a:miter lim="800000"/>
            <a:headEnd/>
            <a:tailEnd/>
          </a:ln>
          <a:effectLst/>
        </p:spPr>
      </p:pic>
      <p:sp>
        <p:nvSpPr>
          <p:cNvPr id="46" name="TextBox 45"/>
          <p:cNvSpPr txBox="1"/>
          <p:nvPr/>
        </p:nvSpPr>
        <p:spPr>
          <a:xfrm>
            <a:off x="2209800" y="5105400"/>
            <a:ext cx="3581400" cy="738664"/>
          </a:xfrm>
          <a:prstGeom prst="rect">
            <a:avLst/>
          </a:prstGeom>
          <a:noFill/>
        </p:spPr>
        <p:txBody>
          <a:bodyPr wrap="square" rtlCol="0">
            <a:spAutoFit/>
          </a:bodyPr>
          <a:lstStyle/>
          <a:p>
            <a:r>
              <a:rPr lang="en-US" sz="2400" b="1" dirty="0" err="1"/>
              <a:t>V</a:t>
            </a:r>
            <a:r>
              <a:rPr lang="en-US" sz="2400" b="1" baseline="-25000" dirty="0" err="1"/>
              <a:t>k</a:t>
            </a:r>
            <a:r>
              <a:rPr lang="en-US" sz="2400" b="1" dirty="0"/>
              <a:t>= </a:t>
            </a:r>
            <a:r>
              <a:rPr lang="en-US" sz="2400" b="1" dirty="0">
                <a:solidFill>
                  <a:srgbClr val="3116F6"/>
                </a:solidFill>
              </a:rPr>
              <a:t>W</a:t>
            </a:r>
            <a:r>
              <a:rPr lang="en-US" sz="2400" b="1" baseline="-25000" dirty="0">
                <a:solidFill>
                  <a:srgbClr val="3116F6"/>
                </a:solidFill>
              </a:rPr>
              <a:t>k1</a:t>
            </a:r>
            <a:r>
              <a:rPr lang="en-US" sz="2400" b="1" dirty="0">
                <a:solidFill>
                  <a:srgbClr val="3116F6"/>
                </a:solidFill>
              </a:rPr>
              <a:t>*x</a:t>
            </a:r>
            <a:r>
              <a:rPr lang="en-US" sz="2400" b="1" baseline="-25000" dirty="0">
                <a:solidFill>
                  <a:srgbClr val="3116F6"/>
                </a:solidFill>
              </a:rPr>
              <a:t>1</a:t>
            </a:r>
            <a:r>
              <a:rPr lang="en-US" sz="2400" b="1" dirty="0"/>
              <a:t> + </a:t>
            </a:r>
            <a:r>
              <a:rPr lang="en-US" sz="2400" b="1" dirty="0" err="1"/>
              <a:t>b</a:t>
            </a:r>
            <a:r>
              <a:rPr lang="en-US" sz="2400" b="1" baseline="-25000" dirty="0" err="1"/>
              <a:t>k</a:t>
            </a:r>
            <a:r>
              <a:rPr lang="en-US" sz="2400" b="1" baseline="-25000" dirty="0"/>
              <a:t> </a:t>
            </a:r>
          </a:p>
          <a:p>
            <a:endParaRPr lang="en-US" b="1" dirty="0"/>
          </a:p>
        </p:txBody>
      </p:sp>
      <p:sp>
        <p:nvSpPr>
          <p:cNvPr id="47" name="TextBox 46"/>
          <p:cNvSpPr txBox="1"/>
          <p:nvPr/>
        </p:nvSpPr>
        <p:spPr>
          <a:xfrm>
            <a:off x="2209800" y="5644515"/>
            <a:ext cx="3581400" cy="923330"/>
          </a:xfrm>
          <a:prstGeom prst="rect">
            <a:avLst/>
          </a:prstGeom>
          <a:noFill/>
        </p:spPr>
        <p:txBody>
          <a:bodyPr wrap="square" rtlCol="0">
            <a:spAutoFit/>
          </a:bodyPr>
          <a:lstStyle/>
          <a:p>
            <a:r>
              <a:rPr lang="en-US" sz="3600" b="1" dirty="0" err="1"/>
              <a:t>y</a:t>
            </a:r>
            <a:r>
              <a:rPr lang="en-US" sz="2400" b="1" baseline="-25000" dirty="0" err="1"/>
              <a:t>k</a:t>
            </a:r>
            <a:r>
              <a:rPr lang="en-US" sz="2400" b="1" dirty="0"/>
              <a:t>= f(</a:t>
            </a:r>
            <a:r>
              <a:rPr lang="en-US" sz="2400" b="1" dirty="0" err="1"/>
              <a:t>V</a:t>
            </a:r>
            <a:r>
              <a:rPr lang="en-US" sz="2400" b="1" baseline="-25000" dirty="0" err="1"/>
              <a:t>k</a:t>
            </a:r>
            <a:r>
              <a:rPr lang="en-US" sz="2400" b="1" dirty="0"/>
              <a:t>)=</a:t>
            </a:r>
            <a:r>
              <a:rPr lang="en-US" sz="2400" b="1" dirty="0">
                <a:solidFill>
                  <a:srgbClr val="FFC000"/>
                </a:solidFill>
              </a:rPr>
              <a:t> </a:t>
            </a:r>
            <a:r>
              <a:rPr lang="en-US" sz="2400" b="1" dirty="0">
                <a:solidFill>
                  <a:srgbClr val="3116F6"/>
                </a:solidFill>
              </a:rPr>
              <a:t>W</a:t>
            </a:r>
            <a:r>
              <a:rPr lang="en-US" sz="2400" b="1" baseline="-25000" dirty="0">
                <a:solidFill>
                  <a:srgbClr val="3116F6"/>
                </a:solidFill>
              </a:rPr>
              <a:t>k1</a:t>
            </a:r>
            <a:r>
              <a:rPr lang="en-US" sz="2400" b="1" dirty="0">
                <a:solidFill>
                  <a:srgbClr val="3116F6"/>
                </a:solidFill>
              </a:rPr>
              <a:t>*x</a:t>
            </a:r>
            <a:r>
              <a:rPr lang="en-US" sz="2400" b="1" baseline="-25000" dirty="0">
                <a:solidFill>
                  <a:srgbClr val="3116F6"/>
                </a:solidFill>
              </a:rPr>
              <a:t>1</a:t>
            </a:r>
            <a:r>
              <a:rPr lang="en-US" sz="2400" b="1" dirty="0"/>
              <a:t> + </a:t>
            </a:r>
            <a:r>
              <a:rPr lang="en-US" sz="2400" b="1" dirty="0" err="1"/>
              <a:t>b</a:t>
            </a:r>
            <a:r>
              <a:rPr lang="en-US" sz="2400" b="1" baseline="-25000" dirty="0" err="1"/>
              <a:t>k</a:t>
            </a:r>
            <a:r>
              <a:rPr lang="en-US" sz="2400" b="1" baseline="-25000" dirty="0"/>
              <a:t> </a:t>
            </a:r>
          </a:p>
          <a:p>
            <a:endParaRPr lang="en-US" b="1" dirty="0"/>
          </a:p>
        </p:txBody>
      </p:sp>
      <p:sp>
        <p:nvSpPr>
          <p:cNvPr id="48" name="Oval Callout 47"/>
          <p:cNvSpPr/>
          <p:nvPr/>
        </p:nvSpPr>
        <p:spPr>
          <a:xfrm>
            <a:off x="0" y="3886200"/>
            <a:ext cx="2133600" cy="1600200"/>
          </a:xfrm>
          <a:prstGeom prst="wedgeEllipseCallout">
            <a:avLst>
              <a:gd name="adj1" fmla="val 68482"/>
              <a:gd name="adj2" fmla="val 76271"/>
            </a:avLst>
          </a:prstGeom>
          <a:solidFill>
            <a:schemeClr val="accent1">
              <a:alpha val="25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latin typeface="Times New Roman" pitchFamily="18" charset="0"/>
                <a:cs typeface="Times New Roman" pitchFamily="18" charset="0"/>
              </a:rPr>
              <a:t>Output is Linearly Dependent on Input Parameters</a:t>
            </a:r>
          </a:p>
        </p:txBody>
      </p:sp>
      <p:sp>
        <p:nvSpPr>
          <p:cNvPr id="49" name="Rectangle 48"/>
          <p:cNvSpPr/>
          <p:nvPr/>
        </p:nvSpPr>
        <p:spPr>
          <a:xfrm>
            <a:off x="2209800" y="2362200"/>
            <a:ext cx="2362199" cy="707886"/>
          </a:xfrm>
          <a:prstGeom prst="rect">
            <a:avLst/>
          </a:prstGeom>
        </p:spPr>
        <p:txBody>
          <a:bodyPr wrap="square">
            <a:spAutoFit/>
          </a:bodyPr>
          <a:lstStyle/>
          <a:p>
            <a:r>
              <a:rPr lang="en-US" sz="4000" dirty="0"/>
              <a:t>y</a:t>
            </a:r>
            <a:r>
              <a:rPr lang="en-US" sz="4000" b="1" dirty="0"/>
              <a:t>=</a:t>
            </a:r>
            <a:r>
              <a:rPr lang="en-US" sz="4000" dirty="0"/>
              <a:t>m*</a:t>
            </a:r>
            <a:r>
              <a:rPr lang="en-US" sz="4000" dirty="0" err="1"/>
              <a:t>x+c</a:t>
            </a:r>
            <a:endParaRPr lang="en-US" sz="4000" dirty="0"/>
          </a:p>
        </p:txBody>
      </p:sp>
      <p:sp>
        <p:nvSpPr>
          <p:cNvPr id="51" name="TextBox 50"/>
          <p:cNvSpPr txBox="1"/>
          <p:nvPr/>
        </p:nvSpPr>
        <p:spPr>
          <a:xfrm>
            <a:off x="2196152" y="1752600"/>
            <a:ext cx="3581400" cy="923330"/>
          </a:xfrm>
          <a:prstGeom prst="rect">
            <a:avLst/>
          </a:prstGeom>
          <a:noFill/>
        </p:spPr>
        <p:txBody>
          <a:bodyPr wrap="square" rtlCol="0">
            <a:spAutoFit/>
          </a:bodyPr>
          <a:lstStyle/>
          <a:p>
            <a:r>
              <a:rPr lang="en-US" sz="3600" b="1" dirty="0" err="1"/>
              <a:t>y</a:t>
            </a:r>
            <a:r>
              <a:rPr lang="en-US" sz="2400" b="1" baseline="-25000" dirty="0" err="1"/>
              <a:t>k</a:t>
            </a:r>
            <a:r>
              <a:rPr lang="en-US" sz="2400" b="1" dirty="0"/>
              <a:t>= </a:t>
            </a:r>
            <a:r>
              <a:rPr lang="en-US" sz="2400" b="1" dirty="0">
                <a:solidFill>
                  <a:srgbClr val="3116F6"/>
                </a:solidFill>
              </a:rPr>
              <a:t>W</a:t>
            </a:r>
            <a:r>
              <a:rPr lang="en-US" sz="2400" b="1" baseline="-25000" dirty="0">
                <a:solidFill>
                  <a:srgbClr val="3116F6"/>
                </a:solidFill>
              </a:rPr>
              <a:t>k1</a:t>
            </a:r>
            <a:r>
              <a:rPr lang="en-US" sz="2400" b="1" dirty="0">
                <a:solidFill>
                  <a:srgbClr val="3116F6"/>
                </a:solidFill>
              </a:rPr>
              <a:t>*x</a:t>
            </a:r>
            <a:r>
              <a:rPr lang="en-US" sz="2400" b="1" baseline="-25000" dirty="0">
                <a:solidFill>
                  <a:srgbClr val="3116F6"/>
                </a:solidFill>
              </a:rPr>
              <a:t>1</a:t>
            </a:r>
            <a:r>
              <a:rPr lang="en-US" sz="2400" b="1" dirty="0"/>
              <a:t> + </a:t>
            </a:r>
            <a:r>
              <a:rPr lang="en-US" sz="2400" b="1" dirty="0" err="1"/>
              <a:t>b</a:t>
            </a:r>
            <a:r>
              <a:rPr lang="en-US" sz="2400" b="1" baseline="-25000" dirty="0" err="1"/>
              <a:t>k</a:t>
            </a:r>
            <a:r>
              <a:rPr lang="en-US" sz="2400" b="1" baseline="-25000" dirty="0"/>
              <a:t> </a:t>
            </a:r>
          </a:p>
          <a:p>
            <a:endParaRPr lang="en-US" b="1" dirty="0"/>
          </a:p>
        </p:txBody>
      </p:sp>
      <p:pic>
        <p:nvPicPr>
          <p:cNvPr id="52" name="Picture 2"/>
          <p:cNvPicPr>
            <a:picLocks noChangeAspect="1" noChangeArrowheads="1"/>
          </p:cNvPicPr>
          <p:nvPr/>
        </p:nvPicPr>
        <p:blipFill>
          <a:blip r:embed="rId4"/>
          <a:srcRect/>
          <a:stretch>
            <a:fillRect/>
          </a:stretch>
        </p:blipFill>
        <p:spPr bwMode="auto">
          <a:xfrm>
            <a:off x="6477000" y="1647825"/>
            <a:ext cx="2362200" cy="1400175"/>
          </a:xfrm>
          <a:prstGeom prst="rect">
            <a:avLst/>
          </a:prstGeom>
          <a:noFill/>
          <a:ln w="9525">
            <a:noFill/>
            <a:miter lim="800000"/>
            <a:headEnd/>
            <a:tailEnd/>
          </a:ln>
          <a:effectLst/>
        </p:spPr>
      </p:pic>
      <p:sp>
        <p:nvSpPr>
          <p:cNvPr id="53" name="TextBox 52"/>
          <p:cNvSpPr txBox="1"/>
          <p:nvPr/>
        </p:nvSpPr>
        <p:spPr>
          <a:xfrm>
            <a:off x="0" y="0"/>
            <a:ext cx="4572000" cy="369332"/>
          </a:xfrm>
          <a:prstGeom prst="rect">
            <a:avLst/>
          </a:prstGeom>
          <a:noFill/>
        </p:spPr>
        <p:txBody>
          <a:bodyPr wrap="square" rtlCol="0">
            <a:spAutoFit/>
          </a:bodyPr>
          <a:lstStyle/>
          <a:p>
            <a:pPr algn="r"/>
            <a:r>
              <a:rPr lang="en-US" b="1" dirty="0">
                <a:solidFill>
                  <a:schemeClr val="bg1"/>
                </a:solidFill>
              </a:rPr>
              <a:t>Introduction to Neural Network</a:t>
            </a:r>
          </a:p>
        </p:txBody>
      </p:sp>
      <p:sp>
        <p:nvSpPr>
          <p:cNvPr id="23" name="Date Placeholder 3"/>
          <p:cNvSpPr>
            <a:spLocks noGrp="1"/>
          </p:cNvSpPr>
          <p:nvPr>
            <p:ph type="dt" sz="half" idx="10"/>
          </p:nvPr>
        </p:nvSpPr>
        <p:spPr>
          <a:xfrm>
            <a:off x="0" y="6629400"/>
            <a:ext cx="3048000" cy="228600"/>
          </a:xfrm>
        </p:spPr>
        <p:txBody>
          <a:bodyPr/>
          <a:lstStyle/>
          <a:p>
            <a:fld id="{E7067A60-51C7-4095-BFA9-1CE32DCBA06F}" type="datetime1">
              <a:rPr lang="en-US" smtClean="0"/>
              <a:pPr/>
              <a:t>2/9/2026</a:t>
            </a:fld>
            <a:endParaRPr lang="en-US" dirty="0"/>
          </a:p>
        </p:txBody>
      </p:sp>
      <p:sp>
        <p:nvSpPr>
          <p:cNvPr id="24" name="Slide Number Placeholder 5"/>
          <p:cNvSpPr>
            <a:spLocks noGrp="1"/>
          </p:cNvSpPr>
          <p:nvPr>
            <p:ph type="sldNum" sz="quarter" idx="12"/>
          </p:nvPr>
        </p:nvSpPr>
        <p:spPr>
          <a:xfrm>
            <a:off x="6096000" y="6629400"/>
            <a:ext cx="3048000" cy="228600"/>
          </a:xfrm>
        </p:spPr>
        <p:txBody>
          <a:bodyPr/>
          <a:lstStyle/>
          <a:p>
            <a:r>
              <a:rPr lang="en-US" dirty="0" smtClean="0"/>
              <a:t>11</a:t>
            </a:r>
            <a:endParaRPr lang="en-US" dirty="0"/>
          </a:p>
        </p:txBody>
      </p:sp>
      <p:sp>
        <p:nvSpPr>
          <p:cNvPr id="25" name="Footer Placeholder 4">
            <a:extLst>
              <a:ext uri="{FF2B5EF4-FFF2-40B4-BE49-F238E27FC236}">
                <a16:creationId xmlns:a16="http://schemas.microsoft.com/office/drawing/2014/main" id="{CBB301ED-B8A4-4772-B559-A9E41E7472BD}"/>
              </a:ext>
            </a:extLst>
          </p:cNvPr>
          <p:cNvSpPr>
            <a:spLocks noGrp="1"/>
          </p:cNvSpPr>
          <p:nvPr>
            <p:ph type="ftr" sz="quarter" idx="11"/>
          </p:nvPr>
        </p:nvSpPr>
        <p:spPr>
          <a:xfrm>
            <a:off x="2286000" y="6629400"/>
            <a:ext cx="4136571" cy="228600"/>
          </a:xfrm>
        </p:spPr>
        <p:txBody>
          <a:bodyPr/>
          <a:lstStyle/>
          <a:p>
            <a:r>
              <a:rPr lang="en-US" dirty="0"/>
              <a:t>Dr. Sibarama Panigrahi, Dept. of CSE, NIT Rourkela</a:t>
            </a:r>
          </a:p>
        </p:txBody>
      </p:sp>
      <p:sp>
        <p:nvSpPr>
          <p:cNvPr id="26" name="TextBox 25"/>
          <p:cNvSpPr txBox="1"/>
          <p:nvPr/>
        </p:nvSpPr>
        <p:spPr>
          <a:xfrm flipH="1">
            <a:off x="6472238" y="6600824"/>
            <a:ext cx="2366962" cy="307777"/>
          </a:xfrm>
          <a:prstGeom prst="rect">
            <a:avLst/>
          </a:prstGeom>
          <a:noFill/>
        </p:spPr>
        <p:txBody>
          <a:bodyPr wrap="square" rtlCol="0">
            <a:spAutoFit/>
          </a:bodyPr>
          <a:lstStyle/>
          <a:p>
            <a:r>
              <a:rPr lang="en-US" sz="1400" dirty="0" smtClean="0">
                <a:latin typeface="Times New Roman" panose="02020603050405020304" pitchFamily="18" charset="0"/>
                <a:cs typeface="Times New Roman" panose="02020603050405020304" pitchFamily="18" charset="0"/>
              </a:rPr>
              <a:t>Plotting the Error.</a:t>
            </a:r>
            <a:endParaRPr lang="en-IN" sz="1400" dirty="0">
              <a:latin typeface="Times New Roman" panose="02020603050405020304" pitchFamily="18" charset="0"/>
              <a:cs typeface="Times New Roman" panose="02020603050405020304" pitchFamily="18" charset="0"/>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xit" presetSubtype="0" fill="hold" grpId="0" nodeType="clickEffect">
                                  <p:stCondLst>
                                    <p:cond delay="0"/>
                                  </p:stCondLst>
                                  <p:childTnLst>
                                    <p:animEffect transition="out" filter="fade">
                                      <p:cBhvr>
                                        <p:cTn id="6" dur="500"/>
                                        <p:tgtEl>
                                          <p:spTgt spid="48"/>
                                        </p:tgtEl>
                                      </p:cBhvr>
                                    </p:animEffect>
                                    <p:set>
                                      <p:cBhvr>
                                        <p:cTn id="7" dur="1" fill="hold">
                                          <p:stCondLst>
                                            <p:cond delay="499"/>
                                          </p:stCondLst>
                                        </p:cTn>
                                        <p:tgtEl>
                                          <p:spTgt spid="48"/>
                                        </p:tgtEl>
                                        <p:attrNameLst>
                                          <p:attrName>style.visibility</p:attrName>
                                        </p:attrNameLst>
                                      </p:cBhvr>
                                      <p:to>
                                        <p:strVal val="hidden"/>
                                      </p:to>
                                    </p:set>
                                  </p:childTnLst>
                                </p:cTn>
                              </p:par>
                            </p:childTnLst>
                          </p:cTn>
                        </p:par>
                      </p:childTnLst>
                    </p:cTn>
                  </p:par>
                  <p:par>
                    <p:cTn id="8" fill="hold">
                      <p:stCondLst>
                        <p:cond delay="indefinite"/>
                      </p:stCondLst>
                      <p:childTnLst>
                        <p:par>
                          <p:cTn id="9" fill="hold">
                            <p:stCondLst>
                              <p:cond delay="0"/>
                            </p:stCondLst>
                            <p:childTnLst>
                              <p:par>
                                <p:cTn id="10" presetID="64" presetClass="path" presetSubtype="0" accel="50000" decel="50000" fill="hold" grpId="0" nodeType="clickEffect">
                                  <p:stCondLst>
                                    <p:cond delay="0"/>
                                  </p:stCondLst>
                                  <p:iterate type="lt">
                                    <p:tmPct val="0"/>
                                  </p:iterate>
                                  <p:childTnLst>
                                    <p:animMotion origin="layout" path="M 5.55112E-17 -4.20907E-6 L -0.00417 -0.56753 " pathEditMode="relative" rAng="0" ptsTypes="AA">
                                      <p:cBhvr>
                                        <p:cTn id="11" dur="2000" fill="hold"/>
                                        <p:tgtEl>
                                          <p:spTgt spid="47"/>
                                        </p:tgtEl>
                                        <p:attrNameLst>
                                          <p:attrName>ppt_x</p:attrName>
                                          <p:attrName>ppt_y</p:attrName>
                                        </p:attrNameLst>
                                      </p:cBhvr>
                                      <p:rCtr x="-200" y="-28400"/>
                                    </p:animMotion>
                                  </p:childTnLst>
                                </p:cTn>
                              </p:par>
                              <p:par>
                                <p:cTn id="12" presetID="10" presetClass="exit" presetSubtype="0" fill="hold" grpId="0" nodeType="withEffect">
                                  <p:stCondLst>
                                    <p:cond delay="0"/>
                                  </p:stCondLst>
                                  <p:childTnLst>
                                    <p:animEffect transition="out" filter="fade">
                                      <p:cBhvr>
                                        <p:cTn id="13" dur="500"/>
                                        <p:tgtEl>
                                          <p:spTgt spid="46"/>
                                        </p:tgtEl>
                                      </p:cBhvr>
                                    </p:animEffect>
                                    <p:set>
                                      <p:cBhvr>
                                        <p:cTn id="14" dur="1" fill="hold">
                                          <p:stCondLst>
                                            <p:cond delay="499"/>
                                          </p:stCondLst>
                                        </p:cTn>
                                        <p:tgtEl>
                                          <p:spTgt spid="46"/>
                                        </p:tgtEl>
                                        <p:attrNameLst>
                                          <p:attrName>style.visibility</p:attrName>
                                        </p:attrNameLst>
                                      </p:cBhvr>
                                      <p:to>
                                        <p:strVal val="hidden"/>
                                      </p:to>
                                    </p:set>
                                  </p:childTnLst>
                                </p:cTn>
                              </p:par>
                            </p:childTnLst>
                          </p:cTn>
                        </p:par>
                      </p:childTnLst>
                    </p:cTn>
                  </p:par>
                  <p:par>
                    <p:cTn id="15" fill="hold">
                      <p:stCondLst>
                        <p:cond delay="indefinite"/>
                      </p:stCondLst>
                      <p:childTnLst>
                        <p:par>
                          <p:cTn id="16" fill="hold">
                            <p:stCondLst>
                              <p:cond delay="0"/>
                            </p:stCondLst>
                            <p:childTnLst>
                              <p:par>
                                <p:cTn id="17" presetID="22" presetClass="exit" presetSubtype="2" fill="hold" grpId="1" nodeType="clickEffect">
                                  <p:stCondLst>
                                    <p:cond delay="0"/>
                                  </p:stCondLst>
                                  <p:iterate type="lt">
                                    <p:tmPct val="0"/>
                                  </p:iterate>
                                  <p:childTnLst>
                                    <p:animEffect transition="out" filter="wipe(right)">
                                      <p:cBhvr>
                                        <p:cTn id="18" dur="500"/>
                                        <p:tgtEl>
                                          <p:spTgt spid="47"/>
                                        </p:tgtEl>
                                      </p:cBhvr>
                                    </p:animEffect>
                                    <p:set>
                                      <p:cBhvr>
                                        <p:cTn id="19" dur="1" fill="hold">
                                          <p:stCondLst>
                                            <p:cond delay="499"/>
                                          </p:stCondLst>
                                        </p:cTn>
                                        <p:tgtEl>
                                          <p:spTgt spid="47"/>
                                        </p:tgtEl>
                                        <p:attrNameLst>
                                          <p:attrName>style.visibility</p:attrName>
                                        </p:attrNameLst>
                                      </p:cBhvr>
                                      <p:to>
                                        <p:strVal val="hidden"/>
                                      </p:to>
                                    </p:set>
                                  </p:childTnLst>
                                </p:cTn>
                              </p:par>
                              <p:par>
                                <p:cTn id="20" presetID="10" presetClass="entr" presetSubtype="0" fill="hold" grpId="0" nodeType="withEffect">
                                  <p:stCondLst>
                                    <p:cond delay="0"/>
                                  </p:stCondLst>
                                  <p:childTnLst>
                                    <p:set>
                                      <p:cBhvr>
                                        <p:cTn id="21" dur="1" fill="hold">
                                          <p:stCondLst>
                                            <p:cond delay="0"/>
                                          </p:stCondLst>
                                        </p:cTn>
                                        <p:tgtEl>
                                          <p:spTgt spid="51"/>
                                        </p:tgtEl>
                                        <p:attrNameLst>
                                          <p:attrName>style.visibility</p:attrName>
                                        </p:attrNameLst>
                                      </p:cBhvr>
                                      <p:to>
                                        <p:strVal val="visible"/>
                                      </p:to>
                                    </p:set>
                                    <p:animEffect transition="in" filter="fade">
                                      <p:cBhvr>
                                        <p:cTn id="22" dur="1000"/>
                                        <p:tgtEl>
                                          <p:spTgt spid="51"/>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grpId="0" nodeType="clickEffect">
                                  <p:stCondLst>
                                    <p:cond delay="0"/>
                                  </p:stCondLst>
                                  <p:childTnLst>
                                    <p:set>
                                      <p:cBhvr>
                                        <p:cTn id="26" dur="1" fill="hold">
                                          <p:stCondLst>
                                            <p:cond delay="0"/>
                                          </p:stCondLst>
                                        </p:cTn>
                                        <p:tgtEl>
                                          <p:spTgt spid="49"/>
                                        </p:tgtEl>
                                        <p:attrNameLst>
                                          <p:attrName>style.visibility</p:attrName>
                                        </p:attrNameLst>
                                      </p:cBhvr>
                                      <p:to>
                                        <p:strVal val="visible"/>
                                      </p:to>
                                    </p:set>
                                    <p:animEffect transition="in" filter="fade">
                                      <p:cBhvr>
                                        <p:cTn id="27" dur="500"/>
                                        <p:tgtEl>
                                          <p:spTgt spid="49"/>
                                        </p:tgtEl>
                                      </p:cBhvr>
                                    </p:animEffect>
                                  </p:childTnLst>
                                </p:cTn>
                              </p:par>
                              <p:par>
                                <p:cTn id="28" presetID="10" presetClass="entr" presetSubtype="0" fill="hold" nodeType="withEffect">
                                  <p:stCondLst>
                                    <p:cond delay="0"/>
                                  </p:stCondLst>
                                  <p:childTnLst>
                                    <p:set>
                                      <p:cBhvr>
                                        <p:cTn id="29" dur="1" fill="hold">
                                          <p:stCondLst>
                                            <p:cond delay="0"/>
                                          </p:stCondLst>
                                        </p:cTn>
                                        <p:tgtEl>
                                          <p:spTgt spid="52"/>
                                        </p:tgtEl>
                                        <p:attrNameLst>
                                          <p:attrName>style.visibility</p:attrName>
                                        </p:attrNameLst>
                                      </p:cBhvr>
                                      <p:to>
                                        <p:strVal val="visible"/>
                                      </p:to>
                                    </p:set>
                                    <p:animEffect transition="in" filter="fade">
                                      <p:cBhvr>
                                        <p:cTn id="30" dur="500"/>
                                        <p:tgtEl>
                                          <p:spTgt spid="5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6" grpId="0"/>
      <p:bldP spid="47" grpId="0"/>
      <p:bldP spid="47" grpId="1"/>
      <p:bldP spid="48" grpId="0" animBg="1"/>
      <p:bldP spid="49" grpId="0"/>
      <p:bldP spid="51" grpId="0"/>
    </p:bld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dirty="0"/>
              <a:t>Plotting Error</a:t>
            </a:r>
          </a:p>
        </p:txBody>
      </p:sp>
      <p:graphicFrame>
        <p:nvGraphicFramePr>
          <p:cNvPr id="4" name="Content Placeholder 3"/>
          <p:cNvGraphicFramePr>
            <a:graphicFrameLocks noGrp="1"/>
          </p:cNvGraphicFramePr>
          <p:nvPr>
            <p:ph sz="quarter" idx="1"/>
          </p:nvPr>
        </p:nvGraphicFramePr>
        <p:xfrm>
          <a:off x="304800" y="1600200"/>
          <a:ext cx="8461375" cy="5105400"/>
        </p:xfrm>
        <a:graphic>
          <a:graphicData uri="http://schemas.openxmlformats.org/drawingml/2006/chart">
            <c:chart xmlns:c="http://schemas.openxmlformats.org/drawingml/2006/chart" xmlns:r="http://schemas.openxmlformats.org/officeDocument/2006/relationships" r:id="rId2"/>
          </a:graphicData>
        </a:graphic>
      </p:graphicFrame>
      <p:sp>
        <p:nvSpPr>
          <p:cNvPr id="5" name="Block Arc 4"/>
          <p:cNvSpPr/>
          <p:nvPr/>
        </p:nvSpPr>
        <p:spPr>
          <a:xfrm flipV="1">
            <a:off x="1143000" y="609600"/>
            <a:ext cx="3124200" cy="5105400"/>
          </a:xfrm>
          <a:prstGeom prst="blockArc">
            <a:avLst>
              <a:gd name="adj1" fmla="val 10800000"/>
              <a:gd name="adj2" fmla="val 0"/>
              <a:gd name="adj3" fmla="val 12332"/>
            </a:avLst>
          </a:prstGeom>
          <a:scene3d>
            <a:camera prst="orthographicFront">
              <a:rot lat="579366" lon="20113218" rev="156765"/>
            </a:camera>
            <a:lightRig rig="threePt" dir="t"/>
          </a:scene3d>
          <a:sp3d extrusionH="76200" prstMaterial="dkEdge">
            <a:bevelT prst="angle"/>
            <a:bevelB w="101600" prst="riblet"/>
            <a:extrusionClr>
              <a:schemeClr val="accent6">
                <a:lumMod val="75000"/>
              </a:schemeClr>
            </a:extrusionClr>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sp>
        <p:nvSpPr>
          <p:cNvPr id="6" name="Block Arc 5"/>
          <p:cNvSpPr/>
          <p:nvPr/>
        </p:nvSpPr>
        <p:spPr>
          <a:xfrm flipV="1">
            <a:off x="838200" y="3048000"/>
            <a:ext cx="3657600" cy="228600"/>
          </a:xfrm>
          <a:prstGeom prst="blockArc">
            <a:avLst>
              <a:gd name="adj1" fmla="val 21537235"/>
              <a:gd name="adj2" fmla="val 21518461"/>
              <a:gd name="adj3" fmla="val 33246"/>
            </a:avLst>
          </a:prstGeom>
          <a:scene3d>
            <a:camera prst="orthographicFront">
              <a:rot lat="600017" lon="19199960" rev="21599953"/>
            </a:camera>
            <a:lightRig rig="threePt" dir="t"/>
          </a:scene3d>
          <a:sp3d extrusionH="76200" prstMaterial="dkEdge">
            <a:bevelT prst="angle"/>
            <a:bevelB w="101600" prst="riblet"/>
            <a:extrusionClr>
              <a:schemeClr val="accent6">
                <a:lumMod val="75000"/>
              </a:schemeClr>
            </a:extrusionClr>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sp>
        <p:nvSpPr>
          <p:cNvPr id="7" name="Oval 6"/>
          <p:cNvSpPr/>
          <p:nvPr/>
        </p:nvSpPr>
        <p:spPr>
          <a:xfrm>
            <a:off x="2667000" y="5320352"/>
            <a:ext cx="228600" cy="304800"/>
          </a:xfrm>
          <a:prstGeom prst="ellipse">
            <a:avLst/>
          </a:prstGeom>
          <a:solidFill>
            <a:srgbClr val="FFC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TextBox 7"/>
          <p:cNvSpPr txBox="1"/>
          <p:nvPr/>
        </p:nvSpPr>
        <p:spPr>
          <a:xfrm>
            <a:off x="5257800" y="5257800"/>
            <a:ext cx="838200" cy="369332"/>
          </a:xfrm>
          <a:prstGeom prst="rect">
            <a:avLst/>
          </a:prstGeom>
          <a:solidFill>
            <a:schemeClr val="accent3">
              <a:lumMod val="60000"/>
              <a:lumOff val="40000"/>
            </a:schemeClr>
          </a:solidFill>
        </p:spPr>
        <p:txBody>
          <a:bodyPr wrap="square" rtlCol="0">
            <a:spAutoFit/>
          </a:bodyPr>
          <a:lstStyle/>
          <a:p>
            <a:r>
              <a:rPr lang="en-US" dirty="0">
                <a:solidFill>
                  <a:srgbClr val="C00000"/>
                </a:solidFill>
              </a:rPr>
              <a:t>W</a:t>
            </a:r>
            <a:r>
              <a:rPr lang="en-US" baseline="-25000" dirty="0">
                <a:solidFill>
                  <a:srgbClr val="C00000"/>
                </a:solidFill>
              </a:rPr>
              <a:t>k1 </a:t>
            </a:r>
            <a:r>
              <a:rPr lang="en-US" dirty="0">
                <a:solidFill>
                  <a:srgbClr val="C00000"/>
                </a:solidFill>
                <a:sym typeface="Wingdings" pitchFamily="2" charset="2"/>
              </a:rPr>
              <a:t></a:t>
            </a:r>
            <a:endParaRPr lang="en-US" baseline="-25000" dirty="0">
              <a:solidFill>
                <a:srgbClr val="C00000"/>
              </a:solidFill>
            </a:endParaRPr>
          </a:p>
        </p:txBody>
      </p:sp>
      <p:sp>
        <p:nvSpPr>
          <p:cNvPr id="9" name="TextBox 8"/>
          <p:cNvSpPr txBox="1"/>
          <p:nvPr/>
        </p:nvSpPr>
        <p:spPr>
          <a:xfrm rot="18737364">
            <a:off x="1201872" y="5600310"/>
            <a:ext cx="677300" cy="369332"/>
          </a:xfrm>
          <a:prstGeom prst="rect">
            <a:avLst/>
          </a:prstGeom>
          <a:solidFill>
            <a:schemeClr val="accent3">
              <a:lumMod val="60000"/>
              <a:lumOff val="40000"/>
            </a:schemeClr>
          </a:solidFill>
        </p:spPr>
        <p:txBody>
          <a:bodyPr wrap="square" rtlCol="0">
            <a:spAutoFit/>
          </a:bodyPr>
          <a:lstStyle/>
          <a:p>
            <a:r>
              <a:rPr lang="en-US" dirty="0" err="1">
                <a:solidFill>
                  <a:srgbClr val="C00000"/>
                </a:solidFill>
              </a:rPr>
              <a:t>b</a:t>
            </a:r>
            <a:r>
              <a:rPr lang="en-US" baseline="-25000" dirty="0" err="1">
                <a:solidFill>
                  <a:srgbClr val="C00000"/>
                </a:solidFill>
              </a:rPr>
              <a:t>k</a:t>
            </a:r>
            <a:r>
              <a:rPr lang="en-US" baseline="-25000" dirty="0">
                <a:solidFill>
                  <a:srgbClr val="C00000"/>
                </a:solidFill>
              </a:rPr>
              <a:t> </a:t>
            </a:r>
            <a:r>
              <a:rPr lang="en-US" dirty="0">
                <a:solidFill>
                  <a:srgbClr val="C00000"/>
                </a:solidFill>
                <a:sym typeface="Wingdings" pitchFamily="2" charset="2"/>
              </a:rPr>
              <a:t></a:t>
            </a:r>
            <a:endParaRPr lang="en-US" baseline="-25000" dirty="0">
              <a:solidFill>
                <a:srgbClr val="C00000"/>
              </a:solidFill>
            </a:endParaRPr>
          </a:p>
        </p:txBody>
      </p:sp>
      <p:sp>
        <p:nvSpPr>
          <p:cNvPr id="10" name="TextBox 9"/>
          <p:cNvSpPr txBox="1"/>
          <p:nvPr/>
        </p:nvSpPr>
        <p:spPr>
          <a:xfrm rot="16200000">
            <a:off x="1490467" y="2243333"/>
            <a:ext cx="893598" cy="369332"/>
          </a:xfrm>
          <a:prstGeom prst="rect">
            <a:avLst/>
          </a:prstGeom>
          <a:solidFill>
            <a:schemeClr val="accent3">
              <a:lumMod val="60000"/>
              <a:lumOff val="40000"/>
            </a:schemeClr>
          </a:solidFill>
        </p:spPr>
        <p:txBody>
          <a:bodyPr wrap="square" rtlCol="0">
            <a:spAutoFit/>
          </a:bodyPr>
          <a:lstStyle/>
          <a:p>
            <a:r>
              <a:rPr lang="en-US" dirty="0">
                <a:solidFill>
                  <a:srgbClr val="C00000"/>
                </a:solidFill>
              </a:rPr>
              <a:t>Error</a:t>
            </a:r>
            <a:r>
              <a:rPr lang="en-US" baseline="-25000" dirty="0">
                <a:solidFill>
                  <a:srgbClr val="C00000"/>
                </a:solidFill>
              </a:rPr>
              <a:t> </a:t>
            </a:r>
            <a:r>
              <a:rPr lang="en-US" dirty="0">
                <a:solidFill>
                  <a:srgbClr val="C00000"/>
                </a:solidFill>
                <a:sym typeface="Wingdings" pitchFamily="2" charset="2"/>
              </a:rPr>
              <a:t></a:t>
            </a:r>
            <a:endParaRPr lang="en-US" baseline="-25000" dirty="0">
              <a:solidFill>
                <a:srgbClr val="C00000"/>
              </a:solidFill>
            </a:endParaRPr>
          </a:p>
        </p:txBody>
      </p:sp>
      <p:sp>
        <p:nvSpPr>
          <p:cNvPr id="11" name="Oval 10"/>
          <p:cNvSpPr/>
          <p:nvPr/>
        </p:nvSpPr>
        <p:spPr>
          <a:xfrm>
            <a:off x="1524000" y="3352800"/>
            <a:ext cx="228600" cy="304800"/>
          </a:xfrm>
          <a:prstGeom prst="ellipse">
            <a:avLst/>
          </a:prstGeom>
          <a:solidFill>
            <a:schemeClr val="tx1">
              <a:lumMod val="75000"/>
              <a:lumOff val="25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Oval 11"/>
          <p:cNvSpPr/>
          <p:nvPr/>
        </p:nvSpPr>
        <p:spPr>
          <a:xfrm>
            <a:off x="2590800" y="3886200"/>
            <a:ext cx="228600" cy="304800"/>
          </a:xfrm>
          <a:prstGeom prst="ellipse">
            <a:avLst/>
          </a:prstGeom>
          <a:solidFill>
            <a:schemeClr val="tx1">
              <a:lumMod val="75000"/>
              <a:lumOff val="25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b="1" dirty="0"/>
          </a:p>
        </p:txBody>
      </p:sp>
      <p:sp>
        <p:nvSpPr>
          <p:cNvPr id="13" name="Oval 12"/>
          <p:cNvSpPr/>
          <p:nvPr/>
        </p:nvSpPr>
        <p:spPr>
          <a:xfrm>
            <a:off x="3429000" y="3124200"/>
            <a:ext cx="228600" cy="304800"/>
          </a:xfrm>
          <a:prstGeom prst="ellipse">
            <a:avLst/>
          </a:prstGeom>
          <a:solidFill>
            <a:schemeClr val="tx1">
              <a:lumMod val="75000"/>
              <a:lumOff val="25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TextBox 13"/>
          <p:cNvSpPr txBox="1"/>
          <p:nvPr/>
        </p:nvSpPr>
        <p:spPr>
          <a:xfrm>
            <a:off x="0" y="0"/>
            <a:ext cx="4572000" cy="369332"/>
          </a:xfrm>
          <a:prstGeom prst="rect">
            <a:avLst/>
          </a:prstGeom>
          <a:noFill/>
        </p:spPr>
        <p:txBody>
          <a:bodyPr wrap="square" rtlCol="0">
            <a:spAutoFit/>
          </a:bodyPr>
          <a:lstStyle/>
          <a:p>
            <a:pPr algn="r"/>
            <a:r>
              <a:rPr lang="en-US" b="1" dirty="0">
                <a:solidFill>
                  <a:schemeClr val="bg1"/>
                </a:solidFill>
              </a:rPr>
              <a:t>Introduction to Neural Network</a:t>
            </a:r>
          </a:p>
        </p:txBody>
      </p:sp>
      <p:sp>
        <p:nvSpPr>
          <p:cNvPr id="15" name="Date Placeholder 3"/>
          <p:cNvSpPr>
            <a:spLocks noGrp="1"/>
          </p:cNvSpPr>
          <p:nvPr>
            <p:ph type="dt" sz="half" idx="10"/>
          </p:nvPr>
        </p:nvSpPr>
        <p:spPr>
          <a:xfrm>
            <a:off x="0" y="6629400"/>
            <a:ext cx="3048000" cy="228600"/>
          </a:xfrm>
        </p:spPr>
        <p:txBody>
          <a:bodyPr/>
          <a:lstStyle/>
          <a:p>
            <a:fld id="{E7067A60-51C7-4095-BFA9-1CE32DCBA06F}" type="datetime1">
              <a:rPr lang="en-US" smtClean="0"/>
              <a:pPr/>
              <a:t>2/9/2026</a:t>
            </a:fld>
            <a:endParaRPr lang="en-US" dirty="0"/>
          </a:p>
        </p:txBody>
      </p:sp>
      <p:sp>
        <p:nvSpPr>
          <p:cNvPr id="16" name="Slide Number Placeholder 5"/>
          <p:cNvSpPr>
            <a:spLocks noGrp="1"/>
          </p:cNvSpPr>
          <p:nvPr>
            <p:ph type="sldNum" sz="quarter" idx="12"/>
          </p:nvPr>
        </p:nvSpPr>
        <p:spPr>
          <a:xfrm>
            <a:off x="6096000" y="6629400"/>
            <a:ext cx="3048000" cy="228600"/>
          </a:xfrm>
        </p:spPr>
        <p:txBody>
          <a:bodyPr/>
          <a:lstStyle/>
          <a:p>
            <a:r>
              <a:rPr lang="en-US" dirty="0" smtClean="0"/>
              <a:t>12</a:t>
            </a:r>
            <a:endParaRPr lang="en-US" dirty="0"/>
          </a:p>
        </p:txBody>
      </p:sp>
      <p:sp>
        <p:nvSpPr>
          <p:cNvPr id="17" name="Footer Placeholder 4">
            <a:extLst>
              <a:ext uri="{FF2B5EF4-FFF2-40B4-BE49-F238E27FC236}">
                <a16:creationId xmlns:a16="http://schemas.microsoft.com/office/drawing/2014/main" id="{CBB301ED-B8A4-4772-B559-A9E41E7472BD}"/>
              </a:ext>
            </a:extLst>
          </p:cNvPr>
          <p:cNvSpPr>
            <a:spLocks noGrp="1"/>
          </p:cNvSpPr>
          <p:nvPr>
            <p:ph type="ftr" sz="quarter" idx="11"/>
          </p:nvPr>
        </p:nvSpPr>
        <p:spPr>
          <a:xfrm>
            <a:off x="2286000" y="6629400"/>
            <a:ext cx="4136571" cy="228600"/>
          </a:xfrm>
        </p:spPr>
        <p:txBody>
          <a:bodyPr/>
          <a:lstStyle/>
          <a:p>
            <a:r>
              <a:rPr lang="en-US" dirty="0"/>
              <a:t>Dr. Sibarama Panigrahi, Dept. of CSE, NIT Rourkela</a:t>
            </a:r>
          </a:p>
        </p:txBody>
      </p:sp>
      <p:sp>
        <p:nvSpPr>
          <p:cNvPr id="18" name="TextBox 17"/>
          <p:cNvSpPr txBox="1"/>
          <p:nvPr/>
        </p:nvSpPr>
        <p:spPr>
          <a:xfrm flipH="1">
            <a:off x="6472238" y="6600824"/>
            <a:ext cx="2366962" cy="307777"/>
          </a:xfrm>
          <a:prstGeom prst="rect">
            <a:avLst/>
          </a:prstGeom>
          <a:noFill/>
        </p:spPr>
        <p:txBody>
          <a:bodyPr wrap="square" rtlCol="0">
            <a:spAutoFit/>
          </a:bodyPr>
          <a:lstStyle/>
          <a:p>
            <a:r>
              <a:rPr lang="en-US" sz="1400" dirty="0" smtClean="0">
                <a:latin typeface="Times New Roman" panose="02020603050405020304" pitchFamily="18" charset="0"/>
                <a:cs typeface="Times New Roman" panose="02020603050405020304" pitchFamily="18" charset="0"/>
              </a:rPr>
              <a:t>Differentiation Intuitive </a:t>
            </a:r>
            <a:r>
              <a:rPr lang="en-US" sz="1400" dirty="0" err="1" smtClean="0">
                <a:latin typeface="Times New Roman" panose="02020603050405020304" pitchFamily="18" charset="0"/>
                <a:cs typeface="Times New Roman" panose="02020603050405020304" pitchFamily="18" charset="0"/>
              </a:rPr>
              <a:t>meani</a:t>
            </a:r>
            <a:endParaRPr lang="en-IN" sz="1400" dirty="0">
              <a:latin typeface="Times New Roman" panose="02020603050405020304" pitchFamily="18" charset="0"/>
              <a:cs typeface="Times New Roman" panose="02020603050405020304" pitchFamily="18" charset="0"/>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1" nodeType="click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fade">
                                      <p:cBhvr>
                                        <p:cTn id="7" dur="2000"/>
                                        <p:tgtEl>
                                          <p:spTgt spid="5"/>
                                        </p:tgtEl>
                                      </p:cBhvr>
                                    </p:animEffect>
                                  </p:childTnLst>
                                </p:cTn>
                              </p:par>
                              <p:par>
                                <p:cTn id="8" presetID="10" presetClass="entr" presetSubtype="0" fill="hold" grpId="1" nodeType="withEffect">
                                  <p:stCondLst>
                                    <p:cond delay="0"/>
                                  </p:stCondLst>
                                  <p:childTnLst>
                                    <p:set>
                                      <p:cBhvr>
                                        <p:cTn id="9" dur="1" fill="hold">
                                          <p:stCondLst>
                                            <p:cond delay="0"/>
                                          </p:stCondLst>
                                        </p:cTn>
                                        <p:tgtEl>
                                          <p:spTgt spid="6"/>
                                        </p:tgtEl>
                                        <p:attrNameLst>
                                          <p:attrName>style.visibility</p:attrName>
                                        </p:attrNameLst>
                                      </p:cBhvr>
                                      <p:to>
                                        <p:strVal val="visible"/>
                                      </p:to>
                                    </p:set>
                                    <p:animEffect transition="in" filter="fade">
                                      <p:cBhvr>
                                        <p:cTn id="10" dur="2000"/>
                                        <p:tgtEl>
                                          <p:spTgt spid="6"/>
                                        </p:tgtEl>
                                      </p:cBhvr>
                                    </p:animEffect>
                                  </p:childTnLst>
                                </p:cTn>
                              </p:par>
                            </p:childTnLst>
                          </p:cTn>
                        </p:par>
                      </p:childTnLst>
                    </p:cTn>
                  </p:par>
                  <p:par>
                    <p:cTn id="11" fill="hold">
                      <p:stCondLst>
                        <p:cond delay="indefinite"/>
                      </p:stCondLst>
                      <p:childTnLst>
                        <p:par>
                          <p:cTn id="12" fill="hold">
                            <p:stCondLst>
                              <p:cond delay="0"/>
                            </p:stCondLst>
                            <p:childTnLst>
                              <p:par>
                                <p:cTn id="13" presetID="32" presetClass="emph" presetSubtype="0" fill="hold" grpId="0" nodeType="clickEffect">
                                  <p:stCondLst>
                                    <p:cond delay="0"/>
                                  </p:stCondLst>
                                  <p:childTnLst>
                                    <p:animClr clrSpc="rgb" dir="cw">
                                      <p:cBhvr override="childStyle">
                                        <p:cTn id="14" dur="100" fill="hold"/>
                                        <p:tgtEl>
                                          <p:spTgt spid="6"/>
                                        </p:tgtEl>
                                        <p:attrNameLst>
                                          <p:attrName>style.color</p:attrName>
                                        </p:attrNameLst>
                                      </p:cBhvr>
                                      <p:to>
                                        <a:schemeClr val="accent2"/>
                                      </p:to>
                                    </p:animClr>
                                    <p:animClr clrSpc="rgb" dir="cw">
                                      <p:cBhvr>
                                        <p:cTn id="15" dur="100" fill="hold"/>
                                        <p:tgtEl>
                                          <p:spTgt spid="6"/>
                                        </p:tgtEl>
                                        <p:attrNameLst>
                                          <p:attrName>fillcolor</p:attrName>
                                        </p:attrNameLst>
                                      </p:cBhvr>
                                      <p:to>
                                        <a:schemeClr val="accent2"/>
                                      </p:to>
                                    </p:animClr>
                                    <p:set>
                                      <p:cBhvr>
                                        <p:cTn id="16" dur="100" fill="hold"/>
                                        <p:tgtEl>
                                          <p:spTgt spid="6"/>
                                        </p:tgtEl>
                                        <p:attrNameLst>
                                          <p:attrName>fill.type</p:attrName>
                                        </p:attrNameLst>
                                      </p:cBhvr>
                                      <p:to>
                                        <p:strVal val="solid"/>
                                      </p:to>
                                    </p:set>
                                    <p:set>
                                      <p:cBhvr>
                                        <p:cTn id="17" dur="100" fill="hold"/>
                                        <p:tgtEl>
                                          <p:spTgt spid="6"/>
                                        </p:tgtEl>
                                        <p:attrNameLst>
                                          <p:attrName>fill.on</p:attrName>
                                        </p:attrNameLst>
                                      </p:cBhvr>
                                      <p:to>
                                        <p:strVal val="true"/>
                                      </p:to>
                                    </p:set>
                                    <p:animRot by="120000">
                                      <p:cBhvr>
                                        <p:cTn id="18" dur="100" fill="hold">
                                          <p:stCondLst>
                                            <p:cond delay="0"/>
                                          </p:stCondLst>
                                        </p:cTn>
                                        <p:tgtEl>
                                          <p:spTgt spid="6"/>
                                        </p:tgtEl>
                                        <p:attrNameLst>
                                          <p:attrName>r</p:attrName>
                                        </p:attrNameLst>
                                      </p:cBhvr>
                                    </p:animRot>
                                    <p:animRot by="-240000">
                                      <p:cBhvr>
                                        <p:cTn id="19" dur="200" fill="hold">
                                          <p:stCondLst>
                                            <p:cond delay="200"/>
                                          </p:stCondLst>
                                        </p:cTn>
                                        <p:tgtEl>
                                          <p:spTgt spid="6"/>
                                        </p:tgtEl>
                                        <p:attrNameLst>
                                          <p:attrName>r</p:attrName>
                                        </p:attrNameLst>
                                      </p:cBhvr>
                                    </p:animRot>
                                    <p:animRot by="240000">
                                      <p:cBhvr>
                                        <p:cTn id="20" dur="200" fill="hold">
                                          <p:stCondLst>
                                            <p:cond delay="400"/>
                                          </p:stCondLst>
                                        </p:cTn>
                                        <p:tgtEl>
                                          <p:spTgt spid="6"/>
                                        </p:tgtEl>
                                        <p:attrNameLst>
                                          <p:attrName>r</p:attrName>
                                        </p:attrNameLst>
                                      </p:cBhvr>
                                    </p:animRot>
                                    <p:animRot by="-240000">
                                      <p:cBhvr>
                                        <p:cTn id="21" dur="200" fill="hold">
                                          <p:stCondLst>
                                            <p:cond delay="600"/>
                                          </p:stCondLst>
                                        </p:cTn>
                                        <p:tgtEl>
                                          <p:spTgt spid="6"/>
                                        </p:tgtEl>
                                        <p:attrNameLst>
                                          <p:attrName>r</p:attrName>
                                        </p:attrNameLst>
                                      </p:cBhvr>
                                    </p:animRot>
                                    <p:animRot by="120000">
                                      <p:cBhvr>
                                        <p:cTn id="22" dur="200" fill="hold">
                                          <p:stCondLst>
                                            <p:cond delay="800"/>
                                          </p:stCondLst>
                                        </p:cTn>
                                        <p:tgtEl>
                                          <p:spTgt spid="6"/>
                                        </p:tgtEl>
                                        <p:attrNameLst>
                                          <p:attrName>r</p:attrName>
                                        </p:attrNameLst>
                                      </p:cBhvr>
                                    </p:animRot>
                                  </p:childTnLst>
                                </p:cTn>
                              </p:par>
                              <p:par>
                                <p:cTn id="23" presetID="32" presetClass="emph" presetSubtype="0" fill="hold" grpId="0" nodeType="withEffect">
                                  <p:stCondLst>
                                    <p:cond delay="0"/>
                                  </p:stCondLst>
                                  <p:childTnLst>
                                    <p:animClr clrSpc="rgb" dir="cw">
                                      <p:cBhvr override="childStyle">
                                        <p:cTn id="24" dur="100" fill="hold"/>
                                        <p:tgtEl>
                                          <p:spTgt spid="5"/>
                                        </p:tgtEl>
                                        <p:attrNameLst>
                                          <p:attrName>style.color</p:attrName>
                                        </p:attrNameLst>
                                      </p:cBhvr>
                                      <p:to>
                                        <a:schemeClr val="accent2"/>
                                      </p:to>
                                    </p:animClr>
                                    <p:animClr clrSpc="rgb" dir="cw">
                                      <p:cBhvr>
                                        <p:cTn id="25" dur="100" fill="hold"/>
                                        <p:tgtEl>
                                          <p:spTgt spid="5"/>
                                        </p:tgtEl>
                                        <p:attrNameLst>
                                          <p:attrName>fillcolor</p:attrName>
                                        </p:attrNameLst>
                                      </p:cBhvr>
                                      <p:to>
                                        <a:schemeClr val="accent2"/>
                                      </p:to>
                                    </p:animClr>
                                    <p:set>
                                      <p:cBhvr>
                                        <p:cTn id="26" dur="100" fill="hold"/>
                                        <p:tgtEl>
                                          <p:spTgt spid="5"/>
                                        </p:tgtEl>
                                        <p:attrNameLst>
                                          <p:attrName>fill.type</p:attrName>
                                        </p:attrNameLst>
                                      </p:cBhvr>
                                      <p:to>
                                        <p:strVal val="solid"/>
                                      </p:to>
                                    </p:set>
                                    <p:set>
                                      <p:cBhvr>
                                        <p:cTn id="27" dur="100" fill="hold"/>
                                        <p:tgtEl>
                                          <p:spTgt spid="5"/>
                                        </p:tgtEl>
                                        <p:attrNameLst>
                                          <p:attrName>fill.on</p:attrName>
                                        </p:attrNameLst>
                                      </p:cBhvr>
                                      <p:to>
                                        <p:strVal val="true"/>
                                      </p:to>
                                    </p:set>
                                    <p:animRot by="120000">
                                      <p:cBhvr>
                                        <p:cTn id="28" dur="100" fill="hold">
                                          <p:stCondLst>
                                            <p:cond delay="0"/>
                                          </p:stCondLst>
                                        </p:cTn>
                                        <p:tgtEl>
                                          <p:spTgt spid="5"/>
                                        </p:tgtEl>
                                        <p:attrNameLst>
                                          <p:attrName>r</p:attrName>
                                        </p:attrNameLst>
                                      </p:cBhvr>
                                    </p:animRot>
                                    <p:animRot by="-240000">
                                      <p:cBhvr>
                                        <p:cTn id="29" dur="200" fill="hold">
                                          <p:stCondLst>
                                            <p:cond delay="200"/>
                                          </p:stCondLst>
                                        </p:cTn>
                                        <p:tgtEl>
                                          <p:spTgt spid="5"/>
                                        </p:tgtEl>
                                        <p:attrNameLst>
                                          <p:attrName>r</p:attrName>
                                        </p:attrNameLst>
                                      </p:cBhvr>
                                    </p:animRot>
                                    <p:animRot by="240000">
                                      <p:cBhvr>
                                        <p:cTn id="30" dur="200" fill="hold">
                                          <p:stCondLst>
                                            <p:cond delay="400"/>
                                          </p:stCondLst>
                                        </p:cTn>
                                        <p:tgtEl>
                                          <p:spTgt spid="5"/>
                                        </p:tgtEl>
                                        <p:attrNameLst>
                                          <p:attrName>r</p:attrName>
                                        </p:attrNameLst>
                                      </p:cBhvr>
                                    </p:animRot>
                                    <p:animRot by="-240000">
                                      <p:cBhvr>
                                        <p:cTn id="31" dur="200" fill="hold">
                                          <p:stCondLst>
                                            <p:cond delay="600"/>
                                          </p:stCondLst>
                                        </p:cTn>
                                        <p:tgtEl>
                                          <p:spTgt spid="5"/>
                                        </p:tgtEl>
                                        <p:attrNameLst>
                                          <p:attrName>r</p:attrName>
                                        </p:attrNameLst>
                                      </p:cBhvr>
                                    </p:animRot>
                                    <p:animRot by="120000">
                                      <p:cBhvr>
                                        <p:cTn id="32" dur="200" fill="hold">
                                          <p:stCondLst>
                                            <p:cond delay="800"/>
                                          </p:stCondLst>
                                        </p:cTn>
                                        <p:tgtEl>
                                          <p:spTgt spid="5"/>
                                        </p:tgtEl>
                                        <p:attrNameLst>
                                          <p:attrName>r</p:attrName>
                                        </p:attrNameLst>
                                      </p:cBhvr>
                                    </p:animRot>
                                  </p:childTnLst>
                                </p:cTn>
                              </p:par>
                            </p:childTnLst>
                          </p:cTn>
                        </p:par>
                      </p:childTnLst>
                    </p:cTn>
                  </p:par>
                  <p:par>
                    <p:cTn id="33" fill="hold">
                      <p:stCondLst>
                        <p:cond delay="indefinite"/>
                      </p:stCondLst>
                      <p:childTnLst>
                        <p:par>
                          <p:cTn id="34" fill="hold">
                            <p:stCondLst>
                              <p:cond delay="0"/>
                            </p:stCondLst>
                            <p:childTnLst>
                              <p:par>
                                <p:cTn id="35" presetID="10" presetClass="entr" presetSubtype="0" fill="hold" grpId="0" nodeType="clickEffect">
                                  <p:stCondLst>
                                    <p:cond delay="0"/>
                                  </p:stCondLst>
                                  <p:childTnLst>
                                    <p:set>
                                      <p:cBhvr>
                                        <p:cTn id="36" dur="1" fill="hold">
                                          <p:stCondLst>
                                            <p:cond delay="0"/>
                                          </p:stCondLst>
                                        </p:cTn>
                                        <p:tgtEl>
                                          <p:spTgt spid="7"/>
                                        </p:tgtEl>
                                        <p:attrNameLst>
                                          <p:attrName>style.visibility</p:attrName>
                                        </p:attrNameLst>
                                      </p:cBhvr>
                                      <p:to>
                                        <p:strVal val="visible"/>
                                      </p:to>
                                    </p:set>
                                    <p:animEffect transition="in" filter="fade">
                                      <p:cBhvr>
                                        <p:cTn id="37" dur="500"/>
                                        <p:tgtEl>
                                          <p:spTgt spid="7"/>
                                        </p:tgtEl>
                                      </p:cBhvr>
                                    </p:animEffect>
                                  </p:childTnLst>
                                </p:cTn>
                              </p:par>
                            </p:childTnLst>
                          </p:cTn>
                        </p:par>
                      </p:childTnLst>
                    </p:cTn>
                  </p:par>
                  <p:par>
                    <p:cTn id="38" fill="hold">
                      <p:stCondLst>
                        <p:cond delay="indefinite"/>
                      </p:stCondLst>
                      <p:childTnLst>
                        <p:par>
                          <p:cTn id="39" fill="hold">
                            <p:stCondLst>
                              <p:cond delay="0"/>
                            </p:stCondLst>
                            <p:childTnLst>
                              <p:par>
                                <p:cTn id="40" presetID="10" presetClass="entr" presetSubtype="0" fill="hold" grpId="0" nodeType="clickEffect">
                                  <p:stCondLst>
                                    <p:cond delay="0"/>
                                  </p:stCondLst>
                                  <p:childTnLst>
                                    <p:set>
                                      <p:cBhvr>
                                        <p:cTn id="41" dur="1" fill="hold">
                                          <p:stCondLst>
                                            <p:cond delay="0"/>
                                          </p:stCondLst>
                                        </p:cTn>
                                        <p:tgtEl>
                                          <p:spTgt spid="11"/>
                                        </p:tgtEl>
                                        <p:attrNameLst>
                                          <p:attrName>style.visibility</p:attrName>
                                        </p:attrNameLst>
                                      </p:cBhvr>
                                      <p:to>
                                        <p:strVal val="visible"/>
                                      </p:to>
                                    </p:set>
                                    <p:animEffect transition="in" filter="fade">
                                      <p:cBhvr>
                                        <p:cTn id="42" dur="500"/>
                                        <p:tgtEl>
                                          <p:spTgt spid="11"/>
                                        </p:tgtEl>
                                      </p:cBhvr>
                                    </p:animEffect>
                                  </p:childTnLst>
                                </p:cTn>
                              </p:par>
                            </p:childTnLst>
                          </p:cTn>
                        </p:par>
                      </p:childTnLst>
                    </p:cTn>
                  </p:par>
                  <p:par>
                    <p:cTn id="43" fill="hold">
                      <p:stCondLst>
                        <p:cond delay="indefinite"/>
                      </p:stCondLst>
                      <p:childTnLst>
                        <p:par>
                          <p:cTn id="44" fill="hold">
                            <p:stCondLst>
                              <p:cond delay="0"/>
                            </p:stCondLst>
                            <p:childTnLst>
                              <p:par>
                                <p:cTn id="45" presetID="0" presetClass="path" presetSubtype="0" accel="50000" decel="50000" fill="hold" grpId="1" nodeType="clickEffect">
                                  <p:stCondLst>
                                    <p:cond delay="0"/>
                                  </p:stCondLst>
                                  <p:childTnLst>
                                    <p:animMotion origin="layout" path="M 0 0 C 0.00486 0.03793 0.00972 0.07586 0.01649 0.10546 C 0.02327 0.13506 0.03229 0.15796 0.04045 0.17715 C 0.04861 0.19635 0.05608 0.20837 0.0658 0.22086 C 0.07552 0.23335 0.08976 0.24769 0.09861 0.25254 C 0.10747 0.2574 0.11441 0.24514 0.11945 0.25069 C 0.12448 0.25624 0.12691 0.2803 0.12847 0.28631 " pathEditMode="relative" ptsTypes="aaaaaaA">
                                      <p:cBhvr>
                                        <p:cTn id="46" dur="2000" fill="hold"/>
                                        <p:tgtEl>
                                          <p:spTgt spid="11"/>
                                        </p:tgtEl>
                                        <p:attrNameLst>
                                          <p:attrName>ppt_x</p:attrName>
                                          <p:attrName>ppt_y</p:attrName>
                                        </p:attrNameLst>
                                      </p:cBhvr>
                                    </p:animMotion>
                                  </p:childTnLst>
                                </p:cTn>
                              </p:par>
                            </p:childTnLst>
                          </p:cTn>
                        </p:par>
                      </p:childTnLst>
                    </p:cTn>
                  </p:par>
                  <p:par>
                    <p:cTn id="47" fill="hold">
                      <p:stCondLst>
                        <p:cond delay="indefinite"/>
                      </p:stCondLst>
                      <p:childTnLst>
                        <p:par>
                          <p:cTn id="48" fill="hold">
                            <p:stCondLst>
                              <p:cond delay="0"/>
                            </p:stCondLst>
                            <p:childTnLst>
                              <p:par>
                                <p:cTn id="49" presetID="10" presetClass="exit" presetSubtype="0" fill="hold" grpId="2" nodeType="clickEffect">
                                  <p:stCondLst>
                                    <p:cond delay="0"/>
                                  </p:stCondLst>
                                  <p:childTnLst>
                                    <p:animEffect transition="out" filter="fade">
                                      <p:cBhvr>
                                        <p:cTn id="50" dur="500"/>
                                        <p:tgtEl>
                                          <p:spTgt spid="11"/>
                                        </p:tgtEl>
                                      </p:cBhvr>
                                    </p:animEffect>
                                    <p:set>
                                      <p:cBhvr>
                                        <p:cTn id="51" dur="1" fill="hold">
                                          <p:stCondLst>
                                            <p:cond delay="499"/>
                                          </p:stCondLst>
                                        </p:cTn>
                                        <p:tgtEl>
                                          <p:spTgt spid="11"/>
                                        </p:tgtEl>
                                        <p:attrNameLst>
                                          <p:attrName>style.visibility</p:attrName>
                                        </p:attrNameLst>
                                      </p:cBhvr>
                                      <p:to>
                                        <p:strVal val="hidden"/>
                                      </p:to>
                                    </p:set>
                                  </p:childTnLst>
                                </p:cTn>
                              </p:par>
                            </p:childTnLst>
                          </p:cTn>
                        </p:par>
                      </p:childTnLst>
                    </p:cTn>
                  </p:par>
                  <p:par>
                    <p:cTn id="52" fill="hold">
                      <p:stCondLst>
                        <p:cond delay="indefinite"/>
                      </p:stCondLst>
                      <p:childTnLst>
                        <p:par>
                          <p:cTn id="53" fill="hold">
                            <p:stCondLst>
                              <p:cond delay="0"/>
                            </p:stCondLst>
                            <p:childTnLst>
                              <p:par>
                                <p:cTn id="54" presetID="10" presetClass="entr" presetSubtype="0" fill="hold" grpId="0" nodeType="clickEffect">
                                  <p:stCondLst>
                                    <p:cond delay="0"/>
                                  </p:stCondLst>
                                  <p:childTnLst>
                                    <p:set>
                                      <p:cBhvr>
                                        <p:cTn id="55" dur="1" fill="hold">
                                          <p:stCondLst>
                                            <p:cond delay="0"/>
                                          </p:stCondLst>
                                        </p:cTn>
                                        <p:tgtEl>
                                          <p:spTgt spid="12"/>
                                        </p:tgtEl>
                                        <p:attrNameLst>
                                          <p:attrName>style.visibility</p:attrName>
                                        </p:attrNameLst>
                                      </p:cBhvr>
                                      <p:to>
                                        <p:strVal val="visible"/>
                                      </p:to>
                                    </p:set>
                                    <p:animEffect transition="in" filter="fade">
                                      <p:cBhvr>
                                        <p:cTn id="56" dur="500"/>
                                        <p:tgtEl>
                                          <p:spTgt spid="12"/>
                                        </p:tgtEl>
                                      </p:cBhvr>
                                    </p:animEffect>
                                  </p:childTnLst>
                                </p:cTn>
                              </p:par>
                            </p:childTnLst>
                          </p:cTn>
                        </p:par>
                      </p:childTnLst>
                    </p:cTn>
                  </p:par>
                  <p:par>
                    <p:cTn id="57" fill="hold">
                      <p:stCondLst>
                        <p:cond delay="indefinite"/>
                      </p:stCondLst>
                      <p:childTnLst>
                        <p:par>
                          <p:cTn id="58" fill="hold">
                            <p:stCondLst>
                              <p:cond delay="0"/>
                            </p:stCondLst>
                            <p:childTnLst>
                              <p:par>
                                <p:cTn id="59" presetID="0" presetClass="path" presetSubtype="0" accel="50000" decel="50000" fill="hold" grpId="1" nodeType="clickEffect">
                                  <p:stCondLst>
                                    <p:cond delay="0"/>
                                  </p:stCondLst>
                                  <p:childTnLst>
                                    <p:animMotion origin="layout" path="M 0.00608 0.00047 C 0.01789 -0.00115 0.0224 0.00093 0.03108 -0.00809 C 0.06823 -0.00532 0.05139 -0.00763 0.07257 0.00232 C 0.07448 0.01619 0.07344 0.02544 0.0823 0.03007 C 0.08316 0.03238 0.08559 0.034 0.08507 0.03654 C 0.08473 0.03886 0.0823 0.03793 0.08091 0.03863 C 0.07761 0.03955 0.07431 0.04001 0.07118 0.04071 C 0.06771 0.05574 0.07709 0.08696 0.06424 0.0939 C 0.05834 0.10754 0.05521 0.10477 0.04341 0.10685 C 0.04497 0.11333 0.0474 0.11679 0.04914 0.1235 C 0.04705 0.14593 0.04931 0.14108 0.03646 0.14478 C 0.03889 0.15518 0.04167 0.15518 0.03525 0.16189 C 0.02344 0.15565 0.02448 0.1649 0.02257 0.17901 C 0.01806 0.17646 0.01476 0.17276 0.01025 0.17022 C 0.00712 0.18363 0.00417 0.19936 0.01146 0.21092 " pathEditMode="relative" rAng="0" ptsTypes="ffffffffffffffA">
                                      <p:cBhvr>
                                        <p:cTn id="60" dur="2000" fill="hold"/>
                                        <p:tgtEl>
                                          <p:spTgt spid="12"/>
                                        </p:tgtEl>
                                        <p:attrNameLst>
                                          <p:attrName>ppt_x</p:attrName>
                                          <p:attrName>ppt_y</p:attrName>
                                        </p:attrNameLst>
                                      </p:cBhvr>
                                      <p:rCtr x="3900" y="10100"/>
                                    </p:animMotion>
                                  </p:childTnLst>
                                </p:cTn>
                              </p:par>
                            </p:childTnLst>
                          </p:cTn>
                        </p:par>
                      </p:childTnLst>
                    </p:cTn>
                  </p:par>
                  <p:par>
                    <p:cTn id="61" fill="hold">
                      <p:stCondLst>
                        <p:cond delay="indefinite"/>
                      </p:stCondLst>
                      <p:childTnLst>
                        <p:par>
                          <p:cTn id="62" fill="hold">
                            <p:stCondLst>
                              <p:cond delay="0"/>
                            </p:stCondLst>
                            <p:childTnLst>
                              <p:par>
                                <p:cTn id="63" presetID="10" presetClass="exit" presetSubtype="0" fill="hold" grpId="2" nodeType="clickEffect">
                                  <p:stCondLst>
                                    <p:cond delay="0"/>
                                  </p:stCondLst>
                                  <p:childTnLst>
                                    <p:animEffect transition="out" filter="fade">
                                      <p:cBhvr>
                                        <p:cTn id="64" dur="500"/>
                                        <p:tgtEl>
                                          <p:spTgt spid="12"/>
                                        </p:tgtEl>
                                      </p:cBhvr>
                                    </p:animEffect>
                                    <p:set>
                                      <p:cBhvr>
                                        <p:cTn id="65" dur="1" fill="hold">
                                          <p:stCondLst>
                                            <p:cond delay="499"/>
                                          </p:stCondLst>
                                        </p:cTn>
                                        <p:tgtEl>
                                          <p:spTgt spid="12"/>
                                        </p:tgtEl>
                                        <p:attrNameLst>
                                          <p:attrName>style.visibility</p:attrName>
                                        </p:attrNameLst>
                                      </p:cBhvr>
                                      <p:to>
                                        <p:strVal val="hidden"/>
                                      </p:to>
                                    </p:set>
                                  </p:childTnLst>
                                </p:cTn>
                              </p:par>
                            </p:childTnLst>
                          </p:cTn>
                        </p:par>
                      </p:childTnLst>
                    </p:cTn>
                  </p:par>
                  <p:par>
                    <p:cTn id="66" fill="hold">
                      <p:stCondLst>
                        <p:cond delay="indefinite"/>
                      </p:stCondLst>
                      <p:childTnLst>
                        <p:par>
                          <p:cTn id="67" fill="hold">
                            <p:stCondLst>
                              <p:cond delay="0"/>
                            </p:stCondLst>
                            <p:childTnLst>
                              <p:par>
                                <p:cTn id="68" presetID="10" presetClass="entr" presetSubtype="0" fill="hold" grpId="0" nodeType="clickEffect">
                                  <p:stCondLst>
                                    <p:cond delay="0"/>
                                  </p:stCondLst>
                                  <p:childTnLst>
                                    <p:set>
                                      <p:cBhvr>
                                        <p:cTn id="69" dur="1" fill="hold">
                                          <p:stCondLst>
                                            <p:cond delay="0"/>
                                          </p:stCondLst>
                                        </p:cTn>
                                        <p:tgtEl>
                                          <p:spTgt spid="13"/>
                                        </p:tgtEl>
                                        <p:attrNameLst>
                                          <p:attrName>style.visibility</p:attrName>
                                        </p:attrNameLst>
                                      </p:cBhvr>
                                      <p:to>
                                        <p:strVal val="visible"/>
                                      </p:to>
                                    </p:set>
                                    <p:animEffect transition="in" filter="fade">
                                      <p:cBhvr>
                                        <p:cTn id="70" dur="500"/>
                                        <p:tgtEl>
                                          <p:spTgt spid="13"/>
                                        </p:tgtEl>
                                      </p:cBhvr>
                                    </p:animEffect>
                                  </p:childTnLst>
                                </p:cTn>
                              </p:par>
                            </p:childTnLst>
                          </p:cTn>
                        </p:par>
                      </p:childTnLst>
                    </p:cTn>
                  </p:par>
                  <p:par>
                    <p:cTn id="71" fill="hold">
                      <p:stCondLst>
                        <p:cond delay="indefinite"/>
                      </p:stCondLst>
                      <p:childTnLst>
                        <p:par>
                          <p:cTn id="72" fill="hold">
                            <p:stCondLst>
                              <p:cond delay="0"/>
                            </p:stCondLst>
                            <p:childTnLst>
                              <p:par>
                                <p:cTn id="73" presetID="0" presetClass="path" presetSubtype="0" accel="50000" decel="50000" fill="hold" grpId="1" nodeType="clickEffect">
                                  <p:stCondLst>
                                    <p:cond delay="0"/>
                                  </p:stCondLst>
                                  <p:childTnLst>
                                    <p:animMotion origin="layout" path="M 0 0 C 0.00348 0.02428 0.00695 0.04879 0 0.0636 C -0.00694 0.0784 -0.0401 0.08002 -0.04184 0.0895 C -0.04357 0.09898 0.01441 0.10846 -0.01041 0.12118 C -0.03524 0.1339 -0.16823 0.15287 -0.19114 0.16512 C -0.21406 0.17738 -0.15243 0.18478 -0.14774 0.19496 C -0.14305 0.20513 -0.16458 0.2197 -0.16267 0.22664 C -0.16076 0.23358 -0.14045 0.22941 -0.13593 0.23658 C -0.13142 0.24375 -0.14045 0.2648 -0.13593 0.27035 C -0.13142 0.2759 -0.11423 0.26711 -0.10902 0.27035 C -0.10382 0.27359 -0.10746 0.28816 -0.10451 0.29024 C -0.10156 0.29232 -0.09409 0.27798 -0.09114 0.28237 C -0.08819 0.28677 -0.08732 0.31128 -0.08663 0.31614 " pathEditMode="relative" ptsTypes="aaaaaaaaaaaaA">
                                      <p:cBhvr>
                                        <p:cTn id="74" dur="2000" fill="hold"/>
                                        <p:tgtEl>
                                          <p:spTgt spid="13"/>
                                        </p:tgtEl>
                                        <p:attrNameLst>
                                          <p:attrName>ppt_x</p:attrName>
                                          <p:attrName>ppt_y</p:attrName>
                                        </p:attrNameLst>
                                      </p:cBhvr>
                                    </p:animMotion>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animBg="1"/>
      <p:bldP spid="5" grpId="1" animBg="1"/>
      <p:bldP spid="6" grpId="0" animBg="1"/>
      <p:bldP spid="6" grpId="1" animBg="1"/>
      <p:bldP spid="7" grpId="0" animBg="1"/>
      <p:bldP spid="11" grpId="0" animBg="1"/>
      <p:bldP spid="11" grpId="1" animBg="1"/>
      <p:bldP spid="11" grpId="2" animBg="1"/>
      <p:bldP spid="12" grpId="0" animBg="1"/>
      <p:bldP spid="12" grpId="1" animBg="1"/>
      <p:bldP spid="12" grpId="2" animBg="1"/>
      <p:bldP spid="13" grpId="0" animBg="1"/>
      <p:bldP spid="13" grpId="1" animBg="1"/>
    </p:bld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dirty="0" smtClean="0"/>
              <a:t>Differentiation…</a:t>
            </a:r>
            <a:endParaRPr lang="en-US" dirty="0"/>
          </a:p>
        </p:txBody>
      </p:sp>
      <p:sp>
        <p:nvSpPr>
          <p:cNvPr id="14" name="TextBox 13"/>
          <p:cNvSpPr txBox="1"/>
          <p:nvPr/>
        </p:nvSpPr>
        <p:spPr>
          <a:xfrm>
            <a:off x="0" y="0"/>
            <a:ext cx="4572000" cy="369332"/>
          </a:xfrm>
          <a:prstGeom prst="rect">
            <a:avLst/>
          </a:prstGeom>
          <a:noFill/>
        </p:spPr>
        <p:txBody>
          <a:bodyPr wrap="square" rtlCol="0">
            <a:spAutoFit/>
          </a:bodyPr>
          <a:lstStyle/>
          <a:p>
            <a:pPr algn="r"/>
            <a:r>
              <a:rPr lang="en-US" b="1" dirty="0">
                <a:solidFill>
                  <a:schemeClr val="bg1"/>
                </a:solidFill>
              </a:rPr>
              <a:t>Introduction to Neural Network</a:t>
            </a:r>
          </a:p>
        </p:txBody>
      </p:sp>
      <p:sp>
        <p:nvSpPr>
          <p:cNvPr id="15" name="Date Placeholder 3"/>
          <p:cNvSpPr>
            <a:spLocks noGrp="1"/>
          </p:cNvSpPr>
          <p:nvPr>
            <p:ph type="dt" sz="half" idx="10"/>
          </p:nvPr>
        </p:nvSpPr>
        <p:spPr>
          <a:xfrm>
            <a:off x="0" y="6629400"/>
            <a:ext cx="3048000" cy="228600"/>
          </a:xfrm>
        </p:spPr>
        <p:txBody>
          <a:bodyPr/>
          <a:lstStyle/>
          <a:p>
            <a:fld id="{E7067A60-51C7-4095-BFA9-1CE32DCBA06F}" type="datetime1">
              <a:rPr lang="en-US" smtClean="0"/>
              <a:pPr/>
              <a:t>2/9/2026</a:t>
            </a:fld>
            <a:endParaRPr lang="en-US" dirty="0"/>
          </a:p>
        </p:txBody>
      </p:sp>
      <p:sp>
        <p:nvSpPr>
          <p:cNvPr id="16" name="Slide Number Placeholder 5"/>
          <p:cNvSpPr>
            <a:spLocks noGrp="1"/>
          </p:cNvSpPr>
          <p:nvPr>
            <p:ph type="sldNum" sz="quarter" idx="12"/>
          </p:nvPr>
        </p:nvSpPr>
        <p:spPr>
          <a:xfrm>
            <a:off x="6096000" y="6629400"/>
            <a:ext cx="3048000" cy="228600"/>
          </a:xfrm>
        </p:spPr>
        <p:txBody>
          <a:bodyPr/>
          <a:lstStyle/>
          <a:p>
            <a:r>
              <a:rPr lang="en-US" dirty="0" smtClean="0"/>
              <a:t>12</a:t>
            </a:r>
            <a:endParaRPr lang="en-US" dirty="0"/>
          </a:p>
        </p:txBody>
      </p:sp>
      <p:sp>
        <p:nvSpPr>
          <p:cNvPr id="17" name="Footer Placeholder 4">
            <a:extLst>
              <a:ext uri="{FF2B5EF4-FFF2-40B4-BE49-F238E27FC236}">
                <a16:creationId xmlns:a16="http://schemas.microsoft.com/office/drawing/2014/main" id="{CBB301ED-B8A4-4772-B559-A9E41E7472BD}"/>
              </a:ext>
            </a:extLst>
          </p:cNvPr>
          <p:cNvSpPr>
            <a:spLocks noGrp="1"/>
          </p:cNvSpPr>
          <p:nvPr>
            <p:ph type="ftr" sz="quarter" idx="11"/>
          </p:nvPr>
        </p:nvSpPr>
        <p:spPr>
          <a:xfrm>
            <a:off x="2286000" y="6629400"/>
            <a:ext cx="4136571" cy="228600"/>
          </a:xfrm>
        </p:spPr>
        <p:txBody>
          <a:bodyPr/>
          <a:lstStyle/>
          <a:p>
            <a:r>
              <a:rPr lang="en-US" dirty="0"/>
              <a:t>Dr. Sibarama Panigrahi, Dept. of CSE, NIT Rourkela</a:t>
            </a:r>
          </a:p>
        </p:txBody>
      </p:sp>
      <mc:AlternateContent xmlns:mc="http://schemas.openxmlformats.org/markup-compatibility/2006" xmlns:a14="http://schemas.microsoft.com/office/drawing/2010/main">
        <mc:Choice Requires="a14">
          <p:sp>
            <p:nvSpPr>
              <p:cNvPr id="18" name="Content Placeholder 2"/>
              <p:cNvSpPr>
                <a:spLocks noGrp="1"/>
              </p:cNvSpPr>
              <p:nvPr>
                <p:ph idx="1"/>
              </p:nvPr>
            </p:nvSpPr>
            <p:spPr>
              <a:xfrm>
                <a:off x="0" y="1066800"/>
                <a:ext cx="9144000" cy="5562600"/>
              </a:xfrm>
            </p:spPr>
            <p:txBody>
              <a:bodyPr/>
              <a:lstStyle/>
              <a:p>
                <a:pPr marL="336550" indent="0">
                  <a:buNone/>
                </a:pPr>
                <a14:m>
                  <m:oMathPara xmlns:m="http://schemas.openxmlformats.org/officeDocument/2006/math">
                    <m:oMathParaPr>
                      <m:jc m:val="left"/>
                    </m:oMathParaPr>
                    <m:oMath xmlns:m="http://schemas.openxmlformats.org/officeDocument/2006/math">
                      <m:r>
                        <a:rPr lang="en-IN" i="1" smtClean="0">
                          <a:latin typeface="Cambria Math" panose="02040503050406030204" pitchFamily="18" charset="0"/>
                        </a:rPr>
                        <m:t>𝑦</m:t>
                      </m:r>
                      <m:r>
                        <a:rPr lang="en-IN" i="1" smtClean="0">
                          <a:latin typeface="Cambria Math" panose="02040503050406030204" pitchFamily="18" charset="0"/>
                        </a:rPr>
                        <m:t>=</m:t>
                      </m:r>
                      <m:r>
                        <a:rPr lang="en-IN" i="1" smtClean="0">
                          <a:latin typeface="Cambria Math" panose="02040503050406030204" pitchFamily="18" charset="0"/>
                        </a:rPr>
                        <m:t>𝑓</m:t>
                      </m:r>
                      <m:r>
                        <a:rPr lang="en-IN" i="1" smtClean="0">
                          <a:latin typeface="Cambria Math" panose="02040503050406030204" pitchFamily="18" charset="0"/>
                        </a:rPr>
                        <m:t>(</m:t>
                      </m:r>
                      <m:r>
                        <a:rPr lang="en-IN" i="1" smtClean="0">
                          <a:latin typeface="Cambria Math" panose="02040503050406030204" pitchFamily="18" charset="0"/>
                        </a:rPr>
                        <m:t>𝑥</m:t>
                      </m:r>
                      <m:r>
                        <a:rPr lang="en-IN" i="1" smtClean="0">
                          <a:latin typeface="Cambria Math" panose="02040503050406030204" pitchFamily="18" charset="0"/>
                        </a:rPr>
                        <m:t>)</m:t>
                      </m:r>
                    </m:oMath>
                  </m:oMathPara>
                </a14:m>
                <a:endParaRPr lang="en-IN" dirty="0"/>
              </a:p>
              <a:p>
                <a:pPr marL="336550" indent="0">
                  <a:buNone/>
                </a:pPr>
                <a:endParaRPr lang="en-IN" dirty="0" smtClean="0"/>
              </a:p>
              <a:p>
                <a:pPr marL="336550" indent="0">
                  <a:buNone/>
                </a:pPr>
                <a:endParaRPr lang="en-IN" dirty="0"/>
              </a:p>
              <a:p>
                <a:pPr marL="336550" indent="0">
                  <a:buNone/>
                </a:pPr>
                <a:endParaRPr lang="en-IN" dirty="0" smtClean="0"/>
              </a:p>
              <a:p>
                <a:pPr marL="336550" indent="0">
                  <a:buNone/>
                </a:pPr>
                <a:endParaRPr lang="en-IN" sz="2400" dirty="0" smtClean="0"/>
              </a:p>
              <a:p>
                <a:pPr marL="336550" indent="0">
                  <a:buNone/>
                </a:pPr>
                <a:r>
                  <a:rPr lang="en-IN" sz="2400" dirty="0" smtClean="0"/>
                  <a:t>How much does y change as x changes=</a:t>
                </a:r>
              </a:p>
              <a:p>
                <a:pPr marL="336550" indent="0">
                  <a:buNone/>
                </a:pPr>
                <a:endParaRPr lang="en-IN" dirty="0" smtClean="0"/>
              </a:p>
            </p:txBody>
          </p:sp>
        </mc:Choice>
        <mc:Fallback xmlns="">
          <p:sp>
            <p:nvSpPr>
              <p:cNvPr id="18" name="Content Placeholder 2"/>
              <p:cNvSpPr>
                <a:spLocks noGrp="1" noRot="1" noChangeAspect="1" noMove="1" noResize="1" noEditPoints="1" noAdjustHandles="1" noChangeArrowheads="1" noChangeShapeType="1" noTextEdit="1"/>
              </p:cNvSpPr>
              <p:nvPr>
                <p:ph idx="1"/>
              </p:nvPr>
            </p:nvSpPr>
            <p:spPr>
              <a:xfrm>
                <a:off x="0" y="1066800"/>
                <a:ext cx="9144000" cy="5562600"/>
              </a:xfrm>
              <a:blipFill rotWithShape="0">
                <a:blip r:embed="rId2"/>
                <a:stretch>
                  <a:fillRect/>
                </a:stretch>
              </a:blipFill>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19" name="Rectangle 18"/>
              <p:cNvSpPr/>
              <p:nvPr/>
            </p:nvSpPr>
            <p:spPr>
              <a:xfrm>
                <a:off x="228600" y="1984132"/>
                <a:ext cx="3124200" cy="911468"/>
              </a:xfrm>
              <a:prstGeom prst="rect">
                <a:avLst/>
              </a:prstGeom>
            </p:spPr>
            <p:txBody>
              <a:bodyPr wrap="square">
                <a:spAutoFit/>
              </a:bodyPr>
              <a:lstStyle/>
              <a:p>
                <a:pPr/>
                <a14:m>
                  <m:oMathPara xmlns:m="http://schemas.openxmlformats.org/officeDocument/2006/math">
                    <m:oMathParaPr>
                      <m:jc m:val="centerGroup"/>
                    </m:oMathParaPr>
                    <m:oMath xmlns:m="http://schemas.openxmlformats.org/officeDocument/2006/math">
                      <m:f>
                        <m:fPr>
                          <m:ctrlPr>
                            <a:rPr lang="en-IN" sz="2800" i="1">
                              <a:latin typeface="Cambria Math" panose="02040503050406030204" pitchFamily="18" charset="0"/>
                            </a:rPr>
                          </m:ctrlPr>
                        </m:fPr>
                        <m:num>
                          <m:r>
                            <a:rPr lang="en-IN" sz="2800" i="1">
                              <a:latin typeface="Cambria Math" panose="02040503050406030204" pitchFamily="18" charset="0"/>
                            </a:rPr>
                            <m:t>𝑑𝑦</m:t>
                          </m:r>
                        </m:num>
                        <m:den>
                          <m:r>
                            <a:rPr lang="en-IN" sz="2800" i="1">
                              <a:latin typeface="Cambria Math" panose="02040503050406030204" pitchFamily="18" charset="0"/>
                            </a:rPr>
                            <m:t>𝑑𝑥</m:t>
                          </m:r>
                        </m:den>
                      </m:f>
                      <m:r>
                        <a:rPr lang="en-IN" sz="2800" i="0">
                          <a:latin typeface="Cambria Math" panose="02040503050406030204" pitchFamily="18" charset="0"/>
                        </a:rPr>
                        <m:t>=</m:t>
                      </m:r>
                      <m:f>
                        <m:fPr>
                          <m:ctrlPr>
                            <a:rPr lang="en-IN" sz="2800" i="1">
                              <a:latin typeface="Cambria Math" panose="02040503050406030204" pitchFamily="18" charset="0"/>
                            </a:rPr>
                          </m:ctrlPr>
                        </m:fPr>
                        <m:num>
                          <m:r>
                            <a:rPr lang="en-IN" sz="2800" i="1">
                              <a:latin typeface="Cambria Math" panose="02040503050406030204" pitchFamily="18" charset="0"/>
                            </a:rPr>
                            <m:t>𝑑𝑓</m:t>
                          </m:r>
                        </m:num>
                        <m:den>
                          <m:r>
                            <a:rPr lang="en-IN" sz="2800" i="1">
                              <a:latin typeface="Cambria Math" panose="02040503050406030204" pitchFamily="18" charset="0"/>
                            </a:rPr>
                            <m:t>𝑑𝑥</m:t>
                          </m:r>
                        </m:den>
                      </m:f>
                      <m:r>
                        <a:rPr lang="en-IN" sz="2800" i="0">
                          <a:latin typeface="Cambria Math" panose="02040503050406030204" pitchFamily="18" charset="0"/>
                        </a:rPr>
                        <m:t>=</m:t>
                      </m:r>
                      <m:sSup>
                        <m:sSupPr>
                          <m:ctrlPr>
                            <a:rPr lang="en-IN" sz="2800" i="1">
                              <a:latin typeface="Cambria Math" panose="02040503050406030204" pitchFamily="18" charset="0"/>
                            </a:rPr>
                          </m:ctrlPr>
                        </m:sSupPr>
                        <m:e>
                          <m:r>
                            <a:rPr lang="en-IN" sz="2800" i="1">
                              <a:latin typeface="Cambria Math" panose="02040503050406030204" pitchFamily="18" charset="0"/>
                            </a:rPr>
                            <m:t>𝑦</m:t>
                          </m:r>
                        </m:e>
                        <m:sup>
                          <m:r>
                            <a:rPr lang="en-IN" sz="2800" i="0">
                              <a:latin typeface="Cambria Math" panose="02040503050406030204" pitchFamily="18" charset="0"/>
                            </a:rPr>
                            <m:t>′</m:t>
                          </m:r>
                        </m:sup>
                      </m:sSup>
                      <m:r>
                        <a:rPr lang="en-IN" sz="2800" i="0">
                          <a:latin typeface="Cambria Math" panose="02040503050406030204" pitchFamily="18" charset="0"/>
                        </a:rPr>
                        <m:t>=</m:t>
                      </m:r>
                      <m:sSup>
                        <m:sSupPr>
                          <m:ctrlPr>
                            <a:rPr lang="en-IN" sz="2800" i="1">
                              <a:latin typeface="Cambria Math" panose="02040503050406030204" pitchFamily="18" charset="0"/>
                            </a:rPr>
                          </m:ctrlPr>
                        </m:sSupPr>
                        <m:e>
                          <m:r>
                            <a:rPr lang="en-IN" sz="2800" i="1">
                              <a:latin typeface="Cambria Math" panose="02040503050406030204" pitchFamily="18" charset="0"/>
                            </a:rPr>
                            <m:t>𝑓</m:t>
                          </m:r>
                        </m:e>
                        <m:sup>
                          <m:r>
                            <a:rPr lang="en-IN" sz="2800" i="0">
                              <a:latin typeface="Cambria Math" panose="02040503050406030204" pitchFamily="18" charset="0"/>
                            </a:rPr>
                            <m:t>′</m:t>
                          </m:r>
                        </m:sup>
                      </m:sSup>
                    </m:oMath>
                  </m:oMathPara>
                </a14:m>
                <a:endParaRPr lang="en-IN" sz="2800" dirty="0"/>
              </a:p>
            </p:txBody>
          </p:sp>
        </mc:Choice>
        <mc:Fallback xmlns="">
          <p:sp>
            <p:nvSpPr>
              <p:cNvPr id="19" name="Rectangle 18"/>
              <p:cNvSpPr>
                <a:spLocks noRot="1" noChangeAspect="1" noMove="1" noResize="1" noEditPoints="1" noAdjustHandles="1" noChangeArrowheads="1" noChangeShapeType="1" noTextEdit="1"/>
              </p:cNvSpPr>
              <p:nvPr/>
            </p:nvSpPr>
            <p:spPr>
              <a:xfrm>
                <a:off x="228600" y="1984132"/>
                <a:ext cx="3124200" cy="911468"/>
              </a:xfrm>
              <a:prstGeom prst="rect">
                <a:avLst/>
              </a:prstGeom>
              <a:blipFill rotWithShape="0">
                <a:blip r:embed="rId3"/>
                <a:stretch>
                  <a:fillRect/>
                </a:stretch>
              </a:blipFill>
            </p:spPr>
            <p:txBody>
              <a:bodyPr/>
              <a:lstStyle/>
              <a:p>
                <a:r>
                  <a:rPr lang="en-IN">
                    <a:noFill/>
                  </a:rPr>
                  <a:t> </a:t>
                </a:r>
              </a:p>
            </p:txBody>
          </p:sp>
        </mc:Fallback>
      </mc:AlternateContent>
      <p:graphicFrame>
        <p:nvGraphicFramePr>
          <p:cNvPr id="20" name="Chart 19"/>
          <p:cNvGraphicFramePr/>
          <p:nvPr>
            <p:extLst>
              <p:ext uri="{D42A27DB-BD31-4B8C-83A1-F6EECF244321}">
                <p14:modId xmlns:p14="http://schemas.microsoft.com/office/powerpoint/2010/main" val="3613754598"/>
              </p:ext>
            </p:extLst>
          </p:nvPr>
        </p:nvGraphicFramePr>
        <p:xfrm>
          <a:off x="3733800" y="990600"/>
          <a:ext cx="5029200" cy="2514600"/>
        </p:xfrm>
        <a:graphic>
          <a:graphicData uri="http://schemas.openxmlformats.org/drawingml/2006/chart">
            <c:chart xmlns:c="http://schemas.openxmlformats.org/drawingml/2006/chart" xmlns:r="http://schemas.openxmlformats.org/officeDocument/2006/relationships" r:id="rId4"/>
          </a:graphicData>
        </a:graphic>
      </p:graphicFrame>
      <p:cxnSp>
        <p:nvCxnSpPr>
          <p:cNvPr id="22" name="Straight Arrow Connector 21"/>
          <p:cNvCxnSpPr/>
          <p:nvPr/>
        </p:nvCxnSpPr>
        <p:spPr>
          <a:xfrm flipV="1">
            <a:off x="3886200" y="990600"/>
            <a:ext cx="0" cy="236220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23" name="Freeform 22"/>
          <p:cNvSpPr/>
          <p:nvPr/>
        </p:nvSpPr>
        <p:spPr>
          <a:xfrm>
            <a:off x="3571875" y="1243013"/>
            <a:ext cx="4772025" cy="1516471"/>
          </a:xfrm>
          <a:custGeom>
            <a:avLst/>
            <a:gdLst>
              <a:gd name="connsiteX0" fmla="*/ 0 w 4772025"/>
              <a:gd name="connsiteY0" fmla="*/ 1271587 h 1516471"/>
              <a:gd name="connsiteX1" fmla="*/ 1200150 w 4772025"/>
              <a:gd name="connsiteY1" fmla="*/ 342900 h 1516471"/>
              <a:gd name="connsiteX2" fmla="*/ 3186113 w 4772025"/>
              <a:gd name="connsiteY2" fmla="*/ 1514475 h 1516471"/>
              <a:gd name="connsiteX3" fmla="*/ 4772025 w 4772025"/>
              <a:gd name="connsiteY3" fmla="*/ 0 h 1516471"/>
            </a:gdLst>
            <a:ahLst/>
            <a:cxnLst>
              <a:cxn ang="0">
                <a:pos x="connsiteX0" y="connsiteY0"/>
              </a:cxn>
              <a:cxn ang="0">
                <a:pos x="connsiteX1" y="connsiteY1"/>
              </a:cxn>
              <a:cxn ang="0">
                <a:pos x="connsiteX2" y="connsiteY2"/>
              </a:cxn>
              <a:cxn ang="0">
                <a:pos x="connsiteX3" y="connsiteY3"/>
              </a:cxn>
            </a:cxnLst>
            <a:rect l="l" t="t" r="r" b="b"/>
            <a:pathLst>
              <a:path w="4772025" h="1516471">
                <a:moveTo>
                  <a:pt x="0" y="1271587"/>
                </a:moveTo>
                <a:cubicBezTo>
                  <a:pt x="334565" y="787003"/>
                  <a:pt x="669131" y="302419"/>
                  <a:pt x="1200150" y="342900"/>
                </a:cubicBezTo>
                <a:cubicBezTo>
                  <a:pt x="1731169" y="383381"/>
                  <a:pt x="2590801" y="1571625"/>
                  <a:pt x="3186113" y="1514475"/>
                </a:cubicBezTo>
                <a:cubicBezTo>
                  <a:pt x="3781425" y="1457325"/>
                  <a:pt x="4495800" y="273844"/>
                  <a:pt x="4772025" y="0"/>
                </a:cubicBezTo>
              </a:path>
            </a:pathLst>
          </a:cu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cxnSp>
        <p:nvCxnSpPr>
          <p:cNvPr id="25" name="Straight Connector 24"/>
          <p:cNvCxnSpPr/>
          <p:nvPr/>
        </p:nvCxnSpPr>
        <p:spPr>
          <a:xfrm flipH="1">
            <a:off x="7391400" y="1905000"/>
            <a:ext cx="457200" cy="457200"/>
          </a:xfrm>
          <a:prstGeom prst="line">
            <a:avLst/>
          </a:prstGeom>
          <a:ln w="381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6" name="Straight Connector 25"/>
          <p:cNvCxnSpPr/>
          <p:nvPr/>
        </p:nvCxnSpPr>
        <p:spPr>
          <a:xfrm flipH="1" flipV="1">
            <a:off x="7391400" y="2357438"/>
            <a:ext cx="457200" cy="4762"/>
          </a:xfrm>
          <a:prstGeom prst="line">
            <a:avLst/>
          </a:prstGeom>
          <a:ln w="381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9" name="Straight Connector 28"/>
          <p:cNvCxnSpPr/>
          <p:nvPr/>
        </p:nvCxnSpPr>
        <p:spPr>
          <a:xfrm>
            <a:off x="7848600" y="1905000"/>
            <a:ext cx="0" cy="452438"/>
          </a:xfrm>
          <a:prstGeom prst="line">
            <a:avLst/>
          </a:prstGeom>
          <a:ln w="38100">
            <a:solidFill>
              <a:schemeClr val="tx1"/>
            </a:solidFill>
          </a:ln>
        </p:spPr>
        <p:style>
          <a:lnRef idx="1">
            <a:schemeClr val="accent1"/>
          </a:lnRef>
          <a:fillRef idx="0">
            <a:schemeClr val="accent1"/>
          </a:fillRef>
          <a:effectRef idx="0">
            <a:schemeClr val="accent1"/>
          </a:effectRef>
          <a:fontRef idx="minor">
            <a:schemeClr val="tx1"/>
          </a:fontRef>
        </p:style>
      </p:cxnSp>
      <p:sp>
        <p:nvSpPr>
          <p:cNvPr id="32" name="TextBox 31"/>
          <p:cNvSpPr txBox="1"/>
          <p:nvPr/>
        </p:nvSpPr>
        <p:spPr>
          <a:xfrm>
            <a:off x="3571875" y="1600200"/>
            <a:ext cx="397866" cy="400110"/>
          </a:xfrm>
          <a:prstGeom prst="rect">
            <a:avLst/>
          </a:prstGeom>
          <a:noFill/>
        </p:spPr>
        <p:txBody>
          <a:bodyPr wrap="none" rtlCol="0">
            <a:spAutoFit/>
          </a:bodyPr>
          <a:lstStyle/>
          <a:p>
            <a:r>
              <a:rPr lang="en-IN" sz="2000" b="1" dirty="0" smtClean="0">
                <a:latin typeface="Times New Roman" panose="02020603050405020304" pitchFamily="18" charset="0"/>
                <a:cs typeface="Times New Roman" panose="02020603050405020304" pitchFamily="18" charset="0"/>
              </a:rPr>
              <a:t>y</a:t>
            </a:r>
            <a:r>
              <a:rPr lang="en-IN" sz="2000" b="1" baseline="-25000" dirty="0" smtClean="0">
                <a:latin typeface="Times New Roman" panose="02020603050405020304" pitchFamily="18" charset="0"/>
                <a:cs typeface="Times New Roman" panose="02020603050405020304" pitchFamily="18" charset="0"/>
              </a:rPr>
              <a:t>2</a:t>
            </a:r>
            <a:endParaRPr lang="en-IN" sz="2000" b="1" baseline="-25000" dirty="0">
              <a:latin typeface="Times New Roman" panose="02020603050405020304" pitchFamily="18" charset="0"/>
              <a:cs typeface="Times New Roman" panose="02020603050405020304" pitchFamily="18" charset="0"/>
            </a:endParaRPr>
          </a:p>
        </p:txBody>
      </p:sp>
      <p:sp>
        <p:nvSpPr>
          <p:cNvPr id="33" name="TextBox 32"/>
          <p:cNvSpPr txBox="1"/>
          <p:nvPr/>
        </p:nvSpPr>
        <p:spPr>
          <a:xfrm>
            <a:off x="3581400" y="2190690"/>
            <a:ext cx="397866" cy="400110"/>
          </a:xfrm>
          <a:prstGeom prst="rect">
            <a:avLst/>
          </a:prstGeom>
          <a:noFill/>
        </p:spPr>
        <p:txBody>
          <a:bodyPr wrap="none" rtlCol="0">
            <a:spAutoFit/>
          </a:bodyPr>
          <a:lstStyle/>
          <a:p>
            <a:r>
              <a:rPr lang="en-IN" sz="2000" b="1" dirty="0" smtClean="0">
                <a:latin typeface="Times New Roman" panose="02020603050405020304" pitchFamily="18" charset="0"/>
                <a:cs typeface="Times New Roman" panose="02020603050405020304" pitchFamily="18" charset="0"/>
              </a:rPr>
              <a:t>y</a:t>
            </a:r>
            <a:r>
              <a:rPr lang="en-IN" sz="2000" b="1" baseline="-25000" dirty="0" smtClean="0">
                <a:latin typeface="Times New Roman" panose="02020603050405020304" pitchFamily="18" charset="0"/>
                <a:cs typeface="Times New Roman" panose="02020603050405020304" pitchFamily="18" charset="0"/>
              </a:rPr>
              <a:t>1</a:t>
            </a:r>
            <a:endParaRPr lang="en-IN" sz="2000" b="1" baseline="-25000" dirty="0">
              <a:latin typeface="Times New Roman" panose="02020603050405020304" pitchFamily="18" charset="0"/>
              <a:cs typeface="Times New Roman" panose="02020603050405020304" pitchFamily="18" charset="0"/>
            </a:endParaRPr>
          </a:p>
        </p:txBody>
      </p:sp>
      <p:cxnSp>
        <p:nvCxnSpPr>
          <p:cNvPr id="35" name="Straight Connector 34"/>
          <p:cNvCxnSpPr/>
          <p:nvPr/>
        </p:nvCxnSpPr>
        <p:spPr>
          <a:xfrm>
            <a:off x="7391400" y="2357438"/>
            <a:ext cx="0" cy="1071562"/>
          </a:xfrm>
          <a:prstGeom prst="line">
            <a:avLst/>
          </a:prstGeom>
          <a:ln w="25400">
            <a:solidFill>
              <a:schemeClr val="tx1"/>
            </a:solidFill>
            <a:prstDash val="dash"/>
          </a:ln>
        </p:spPr>
        <p:style>
          <a:lnRef idx="1">
            <a:schemeClr val="accent1"/>
          </a:lnRef>
          <a:fillRef idx="0">
            <a:schemeClr val="accent1"/>
          </a:fillRef>
          <a:effectRef idx="0">
            <a:schemeClr val="accent1"/>
          </a:effectRef>
          <a:fontRef idx="minor">
            <a:schemeClr val="tx1"/>
          </a:fontRef>
        </p:style>
      </p:cxnSp>
      <p:cxnSp>
        <p:nvCxnSpPr>
          <p:cNvPr id="37" name="Straight Connector 36"/>
          <p:cNvCxnSpPr/>
          <p:nvPr/>
        </p:nvCxnSpPr>
        <p:spPr>
          <a:xfrm flipH="1">
            <a:off x="7848600" y="2357438"/>
            <a:ext cx="14288" cy="1071562"/>
          </a:xfrm>
          <a:prstGeom prst="line">
            <a:avLst/>
          </a:prstGeom>
          <a:ln w="25400">
            <a:solidFill>
              <a:schemeClr val="tx1"/>
            </a:solidFill>
            <a:prstDash val="dash"/>
          </a:ln>
        </p:spPr>
        <p:style>
          <a:lnRef idx="1">
            <a:schemeClr val="accent1"/>
          </a:lnRef>
          <a:fillRef idx="0">
            <a:schemeClr val="accent1"/>
          </a:fillRef>
          <a:effectRef idx="0">
            <a:schemeClr val="accent1"/>
          </a:effectRef>
          <a:fontRef idx="minor">
            <a:schemeClr val="tx1"/>
          </a:fontRef>
        </p:style>
      </p:cxnSp>
      <p:sp>
        <p:nvSpPr>
          <p:cNvPr id="39" name="TextBox 38"/>
          <p:cNvSpPr txBox="1"/>
          <p:nvPr/>
        </p:nvSpPr>
        <p:spPr>
          <a:xfrm>
            <a:off x="7222134" y="3333690"/>
            <a:ext cx="397866" cy="400110"/>
          </a:xfrm>
          <a:prstGeom prst="rect">
            <a:avLst/>
          </a:prstGeom>
          <a:noFill/>
        </p:spPr>
        <p:txBody>
          <a:bodyPr wrap="none" rtlCol="0">
            <a:spAutoFit/>
          </a:bodyPr>
          <a:lstStyle/>
          <a:p>
            <a:r>
              <a:rPr lang="en-IN" sz="2000" b="1" dirty="0" smtClean="0">
                <a:latin typeface="Times New Roman" panose="02020603050405020304" pitchFamily="18" charset="0"/>
                <a:cs typeface="Times New Roman" panose="02020603050405020304" pitchFamily="18" charset="0"/>
              </a:rPr>
              <a:t>x</a:t>
            </a:r>
            <a:r>
              <a:rPr lang="en-IN" sz="2000" b="1" baseline="-25000" dirty="0" smtClean="0">
                <a:latin typeface="Times New Roman" panose="02020603050405020304" pitchFamily="18" charset="0"/>
                <a:cs typeface="Times New Roman" panose="02020603050405020304" pitchFamily="18" charset="0"/>
              </a:rPr>
              <a:t>1</a:t>
            </a:r>
            <a:endParaRPr lang="en-IN" sz="2000" b="1" baseline="-25000" dirty="0">
              <a:latin typeface="Times New Roman" panose="02020603050405020304" pitchFamily="18" charset="0"/>
              <a:cs typeface="Times New Roman" panose="02020603050405020304" pitchFamily="18" charset="0"/>
            </a:endParaRPr>
          </a:p>
        </p:txBody>
      </p:sp>
      <p:sp>
        <p:nvSpPr>
          <p:cNvPr id="40" name="TextBox 39"/>
          <p:cNvSpPr txBox="1"/>
          <p:nvPr/>
        </p:nvSpPr>
        <p:spPr>
          <a:xfrm>
            <a:off x="7679334" y="3352800"/>
            <a:ext cx="397866" cy="400110"/>
          </a:xfrm>
          <a:prstGeom prst="rect">
            <a:avLst/>
          </a:prstGeom>
          <a:noFill/>
        </p:spPr>
        <p:txBody>
          <a:bodyPr wrap="none" rtlCol="0">
            <a:spAutoFit/>
          </a:bodyPr>
          <a:lstStyle/>
          <a:p>
            <a:r>
              <a:rPr lang="en-IN" sz="2000" b="1" dirty="0" smtClean="0">
                <a:latin typeface="Times New Roman" panose="02020603050405020304" pitchFamily="18" charset="0"/>
                <a:cs typeface="Times New Roman" panose="02020603050405020304" pitchFamily="18" charset="0"/>
              </a:rPr>
              <a:t>x</a:t>
            </a:r>
            <a:r>
              <a:rPr lang="en-IN" sz="2000" b="1" baseline="-25000" dirty="0">
                <a:latin typeface="Times New Roman" panose="02020603050405020304" pitchFamily="18" charset="0"/>
                <a:cs typeface="Times New Roman" panose="02020603050405020304" pitchFamily="18" charset="0"/>
              </a:rPr>
              <a:t>2</a:t>
            </a:r>
          </a:p>
        </p:txBody>
      </p:sp>
      <mc:AlternateContent xmlns:mc="http://schemas.openxmlformats.org/markup-compatibility/2006" xmlns:a14="http://schemas.microsoft.com/office/drawing/2010/main">
        <mc:Choice Requires="a14">
          <p:sp>
            <p:nvSpPr>
              <p:cNvPr id="42" name="Rectangle 41"/>
              <p:cNvSpPr/>
              <p:nvPr/>
            </p:nvSpPr>
            <p:spPr>
              <a:xfrm rot="16200000">
                <a:off x="3322792" y="1244104"/>
                <a:ext cx="811172" cy="194628"/>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i="1" dirty="0" smtClean="0">
                  <a:solidFill>
                    <a:schemeClr val="tx1"/>
                  </a:solidFill>
                  <a:latin typeface="Cambria Math" panose="02040503050406030204" pitchFamily="18" charset="0"/>
                </a:endParaRPr>
              </a:p>
              <a:p>
                <a:pPr algn="ctr"/>
                <a14:m>
                  <m:oMathPara xmlns:m="http://schemas.openxmlformats.org/officeDocument/2006/math">
                    <m:oMathParaPr>
                      <m:jc m:val="centerGroup"/>
                    </m:oMathParaPr>
                    <m:oMath xmlns:m="http://schemas.openxmlformats.org/officeDocument/2006/math">
                      <m:r>
                        <a:rPr lang="en-IN" sz="1200" i="1" smtClean="0">
                          <a:solidFill>
                            <a:schemeClr val="tx1"/>
                          </a:solidFill>
                          <a:latin typeface="Cambria Math" panose="02040503050406030204" pitchFamily="18" charset="0"/>
                        </a:rPr>
                        <m:t>𝑦</m:t>
                      </m:r>
                      <m:r>
                        <a:rPr lang="en-IN" sz="1200" i="1" smtClean="0">
                          <a:solidFill>
                            <a:schemeClr val="tx1"/>
                          </a:solidFill>
                          <a:latin typeface="Cambria Math" panose="02040503050406030204" pitchFamily="18" charset="0"/>
                        </a:rPr>
                        <m:t>=</m:t>
                      </m:r>
                      <m:r>
                        <a:rPr lang="en-IN" sz="1200" i="1" smtClean="0">
                          <a:solidFill>
                            <a:schemeClr val="tx1"/>
                          </a:solidFill>
                          <a:latin typeface="Cambria Math" panose="02040503050406030204" pitchFamily="18" charset="0"/>
                        </a:rPr>
                        <m:t>𝑓</m:t>
                      </m:r>
                      <m:r>
                        <a:rPr lang="en-IN" sz="1200" i="1" smtClean="0">
                          <a:solidFill>
                            <a:schemeClr val="tx1"/>
                          </a:solidFill>
                          <a:latin typeface="Cambria Math" panose="02040503050406030204" pitchFamily="18" charset="0"/>
                        </a:rPr>
                        <m:t>(</m:t>
                      </m:r>
                      <m:r>
                        <a:rPr lang="en-IN" sz="1200" i="1" smtClean="0">
                          <a:solidFill>
                            <a:schemeClr val="tx1"/>
                          </a:solidFill>
                          <a:latin typeface="Cambria Math" panose="02040503050406030204" pitchFamily="18" charset="0"/>
                        </a:rPr>
                        <m:t>𝑥</m:t>
                      </m:r>
                      <m:r>
                        <a:rPr lang="en-IN" sz="1200" i="1" smtClean="0">
                          <a:solidFill>
                            <a:schemeClr val="tx1"/>
                          </a:solidFill>
                          <a:latin typeface="Cambria Math" panose="02040503050406030204" pitchFamily="18" charset="0"/>
                        </a:rPr>
                        <m:t>)</m:t>
                      </m:r>
                    </m:oMath>
                  </m:oMathPara>
                </a14:m>
                <a:endParaRPr lang="en-IN" sz="1200" dirty="0">
                  <a:solidFill>
                    <a:schemeClr val="tx1"/>
                  </a:solidFill>
                </a:endParaRPr>
              </a:p>
              <a:p>
                <a:pPr algn="ctr"/>
                <a:endParaRPr lang="en-IN" dirty="0"/>
              </a:p>
            </p:txBody>
          </p:sp>
        </mc:Choice>
        <mc:Fallback xmlns="">
          <p:sp>
            <p:nvSpPr>
              <p:cNvPr id="42" name="Rectangle 41"/>
              <p:cNvSpPr>
                <a:spLocks noRot="1" noChangeAspect="1" noMove="1" noResize="1" noEditPoints="1" noAdjustHandles="1" noChangeArrowheads="1" noChangeShapeType="1" noTextEdit="1"/>
              </p:cNvSpPr>
              <p:nvPr/>
            </p:nvSpPr>
            <p:spPr>
              <a:xfrm rot="16200000">
                <a:off x="3322792" y="1244104"/>
                <a:ext cx="811172" cy="194628"/>
              </a:xfrm>
              <a:prstGeom prst="rect">
                <a:avLst/>
              </a:prstGeom>
              <a:blipFill rotWithShape="0">
                <a:blip r:embed="rId5"/>
                <a:stretch>
                  <a:fillRect l="-3125" r="-31250"/>
                </a:stretch>
              </a:blipFill>
              <a:ln>
                <a:noFill/>
              </a:ln>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43" name="Rectangle 42"/>
              <p:cNvSpPr/>
              <p:nvPr/>
            </p:nvSpPr>
            <p:spPr>
              <a:xfrm>
                <a:off x="6182362" y="3455541"/>
                <a:ext cx="811172" cy="194628"/>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i="1" dirty="0" smtClean="0">
                  <a:solidFill>
                    <a:schemeClr val="tx1"/>
                  </a:solidFill>
                  <a:latin typeface="Cambria Math" panose="02040503050406030204" pitchFamily="18" charset="0"/>
                </a:endParaRPr>
              </a:p>
              <a:p>
                <a:pPr algn="ctr"/>
                <a14:m>
                  <m:oMath xmlns:m="http://schemas.openxmlformats.org/officeDocument/2006/math">
                    <m:r>
                      <a:rPr lang="en-IN" sz="1200" b="0" i="1" smtClean="0">
                        <a:solidFill>
                          <a:schemeClr val="tx1"/>
                        </a:solidFill>
                        <a:latin typeface="Cambria Math" panose="02040503050406030204" pitchFamily="18" charset="0"/>
                      </a:rPr>
                      <m:t>𝑥</m:t>
                    </m:r>
                  </m:oMath>
                </a14:m>
                <a:r>
                  <a:rPr lang="en-IN" sz="1200" b="0" dirty="0" smtClean="0">
                    <a:solidFill>
                      <a:schemeClr val="tx1"/>
                    </a:solidFill>
                  </a:rPr>
                  <a:t> ------</a:t>
                </a:r>
                <a:r>
                  <a:rPr lang="en-IN" sz="1200" b="0" dirty="0" smtClean="0">
                    <a:solidFill>
                      <a:schemeClr val="tx1"/>
                    </a:solidFill>
                    <a:sym typeface="Wingdings" panose="05000000000000000000" pitchFamily="2" charset="2"/>
                  </a:rPr>
                  <a:t></a:t>
                </a:r>
                <a:endParaRPr lang="en-IN" sz="1200" b="0" dirty="0" smtClean="0">
                  <a:solidFill>
                    <a:schemeClr val="tx1"/>
                  </a:solidFill>
                </a:endParaRPr>
              </a:p>
              <a:p>
                <a:pPr algn="ctr"/>
                <a:endParaRPr lang="en-IN" dirty="0"/>
              </a:p>
            </p:txBody>
          </p:sp>
        </mc:Choice>
        <mc:Fallback xmlns="">
          <p:sp>
            <p:nvSpPr>
              <p:cNvPr id="43" name="Rectangle 42"/>
              <p:cNvSpPr>
                <a:spLocks noRot="1" noChangeAspect="1" noMove="1" noResize="1" noEditPoints="1" noAdjustHandles="1" noChangeArrowheads="1" noChangeShapeType="1" noTextEdit="1"/>
              </p:cNvSpPr>
              <p:nvPr/>
            </p:nvSpPr>
            <p:spPr>
              <a:xfrm>
                <a:off x="6182362" y="3455541"/>
                <a:ext cx="811172" cy="194628"/>
              </a:xfrm>
              <a:prstGeom prst="rect">
                <a:avLst/>
              </a:prstGeom>
              <a:blipFill rotWithShape="0">
                <a:blip r:embed="rId6"/>
                <a:stretch>
                  <a:fillRect t="-21875" b="-46875"/>
                </a:stretch>
              </a:blipFill>
              <a:ln>
                <a:noFill/>
              </a:ln>
            </p:spPr>
            <p:txBody>
              <a:bodyPr/>
              <a:lstStyle/>
              <a:p>
                <a:r>
                  <a:rPr lang="en-IN">
                    <a:noFill/>
                  </a:rPr>
                  <a:t> </a:t>
                </a:r>
              </a:p>
            </p:txBody>
          </p:sp>
        </mc:Fallback>
      </mc:AlternateContent>
      <p:pic>
        <p:nvPicPr>
          <p:cNvPr id="44" name="Picture 43"/>
          <p:cNvPicPr>
            <a:picLocks noChangeAspect="1"/>
          </p:cNvPicPr>
          <p:nvPr/>
        </p:nvPicPr>
        <p:blipFill>
          <a:blip r:embed="rId7"/>
          <a:stretch>
            <a:fillRect/>
          </a:stretch>
        </p:blipFill>
        <p:spPr>
          <a:xfrm>
            <a:off x="3944505" y="3805238"/>
            <a:ext cx="5732895" cy="684818"/>
          </a:xfrm>
          <a:prstGeom prst="rect">
            <a:avLst/>
          </a:prstGeom>
        </p:spPr>
      </p:pic>
      <p:sp>
        <p:nvSpPr>
          <p:cNvPr id="45" name="Freeform 44"/>
          <p:cNvSpPr/>
          <p:nvPr/>
        </p:nvSpPr>
        <p:spPr>
          <a:xfrm>
            <a:off x="7528956" y="2196935"/>
            <a:ext cx="136183" cy="166255"/>
          </a:xfrm>
          <a:custGeom>
            <a:avLst/>
            <a:gdLst>
              <a:gd name="connsiteX0" fmla="*/ 0 w 136183"/>
              <a:gd name="connsiteY0" fmla="*/ 0 h 166255"/>
              <a:gd name="connsiteX1" fmla="*/ 130628 w 136183"/>
              <a:gd name="connsiteY1" fmla="*/ 47501 h 166255"/>
              <a:gd name="connsiteX2" fmla="*/ 106878 w 136183"/>
              <a:gd name="connsiteY2" fmla="*/ 166255 h 166255"/>
            </a:gdLst>
            <a:ahLst/>
            <a:cxnLst>
              <a:cxn ang="0">
                <a:pos x="connsiteX0" y="connsiteY0"/>
              </a:cxn>
              <a:cxn ang="0">
                <a:pos x="connsiteX1" y="connsiteY1"/>
              </a:cxn>
              <a:cxn ang="0">
                <a:pos x="connsiteX2" y="connsiteY2"/>
              </a:cxn>
            </a:cxnLst>
            <a:rect l="l" t="t" r="r" b="b"/>
            <a:pathLst>
              <a:path w="136183" h="166255">
                <a:moveTo>
                  <a:pt x="0" y="0"/>
                </a:moveTo>
                <a:cubicBezTo>
                  <a:pt x="56407" y="9896"/>
                  <a:pt x="112815" y="19792"/>
                  <a:pt x="130628" y="47501"/>
                </a:cubicBezTo>
                <a:cubicBezTo>
                  <a:pt x="148441" y="75210"/>
                  <a:pt x="118753" y="150421"/>
                  <a:pt x="106878" y="166255"/>
                </a:cubicBezTo>
              </a:path>
            </a:pathLst>
          </a:cu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mc:AlternateContent xmlns:mc="http://schemas.openxmlformats.org/markup-compatibility/2006" xmlns:a14="http://schemas.microsoft.com/office/drawing/2010/main">
        <mc:Choice Requires="a14">
          <p:sp>
            <p:nvSpPr>
              <p:cNvPr id="46" name="Rectangle 45"/>
              <p:cNvSpPr/>
              <p:nvPr/>
            </p:nvSpPr>
            <p:spPr>
              <a:xfrm>
                <a:off x="7566191" y="2021413"/>
                <a:ext cx="374140" cy="369332"/>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r>
                        <a:rPr lang="en-IN" i="1">
                          <a:latin typeface="Cambria Math" panose="02040503050406030204" pitchFamily="18" charset="0"/>
                        </a:rPr>
                        <m:t>𝜃</m:t>
                      </m:r>
                    </m:oMath>
                  </m:oMathPara>
                </a14:m>
                <a:endParaRPr lang="en-IN" dirty="0"/>
              </a:p>
            </p:txBody>
          </p:sp>
        </mc:Choice>
        <mc:Fallback xmlns="">
          <p:sp>
            <p:nvSpPr>
              <p:cNvPr id="46" name="Rectangle 45"/>
              <p:cNvSpPr>
                <a:spLocks noRot="1" noChangeAspect="1" noMove="1" noResize="1" noEditPoints="1" noAdjustHandles="1" noChangeArrowheads="1" noChangeShapeType="1" noTextEdit="1"/>
              </p:cNvSpPr>
              <p:nvPr/>
            </p:nvSpPr>
            <p:spPr>
              <a:xfrm>
                <a:off x="7566191" y="2021413"/>
                <a:ext cx="374140" cy="369332"/>
              </a:xfrm>
              <a:prstGeom prst="rect">
                <a:avLst/>
              </a:prstGeom>
              <a:blipFill rotWithShape="0">
                <a:blip r:embed="rId8"/>
                <a:stretch>
                  <a:fillRect/>
                </a:stretch>
              </a:blipFill>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47" name="Rectangle 46"/>
              <p:cNvSpPr/>
              <p:nvPr/>
            </p:nvSpPr>
            <p:spPr>
              <a:xfrm>
                <a:off x="304800" y="4494013"/>
                <a:ext cx="2338910" cy="910377"/>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f>
                        <m:fPr>
                          <m:ctrlPr>
                            <a:rPr lang="en-IN" sz="2800" i="1">
                              <a:latin typeface="Cambria Math" panose="02040503050406030204" pitchFamily="18" charset="0"/>
                            </a:rPr>
                          </m:ctrlPr>
                        </m:fPr>
                        <m:num>
                          <m:r>
                            <a:rPr lang="en-IN" sz="2800" i="1">
                              <a:latin typeface="Cambria Math" panose="02040503050406030204" pitchFamily="18" charset="0"/>
                            </a:rPr>
                            <m:t>𝑑𝑦</m:t>
                          </m:r>
                        </m:num>
                        <m:den>
                          <m:r>
                            <a:rPr lang="en-IN" sz="2800" i="1">
                              <a:latin typeface="Cambria Math" panose="02040503050406030204" pitchFamily="18" charset="0"/>
                            </a:rPr>
                            <m:t>𝑑𝑥</m:t>
                          </m:r>
                        </m:den>
                      </m:f>
                      <m:r>
                        <a:rPr lang="en-IN" sz="2800" i="0">
                          <a:latin typeface="Cambria Math" panose="02040503050406030204" pitchFamily="18" charset="0"/>
                        </a:rPr>
                        <m:t>=</m:t>
                      </m:r>
                      <m:func>
                        <m:funcPr>
                          <m:ctrlPr>
                            <a:rPr lang="en-IN" sz="2800" i="1">
                              <a:latin typeface="Cambria Math" panose="02040503050406030204" pitchFamily="18" charset="0"/>
                            </a:rPr>
                          </m:ctrlPr>
                        </m:funcPr>
                        <m:fName>
                          <m:limLow>
                            <m:limLowPr>
                              <m:ctrlPr>
                                <a:rPr lang="en-IN" sz="2800" i="1">
                                  <a:latin typeface="Cambria Math" panose="02040503050406030204" pitchFamily="18" charset="0"/>
                                </a:rPr>
                              </m:ctrlPr>
                            </m:limLowPr>
                            <m:e>
                              <m:r>
                                <m:rPr>
                                  <m:sty m:val="p"/>
                                </m:rPr>
                                <a:rPr lang="en-IN" sz="2800" i="0">
                                  <a:latin typeface="Cambria Math" panose="02040503050406030204" pitchFamily="18" charset="0"/>
                                </a:rPr>
                                <m:t>lim</m:t>
                              </m:r>
                            </m:e>
                            <m:lim>
                              <m:r>
                                <m:rPr>
                                  <m:sty m:val="p"/>
                                </m:rPr>
                                <a:rPr lang="en-IN" sz="2800" i="0">
                                  <a:latin typeface="Cambria Math" panose="02040503050406030204" pitchFamily="18" charset="0"/>
                                </a:rPr>
                                <m:t>Δ</m:t>
                              </m:r>
                              <m:r>
                                <a:rPr lang="en-IN" sz="2800" i="1">
                                  <a:latin typeface="Cambria Math" panose="02040503050406030204" pitchFamily="18" charset="0"/>
                                </a:rPr>
                                <m:t>𝑥</m:t>
                              </m:r>
                              <m:r>
                                <a:rPr lang="en-IN" sz="2800" i="0">
                                  <a:latin typeface="Cambria Math" panose="02040503050406030204" pitchFamily="18" charset="0"/>
                                </a:rPr>
                                <m:t>→0</m:t>
                              </m:r>
                            </m:lim>
                          </m:limLow>
                        </m:fName>
                        <m:e>
                          <m:f>
                            <m:fPr>
                              <m:ctrlPr>
                                <a:rPr lang="en-IN" sz="2800" i="1">
                                  <a:latin typeface="Cambria Math" panose="02040503050406030204" pitchFamily="18" charset="0"/>
                                </a:rPr>
                              </m:ctrlPr>
                            </m:fPr>
                            <m:num>
                              <m:r>
                                <m:rPr>
                                  <m:sty m:val="p"/>
                                </m:rPr>
                                <a:rPr lang="en-IN" sz="2800" i="0">
                                  <a:latin typeface="Cambria Math" panose="02040503050406030204" pitchFamily="18" charset="0"/>
                                </a:rPr>
                                <m:t>Δ</m:t>
                              </m:r>
                              <m:r>
                                <a:rPr lang="en-IN" sz="2800" i="1">
                                  <a:latin typeface="Cambria Math" panose="02040503050406030204" pitchFamily="18" charset="0"/>
                                </a:rPr>
                                <m:t>𝑦</m:t>
                              </m:r>
                            </m:num>
                            <m:den>
                              <m:r>
                                <m:rPr>
                                  <m:sty m:val="p"/>
                                </m:rPr>
                                <a:rPr lang="en-IN" sz="2800" i="0">
                                  <a:latin typeface="Cambria Math" panose="02040503050406030204" pitchFamily="18" charset="0"/>
                                </a:rPr>
                                <m:t>Δ</m:t>
                              </m:r>
                              <m:r>
                                <a:rPr lang="en-IN" sz="2800" i="1">
                                  <a:latin typeface="Cambria Math" panose="02040503050406030204" pitchFamily="18" charset="0"/>
                                </a:rPr>
                                <m:t>𝑥</m:t>
                              </m:r>
                            </m:den>
                          </m:f>
                        </m:e>
                      </m:func>
                    </m:oMath>
                  </m:oMathPara>
                </a14:m>
                <a:endParaRPr lang="en-IN" sz="2800" dirty="0"/>
              </a:p>
            </p:txBody>
          </p:sp>
        </mc:Choice>
        <mc:Fallback xmlns="">
          <p:sp>
            <p:nvSpPr>
              <p:cNvPr id="47" name="Rectangle 46"/>
              <p:cNvSpPr>
                <a:spLocks noRot="1" noChangeAspect="1" noMove="1" noResize="1" noEditPoints="1" noAdjustHandles="1" noChangeArrowheads="1" noChangeShapeType="1" noTextEdit="1"/>
              </p:cNvSpPr>
              <p:nvPr/>
            </p:nvSpPr>
            <p:spPr>
              <a:xfrm>
                <a:off x="304800" y="4494013"/>
                <a:ext cx="2338910" cy="910377"/>
              </a:xfrm>
              <a:prstGeom prst="rect">
                <a:avLst/>
              </a:prstGeom>
              <a:blipFill rotWithShape="0">
                <a:blip r:embed="rId9"/>
                <a:stretch>
                  <a:fillRect/>
                </a:stretch>
              </a:blipFill>
            </p:spPr>
            <p:txBody>
              <a:bodyPr/>
              <a:lstStyle/>
              <a:p>
                <a:r>
                  <a:rPr lang="en-IN">
                    <a:noFill/>
                  </a:rPr>
                  <a:t> </a:t>
                </a:r>
              </a:p>
            </p:txBody>
          </p:sp>
        </mc:Fallback>
      </mc:AlternateContent>
      <p:sp>
        <p:nvSpPr>
          <p:cNvPr id="49" name="Right Brace 48"/>
          <p:cNvSpPr/>
          <p:nvPr/>
        </p:nvSpPr>
        <p:spPr>
          <a:xfrm>
            <a:off x="7940331" y="1881250"/>
            <a:ext cx="136869" cy="452438"/>
          </a:xfrm>
          <a:prstGeom prst="rightBrace">
            <a:avLst/>
          </a:prstGeom>
        </p:spPr>
        <p:style>
          <a:lnRef idx="1">
            <a:schemeClr val="accent1"/>
          </a:lnRef>
          <a:fillRef idx="0">
            <a:schemeClr val="accent1"/>
          </a:fillRef>
          <a:effectRef idx="0">
            <a:schemeClr val="accent1"/>
          </a:effectRef>
          <a:fontRef idx="minor">
            <a:schemeClr val="tx1"/>
          </a:fontRef>
        </p:style>
        <p:txBody>
          <a:bodyPr rtlCol="0" anchor="ctr"/>
          <a:lstStyle/>
          <a:p>
            <a:pPr algn="ctr"/>
            <a:endParaRPr lang="en-IN"/>
          </a:p>
        </p:txBody>
      </p:sp>
      <p:sp>
        <p:nvSpPr>
          <p:cNvPr id="50" name="Freeform 49"/>
          <p:cNvSpPr/>
          <p:nvPr/>
        </p:nvSpPr>
        <p:spPr>
          <a:xfrm>
            <a:off x="7398327" y="2375065"/>
            <a:ext cx="451263" cy="201880"/>
          </a:xfrm>
          <a:custGeom>
            <a:avLst/>
            <a:gdLst>
              <a:gd name="connsiteX0" fmla="*/ 0 w 451263"/>
              <a:gd name="connsiteY0" fmla="*/ 0 h 201880"/>
              <a:gd name="connsiteX1" fmla="*/ 23751 w 451263"/>
              <a:gd name="connsiteY1" fmla="*/ 95003 h 201880"/>
              <a:gd name="connsiteX2" fmla="*/ 47502 w 451263"/>
              <a:gd name="connsiteY2" fmla="*/ 130629 h 201880"/>
              <a:gd name="connsiteX3" fmla="*/ 142504 w 451263"/>
              <a:gd name="connsiteY3" fmla="*/ 142504 h 201880"/>
              <a:gd name="connsiteX4" fmla="*/ 237507 w 451263"/>
              <a:gd name="connsiteY4" fmla="*/ 130629 h 201880"/>
              <a:gd name="connsiteX5" fmla="*/ 249382 w 451263"/>
              <a:gd name="connsiteY5" fmla="*/ 166254 h 201880"/>
              <a:gd name="connsiteX6" fmla="*/ 273133 w 451263"/>
              <a:gd name="connsiteY6" fmla="*/ 201880 h 201880"/>
              <a:gd name="connsiteX7" fmla="*/ 285008 w 451263"/>
              <a:gd name="connsiteY7" fmla="*/ 166254 h 201880"/>
              <a:gd name="connsiteX8" fmla="*/ 296883 w 451263"/>
              <a:gd name="connsiteY8" fmla="*/ 118753 h 201880"/>
              <a:gd name="connsiteX9" fmla="*/ 332509 w 451263"/>
              <a:gd name="connsiteY9" fmla="*/ 130629 h 201880"/>
              <a:gd name="connsiteX10" fmla="*/ 403761 w 451263"/>
              <a:gd name="connsiteY10" fmla="*/ 166254 h 201880"/>
              <a:gd name="connsiteX11" fmla="*/ 427512 w 451263"/>
              <a:gd name="connsiteY11" fmla="*/ 95003 h 201880"/>
              <a:gd name="connsiteX12" fmla="*/ 439387 w 451263"/>
              <a:gd name="connsiteY12" fmla="*/ 23751 h 201880"/>
              <a:gd name="connsiteX13" fmla="*/ 451263 w 451263"/>
              <a:gd name="connsiteY13" fmla="*/ 23751 h 20188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451263" h="201880">
                <a:moveTo>
                  <a:pt x="0" y="0"/>
                </a:moveTo>
                <a:cubicBezTo>
                  <a:pt x="4516" y="22579"/>
                  <a:pt x="11580" y="70661"/>
                  <a:pt x="23751" y="95003"/>
                </a:cubicBezTo>
                <a:cubicBezTo>
                  <a:pt x="30134" y="107769"/>
                  <a:pt x="34250" y="125328"/>
                  <a:pt x="47502" y="130629"/>
                </a:cubicBezTo>
                <a:cubicBezTo>
                  <a:pt x="77133" y="142481"/>
                  <a:pt x="110837" y="138546"/>
                  <a:pt x="142504" y="142504"/>
                </a:cubicBezTo>
                <a:cubicBezTo>
                  <a:pt x="174172" y="138546"/>
                  <a:pt x="206353" y="123706"/>
                  <a:pt x="237507" y="130629"/>
                </a:cubicBezTo>
                <a:cubicBezTo>
                  <a:pt x="249726" y="133344"/>
                  <a:pt x="243784" y="155058"/>
                  <a:pt x="249382" y="166254"/>
                </a:cubicBezTo>
                <a:cubicBezTo>
                  <a:pt x="255765" y="179020"/>
                  <a:pt x="265216" y="190005"/>
                  <a:pt x="273133" y="201880"/>
                </a:cubicBezTo>
                <a:cubicBezTo>
                  <a:pt x="277091" y="190005"/>
                  <a:pt x="281569" y="178290"/>
                  <a:pt x="285008" y="166254"/>
                </a:cubicBezTo>
                <a:cubicBezTo>
                  <a:pt x="289492" y="150561"/>
                  <a:pt x="283826" y="128545"/>
                  <a:pt x="296883" y="118753"/>
                </a:cubicBezTo>
                <a:cubicBezTo>
                  <a:pt x="306897" y="111242"/>
                  <a:pt x="321313" y="125031"/>
                  <a:pt x="332509" y="130629"/>
                </a:cubicBezTo>
                <a:cubicBezTo>
                  <a:pt x="424584" y="176667"/>
                  <a:pt x="314221" y="136408"/>
                  <a:pt x="403761" y="166254"/>
                </a:cubicBezTo>
                <a:cubicBezTo>
                  <a:pt x="411678" y="142504"/>
                  <a:pt x="423396" y="119698"/>
                  <a:pt x="427512" y="95003"/>
                </a:cubicBezTo>
                <a:cubicBezTo>
                  <a:pt x="431470" y="71252"/>
                  <a:pt x="431773" y="46594"/>
                  <a:pt x="439387" y="23751"/>
                </a:cubicBezTo>
                <a:cubicBezTo>
                  <a:pt x="440639" y="19995"/>
                  <a:pt x="447304" y="23751"/>
                  <a:pt x="451263" y="23751"/>
                </a:cubicBezTo>
              </a:path>
            </a:pathLst>
          </a:cu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4" name="Oval 3"/>
          <p:cNvSpPr/>
          <p:nvPr/>
        </p:nvSpPr>
        <p:spPr>
          <a:xfrm>
            <a:off x="7329487" y="2260616"/>
            <a:ext cx="228600" cy="158210"/>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31" name="Oval 30"/>
          <p:cNvSpPr/>
          <p:nvPr/>
        </p:nvSpPr>
        <p:spPr>
          <a:xfrm>
            <a:off x="7696200" y="1828800"/>
            <a:ext cx="228600" cy="158210"/>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5" name="TextBox 4"/>
          <p:cNvSpPr txBox="1"/>
          <p:nvPr/>
        </p:nvSpPr>
        <p:spPr>
          <a:xfrm>
            <a:off x="6553200" y="2069068"/>
            <a:ext cx="821059" cy="369332"/>
          </a:xfrm>
          <a:prstGeom prst="rect">
            <a:avLst/>
          </a:prstGeom>
          <a:noFill/>
        </p:spPr>
        <p:txBody>
          <a:bodyPr wrap="none" rtlCol="0">
            <a:spAutoFit/>
          </a:bodyPr>
          <a:lstStyle/>
          <a:p>
            <a:r>
              <a:rPr lang="en-US" dirty="0" smtClean="0"/>
              <a:t>(x1,y1)</a:t>
            </a:r>
            <a:endParaRPr lang="en-IN" dirty="0"/>
          </a:p>
        </p:txBody>
      </p:sp>
      <p:sp>
        <p:nvSpPr>
          <p:cNvPr id="34" name="TextBox 33"/>
          <p:cNvSpPr txBox="1"/>
          <p:nvPr/>
        </p:nvSpPr>
        <p:spPr>
          <a:xfrm>
            <a:off x="7924800" y="1524000"/>
            <a:ext cx="821059" cy="369332"/>
          </a:xfrm>
          <a:prstGeom prst="rect">
            <a:avLst/>
          </a:prstGeom>
          <a:noFill/>
        </p:spPr>
        <p:txBody>
          <a:bodyPr wrap="none" rtlCol="0">
            <a:spAutoFit/>
          </a:bodyPr>
          <a:lstStyle/>
          <a:p>
            <a:r>
              <a:rPr lang="en-US" dirty="0" smtClean="0"/>
              <a:t>(x2,y2)</a:t>
            </a:r>
            <a:endParaRPr lang="en-IN" dirty="0"/>
          </a:p>
        </p:txBody>
      </p:sp>
      <p:sp>
        <p:nvSpPr>
          <p:cNvPr id="36" name="TextBox 35"/>
          <p:cNvSpPr txBox="1"/>
          <p:nvPr/>
        </p:nvSpPr>
        <p:spPr>
          <a:xfrm flipH="1">
            <a:off x="6472238" y="6600824"/>
            <a:ext cx="2671762" cy="307777"/>
          </a:xfrm>
          <a:prstGeom prst="rect">
            <a:avLst/>
          </a:prstGeom>
          <a:noFill/>
        </p:spPr>
        <p:txBody>
          <a:bodyPr wrap="square" rtlCol="0">
            <a:spAutoFit/>
          </a:bodyPr>
          <a:lstStyle/>
          <a:p>
            <a:r>
              <a:rPr lang="en-US" sz="1400" dirty="0" smtClean="0">
                <a:latin typeface="Times New Roman" panose="02020603050405020304" pitchFamily="18" charset="0"/>
                <a:cs typeface="Times New Roman" panose="02020603050405020304" pitchFamily="18" charset="0"/>
              </a:rPr>
              <a:t>What happens in Differentiation</a:t>
            </a:r>
            <a:endParaRPr lang="en-IN" sz="14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41467111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nodeType="clickEffect">
                                  <p:stCondLst>
                                    <p:cond delay="0"/>
                                  </p:stCondLst>
                                  <p:childTnLst>
                                    <p:set>
                                      <p:cBhvr>
                                        <p:cTn id="6" dur="1" fill="hold">
                                          <p:stCondLst>
                                            <p:cond delay="0"/>
                                          </p:stCondLst>
                                        </p:cTn>
                                        <p:tgtEl>
                                          <p:spTgt spid="18">
                                            <p:txEl>
                                              <p:pRg st="5" end="5"/>
                                            </p:txEl>
                                          </p:spTgt>
                                        </p:tgtEl>
                                        <p:attrNameLst>
                                          <p:attrName>style.visibility</p:attrName>
                                        </p:attrNameLst>
                                      </p:cBhvr>
                                      <p:to>
                                        <p:strVal val="visible"/>
                                      </p:to>
                                    </p:set>
                                    <p:animEffect transition="in" filter="wipe(left)">
                                      <p:cBhvr>
                                        <p:cTn id="7" dur="500"/>
                                        <p:tgtEl>
                                          <p:spTgt spid="18">
                                            <p:txEl>
                                              <p:pRg st="5" end="5"/>
                                            </p:txEl>
                                          </p:spTgt>
                                        </p:tgtEl>
                                      </p:cBhvr>
                                    </p:animEffect>
                                  </p:childTnLst>
                                </p:cTn>
                              </p:par>
                            </p:childTnLst>
                          </p:cTn>
                        </p:par>
                        <p:par>
                          <p:cTn id="8" fill="hold">
                            <p:stCondLst>
                              <p:cond delay="500"/>
                            </p:stCondLst>
                            <p:childTnLst>
                              <p:par>
                                <p:cTn id="9" presetID="22" presetClass="entr" presetSubtype="8" fill="hold" nodeType="afterEffect">
                                  <p:stCondLst>
                                    <p:cond delay="0"/>
                                  </p:stCondLst>
                                  <p:childTnLst>
                                    <p:set>
                                      <p:cBhvr>
                                        <p:cTn id="10" dur="1" fill="hold">
                                          <p:stCondLst>
                                            <p:cond delay="0"/>
                                          </p:stCondLst>
                                        </p:cTn>
                                        <p:tgtEl>
                                          <p:spTgt spid="44"/>
                                        </p:tgtEl>
                                        <p:attrNameLst>
                                          <p:attrName>style.visibility</p:attrName>
                                        </p:attrNameLst>
                                      </p:cBhvr>
                                      <p:to>
                                        <p:strVal val="visible"/>
                                      </p:to>
                                    </p:set>
                                    <p:animEffect transition="in" filter="wipe(left)">
                                      <p:cBhvr>
                                        <p:cTn id="11" dur="500"/>
                                        <p:tgtEl>
                                          <p:spTgt spid="44"/>
                                        </p:tgtEl>
                                      </p:cBhvr>
                                    </p:animEffect>
                                  </p:childTnLst>
                                </p:cTn>
                              </p:par>
                            </p:childTnLst>
                          </p:cTn>
                        </p:par>
                      </p:childTnLst>
                    </p:cTn>
                  </p:par>
                  <p:par>
                    <p:cTn id="12" fill="hold">
                      <p:stCondLst>
                        <p:cond delay="indefinite"/>
                      </p:stCondLst>
                      <p:childTnLst>
                        <p:par>
                          <p:cTn id="13" fill="hold">
                            <p:stCondLst>
                              <p:cond delay="0"/>
                            </p:stCondLst>
                            <p:childTnLst>
                              <p:par>
                                <p:cTn id="14" presetID="22" presetClass="entr" presetSubtype="8" fill="hold" grpId="0" nodeType="clickEffect">
                                  <p:stCondLst>
                                    <p:cond delay="0"/>
                                  </p:stCondLst>
                                  <p:childTnLst>
                                    <p:set>
                                      <p:cBhvr>
                                        <p:cTn id="15" dur="1" fill="hold">
                                          <p:stCondLst>
                                            <p:cond delay="0"/>
                                          </p:stCondLst>
                                        </p:cTn>
                                        <p:tgtEl>
                                          <p:spTgt spid="47"/>
                                        </p:tgtEl>
                                        <p:attrNameLst>
                                          <p:attrName>style.visibility</p:attrName>
                                        </p:attrNameLst>
                                      </p:cBhvr>
                                      <p:to>
                                        <p:strVal val="visible"/>
                                      </p:to>
                                    </p:set>
                                    <p:animEffect transition="in" filter="wipe(left)">
                                      <p:cBhvr>
                                        <p:cTn id="16" dur="500"/>
                                        <p:tgtEl>
                                          <p:spTgt spid="4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7" grpId="0"/>
    </p:bld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dirty="0" smtClean="0"/>
              <a:t>Differentiation…</a:t>
            </a:r>
            <a:endParaRPr lang="en-US" dirty="0"/>
          </a:p>
        </p:txBody>
      </p:sp>
      <p:sp>
        <p:nvSpPr>
          <p:cNvPr id="14" name="TextBox 13"/>
          <p:cNvSpPr txBox="1"/>
          <p:nvPr/>
        </p:nvSpPr>
        <p:spPr>
          <a:xfrm>
            <a:off x="0" y="0"/>
            <a:ext cx="4572000" cy="369332"/>
          </a:xfrm>
          <a:prstGeom prst="rect">
            <a:avLst/>
          </a:prstGeom>
          <a:noFill/>
        </p:spPr>
        <p:txBody>
          <a:bodyPr wrap="square" rtlCol="0">
            <a:spAutoFit/>
          </a:bodyPr>
          <a:lstStyle/>
          <a:p>
            <a:pPr algn="r"/>
            <a:r>
              <a:rPr lang="en-US" b="1" dirty="0">
                <a:solidFill>
                  <a:schemeClr val="bg1"/>
                </a:solidFill>
              </a:rPr>
              <a:t>Introduction to Neural Network</a:t>
            </a:r>
          </a:p>
        </p:txBody>
      </p:sp>
      <p:sp>
        <p:nvSpPr>
          <p:cNvPr id="15" name="Date Placeholder 3"/>
          <p:cNvSpPr>
            <a:spLocks noGrp="1"/>
          </p:cNvSpPr>
          <p:nvPr>
            <p:ph type="dt" sz="half" idx="10"/>
          </p:nvPr>
        </p:nvSpPr>
        <p:spPr>
          <a:xfrm>
            <a:off x="0" y="6629400"/>
            <a:ext cx="3048000" cy="228600"/>
          </a:xfrm>
        </p:spPr>
        <p:txBody>
          <a:bodyPr/>
          <a:lstStyle/>
          <a:p>
            <a:fld id="{E7067A60-51C7-4095-BFA9-1CE32DCBA06F}" type="datetime1">
              <a:rPr lang="en-US" smtClean="0"/>
              <a:pPr/>
              <a:t>2/9/2026</a:t>
            </a:fld>
            <a:endParaRPr lang="en-US" dirty="0"/>
          </a:p>
        </p:txBody>
      </p:sp>
      <p:sp>
        <p:nvSpPr>
          <p:cNvPr id="16" name="Slide Number Placeholder 5"/>
          <p:cNvSpPr>
            <a:spLocks noGrp="1"/>
          </p:cNvSpPr>
          <p:nvPr>
            <p:ph type="sldNum" sz="quarter" idx="12"/>
          </p:nvPr>
        </p:nvSpPr>
        <p:spPr>
          <a:xfrm>
            <a:off x="6096000" y="6629400"/>
            <a:ext cx="3048000" cy="228600"/>
          </a:xfrm>
        </p:spPr>
        <p:txBody>
          <a:bodyPr/>
          <a:lstStyle/>
          <a:p>
            <a:r>
              <a:rPr lang="en-US" dirty="0" smtClean="0"/>
              <a:t>12</a:t>
            </a:r>
            <a:endParaRPr lang="en-US" dirty="0"/>
          </a:p>
        </p:txBody>
      </p:sp>
      <p:sp>
        <p:nvSpPr>
          <p:cNvPr id="17" name="Footer Placeholder 4">
            <a:extLst>
              <a:ext uri="{FF2B5EF4-FFF2-40B4-BE49-F238E27FC236}">
                <a16:creationId xmlns:a16="http://schemas.microsoft.com/office/drawing/2014/main" id="{CBB301ED-B8A4-4772-B559-A9E41E7472BD}"/>
              </a:ext>
            </a:extLst>
          </p:cNvPr>
          <p:cNvSpPr>
            <a:spLocks noGrp="1"/>
          </p:cNvSpPr>
          <p:nvPr>
            <p:ph type="ftr" sz="quarter" idx="11"/>
          </p:nvPr>
        </p:nvSpPr>
        <p:spPr>
          <a:xfrm>
            <a:off x="2286000" y="6629400"/>
            <a:ext cx="4136571" cy="228600"/>
          </a:xfrm>
        </p:spPr>
        <p:txBody>
          <a:bodyPr/>
          <a:lstStyle/>
          <a:p>
            <a:r>
              <a:rPr lang="en-US" dirty="0"/>
              <a:t>Dr. Sibarama Panigrahi, Dept. of CSE, NIT Rourkela</a:t>
            </a:r>
          </a:p>
        </p:txBody>
      </p:sp>
      <mc:AlternateContent xmlns:mc="http://schemas.openxmlformats.org/markup-compatibility/2006" xmlns:a14="http://schemas.microsoft.com/office/drawing/2010/main">
        <mc:Choice Requires="a14">
          <p:sp>
            <p:nvSpPr>
              <p:cNvPr id="18" name="Content Placeholder 2"/>
              <p:cNvSpPr>
                <a:spLocks noGrp="1"/>
              </p:cNvSpPr>
              <p:nvPr>
                <p:ph idx="1"/>
              </p:nvPr>
            </p:nvSpPr>
            <p:spPr>
              <a:xfrm>
                <a:off x="0" y="1066800"/>
                <a:ext cx="9144000" cy="5562600"/>
              </a:xfrm>
            </p:spPr>
            <p:txBody>
              <a:bodyPr/>
              <a:lstStyle/>
              <a:p>
                <a:pPr marL="336550" indent="0">
                  <a:buNone/>
                </a:pPr>
                <a:endParaRPr lang="en-IN" dirty="0" smtClean="0"/>
              </a:p>
              <a:p>
                <a:pPr marL="336550" indent="0">
                  <a:buNone/>
                </a:pPr>
                <a:endParaRPr lang="en-IN" dirty="0" smtClean="0"/>
              </a:p>
              <a:p>
                <a:pPr marL="336550" indent="0">
                  <a:buNone/>
                </a:pPr>
                <a:r>
                  <a:rPr lang="en-IN" sz="2000" dirty="0" smtClean="0"/>
                  <a:t>As </a:t>
                </a:r>
                <a14:m>
                  <m:oMath xmlns:m="http://schemas.openxmlformats.org/officeDocument/2006/math">
                    <m:r>
                      <m:rPr>
                        <m:sty m:val="p"/>
                      </m:rPr>
                      <a:rPr lang="en-IN" sz="2000">
                        <a:latin typeface="Cambria Math" panose="02040503050406030204" pitchFamily="18" charset="0"/>
                      </a:rPr>
                      <m:t>Δ</m:t>
                    </m:r>
                    <m:r>
                      <a:rPr lang="en-IN" sz="2000" i="1">
                        <a:latin typeface="Cambria Math" panose="02040503050406030204" pitchFamily="18" charset="0"/>
                      </a:rPr>
                      <m:t>𝑥</m:t>
                    </m:r>
                    <m:r>
                      <a:rPr lang="en-IN" sz="2000" b="0" i="0" smtClean="0">
                        <a:latin typeface="Cambria Math" panose="02040503050406030204" pitchFamily="18" charset="0"/>
                      </a:rPr>
                      <m:t> →0</m:t>
                    </m:r>
                  </m:oMath>
                </a14:m>
                <a:r>
                  <a:rPr lang="en-IN" sz="2000" dirty="0" smtClean="0"/>
                  <a:t> we obtain a </a:t>
                </a:r>
              </a:p>
              <a:p>
                <a:pPr marL="336550" indent="0">
                  <a:buNone/>
                </a:pPr>
                <a:r>
                  <a:rPr lang="en-IN" sz="2000" dirty="0" smtClean="0"/>
                  <a:t>tangent at x.</a:t>
                </a:r>
              </a:p>
              <a:p>
                <a:pPr marL="336550" indent="0">
                  <a:buNone/>
                </a:pPr>
                <a:endParaRPr lang="en-IN" sz="2000" dirty="0" smtClean="0"/>
              </a:p>
              <a:p>
                <a:pPr marL="336550" indent="0">
                  <a:buNone/>
                </a:pPr>
                <a14:m>
                  <m:oMath xmlns:m="http://schemas.openxmlformats.org/officeDocument/2006/math">
                    <m:f>
                      <m:fPr>
                        <m:ctrlPr>
                          <a:rPr lang="en-IN" sz="2400" i="1">
                            <a:latin typeface="Cambria Math" panose="02040503050406030204" pitchFamily="18" charset="0"/>
                          </a:rPr>
                        </m:ctrlPr>
                      </m:fPr>
                      <m:num>
                        <m:r>
                          <a:rPr lang="en-IN" sz="2400" i="1">
                            <a:latin typeface="Cambria Math" panose="02040503050406030204" pitchFamily="18" charset="0"/>
                          </a:rPr>
                          <m:t>𝑑𝑦</m:t>
                        </m:r>
                      </m:num>
                      <m:den>
                        <m:r>
                          <a:rPr lang="en-IN" sz="2400" i="1">
                            <a:latin typeface="Cambria Math" panose="02040503050406030204" pitchFamily="18" charset="0"/>
                          </a:rPr>
                          <m:t>𝑑𝑥</m:t>
                        </m:r>
                      </m:den>
                    </m:f>
                    <m:r>
                      <a:rPr lang="en-IN" sz="2400" i="1">
                        <a:latin typeface="Cambria Math" panose="02040503050406030204" pitchFamily="18" charset="0"/>
                      </a:rPr>
                      <m:t>=</m:t>
                    </m:r>
                    <m:r>
                      <m:rPr>
                        <m:sty m:val="p"/>
                      </m:rPr>
                      <a:rPr lang="en-IN" sz="2400">
                        <a:latin typeface="Cambria Math" panose="02040503050406030204" pitchFamily="18" charset="0"/>
                      </a:rPr>
                      <m:t>tan</m:t>
                    </m:r>
                    <m:r>
                      <a:rPr lang="en-IN" sz="2400" i="1">
                        <a:latin typeface="Cambria Math" panose="02040503050406030204" pitchFamily="18" charset="0"/>
                      </a:rPr>
                      <m:t>(</m:t>
                    </m:r>
                    <m:r>
                      <a:rPr lang="en-IN" sz="2400" i="1">
                        <a:latin typeface="Cambria Math" panose="02040503050406030204" pitchFamily="18" charset="0"/>
                      </a:rPr>
                      <m:t>𝜃</m:t>
                    </m:r>
                    <m:r>
                      <a:rPr lang="en-IN" sz="2400" i="1">
                        <a:latin typeface="Cambria Math" panose="02040503050406030204" pitchFamily="18" charset="0"/>
                      </a:rPr>
                      <m:t>)</m:t>
                    </m:r>
                  </m:oMath>
                </a14:m>
                <a:r>
                  <a:rPr lang="en-IN" sz="2000" dirty="0"/>
                  <a:t>=slope of the tangent at x=x</a:t>
                </a:r>
                <a:r>
                  <a:rPr lang="en-IN" sz="2000" baseline="-25000" dirty="0"/>
                  <a:t>1</a:t>
                </a:r>
                <a:endParaRPr lang="en-IN" sz="2000" dirty="0"/>
              </a:p>
              <a:p>
                <a:pPr marL="336550" indent="0">
                  <a:buNone/>
                </a:pPr>
                <a14:m>
                  <m:oMath xmlns:m="http://schemas.openxmlformats.org/officeDocument/2006/math">
                    <m:f>
                      <m:fPr>
                        <m:ctrlPr>
                          <a:rPr lang="en-IN" sz="2400" i="1">
                            <a:latin typeface="Cambria Math" panose="02040503050406030204" pitchFamily="18" charset="0"/>
                          </a:rPr>
                        </m:ctrlPr>
                      </m:fPr>
                      <m:num>
                        <m:r>
                          <a:rPr lang="en-IN" sz="2400" i="1">
                            <a:latin typeface="Cambria Math" panose="02040503050406030204" pitchFamily="18" charset="0"/>
                          </a:rPr>
                          <m:t>𝑑𝑦</m:t>
                        </m:r>
                      </m:num>
                      <m:den>
                        <m:r>
                          <a:rPr lang="en-IN" sz="2400" i="1">
                            <a:latin typeface="Cambria Math" panose="02040503050406030204" pitchFamily="18" charset="0"/>
                          </a:rPr>
                          <m:t>𝑑𝑥</m:t>
                        </m:r>
                      </m:den>
                    </m:f>
                    <m:r>
                      <a:rPr lang="en-IN" sz="2400" i="1">
                        <a:latin typeface="Cambria Math" panose="02040503050406030204" pitchFamily="18" charset="0"/>
                      </a:rPr>
                      <m:t>=</m:t>
                    </m:r>
                  </m:oMath>
                </a14:m>
                <a:r>
                  <a:rPr lang="en-IN" sz="2000" dirty="0"/>
                  <a:t> Slope of the tangent </a:t>
                </a:r>
                <a:r>
                  <a:rPr lang="en-IN" sz="2000" dirty="0" smtClean="0"/>
                  <a:t>to x-axis </a:t>
                </a:r>
                <a:r>
                  <a:rPr lang="en-IN" sz="2000" dirty="0"/>
                  <a:t>at x=x</a:t>
                </a:r>
                <a:r>
                  <a:rPr lang="en-IN" sz="2000" baseline="-25000" dirty="0"/>
                  <a:t>1</a:t>
                </a:r>
                <a:endParaRPr lang="en-IN" sz="2000" dirty="0"/>
              </a:p>
              <a:p>
                <a:pPr marL="336550" indent="0">
                  <a:buNone/>
                </a:pPr>
                <a:endParaRPr lang="en-IN" dirty="0" smtClean="0"/>
              </a:p>
              <a:p>
                <a:pPr marL="336550" indent="0">
                  <a:buNone/>
                </a:pPr>
                <a:endParaRPr lang="en-IN" sz="2400" dirty="0" smtClean="0"/>
              </a:p>
              <a:p>
                <a:pPr marL="336550" indent="0">
                  <a:buNone/>
                </a:pPr>
                <a:endParaRPr lang="en-IN" dirty="0" smtClean="0"/>
              </a:p>
            </p:txBody>
          </p:sp>
        </mc:Choice>
        <mc:Fallback xmlns="">
          <p:sp>
            <p:nvSpPr>
              <p:cNvPr id="18" name="Content Placeholder 2"/>
              <p:cNvSpPr>
                <a:spLocks noGrp="1" noRot="1" noChangeAspect="1" noMove="1" noResize="1" noEditPoints="1" noAdjustHandles="1" noChangeArrowheads="1" noChangeShapeType="1" noTextEdit="1"/>
              </p:cNvSpPr>
              <p:nvPr>
                <p:ph idx="1"/>
              </p:nvPr>
            </p:nvSpPr>
            <p:spPr>
              <a:xfrm>
                <a:off x="0" y="1066800"/>
                <a:ext cx="9144000" cy="5562600"/>
              </a:xfrm>
              <a:blipFill rotWithShape="0">
                <a:blip r:embed="rId2"/>
                <a:stretch>
                  <a:fillRect/>
                </a:stretch>
              </a:blipFill>
            </p:spPr>
            <p:txBody>
              <a:bodyPr/>
              <a:lstStyle/>
              <a:p>
                <a:r>
                  <a:rPr lang="en-IN">
                    <a:noFill/>
                  </a:rPr>
                  <a:t> </a:t>
                </a:r>
              </a:p>
            </p:txBody>
          </p:sp>
        </mc:Fallback>
      </mc:AlternateContent>
      <p:graphicFrame>
        <p:nvGraphicFramePr>
          <p:cNvPr id="20" name="Chart 19"/>
          <p:cNvGraphicFramePr/>
          <p:nvPr>
            <p:extLst/>
          </p:nvPr>
        </p:nvGraphicFramePr>
        <p:xfrm>
          <a:off x="3733800" y="990600"/>
          <a:ext cx="5029200" cy="2514600"/>
        </p:xfrm>
        <a:graphic>
          <a:graphicData uri="http://schemas.openxmlformats.org/drawingml/2006/chart">
            <c:chart xmlns:c="http://schemas.openxmlformats.org/drawingml/2006/chart" xmlns:r="http://schemas.openxmlformats.org/officeDocument/2006/relationships" r:id="rId3"/>
          </a:graphicData>
        </a:graphic>
      </p:graphicFrame>
      <p:cxnSp>
        <p:nvCxnSpPr>
          <p:cNvPr id="22" name="Straight Arrow Connector 21"/>
          <p:cNvCxnSpPr/>
          <p:nvPr/>
        </p:nvCxnSpPr>
        <p:spPr>
          <a:xfrm flipV="1">
            <a:off x="3886200" y="990600"/>
            <a:ext cx="0" cy="236220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23" name="Freeform 22"/>
          <p:cNvSpPr/>
          <p:nvPr/>
        </p:nvSpPr>
        <p:spPr>
          <a:xfrm>
            <a:off x="3571875" y="1243013"/>
            <a:ext cx="4772025" cy="1516471"/>
          </a:xfrm>
          <a:custGeom>
            <a:avLst/>
            <a:gdLst>
              <a:gd name="connsiteX0" fmla="*/ 0 w 4772025"/>
              <a:gd name="connsiteY0" fmla="*/ 1271587 h 1516471"/>
              <a:gd name="connsiteX1" fmla="*/ 1200150 w 4772025"/>
              <a:gd name="connsiteY1" fmla="*/ 342900 h 1516471"/>
              <a:gd name="connsiteX2" fmla="*/ 3186113 w 4772025"/>
              <a:gd name="connsiteY2" fmla="*/ 1514475 h 1516471"/>
              <a:gd name="connsiteX3" fmla="*/ 4772025 w 4772025"/>
              <a:gd name="connsiteY3" fmla="*/ 0 h 1516471"/>
            </a:gdLst>
            <a:ahLst/>
            <a:cxnLst>
              <a:cxn ang="0">
                <a:pos x="connsiteX0" y="connsiteY0"/>
              </a:cxn>
              <a:cxn ang="0">
                <a:pos x="connsiteX1" y="connsiteY1"/>
              </a:cxn>
              <a:cxn ang="0">
                <a:pos x="connsiteX2" y="connsiteY2"/>
              </a:cxn>
              <a:cxn ang="0">
                <a:pos x="connsiteX3" y="connsiteY3"/>
              </a:cxn>
            </a:cxnLst>
            <a:rect l="l" t="t" r="r" b="b"/>
            <a:pathLst>
              <a:path w="4772025" h="1516471">
                <a:moveTo>
                  <a:pt x="0" y="1271587"/>
                </a:moveTo>
                <a:cubicBezTo>
                  <a:pt x="334565" y="787003"/>
                  <a:pt x="669131" y="302419"/>
                  <a:pt x="1200150" y="342900"/>
                </a:cubicBezTo>
                <a:cubicBezTo>
                  <a:pt x="1731169" y="383381"/>
                  <a:pt x="2590801" y="1571625"/>
                  <a:pt x="3186113" y="1514475"/>
                </a:cubicBezTo>
                <a:cubicBezTo>
                  <a:pt x="3781425" y="1457325"/>
                  <a:pt x="4495800" y="273844"/>
                  <a:pt x="4772025" y="0"/>
                </a:cubicBezTo>
              </a:path>
            </a:pathLst>
          </a:cu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cxnSp>
        <p:nvCxnSpPr>
          <p:cNvPr id="25" name="Straight Connector 24"/>
          <p:cNvCxnSpPr/>
          <p:nvPr/>
        </p:nvCxnSpPr>
        <p:spPr>
          <a:xfrm flipH="1">
            <a:off x="6248400" y="1295400"/>
            <a:ext cx="2314576" cy="2185928"/>
          </a:xfrm>
          <a:prstGeom prst="line">
            <a:avLst/>
          </a:prstGeom>
          <a:ln w="38100">
            <a:solidFill>
              <a:schemeClr val="tx1"/>
            </a:solidFill>
          </a:ln>
        </p:spPr>
        <p:style>
          <a:lnRef idx="1">
            <a:schemeClr val="accent1"/>
          </a:lnRef>
          <a:fillRef idx="0">
            <a:schemeClr val="accent1"/>
          </a:fillRef>
          <a:effectRef idx="0">
            <a:schemeClr val="accent1"/>
          </a:effectRef>
          <a:fontRef idx="minor">
            <a:schemeClr val="tx1"/>
          </a:fontRef>
        </p:style>
      </p:cxnSp>
      <p:sp>
        <p:nvSpPr>
          <p:cNvPr id="32" name="TextBox 31"/>
          <p:cNvSpPr txBox="1"/>
          <p:nvPr/>
        </p:nvSpPr>
        <p:spPr>
          <a:xfrm>
            <a:off x="3352800" y="2190690"/>
            <a:ext cx="397866" cy="400110"/>
          </a:xfrm>
          <a:prstGeom prst="rect">
            <a:avLst/>
          </a:prstGeom>
          <a:noFill/>
        </p:spPr>
        <p:txBody>
          <a:bodyPr wrap="none" rtlCol="0">
            <a:spAutoFit/>
          </a:bodyPr>
          <a:lstStyle/>
          <a:p>
            <a:r>
              <a:rPr lang="en-IN" sz="2000" b="1" dirty="0" smtClean="0">
                <a:latin typeface="Times New Roman" panose="02020603050405020304" pitchFamily="18" charset="0"/>
                <a:cs typeface="Times New Roman" panose="02020603050405020304" pitchFamily="18" charset="0"/>
              </a:rPr>
              <a:t>y</a:t>
            </a:r>
            <a:r>
              <a:rPr lang="en-IN" sz="2000" b="1" baseline="-25000" dirty="0" smtClean="0">
                <a:latin typeface="Times New Roman" panose="02020603050405020304" pitchFamily="18" charset="0"/>
                <a:cs typeface="Times New Roman" panose="02020603050405020304" pitchFamily="18" charset="0"/>
              </a:rPr>
              <a:t>2</a:t>
            </a:r>
            <a:endParaRPr lang="en-IN" sz="2000" b="1" baseline="-25000" dirty="0">
              <a:latin typeface="Times New Roman" panose="02020603050405020304" pitchFamily="18" charset="0"/>
              <a:cs typeface="Times New Roman" panose="02020603050405020304" pitchFamily="18" charset="0"/>
            </a:endParaRPr>
          </a:p>
        </p:txBody>
      </p:sp>
      <p:sp>
        <p:nvSpPr>
          <p:cNvPr id="33" name="TextBox 32"/>
          <p:cNvSpPr txBox="1"/>
          <p:nvPr/>
        </p:nvSpPr>
        <p:spPr>
          <a:xfrm>
            <a:off x="3581400" y="2190690"/>
            <a:ext cx="397866" cy="400110"/>
          </a:xfrm>
          <a:prstGeom prst="rect">
            <a:avLst/>
          </a:prstGeom>
          <a:noFill/>
        </p:spPr>
        <p:txBody>
          <a:bodyPr wrap="none" rtlCol="0">
            <a:spAutoFit/>
          </a:bodyPr>
          <a:lstStyle/>
          <a:p>
            <a:r>
              <a:rPr lang="en-IN" sz="2000" b="1" dirty="0" smtClean="0">
                <a:latin typeface="Times New Roman" panose="02020603050405020304" pitchFamily="18" charset="0"/>
                <a:cs typeface="Times New Roman" panose="02020603050405020304" pitchFamily="18" charset="0"/>
              </a:rPr>
              <a:t>y</a:t>
            </a:r>
            <a:r>
              <a:rPr lang="en-IN" sz="2000" b="1" baseline="-25000" dirty="0" smtClean="0">
                <a:latin typeface="Times New Roman" panose="02020603050405020304" pitchFamily="18" charset="0"/>
                <a:cs typeface="Times New Roman" panose="02020603050405020304" pitchFamily="18" charset="0"/>
              </a:rPr>
              <a:t>1</a:t>
            </a:r>
            <a:endParaRPr lang="en-IN" sz="2000" b="1" baseline="-25000" dirty="0">
              <a:latin typeface="Times New Roman" panose="02020603050405020304" pitchFamily="18" charset="0"/>
              <a:cs typeface="Times New Roman" panose="02020603050405020304" pitchFamily="18" charset="0"/>
            </a:endParaRPr>
          </a:p>
        </p:txBody>
      </p:sp>
      <p:cxnSp>
        <p:nvCxnSpPr>
          <p:cNvPr id="35" name="Straight Connector 34"/>
          <p:cNvCxnSpPr/>
          <p:nvPr/>
        </p:nvCxnSpPr>
        <p:spPr>
          <a:xfrm>
            <a:off x="7391400" y="2357438"/>
            <a:ext cx="0" cy="1071562"/>
          </a:xfrm>
          <a:prstGeom prst="line">
            <a:avLst/>
          </a:prstGeom>
          <a:ln w="25400">
            <a:solidFill>
              <a:schemeClr val="tx1"/>
            </a:solidFill>
            <a:prstDash val="dash"/>
          </a:ln>
        </p:spPr>
        <p:style>
          <a:lnRef idx="1">
            <a:schemeClr val="accent1"/>
          </a:lnRef>
          <a:fillRef idx="0">
            <a:schemeClr val="accent1"/>
          </a:fillRef>
          <a:effectRef idx="0">
            <a:schemeClr val="accent1"/>
          </a:effectRef>
          <a:fontRef idx="minor">
            <a:schemeClr val="tx1"/>
          </a:fontRef>
        </p:style>
      </p:cxnSp>
      <p:sp>
        <p:nvSpPr>
          <p:cNvPr id="39" name="TextBox 38"/>
          <p:cNvSpPr txBox="1"/>
          <p:nvPr/>
        </p:nvSpPr>
        <p:spPr>
          <a:xfrm>
            <a:off x="7222134" y="3333690"/>
            <a:ext cx="397866" cy="400110"/>
          </a:xfrm>
          <a:prstGeom prst="rect">
            <a:avLst/>
          </a:prstGeom>
          <a:noFill/>
        </p:spPr>
        <p:txBody>
          <a:bodyPr wrap="none" rtlCol="0">
            <a:spAutoFit/>
          </a:bodyPr>
          <a:lstStyle/>
          <a:p>
            <a:r>
              <a:rPr lang="en-IN" sz="2000" b="1" dirty="0" smtClean="0">
                <a:latin typeface="Times New Roman" panose="02020603050405020304" pitchFamily="18" charset="0"/>
                <a:cs typeface="Times New Roman" panose="02020603050405020304" pitchFamily="18" charset="0"/>
              </a:rPr>
              <a:t>x</a:t>
            </a:r>
            <a:r>
              <a:rPr lang="en-IN" sz="2000" b="1" baseline="-25000" dirty="0" smtClean="0">
                <a:latin typeface="Times New Roman" panose="02020603050405020304" pitchFamily="18" charset="0"/>
                <a:cs typeface="Times New Roman" panose="02020603050405020304" pitchFamily="18" charset="0"/>
              </a:rPr>
              <a:t>1</a:t>
            </a:r>
            <a:endParaRPr lang="en-IN" sz="2000" b="1" baseline="-25000" dirty="0">
              <a:latin typeface="Times New Roman" panose="02020603050405020304" pitchFamily="18" charset="0"/>
              <a:cs typeface="Times New Roman" panose="02020603050405020304" pitchFamily="18" charset="0"/>
            </a:endParaRPr>
          </a:p>
        </p:txBody>
      </p:sp>
      <p:sp>
        <p:nvSpPr>
          <p:cNvPr id="40" name="TextBox 39"/>
          <p:cNvSpPr txBox="1"/>
          <p:nvPr/>
        </p:nvSpPr>
        <p:spPr>
          <a:xfrm>
            <a:off x="7450734" y="3352800"/>
            <a:ext cx="397866" cy="400110"/>
          </a:xfrm>
          <a:prstGeom prst="rect">
            <a:avLst/>
          </a:prstGeom>
          <a:noFill/>
        </p:spPr>
        <p:txBody>
          <a:bodyPr wrap="none" rtlCol="0">
            <a:spAutoFit/>
          </a:bodyPr>
          <a:lstStyle/>
          <a:p>
            <a:r>
              <a:rPr lang="en-IN" sz="2000" b="1" dirty="0" smtClean="0">
                <a:latin typeface="Times New Roman" panose="02020603050405020304" pitchFamily="18" charset="0"/>
                <a:cs typeface="Times New Roman" panose="02020603050405020304" pitchFamily="18" charset="0"/>
              </a:rPr>
              <a:t>x</a:t>
            </a:r>
            <a:r>
              <a:rPr lang="en-IN" sz="2000" b="1" baseline="-25000" dirty="0">
                <a:latin typeface="Times New Roman" panose="02020603050405020304" pitchFamily="18" charset="0"/>
                <a:cs typeface="Times New Roman" panose="02020603050405020304" pitchFamily="18" charset="0"/>
              </a:rPr>
              <a:t>2</a:t>
            </a:r>
          </a:p>
        </p:txBody>
      </p:sp>
      <mc:AlternateContent xmlns:mc="http://schemas.openxmlformats.org/markup-compatibility/2006" xmlns:a14="http://schemas.microsoft.com/office/drawing/2010/main">
        <mc:Choice Requires="a14">
          <p:sp>
            <p:nvSpPr>
              <p:cNvPr id="42" name="Rectangle 41"/>
              <p:cNvSpPr/>
              <p:nvPr/>
            </p:nvSpPr>
            <p:spPr>
              <a:xfrm rot="16200000">
                <a:off x="3322792" y="1244104"/>
                <a:ext cx="811172" cy="194628"/>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i="1" dirty="0" smtClean="0">
                  <a:solidFill>
                    <a:schemeClr val="tx1"/>
                  </a:solidFill>
                  <a:latin typeface="Cambria Math" panose="02040503050406030204" pitchFamily="18" charset="0"/>
                </a:endParaRPr>
              </a:p>
              <a:p>
                <a:pPr algn="ctr"/>
                <a14:m>
                  <m:oMathPara xmlns:m="http://schemas.openxmlformats.org/officeDocument/2006/math">
                    <m:oMathParaPr>
                      <m:jc m:val="centerGroup"/>
                    </m:oMathParaPr>
                    <m:oMath xmlns:m="http://schemas.openxmlformats.org/officeDocument/2006/math">
                      <m:r>
                        <a:rPr lang="en-IN" sz="1200" i="1" smtClean="0">
                          <a:solidFill>
                            <a:schemeClr val="tx1"/>
                          </a:solidFill>
                          <a:latin typeface="Cambria Math" panose="02040503050406030204" pitchFamily="18" charset="0"/>
                        </a:rPr>
                        <m:t>𝑦</m:t>
                      </m:r>
                      <m:r>
                        <a:rPr lang="en-IN" sz="1200" i="1" smtClean="0">
                          <a:solidFill>
                            <a:schemeClr val="tx1"/>
                          </a:solidFill>
                          <a:latin typeface="Cambria Math" panose="02040503050406030204" pitchFamily="18" charset="0"/>
                        </a:rPr>
                        <m:t>=</m:t>
                      </m:r>
                      <m:r>
                        <a:rPr lang="en-IN" sz="1200" i="1" smtClean="0">
                          <a:solidFill>
                            <a:schemeClr val="tx1"/>
                          </a:solidFill>
                          <a:latin typeface="Cambria Math" panose="02040503050406030204" pitchFamily="18" charset="0"/>
                        </a:rPr>
                        <m:t>𝑓</m:t>
                      </m:r>
                      <m:r>
                        <a:rPr lang="en-IN" sz="1200" i="1" smtClean="0">
                          <a:solidFill>
                            <a:schemeClr val="tx1"/>
                          </a:solidFill>
                          <a:latin typeface="Cambria Math" panose="02040503050406030204" pitchFamily="18" charset="0"/>
                        </a:rPr>
                        <m:t>(</m:t>
                      </m:r>
                      <m:r>
                        <a:rPr lang="en-IN" sz="1200" i="1" smtClean="0">
                          <a:solidFill>
                            <a:schemeClr val="tx1"/>
                          </a:solidFill>
                          <a:latin typeface="Cambria Math" panose="02040503050406030204" pitchFamily="18" charset="0"/>
                        </a:rPr>
                        <m:t>𝑥</m:t>
                      </m:r>
                      <m:r>
                        <a:rPr lang="en-IN" sz="1200" i="1" smtClean="0">
                          <a:solidFill>
                            <a:schemeClr val="tx1"/>
                          </a:solidFill>
                          <a:latin typeface="Cambria Math" panose="02040503050406030204" pitchFamily="18" charset="0"/>
                        </a:rPr>
                        <m:t>)</m:t>
                      </m:r>
                    </m:oMath>
                  </m:oMathPara>
                </a14:m>
                <a:endParaRPr lang="en-IN" sz="1200" dirty="0">
                  <a:solidFill>
                    <a:schemeClr val="tx1"/>
                  </a:solidFill>
                </a:endParaRPr>
              </a:p>
              <a:p>
                <a:pPr algn="ctr"/>
                <a:endParaRPr lang="en-IN" dirty="0"/>
              </a:p>
            </p:txBody>
          </p:sp>
        </mc:Choice>
        <mc:Fallback xmlns="">
          <p:sp>
            <p:nvSpPr>
              <p:cNvPr id="42" name="Rectangle 41"/>
              <p:cNvSpPr>
                <a:spLocks noRot="1" noChangeAspect="1" noMove="1" noResize="1" noEditPoints="1" noAdjustHandles="1" noChangeArrowheads="1" noChangeShapeType="1" noTextEdit="1"/>
              </p:cNvSpPr>
              <p:nvPr/>
            </p:nvSpPr>
            <p:spPr>
              <a:xfrm rot="16200000">
                <a:off x="3322792" y="1244104"/>
                <a:ext cx="811172" cy="194628"/>
              </a:xfrm>
              <a:prstGeom prst="rect">
                <a:avLst/>
              </a:prstGeom>
              <a:blipFill rotWithShape="0">
                <a:blip r:embed="rId4"/>
                <a:stretch>
                  <a:fillRect l="-3125" r="-31250"/>
                </a:stretch>
              </a:blipFill>
              <a:ln>
                <a:noFill/>
              </a:ln>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43" name="Rectangle 42"/>
              <p:cNvSpPr/>
              <p:nvPr/>
            </p:nvSpPr>
            <p:spPr>
              <a:xfrm>
                <a:off x="6182362" y="3455541"/>
                <a:ext cx="811172" cy="194628"/>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i="1" dirty="0" smtClean="0">
                  <a:solidFill>
                    <a:schemeClr val="tx1"/>
                  </a:solidFill>
                  <a:latin typeface="Cambria Math" panose="02040503050406030204" pitchFamily="18" charset="0"/>
                </a:endParaRPr>
              </a:p>
              <a:p>
                <a:pPr algn="ctr"/>
                <a14:m>
                  <m:oMath xmlns:m="http://schemas.openxmlformats.org/officeDocument/2006/math">
                    <m:r>
                      <a:rPr lang="en-IN" sz="2400" b="0" i="1" smtClean="0">
                        <a:solidFill>
                          <a:schemeClr val="tx1"/>
                        </a:solidFill>
                        <a:latin typeface="Cambria Math" panose="02040503050406030204" pitchFamily="18" charset="0"/>
                      </a:rPr>
                      <m:t>𝑥</m:t>
                    </m:r>
                  </m:oMath>
                </a14:m>
                <a:r>
                  <a:rPr lang="en-IN" sz="1400" b="0" dirty="0" smtClean="0">
                    <a:solidFill>
                      <a:schemeClr val="tx1"/>
                    </a:solidFill>
                  </a:rPr>
                  <a:t> </a:t>
                </a:r>
                <a:r>
                  <a:rPr lang="en-IN" sz="1400" b="0" dirty="0" smtClean="0">
                    <a:solidFill>
                      <a:schemeClr val="tx1"/>
                    </a:solidFill>
                    <a:sym typeface="Wingdings" panose="05000000000000000000" pitchFamily="2" charset="2"/>
                  </a:rPr>
                  <a:t></a:t>
                </a:r>
                <a:endParaRPr lang="en-IN" sz="1400" b="0" dirty="0" smtClean="0">
                  <a:solidFill>
                    <a:schemeClr val="tx1"/>
                  </a:solidFill>
                </a:endParaRPr>
              </a:p>
              <a:p>
                <a:pPr algn="ctr"/>
                <a:endParaRPr lang="en-IN" dirty="0"/>
              </a:p>
            </p:txBody>
          </p:sp>
        </mc:Choice>
        <mc:Fallback xmlns="">
          <p:sp>
            <p:nvSpPr>
              <p:cNvPr id="43" name="Rectangle 42"/>
              <p:cNvSpPr>
                <a:spLocks noRot="1" noChangeAspect="1" noMove="1" noResize="1" noEditPoints="1" noAdjustHandles="1" noChangeArrowheads="1" noChangeShapeType="1" noTextEdit="1"/>
              </p:cNvSpPr>
              <p:nvPr/>
            </p:nvSpPr>
            <p:spPr>
              <a:xfrm>
                <a:off x="6182362" y="3455541"/>
                <a:ext cx="811172" cy="194628"/>
              </a:xfrm>
              <a:prstGeom prst="rect">
                <a:avLst/>
              </a:prstGeom>
              <a:blipFill rotWithShape="0">
                <a:blip r:embed="rId5"/>
                <a:stretch>
                  <a:fillRect t="-9375" b="-87500"/>
                </a:stretch>
              </a:blipFill>
              <a:ln>
                <a:noFill/>
              </a:ln>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47" name="Rectangle 46"/>
              <p:cNvSpPr/>
              <p:nvPr/>
            </p:nvSpPr>
            <p:spPr>
              <a:xfrm>
                <a:off x="304800" y="990600"/>
                <a:ext cx="2338910" cy="910377"/>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f>
                        <m:fPr>
                          <m:ctrlPr>
                            <a:rPr lang="en-IN" sz="2800" i="1">
                              <a:latin typeface="Cambria Math" panose="02040503050406030204" pitchFamily="18" charset="0"/>
                            </a:rPr>
                          </m:ctrlPr>
                        </m:fPr>
                        <m:num>
                          <m:r>
                            <a:rPr lang="en-IN" sz="2800" i="1">
                              <a:latin typeface="Cambria Math" panose="02040503050406030204" pitchFamily="18" charset="0"/>
                            </a:rPr>
                            <m:t>𝑑𝑦</m:t>
                          </m:r>
                        </m:num>
                        <m:den>
                          <m:r>
                            <a:rPr lang="en-IN" sz="2800" i="1">
                              <a:latin typeface="Cambria Math" panose="02040503050406030204" pitchFamily="18" charset="0"/>
                            </a:rPr>
                            <m:t>𝑑𝑥</m:t>
                          </m:r>
                        </m:den>
                      </m:f>
                      <m:r>
                        <a:rPr lang="en-IN" sz="2800" i="0">
                          <a:latin typeface="Cambria Math" panose="02040503050406030204" pitchFamily="18" charset="0"/>
                        </a:rPr>
                        <m:t>=</m:t>
                      </m:r>
                      <m:func>
                        <m:funcPr>
                          <m:ctrlPr>
                            <a:rPr lang="en-IN" sz="2800" i="1">
                              <a:latin typeface="Cambria Math" panose="02040503050406030204" pitchFamily="18" charset="0"/>
                            </a:rPr>
                          </m:ctrlPr>
                        </m:funcPr>
                        <m:fName>
                          <m:limLow>
                            <m:limLowPr>
                              <m:ctrlPr>
                                <a:rPr lang="en-IN" sz="2800" i="1">
                                  <a:latin typeface="Cambria Math" panose="02040503050406030204" pitchFamily="18" charset="0"/>
                                </a:rPr>
                              </m:ctrlPr>
                            </m:limLowPr>
                            <m:e>
                              <m:r>
                                <m:rPr>
                                  <m:sty m:val="p"/>
                                </m:rPr>
                                <a:rPr lang="en-IN" sz="2800" i="0">
                                  <a:latin typeface="Cambria Math" panose="02040503050406030204" pitchFamily="18" charset="0"/>
                                </a:rPr>
                                <m:t>lim</m:t>
                              </m:r>
                            </m:e>
                            <m:lim>
                              <m:r>
                                <m:rPr>
                                  <m:sty m:val="p"/>
                                </m:rPr>
                                <a:rPr lang="en-IN" sz="2800" i="0">
                                  <a:latin typeface="Cambria Math" panose="02040503050406030204" pitchFamily="18" charset="0"/>
                                </a:rPr>
                                <m:t>Δ</m:t>
                              </m:r>
                              <m:r>
                                <a:rPr lang="en-IN" sz="2800" i="1">
                                  <a:latin typeface="Cambria Math" panose="02040503050406030204" pitchFamily="18" charset="0"/>
                                </a:rPr>
                                <m:t>𝑥</m:t>
                              </m:r>
                              <m:r>
                                <a:rPr lang="en-IN" sz="2800" i="0">
                                  <a:latin typeface="Cambria Math" panose="02040503050406030204" pitchFamily="18" charset="0"/>
                                </a:rPr>
                                <m:t>→0</m:t>
                              </m:r>
                            </m:lim>
                          </m:limLow>
                        </m:fName>
                        <m:e>
                          <m:f>
                            <m:fPr>
                              <m:ctrlPr>
                                <a:rPr lang="en-IN" sz="2800" i="1">
                                  <a:latin typeface="Cambria Math" panose="02040503050406030204" pitchFamily="18" charset="0"/>
                                </a:rPr>
                              </m:ctrlPr>
                            </m:fPr>
                            <m:num>
                              <m:r>
                                <m:rPr>
                                  <m:sty m:val="p"/>
                                </m:rPr>
                                <a:rPr lang="en-IN" sz="2800" i="0">
                                  <a:latin typeface="Cambria Math" panose="02040503050406030204" pitchFamily="18" charset="0"/>
                                </a:rPr>
                                <m:t>Δ</m:t>
                              </m:r>
                              <m:r>
                                <a:rPr lang="en-IN" sz="2800" i="1">
                                  <a:latin typeface="Cambria Math" panose="02040503050406030204" pitchFamily="18" charset="0"/>
                                </a:rPr>
                                <m:t>𝑦</m:t>
                              </m:r>
                            </m:num>
                            <m:den>
                              <m:r>
                                <m:rPr>
                                  <m:sty m:val="p"/>
                                </m:rPr>
                                <a:rPr lang="en-IN" sz="2800" i="0">
                                  <a:latin typeface="Cambria Math" panose="02040503050406030204" pitchFamily="18" charset="0"/>
                                </a:rPr>
                                <m:t>Δ</m:t>
                              </m:r>
                              <m:r>
                                <a:rPr lang="en-IN" sz="2800" i="1">
                                  <a:latin typeface="Cambria Math" panose="02040503050406030204" pitchFamily="18" charset="0"/>
                                </a:rPr>
                                <m:t>𝑥</m:t>
                              </m:r>
                            </m:den>
                          </m:f>
                        </m:e>
                      </m:func>
                    </m:oMath>
                  </m:oMathPara>
                </a14:m>
                <a:endParaRPr lang="en-IN" sz="2800" dirty="0"/>
              </a:p>
            </p:txBody>
          </p:sp>
        </mc:Choice>
        <mc:Fallback xmlns="">
          <p:sp>
            <p:nvSpPr>
              <p:cNvPr id="47" name="Rectangle 46"/>
              <p:cNvSpPr>
                <a:spLocks noRot="1" noChangeAspect="1" noMove="1" noResize="1" noEditPoints="1" noAdjustHandles="1" noChangeArrowheads="1" noChangeShapeType="1" noTextEdit="1"/>
              </p:cNvSpPr>
              <p:nvPr/>
            </p:nvSpPr>
            <p:spPr>
              <a:xfrm>
                <a:off x="304800" y="990600"/>
                <a:ext cx="2338910" cy="910377"/>
              </a:xfrm>
              <a:prstGeom prst="rect">
                <a:avLst/>
              </a:prstGeom>
              <a:blipFill rotWithShape="0">
                <a:blip r:embed="rId6"/>
                <a:stretch>
                  <a:fillRect/>
                </a:stretch>
              </a:blipFill>
            </p:spPr>
            <p:txBody>
              <a:bodyPr/>
              <a:lstStyle/>
              <a:p>
                <a:r>
                  <a:rPr lang="en-IN">
                    <a:noFill/>
                  </a:rPr>
                  <a:t> </a:t>
                </a:r>
              </a:p>
            </p:txBody>
          </p:sp>
        </mc:Fallback>
      </mc:AlternateContent>
      <p:sp>
        <p:nvSpPr>
          <p:cNvPr id="30" name="Freeform 29"/>
          <p:cNvSpPr/>
          <p:nvPr/>
        </p:nvSpPr>
        <p:spPr>
          <a:xfrm>
            <a:off x="6477000" y="3235190"/>
            <a:ext cx="136183" cy="166255"/>
          </a:xfrm>
          <a:custGeom>
            <a:avLst/>
            <a:gdLst>
              <a:gd name="connsiteX0" fmla="*/ 0 w 136183"/>
              <a:gd name="connsiteY0" fmla="*/ 0 h 166255"/>
              <a:gd name="connsiteX1" fmla="*/ 130628 w 136183"/>
              <a:gd name="connsiteY1" fmla="*/ 47501 h 166255"/>
              <a:gd name="connsiteX2" fmla="*/ 106878 w 136183"/>
              <a:gd name="connsiteY2" fmla="*/ 166255 h 166255"/>
            </a:gdLst>
            <a:ahLst/>
            <a:cxnLst>
              <a:cxn ang="0">
                <a:pos x="connsiteX0" y="connsiteY0"/>
              </a:cxn>
              <a:cxn ang="0">
                <a:pos x="connsiteX1" y="connsiteY1"/>
              </a:cxn>
              <a:cxn ang="0">
                <a:pos x="connsiteX2" y="connsiteY2"/>
              </a:cxn>
            </a:cxnLst>
            <a:rect l="l" t="t" r="r" b="b"/>
            <a:pathLst>
              <a:path w="136183" h="166255">
                <a:moveTo>
                  <a:pt x="0" y="0"/>
                </a:moveTo>
                <a:cubicBezTo>
                  <a:pt x="56407" y="9896"/>
                  <a:pt x="112815" y="19792"/>
                  <a:pt x="130628" y="47501"/>
                </a:cubicBezTo>
                <a:cubicBezTo>
                  <a:pt x="148441" y="75210"/>
                  <a:pt x="118753" y="150421"/>
                  <a:pt x="106878" y="166255"/>
                </a:cubicBezTo>
              </a:path>
            </a:pathLst>
          </a:cu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mc:AlternateContent xmlns:mc="http://schemas.openxmlformats.org/markup-compatibility/2006" xmlns:a14="http://schemas.microsoft.com/office/drawing/2010/main">
        <mc:Choice Requires="a14">
          <p:sp>
            <p:nvSpPr>
              <p:cNvPr id="31" name="Rectangle 30"/>
              <p:cNvSpPr/>
              <p:nvPr/>
            </p:nvSpPr>
            <p:spPr>
              <a:xfrm>
                <a:off x="6514235" y="3059668"/>
                <a:ext cx="374140" cy="369332"/>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r>
                        <a:rPr lang="en-IN" i="1">
                          <a:latin typeface="Cambria Math" panose="02040503050406030204" pitchFamily="18" charset="0"/>
                        </a:rPr>
                        <m:t>𝜃</m:t>
                      </m:r>
                    </m:oMath>
                  </m:oMathPara>
                </a14:m>
                <a:endParaRPr lang="en-IN" dirty="0"/>
              </a:p>
            </p:txBody>
          </p:sp>
        </mc:Choice>
        <mc:Fallback xmlns="">
          <p:sp>
            <p:nvSpPr>
              <p:cNvPr id="31" name="Rectangle 30"/>
              <p:cNvSpPr>
                <a:spLocks noRot="1" noChangeAspect="1" noMove="1" noResize="1" noEditPoints="1" noAdjustHandles="1" noChangeArrowheads="1" noChangeShapeType="1" noTextEdit="1"/>
              </p:cNvSpPr>
              <p:nvPr/>
            </p:nvSpPr>
            <p:spPr>
              <a:xfrm>
                <a:off x="6514235" y="3059668"/>
                <a:ext cx="374140" cy="369332"/>
              </a:xfrm>
              <a:prstGeom prst="rect">
                <a:avLst/>
              </a:prstGeom>
              <a:blipFill rotWithShape="0">
                <a:blip r:embed="rId7"/>
                <a:stretch>
                  <a:fillRect/>
                </a:stretch>
              </a:blipFill>
            </p:spPr>
            <p:txBody>
              <a:bodyPr/>
              <a:lstStyle/>
              <a:p>
                <a:r>
                  <a:rPr lang="en-IN">
                    <a:noFill/>
                  </a:rPr>
                  <a:t> </a:t>
                </a:r>
              </a:p>
            </p:txBody>
          </p:sp>
        </mc:Fallback>
      </mc:AlternateContent>
      <p:sp>
        <p:nvSpPr>
          <p:cNvPr id="24" name="TextBox 23"/>
          <p:cNvSpPr txBox="1"/>
          <p:nvPr/>
        </p:nvSpPr>
        <p:spPr>
          <a:xfrm flipH="1">
            <a:off x="6472238" y="6600824"/>
            <a:ext cx="2366962" cy="307777"/>
          </a:xfrm>
          <a:prstGeom prst="rect">
            <a:avLst/>
          </a:prstGeom>
          <a:noFill/>
        </p:spPr>
        <p:txBody>
          <a:bodyPr wrap="square" rtlCol="0">
            <a:spAutoFit/>
          </a:bodyPr>
          <a:lstStyle/>
          <a:p>
            <a:r>
              <a:rPr lang="en-US" sz="1400" dirty="0" smtClean="0">
                <a:latin typeface="Times New Roman" panose="02020603050405020304" pitchFamily="18" charset="0"/>
                <a:cs typeface="Times New Roman" panose="02020603050405020304" pitchFamily="18" charset="0"/>
              </a:rPr>
              <a:t>Different cases of angle theta</a:t>
            </a:r>
            <a:endParaRPr lang="en-IN" sz="14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8932011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nodeType="clickEffect">
                                  <p:stCondLst>
                                    <p:cond delay="0"/>
                                  </p:stCondLst>
                                  <p:childTnLst>
                                    <p:set>
                                      <p:cBhvr>
                                        <p:cTn id="6" dur="1" fill="hold">
                                          <p:stCondLst>
                                            <p:cond delay="0"/>
                                          </p:stCondLst>
                                        </p:cTn>
                                        <p:tgtEl>
                                          <p:spTgt spid="18">
                                            <p:txEl>
                                              <p:pRg st="2" end="2"/>
                                            </p:txEl>
                                          </p:spTgt>
                                        </p:tgtEl>
                                        <p:attrNameLst>
                                          <p:attrName>style.visibility</p:attrName>
                                        </p:attrNameLst>
                                      </p:cBhvr>
                                      <p:to>
                                        <p:strVal val="visible"/>
                                      </p:to>
                                    </p:set>
                                    <p:animEffect transition="in" filter="wipe(left)">
                                      <p:cBhvr>
                                        <p:cTn id="7" dur="500"/>
                                        <p:tgtEl>
                                          <p:spTgt spid="18">
                                            <p:txEl>
                                              <p:pRg st="2" end="2"/>
                                            </p:txEl>
                                          </p:spTgt>
                                        </p:tgtEl>
                                      </p:cBhvr>
                                    </p:animEffect>
                                  </p:childTnLst>
                                </p:cTn>
                              </p:par>
                            </p:childTnLst>
                          </p:cTn>
                        </p:par>
                        <p:par>
                          <p:cTn id="8" fill="hold">
                            <p:stCondLst>
                              <p:cond delay="500"/>
                            </p:stCondLst>
                            <p:childTnLst>
                              <p:par>
                                <p:cTn id="9" presetID="22" presetClass="entr" presetSubtype="8" fill="hold" nodeType="afterEffect">
                                  <p:stCondLst>
                                    <p:cond delay="0"/>
                                  </p:stCondLst>
                                  <p:childTnLst>
                                    <p:set>
                                      <p:cBhvr>
                                        <p:cTn id="10" dur="1" fill="hold">
                                          <p:stCondLst>
                                            <p:cond delay="0"/>
                                          </p:stCondLst>
                                        </p:cTn>
                                        <p:tgtEl>
                                          <p:spTgt spid="18">
                                            <p:txEl>
                                              <p:pRg st="3" end="3"/>
                                            </p:txEl>
                                          </p:spTgt>
                                        </p:tgtEl>
                                        <p:attrNameLst>
                                          <p:attrName>style.visibility</p:attrName>
                                        </p:attrNameLst>
                                      </p:cBhvr>
                                      <p:to>
                                        <p:strVal val="visible"/>
                                      </p:to>
                                    </p:set>
                                    <p:animEffect transition="in" filter="wipe(left)">
                                      <p:cBhvr>
                                        <p:cTn id="11" dur="500"/>
                                        <p:tgtEl>
                                          <p:spTgt spid="18">
                                            <p:txEl>
                                              <p:pRg st="3" end="3"/>
                                            </p:txEl>
                                          </p:spTgt>
                                        </p:tgtEl>
                                      </p:cBhvr>
                                    </p:animEffect>
                                  </p:childTnLst>
                                </p:cTn>
                              </p:par>
                            </p:childTnLst>
                          </p:cTn>
                        </p:par>
                      </p:childTnLst>
                    </p:cTn>
                  </p:par>
                  <p:par>
                    <p:cTn id="12" fill="hold">
                      <p:stCondLst>
                        <p:cond delay="indefinite"/>
                      </p:stCondLst>
                      <p:childTnLst>
                        <p:par>
                          <p:cTn id="13" fill="hold">
                            <p:stCondLst>
                              <p:cond delay="0"/>
                            </p:stCondLst>
                            <p:childTnLst>
                              <p:par>
                                <p:cTn id="14" presetID="22" presetClass="entr" presetSubtype="8" fill="hold" nodeType="clickEffect">
                                  <p:stCondLst>
                                    <p:cond delay="0"/>
                                  </p:stCondLst>
                                  <p:childTnLst>
                                    <p:set>
                                      <p:cBhvr>
                                        <p:cTn id="15" dur="1" fill="hold">
                                          <p:stCondLst>
                                            <p:cond delay="0"/>
                                          </p:stCondLst>
                                        </p:cTn>
                                        <p:tgtEl>
                                          <p:spTgt spid="18">
                                            <p:txEl>
                                              <p:pRg st="5" end="5"/>
                                            </p:txEl>
                                          </p:spTgt>
                                        </p:tgtEl>
                                        <p:attrNameLst>
                                          <p:attrName>style.visibility</p:attrName>
                                        </p:attrNameLst>
                                      </p:cBhvr>
                                      <p:to>
                                        <p:strVal val="visible"/>
                                      </p:to>
                                    </p:set>
                                    <p:animEffect transition="in" filter="wipe(left)">
                                      <p:cBhvr>
                                        <p:cTn id="16" dur="500"/>
                                        <p:tgtEl>
                                          <p:spTgt spid="18">
                                            <p:txEl>
                                              <p:pRg st="5" end="5"/>
                                            </p:txEl>
                                          </p:spTgt>
                                        </p:tgtEl>
                                      </p:cBhvr>
                                    </p:animEffect>
                                  </p:childTnLst>
                                </p:cTn>
                              </p:par>
                            </p:childTnLst>
                          </p:cTn>
                        </p:par>
                        <p:par>
                          <p:cTn id="17" fill="hold">
                            <p:stCondLst>
                              <p:cond delay="500"/>
                            </p:stCondLst>
                            <p:childTnLst>
                              <p:par>
                                <p:cTn id="18" presetID="22" presetClass="entr" presetSubtype="8" fill="hold" nodeType="afterEffect">
                                  <p:stCondLst>
                                    <p:cond delay="0"/>
                                  </p:stCondLst>
                                  <p:childTnLst>
                                    <p:set>
                                      <p:cBhvr>
                                        <p:cTn id="19" dur="1" fill="hold">
                                          <p:stCondLst>
                                            <p:cond delay="0"/>
                                          </p:stCondLst>
                                        </p:cTn>
                                        <p:tgtEl>
                                          <p:spTgt spid="18">
                                            <p:txEl>
                                              <p:pRg st="6" end="6"/>
                                            </p:txEl>
                                          </p:spTgt>
                                        </p:tgtEl>
                                        <p:attrNameLst>
                                          <p:attrName>style.visibility</p:attrName>
                                        </p:attrNameLst>
                                      </p:cBhvr>
                                      <p:to>
                                        <p:strVal val="visible"/>
                                      </p:to>
                                    </p:set>
                                    <p:animEffect transition="in" filter="wipe(left)">
                                      <p:cBhvr>
                                        <p:cTn id="20" dur="500"/>
                                        <p:tgtEl>
                                          <p:spTgt spid="18">
                                            <p:txEl>
                                              <p:pRg st="6" end="6"/>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dirty="0" smtClean="0"/>
              <a:t>Differentiation…</a:t>
            </a:r>
            <a:endParaRPr lang="en-US" dirty="0"/>
          </a:p>
        </p:txBody>
      </p:sp>
      <p:sp>
        <p:nvSpPr>
          <p:cNvPr id="14" name="TextBox 13"/>
          <p:cNvSpPr txBox="1"/>
          <p:nvPr/>
        </p:nvSpPr>
        <p:spPr>
          <a:xfrm>
            <a:off x="0" y="0"/>
            <a:ext cx="4572000" cy="369332"/>
          </a:xfrm>
          <a:prstGeom prst="rect">
            <a:avLst/>
          </a:prstGeom>
          <a:noFill/>
        </p:spPr>
        <p:txBody>
          <a:bodyPr wrap="square" rtlCol="0">
            <a:spAutoFit/>
          </a:bodyPr>
          <a:lstStyle/>
          <a:p>
            <a:pPr algn="r"/>
            <a:r>
              <a:rPr lang="en-US" b="1" dirty="0">
                <a:solidFill>
                  <a:schemeClr val="bg1"/>
                </a:solidFill>
              </a:rPr>
              <a:t>Introduction to Neural Network</a:t>
            </a:r>
          </a:p>
        </p:txBody>
      </p:sp>
      <p:sp>
        <p:nvSpPr>
          <p:cNvPr id="15" name="Date Placeholder 3"/>
          <p:cNvSpPr>
            <a:spLocks noGrp="1"/>
          </p:cNvSpPr>
          <p:nvPr>
            <p:ph type="dt" sz="half" idx="10"/>
          </p:nvPr>
        </p:nvSpPr>
        <p:spPr>
          <a:xfrm>
            <a:off x="0" y="6629400"/>
            <a:ext cx="3048000" cy="228600"/>
          </a:xfrm>
        </p:spPr>
        <p:txBody>
          <a:bodyPr/>
          <a:lstStyle/>
          <a:p>
            <a:fld id="{E7067A60-51C7-4095-BFA9-1CE32DCBA06F}" type="datetime1">
              <a:rPr lang="en-US" smtClean="0"/>
              <a:pPr/>
              <a:t>2/9/2026</a:t>
            </a:fld>
            <a:endParaRPr lang="en-US" dirty="0"/>
          </a:p>
        </p:txBody>
      </p:sp>
      <p:sp>
        <p:nvSpPr>
          <p:cNvPr id="16" name="Slide Number Placeholder 5"/>
          <p:cNvSpPr>
            <a:spLocks noGrp="1"/>
          </p:cNvSpPr>
          <p:nvPr>
            <p:ph type="sldNum" sz="quarter" idx="12"/>
          </p:nvPr>
        </p:nvSpPr>
        <p:spPr>
          <a:xfrm>
            <a:off x="6096000" y="6629400"/>
            <a:ext cx="3048000" cy="228600"/>
          </a:xfrm>
        </p:spPr>
        <p:txBody>
          <a:bodyPr/>
          <a:lstStyle/>
          <a:p>
            <a:r>
              <a:rPr lang="en-US" dirty="0" smtClean="0"/>
              <a:t>12</a:t>
            </a:r>
            <a:endParaRPr lang="en-US" dirty="0"/>
          </a:p>
        </p:txBody>
      </p:sp>
      <p:sp>
        <p:nvSpPr>
          <p:cNvPr id="17" name="Footer Placeholder 4">
            <a:extLst>
              <a:ext uri="{FF2B5EF4-FFF2-40B4-BE49-F238E27FC236}">
                <a16:creationId xmlns:a16="http://schemas.microsoft.com/office/drawing/2014/main" id="{CBB301ED-B8A4-4772-B559-A9E41E7472BD}"/>
              </a:ext>
            </a:extLst>
          </p:cNvPr>
          <p:cNvSpPr>
            <a:spLocks noGrp="1"/>
          </p:cNvSpPr>
          <p:nvPr>
            <p:ph type="ftr" sz="quarter" idx="11"/>
          </p:nvPr>
        </p:nvSpPr>
        <p:spPr>
          <a:xfrm>
            <a:off x="2286000" y="6629400"/>
            <a:ext cx="4136571" cy="228600"/>
          </a:xfrm>
        </p:spPr>
        <p:txBody>
          <a:bodyPr/>
          <a:lstStyle/>
          <a:p>
            <a:r>
              <a:rPr lang="en-US" dirty="0"/>
              <a:t>Dr. Sibarama Panigrahi, Dept. of CSE, NIT Rourkela</a:t>
            </a:r>
          </a:p>
        </p:txBody>
      </p:sp>
      <mc:AlternateContent xmlns:mc="http://schemas.openxmlformats.org/markup-compatibility/2006" xmlns:a14="http://schemas.microsoft.com/office/drawing/2010/main">
        <mc:Choice Requires="a14">
          <p:sp>
            <p:nvSpPr>
              <p:cNvPr id="18" name="Content Placeholder 2"/>
              <p:cNvSpPr>
                <a:spLocks noGrp="1"/>
              </p:cNvSpPr>
              <p:nvPr>
                <p:ph idx="1"/>
              </p:nvPr>
            </p:nvSpPr>
            <p:spPr>
              <a:xfrm>
                <a:off x="0" y="1066800"/>
                <a:ext cx="9144000" cy="5562600"/>
              </a:xfrm>
            </p:spPr>
            <p:txBody>
              <a:bodyPr>
                <a:normAutofit/>
              </a:bodyPr>
              <a:lstStyle/>
              <a:p>
                <a:pPr marL="336550" indent="0">
                  <a:buNone/>
                </a:pPr>
                <a:endParaRPr lang="en-IN" sz="2000" i="1" dirty="0" smtClean="0"/>
              </a:p>
              <a:p>
                <a:pPr marL="336550" indent="0">
                  <a:buNone/>
                </a:pPr>
                <a14:m>
                  <m:oMath xmlns:m="http://schemas.openxmlformats.org/officeDocument/2006/math">
                    <m:r>
                      <a:rPr lang="en-IN" sz="2000" i="1">
                        <a:latin typeface="Cambria Math" panose="02040503050406030204" pitchFamily="18" charset="0"/>
                      </a:rPr>
                      <m:t>0&lt;</m:t>
                    </m:r>
                    <m:r>
                      <a:rPr lang="en-IN" sz="2000" i="1">
                        <a:latin typeface="Cambria Math" panose="02040503050406030204" pitchFamily="18" charset="0"/>
                      </a:rPr>
                      <m:t>𝜃</m:t>
                    </m:r>
                    <m:r>
                      <a:rPr lang="en-IN" sz="2000" i="1">
                        <a:latin typeface="Cambria Math" panose="02040503050406030204" pitchFamily="18" charset="0"/>
                      </a:rPr>
                      <m:t>&lt;90  </m:t>
                    </m:r>
                    <m:r>
                      <a:rPr lang="en-IN" sz="2000" b="0" i="0" smtClean="0">
                        <a:latin typeface="Cambria Math" panose="02040503050406030204" pitchFamily="18" charset="0"/>
                      </a:rPr>
                      <m:t> </m:t>
                    </m:r>
                    <m:r>
                      <m:rPr>
                        <m:sty m:val="p"/>
                      </m:rPr>
                      <a:rPr lang="en-IN" sz="2000">
                        <a:latin typeface="Cambria Math" panose="02040503050406030204" pitchFamily="18" charset="0"/>
                      </a:rPr>
                      <m:t>tan</m:t>
                    </m:r>
                    <m:r>
                      <a:rPr lang="en-IN" sz="2000" i="1">
                        <a:latin typeface="Cambria Math" panose="02040503050406030204" pitchFamily="18" charset="0"/>
                      </a:rPr>
                      <m:t>(</m:t>
                    </m:r>
                    <m:r>
                      <a:rPr lang="en-IN" sz="2000" i="1">
                        <a:latin typeface="Cambria Math" panose="02040503050406030204" pitchFamily="18" charset="0"/>
                      </a:rPr>
                      <m:t>𝜃</m:t>
                    </m:r>
                    <m:r>
                      <a:rPr lang="en-IN" sz="2000" i="1">
                        <a:latin typeface="Cambria Math" panose="02040503050406030204" pitchFamily="18" charset="0"/>
                      </a:rPr>
                      <m:t>)</m:t>
                    </m:r>
                  </m:oMath>
                </a14:m>
                <a:r>
                  <a:rPr lang="en-IN" sz="2000" dirty="0"/>
                  <a:t>=</a:t>
                </a:r>
                <a:r>
                  <a:rPr lang="en-IN" sz="2000" dirty="0" smtClean="0"/>
                  <a:t> </a:t>
                </a:r>
                <a:r>
                  <a:rPr lang="en-IN" sz="2000" dirty="0"/>
                  <a:t>+</a:t>
                </a:r>
                <a:r>
                  <a:rPr lang="en-IN" sz="2000" dirty="0" err="1" smtClean="0"/>
                  <a:t>ve</a:t>
                </a:r>
                <a:endParaRPr lang="en-IN" sz="2000" dirty="0" smtClean="0"/>
              </a:p>
              <a:p>
                <a:pPr marL="336550" indent="0">
                  <a:buNone/>
                </a:pPr>
                <a:r>
                  <a:rPr lang="en-IN" sz="2000" dirty="0" smtClean="0"/>
                  <a:t>90                  tan(90)=Undefined</a:t>
                </a:r>
              </a:p>
              <a:p>
                <a:pPr marL="336550" indent="0">
                  <a:buNone/>
                </a:pPr>
                <a:endParaRPr lang="en-IN" sz="2000" dirty="0" smtClean="0"/>
              </a:p>
              <a:p>
                <a:pPr marL="336550" indent="0">
                  <a:buNone/>
                </a:pPr>
                <a:endParaRPr lang="en-IN" sz="2000" dirty="0" smtClean="0"/>
              </a:p>
              <a:p>
                <a:pPr marL="336550" indent="0">
                  <a:buNone/>
                </a:pPr>
                <a:endParaRPr lang="en-IN" sz="2000" dirty="0" smtClean="0"/>
              </a:p>
              <a:p>
                <a:pPr marL="336550" indent="0">
                  <a:buNone/>
                </a:pPr>
                <a:endParaRPr lang="en-IN" sz="2000" dirty="0" smtClean="0"/>
              </a:p>
              <a:p>
                <a:pPr marL="336550" indent="0">
                  <a:buNone/>
                </a:pPr>
                <a:endParaRPr lang="en-IN" sz="2000" dirty="0" smtClean="0"/>
              </a:p>
            </p:txBody>
          </p:sp>
        </mc:Choice>
        <mc:Fallback xmlns="">
          <p:sp>
            <p:nvSpPr>
              <p:cNvPr id="18" name="Content Placeholder 2"/>
              <p:cNvSpPr>
                <a:spLocks noGrp="1" noRot="1" noChangeAspect="1" noMove="1" noResize="1" noEditPoints="1" noAdjustHandles="1" noChangeArrowheads="1" noChangeShapeType="1" noTextEdit="1"/>
              </p:cNvSpPr>
              <p:nvPr>
                <p:ph idx="1"/>
              </p:nvPr>
            </p:nvSpPr>
            <p:spPr>
              <a:xfrm>
                <a:off x="0" y="1066800"/>
                <a:ext cx="9144000" cy="5562600"/>
              </a:xfrm>
              <a:blipFill rotWithShape="0">
                <a:blip r:embed="rId2"/>
                <a:stretch>
                  <a:fillRect/>
                </a:stretch>
              </a:blipFill>
            </p:spPr>
            <p:txBody>
              <a:bodyPr/>
              <a:lstStyle/>
              <a:p>
                <a:r>
                  <a:rPr lang="en-IN">
                    <a:noFill/>
                  </a:rPr>
                  <a:t> </a:t>
                </a:r>
              </a:p>
            </p:txBody>
          </p:sp>
        </mc:Fallback>
      </mc:AlternateContent>
      <p:graphicFrame>
        <p:nvGraphicFramePr>
          <p:cNvPr id="20" name="Chart 19"/>
          <p:cNvGraphicFramePr/>
          <p:nvPr>
            <p:extLst/>
          </p:nvPr>
        </p:nvGraphicFramePr>
        <p:xfrm>
          <a:off x="3733800" y="990600"/>
          <a:ext cx="5029200" cy="2514600"/>
        </p:xfrm>
        <a:graphic>
          <a:graphicData uri="http://schemas.openxmlformats.org/drawingml/2006/chart">
            <c:chart xmlns:c="http://schemas.openxmlformats.org/drawingml/2006/chart" xmlns:r="http://schemas.openxmlformats.org/officeDocument/2006/relationships" r:id="rId3"/>
          </a:graphicData>
        </a:graphic>
      </p:graphicFrame>
      <p:cxnSp>
        <p:nvCxnSpPr>
          <p:cNvPr id="22" name="Straight Arrow Connector 21"/>
          <p:cNvCxnSpPr/>
          <p:nvPr/>
        </p:nvCxnSpPr>
        <p:spPr>
          <a:xfrm flipV="1">
            <a:off x="3886200" y="990600"/>
            <a:ext cx="0" cy="236220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23" name="Freeform 22"/>
          <p:cNvSpPr/>
          <p:nvPr/>
        </p:nvSpPr>
        <p:spPr>
          <a:xfrm>
            <a:off x="3571875" y="1243013"/>
            <a:ext cx="4772025" cy="1516471"/>
          </a:xfrm>
          <a:custGeom>
            <a:avLst/>
            <a:gdLst>
              <a:gd name="connsiteX0" fmla="*/ 0 w 4772025"/>
              <a:gd name="connsiteY0" fmla="*/ 1271587 h 1516471"/>
              <a:gd name="connsiteX1" fmla="*/ 1200150 w 4772025"/>
              <a:gd name="connsiteY1" fmla="*/ 342900 h 1516471"/>
              <a:gd name="connsiteX2" fmla="*/ 3186113 w 4772025"/>
              <a:gd name="connsiteY2" fmla="*/ 1514475 h 1516471"/>
              <a:gd name="connsiteX3" fmla="*/ 4772025 w 4772025"/>
              <a:gd name="connsiteY3" fmla="*/ 0 h 1516471"/>
            </a:gdLst>
            <a:ahLst/>
            <a:cxnLst>
              <a:cxn ang="0">
                <a:pos x="connsiteX0" y="connsiteY0"/>
              </a:cxn>
              <a:cxn ang="0">
                <a:pos x="connsiteX1" y="connsiteY1"/>
              </a:cxn>
              <a:cxn ang="0">
                <a:pos x="connsiteX2" y="connsiteY2"/>
              </a:cxn>
              <a:cxn ang="0">
                <a:pos x="connsiteX3" y="connsiteY3"/>
              </a:cxn>
            </a:cxnLst>
            <a:rect l="l" t="t" r="r" b="b"/>
            <a:pathLst>
              <a:path w="4772025" h="1516471">
                <a:moveTo>
                  <a:pt x="0" y="1271587"/>
                </a:moveTo>
                <a:cubicBezTo>
                  <a:pt x="334565" y="787003"/>
                  <a:pt x="669131" y="302419"/>
                  <a:pt x="1200150" y="342900"/>
                </a:cubicBezTo>
                <a:cubicBezTo>
                  <a:pt x="1731169" y="383381"/>
                  <a:pt x="2590801" y="1571625"/>
                  <a:pt x="3186113" y="1514475"/>
                </a:cubicBezTo>
                <a:cubicBezTo>
                  <a:pt x="3781425" y="1457325"/>
                  <a:pt x="4495800" y="273844"/>
                  <a:pt x="4772025" y="0"/>
                </a:cubicBezTo>
              </a:path>
            </a:pathLst>
          </a:cu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cxnSp>
        <p:nvCxnSpPr>
          <p:cNvPr id="25" name="Straight Connector 24"/>
          <p:cNvCxnSpPr/>
          <p:nvPr/>
        </p:nvCxnSpPr>
        <p:spPr>
          <a:xfrm flipH="1">
            <a:off x="6248400" y="1295400"/>
            <a:ext cx="2314576" cy="2185928"/>
          </a:xfrm>
          <a:prstGeom prst="line">
            <a:avLst/>
          </a:prstGeom>
          <a:ln w="381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35" name="Straight Connector 34"/>
          <p:cNvCxnSpPr/>
          <p:nvPr/>
        </p:nvCxnSpPr>
        <p:spPr>
          <a:xfrm>
            <a:off x="7391400" y="2357438"/>
            <a:ext cx="0" cy="1071562"/>
          </a:xfrm>
          <a:prstGeom prst="line">
            <a:avLst/>
          </a:prstGeom>
          <a:ln w="25400">
            <a:solidFill>
              <a:schemeClr val="tx1"/>
            </a:solidFill>
            <a:prstDash val="dash"/>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42" name="Rectangle 41"/>
              <p:cNvSpPr/>
              <p:nvPr/>
            </p:nvSpPr>
            <p:spPr>
              <a:xfrm rot="16200000">
                <a:off x="3322792" y="1244104"/>
                <a:ext cx="811172" cy="194628"/>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i="1" dirty="0" smtClean="0">
                  <a:solidFill>
                    <a:schemeClr val="tx1"/>
                  </a:solidFill>
                  <a:latin typeface="Cambria Math" panose="02040503050406030204" pitchFamily="18" charset="0"/>
                </a:endParaRPr>
              </a:p>
              <a:p>
                <a:pPr algn="ctr"/>
                <a14:m>
                  <m:oMathPara xmlns:m="http://schemas.openxmlformats.org/officeDocument/2006/math">
                    <m:oMathParaPr>
                      <m:jc m:val="centerGroup"/>
                    </m:oMathParaPr>
                    <m:oMath xmlns:m="http://schemas.openxmlformats.org/officeDocument/2006/math">
                      <m:r>
                        <a:rPr lang="en-IN" sz="1200" i="1" smtClean="0">
                          <a:solidFill>
                            <a:schemeClr val="tx1"/>
                          </a:solidFill>
                          <a:latin typeface="Cambria Math" panose="02040503050406030204" pitchFamily="18" charset="0"/>
                        </a:rPr>
                        <m:t>𝑦</m:t>
                      </m:r>
                      <m:r>
                        <a:rPr lang="en-IN" sz="1200" i="1" smtClean="0">
                          <a:solidFill>
                            <a:schemeClr val="tx1"/>
                          </a:solidFill>
                          <a:latin typeface="Cambria Math" panose="02040503050406030204" pitchFamily="18" charset="0"/>
                        </a:rPr>
                        <m:t>=</m:t>
                      </m:r>
                      <m:r>
                        <a:rPr lang="en-IN" sz="1200" i="1" smtClean="0">
                          <a:solidFill>
                            <a:schemeClr val="tx1"/>
                          </a:solidFill>
                          <a:latin typeface="Cambria Math" panose="02040503050406030204" pitchFamily="18" charset="0"/>
                        </a:rPr>
                        <m:t>𝑓</m:t>
                      </m:r>
                      <m:r>
                        <a:rPr lang="en-IN" sz="1200" i="1" smtClean="0">
                          <a:solidFill>
                            <a:schemeClr val="tx1"/>
                          </a:solidFill>
                          <a:latin typeface="Cambria Math" panose="02040503050406030204" pitchFamily="18" charset="0"/>
                        </a:rPr>
                        <m:t>(</m:t>
                      </m:r>
                      <m:r>
                        <a:rPr lang="en-IN" sz="1200" i="1" smtClean="0">
                          <a:solidFill>
                            <a:schemeClr val="tx1"/>
                          </a:solidFill>
                          <a:latin typeface="Cambria Math" panose="02040503050406030204" pitchFamily="18" charset="0"/>
                        </a:rPr>
                        <m:t>𝑥</m:t>
                      </m:r>
                      <m:r>
                        <a:rPr lang="en-IN" sz="1200" i="1" smtClean="0">
                          <a:solidFill>
                            <a:schemeClr val="tx1"/>
                          </a:solidFill>
                          <a:latin typeface="Cambria Math" panose="02040503050406030204" pitchFamily="18" charset="0"/>
                        </a:rPr>
                        <m:t>)</m:t>
                      </m:r>
                    </m:oMath>
                  </m:oMathPara>
                </a14:m>
                <a:endParaRPr lang="en-IN" sz="1200" dirty="0">
                  <a:solidFill>
                    <a:schemeClr val="tx1"/>
                  </a:solidFill>
                </a:endParaRPr>
              </a:p>
              <a:p>
                <a:pPr algn="ctr"/>
                <a:endParaRPr lang="en-IN" dirty="0"/>
              </a:p>
            </p:txBody>
          </p:sp>
        </mc:Choice>
        <mc:Fallback xmlns="">
          <p:sp>
            <p:nvSpPr>
              <p:cNvPr id="42" name="Rectangle 41"/>
              <p:cNvSpPr>
                <a:spLocks noRot="1" noChangeAspect="1" noMove="1" noResize="1" noEditPoints="1" noAdjustHandles="1" noChangeArrowheads="1" noChangeShapeType="1" noTextEdit="1"/>
              </p:cNvSpPr>
              <p:nvPr/>
            </p:nvSpPr>
            <p:spPr>
              <a:xfrm rot="16200000">
                <a:off x="3322792" y="1244104"/>
                <a:ext cx="811172" cy="194628"/>
              </a:xfrm>
              <a:prstGeom prst="rect">
                <a:avLst/>
              </a:prstGeom>
              <a:blipFill rotWithShape="0">
                <a:blip r:embed="rId4"/>
                <a:stretch>
                  <a:fillRect l="-3125" r="-31250"/>
                </a:stretch>
              </a:blipFill>
              <a:ln>
                <a:noFill/>
              </a:ln>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43" name="Rectangle 42"/>
              <p:cNvSpPr/>
              <p:nvPr/>
            </p:nvSpPr>
            <p:spPr>
              <a:xfrm>
                <a:off x="6182362" y="3455541"/>
                <a:ext cx="811172" cy="194628"/>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i="1" dirty="0" smtClean="0">
                  <a:solidFill>
                    <a:schemeClr val="tx1"/>
                  </a:solidFill>
                  <a:latin typeface="Cambria Math" panose="02040503050406030204" pitchFamily="18" charset="0"/>
                </a:endParaRPr>
              </a:p>
              <a:p>
                <a:pPr algn="ctr"/>
                <a14:m>
                  <m:oMath xmlns:m="http://schemas.openxmlformats.org/officeDocument/2006/math">
                    <m:r>
                      <a:rPr lang="en-IN" sz="2400" b="0" i="1" smtClean="0">
                        <a:solidFill>
                          <a:schemeClr val="tx1"/>
                        </a:solidFill>
                        <a:latin typeface="Cambria Math" panose="02040503050406030204" pitchFamily="18" charset="0"/>
                      </a:rPr>
                      <m:t>𝑥</m:t>
                    </m:r>
                  </m:oMath>
                </a14:m>
                <a:r>
                  <a:rPr lang="en-IN" sz="1400" b="0" dirty="0" smtClean="0">
                    <a:solidFill>
                      <a:schemeClr val="tx1"/>
                    </a:solidFill>
                  </a:rPr>
                  <a:t> </a:t>
                </a:r>
                <a:r>
                  <a:rPr lang="en-IN" sz="1400" b="0" dirty="0" smtClean="0">
                    <a:solidFill>
                      <a:schemeClr val="tx1"/>
                    </a:solidFill>
                    <a:sym typeface="Wingdings" panose="05000000000000000000" pitchFamily="2" charset="2"/>
                  </a:rPr>
                  <a:t></a:t>
                </a:r>
                <a:endParaRPr lang="en-IN" sz="1400" b="0" dirty="0" smtClean="0">
                  <a:solidFill>
                    <a:schemeClr val="tx1"/>
                  </a:solidFill>
                </a:endParaRPr>
              </a:p>
              <a:p>
                <a:pPr algn="ctr"/>
                <a:endParaRPr lang="en-IN" dirty="0"/>
              </a:p>
            </p:txBody>
          </p:sp>
        </mc:Choice>
        <mc:Fallback xmlns="">
          <p:sp>
            <p:nvSpPr>
              <p:cNvPr id="43" name="Rectangle 42"/>
              <p:cNvSpPr>
                <a:spLocks noRot="1" noChangeAspect="1" noMove="1" noResize="1" noEditPoints="1" noAdjustHandles="1" noChangeArrowheads="1" noChangeShapeType="1" noTextEdit="1"/>
              </p:cNvSpPr>
              <p:nvPr/>
            </p:nvSpPr>
            <p:spPr>
              <a:xfrm>
                <a:off x="6182362" y="3455541"/>
                <a:ext cx="811172" cy="194628"/>
              </a:xfrm>
              <a:prstGeom prst="rect">
                <a:avLst/>
              </a:prstGeom>
              <a:blipFill rotWithShape="0">
                <a:blip r:embed="rId5"/>
                <a:stretch>
                  <a:fillRect t="-9375" b="-87500"/>
                </a:stretch>
              </a:blipFill>
              <a:ln>
                <a:noFill/>
              </a:ln>
            </p:spPr>
            <p:txBody>
              <a:bodyPr/>
              <a:lstStyle/>
              <a:p>
                <a:r>
                  <a:rPr lang="en-IN">
                    <a:noFill/>
                  </a:rPr>
                  <a:t> </a:t>
                </a:r>
              </a:p>
            </p:txBody>
          </p:sp>
        </mc:Fallback>
      </mc:AlternateContent>
      <p:sp>
        <p:nvSpPr>
          <p:cNvPr id="30" name="Freeform 29"/>
          <p:cNvSpPr/>
          <p:nvPr/>
        </p:nvSpPr>
        <p:spPr>
          <a:xfrm>
            <a:off x="6477000" y="3235190"/>
            <a:ext cx="136183" cy="166255"/>
          </a:xfrm>
          <a:custGeom>
            <a:avLst/>
            <a:gdLst>
              <a:gd name="connsiteX0" fmla="*/ 0 w 136183"/>
              <a:gd name="connsiteY0" fmla="*/ 0 h 166255"/>
              <a:gd name="connsiteX1" fmla="*/ 130628 w 136183"/>
              <a:gd name="connsiteY1" fmla="*/ 47501 h 166255"/>
              <a:gd name="connsiteX2" fmla="*/ 106878 w 136183"/>
              <a:gd name="connsiteY2" fmla="*/ 166255 h 166255"/>
            </a:gdLst>
            <a:ahLst/>
            <a:cxnLst>
              <a:cxn ang="0">
                <a:pos x="connsiteX0" y="connsiteY0"/>
              </a:cxn>
              <a:cxn ang="0">
                <a:pos x="connsiteX1" y="connsiteY1"/>
              </a:cxn>
              <a:cxn ang="0">
                <a:pos x="connsiteX2" y="connsiteY2"/>
              </a:cxn>
            </a:cxnLst>
            <a:rect l="l" t="t" r="r" b="b"/>
            <a:pathLst>
              <a:path w="136183" h="166255">
                <a:moveTo>
                  <a:pt x="0" y="0"/>
                </a:moveTo>
                <a:cubicBezTo>
                  <a:pt x="56407" y="9896"/>
                  <a:pt x="112815" y="19792"/>
                  <a:pt x="130628" y="47501"/>
                </a:cubicBezTo>
                <a:cubicBezTo>
                  <a:pt x="148441" y="75210"/>
                  <a:pt x="118753" y="150421"/>
                  <a:pt x="106878" y="166255"/>
                </a:cubicBezTo>
              </a:path>
            </a:pathLst>
          </a:cu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mc:AlternateContent xmlns:mc="http://schemas.openxmlformats.org/markup-compatibility/2006" xmlns:a14="http://schemas.microsoft.com/office/drawing/2010/main">
        <mc:Choice Requires="a14">
          <p:sp>
            <p:nvSpPr>
              <p:cNvPr id="31" name="Rectangle 30"/>
              <p:cNvSpPr/>
              <p:nvPr/>
            </p:nvSpPr>
            <p:spPr>
              <a:xfrm>
                <a:off x="6514235" y="3059668"/>
                <a:ext cx="374140" cy="369332"/>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r>
                        <a:rPr lang="en-IN" i="1">
                          <a:latin typeface="Cambria Math" panose="02040503050406030204" pitchFamily="18" charset="0"/>
                        </a:rPr>
                        <m:t>𝜃</m:t>
                      </m:r>
                    </m:oMath>
                  </m:oMathPara>
                </a14:m>
                <a:endParaRPr lang="en-IN" dirty="0"/>
              </a:p>
            </p:txBody>
          </p:sp>
        </mc:Choice>
        <mc:Fallback xmlns="">
          <p:sp>
            <p:nvSpPr>
              <p:cNvPr id="31" name="Rectangle 30"/>
              <p:cNvSpPr>
                <a:spLocks noRot="1" noChangeAspect="1" noMove="1" noResize="1" noEditPoints="1" noAdjustHandles="1" noChangeArrowheads="1" noChangeShapeType="1" noTextEdit="1"/>
              </p:cNvSpPr>
              <p:nvPr/>
            </p:nvSpPr>
            <p:spPr>
              <a:xfrm>
                <a:off x="6514235" y="3059668"/>
                <a:ext cx="374140" cy="369332"/>
              </a:xfrm>
              <a:prstGeom prst="rect">
                <a:avLst/>
              </a:prstGeom>
              <a:blipFill rotWithShape="0">
                <a:blip r:embed="rId6"/>
                <a:stretch>
                  <a:fillRect/>
                </a:stretch>
              </a:blipFill>
            </p:spPr>
            <p:txBody>
              <a:bodyPr/>
              <a:lstStyle/>
              <a:p>
                <a:r>
                  <a:rPr lang="en-IN">
                    <a:noFill/>
                  </a:rPr>
                  <a:t> </a:t>
                </a:r>
              </a:p>
            </p:txBody>
          </p:sp>
        </mc:Fallback>
      </mc:AlternateContent>
      <p:pic>
        <p:nvPicPr>
          <p:cNvPr id="2052" name="Picture 4" descr="MFG The Tangent Function and Cofunctions"/>
          <p:cNvPicPr>
            <a:picLocks noChangeAspect="1" noChangeArrowheads="1"/>
          </p:cNvPicPr>
          <p:nvPr/>
        </p:nvPicPr>
        <p:blipFill>
          <a:blip r:embed="rId7" cstate="print">
            <a:extLst>
              <a:ext uri="{28A0092B-C50C-407E-A947-70E740481C1C}">
                <a14:useLocalDpi xmlns:a14="http://schemas.microsoft.com/office/drawing/2010/main" val="0"/>
              </a:ext>
            </a:extLst>
          </a:blip>
          <a:srcRect/>
          <a:stretch>
            <a:fillRect/>
          </a:stretch>
        </p:blipFill>
        <p:spPr bwMode="auto">
          <a:xfrm>
            <a:off x="0" y="3463429"/>
            <a:ext cx="4658362" cy="3138675"/>
          </a:xfrm>
          <a:prstGeom prst="rect">
            <a:avLst/>
          </a:prstGeom>
          <a:noFill/>
          <a:extLst>
            <a:ext uri="{909E8E84-426E-40DD-AFC4-6F175D3DCCD1}">
              <a14:hiddenFill xmlns:a14="http://schemas.microsoft.com/office/drawing/2010/main">
                <a:solidFill>
                  <a:srgbClr val="FFFFFF"/>
                </a:solidFill>
              </a14:hiddenFill>
            </a:ext>
          </a:extLst>
        </p:spPr>
      </p:pic>
      <p:sp>
        <p:nvSpPr>
          <p:cNvPr id="26" name="Content Placeholder 2"/>
          <p:cNvSpPr txBox="1">
            <a:spLocks/>
          </p:cNvSpPr>
          <p:nvPr/>
        </p:nvSpPr>
        <p:spPr>
          <a:xfrm>
            <a:off x="152400" y="1219200"/>
            <a:ext cx="9144000" cy="5562600"/>
          </a:xfrm>
          <a:prstGeom prst="rect">
            <a:avLst/>
          </a:prstGeom>
        </p:spPr>
        <p:txBody>
          <a:bodyPr vert="horz" lIns="91440" tIns="45720" rIns="91440" bIns="45720" rtlCol="0">
            <a:normAutofit/>
          </a:bodyPr>
          <a:lstStyle>
            <a:lvl1pPr marL="679450" indent="-342900" algn="l" defTabSz="914400" rtl="0" eaLnBrk="1" latinLnBrk="0" hangingPunct="1">
              <a:spcBef>
                <a:spcPct val="20000"/>
              </a:spcBef>
              <a:buClr>
                <a:srgbClr val="000099"/>
              </a:buClr>
              <a:buSzPct val="120000"/>
              <a:buFont typeface="Times New Roman" pitchFamily="18" charset="0"/>
              <a:buChar char="•"/>
              <a:defRPr sz="3200" kern="1200">
                <a:solidFill>
                  <a:schemeClr val="tx1"/>
                </a:solidFill>
                <a:latin typeface="Times New Roman" pitchFamily="18" charset="0"/>
                <a:ea typeface="+mn-ea"/>
                <a:cs typeface="Times New Roman" pitchFamily="18" charset="0"/>
              </a:defRPr>
            </a:lvl1pPr>
            <a:lvl2pPr marL="971550" indent="-285750" algn="l" defTabSz="914400" rtl="0" eaLnBrk="1" latinLnBrk="0" hangingPunct="1">
              <a:spcBef>
                <a:spcPct val="20000"/>
              </a:spcBef>
              <a:buClr>
                <a:srgbClr val="000099"/>
              </a:buClr>
              <a:buSzPct val="115000"/>
              <a:buFont typeface="Arial" pitchFamily="34" charset="0"/>
              <a:buChar char="–"/>
              <a:defRPr sz="2800" kern="1200">
                <a:solidFill>
                  <a:schemeClr val="tx1"/>
                </a:solidFill>
                <a:latin typeface="Times New Roman" pitchFamily="18" charset="0"/>
                <a:ea typeface="+mn-ea"/>
                <a:cs typeface="Times New Roman" pitchFamily="18" charset="0"/>
              </a:defRPr>
            </a:lvl2pPr>
            <a:lvl3pPr marL="1317625" indent="-228600" algn="l" defTabSz="914400" rtl="0" eaLnBrk="1" latinLnBrk="0" hangingPunct="1">
              <a:spcBef>
                <a:spcPct val="20000"/>
              </a:spcBef>
              <a:buClr>
                <a:srgbClr val="000099"/>
              </a:buClr>
              <a:buSzPct val="120000"/>
              <a:buFont typeface="Arial" pitchFamily="34" charset="0"/>
              <a:buChar char="•"/>
              <a:defRPr sz="2400" kern="1200">
                <a:solidFill>
                  <a:schemeClr val="tx1"/>
                </a:solidFill>
                <a:latin typeface="Times New Roman" pitchFamily="18" charset="0"/>
                <a:ea typeface="+mn-ea"/>
                <a:cs typeface="Times New Roman" pitchFamily="18" charset="0"/>
              </a:defRPr>
            </a:lvl3pPr>
            <a:lvl4pPr marL="1600200" indent="-228600" algn="l" defTabSz="914400" rtl="0" eaLnBrk="1" latinLnBrk="0" hangingPunct="1">
              <a:spcBef>
                <a:spcPct val="20000"/>
              </a:spcBef>
              <a:buClr>
                <a:srgbClr val="000099"/>
              </a:buClr>
              <a:buFont typeface="Arial" pitchFamily="34" charset="0"/>
              <a:buChar char="–"/>
              <a:defRPr sz="2000" kern="1200">
                <a:solidFill>
                  <a:schemeClr val="tx1"/>
                </a:solidFill>
                <a:latin typeface="Times New Roman" pitchFamily="18" charset="0"/>
                <a:ea typeface="+mn-ea"/>
                <a:cs typeface="Times New Roman" pitchFamily="18" charset="0"/>
              </a:defRPr>
            </a:lvl4pPr>
            <a:lvl5pPr marL="1828800" indent="-228600" algn="l" defTabSz="914400" rtl="0" eaLnBrk="1" latinLnBrk="0" hangingPunct="1">
              <a:spcBef>
                <a:spcPct val="20000"/>
              </a:spcBef>
              <a:buClr>
                <a:srgbClr val="000099"/>
              </a:buClr>
              <a:buFont typeface="Arial" pitchFamily="34" charset="0"/>
              <a:buChar char="»"/>
              <a:defRPr sz="2000" kern="1200">
                <a:solidFill>
                  <a:schemeClr val="tx1"/>
                </a:solidFill>
                <a:latin typeface="Times New Roman" pitchFamily="18" charset="0"/>
                <a:ea typeface="+mn-ea"/>
                <a:cs typeface="Times New Roman" pitchFamily="18" charset="0"/>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336550" indent="0">
              <a:buFont typeface="Times New Roman" pitchFamily="18" charset="0"/>
              <a:buNone/>
            </a:pPr>
            <a:endParaRPr lang="en-IN" dirty="0" smtClean="0"/>
          </a:p>
          <a:p>
            <a:pPr marL="336550" indent="0">
              <a:buFont typeface="Times New Roman" pitchFamily="18" charset="0"/>
              <a:buNone/>
            </a:pPr>
            <a:endParaRPr lang="en-IN" dirty="0" smtClean="0"/>
          </a:p>
          <a:p>
            <a:pPr marL="336550" indent="0">
              <a:buFont typeface="Times New Roman" pitchFamily="18" charset="0"/>
              <a:buNone/>
            </a:pPr>
            <a:endParaRPr lang="en-IN" dirty="0" smtClean="0"/>
          </a:p>
          <a:p>
            <a:pPr marL="336550" indent="0">
              <a:buFont typeface="Times New Roman" pitchFamily="18" charset="0"/>
              <a:buNone/>
            </a:pPr>
            <a:endParaRPr lang="en-IN" sz="2400" dirty="0" smtClean="0"/>
          </a:p>
          <a:p>
            <a:pPr marL="336550" indent="0">
              <a:buFont typeface="Times New Roman" pitchFamily="18" charset="0"/>
              <a:buNone/>
            </a:pPr>
            <a:endParaRPr lang="en-IN" dirty="0" smtClean="0"/>
          </a:p>
        </p:txBody>
      </p:sp>
      <p:sp>
        <p:nvSpPr>
          <p:cNvPr id="27" name="TextBox 26"/>
          <p:cNvSpPr txBox="1"/>
          <p:nvPr/>
        </p:nvSpPr>
        <p:spPr>
          <a:xfrm>
            <a:off x="7222134" y="3333690"/>
            <a:ext cx="397866" cy="400110"/>
          </a:xfrm>
          <a:prstGeom prst="rect">
            <a:avLst/>
          </a:prstGeom>
          <a:noFill/>
        </p:spPr>
        <p:txBody>
          <a:bodyPr wrap="none" rtlCol="0">
            <a:spAutoFit/>
          </a:bodyPr>
          <a:lstStyle/>
          <a:p>
            <a:r>
              <a:rPr lang="en-IN" sz="2000" b="1" dirty="0" smtClean="0">
                <a:latin typeface="Times New Roman" panose="02020603050405020304" pitchFamily="18" charset="0"/>
                <a:cs typeface="Times New Roman" panose="02020603050405020304" pitchFamily="18" charset="0"/>
              </a:rPr>
              <a:t>x</a:t>
            </a:r>
            <a:r>
              <a:rPr lang="en-IN" sz="2000" b="1" baseline="-25000" dirty="0" smtClean="0">
                <a:latin typeface="Times New Roman" panose="02020603050405020304" pitchFamily="18" charset="0"/>
                <a:cs typeface="Times New Roman" panose="02020603050405020304" pitchFamily="18" charset="0"/>
              </a:rPr>
              <a:t>1</a:t>
            </a:r>
            <a:endParaRPr lang="en-IN" sz="2000" b="1" baseline="-25000" dirty="0">
              <a:latin typeface="Times New Roman" panose="02020603050405020304" pitchFamily="18" charset="0"/>
              <a:cs typeface="Times New Roman" panose="02020603050405020304" pitchFamily="18" charset="0"/>
            </a:endParaRPr>
          </a:p>
        </p:txBody>
      </p:sp>
      <p:sp>
        <p:nvSpPr>
          <p:cNvPr id="21" name="TextBox 20"/>
          <p:cNvSpPr txBox="1"/>
          <p:nvPr/>
        </p:nvSpPr>
        <p:spPr>
          <a:xfrm flipH="1">
            <a:off x="6472238" y="6600824"/>
            <a:ext cx="2366962" cy="307777"/>
          </a:xfrm>
          <a:prstGeom prst="rect">
            <a:avLst/>
          </a:prstGeom>
          <a:noFill/>
        </p:spPr>
        <p:txBody>
          <a:bodyPr wrap="square" rtlCol="0">
            <a:spAutoFit/>
          </a:bodyPr>
          <a:lstStyle/>
          <a:p>
            <a:r>
              <a:rPr lang="en-US" sz="1400" dirty="0" smtClean="0">
                <a:latin typeface="Times New Roman" panose="02020603050405020304" pitchFamily="18" charset="0"/>
                <a:cs typeface="Times New Roman" panose="02020603050405020304" pitchFamily="18" charset="0"/>
              </a:rPr>
              <a:t>When theta &gt; 90</a:t>
            </a:r>
            <a:endParaRPr lang="en-IN" sz="14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820249509"/>
      </p:ext>
    </p:extLst>
  </p:cSld>
  <p:clrMapOvr>
    <a:masterClrMapping/>
  </p:clrMapOvr>
  <p:timing>
    <p:tnLst>
      <p:par>
        <p:cTn id="1" dur="indefinite" restart="never" nodeType="tmRoot"/>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dirty="0" smtClean="0"/>
              <a:t>Differentiation…</a:t>
            </a:r>
            <a:endParaRPr lang="en-US" dirty="0"/>
          </a:p>
        </p:txBody>
      </p:sp>
      <p:sp>
        <p:nvSpPr>
          <p:cNvPr id="14" name="TextBox 13"/>
          <p:cNvSpPr txBox="1"/>
          <p:nvPr/>
        </p:nvSpPr>
        <p:spPr>
          <a:xfrm>
            <a:off x="0" y="0"/>
            <a:ext cx="4572000" cy="369332"/>
          </a:xfrm>
          <a:prstGeom prst="rect">
            <a:avLst/>
          </a:prstGeom>
          <a:noFill/>
        </p:spPr>
        <p:txBody>
          <a:bodyPr wrap="square" rtlCol="0">
            <a:spAutoFit/>
          </a:bodyPr>
          <a:lstStyle/>
          <a:p>
            <a:pPr algn="r"/>
            <a:r>
              <a:rPr lang="en-US" b="1" dirty="0">
                <a:solidFill>
                  <a:schemeClr val="bg1"/>
                </a:solidFill>
              </a:rPr>
              <a:t>Introduction to Neural Network</a:t>
            </a:r>
          </a:p>
        </p:txBody>
      </p:sp>
      <p:sp>
        <p:nvSpPr>
          <p:cNvPr id="15" name="Date Placeholder 3"/>
          <p:cNvSpPr>
            <a:spLocks noGrp="1"/>
          </p:cNvSpPr>
          <p:nvPr>
            <p:ph type="dt" sz="half" idx="10"/>
          </p:nvPr>
        </p:nvSpPr>
        <p:spPr>
          <a:xfrm>
            <a:off x="0" y="6629400"/>
            <a:ext cx="3048000" cy="228600"/>
          </a:xfrm>
        </p:spPr>
        <p:txBody>
          <a:bodyPr/>
          <a:lstStyle/>
          <a:p>
            <a:fld id="{E7067A60-51C7-4095-BFA9-1CE32DCBA06F}" type="datetime1">
              <a:rPr lang="en-US" smtClean="0"/>
              <a:pPr/>
              <a:t>2/9/2026</a:t>
            </a:fld>
            <a:endParaRPr lang="en-US" dirty="0"/>
          </a:p>
        </p:txBody>
      </p:sp>
      <p:sp>
        <p:nvSpPr>
          <p:cNvPr id="16" name="Slide Number Placeholder 5"/>
          <p:cNvSpPr>
            <a:spLocks noGrp="1"/>
          </p:cNvSpPr>
          <p:nvPr>
            <p:ph type="sldNum" sz="quarter" idx="12"/>
          </p:nvPr>
        </p:nvSpPr>
        <p:spPr>
          <a:xfrm>
            <a:off x="6096000" y="6629400"/>
            <a:ext cx="3048000" cy="228600"/>
          </a:xfrm>
        </p:spPr>
        <p:txBody>
          <a:bodyPr/>
          <a:lstStyle/>
          <a:p>
            <a:r>
              <a:rPr lang="en-US" dirty="0" smtClean="0"/>
              <a:t>12</a:t>
            </a:r>
            <a:endParaRPr lang="en-US" dirty="0"/>
          </a:p>
        </p:txBody>
      </p:sp>
      <p:sp>
        <p:nvSpPr>
          <p:cNvPr id="17" name="Footer Placeholder 4">
            <a:extLst>
              <a:ext uri="{FF2B5EF4-FFF2-40B4-BE49-F238E27FC236}">
                <a16:creationId xmlns:a16="http://schemas.microsoft.com/office/drawing/2014/main" id="{CBB301ED-B8A4-4772-B559-A9E41E7472BD}"/>
              </a:ext>
            </a:extLst>
          </p:cNvPr>
          <p:cNvSpPr>
            <a:spLocks noGrp="1"/>
          </p:cNvSpPr>
          <p:nvPr>
            <p:ph type="ftr" sz="quarter" idx="11"/>
          </p:nvPr>
        </p:nvSpPr>
        <p:spPr>
          <a:xfrm>
            <a:off x="2286000" y="6629400"/>
            <a:ext cx="4136571" cy="228600"/>
          </a:xfrm>
        </p:spPr>
        <p:txBody>
          <a:bodyPr/>
          <a:lstStyle/>
          <a:p>
            <a:r>
              <a:rPr lang="en-US" dirty="0"/>
              <a:t>Dr. Sibarama Panigrahi, Dept. of CSE, NIT Rourkela</a:t>
            </a:r>
          </a:p>
        </p:txBody>
      </p:sp>
      <mc:AlternateContent xmlns:mc="http://schemas.openxmlformats.org/markup-compatibility/2006" xmlns:a14="http://schemas.microsoft.com/office/drawing/2010/main">
        <mc:Choice Requires="a14">
          <p:sp>
            <p:nvSpPr>
              <p:cNvPr id="18" name="Content Placeholder 2"/>
              <p:cNvSpPr>
                <a:spLocks noGrp="1"/>
              </p:cNvSpPr>
              <p:nvPr>
                <p:ph idx="1"/>
              </p:nvPr>
            </p:nvSpPr>
            <p:spPr>
              <a:xfrm>
                <a:off x="0" y="1066800"/>
                <a:ext cx="9144000" cy="5562600"/>
              </a:xfrm>
            </p:spPr>
            <p:txBody>
              <a:bodyPr>
                <a:normAutofit/>
              </a:bodyPr>
              <a:lstStyle/>
              <a:p>
                <a:pPr marL="336550" indent="0">
                  <a:buNone/>
                </a:pPr>
                <a:endParaRPr lang="en-IN" sz="2000" i="1" dirty="0" smtClean="0"/>
              </a:p>
              <a:p>
                <a:pPr marL="336550" indent="0">
                  <a:buNone/>
                </a:pPr>
                <a14:m>
                  <m:oMath xmlns:m="http://schemas.openxmlformats.org/officeDocument/2006/math">
                    <m:r>
                      <a:rPr lang="en-IN" sz="2000" i="1" smtClean="0">
                        <a:latin typeface="Cambria Math" panose="02040503050406030204" pitchFamily="18" charset="0"/>
                      </a:rPr>
                      <m:t>𝜃</m:t>
                    </m:r>
                    <m:r>
                      <a:rPr lang="en-IN" sz="2000" b="0" i="1" smtClean="0">
                        <a:latin typeface="Cambria Math" panose="02040503050406030204" pitchFamily="18" charset="0"/>
                      </a:rPr>
                      <m:t>&gt;</m:t>
                    </m:r>
                    <m:r>
                      <a:rPr lang="en-IN" sz="2000" i="1">
                        <a:latin typeface="Cambria Math" panose="02040503050406030204" pitchFamily="18" charset="0"/>
                      </a:rPr>
                      <m:t>90</m:t>
                    </m:r>
                    <m:r>
                      <a:rPr lang="en-IN" sz="2000" b="0" i="1" smtClean="0">
                        <a:latin typeface="Cambria Math" panose="02040503050406030204" pitchFamily="18" charset="0"/>
                      </a:rPr>
                      <m:t>  </m:t>
                    </m:r>
                    <m:r>
                      <a:rPr lang="en-IN" sz="2000" b="0" i="0" smtClean="0">
                        <a:latin typeface="Cambria Math" panose="02040503050406030204" pitchFamily="18" charset="0"/>
                      </a:rPr>
                      <m:t> </m:t>
                    </m:r>
                    <m:r>
                      <m:rPr>
                        <m:sty m:val="p"/>
                      </m:rPr>
                      <a:rPr lang="en-IN" sz="2000">
                        <a:latin typeface="Cambria Math" panose="02040503050406030204" pitchFamily="18" charset="0"/>
                      </a:rPr>
                      <m:t>tan</m:t>
                    </m:r>
                    <m:r>
                      <a:rPr lang="en-IN" sz="2000" i="1">
                        <a:latin typeface="Cambria Math" panose="02040503050406030204" pitchFamily="18" charset="0"/>
                      </a:rPr>
                      <m:t>(</m:t>
                    </m:r>
                    <m:r>
                      <a:rPr lang="en-IN" sz="2000" i="1">
                        <a:latin typeface="Cambria Math" panose="02040503050406030204" pitchFamily="18" charset="0"/>
                      </a:rPr>
                      <m:t>𝜃</m:t>
                    </m:r>
                    <m:r>
                      <a:rPr lang="en-IN" sz="2000" i="1">
                        <a:latin typeface="Cambria Math" panose="02040503050406030204" pitchFamily="18" charset="0"/>
                      </a:rPr>
                      <m:t>)</m:t>
                    </m:r>
                  </m:oMath>
                </a14:m>
                <a:r>
                  <a:rPr lang="en-IN" sz="2000" dirty="0"/>
                  <a:t>=</a:t>
                </a:r>
                <a:r>
                  <a:rPr lang="en-IN" sz="2000" dirty="0" smtClean="0"/>
                  <a:t> - ve</a:t>
                </a:r>
              </a:p>
              <a:p>
                <a:pPr marL="336550" indent="0">
                  <a:buNone/>
                </a:pPr>
                <a:endParaRPr lang="en-IN" sz="2000" dirty="0" smtClean="0"/>
              </a:p>
              <a:p>
                <a:pPr marL="336550" indent="0">
                  <a:buNone/>
                </a:pPr>
                <a:endParaRPr lang="en-IN" sz="2000" dirty="0" smtClean="0"/>
              </a:p>
              <a:p>
                <a:pPr marL="336550" indent="0">
                  <a:buNone/>
                </a:pPr>
                <a:endParaRPr lang="en-IN" sz="2000" dirty="0" smtClean="0"/>
              </a:p>
              <a:p>
                <a:pPr marL="336550" indent="0">
                  <a:buNone/>
                </a:pPr>
                <a:endParaRPr lang="en-IN" sz="2000" dirty="0" smtClean="0"/>
              </a:p>
              <a:p>
                <a:pPr marL="336550" indent="0">
                  <a:buNone/>
                </a:pPr>
                <a:endParaRPr lang="en-IN" sz="2000" dirty="0" smtClean="0"/>
              </a:p>
            </p:txBody>
          </p:sp>
        </mc:Choice>
        <mc:Fallback xmlns="">
          <p:sp>
            <p:nvSpPr>
              <p:cNvPr id="18" name="Content Placeholder 2"/>
              <p:cNvSpPr>
                <a:spLocks noGrp="1" noRot="1" noChangeAspect="1" noMove="1" noResize="1" noEditPoints="1" noAdjustHandles="1" noChangeArrowheads="1" noChangeShapeType="1" noTextEdit="1"/>
              </p:cNvSpPr>
              <p:nvPr>
                <p:ph idx="1"/>
              </p:nvPr>
            </p:nvSpPr>
            <p:spPr>
              <a:xfrm>
                <a:off x="0" y="1066800"/>
                <a:ext cx="9144000" cy="5562600"/>
              </a:xfrm>
              <a:blipFill rotWithShape="0">
                <a:blip r:embed="rId2"/>
                <a:stretch>
                  <a:fillRect/>
                </a:stretch>
              </a:blipFill>
            </p:spPr>
            <p:txBody>
              <a:bodyPr/>
              <a:lstStyle/>
              <a:p>
                <a:r>
                  <a:rPr lang="en-IN">
                    <a:noFill/>
                  </a:rPr>
                  <a:t> </a:t>
                </a:r>
              </a:p>
            </p:txBody>
          </p:sp>
        </mc:Fallback>
      </mc:AlternateContent>
      <p:graphicFrame>
        <p:nvGraphicFramePr>
          <p:cNvPr id="20" name="Chart 19"/>
          <p:cNvGraphicFramePr/>
          <p:nvPr>
            <p:extLst/>
          </p:nvPr>
        </p:nvGraphicFramePr>
        <p:xfrm>
          <a:off x="3733800" y="990600"/>
          <a:ext cx="5029200" cy="2514600"/>
        </p:xfrm>
        <a:graphic>
          <a:graphicData uri="http://schemas.openxmlformats.org/drawingml/2006/chart">
            <c:chart xmlns:c="http://schemas.openxmlformats.org/drawingml/2006/chart" xmlns:r="http://schemas.openxmlformats.org/officeDocument/2006/relationships" r:id="rId3"/>
          </a:graphicData>
        </a:graphic>
      </p:graphicFrame>
      <p:cxnSp>
        <p:nvCxnSpPr>
          <p:cNvPr id="22" name="Straight Arrow Connector 21"/>
          <p:cNvCxnSpPr/>
          <p:nvPr/>
        </p:nvCxnSpPr>
        <p:spPr>
          <a:xfrm flipV="1">
            <a:off x="3886200" y="990600"/>
            <a:ext cx="0" cy="236220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23" name="Freeform 22"/>
          <p:cNvSpPr/>
          <p:nvPr/>
        </p:nvSpPr>
        <p:spPr>
          <a:xfrm>
            <a:off x="3571875" y="1243013"/>
            <a:ext cx="4772025" cy="1516471"/>
          </a:xfrm>
          <a:custGeom>
            <a:avLst/>
            <a:gdLst>
              <a:gd name="connsiteX0" fmla="*/ 0 w 4772025"/>
              <a:gd name="connsiteY0" fmla="*/ 1271587 h 1516471"/>
              <a:gd name="connsiteX1" fmla="*/ 1200150 w 4772025"/>
              <a:gd name="connsiteY1" fmla="*/ 342900 h 1516471"/>
              <a:gd name="connsiteX2" fmla="*/ 3186113 w 4772025"/>
              <a:gd name="connsiteY2" fmla="*/ 1514475 h 1516471"/>
              <a:gd name="connsiteX3" fmla="*/ 4772025 w 4772025"/>
              <a:gd name="connsiteY3" fmla="*/ 0 h 1516471"/>
            </a:gdLst>
            <a:ahLst/>
            <a:cxnLst>
              <a:cxn ang="0">
                <a:pos x="connsiteX0" y="connsiteY0"/>
              </a:cxn>
              <a:cxn ang="0">
                <a:pos x="connsiteX1" y="connsiteY1"/>
              </a:cxn>
              <a:cxn ang="0">
                <a:pos x="connsiteX2" y="connsiteY2"/>
              </a:cxn>
              <a:cxn ang="0">
                <a:pos x="connsiteX3" y="connsiteY3"/>
              </a:cxn>
            </a:cxnLst>
            <a:rect l="l" t="t" r="r" b="b"/>
            <a:pathLst>
              <a:path w="4772025" h="1516471">
                <a:moveTo>
                  <a:pt x="0" y="1271587"/>
                </a:moveTo>
                <a:cubicBezTo>
                  <a:pt x="334565" y="787003"/>
                  <a:pt x="669131" y="302419"/>
                  <a:pt x="1200150" y="342900"/>
                </a:cubicBezTo>
                <a:cubicBezTo>
                  <a:pt x="1731169" y="383381"/>
                  <a:pt x="2590801" y="1571625"/>
                  <a:pt x="3186113" y="1514475"/>
                </a:cubicBezTo>
                <a:cubicBezTo>
                  <a:pt x="3781425" y="1457325"/>
                  <a:pt x="4495800" y="273844"/>
                  <a:pt x="4772025" y="0"/>
                </a:cubicBezTo>
              </a:path>
            </a:pathLst>
          </a:cu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cxnSp>
        <p:nvCxnSpPr>
          <p:cNvPr id="25" name="Straight Connector 24"/>
          <p:cNvCxnSpPr/>
          <p:nvPr/>
        </p:nvCxnSpPr>
        <p:spPr>
          <a:xfrm>
            <a:off x="5105400" y="1981200"/>
            <a:ext cx="3048000" cy="1668969"/>
          </a:xfrm>
          <a:prstGeom prst="line">
            <a:avLst/>
          </a:prstGeom>
          <a:ln w="38100">
            <a:solidFill>
              <a:schemeClr val="tx1"/>
            </a:solidFill>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42" name="Rectangle 41"/>
              <p:cNvSpPr/>
              <p:nvPr/>
            </p:nvSpPr>
            <p:spPr>
              <a:xfrm rot="16200000">
                <a:off x="3322792" y="1244104"/>
                <a:ext cx="811172" cy="194628"/>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i="1" dirty="0" smtClean="0">
                  <a:solidFill>
                    <a:schemeClr val="tx1"/>
                  </a:solidFill>
                  <a:latin typeface="Cambria Math" panose="02040503050406030204" pitchFamily="18" charset="0"/>
                </a:endParaRPr>
              </a:p>
              <a:p>
                <a:pPr algn="ctr"/>
                <a14:m>
                  <m:oMathPara xmlns:m="http://schemas.openxmlformats.org/officeDocument/2006/math">
                    <m:oMathParaPr>
                      <m:jc m:val="centerGroup"/>
                    </m:oMathParaPr>
                    <m:oMath xmlns:m="http://schemas.openxmlformats.org/officeDocument/2006/math">
                      <m:r>
                        <a:rPr lang="en-IN" sz="1200" i="1" smtClean="0">
                          <a:solidFill>
                            <a:schemeClr val="tx1"/>
                          </a:solidFill>
                          <a:latin typeface="Cambria Math" panose="02040503050406030204" pitchFamily="18" charset="0"/>
                        </a:rPr>
                        <m:t>𝑦</m:t>
                      </m:r>
                      <m:r>
                        <a:rPr lang="en-IN" sz="1200" i="1" smtClean="0">
                          <a:solidFill>
                            <a:schemeClr val="tx1"/>
                          </a:solidFill>
                          <a:latin typeface="Cambria Math" panose="02040503050406030204" pitchFamily="18" charset="0"/>
                        </a:rPr>
                        <m:t>=</m:t>
                      </m:r>
                      <m:r>
                        <a:rPr lang="en-IN" sz="1200" i="1" smtClean="0">
                          <a:solidFill>
                            <a:schemeClr val="tx1"/>
                          </a:solidFill>
                          <a:latin typeface="Cambria Math" panose="02040503050406030204" pitchFamily="18" charset="0"/>
                        </a:rPr>
                        <m:t>𝑓</m:t>
                      </m:r>
                      <m:r>
                        <a:rPr lang="en-IN" sz="1200" i="1" smtClean="0">
                          <a:solidFill>
                            <a:schemeClr val="tx1"/>
                          </a:solidFill>
                          <a:latin typeface="Cambria Math" panose="02040503050406030204" pitchFamily="18" charset="0"/>
                        </a:rPr>
                        <m:t>(</m:t>
                      </m:r>
                      <m:r>
                        <a:rPr lang="en-IN" sz="1200" i="1" smtClean="0">
                          <a:solidFill>
                            <a:schemeClr val="tx1"/>
                          </a:solidFill>
                          <a:latin typeface="Cambria Math" panose="02040503050406030204" pitchFamily="18" charset="0"/>
                        </a:rPr>
                        <m:t>𝑥</m:t>
                      </m:r>
                      <m:r>
                        <a:rPr lang="en-IN" sz="1200" i="1" smtClean="0">
                          <a:solidFill>
                            <a:schemeClr val="tx1"/>
                          </a:solidFill>
                          <a:latin typeface="Cambria Math" panose="02040503050406030204" pitchFamily="18" charset="0"/>
                        </a:rPr>
                        <m:t>)</m:t>
                      </m:r>
                    </m:oMath>
                  </m:oMathPara>
                </a14:m>
                <a:endParaRPr lang="en-IN" sz="1200" dirty="0">
                  <a:solidFill>
                    <a:schemeClr val="tx1"/>
                  </a:solidFill>
                </a:endParaRPr>
              </a:p>
              <a:p>
                <a:pPr algn="ctr"/>
                <a:endParaRPr lang="en-IN" dirty="0"/>
              </a:p>
            </p:txBody>
          </p:sp>
        </mc:Choice>
        <mc:Fallback xmlns="">
          <p:sp>
            <p:nvSpPr>
              <p:cNvPr id="42" name="Rectangle 41"/>
              <p:cNvSpPr>
                <a:spLocks noRot="1" noChangeAspect="1" noMove="1" noResize="1" noEditPoints="1" noAdjustHandles="1" noChangeArrowheads="1" noChangeShapeType="1" noTextEdit="1"/>
              </p:cNvSpPr>
              <p:nvPr/>
            </p:nvSpPr>
            <p:spPr>
              <a:xfrm rot="16200000">
                <a:off x="3322792" y="1244104"/>
                <a:ext cx="811172" cy="194628"/>
              </a:xfrm>
              <a:prstGeom prst="rect">
                <a:avLst/>
              </a:prstGeom>
              <a:blipFill rotWithShape="0">
                <a:blip r:embed="rId4"/>
                <a:stretch>
                  <a:fillRect l="-3125" r="-31250"/>
                </a:stretch>
              </a:blipFill>
              <a:ln>
                <a:noFill/>
              </a:ln>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43" name="Rectangle 42"/>
              <p:cNvSpPr/>
              <p:nvPr/>
            </p:nvSpPr>
            <p:spPr>
              <a:xfrm>
                <a:off x="4800600" y="3455541"/>
                <a:ext cx="811172" cy="194628"/>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i="1" dirty="0" smtClean="0">
                  <a:solidFill>
                    <a:schemeClr val="tx1"/>
                  </a:solidFill>
                  <a:latin typeface="Cambria Math" panose="02040503050406030204" pitchFamily="18" charset="0"/>
                </a:endParaRPr>
              </a:p>
              <a:p>
                <a:pPr algn="ctr"/>
                <a14:m>
                  <m:oMath xmlns:m="http://schemas.openxmlformats.org/officeDocument/2006/math">
                    <m:r>
                      <a:rPr lang="en-IN" sz="2400" b="0" i="1" smtClean="0">
                        <a:solidFill>
                          <a:schemeClr val="tx1"/>
                        </a:solidFill>
                        <a:latin typeface="Cambria Math" panose="02040503050406030204" pitchFamily="18" charset="0"/>
                      </a:rPr>
                      <m:t>𝑥</m:t>
                    </m:r>
                  </m:oMath>
                </a14:m>
                <a:r>
                  <a:rPr lang="en-IN" sz="1400" b="0" dirty="0" smtClean="0">
                    <a:solidFill>
                      <a:schemeClr val="tx1"/>
                    </a:solidFill>
                  </a:rPr>
                  <a:t> </a:t>
                </a:r>
                <a:r>
                  <a:rPr lang="en-IN" sz="1400" b="0" dirty="0" smtClean="0">
                    <a:solidFill>
                      <a:schemeClr val="tx1"/>
                    </a:solidFill>
                    <a:sym typeface="Wingdings" panose="05000000000000000000" pitchFamily="2" charset="2"/>
                  </a:rPr>
                  <a:t></a:t>
                </a:r>
                <a:endParaRPr lang="en-IN" sz="1400" b="0" dirty="0" smtClean="0">
                  <a:solidFill>
                    <a:schemeClr val="tx1"/>
                  </a:solidFill>
                </a:endParaRPr>
              </a:p>
              <a:p>
                <a:pPr algn="ctr"/>
                <a:endParaRPr lang="en-IN" dirty="0"/>
              </a:p>
            </p:txBody>
          </p:sp>
        </mc:Choice>
        <mc:Fallback xmlns="">
          <p:sp>
            <p:nvSpPr>
              <p:cNvPr id="43" name="Rectangle 42"/>
              <p:cNvSpPr>
                <a:spLocks noRot="1" noChangeAspect="1" noMove="1" noResize="1" noEditPoints="1" noAdjustHandles="1" noChangeArrowheads="1" noChangeShapeType="1" noTextEdit="1"/>
              </p:cNvSpPr>
              <p:nvPr/>
            </p:nvSpPr>
            <p:spPr>
              <a:xfrm>
                <a:off x="4800600" y="3455541"/>
                <a:ext cx="811172" cy="194628"/>
              </a:xfrm>
              <a:prstGeom prst="rect">
                <a:avLst/>
              </a:prstGeom>
              <a:blipFill rotWithShape="0">
                <a:blip r:embed="rId5"/>
                <a:stretch>
                  <a:fillRect t="-9375" b="-87500"/>
                </a:stretch>
              </a:blipFill>
              <a:ln>
                <a:noFill/>
              </a:ln>
            </p:spPr>
            <p:txBody>
              <a:bodyPr/>
              <a:lstStyle/>
              <a:p>
                <a:r>
                  <a:rPr lang="en-IN">
                    <a:noFill/>
                  </a:rPr>
                  <a:t> </a:t>
                </a:r>
              </a:p>
            </p:txBody>
          </p:sp>
        </mc:Fallback>
      </mc:AlternateContent>
      <p:sp>
        <p:nvSpPr>
          <p:cNvPr id="30" name="Freeform 29"/>
          <p:cNvSpPr/>
          <p:nvPr/>
        </p:nvSpPr>
        <p:spPr>
          <a:xfrm>
            <a:off x="7467600" y="3276600"/>
            <a:ext cx="395337" cy="112127"/>
          </a:xfrm>
          <a:custGeom>
            <a:avLst/>
            <a:gdLst>
              <a:gd name="connsiteX0" fmla="*/ 0 w 136183"/>
              <a:gd name="connsiteY0" fmla="*/ 0 h 166255"/>
              <a:gd name="connsiteX1" fmla="*/ 130628 w 136183"/>
              <a:gd name="connsiteY1" fmla="*/ 47501 h 166255"/>
              <a:gd name="connsiteX2" fmla="*/ 106878 w 136183"/>
              <a:gd name="connsiteY2" fmla="*/ 166255 h 166255"/>
            </a:gdLst>
            <a:ahLst/>
            <a:cxnLst>
              <a:cxn ang="0">
                <a:pos x="connsiteX0" y="connsiteY0"/>
              </a:cxn>
              <a:cxn ang="0">
                <a:pos x="connsiteX1" y="connsiteY1"/>
              </a:cxn>
              <a:cxn ang="0">
                <a:pos x="connsiteX2" y="connsiteY2"/>
              </a:cxn>
            </a:cxnLst>
            <a:rect l="l" t="t" r="r" b="b"/>
            <a:pathLst>
              <a:path w="136183" h="166255">
                <a:moveTo>
                  <a:pt x="0" y="0"/>
                </a:moveTo>
                <a:cubicBezTo>
                  <a:pt x="56407" y="9896"/>
                  <a:pt x="112815" y="19792"/>
                  <a:pt x="130628" y="47501"/>
                </a:cubicBezTo>
                <a:cubicBezTo>
                  <a:pt x="148441" y="75210"/>
                  <a:pt x="118753" y="150421"/>
                  <a:pt x="106878" y="166255"/>
                </a:cubicBezTo>
              </a:path>
            </a:pathLst>
          </a:cu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mc:AlternateContent xmlns:mc="http://schemas.openxmlformats.org/markup-compatibility/2006" xmlns:a14="http://schemas.microsoft.com/office/drawing/2010/main">
        <mc:Choice Requires="a14">
          <p:sp>
            <p:nvSpPr>
              <p:cNvPr id="31" name="Rectangle 30"/>
              <p:cNvSpPr/>
              <p:nvPr/>
            </p:nvSpPr>
            <p:spPr>
              <a:xfrm>
                <a:off x="7584047" y="2963331"/>
                <a:ext cx="374140" cy="369332"/>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r>
                        <a:rPr lang="en-IN" i="1">
                          <a:latin typeface="Cambria Math" panose="02040503050406030204" pitchFamily="18" charset="0"/>
                        </a:rPr>
                        <m:t>𝜃</m:t>
                      </m:r>
                    </m:oMath>
                  </m:oMathPara>
                </a14:m>
                <a:endParaRPr lang="en-IN" dirty="0"/>
              </a:p>
            </p:txBody>
          </p:sp>
        </mc:Choice>
        <mc:Fallback xmlns="">
          <p:sp>
            <p:nvSpPr>
              <p:cNvPr id="31" name="Rectangle 30"/>
              <p:cNvSpPr>
                <a:spLocks noRot="1" noChangeAspect="1" noMove="1" noResize="1" noEditPoints="1" noAdjustHandles="1" noChangeArrowheads="1" noChangeShapeType="1" noTextEdit="1"/>
              </p:cNvSpPr>
              <p:nvPr/>
            </p:nvSpPr>
            <p:spPr>
              <a:xfrm>
                <a:off x="7584047" y="2963331"/>
                <a:ext cx="374140" cy="369332"/>
              </a:xfrm>
              <a:prstGeom prst="rect">
                <a:avLst/>
              </a:prstGeom>
              <a:blipFill rotWithShape="0">
                <a:blip r:embed="rId6"/>
                <a:stretch>
                  <a:fillRect/>
                </a:stretch>
              </a:blipFill>
            </p:spPr>
            <p:txBody>
              <a:bodyPr/>
              <a:lstStyle/>
              <a:p>
                <a:r>
                  <a:rPr lang="en-IN">
                    <a:noFill/>
                  </a:rPr>
                  <a:t> </a:t>
                </a:r>
              </a:p>
            </p:txBody>
          </p:sp>
        </mc:Fallback>
      </mc:AlternateContent>
      <p:pic>
        <p:nvPicPr>
          <p:cNvPr id="2052" name="Picture 4" descr="MFG The Tangent Function and Cofunctions"/>
          <p:cNvPicPr>
            <a:picLocks noChangeAspect="1" noChangeArrowheads="1"/>
          </p:cNvPicPr>
          <p:nvPr/>
        </p:nvPicPr>
        <p:blipFill>
          <a:blip r:embed="rId7" cstate="print">
            <a:extLst>
              <a:ext uri="{28A0092B-C50C-407E-A947-70E740481C1C}">
                <a14:useLocalDpi xmlns:a14="http://schemas.microsoft.com/office/drawing/2010/main" val="0"/>
              </a:ext>
            </a:extLst>
          </a:blip>
          <a:srcRect/>
          <a:stretch>
            <a:fillRect/>
          </a:stretch>
        </p:blipFill>
        <p:spPr bwMode="auto">
          <a:xfrm>
            <a:off x="0" y="3463429"/>
            <a:ext cx="4572000" cy="3138675"/>
          </a:xfrm>
          <a:prstGeom prst="rect">
            <a:avLst/>
          </a:prstGeom>
          <a:noFill/>
          <a:extLst>
            <a:ext uri="{909E8E84-426E-40DD-AFC4-6F175D3DCCD1}">
              <a14:hiddenFill xmlns:a14="http://schemas.microsoft.com/office/drawing/2010/main">
                <a:solidFill>
                  <a:srgbClr val="FFFFFF"/>
                </a:solidFill>
              </a14:hiddenFill>
            </a:ext>
          </a:extLst>
        </p:spPr>
      </p:pic>
      <p:sp>
        <p:nvSpPr>
          <p:cNvPr id="26" name="Content Placeholder 2"/>
          <p:cNvSpPr txBox="1">
            <a:spLocks/>
          </p:cNvSpPr>
          <p:nvPr/>
        </p:nvSpPr>
        <p:spPr>
          <a:xfrm>
            <a:off x="152400" y="1219200"/>
            <a:ext cx="9144000" cy="5562600"/>
          </a:xfrm>
          <a:prstGeom prst="rect">
            <a:avLst/>
          </a:prstGeom>
        </p:spPr>
        <p:txBody>
          <a:bodyPr vert="horz" lIns="91440" tIns="45720" rIns="91440" bIns="45720" rtlCol="0">
            <a:normAutofit/>
          </a:bodyPr>
          <a:lstStyle>
            <a:lvl1pPr marL="679450" indent="-342900" algn="l" defTabSz="914400" rtl="0" eaLnBrk="1" latinLnBrk="0" hangingPunct="1">
              <a:spcBef>
                <a:spcPct val="20000"/>
              </a:spcBef>
              <a:buClr>
                <a:srgbClr val="000099"/>
              </a:buClr>
              <a:buSzPct val="120000"/>
              <a:buFont typeface="Times New Roman" pitchFamily="18" charset="0"/>
              <a:buChar char="•"/>
              <a:defRPr sz="3200" kern="1200">
                <a:solidFill>
                  <a:schemeClr val="tx1"/>
                </a:solidFill>
                <a:latin typeface="Times New Roman" pitchFamily="18" charset="0"/>
                <a:ea typeface="+mn-ea"/>
                <a:cs typeface="Times New Roman" pitchFamily="18" charset="0"/>
              </a:defRPr>
            </a:lvl1pPr>
            <a:lvl2pPr marL="971550" indent="-285750" algn="l" defTabSz="914400" rtl="0" eaLnBrk="1" latinLnBrk="0" hangingPunct="1">
              <a:spcBef>
                <a:spcPct val="20000"/>
              </a:spcBef>
              <a:buClr>
                <a:srgbClr val="000099"/>
              </a:buClr>
              <a:buSzPct val="115000"/>
              <a:buFont typeface="Arial" pitchFamily="34" charset="0"/>
              <a:buChar char="–"/>
              <a:defRPr sz="2800" kern="1200">
                <a:solidFill>
                  <a:schemeClr val="tx1"/>
                </a:solidFill>
                <a:latin typeface="Times New Roman" pitchFamily="18" charset="0"/>
                <a:ea typeface="+mn-ea"/>
                <a:cs typeface="Times New Roman" pitchFamily="18" charset="0"/>
              </a:defRPr>
            </a:lvl2pPr>
            <a:lvl3pPr marL="1317625" indent="-228600" algn="l" defTabSz="914400" rtl="0" eaLnBrk="1" latinLnBrk="0" hangingPunct="1">
              <a:spcBef>
                <a:spcPct val="20000"/>
              </a:spcBef>
              <a:buClr>
                <a:srgbClr val="000099"/>
              </a:buClr>
              <a:buSzPct val="120000"/>
              <a:buFont typeface="Arial" pitchFamily="34" charset="0"/>
              <a:buChar char="•"/>
              <a:defRPr sz="2400" kern="1200">
                <a:solidFill>
                  <a:schemeClr val="tx1"/>
                </a:solidFill>
                <a:latin typeface="Times New Roman" pitchFamily="18" charset="0"/>
                <a:ea typeface="+mn-ea"/>
                <a:cs typeface="Times New Roman" pitchFamily="18" charset="0"/>
              </a:defRPr>
            </a:lvl3pPr>
            <a:lvl4pPr marL="1600200" indent="-228600" algn="l" defTabSz="914400" rtl="0" eaLnBrk="1" latinLnBrk="0" hangingPunct="1">
              <a:spcBef>
                <a:spcPct val="20000"/>
              </a:spcBef>
              <a:buClr>
                <a:srgbClr val="000099"/>
              </a:buClr>
              <a:buFont typeface="Arial" pitchFamily="34" charset="0"/>
              <a:buChar char="–"/>
              <a:defRPr sz="2000" kern="1200">
                <a:solidFill>
                  <a:schemeClr val="tx1"/>
                </a:solidFill>
                <a:latin typeface="Times New Roman" pitchFamily="18" charset="0"/>
                <a:ea typeface="+mn-ea"/>
                <a:cs typeface="Times New Roman" pitchFamily="18" charset="0"/>
              </a:defRPr>
            </a:lvl4pPr>
            <a:lvl5pPr marL="1828800" indent="-228600" algn="l" defTabSz="914400" rtl="0" eaLnBrk="1" latinLnBrk="0" hangingPunct="1">
              <a:spcBef>
                <a:spcPct val="20000"/>
              </a:spcBef>
              <a:buClr>
                <a:srgbClr val="000099"/>
              </a:buClr>
              <a:buFont typeface="Arial" pitchFamily="34" charset="0"/>
              <a:buChar char="»"/>
              <a:defRPr sz="2000" kern="1200">
                <a:solidFill>
                  <a:schemeClr val="tx1"/>
                </a:solidFill>
                <a:latin typeface="Times New Roman" pitchFamily="18" charset="0"/>
                <a:ea typeface="+mn-ea"/>
                <a:cs typeface="Times New Roman" pitchFamily="18" charset="0"/>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336550" indent="0">
              <a:buFont typeface="Times New Roman" pitchFamily="18" charset="0"/>
              <a:buNone/>
            </a:pPr>
            <a:endParaRPr lang="en-IN" dirty="0" smtClean="0"/>
          </a:p>
          <a:p>
            <a:pPr marL="336550" indent="0">
              <a:buFont typeface="Times New Roman" pitchFamily="18" charset="0"/>
              <a:buNone/>
            </a:pPr>
            <a:endParaRPr lang="en-IN" dirty="0" smtClean="0"/>
          </a:p>
          <a:p>
            <a:pPr marL="336550" indent="0">
              <a:buFont typeface="Times New Roman" pitchFamily="18" charset="0"/>
              <a:buNone/>
            </a:pPr>
            <a:endParaRPr lang="en-IN" dirty="0" smtClean="0"/>
          </a:p>
          <a:p>
            <a:pPr marL="336550" indent="0">
              <a:buFont typeface="Times New Roman" pitchFamily="18" charset="0"/>
              <a:buNone/>
            </a:pPr>
            <a:endParaRPr lang="en-IN" sz="2400" dirty="0" smtClean="0"/>
          </a:p>
          <a:p>
            <a:pPr marL="336550" indent="0">
              <a:buFont typeface="Times New Roman" pitchFamily="18" charset="0"/>
              <a:buNone/>
            </a:pPr>
            <a:endParaRPr lang="en-IN" dirty="0" smtClean="0"/>
          </a:p>
        </p:txBody>
      </p:sp>
      <p:sp>
        <p:nvSpPr>
          <p:cNvPr id="27" name="TextBox 26"/>
          <p:cNvSpPr txBox="1"/>
          <p:nvPr/>
        </p:nvSpPr>
        <p:spPr>
          <a:xfrm>
            <a:off x="5926734" y="3333690"/>
            <a:ext cx="397866" cy="400110"/>
          </a:xfrm>
          <a:prstGeom prst="rect">
            <a:avLst/>
          </a:prstGeom>
          <a:noFill/>
        </p:spPr>
        <p:txBody>
          <a:bodyPr wrap="none" rtlCol="0">
            <a:spAutoFit/>
          </a:bodyPr>
          <a:lstStyle/>
          <a:p>
            <a:r>
              <a:rPr lang="en-IN" sz="2000" b="1" dirty="0" smtClean="0">
                <a:latin typeface="Times New Roman" panose="02020603050405020304" pitchFamily="18" charset="0"/>
                <a:cs typeface="Times New Roman" panose="02020603050405020304" pitchFamily="18" charset="0"/>
              </a:rPr>
              <a:t>x</a:t>
            </a:r>
            <a:r>
              <a:rPr lang="en-IN" sz="2000" b="1" baseline="-25000" dirty="0" smtClean="0">
                <a:latin typeface="Times New Roman" panose="02020603050405020304" pitchFamily="18" charset="0"/>
                <a:cs typeface="Times New Roman" panose="02020603050405020304" pitchFamily="18" charset="0"/>
              </a:rPr>
              <a:t>1</a:t>
            </a:r>
            <a:endParaRPr lang="en-IN" sz="2000" b="1" baseline="-25000" dirty="0">
              <a:latin typeface="Times New Roman" panose="02020603050405020304" pitchFamily="18" charset="0"/>
              <a:cs typeface="Times New Roman" panose="02020603050405020304" pitchFamily="18" charset="0"/>
            </a:endParaRPr>
          </a:p>
        </p:txBody>
      </p:sp>
      <p:cxnSp>
        <p:nvCxnSpPr>
          <p:cNvPr id="28" name="Straight Connector 27"/>
          <p:cNvCxnSpPr/>
          <p:nvPr/>
        </p:nvCxnSpPr>
        <p:spPr>
          <a:xfrm>
            <a:off x="6172200" y="2590800"/>
            <a:ext cx="0" cy="838200"/>
          </a:xfrm>
          <a:prstGeom prst="line">
            <a:avLst/>
          </a:prstGeom>
          <a:ln w="25400">
            <a:solidFill>
              <a:schemeClr val="tx1"/>
            </a:solidFill>
            <a:prstDash val="dash"/>
          </a:ln>
        </p:spPr>
        <p:style>
          <a:lnRef idx="1">
            <a:schemeClr val="accent1"/>
          </a:lnRef>
          <a:fillRef idx="0">
            <a:schemeClr val="accent1"/>
          </a:fillRef>
          <a:effectRef idx="0">
            <a:schemeClr val="accent1"/>
          </a:effectRef>
          <a:fontRef idx="minor">
            <a:schemeClr val="tx1"/>
          </a:fontRef>
        </p:style>
      </p:cxnSp>
      <p:sp>
        <p:nvSpPr>
          <p:cNvPr id="21" name="TextBox 20"/>
          <p:cNvSpPr txBox="1"/>
          <p:nvPr/>
        </p:nvSpPr>
        <p:spPr>
          <a:xfrm flipH="1">
            <a:off x="6472238" y="6600824"/>
            <a:ext cx="2366962" cy="307777"/>
          </a:xfrm>
          <a:prstGeom prst="rect">
            <a:avLst/>
          </a:prstGeom>
          <a:noFill/>
        </p:spPr>
        <p:txBody>
          <a:bodyPr wrap="square" rtlCol="0">
            <a:spAutoFit/>
          </a:bodyPr>
          <a:lstStyle/>
          <a:p>
            <a:r>
              <a:rPr lang="en-US" sz="1400" dirty="0" smtClean="0">
                <a:latin typeface="Times New Roman" panose="02020603050405020304" pitchFamily="18" charset="0"/>
                <a:cs typeface="Times New Roman" panose="02020603050405020304" pitchFamily="18" charset="0"/>
              </a:rPr>
              <a:t>When theta=0</a:t>
            </a:r>
            <a:endParaRPr lang="en-IN" sz="14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06417171"/>
      </p:ext>
    </p:extLst>
  </p:cSld>
  <p:clrMapOvr>
    <a:masterClrMapping/>
  </p:clrMapOvr>
  <p:timing>
    <p:tnLst>
      <p:par>
        <p:cTn id="1" dur="indefinite" restart="never" nodeType="tmRoot"/>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dirty="0" smtClean="0"/>
              <a:t>Differentiation…</a:t>
            </a:r>
            <a:endParaRPr lang="en-US" dirty="0"/>
          </a:p>
        </p:txBody>
      </p:sp>
      <p:sp>
        <p:nvSpPr>
          <p:cNvPr id="14" name="TextBox 13"/>
          <p:cNvSpPr txBox="1"/>
          <p:nvPr/>
        </p:nvSpPr>
        <p:spPr>
          <a:xfrm>
            <a:off x="0" y="0"/>
            <a:ext cx="4572000" cy="369332"/>
          </a:xfrm>
          <a:prstGeom prst="rect">
            <a:avLst/>
          </a:prstGeom>
          <a:noFill/>
        </p:spPr>
        <p:txBody>
          <a:bodyPr wrap="square" rtlCol="0">
            <a:spAutoFit/>
          </a:bodyPr>
          <a:lstStyle/>
          <a:p>
            <a:pPr algn="r"/>
            <a:r>
              <a:rPr lang="en-US" b="1" dirty="0">
                <a:solidFill>
                  <a:schemeClr val="bg1"/>
                </a:solidFill>
              </a:rPr>
              <a:t>Introduction to Neural Network</a:t>
            </a:r>
          </a:p>
        </p:txBody>
      </p:sp>
      <p:sp>
        <p:nvSpPr>
          <p:cNvPr id="15" name="Date Placeholder 3"/>
          <p:cNvSpPr>
            <a:spLocks noGrp="1"/>
          </p:cNvSpPr>
          <p:nvPr>
            <p:ph type="dt" sz="half" idx="10"/>
          </p:nvPr>
        </p:nvSpPr>
        <p:spPr>
          <a:xfrm>
            <a:off x="0" y="6629400"/>
            <a:ext cx="3048000" cy="228600"/>
          </a:xfrm>
        </p:spPr>
        <p:txBody>
          <a:bodyPr/>
          <a:lstStyle/>
          <a:p>
            <a:fld id="{E7067A60-51C7-4095-BFA9-1CE32DCBA06F}" type="datetime1">
              <a:rPr lang="en-US" smtClean="0"/>
              <a:pPr/>
              <a:t>2/9/2026</a:t>
            </a:fld>
            <a:endParaRPr lang="en-US" dirty="0"/>
          </a:p>
        </p:txBody>
      </p:sp>
      <p:sp>
        <p:nvSpPr>
          <p:cNvPr id="16" name="Slide Number Placeholder 5"/>
          <p:cNvSpPr>
            <a:spLocks noGrp="1"/>
          </p:cNvSpPr>
          <p:nvPr>
            <p:ph type="sldNum" sz="quarter" idx="12"/>
          </p:nvPr>
        </p:nvSpPr>
        <p:spPr>
          <a:xfrm>
            <a:off x="6096000" y="6629400"/>
            <a:ext cx="3048000" cy="228600"/>
          </a:xfrm>
        </p:spPr>
        <p:txBody>
          <a:bodyPr/>
          <a:lstStyle/>
          <a:p>
            <a:r>
              <a:rPr lang="en-US" dirty="0" smtClean="0"/>
              <a:t>12</a:t>
            </a:r>
            <a:endParaRPr lang="en-US" dirty="0"/>
          </a:p>
        </p:txBody>
      </p:sp>
      <p:sp>
        <p:nvSpPr>
          <p:cNvPr id="17" name="Footer Placeholder 4">
            <a:extLst>
              <a:ext uri="{FF2B5EF4-FFF2-40B4-BE49-F238E27FC236}">
                <a16:creationId xmlns:a16="http://schemas.microsoft.com/office/drawing/2014/main" id="{CBB301ED-B8A4-4772-B559-A9E41E7472BD}"/>
              </a:ext>
            </a:extLst>
          </p:cNvPr>
          <p:cNvSpPr>
            <a:spLocks noGrp="1"/>
          </p:cNvSpPr>
          <p:nvPr>
            <p:ph type="ftr" sz="quarter" idx="11"/>
          </p:nvPr>
        </p:nvSpPr>
        <p:spPr>
          <a:xfrm>
            <a:off x="2286000" y="6629400"/>
            <a:ext cx="4136571" cy="228600"/>
          </a:xfrm>
        </p:spPr>
        <p:txBody>
          <a:bodyPr/>
          <a:lstStyle/>
          <a:p>
            <a:r>
              <a:rPr lang="en-US" dirty="0"/>
              <a:t>Dr. Sibarama Panigrahi, Dept. of CSE, NIT Rourkela</a:t>
            </a:r>
          </a:p>
        </p:txBody>
      </p:sp>
      <mc:AlternateContent xmlns:mc="http://schemas.openxmlformats.org/markup-compatibility/2006" xmlns:a14="http://schemas.microsoft.com/office/drawing/2010/main">
        <mc:Choice Requires="a14">
          <p:sp>
            <p:nvSpPr>
              <p:cNvPr id="18" name="Content Placeholder 2"/>
              <p:cNvSpPr>
                <a:spLocks noGrp="1"/>
              </p:cNvSpPr>
              <p:nvPr>
                <p:ph idx="1"/>
              </p:nvPr>
            </p:nvSpPr>
            <p:spPr>
              <a:xfrm>
                <a:off x="0" y="1066800"/>
                <a:ext cx="9144000" cy="5562600"/>
              </a:xfrm>
            </p:spPr>
            <p:txBody>
              <a:bodyPr>
                <a:normAutofit/>
              </a:bodyPr>
              <a:lstStyle/>
              <a:p>
                <a:pPr marL="336550" indent="0">
                  <a:buNone/>
                </a:pPr>
                <a:endParaRPr lang="en-IN" sz="2000" i="1" dirty="0" smtClean="0"/>
              </a:p>
              <a:p>
                <a:pPr marL="336550" indent="0">
                  <a:buNone/>
                </a:pPr>
                <a14:m>
                  <m:oMath xmlns:m="http://schemas.openxmlformats.org/officeDocument/2006/math">
                    <m:r>
                      <a:rPr lang="en-IN" sz="2000" i="1" smtClean="0">
                        <a:latin typeface="Cambria Math" panose="02040503050406030204" pitchFamily="18" charset="0"/>
                      </a:rPr>
                      <m:t>𝜃</m:t>
                    </m:r>
                    <m:r>
                      <a:rPr lang="en-IN" sz="2000" b="0" i="1" smtClean="0">
                        <a:latin typeface="Cambria Math" panose="02040503050406030204" pitchFamily="18" charset="0"/>
                      </a:rPr>
                      <m:t>=0  </m:t>
                    </m:r>
                    <m:r>
                      <a:rPr lang="en-IN" sz="2000" b="0" i="0" smtClean="0">
                        <a:latin typeface="Cambria Math" panose="02040503050406030204" pitchFamily="18" charset="0"/>
                      </a:rPr>
                      <m:t> </m:t>
                    </m:r>
                    <m:r>
                      <m:rPr>
                        <m:sty m:val="p"/>
                      </m:rPr>
                      <a:rPr lang="en-IN" sz="2000">
                        <a:latin typeface="Cambria Math" panose="02040503050406030204" pitchFamily="18" charset="0"/>
                      </a:rPr>
                      <m:t>tan</m:t>
                    </m:r>
                    <m:r>
                      <a:rPr lang="en-IN" sz="2000" i="1">
                        <a:latin typeface="Cambria Math" panose="02040503050406030204" pitchFamily="18" charset="0"/>
                      </a:rPr>
                      <m:t>(</m:t>
                    </m:r>
                    <m:r>
                      <a:rPr lang="en-IN" sz="2000" i="1">
                        <a:latin typeface="Cambria Math" panose="02040503050406030204" pitchFamily="18" charset="0"/>
                      </a:rPr>
                      <m:t>𝜃</m:t>
                    </m:r>
                    <m:r>
                      <a:rPr lang="en-IN" sz="2000" i="1">
                        <a:latin typeface="Cambria Math" panose="02040503050406030204" pitchFamily="18" charset="0"/>
                      </a:rPr>
                      <m:t>)</m:t>
                    </m:r>
                  </m:oMath>
                </a14:m>
                <a:r>
                  <a:rPr lang="en-IN" sz="2000" dirty="0"/>
                  <a:t>=</a:t>
                </a:r>
                <a:r>
                  <a:rPr lang="en-IN" sz="2000" dirty="0" smtClean="0"/>
                  <a:t> 0</a:t>
                </a:r>
              </a:p>
              <a:p>
                <a:pPr marL="336550" indent="0">
                  <a:buNone/>
                </a:pPr>
                <a:endParaRPr lang="en-IN" sz="2000" dirty="0" smtClean="0"/>
              </a:p>
              <a:p>
                <a:pPr marL="336550" indent="0">
                  <a:buNone/>
                </a:pPr>
                <a:endParaRPr lang="en-IN" sz="2000" dirty="0" smtClean="0"/>
              </a:p>
              <a:p>
                <a:pPr marL="336550" indent="0">
                  <a:buNone/>
                </a:pPr>
                <a:endParaRPr lang="en-IN" sz="2000" dirty="0" smtClean="0"/>
              </a:p>
              <a:p>
                <a:pPr marL="336550" indent="0">
                  <a:buNone/>
                </a:pPr>
                <a:endParaRPr lang="en-IN" sz="2000" dirty="0" smtClean="0"/>
              </a:p>
              <a:p>
                <a:pPr marL="336550" indent="0">
                  <a:buNone/>
                </a:pPr>
                <a:endParaRPr lang="en-IN" sz="2000" dirty="0" smtClean="0"/>
              </a:p>
            </p:txBody>
          </p:sp>
        </mc:Choice>
        <mc:Fallback xmlns="">
          <p:sp>
            <p:nvSpPr>
              <p:cNvPr id="18" name="Content Placeholder 2"/>
              <p:cNvSpPr>
                <a:spLocks noGrp="1" noRot="1" noChangeAspect="1" noMove="1" noResize="1" noEditPoints="1" noAdjustHandles="1" noChangeArrowheads="1" noChangeShapeType="1" noTextEdit="1"/>
              </p:cNvSpPr>
              <p:nvPr>
                <p:ph idx="1"/>
              </p:nvPr>
            </p:nvSpPr>
            <p:spPr>
              <a:xfrm>
                <a:off x="0" y="1066800"/>
                <a:ext cx="9144000" cy="5562600"/>
              </a:xfrm>
              <a:blipFill rotWithShape="0">
                <a:blip r:embed="rId2"/>
                <a:stretch>
                  <a:fillRect/>
                </a:stretch>
              </a:blipFill>
            </p:spPr>
            <p:txBody>
              <a:bodyPr/>
              <a:lstStyle/>
              <a:p>
                <a:r>
                  <a:rPr lang="en-IN">
                    <a:noFill/>
                  </a:rPr>
                  <a:t> </a:t>
                </a:r>
              </a:p>
            </p:txBody>
          </p:sp>
        </mc:Fallback>
      </mc:AlternateContent>
      <p:graphicFrame>
        <p:nvGraphicFramePr>
          <p:cNvPr id="20" name="Chart 19"/>
          <p:cNvGraphicFramePr/>
          <p:nvPr>
            <p:extLst/>
          </p:nvPr>
        </p:nvGraphicFramePr>
        <p:xfrm>
          <a:off x="3733800" y="990600"/>
          <a:ext cx="5029200" cy="2514600"/>
        </p:xfrm>
        <a:graphic>
          <a:graphicData uri="http://schemas.openxmlformats.org/drawingml/2006/chart">
            <c:chart xmlns:c="http://schemas.openxmlformats.org/drawingml/2006/chart" xmlns:r="http://schemas.openxmlformats.org/officeDocument/2006/relationships" r:id="rId3"/>
          </a:graphicData>
        </a:graphic>
      </p:graphicFrame>
      <p:cxnSp>
        <p:nvCxnSpPr>
          <p:cNvPr id="22" name="Straight Arrow Connector 21"/>
          <p:cNvCxnSpPr/>
          <p:nvPr/>
        </p:nvCxnSpPr>
        <p:spPr>
          <a:xfrm flipV="1">
            <a:off x="3886200" y="990600"/>
            <a:ext cx="0" cy="236220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23" name="Freeform 22"/>
          <p:cNvSpPr/>
          <p:nvPr/>
        </p:nvSpPr>
        <p:spPr>
          <a:xfrm>
            <a:off x="3571875" y="1243013"/>
            <a:ext cx="4772025" cy="1516471"/>
          </a:xfrm>
          <a:custGeom>
            <a:avLst/>
            <a:gdLst>
              <a:gd name="connsiteX0" fmla="*/ 0 w 4772025"/>
              <a:gd name="connsiteY0" fmla="*/ 1271587 h 1516471"/>
              <a:gd name="connsiteX1" fmla="*/ 1200150 w 4772025"/>
              <a:gd name="connsiteY1" fmla="*/ 342900 h 1516471"/>
              <a:gd name="connsiteX2" fmla="*/ 3186113 w 4772025"/>
              <a:gd name="connsiteY2" fmla="*/ 1514475 h 1516471"/>
              <a:gd name="connsiteX3" fmla="*/ 4772025 w 4772025"/>
              <a:gd name="connsiteY3" fmla="*/ 0 h 1516471"/>
            </a:gdLst>
            <a:ahLst/>
            <a:cxnLst>
              <a:cxn ang="0">
                <a:pos x="connsiteX0" y="connsiteY0"/>
              </a:cxn>
              <a:cxn ang="0">
                <a:pos x="connsiteX1" y="connsiteY1"/>
              </a:cxn>
              <a:cxn ang="0">
                <a:pos x="connsiteX2" y="connsiteY2"/>
              </a:cxn>
              <a:cxn ang="0">
                <a:pos x="connsiteX3" y="connsiteY3"/>
              </a:cxn>
            </a:cxnLst>
            <a:rect l="l" t="t" r="r" b="b"/>
            <a:pathLst>
              <a:path w="4772025" h="1516471">
                <a:moveTo>
                  <a:pt x="0" y="1271587"/>
                </a:moveTo>
                <a:cubicBezTo>
                  <a:pt x="334565" y="787003"/>
                  <a:pt x="669131" y="302419"/>
                  <a:pt x="1200150" y="342900"/>
                </a:cubicBezTo>
                <a:cubicBezTo>
                  <a:pt x="1731169" y="383381"/>
                  <a:pt x="2590801" y="1571625"/>
                  <a:pt x="3186113" y="1514475"/>
                </a:cubicBezTo>
                <a:cubicBezTo>
                  <a:pt x="3781425" y="1457325"/>
                  <a:pt x="4495800" y="273844"/>
                  <a:pt x="4772025" y="0"/>
                </a:cubicBezTo>
              </a:path>
            </a:pathLst>
          </a:cu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cxnSp>
        <p:nvCxnSpPr>
          <p:cNvPr id="25" name="Straight Connector 24"/>
          <p:cNvCxnSpPr/>
          <p:nvPr/>
        </p:nvCxnSpPr>
        <p:spPr>
          <a:xfrm>
            <a:off x="4886235" y="2743200"/>
            <a:ext cx="3343365" cy="12919"/>
          </a:xfrm>
          <a:prstGeom prst="line">
            <a:avLst/>
          </a:prstGeom>
          <a:ln w="38100">
            <a:solidFill>
              <a:schemeClr val="tx1"/>
            </a:solidFill>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42" name="Rectangle 41"/>
              <p:cNvSpPr/>
              <p:nvPr/>
            </p:nvSpPr>
            <p:spPr>
              <a:xfrm rot="16200000">
                <a:off x="3322792" y="1244104"/>
                <a:ext cx="811172" cy="194628"/>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i="1" dirty="0" smtClean="0">
                  <a:solidFill>
                    <a:schemeClr val="tx1"/>
                  </a:solidFill>
                  <a:latin typeface="Cambria Math" panose="02040503050406030204" pitchFamily="18" charset="0"/>
                </a:endParaRPr>
              </a:p>
              <a:p>
                <a:pPr algn="ctr"/>
                <a14:m>
                  <m:oMathPara xmlns:m="http://schemas.openxmlformats.org/officeDocument/2006/math">
                    <m:oMathParaPr>
                      <m:jc m:val="centerGroup"/>
                    </m:oMathParaPr>
                    <m:oMath xmlns:m="http://schemas.openxmlformats.org/officeDocument/2006/math">
                      <m:r>
                        <a:rPr lang="en-IN" sz="1200" i="1" smtClean="0">
                          <a:solidFill>
                            <a:schemeClr val="tx1"/>
                          </a:solidFill>
                          <a:latin typeface="Cambria Math" panose="02040503050406030204" pitchFamily="18" charset="0"/>
                        </a:rPr>
                        <m:t>𝑦</m:t>
                      </m:r>
                      <m:r>
                        <a:rPr lang="en-IN" sz="1200" i="1" smtClean="0">
                          <a:solidFill>
                            <a:schemeClr val="tx1"/>
                          </a:solidFill>
                          <a:latin typeface="Cambria Math" panose="02040503050406030204" pitchFamily="18" charset="0"/>
                        </a:rPr>
                        <m:t>=</m:t>
                      </m:r>
                      <m:r>
                        <a:rPr lang="en-IN" sz="1200" i="1" smtClean="0">
                          <a:solidFill>
                            <a:schemeClr val="tx1"/>
                          </a:solidFill>
                          <a:latin typeface="Cambria Math" panose="02040503050406030204" pitchFamily="18" charset="0"/>
                        </a:rPr>
                        <m:t>𝑓</m:t>
                      </m:r>
                      <m:r>
                        <a:rPr lang="en-IN" sz="1200" i="1" smtClean="0">
                          <a:solidFill>
                            <a:schemeClr val="tx1"/>
                          </a:solidFill>
                          <a:latin typeface="Cambria Math" panose="02040503050406030204" pitchFamily="18" charset="0"/>
                        </a:rPr>
                        <m:t>(</m:t>
                      </m:r>
                      <m:r>
                        <a:rPr lang="en-IN" sz="1200" i="1" smtClean="0">
                          <a:solidFill>
                            <a:schemeClr val="tx1"/>
                          </a:solidFill>
                          <a:latin typeface="Cambria Math" panose="02040503050406030204" pitchFamily="18" charset="0"/>
                        </a:rPr>
                        <m:t>𝑥</m:t>
                      </m:r>
                      <m:r>
                        <a:rPr lang="en-IN" sz="1200" i="1" smtClean="0">
                          <a:solidFill>
                            <a:schemeClr val="tx1"/>
                          </a:solidFill>
                          <a:latin typeface="Cambria Math" panose="02040503050406030204" pitchFamily="18" charset="0"/>
                        </a:rPr>
                        <m:t>)</m:t>
                      </m:r>
                    </m:oMath>
                  </m:oMathPara>
                </a14:m>
                <a:endParaRPr lang="en-IN" sz="1200" dirty="0">
                  <a:solidFill>
                    <a:schemeClr val="tx1"/>
                  </a:solidFill>
                </a:endParaRPr>
              </a:p>
              <a:p>
                <a:pPr algn="ctr"/>
                <a:endParaRPr lang="en-IN" dirty="0"/>
              </a:p>
            </p:txBody>
          </p:sp>
        </mc:Choice>
        <mc:Fallback xmlns="">
          <p:sp>
            <p:nvSpPr>
              <p:cNvPr id="42" name="Rectangle 41"/>
              <p:cNvSpPr>
                <a:spLocks noRot="1" noChangeAspect="1" noMove="1" noResize="1" noEditPoints="1" noAdjustHandles="1" noChangeArrowheads="1" noChangeShapeType="1" noTextEdit="1"/>
              </p:cNvSpPr>
              <p:nvPr/>
            </p:nvSpPr>
            <p:spPr>
              <a:xfrm rot="16200000">
                <a:off x="3322792" y="1244104"/>
                <a:ext cx="811172" cy="194628"/>
              </a:xfrm>
              <a:prstGeom prst="rect">
                <a:avLst/>
              </a:prstGeom>
              <a:blipFill rotWithShape="0">
                <a:blip r:embed="rId4"/>
                <a:stretch>
                  <a:fillRect l="-3125" r="-31250"/>
                </a:stretch>
              </a:blipFill>
              <a:ln>
                <a:noFill/>
              </a:ln>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43" name="Rectangle 42"/>
              <p:cNvSpPr/>
              <p:nvPr/>
            </p:nvSpPr>
            <p:spPr>
              <a:xfrm>
                <a:off x="4800600" y="3455541"/>
                <a:ext cx="811172" cy="194628"/>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i="1" dirty="0" smtClean="0">
                  <a:solidFill>
                    <a:schemeClr val="tx1"/>
                  </a:solidFill>
                  <a:latin typeface="Cambria Math" panose="02040503050406030204" pitchFamily="18" charset="0"/>
                </a:endParaRPr>
              </a:p>
              <a:p>
                <a:pPr algn="ctr"/>
                <a14:m>
                  <m:oMath xmlns:m="http://schemas.openxmlformats.org/officeDocument/2006/math">
                    <m:r>
                      <a:rPr lang="en-IN" sz="2400" b="0" i="1" smtClean="0">
                        <a:solidFill>
                          <a:schemeClr val="tx1"/>
                        </a:solidFill>
                        <a:latin typeface="Cambria Math" panose="02040503050406030204" pitchFamily="18" charset="0"/>
                      </a:rPr>
                      <m:t>𝑥</m:t>
                    </m:r>
                  </m:oMath>
                </a14:m>
                <a:r>
                  <a:rPr lang="en-IN" sz="1400" b="0" dirty="0" smtClean="0">
                    <a:solidFill>
                      <a:schemeClr val="tx1"/>
                    </a:solidFill>
                  </a:rPr>
                  <a:t> </a:t>
                </a:r>
                <a:r>
                  <a:rPr lang="en-IN" sz="1400" b="0" dirty="0" smtClean="0">
                    <a:solidFill>
                      <a:schemeClr val="tx1"/>
                    </a:solidFill>
                    <a:sym typeface="Wingdings" panose="05000000000000000000" pitchFamily="2" charset="2"/>
                  </a:rPr>
                  <a:t></a:t>
                </a:r>
                <a:endParaRPr lang="en-IN" sz="1400" b="0" dirty="0" smtClean="0">
                  <a:solidFill>
                    <a:schemeClr val="tx1"/>
                  </a:solidFill>
                </a:endParaRPr>
              </a:p>
              <a:p>
                <a:pPr algn="ctr"/>
                <a:endParaRPr lang="en-IN" dirty="0"/>
              </a:p>
            </p:txBody>
          </p:sp>
        </mc:Choice>
        <mc:Fallback xmlns="">
          <p:sp>
            <p:nvSpPr>
              <p:cNvPr id="43" name="Rectangle 42"/>
              <p:cNvSpPr>
                <a:spLocks noRot="1" noChangeAspect="1" noMove="1" noResize="1" noEditPoints="1" noAdjustHandles="1" noChangeArrowheads="1" noChangeShapeType="1" noTextEdit="1"/>
              </p:cNvSpPr>
              <p:nvPr/>
            </p:nvSpPr>
            <p:spPr>
              <a:xfrm>
                <a:off x="4800600" y="3455541"/>
                <a:ext cx="811172" cy="194628"/>
              </a:xfrm>
              <a:prstGeom prst="rect">
                <a:avLst/>
              </a:prstGeom>
              <a:blipFill rotWithShape="0">
                <a:blip r:embed="rId5"/>
                <a:stretch>
                  <a:fillRect t="-9375" b="-87500"/>
                </a:stretch>
              </a:blipFill>
              <a:ln>
                <a:noFill/>
              </a:ln>
            </p:spPr>
            <p:txBody>
              <a:bodyPr/>
              <a:lstStyle/>
              <a:p>
                <a:r>
                  <a:rPr lang="en-IN">
                    <a:noFill/>
                  </a:rPr>
                  <a:t> </a:t>
                </a:r>
              </a:p>
            </p:txBody>
          </p:sp>
        </mc:Fallback>
      </mc:AlternateContent>
      <p:pic>
        <p:nvPicPr>
          <p:cNvPr id="2052" name="Picture 4" descr="MFG The Tangent Function and Cofunctions"/>
          <p:cNvPicPr>
            <a:picLocks noChangeAspect="1" noChangeArrowheads="1"/>
          </p:cNvPicPr>
          <p:nvPr/>
        </p:nvPicPr>
        <p:blipFill>
          <a:blip r:embed="rId6" cstate="print">
            <a:extLst>
              <a:ext uri="{28A0092B-C50C-407E-A947-70E740481C1C}">
                <a14:useLocalDpi xmlns:a14="http://schemas.microsoft.com/office/drawing/2010/main" val="0"/>
              </a:ext>
            </a:extLst>
          </a:blip>
          <a:srcRect/>
          <a:stretch>
            <a:fillRect/>
          </a:stretch>
        </p:blipFill>
        <p:spPr bwMode="auto">
          <a:xfrm>
            <a:off x="0" y="3463429"/>
            <a:ext cx="4267021" cy="3138675"/>
          </a:xfrm>
          <a:prstGeom prst="rect">
            <a:avLst/>
          </a:prstGeom>
          <a:noFill/>
          <a:extLst>
            <a:ext uri="{909E8E84-426E-40DD-AFC4-6F175D3DCCD1}">
              <a14:hiddenFill xmlns:a14="http://schemas.microsoft.com/office/drawing/2010/main">
                <a:solidFill>
                  <a:srgbClr val="FFFFFF"/>
                </a:solidFill>
              </a14:hiddenFill>
            </a:ext>
          </a:extLst>
        </p:spPr>
      </p:pic>
      <p:sp>
        <p:nvSpPr>
          <p:cNvPr id="26" name="Content Placeholder 2"/>
          <p:cNvSpPr txBox="1">
            <a:spLocks/>
          </p:cNvSpPr>
          <p:nvPr/>
        </p:nvSpPr>
        <p:spPr>
          <a:xfrm>
            <a:off x="152400" y="1219200"/>
            <a:ext cx="9144000" cy="5562600"/>
          </a:xfrm>
          <a:prstGeom prst="rect">
            <a:avLst/>
          </a:prstGeom>
        </p:spPr>
        <p:txBody>
          <a:bodyPr vert="horz" lIns="91440" tIns="45720" rIns="91440" bIns="45720" rtlCol="0">
            <a:normAutofit/>
          </a:bodyPr>
          <a:lstStyle>
            <a:lvl1pPr marL="679450" indent="-342900" algn="l" defTabSz="914400" rtl="0" eaLnBrk="1" latinLnBrk="0" hangingPunct="1">
              <a:spcBef>
                <a:spcPct val="20000"/>
              </a:spcBef>
              <a:buClr>
                <a:srgbClr val="000099"/>
              </a:buClr>
              <a:buSzPct val="120000"/>
              <a:buFont typeface="Times New Roman" pitchFamily="18" charset="0"/>
              <a:buChar char="•"/>
              <a:defRPr sz="3200" kern="1200">
                <a:solidFill>
                  <a:schemeClr val="tx1"/>
                </a:solidFill>
                <a:latin typeface="Times New Roman" pitchFamily="18" charset="0"/>
                <a:ea typeface="+mn-ea"/>
                <a:cs typeface="Times New Roman" pitchFamily="18" charset="0"/>
              </a:defRPr>
            </a:lvl1pPr>
            <a:lvl2pPr marL="971550" indent="-285750" algn="l" defTabSz="914400" rtl="0" eaLnBrk="1" latinLnBrk="0" hangingPunct="1">
              <a:spcBef>
                <a:spcPct val="20000"/>
              </a:spcBef>
              <a:buClr>
                <a:srgbClr val="000099"/>
              </a:buClr>
              <a:buSzPct val="115000"/>
              <a:buFont typeface="Arial" pitchFamily="34" charset="0"/>
              <a:buChar char="–"/>
              <a:defRPr sz="2800" kern="1200">
                <a:solidFill>
                  <a:schemeClr val="tx1"/>
                </a:solidFill>
                <a:latin typeface="Times New Roman" pitchFamily="18" charset="0"/>
                <a:ea typeface="+mn-ea"/>
                <a:cs typeface="Times New Roman" pitchFamily="18" charset="0"/>
              </a:defRPr>
            </a:lvl2pPr>
            <a:lvl3pPr marL="1317625" indent="-228600" algn="l" defTabSz="914400" rtl="0" eaLnBrk="1" latinLnBrk="0" hangingPunct="1">
              <a:spcBef>
                <a:spcPct val="20000"/>
              </a:spcBef>
              <a:buClr>
                <a:srgbClr val="000099"/>
              </a:buClr>
              <a:buSzPct val="120000"/>
              <a:buFont typeface="Arial" pitchFamily="34" charset="0"/>
              <a:buChar char="•"/>
              <a:defRPr sz="2400" kern="1200">
                <a:solidFill>
                  <a:schemeClr val="tx1"/>
                </a:solidFill>
                <a:latin typeface="Times New Roman" pitchFamily="18" charset="0"/>
                <a:ea typeface="+mn-ea"/>
                <a:cs typeface="Times New Roman" pitchFamily="18" charset="0"/>
              </a:defRPr>
            </a:lvl3pPr>
            <a:lvl4pPr marL="1600200" indent="-228600" algn="l" defTabSz="914400" rtl="0" eaLnBrk="1" latinLnBrk="0" hangingPunct="1">
              <a:spcBef>
                <a:spcPct val="20000"/>
              </a:spcBef>
              <a:buClr>
                <a:srgbClr val="000099"/>
              </a:buClr>
              <a:buFont typeface="Arial" pitchFamily="34" charset="0"/>
              <a:buChar char="–"/>
              <a:defRPr sz="2000" kern="1200">
                <a:solidFill>
                  <a:schemeClr val="tx1"/>
                </a:solidFill>
                <a:latin typeface="Times New Roman" pitchFamily="18" charset="0"/>
                <a:ea typeface="+mn-ea"/>
                <a:cs typeface="Times New Roman" pitchFamily="18" charset="0"/>
              </a:defRPr>
            </a:lvl4pPr>
            <a:lvl5pPr marL="1828800" indent="-228600" algn="l" defTabSz="914400" rtl="0" eaLnBrk="1" latinLnBrk="0" hangingPunct="1">
              <a:spcBef>
                <a:spcPct val="20000"/>
              </a:spcBef>
              <a:buClr>
                <a:srgbClr val="000099"/>
              </a:buClr>
              <a:buFont typeface="Arial" pitchFamily="34" charset="0"/>
              <a:buChar char="»"/>
              <a:defRPr sz="2000" kern="1200">
                <a:solidFill>
                  <a:schemeClr val="tx1"/>
                </a:solidFill>
                <a:latin typeface="Times New Roman" pitchFamily="18" charset="0"/>
                <a:ea typeface="+mn-ea"/>
                <a:cs typeface="Times New Roman" pitchFamily="18" charset="0"/>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336550" indent="0">
              <a:buFont typeface="Times New Roman" pitchFamily="18" charset="0"/>
              <a:buNone/>
            </a:pPr>
            <a:endParaRPr lang="en-IN" dirty="0" smtClean="0"/>
          </a:p>
          <a:p>
            <a:pPr marL="336550" indent="0">
              <a:buFont typeface="Times New Roman" pitchFamily="18" charset="0"/>
              <a:buNone/>
            </a:pPr>
            <a:endParaRPr lang="en-IN" dirty="0" smtClean="0"/>
          </a:p>
          <a:p>
            <a:pPr marL="336550" indent="0">
              <a:buFont typeface="Times New Roman" pitchFamily="18" charset="0"/>
              <a:buNone/>
            </a:pPr>
            <a:endParaRPr lang="en-IN" dirty="0" smtClean="0"/>
          </a:p>
          <a:p>
            <a:pPr marL="336550" indent="0">
              <a:buFont typeface="Times New Roman" pitchFamily="18" charset="0"/>
              <a:buNone/>
            </a:pPr>
            <a:endParaRPr lang="en-IN" sz="2400" dirty="0" smtClean="0"/>
          </a:p>
          <a:p>
            <a:pPr marL="336550" indent="0">
              <a:buFont typeface="Times New Roman" pitchFamily="18" charset="0"/>
              <a:buNone/>
            </a:pPr>
            <a:endParaRPr lang="en-IN" dirty="0" smtClean="0"/>
          </a:p>
        </p:txBody>
      </p:sp>
      <p:sp>
        <p:nvSpPr>
          <p:cNvPr id="27" name="TextBox 26"/>
          <p:cNvSpPr txBox="1"/>
          <p:nvPr/>
        </p:nvSpPr>
        <p:spPr>
          <a:xfrm>
            <a:off x="6477000" y="3333690"/>
            <a:ext cx="397866" cy="400110"/>
          </a:xfrm>
          <a:prstGeom prst="rect">
            <a:avLst/>
          </a:prstGeom>
          <a:noFill/>
        </p:spPr>
        <p:txBody>
          <a:bodyPr wrap="none" rtlCol="0">
            <a:spAutoFit/>
          </a:bodyPr>
          <a:lstStyle/>
          <a:p>
            <a:r>
              <a:rPr lang="en-IN" sz="2000" b="1" dirty="0" smtClean="0">
                <a:latin typeface="Times New Roman" panose="02020603050405020304" pitchFamily="18" charset="0"/>
                <a:cs typeface="Times New Roman" panose="02020603050405020304" pitchFamily="18" charset="0"/>
              </a:rPr>
              <a:t>x</a:t>
            </a:r>
            <a:r>
              <a:rPr lang="en-IN" sz="2000" b="1" baseline="-25000" dirty="0" smtClean="0">
                <a:latin typeface="Times New Roman" panose="02020603050405020304" pitchFamily="18" charset="0"/>
                <a:cs typeface="Times New Roman" panose="02020603050405020304" pitchFamily="18" charset="0"/>
              </a:rPr>
              <a:t>1</a:t>
            </a:r>
            <a:endParaRPr lang="en-IN" sz="2000" b="1" baseline="-25000" dirty="0">
              <a:latin typeface="Times New Roman" panose="02020603050405020304" pitchFamily="18" charset="0"/>
              <a:cs typeface="Times New Roman" panose="02020603050405020304" pitchFamily="18" charset="0"/>
            </a:endParaRPr>
          </a:p>
        </p:txBody>
      </p:sp>
      <p:cxnSp>
        <p:nvCxnSpPr>
          <p:cNvPr id="28" name="Straight Connector 27"/>
          <p:cNvCxnSpPr>
            <a:stCxn id="23" idx="2"/>
          </p:cNvCxnSpPr>
          <p:nvPr/>
        </p:nvCxnSpPr>
        <p:spPr>
          <a:xfrm flipH="1">
            <a:off x="6722466" y="2757488"/>
            <a:ext cx="35522" cy="671512"/>
          </a:xfrm>
          <a:prstGeom prst="line">
            <a:avLst/>
          </a:prstGeom>
          <a:ln w="25400">
            <a:solidFill>
              <a:schemeClr val="tx1"/>
            </a:solidFill>
            <a:prstDash val="dash"/>
          </a:ln>
        </p:spPr>
        <p:style>
          <a:lnRef idx="1">
            <a:schemeClr val="accent1"/>
          </a:lnRef>
          <a:fillRef idx="0">
            <a:schemeClr val="accent1"/>
          </a:fillRef>
          <a:effectRef idx="0">
            <a:schemeClr val="accent1"/>
          </a:effectRef>
          <a:fontRef idx="minor">
            <a:schemeClr val="tx1"/>
          </a:fontRef>
        </p:style>
      </p:cxnSp>
      <p:sp>
        <p:nvSpPr>
          <p:cNvPr id="19" name="TextBox 18"/>
          <p:cNvSpPr txBox="1"/>
          <p:nvPr/>
        </p:nvSpPr>
        <p:spPr>
          <a:xfrm flipH="1">
            <a:off x="6472238" y="6600824"/>
            <a:ext cx="2366962" cy="307777"/>
          </a:xfrm>
          <a:prstGeom prst="rect">
            <a:avLst/>
          </a:prstGeom>
          <a:noFill/>
        </p:spPr>
        <p:txBody>
          <a:bodyPr wrap="square" rtlCol="0">
            <a:spAutoFit/>
          </a:bodyPr>
          <a:lstStyle/>
          <a:p>
            <a:r>
              <a:rPr lang="en-US" sz="1400" dirty="0" smtClean="0">
                <a:latin typeface="Times New Roman" panose="02020603050405020304" pitchFamily="18" charset="0"/>
                <a:cs typeface="Times New Roman" panose="02020603050405020304" pitchFamily="18" charset="0"/>
              </a:rPr>
              <a:t>Maxima and Minima</a:t>
            </a:r>
            <a:endParaRPr lang="en-IN" sz="14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978616859"/>
      </p:ext>
    </p:extLst>
  </p:cSld>
  <p:clrMapOvr>
    <a:masterClrMapping/>
  </p:clrMapOvr>
  <p:timing>
    <p:tnLst>
      <p:par>
        <p:cTn id="1" dur="indefinite" restart="never" nodeType="tmRoot"/>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dirty="0" smtClean="0"/>
              <a:t>Differentiation…</a:t>
            </a:r>
            <a:endParaRPr lang="en-US" dirty="0"/>
          </a:p>
        </p:txBody>
      </p:sp>
      <p:sp>
        <p:nvSpPr>
          <p:cNvPr id="14" name="TextBox 13"/>
          <p:cNvSpPr txBox="1"/>
          <p:nvPr/>
        </p:nvSpPr>
        <p:spPr>
          <a:xfrm>
            <a:off x="0" y="0"/>
            <a:ext cx="4572000" cy="369332"/>
          </a:xfrm>
          <a:prstGeom prst="rect">
            <a:avLst/>
          </a:prstGeom>
          <a:noFill/>
        </p:spPr>
        <p:txBody>
          <a:bodyPr wrap="square" rtlCol="0">
            <a:spAutoFit/>
          </a:bodyPr>
          <a:lstStyle/>
          <a:p>
            <a:pPr algn="r"/>
            <a:r>
              <a:rPr lang="en-US" b="1" dirty="0">
                <a:solidFill>
                  <a:schemeClr val="bg1"/>
                </a:solidFill>
              </a:rPr>
              <a:t>Introduction to Neural Network</a:t>
            </a:r>
          </a:p>
        </p:txBody>
      </p:sp>
      <p:sp>
        <p:nvSpPr>
          <p:cNvPr id="15" name="Date Placeholder 3"/>
          <p:cNvSpPr>
            <a:spLocks noGrp="1"/>
          </p:cNvSpPr>
          <p:nvPr>
            <p:ph type="dt" sz="half" idx="10"/>
          </p:nvPr>
        </p:nvSpPr>
        <p:spPr>
          <a:xfrm>
            <a:off x="0" y="6629400"/>
            <a:ext cx="3048000" cy="228600"/>
          </a:xfrm>
        </p:spPr>
        <p:txBody>
          <a:bodyPr/>
          <a:lstStyle/>
          <a:p>
            <a:fld id="{E7067A60-51C7-4095-BFA9-1CE32DCBA06F}" type="datetime1">
              <a:rPr lang="en-US" smtClean="0"/>
              <a:pPr/>
              <a:t>2/9/2026</a:t>
            </a:fld>
            <a:endParaRPr lang="en-US" dirty="0"/>
          </a:p>
        </p:txBody>
      </p:sp>
      <p:sp>
        <p:nvSpPr>
          <p:cNvPr id="16" name="Slide Number Placeholder 5"/>
          <p:cNvSpPr>
            <a:spLocks noGrp="1"/>
          </p:cNvSpPr>
          <p:nvPr>
            <p:ph type="sldNum" sz="quarter" idx="12"/>
          </p:nvPr>
        </p:nvSpPr>
        <p:spPr>
          <a:xfrm>
            <a:off x="6096000" y="6629400"/>
            <a:ext cx="3048000" cy="228600"/>
          </a:xfrm>
        </p:spPr>
        <p:txBody>
          <a:bodyPr/>
          <a:lstStyle/>
          <a:p>
            <a:r>
              <a:rPr lang="en-US" dirty="0" smtClean="0"/>
              <a:t>12</a:t>
            </a:r>
            <a:endParaRPr lang="en-US" dirty="0"/>
          </a:p>
        </p:txBody>
      </p:sp>
      <p:sp>
        <p:nvSpPr>
          <p:cNvPr id="17" name="Footer Placeholder 4">
            <a:extLst>
              <a:ext uri="{FF2B5EF4-FFF2-40B4-BE49-F238E27FC236}">
                <a16:creationId xmlns:a16="http://schemas.microsoft.com/office/drawing/2014/main" id="{CBB301ED-B8A4-4772-B559-A9E41E7472BD}"/>
              </a:ext>
            </a:extLst>
          </p:cNvPr>
          <p:cNvSpPr>
            <a:spLocks noGrp="1"/>
          </p:cNvSpPr>
          <p:nvPr>
            <p:ph type="ftr" sz="quarter" idx="11"/>
          </p:nvPr>
        </p:nvSpPr>
        <p:spPr>
          <a:xfrm>
            <a:off x="2286000" y="6629400"/>
            <a:ext cx="4136571" cy="228600"/>
          </a:xfrm>
        </p:spPr>
        <p:txBody>
          <a:bodyPr/>
          <a:lstStyle/>
          <a:p>
            <a:r>
              <a:rPr lang="en-US" dirty="0"/>
              <a:t>Dr. Sibarama Panigrahi, Dept. of CSE, NIT Rourkela</a:t>
            </a:r>
          </a:p>
        </p:txBody>
      </p:sp>
      <mc:AlternateContent xmlns:mc="http://schemas.openxmlformats.org/markup-compatibility/2006" xmlns:a14="http://schemas.microsoft.com/office/drawing/2010/main">
        <mc:Choice Requires="a14">
          <p:sp>
            <p:nvSpPr>
              <p:cNvPr id="18" name="Content Placeholder 2"/>
              <p:cNvSpPr>
                <a:spLocks noGrp="1"/>
              </p:cNvSpPr>
              <p:nvPr>
                <p:ph idx="1"/>
              </p:nvPr>
            </p:nvSpPr>
            <p:spPr>
              <a:xfrm>
                <a:off x="0" y="1066800"/>
                <a:ext cx="9144000" cy="5562600"/>
              </a:xfrm>
            </p:spPr>
            <p:txBody>
              <a:bodyPr>
                <a:normAutofit/>
              </a:bodyPr>
              <a:lstStyle/>
              <a:p>
                <a:pPr marL="336550" indent="0">
                  <a:buNone/>
                </a:pPr>
                <a:endParaRPr lang="en-IN" sz="2000" i="1" dirty="0" smtClean="0"/>
              </a:p>
              <a:p>
                <a:pPr marL="336550" indent="0">
                  <a:buNone/>
                </a:pPr>
                <a14:m>
                  <m:oMath xmlns:m="http://schemas.openxmlformats.org/officeDocument/2006/math">
                    <m:r>
                      <a:rPr lang="en-IN" sz="2000" i="1" smtClean="0">
                        <a:latin typeface="Cambria Math" panose="02040503050406030204" pitchFamily="18" charset="0"/>
                      </a:rPr>
                      <m:t>𝜃</m:t>
                    </m:r>
                    <m:r>
                      <a:rPr lang="en-IN" sz="2000" b="0" i="1" smtClean="0">
                        <a:latin typeface="Cambria Math" panose="02040503050406030204" pitchFamily="18" charset="0"/>
                      </a:rPr>
                      <m:t>=0  </m:t>
                    </m:r>
                    <m:r>
                      <a:rPr lang="en-IN" sz="2000" b="0" i="0" smtClean="0">
                        <a:latin typeface="Cambria Math" panose="02040503050406030204" pitchFamily="18" charset="0"/>
                      </a:rPr>
                      <m:t> </m:t>
                    </m:r>
                    <m:r>
                      <m:rPr>
                        <m:sty m:val="p"/>
                      </m:rPr>
                      <a:rPr lang="en-IN" sz="2000">
                        <a:latin typeface="Cambria Math" panose="02040503050406030204" pitchFamily="18" charset="0"/>
                      </a:rPr>
                      <m:t>tan</m:t>
                    </m:r>
                    <m:r>
                      <a:rPr lang="en-IN" sz="2000" i="1">
                        <a:latin typeface="Cambria Math" panose="02040503050406030204" pitchFamily="18" charset="0"/>
                      </a:rPr>
                      <m:t>(</m:t>
                    </m:r>
                    <m:r>
                      <a:rPr lang="en-IN" sz="2000" i="1">
                        <a:latin typeface="Cambria Math" panose="02040503050406030204" pitchFamily="18" charset="0"/>
                      </a:rPr>
                      <m:t>𝜃</m:t>
                    </m:r>
                    <m:r>
                      <a:rPr lang="en-IN" sz="2000" i="1">
                        <a:latin typeface="Cambria Math" panose="02040503050406030204" pitchFamily="18" charset="0"/>
                      </a:rPr>
                      <m:t>)</m:t>
                    </m:r>
                  </m:oMath>
                </a14:m>
                <a:r>
                  <a:rPr lang="en-IN" sz="2000" dirty="0"/>
                  <a:t>=</a:t>
                </a:r>
                <a:r>
                  <a:rPr lang="en-IN" sz="2000" dirty="0" smtClean="0"/>
                  <a:t> 0</a:t>
                </a:r>
              </a:p>
              <a:p>
                <a:pPr marL="336550" indent="0">
                  <a:buNone/>
                </a:pPr>
                <a:endParaRPr lang="en-IN" sz="2000" dirty="0" smtClean="0"/>
              </a:p>
              <a:p>
                <a:pPr marL="336550" indent="0">
                  <a:buNone/>
                </a:pPr>
                <a:endParaRPr lang="en-IN" sz="2000" dirty="0" smtClean="0"/>
              </a:p>
              <a:p>
                <a:pPr marL="336550" indent="0">
                  <a:buNone/>
                </a:pPr>
                <a:endParaRPr lang="en-IN" sz="2000" dirty="0" smtClean="0"/>
              </a:p>
              <a:p>
                <a:pPr marL="336550" indent="0">
                  <a:buNone/>
                </a:pPr>
                <a:endParaRPr lang="en-IN" sz="2000" dirty="0" smtClean="0"/>
              </a:p>
              <a:p>
                <a:pPr marL="336550" indent="0">
                  <a:buNone/>
                </a:pPr>
                <a:endParaRPr lang="en-IN" sz="2000" dirty="0" smtClean="0"/>
              </a:p>
            </p:txBody>
          </p:sp>
        </mc:Choice>
        <mc:Fallback xmlns="">
          <p:sp>
            <p:nvSpPr>
              <p:cNvPr id="18" name="Content Placeholder 2"/>
              <p:cNvSpPr>
                <a:spLocks noGrp="1" noRot="1" noChangeAspect="1" noMove="1" noResize="1" noEditPoints="1" noAdjustHandles="1" noChangeArrowheads="1" noChangeShapeType="1" noTextEdit="1"/>
              </p:cNvSpPr>
              <p:nvPr>
                <p:ph idx="1"/>
              </p:nvPr>
            </p:nvSpPr>
            <p:spPr>
              <a:xfrm>
                <a:off x="0" y="1066800"/>
                <a:ext cx="9144000" cy="5562600"/>
              </a:xfrm>
              <a:blipFill rotWithShape="0">
                <a:blip r:embed="rId2"/>
                <a:stretch>
                  <a:fillRect/>
                </a:stretch>
              </a:blipFill>
            </p:spPr>
            <p:txBody>
              <a:bodyPr/>
              <a:lstStyle/>
              <a:p>
                <a:r>
                  <a:rPr lang="en-IN">
                    <a:noFill/>
                  </a:rPr>
                  <a:t> </a:t>
                </a:r>
              </a:p>
            </p:txBody>
          </p:sp>
        </mc:Fallback>
      </mc:AlternateContent>
      <p:graphicFrame>
        <p:nvGraphicFramePr>
          <p:cNvPr id="20" name="Chart 19"/>
          <p:cNvGraphicFramePr/>
          <p:nvPr>
            <p:extLst/>
          </p:nvPr>
        </p:nvGraphicFramePr>
        <p:xfrm>
          <a:off x="3733800" y="990600"/>
          <a:ext cx="5029200" cy="2514600"/>
        </p:xfrm>
        <a:graphic>
          <a:graphicData uri="http://schemas.openxmlformats.org/drawingml/2006/chart">
            <c:chart xmlns:c="http://schemas.openxmlformats.org/drawingml/2006/chart" xmlns:r="http://schemas.openxmlformats.org/officeDocument/2006/relationships" r:id="rId3"/>
          </a:graphicData>
        </a:graphic>
      </p:graphicFrame>
      <p:cxnSp>
        <p:nvCxnSpPr>
          <p:cNvPr id="22" name="Straight Arrow Connector 21"/>
          <p:cNvCxnSpPr/>
          <p:nvPr/>
        </p:nvCxnSpPr>
        <p:spPr>
          <a:xfrm flipV="1">
            <a:off x="3886200" y="990600"/>
            <a:ext cx="0" cy="236220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25" name="Straight Connector 24"/>
          <p:cNvCxnSpPr/>
          <p:nvPr/>
        </p:nvCxnSpPr>
        <p:spPr>
          <a:xfrm>
            <a:off x="4886235" y="2743200"/>
            <a:ext cx="3343365" cy="12919"/>
          </a:xfrm>
          <a:prstGeom prst="line">
            <a:avLst/>
          </a:prstGeom>
          <a:ln w="38100">
            <a:solidFill>
              <a:schemeClr val="tx1"/>
            </a:solidFill>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42" name="Rectangle 41"/>
              <p:cNvSpPr/>
              <p:nvPr/>
            </p:nvSpPr>
            <p:spPr>
              <a:xfrm rot="16200000">
                <a:off x="3322792" y="1244104"/>
                <a:ext cx="811172" cy="194628"/>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i="1" dirty="0" smtClean="0">
                  <a:solidFill>
                    <a:schemeClr val="tx1"/>
                  </a:solidFill>
                  <a:latin typeface="Cambria Math" panose="02040503050406030204" pitchFamily="18" charset="0"/>
                </a:endParaRPr>
              </a:p>
              <a:p>
                <a:pPr algn="ctr"/>
                <a14:m>
                  <m:oMathPara xmlns:m="http://schemas.openxmlformats.org/officeDocument/2006/math">
                    <m:oMathParaPr>
                      <m:jc m:val="centerGroup"/>
                    </m:oMathParaPr>
                    <m:oMath xmlns:m="http://schemas.openxmlformats.org/officeDocument/2006/math">
                      <m:r>
                        <a:rPr lang="en-IN" sz="1200" i="1" smtClean="0">
                          <a:solidFill>
                            <a:schemeClr val="tx1"/>
                          </a:solidFill>
                          <a:latin typeface="Cambria Math" panose="02040503050406030204" pitchFamily="18" charset="0"/>
                        </a:rPr>
                        <m:t>𝑦</m:t>
                      </m:r>
                      <m:r>
                        <a:rPr lang="en-IN" sz="1200" i="1" smtClean="0">
                          <a:solidFill>
                            <a:schemeClr val="tx1"/>
                          </a:solidFill>
                          <a:latin typeface="Cambria Math" panose="02040503050406030204" pitchFamily="18" charset="0"/>
                        </a:rPr>
                        <m:t>=</m:t>
                      </m:r>
                      <m:r>
                        <a:rPr lang="en-IN" sz="1200" i="1" smtClean="0">
                          <a:solidFill>
                            <a:schemeClr val="tx1"/>
                          </a:solidFill>
                          <a:latin typeface="Cambria Math" panose="02040503050406030204" pitchFamily="18" charset="0"/>
                        </a:rPr>
                        <m:t>𝑓</m:t>
                      </m:r>
                      <m:r>
                        <a:rPr lang="en-IN" sz="1200" i="1" smtClean="0">
                          <a:solidFill>
                            <a:schemeClr val="tx1"/>
                          </a:solidFill>
                          <a:latin typeface="Cambria Math" panose="02040503050406030204" pitchFamily="18" charset="0"/>
                        </a:rPr>
                        <m:t>(</m:t>
                      </m:r>
                      <m:r>
                        <a:rPr lang="en-IN" sz="1200" i="1" smtClean="0">
                          <a:solidFill>
                            <a:schemeClr val="tx1"/>
                          </a:solidFill>
                          <a:latin typeface="Cambria Math" panose="02040503050406030204" pitchFamily="18" charset="0"/>
                        </a:rPr>
                        <m:t>𝑥</m:t>
                      </m:r>
                      <m:r>
                        <a:rPr lang="en-IN" sz="1200" i="1" smtClean="0">
                          <a:solidFill>
                            <a:schemeClr val="tx1"/>
                          </a:solidFill>
                          <a:latin typeface="Cambria Math" panose="02040503050406030204" pitchFamily="18" charset="0"/>
                        </a:rPr>
                        <m:t>)</m:t>
                      </m:r>
                    </m:oMath>
                  </m:oMathPara>
                </a14:m>
                <a:endParaRPr lang="en-IN" sz="1200" dirty="0">
                  <a:solidFill>
                    <a:schemeClr val="tx1"/>
                  </a:solidFill>
                </a:endParaRPr>
              </a:p>
              <a:p>
                <a:pPr algn="ctr"/>
                <a:endParaRPr lang="en-IN" dirty="0"/>
              </a:p>
            </p:txBody>
          </p:sp>
        </mc:Choice>
        <mc:Fallback xmlns="">
          <p:sp>
            <p:nvSpPr>
              <p:cNvPr id="42" name="Rectangle 41"/>
              <p:cNvSpPr>
                <a:spLocks noRot="1" noChangeAspect="1" noMove="1" noResize="1" noEditPoints="1" noAdjustHandles="1" noChangeArrowheads="1" noChangeShapeType="1" noTextEdit="1"/>
              </p:cNvSpPr>
              <p:nvPr/>
            </p:nvSpPr>
            <p:spPr>
              <a:xfrm rot="16200000">
                <a:off x="3322792" y="1244104"/>
                <a:ext cx="811172" cy="194628"/>
              </a:xfrm>
              <a:prstGeom prst="rect">
                <a:avLst/>
              </a:prstGeom>
              <a:blipFill rotWithShape="0">
                <a:blip r:embed="rId4"/>
                <a:stretch>
                  <a:fillRect l="-3125" r="-31250"/>
                </a:stretch>
              </a:blipFill>
              <a:ln>
                <a:noFill/>
              </a:ln>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43" name="Rectangle 42"/>
              <p:cNvSpPr/>
              <p:nvPr/>
            </p:nvSpPr>
            <p:spPr>
              <a:xfrm>
                <a:off x="4800600" y="3455541"/>
                <a:ext cx="811172" cy="194628"/>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i="1" dirty="0" smtClean="0">
                  <a:solidFill>
                    <a:schemeClr val="tx1"/>
                  </a:solidFill>
                  <a:latin typeface="Cambria Math" panose="02040503050406030204" pitchFamily="18" charset="0"/>
                </a:endParaRPr>
              </a:p>
              <a:p>
                <a:pPr algn="ctr"/>
                <a14:m>
                  <m:oMath xmlns:m="http://schemas.openxmlformats.org/officeDocument/2006/math">
                    <m:r>
                      <a:rPr lang="en-IN" sz="2400" b="0" i="1" smtClean="0">
                        <a:solidFill>
                          <a:schemeClr val="tx1"/>
                        </a:solidFill>
                        <a:latin typeface="Cambria Math" panose="02040503050406030204" pitchFamily="18" charset="0"/>
                      </a:rPr>
                      <m:t>𝑥</m:t>
                    </m:r>
                  </m:oMath>
                </a14:m>
                <a:r>
                  <a:rPr lang="en-IN" sz="1400" b="0" dirty="0" smtClean="0">
                    <a:solidFill>
                      <a:schemeClr val="tx1"/>
                    </a:solidFill>
                  </a:rPr>
                  <a:t> </a:t>
                </a:r>
                <a:r>
                  <a:rPr lang="en-IN" sz="1400" b="0" dirty="0" smtClean="0">
                    <a:solidFill>
                      <a:schemeClr val="tx1"/>
                    </a:solidFill>
                    <a:sym typeface="Wingdings" panose="05000000000000000000" pitchFamily="2" charset="2"/>
                  </a:rPr>
                  <a:t></a:t>
                </a:r>
                <a:endParaRPr lang="en-IN" sz="1400" b="0" dirty="0" smtClean="0">
                  <a:solidFill>
                    <a:schemeClr val="tx1"/>
                  </a:solidFill>
                </a:endParaRPr>
              </a:p>
              <a:p>
                <a:pPr algn="ctr"/>
                <a:endParaRPr lang="en-IN" dirty="0"/>
              </a:p>
            </p:txBody>
          </p:sp>
        </mc:Choice>
        <mc:Fallback xmlns="">
          <p:sp>
            <p:nvSpPr>
              <p:cNvPr id="43" name="Rectangle 42"/>
              <p:cNvSpPr>
                <a:spLocks noRot="1" noChangeAspect="1" noMove="1" noResize="1" noEditPoints="1" noAdjustHandles="1" noChangeArrowheads="1" noChangeShapeType="1" noTextEdit="1"/>
              </p:cNvSpPr>
              <p:nvPr/>
            </p:nvSpPr>
            <p:spPr>
              <a:xfrm>
                <a:off x="4800600" y="3455541"/>
                <a:ext cx="811172" cy="194628"/>
              </a:xfrm>
              <a:prstGeom prst="rect">
                <a:avLst/>
              </a:prstGeom>
              <a:blipFill rotWithShape="0">
                <a:blip r:embed="rId5"/>
                <a:stretch>
                  <a:fillRect t="-9375" b="-87500"/>
                </a:stretch>
              </a:blipFill>
              <a:ln>
                <a:noFill/>
              </a:ln>
            </p:spPr>
            <p:txBody>
              <a:bodyPr/>
              <a:lstStyle/>
              <a:p>
                <a:r>
                  <a:rPr lang="en-IN">
                    <a:noFill/>
                  </a:rPr>
                  <a:t> </a:t>
                </a:r>
              </a:p>
            </p:txBody>
          </p:sp>
        </mc:Fallback>
      </mc:AlternateContent>
      <p:pic>
        <p:nvPicPr>
          <p:cNvPr id="2052" name="Picture 4" descr="MFG The Tangent Function and Cofunctions"/>
          <p:cNvPicPr>
            <a:picLocks noChangeAspect="1" noChangeArrowheads="1"/>
          </p:cNvPicPr>
          <p:nvPr/>
        </p:nvPicPr>
        <p:blipFill>
          <a:blip r:embed="rId6" cstate="print">
            <a:extLst>
              <a:ext uri="{28A0092B-C50C-407E-A947-70E740481C1C}">
                <a14:useLocalDpi xmlns:a14="http://schemas.microsoft.com/office/drawing/2010/main" val="0"/>
              </a:ext>
            </a:extLst>
          </a:blip>
          <a:srcRect/>
          <a:stretch>
            <a:fillRect/>
          </a:stretch>
        </p:blipFill>
        <p:spPr bwMode="auto">
          <a:xfrm>
            <a:off x="0" y="3463429"/>
            <a:ext cx="4267021" cy="3138675"/>
          </a:xfrm>
          <a:prstGeom prst="rect">
            <a:avLst/>
          </a:prstGeom>
          <a:noFill/>
          <a:extLst>
            <a:ext uri="{909E8E84-426E-40DD-AFC4-6F175D3DCCD1}">
              <a14:hiddenFill xmlns:a14="http://schemas.microsoft.com/office/drawing/2010/main">
                <a:solidFill>
                  <a:srgbClr val="FFFFFF"/>
                </a:solidFill>
              </a14:hiddenFill>
            </a:ext>
          </a:extLst>
        </p:spPr>
      </p:pic>
      <p:sp>
        <p:nvSpPr>
          <p:cNvPr id="26" name="Content Placeholder 2"/>
          <p:cNvSpPr txBox="1">
            <a:spLocks/>
          </p:cNvSpPr>
          <p:nvPr/>
        </p:nvSpPr>
        <p:spPr>
          <a:xfrm>
            <a:off x="152400" y="1219200"/>
            <a:ext cx="9144000" cy="5562600"/>
          </a:xfrm>
          <a:prstGeom prst="rect">
            <a:avLst/>
          </a:prstGeom>
        </p:spPr>
        <p:txBody>
          <a:bodyPr vert="horz" lIns="91440" tIns="45720" rIns="91440" bIns="45720" rtlCol="0">
            <a:normAutofit/>
          </a:bodyPr>
          <a:lstStyle>
            <a:lvl1pPr marL="679450" indent="-342900" algn="l" defTabSz="914400" rtl="0" eaLnBrk="1" latinLnBrk="0" hangingPunct="1">
              <a:spcBef>
                <a:spcPct val="20000"/>
              </a:spcBef>
              <a:buClr>
                <a:srgbClr val="000099"/>
              </a:buClr>
              <a:buSzPct val="120000"/>
              <a:buFont typeface="Times New Roman" pitchFamily="18" charset="0"/>
              <a:buChar char="•"/>
              <a:defRPr sz="3200" kern="1200">
                <a:solidFill>
                  <a:schemeClr val="tx1"/>
                </a:solidFill>
                <a:latin typeface="Times New Roman" pitchFamily="18" charset="0"/>
                <a:ea typeface="+mn-ea"/>
                <a:cs typeface="Times New Roman" pitchFamily="18" charset="0"/>
              </a:defRPr>
            </a:lvl1pPr>
            <a:lvl2pPr marL="971550" indent="-285750" algn="l" defTabSz="914400" rtl="0" eaLnBrk="1" latinLnBrk="0" hangingPunct="1">
              <a:spcBef>
                <a:spcPct val="20000"/>
              </a:spcBef>
              <a:buClr>
                <a:srgbClr val="000099"/>
              </a:buClr>
              <a:buSzPct val="115000"/>
              <a:buFont typeface="Arial" pitchFamily="34" charset="0"/>
              <a:buChar char="–"/>
              <a:defRPr sz="2800" kern="1200">
                <a:solidFill>
                  <a:schemeClr val="tx1"/>
                </a:solidFill>
                <a:latin typeface="Times New Roman" pitchFamily="18" charset="0"/>
                <a:ea typeface="+mn-ea"/>
                <a:cs typeface="Times New Roman" pitchFamily="18" charset="0"/>
              </a:defRPr>
            </a:lvl2pPr>
            <a:lvl3pPr marL="1317625" indent="-228600" algn="l" defTabSz="914400" rtl="0" eaLnBrk="1" latinLnBrk="0" hangingPunct="1">
              <a:spcBef>
                <a:spcPct val="20000"/>
              </a:spcBef>
              <a:buClr>
                <a:srgbClr val="000099"/>
              </a:buClr>
              <a:buSzPct val="120000"/>
              <a:buFont typeface="Arial" pitchFamily="34" charset="0"/>
              <a:buChar char="•"/>
              <a:defRPr sz="2400" kern="1200">
                <a:solidFill>
                  <a:schemeClr val="tx1"/>
                </a:solidFill>
                <a:latin typeface="Times New Roman" pitchFamily="18" charset="0"/>
                <a:ea typeface="+mn-ea"/>
                <a:cs typeface="Times New Roman" pitchFamily="18" charset="0"/>
              </a:defRPr>
            </a:lvl3pPr>
            <a:lvl4pPr marL="1600200" indent="-228600" algn="l" defTabSz="914400" rtl="0" eaLnBrk="1" latinLnBrk="0" hangingPunct="1">
              <a:spcBef>
                <a:spcPct val="20000"/>
              </a:spcBef>
              <a:buClr>
                <a:srgbClr val="000099"/>
              </a:buClr>
              <a:buFont typeface="Arial" pitchFamily="34" charset="0"/>
              <a:buChar char="–"/>
              <a:defRPr sz="2000" kern="1200">
                <a:solidFill>
                  <a:schemeClr val="tx1"/>
                </a:solidFill>
                <a:latin typeface="Times New Roman" pitchFamily="18" charset="0"/>
                <a:ea typeface="+mn-ea"/>
                <a:cs typeface="Times New Roman" pitchFamily="18" charset="0"/>
              </a:defRPr>
            </a:lvl4pPr>
            <a:lvl5pPr marL="1828800" indent="-228600" algn="l" defTabSz="914400" rtl="0" eaLnBrk="1" latinLnBrk="0" hangingPunct="1">
              <a:spcBef>
                <a:spcPct val="20000"/>
              </a:spcBef>
              <a:buClr>
                <a:srgbClr val="000099"/>
              </a:buClr>
              <a:buFont typeface="Arial" pitchFamily="34" charset="0"/>
              <a:buChar char="»"/>
              <a:defRPr sz="2000" kern="1200">
                <a:solidFill>
                  <a:schemeClr val="tx1"/>
                </a:solidFill>
                <a:latin typeface="Times New Roman" pitchFamily="18" charset="0"/>
                <a:ea typeface="+mn-ea"/>
                <a:cs typeface="Times New Roman" pitchFamily="18" charset="0"/>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336550" indent="0">
              <a:buFont typeface="Times New Roman" pitchFamily="18" charset="0"/>
              <a:buNone/>
            </a:pPr>
            <a:endParaRPr lang="en-IN" dirty="0" smtClean="0"/>
          </a:p>
          <a:p>
            <a:pPr marL="336550" indent="0">
              <a:buFont typeface="Times New Roman" pitchFamily="18" charset="0"/>
              <a:buNone/>
            </a:pPr>
            <a:endParaRPr lang="en-IN" dirty="0" smtClean="0"/>
          </a:p>
          <a:p>
            <a:pPr marL="336550" indent="0">
              <a:buFont typeface="Times New Roman" pitchFamily="18" charset="0"/>
              <a:buNone/>
            </a:pPr>
            <a:endParaRPr lang="en-IN" dirty="0" smtClean="0"/>
          </a:p>
          <a:p>
            <a:pPr marL="336550" indent="0">
              <a:buFont typeface="Times New Roman" pitchFamily="18" charset="0"/>
              <a:buNone/>
            </a:pPr>
            <a:endParaRPr lang="en-IN" sz="2400" dirty="0" smtClean="0"/>
          </a:p>
          <a:p>
            <a:pPr marL="336550" indent="0">
              <a:buFont typeface="Times New Roman" pitchFamily="18" charset="0"/>
              <a:buNone/>
            </a:pPr>
            <a:endParaRPr lang="en-IN" dirty="0" smtClean="0"/>
          </a:p>
        </p:txBody>
      </p:sp>
      <p:sp>
        <p:nvSpPr>
          <p:cNvPr id="27" name="TextBox 26"/>
          <p:cNvSpPr txBox="1"/>
          <p:nvPr/>
        </p:nvSpPr>
        <p:spPr>
          <a:xfrm>
            <a:off x="6477000" y="3333690"/>
            <a:ext cx="397866" cy="400110"/>
          </a:xfrm>
          <a:prstGeom prst="rect">
            <a:avLst/>
          </a:prstGeom>
          <a:noFill/>
        </p:spPr>
        <p:txBody>
          <a:bodyPr wrap="none" rtlCol="0">
            <a:spAutoFit/>
          </a:bodyPr>
          <a:lstStyle/>
          <a:p>
            <a:r>
              <a:rPr lang="en-IN" sz="2000" b="1" dirty="0" smtClean="0">
                <a:latin typeface="Times New Roman" panose="02020603050405020304" pitchFamily="18" charset="0"/>
                <a:cs typeface="Times New Roman" panose="02020603050405020304" pitchFamily="18" charset="0"/>
              </a:rPr>
              <a:t>x</a:t>
            </a:r>
            <a:r>
              <a:rPr lang="en-IN" sz="2000" b="1" baseline="-25000" dirty="0" smtClean="0">
                <a:latin typeface="Times New Roman" panose="02020603050405020304" pitchFamily="18" charset="0"/>
                <a:cs typeface="Times New Roman" panose="02020603050405020304" pitchFamily="18" charset="0"/>
              </a:rPr>
              <a:t>1</a:t>
            </a:r>
            <a:endParaRPr lang="en-IN" sz="2000" b="1" baseline="-25000" dirty="0">
              <a:latin typeface="Times New Roman" panose="02020603050405020304" pitchFamily="18" charset="0"/>
              <a:cs typeface="Times New Roman" panose="02020603050405020304" pitchFamily="18" charset="0"/>
            </a:endParaRPr>
          </a:p>
        </p:txBody>
      </p:sp>
      <p:cxnSp>
        <p:nvCxnSpPr>
          <p:cNvPr id="28" name="Straight Connector 27"/>
          <p:cNvCxnSpPr/>
          <p:nvPr/>
        </p:nvCxnSpPr>
        <p:spPr>
          <a:xfrm>
            <a:off x="6681674" y="2757458"/>
            <a:ext cx="40792" cy="671542"/>
          </a:xfrm>
          <a:prstGeom prst="line">
            <a:avLst/>
          </a:prstGeom>
          <a:ln w="25400">
            <a:solidFill>
              <a:schemeClr val="tx1"/>
            </a:solidFill>
            <a:prstDash val="dash"/>
          </a:ln>
        </p:spPr>
        <p:style>
          <a:lnRef idx="1">
            <a:schemeClr val="accent1"/>
          </a:lnRef>
          <a:fillRef idx="0">
            <a:schemeClr val="accent1"/>
          </a:fillRef>
          <a:effectRef idx="0">
            <a:schemeClr val="accent1"/>
          </a:effectRef>
          <a:fontRef idx="minor">
            <a:schemeClr val="tx1"/>
          </a:fontRef>
        </p:style>
      </p:cxnSp>
      <p:cxnSp>
        <p:nvCxnSpPr>
          <p:cNvPr id="19" name="Straight Connector 18"/>
          <p:cNvCxnSpPr/>
          <p:nvPr/>
        </p:nvCxnSpPr>
        <p:spPr>
          <a:xfrm>
            <a:off x="3124200" y="1551296"/>
            <a:ext cx="3343365" cy="12919"/>
          </a:xfrm>
          <a:prstGeom prst="line">
            <a:avLst/>
          </a:prstGeom>
          <a:ln w="38100">
            <a:solidFill>
              <a:schemeClr val="tx1"/>
            </a:solidFill>
          </a:ln>
        </p:spPr>
        <p:style>
          <a:lnRef idx="1">
            <a:schemeClr val="accent1"/>
          </a:lnRef>
          <a:fillRef idx="0">
            <a:schemeClr val="accent1"/>
          </a:fillRef>
          <a:effectRef idx="0">
            <a:schemeClr val="accent1"/>
          </a:effectRef>
          <a:fontRef idx="minor">
            <a:schemeClr val="tx1"/>
          </a:fontRef>
        </p:style>
      </p:cxnSp>
      <p:sp>
        <p:nvSpPr>
          <p:cNvPr id="3" name="Rectangular Callout 2"/>
          <p:cNvSpPr/>
          <p:nvPr/>
        </p:nvSpPr>
        <p:spPr>
          <a:xfrm>
            <a:off x="7086600" y="3733800"/>
            <a:ext cx="1447800" cy="990600"/>
          </a:xfrm>
          <a:prstGeom prst="wedgeRectCallout">
            <a:avLst>
              <a:gd name="adj1" fmla="val -72679"/>
              <a:gd name="adj2" fmla="val -148292"/>
            </a:avLst>
          </a:prstGeom>
          <a:solidFill>
            <a:schemeClr val="bg1">
              <a:lumMod val="95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N" b="1" dirty="0" smtClean="0">
                <a:solidFill>
                  <a:schemeClr val="tx1"/>
                </a:solidFill>
                <a:latin typeface="Times New Roman" panose="02020603050405020304" pitchFamily="18" charset="0"/>
                <a:cs typeface="Times New Roman" panose="02020603050405020304" pitchFamily="18" charset="0"/>
              </a:rPr>
              <a:t>Minima</a:t>
            </a:r>
            <a:endParaRPr lang="en-IN" b="1" dirty="0">
              <a:solidFill>
                <a:schemeClr val="tx1"/>
              </a:solidFill>
              <a:latin typeface="Times New Roman" panose="02020603050405020304" pitchFamily="18" charset="0"/>
              <a:cs typeface="Times New Roman" panose="02020603050405020304" pitchFamily="18" charset="0"/>
            </a:endParaRPr>
          </a:p>
        </p:txBody>
      </p:sp>
      <p:sp>
        <p:nvSpPr>
          <p:cNvPr id="21" name="Rectangular Callout 20"/>
          <p:cNvSpPr/>
          <p:nvPr/>
        </p:nvSpPr>
        <p:spPr>
          <a:xfrm>
            <a:off x="1390490" y="2362717"/>
            <a:ext cx="1447800" cy="941696"/>
          </a:xfrm>
          <a:prstGeom prst="wedgeRectCallout">
            <a:avLst>
              <a:gd name="adj1" fmla="val 155444"/>
              <a:gd name="adj2" fmla="val -130901"/>
            </a:avLst>
          </a:prstGeom>
          <a:solidFill>
            <a:schemeClr val="bg1">
              <a:lumMod val="95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N" b="1" dirty="0" smtClean="0">
                <a:solidFill>
                  <a:schemeClr val="tx1"/>
                </a:solidFill>
                <a:latin typeface="Times New Roman" panose="02020603050405020304" pitchFamily="18" charset="0"/>
                <a:cs typeface="Times New Roman" panose="02020603050405020304" pitchFamily="18" charset="0"/>
              </a:rPr>
              <a:t>Maxima</a:t>
            </a:r>
            <a:endParaRPr lang="en-IN" b="1" dirty="0">
              <a:solidFill>
                <a:schemeClr val="tx1"/>
              </a:solidFill>
              <a:latin typeface="Times New Roman" panose="02020603050405020304" pitchFamily="18" charset="0"/>
              <a:cs typeface="Times New Roman" panose="02020603050405020304" pitchFamily="18" charset="0"/>
            </a:endParaRPr>
          </a:p>
        </p:txBody>
      </p:sp>
      <mc:AlternateContent xmlns:mc="http://schemas.openxmlformats.org/markup-compatibility/2006" xmlns:a14="http://schemas.microsoft.com/office/drawing/2010/main">
        <mc:Choice Requires="a14">
          <p:sp>
            <p:nvSpPr>
              <p:cNvPr id="4" name="TextBox 3"/>
              <p:cNvSpPr txBox="1"/>
              <p:nvPr/>
            </p:nvSpPr>
            <p:spPr>
              <a:xfrm>
                <a:off x="4886235" y="5032766"/>
                <a:ext cx="3876765" cy="849207"/>
              </a:xfrm>
              <a:prstGeom prst="rect">
                <a:avLst/>
              </a:prstGeom>
              <a:noFill/>
            </p:spPr>
            <p:txBody>
              <a:bodyPr wrap="square" rtlCol="0">
                <a:spAutoFit/>
              </a:bodyPr>
              <a:lstStyle/>
              <a:p>
                <a:r>
                  <a:rPr lang="en-IN" sz="2000" b="1" dirty="0" smtClean="0">
                    <a:latin typeface="Times New Roman" panose="02020603050405020304" pitchFamily="18" charset="0"/>
                    <a:cs typeface="Times New Roman" panose="02020603050405020304" pitchFamily="18" charset="0"/>
                  </a:rPr>
                  <a:t>Note:</a:t>
                </a:r>
                <a:r>
                  <a:rPr lang="en-IN" sz="2000" dirty="0" smtClean="0">
                    <a:latin typeface="Times New Roman" panose="02020603050405020304" pitchFamily="18" charset="0"/>
                    <a:cs typeface="Times New Roman" panose="02020603050405020304" pitchFamily="18" charset="0"/>
                  </a:rPr>
                  <a:t> At minima and Maxima the Slope is 0 </a:t>
                </a:r>
                <a:r>
                  <a:rPr lang="en-IN" sz="2000" dirty="0" smtClean="0">
                    <a:latin typeface="Times New Roman" panose="02020603050405020304" pitchFamily="18" charset="0"/>
                    <a:cs typeface="Times New Roman" panose="02020603050405020304" pitchFamily="18" charset="0"/>
                    <a:sym typeface="Wingdings" panose="05000000000000000000" pitchFamily="2" charset="2"/>
                  </a:rPr>
                  <a:t> tan(</a:t>
                </a:r>
                <a14:m>
                  <m:oMath xmlns:m="http://schemas.openxmlformats.org/officeDocument/2006/math">
                    <m:r>
                      <a:rPr lang="en-IN" sz="2000" i="1">
                        <a:latin typeface="Cambria Math" panose="02040503050406030204" pitchFamily="18" charset="0"/>
                      </a:rPr>
                      <m:t>𝜃</m:t>
                    </m:r>
                  </m:oMath>
                </a14:m>
                <a:r>
                  <a:rPr lang="en-IN" sz="2000" dirty="0" smtClean="0">
                    <a:latin typeface="Times New Roman" panose="02020603050405020304" pitchFamily="18" charset="0"/>
                    <a:cs typeface="Times New Roman" panose="02020603050405020304" pitchFamily="18" charset="0"/>
                    <a:sym typeface="Wingdings" panose="05000000000000000000" pitchFamily="2" charset="2"/>
                  </a:rPr>
                  <a:t>)=0  </a:t>
                </a:r>
                <a14:m>
                  <m:oMath xmlns:m="http://schemas.openxmlformats.org/officeDocument/2006/math">
                    <m:f>
                      <m:fPr>
                        <m:ctrlPr>
                          <a:rPr lang="en-IN" sz="2000" i="1">
                            <a:latin typeface="Cambria Math" panose="02040503050406030204" pitchFamily="18" charset="0"/>
                          </a:rPr>
                        </m:ctrlPr>
                      </m:fPr>
                      <m:num>
                        <m:r>
                          <a:rPr lang="en-IN" sz="2000" i="1">
                            <a:latin typeface="Cambria Math" panose="02040503050406030204" pitchFamily="18" charset="0"/>
                          </a:rPr>
                          <m:t>𝑑𝑦</m:t>
                        </m:r>
                      </m:num>
                      <m:den>
                        <m:r>
                          <a:rPr lang="en-IN" sz="2000" i="1">
                            <a:latin typeface="Cambria Math" panose="02040503050406030204" pitchFamily="18" charset="0"/>
                          </a:rPr>
                          <m:t>𝑑𝑥</m:t>
                        </m:r>
                      </m:den>
                    </m:f>
                  </m:oMath>
                </a14:m>
                <a:r>
                  <a:rPr lang="en-IN" sz="2000" dirty="0" smtClean="0">
                    <a:latin typeface="Times New Roman" panose="02020603050405020304" pitchFamily="18" charset="0"/>
                    <a:cs typeface="Times New Roman" panose="02020603050405020304" pitchFamily="18" charset="0"/>
                  </a:rPr>
                  <a:t> = 0</a:t>
                </a:r>
                <a:endParaRPr lang="en-IN" sz="2000" dirty="0">
                  <a:latin typeface="Times New Roman" panose="02020603050405020304" pitchFamily="18" charset="0"/>
                  <a:cs typeface="Times New Roman" panose="02020603050405020304" pitchFamily="18" charset="0"/>
                </a:endParaRPr>
              </a:p>
            </p:txBody>
          </p:sp>
        </mc:Choice>
        <mc:Fallback xmlns="">
          <p:sp>
            <p:nvSpPr>
              <p:cNvPr id="4" name="TextBox 3"/>
              <p:cNvSpPr txBox="1">
                <a:spLocks noRot="1" noChangeAspect="1" noMove="1" noResize="1" noEditPoints="1" noAdjustHandles="1" noChangeArrowheads="1" noChangeShapeType="1" noTextEdit="1"/>
              </p:cNvSpPr>
              <p:nvPr/>
            </p:nvSpPr>
            <p:spPr>
              <a:xfrm>
                <a:off x="4886235" y="5032766"/>
                <a:ext cx="3876765" cy="849207"/>
              </a:xfrm>
              <a:prstGeom prst="rect">
                <a:avLst/>
              </a:prstGeom>
              <a:blipFill rotWithShape="0">
                <a:blip r:embed="rId7"/>
                <a:stretch>
                  <a:fillRect l="-1730" t="-4317" b="-4317"/>
                </a:stretch>
              </a:blipFill>
            </p:spPr>
            <p:txBody>
              <a:bodyPr/>
              <a:lstStyle/>
              <a:p>
                <a:r>
                  <a:rPr lang="en-IN">
                    <a:noFill/>
                  </a:rPr>
                  <a:t> </a:t>
                </a:r>
              </a:p>
            </p:txBody>
          </p:sp>
        </mc:Fallback>
      </mc:AlternateContent>
      <p:sp>
        <p:nvSpPr>
          <p:cNvPr id="6" name="Freeform 5"/>
          <p:cNvSpPr/>
          <p:nvPr/>
        </p:nvSpPr>
        <p:spPr>
          <a:xfrm>
            <a:off x="3714750" y="1570315"/>
            <a:ext cx="4100513" cy="1204727"/>
          </a:xfrm>
          <a:custGeom>
            <a:avLst/>
            <a:gdLst>
              <a:gd name="connsiteX0" fmla="*/ 0 w 4100513"/>
              <a:gd name="connsiteY0" fmla="*/ 1015723 h 1204727"/>
              <a:gd name="connsiteX1" fmla="*/ 1085850 w 4100513"/>
              <a:gd name="connsiteY1" fmla="*/ 1310 h 1204727"/>
              <a:gd name="connsiteX2" fmla="*/ 2957513 w 4100513"/>
              <a:gd name="connsiteY2" fmla="*/ 1201460 h 1204727"/>
              <a:gd name="connsiteX3" fmla="*/ 4100513 w 4100513"/>
              <a:gd name="connsiteY3" fmla="*/ 287060 h 1204727"/>
            </a:gdLst>
            <a:ahLst/>
            <a:cxnLst>
              <a:cxn ang="0">
                <a:pos x="connsiteX0" y="connsiteY0"/>
              </a:cxn>
              <a:cxn ang="0">
                <a:pos x="connsiteX1" y="connsiteY1"/>
              </a:cxn>
              <a:cxn ang="0">
                <a:pos x="connsiteX2" y="connsiteY2"/>
              </a:cxn>
              <a:cxn ang="0">
                <a:pos x="connsiteX3" y="connsiteY3"/>
              </a:cxn>
            </a:cxnLst>
            <a:rect l="l" t="t" r="r" b="b"/>
            <a:pathLst>
              <a:path w="4100513" h="1204727">
                <a:moveTo>
                  <a:pt x="0" y="1015723"/>
                </a:moveTo>
                <a:cubicBezTo>
                  <a:pt x="296465" y="493038"/>
                  <a:pt x="592931" y="-29646"/>
                  <a:pt x="1085850" y="1310"/>
                </a:cubicBezTo>
                <a:cubicBezTo>
                  <a:pt x="1578769" y="32266"/>
                  <a:pt x="2455069" y="1153835"/>
                  <a:pt x="2957513" y="1201460"/>
                </a:cubicBezTo>
                <a:cubicBezTo>
                  <a:pt x="3459957" y="1249085"/>
                  <a:pt x="3780235" y="768072"/>
                  <a:pt x="4100513" y="287060"/>
                </a:cubicBezTo>
              </a:path>
            </a:pathLst>
          </a:cu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23" name="TextBox 22"/>
          <p:cNvSpPr txBox="1"/>
          <p:nvPr/>
        </p:nvSpPr>
        <p:spPr>
          <a:xfrm flipH="1">
            <a:off x="6472238" y="6600824"/>
            <a:ext cx="2671762" cy="307777"/>
          </a:xfrm>
          <a:prstGeom prst="rect">
            <a:avLst/>
          </a:prstGeom>
          <a:noFill/>
        </p:spPr>
        <p:txBody>
          <a:bodyPr wrap="square" rtlCol="0">
            <a:spAutoFit/>
          </a:bodyPr>
          <a:lstStyle/>
          <a:p>
            <a:r>
              <a:rPr lang="en-US" sz="1400" dirty="0" smtClean="0">
                <a:latin typeface="Times New Roman" panose="02020603050405020304" pitchFamily="18" charset="0"/>
                <a:cs typeface="Times New Roman" panose="02020603050405020304" pitchFamily="18" charset="0"/>
              </a:rPr>
              <a:t>Distinguishing b/w maxi &amp; Mini</a:t>
            </a:r>
            <a:endParaRPr lang="en-IN" sz="14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53667179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nodeType="clickEffect">
                                  <p:stCondLst>
                                    <p:cond delay="0"/>
                                  </p:stCondLst>
                                  <p:childTnLst>
                                    <p:set>
                                      <p:cBhvr>
                                        <p:cTn id="6" dur="1" fill="hold">
                                          <p:stCondLst>
                                            <p:cond delay="0"/>
                                          </p:stCondLst>
                                        </p:cTn>
                                        <p:tgtEl>
                                          <p:spTgt spid="4">
                                            <p:txEl>
                                              <p:pRg st="0" end="0"/>
                                            </p:txEl>
                                          </p:spTgt>
                                        </p:tgtEl>
                                        <p:attrNameLst>
                                          <p:attrName>style.visibility</p:attrName>
                                        </p:attrNameLst>
                                      </p:cBhvr>
                                      <p:to>
                                        <p:strVal val="visible"/>
                                      </p:to>
                                    </p:set>
                                    <p:animEffect transition="in" filter="wipe(left)">
                                      <p:cBhvr>
                                        <p:cTn id="7" dur="500"/>
                                        <p:tgtEl>
                                          <p:spTgt spid="4">
                                            <p:txEl>
                                              <p:pRg st="0" end="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dirty="0" smtClean="0"/>
              <a:t>Differentiation…</a:t>
            </a:r>
            <a:endParaRPr lang="en-US" dirty="0"/>
          </a:p>
        </p:txBody>
      </p:sp>
      <p:sp>
        <p:nvSpPr>
          <p:cNvPr id="14" name="TextBox 13"/>
          <p:cNvSpPr txBox="1"/>
          <p:nvPr/>
        </p:nvSpPr>
        <p:spPr>
          <a:xfrm>
            <a:off x="0" y="0"/>
            <a:ext cx="4572000" cy="369332"/>
          </a:xfrm>
          <a:prstGeom prst="rect">
            <a:avLst/>
          </a:prstGeom>
          <a:noFill/>
        </p:spPr>
        <p:txBody>
          <a:bodyPr wrap="square" rtlCol="0">
            <a:spAutoFit/>
          </a:bodyPr>
          <a:lstStyle/>
          <a:p>
            <a:pPr algn="r"/>
            <a:r>
              <a:rPr lang="en-US" b="1" dirty="0">
                <a:solidFill>
                  <a:schemeClr val="bg1"/>
                </a:solidFill>
              </a:rPr>
              <a:t>Introduction to Neural Network</a:t>
            </a:r>
          </a:p>
        </p:txBody>
      </p:sp>
      <p:sp>
        <p:nvSpPr>
          <p:cNvPr id="15" name="Date Placeholder 3"/>
          <p:cNvSpPr>
            <a:spLocks noGrp="1"/>
          </p:cNvSpPr>
          <p:nvPr>
            <p:ph type="dt" sz="half" idx="10"/>
          </p:nvPr>
        </p:nvSpPr>
        <p:spPr>
          <a:xfrm>
            <a:off x="0" y="6629400"/>
            <a:ext cx="3048000" cy="228600"/>
          </a:xfrm>
        </p:spPr>
        <p:txBody>
          <a:bodyPr/>
          <a:lstStyle/>
          <a:p>
            <a:fld id="{E7067A60-51C7-4095-BFA9-1CE32DCBA06F}" type="datetime1">
              <a:rPr lang="en-US" smtClean="0"/>
              <a:pPr/>
              <a:t>2/9/2026</a:t>
            </a:fld>
            <a:endParaRPr lang="en-US" dirty="0"/>
          </a:p>
        </p:txBody>
      </p:sp>
      <p:sp>
        <p:nvSpPr>
          <p:cNvPr id="16" name="Slide Number Placeholder 5"/>
          <p:cNvSpPr>
            <a:spLocks noGrp="1"/>
          </p:cNvSpPr>
          <p:nvPr>
            <p:ph type="sldNum" sz="quarter" idx="12"/>
          </p:nvPr>
        </p:nvSpPr>
        <p:spPr>
          <a:xfrm>
            <a:off x="6096000" y="6629400"/>
            <a:ext cx="3048000" cy="228600"/>
          </a:xfrm>
        </p:spPr>
        <p:txBody>
          <a:bodyPr/>
          <a:lstStyle/>
          <a:p>
            <a:r>
              <a:rPr lang="en-US" dirty="0" smtClean="0"/>
              <a:t>12</a:t>
            </a:r>
            <a:endParaRPr lang="en-US" dirty="0"/>
          </a:p>
        </p:txBody>
      </p:sp>
      <p:sp>
        <p:nvSpPr>
          <p:cNvPr id="17" name="Footer Placeholder 4">
            <a:extLst>
              <a:ext uri="{FF2B5EF4-FFF2-40B4-BE49-F238E27FC236}">
                <a16:creationId xmlns:a16="http://schemas.microsoft.com/office/drawing/2014/main" id="{CBB301ED-B8A4-4772-B559-A9E41E7472BD}"/>
              </a:ext>
            </a:extLst>
          </p:cNvPr>
          <p:cNvSpPr>
            <a:spLocks noGrp="1"/>
          </p:cNvSpPr>
          <p:nvPr>
            <p:ph type="ftr" sz="quarter" idx="11"/>
          </p:nvPr>
        </p:nvSpPr>
        <p:spPr>
          <a:xfrm>
            <a:off x="2286000" y="6629400"/>
            <a:ext cx="4136571" cy="228600"/>
          </a:xfrm>
        </p:spPr>
        <p:txBody>
          <a:bodyPr/>
          <a:lstStyle/>
          <a:p>
            <a:r>
              <a:rPr lang="en-US" dirty="0"/>
              <a:t>Dr. Sibarama Panigrahi, Dept. of CSE&amp;A, SUIIT</a:t>
            </a:r>
          </a:p>
        </p:txBody>
      </p:sp>
      <mc:AlternateContent xmlns:mc="http://schemas.openxmlformats.org/markup-compatibility/2006" xmlns:a14="http://schemas.microsoft.com/office/drawing/2010/main">
        <mc:Choice Requires="a14">
          <p:sp>
            <p:nvSpPr>
              <p:cNvPr id="18" name="Content Placeholder 2"/>
              <p:cNvSpPr>
                <a:spLocks noGrp="1"/>
              </p:cNvSpPr>
              <p:nvPr>
                <p:ph idx="1"/>
              </p:nvPr>
            </p:nvSpPr>
            <p:spPr>
              <a:xfrm>
                <a:off x="0" y="1066800"/>
                <a:ext cx="9144000" cy="5562600"/>
              </a:xfrm>
            </p:spPr>
            <p:txBody>
              <a:bodyPr>
                <a:normAutofit/>
              </a:bodyPr>
              <a:lstStyle/>
              <a:p>
                <a:pPr marL="336550" indent="0">
                  <a:buNone/>
                </a:pPr>
                <a:r>
                  <a:rPr lang="en-IN" sz="3600" i="1" dirty="0" smtClean="0"/>
                  <a:t>Distinguishing between a Minima &amp; Maxima</a:t>
                </a:r>
              </a:p>
              <a:p>
                <a:pPr marL="336550" indent="0">
                  <a:buNone/>
                </a:pPr>
                <a:r>
                  <a:rPr lang="en-IN" sz="2400" dirty="0" smtClean="0"/>
                  <a:t>Let f(x)= X</a:t>
                </a:r>
                <a:r>
                  <a:rPr lang="en-IN" sz="2400" baseline="30000" dirty="0" smtClean="0"/>
                  <a:t>2</a:t>
                </a:r>
                <a:r>
                  <a:rPr lang="en-IN" sz="2400" dirty="0" smtClean="0"/>
                  <a:t> - 3X + 2</a:t>
                </a:r>
              </a:p>
              <a:p>
                <a:pPr marL="336550" indent="0">
                  <a:buNone/>
                </a:pPr>
                <a14:m>
                  <m:oMath xmlns:m="http://schemas.openxmlformats.org/officeDocument/2006/math">
                    <m:f>
                      <m:fPr>
                        <m:ctrlPr>
                          <a:rPr lang="en-IN" sz="2400" i="1">
                            <a:latin typeface="Cambria Math" panose="02040503050406030204" pitchFamily="18" charset="0"/>
                          </a:rPr>
                        </m:ctrlPr>
                      </m:fPr>
                      <m:num>
                        <m:r>
                          <a:rPr lang="en-IN" sz="2400" i="1">
                            <a:latin typeface="Cambria Math" panose="02040503050406030204" pitchFamily="18" charset="0"/>
                          </a:rPr>
                          <m:t>𝑑𝑓</m:t>
                        </m:r>
                      </m:num>
                      <m:den>
                        <m:r>
                          <a:rPr lang="en-IN" sz="2400" i="1">
                            <a:latin typeface="Cambria Math" panose="02040503050406030204" pitchFamily="18" charset="0"/>
                          </a:rPr>
                          <m:t>𝑑𝑥</m:t>
                        </m:r>
                      </m:den>
                    </m:f>
                  </m:oMath>
                </a14:m>
                <a:r>
                  <a:rPr lang="en-IN" sz="2400" dirty="0" smtClean="0"/>
                  <a:t> =0</a:t>
                </a:r>
              </a:p>
              <a:p>
                <a:pPr marL="336550" indent="0">
                  <a:buNone/>
                </a:pPr>
                <a:r>
                  <a:rPr lang="en-IN" sz="2400" dirty="0" smtClean="0"/>
                  <a:t>2X -3 =0</a:t>
                </a:r>
              </a:p>
              <a:p>
                <a:pPr marL="336550" indent="0">
                  <a:buNone/>
                </a:pPr>
                <a:r>
                  <a:rPr lang="en-IN" sz="2400" dirty="0" smtClean="0"/>
                  <a:t>X=1.5</a:t>
                </a:r>
              </a:p>
              <a:p>
                <a:pPr marL="336550" indent="0">
                  <a:buNone/>
                </a:pPr>
                <a:r>
                  <a:rPr lang="en-IN" sz="2400" dirty="0" smtClean="0"/>
                  <a:t>f(1.5)=-0.25</a:t>
                </a:r>
              </a:p>
              <a:p>
                <a:pPr marL="336550" indent="0">
                  <a:buNone/>
                </a:pPr>
                <a:endParaRPr lang="en-IN" sz="2400" dirty="0"/>
              </a:p>
              <a:p>
                <a:pPr marL="336550" indent="0">
                  <a:buNone/>
                </a:pPr>
                <a:r>
                  <a:rPr lang="en-IN" sz="2400" dirty="0" smtClean="0"/>
                  <a:t>Take a point near 1.5, let X=1</a:t>
                </a:r>
              </a:p>
              <a:p>
                <a:pPr marL="336550" indent="0">
                  <a:buNone/>
                </a:pPr>
                <a:r>
                  <a:rPr lang="en-IN" sz="2400" dirty="0" smtClean="0"/>
                  <a:t>f(1)=1-3+2=0</a:t>
                </a:r>
              </a:p>
              <a:p>
                <a:pPr marL="336550" indent="0">
                  <a:buNone/>
                </a:pPr>
                <a:endParaRPr lang="en-IN" sz="2400" dirty="0"/>
              </a:p>
              <a:p>
                <a:pPr marL="336550" indent="0">
                  <a:buNone/>
                </a:pPr>
                <a:r>
                  <a:rPr lang="en-IN" sz="2400" dirty="0" smtClean="0"/>
                  <a:t>X=1.5 can’t be maxima. It is a minima. </a:t>
                </a:r>
              </a:p>
              <a:p>
                <a:pPr marL="336550" indent="0">
                  <a:buNone/>
                </a:pPr>
                <a:endParaRPr lang="en-IN" sz="2400" dirty="0"/>
              </a:p>
              <a:p>
                <a:pPr marL="336550" indent="0">
                  <a:buNone/>
                </a:pPr>
                <a:endParaRPr lang="en-IN" sz="2400" dirty="0" smtClean="0"/>
              </a:p>
              <a:p>
                <a:pPr marL="336550" indent="0">
                  <a:buNone/>
                </a:pPr>
                <a:endParaRPr lang="en-IN" sz="2400" dirty="0" smtClean="0"/>
              </a:p>
              <a:p>
                <a:pPr marL="336550" indent="0">
                  <a:buNone/>
                </a:pPr>
                <a:endParaRPr lang="en-IN" sz="2000" dirty="0" smtClean="0"/>
              </a:p>
              <a:p>
                <a:pPr marL="336550" indent="0">
                  <a:buNone/>
                </a:pPr>
                <a:endParaRPr lang="en-IN" sz="2000" dirty="0" smtClean="0"/>
              </a:p>
              <a:p>
                <a:pPr marL="336550" indent="0">
                  <a:buNone/>
                </a:pPr>
                <a:endParaRPr lang="en-IN" sz="2000" dirty="0" smtClean="0"/>
              </a:p>
              <a:p>
                <a:pPr marL="336550" indent="0">
                  <a:buNone/>
                </a:pPr>
                <a:endParaRPr lang="en-IN" sz="2000" dirty="0" smtClean="0"/>
              </a:p>
            </p:txBody>
          </p:sp>
        </mc:Choice>
        <mc:Fallback xmlns="">
          <p:sp>
            <p:nvSpPr>
              <p:cNvPr id="18" name="Content Placeholder 2"/>
              <p:cNvSpPr>
                <a:spLocks noGrp="1" noRot="1" noChangeAspect="1" noMove="1" noResize="1" noEditPoints="1" noAdjustHandles="1" noChangeArrowheads="1" noChangeShapeType="1" noTextEdit="1"/>
              </p:cNvSpPr>
              <p:nvPr>
                <p:ph idx="1"/>
              </p:nvPr>
            </p:nvSpPr>
            <p:spPr>
              <a:xfrm>
                <a:off x="0" y="1066800"/>
                <a:ext cx="9144000" cy="5562600"/>
              </a:xfrm>
              <a:blipFill rotWithShape="0">
                <a:blip r:embed="rId2"/>
                <a:stretch>
                  <a:fillRect t="-1752"/>
                </a:stretch>
              </a:blipFill>
            </p:spPr>
            <p:txBody>
              <a:bodyPr/>
              <a:lstStyle/>
              <a:p>
                <a:r>
                  <a:rPr lang="en-IN">
                    <a:noFill/>
                  </a:rPr>
                  <a:t> </a:t>
                </a:r>
              </a:p>
            </p:txBody>
          </p:sp>
        </mc:Fallback>
      </mc:AlternateContent>
      <p:sp>
        <p:nvSpPr>
          <p:cNvPr id="26" name="Content Placeholder 2"/>
          <p:cNvSpPr txBox="1">
            <a:spLocks/>
          </p:cNvSpPr>
          <p:nvPr/>
        </p:nvSpPr>
        <p:spPr>
          <a:xfrm>
            <a:off x="152400" y="1219200"/>
            <a:ext cx="9144000" cy="5562600"/>
          </a:xfrm>
          <a:prstGeom prst="rect">
            <a:avLst/>
          </a:prstGeom>
        </p:spPr>
        <p:txBody>
          <a:bodyPr vert="horz" lIns="91440" tIns="45720" rIns="91440" bIns="45720" rtlCol="0">
            <a:normAutofit/>
          </a:bodyPr>
          <a:lstStyle>
            <a:lvl1pPr marL="679450" indent="-342900" algn="l" defTabSz="914400" rtl="0" eaLnBrk="1" latinLnBrk="0" hangingPunct="1">
              <a:spcBef>
                <a:spcPct val="20000"/>
              </a:spcBef>
              <a:buClr>
                <a:srgbClr val="000099"/>
              </a:buClr>
              <a:buSzPct val="120000"/>
              <a:buFont typeface="Times New Roman" pitchFamily="18" charset="0"/>
              <a:buChar char="•"/>
              <a:defRPr sz="3200" kern="1200">
                <a:solidFill>
                  <a:schemeClr val="tx1"/>
                </a:solidFill>
                <a:latin typeface="Times New Roman" pitchFamily="18" charset="0"/>
                <a:ea typeface="+mn-ea"/>
                <a:cs typeface="Times New Roman" pitchFamily="18" charset="0"/>
              </a:defRPr>
            </a:lvl1pPr>
            <a:lvl2pPr marL="971550" indent="-285750" algn="l" defTabSz="914400" rtl="0" eaLnBrk="1" latinLnBrk="0" hangingPunct="1">
              <a:spcBef>
                <a:spcPct val="20000"/>
              </a:spcBef>
              <a:buClr>
                <a:srgbClr val="000099"/>
              </a:buClr>
              <a:buSzPct val="115000"/>
              <a:buFont typeface="Arial" pitchFamily="34" charset="0"/>
              <a:buChar char="–"/>
              <a:defRPr sz="2800" kern="1200">
                <a:solidFill>
                  <a:schemeClr val="tx1"/>
                </a:solidFill>
                <a:latin typeface="Times New Roman" pitchFamily="18" charset="0"/>
                <a:ea typeface="+mn-ea"/>
                <a:cs typeface="Times New Roman" pitchFamily="18" charset="0"/>
              </a:defRPr>
            </a:lvl2pPr>
            <a:lvl3pPr marL="1317625" indent="-228600" algn="l" defTabSz="914400" rtl="0" eaLnBrk="1" latinLnBrk="0" hangingPunct="1">
              <a:spcBef>
                <a:spcPct val="20000"/>
              </a:spcBef>
              <a:buClr>
                <a:srgbClr val="000099"/>
              </a:buClr>
              <a:buSzPct val="120000"/>
              <a:buFont typeface="Arial" pitchFamily="34" charset="0"/>
              <a:buChar char="•"/>
              <a:defRPr sz="2400" kern="1200">
                <a:solidFill>
                  <a:schemeClr val="tx1"/>
                </a:solidFill>
                <a:latin typeface="Times New Roman" pitchFamily="18" charset="0"/>
                <a:ea typeface="+mn-ea"/>
                <a:cs typeface="Times New Roman" pitchFamily="18" charset="0"/>
              </a:defRPr>
            </a:lvl3pPr>
            <a:lvl4pPr marL="1600200" indent="-228600" algn="l" defTabSz="914400" rtl="0" eaLnBrk="1" latinLnBrk="0" hangingPunct="1">
              <a:spcBef>
                <a:spcPct val="20000"/>
              </a:spcBef>
              <a:buClr>
                <a:srgbClr val="000099"/>
              </a:buClr>
              <a:buFont typeface="Arial" pitchFamily="34" charset="0"/>
              <a:buChar char="–"/>
              <a:defRPr sz="2000" kern="1200">
                <a:solidFill>
                  <a:schemeClr val="tx1"/>
                </a:solidFill>
                <a:latin typeface="Times New Roman" pitchFamily="18" charset="0"/>
                <a:ea typeface="+mn-ea"/>
                <a:cs typeface="Times New Roman" pitchFamily="18" charset="0"/>
              </a:defRPr>
            </a:lvl4pPr>
            <a:lvl5pPr marL="1828800" indent="-228600" algn="l" defTabSz="914400" rtl="0" eaLnBrk="1" latinLnBrk="0" hangingPunct="1">
              <a:spcBef>
                <a:spcPct val="20000"/>
              </a:spcBef>
              <a:buClr>
                <a:srgbClr val="000099"/>
              </a:buClr>
              <a:buFont typeface="Arial" pitchFamily="34" charset="0"/>
              <a:buChar char="»"/>
              <a:defRPr sz="2000" kern="1200">
                <a:solidFill>
                  <a:schemeClr val="tx1"/>
                </a:solidFill>
                <a:latin typeface="Times New Roman" pitchFamily="18" charset="0"/>
                <a:ea typeface="+mn-ea"/>
                <a:cs typeface="Times New Roman" pitchFamily="18" charset="0"/>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336550" indent="0">
              <a:buFont typeface="Times New Roman" pitchFamily="18" charset="0"/>
              <a:buNone/>
            </a:pPr>
            <a:endParaRPr lang="en-IN" dirty="0" smtClean="0"/>
          </a:p>
          <a:p>
            <a:pPr marL="336550" indent="0">
              <a:buFont typeface="Times New Roman" pitchFamily="18" charset="0"/>
              <a:buNone/>
            </a:pPr>
            <a:endParaRPr lang="en-IN" dirty="0" smtClean="0"/>
          </a:p>
          <a:p>
            <a:pPr marL="336550" indent="0">
              <a:buFont typeface="Times New Roman" pitchFamily="18" charset="0"/>
              <a:buNone/>
            </a:pPr>
            <a:endParaRPr lang="en-IN" dirty="0" smtClean="0"/>
          </a:p>
          <a:p>
            <a:pPr marL="336550" indent="0">
              <a:buFont typeface="Times New Roman" pitchFamily="18" charset="0"/>
              <a:buNone/>
            </a:pPr>
            <a:endParaRPr lang="en-IN" sz="2400" dirty="0" smtClean="0"/>
          </a:p>
          <a:p>
            <a:pPr marL="336550" indent="0">
              <a:buFont typeface="Times New Roman" pitchFamily="18" charset="0"/>
              <a:buNone/>
            </a:pPr>
            <a:endParaRPr lang="en-IN" dirty="0" smtClean="0"/>
          </a:p>
        </p:txBody>
      </p:sp>
      <p:sp>
        <p:nvSpPr>
          <p:cNvPr id="9" name="TextBox 8"/>
          <p:cNvSpPr txBox="1"/>
          <p:nvPr/>
        </p:nvSpPr>
        <p:spPr>
          <a:xfrm flipH="1">
            <a:off x="6248400" y="6600824"/>
            <a:ext cx="2895600" cy="307777"/>
          </a:xfrm>
          <a:prstGeom prst="rect">
            <a:avLst/>
          </a:prstGeom>
          <a:noFill/>
        </p:spPr>
        <p:txBody>
          <a:bodyPr wrap="square" rtlCol="0">
            <a:spAutoFit/>
          </a:bodyPr>
          <a:lstStyle/>
          <a:p>
            <a:r>
              <a:rPr lang="en-US" sz="1400" dirty="0" smtClean="0">
                <a:latin typeface="Times New Roman" panose="02020603050405020304" pitchFamily="18" charset="0"/>
                <a:cs typeface="Times New Roman" panose="02020603050405020304" pitchFamily="18" charset="0"/>
              </a:rPr>
              <a:t>Different Error Fun with Max &amp; Mini</a:t>
            </a:r>
            <a:endParaRPr lang="en-IN" sz="1400" dirty="0">
              <a:latin typeface="Times New Roman" panose="02020603050405020304" pitchFamily="18" charset="0"/>
              <a:cs typeface="Times New Roman" panose="02020603050405020304" pitchFamily="18" charset="0"/>
            </a:endParaRPr>
          </a:p>
        </p:txBody>
      </p:sp>
      <p:sp>
        <p:nvSpPr>
          <p:cNvPr id="10" name="Footer Placeholder 4">
            <a:extLst>
              <a:ext uri="{FF2B5EF4-FFF2-40B4-BE49-F238E27FC236}">
                <a16:creationId xmlns:a16="http://schemas.microsoft.com/office/drawing/2014/main" id="{CBB301ED-B8A4-4772-B559-A9E41E7472BD}"/>
              </a:ext>
            </a:extLst>
          </p:cNvPr>
          <p:cNvSpPr txBox="1">
            <a:spLocks/>
          </p:cNvSpPr>
          <p:nvPr/>
        </p:nvSpPr>
        <p:spPr>
          <a:xfrm>
            <a:off x="2209800" y="6629400"/>
            <a:ext cx="4136571" cy="228600"/>
          </a:xfrm>
          <a:prstGeom prst="rect">
            <a:avLst/>
          </a:prstGeom>
          <a:solidFill>
            <a:srgbClr val="868FE6"/>
          </a:solidFill>
        </p:spPr>
        <p:txBody>
          <a:bodyPr vert="horz" lIns="91440" tIns="45720" rIns="91440" bIns="45720" rtlCol="0" anchor="ctr"/>
          <a:lstStyle>
            <a:defPPr>
              <a:defRPr lang="en-US"/>
            </a:defPPr>
            <a:lvl1pPr marL="0" algn="ctr" defTabSz="914400" rtl="0" eaLnBrk="1" latinLnBrk="0" hangingPunct="1">
              <a:defRPr sz="1200" b="1" kern="1200">
                <a:solidFill>
                  <a:schemeClr val="tx1"/>
                </a:solidFill>
                <a:latin typeface="Times New Roman" pitchFamily="18" charset="0"/>
                <a:ea typeface="+mn-ea"/>
                <a:cs typeface="Times New Roman" pitchFamily="18" charset="0"/>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dirty="0" smtClean="0"/>
              <a:t>Dr. Sibarama Panigrahi, Dept. of CSE, NIT Rourkela</a:t>
            </a:r>
            <a:endParaRPr lang="en-US" dirty="0"/>
          </a:p>
        </p:txBody>
      </p:sp>
    </p:spTree>
    <p:extLst>
      <p:ext uri="{BB962C8B-B14F-4D97-AF65-F5344CB8AC3E}">
        <p14:creationId xmlns:p14="http://schemas.microsoft.com/office/powerpoint/2010/main" val="257147255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nodeType="clickEffect">
                                  <p:stCondLst>
                                    <p:cond delay="0"/>
                                  </p:stCondLst>
                                  <p:childTnLst>
                                    <p:set>
                                      <p:cBhvr>
                                        <p:cTn id="6" dur="1" fill="hold">
                                          <p:stCondLst>
                                            <p:cond delay="0"/>
                                          </p:stCondLst>
                                        </p:cTn>
                                        <p:tgtEl>
                                          <p:spTgt spid="18">
                                            <p:txEl>
                                              <p:pRg st="1" end="1"/>
                                            </p:txEl>
                                          </p:spTgt>
                                        </p:tgtEl>
                                        <p:attrNameLst>
                                          <p:attrName>style.visibility</p:attrName>
                                        </p:attrNameLst>
                                      </p:cBhvr>
                                      <p:to>
                                        <p:strVal val="visible"/>
                                      </p:to>
                                    </p:set>
                                    <p:animEffect transition="in" filter="wipe(left)">
                                      <p:cBhvr>
                                        <p:cTn id="7" dur="500"/>
                                        <p:tgtEl>
                                          <p:spTgt spid="18">
                                            <p:txEl>
                                              <p:pRg st="1" end="1"/>
                                            </p:txEl>
                                          </p:spTgt>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nodeType="clickEffect">
                                  <p:stCondLst>
                                    <p:cond delay="0"/>
                                  </p:stCondLst>
                                  <p:childTnLst>
                                    <p:set>
                                      <p:cBhvr>
                                        <p:cTn id="11" dur="1" fill="hold">
                                          <p:stCondLst>
                                            <p:cond delay="0"/>
                                          </p:stCondLst>
                                        </p:cTn>
                                        <p:tgtEl>
                                          <p:spTgt spid="18">
                                            <p:txEl>
                                              <p:pRg st="2" end="2"/>
                                            </p:txEl>
                                          </p:spTgt>
                                        </p:tgtEl>
                                        <p:attrNameLst>
                                          <p:attrName>style.visibility</p:attrName>
                                        </p:attrNameLst>
                                      </p:cBhvr>
                                      <p:to>
                                        <p:strVal val="visible"/>
                                      </p:to>
                                    </p:set>
                                    <p:animEffect transition="in" filter="wipe(left)">
                                      <p:cBhvr>
                                        <p:cTn id="12" dur="500"/>
                                        <p:tgtEl>
                                          <p:spTgt spid="18">
                                            <p:txEl>
                                              <p:pRg st="2" end="2"/>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8" fill="hold" nodeType="clickEffect">
                                  <p:stCondLst>
                                    <p:cond delay="0"/>
                                  </p:stCondLst>
                                  <p:childTnLst>
                                    <p:set>
                                      <p:cBhvr>
                                        <p:cTn id="16" dur="1" fill="hold">
                                          <p:stCondLst>
                                            <p:cond delay="0"/>
                                          </p:stCondLst>
                                        </p:cTn>
                                        <p:tgtEl>
                                          <p:spTgt spid="18">
                                            <p:txEl>
                                              <p:pRg st="3" end="3"/>
                                            </p:txEl>
                                          </p:spTgt>
                                        </p:tgtEl>
                                        <p:attrNameLst>
                                          <p:attrName>style.visibility</p:attrName>
                                        </p:attrNameLst>
                                      </p:cBhvr>
                                      <p:to>
                                        <p:strVal val="visible"/>
                                      </p:to>
                                    </p:set>
                                    <p:animEffect transition="in" filter="wipe(left)">
                                      <p:cBhvr>
                                        <p:cTn id="17" dur="500"/>
                                        <p:tgtEl>
                                          <p:spTgt spid="18">
                                            <p:txEl>
                                              <p:pRg st="3" end="3"/>
                                            </p:txEl>
                                          </p:spTgt>
                                        </p:tgtEl>
                                      </p:cBhvr>
                                    </p:animEffect>
                                  </p:childTnLst>
                                </p:cTn>
                              </p:par>
                            </p:childTnLst>
                          </p:cTn>
                        </p:par>
                        <p:par>
                          <p:cTn id="18" fill="hold">
                            <p:stCondLst>
                              <p:cond delay="500"/>
                            </p:stCondLst>
                            <p:childTnLst>
                              <p:par>
                                <p:cTn id="19" presetID="22" presetClass="entr" presetSubtype="8" fill="hold" nodeType="afterEffect">
                                  <p:stCondLst>
                                    <p:cond delay="0"/>
                                  </p:stCondLst>
                                  <p:childTnLst>
                                    <p:set>
                                      <p:cBhvr>
                                        <p:cTn id="20" dur="1" fill="hold">
                                          <p:stCondLst>
                                            <p:cond delay="0"/>
                                          </p:stCondLst>
                                        </p:cTn>
                                        <p:tgtEl>
                                          <p:spTgt spid="18">
                                            <p:txEl>
                                              <p:pRg st="4" end="4"/>
                                            </p:txEl>
                                          </p:spTgt>
                                        </p:tgtEl>
                                        <p:attrNameLst>
                                          <p:attrName>style.visibility</p:attrName>
                                        </p:attrNameLst>
                                      </p:cBhvr>
                                      <p:to>
                                        <p:strVal val="visible"/>
                                      </p:to>
                                    </p:set>
                                    <p:animEffect transition="in" filter="wipe(left)">
                                      <p:cBhvr>
                                        <p:cTn id="21" dur="500"/>
                                        <p:tgtEl>
                                          <p:spTgt spid="18">
                                            <p:txEl>
                                              <p:pRg st="4" end="4"/>
                                            </p:txEl>
                                          </p:spTgt>
                                        </p:tgtEl>
                                      </p:cBhvr>
                                    </p:animEffect>
                                  </p:childTnLst>
                                </p:cTn>
                              </p:par>
                            </p:childTnLst>
                          </p:cTn>
                        </p:par>
                      </p:childTnLst>
                    </p:cTn>
                  </p:par>
                  <p:par>
                    <p:cTn id="22" fill="hold">
                      <p:stCondLst>
                        <p:cond delay="indefinite"/>
                      </p:stCondLst>
                      <p:childTnLst>
                        <p:par>
                          <p:cTn id="23" fill="hold">
                            <p:stCondLst>
                              <p:cond delay="0"/>
                            </p:stCondLst>
                            <p:childTnLst>
                              <p:par>
                                <p:cTn id="24" presetID="22" presetClass="entr" presetSubtype="8" fill="hold" nodeType="clickEffect">
                                  <p:stCondLst>
                                    <p:cond delay="0"/>
                                  </p:stCondLst>
                                  <p:childTnLst>
                                    <p:set>
                                      <p:cBhvr>
                                        <p:cTn id="25" dur="1" fill="hold">
                                          <p:stCondLst>
                                            <p:cond delay="0"/>
                                          </p:stCondLst>
                                        </p:cTn>
                                        <p:tgtEl>
                                          <p:spTgt spid="18">
                                            <p:txEl>
                                              <p:pRg st="5" end="5"/>
                                            </p:txEl>
                                          </p:spTgt>
                                        </p:tgtEl>
                                        <p:attrNameLst>
                                          <p:attrName>style.visibility</p:attrName>
                                        </p:attrNameLst>
                                      </p:cBhvr>
                                      <p:to>
                                        <p:strVal val="visible"/>
                                      </p:to>
                                    </p:set>
                                    <p:animEffect transition="in" filter="wipe(left)">
                                      <p:cBhvr>
                                        <p:cTn id="26" dur="500"/>
                                        <p:tgtEl>
                                          <p:spTgt spid="18">
                                            <p:txEl>
                                              <p:pRg st="5" end="5"/>
                                            </p:txEl>
                                          </p:spTgt>
                                        </p:tgtEl>
                                      </p:cBhvr>
                                    </p:animEffect>
                                  </p:childTnLst>
                                </p:cTn>
                              </p:par>
                            </p:childTnLst>
                          </p:cTn>
                        </p:par>
                      </p:childTnLst>
                    </p:cTn>
                  </p:par>
                  <p:par>
                    <p:cTn id="27" fill="hold">
                      <p:stCondLst>
                        <p:cond delay="indefinite"/>
                      </p:stCondLst>
                      <p:childTnLst>
                        <p:par>
                          <p:cTn id="28" fill="hold">
                            <p:stCondLst>
                              <p:cond delay="0"/>
                            </p:stCondLst>
                            <p:childTnLst>
                              <p:par>
                                <p:cTn id="29" presetID="22" presetClass="entr" presetSubtype="8" fill="hold" nodeType="clickEffect">
                                  <p:stCondLst>
                                    <p:cond delay="0"/>
                                  </p:stCondLst>
                                  <p:childTnLst>
                                    <p:set>
                                      <p:cBhvr>
                                        <p:cTn id="30" dur="1" fill="hold">
                                          <p:stCondLst>
                                            <p:cond delay="0"/>
                                          </p:stCondLst>
                                        </p:cTn>
                                        <p:tgtEl>
                                          <p:spTgt spid="18">
                                            <p:txEl>
                                              <p:pRg st="7" end="7"/>
                                            </p:txEl>
                                          </p:spTgt>
                                        </p:tgtEl>
                                        <p:attrNameLst>
                                          <p:attrName>style.visibility</p:attrName>
                                        </p:attrNameLst>
                                      </p:cBhvr>
                                      <p:to>
                                        <p:strVal val="visible"/>
                                      </p:to>
                                    </p:set>
                                    <p:animEffect transition="in" filter="wipe(left)">
                                      <p:cBhvr>
                                        <p:cTn id="31" dur="500"/>
                                        <p:tgtEl>
                                          <p:spTgt spid="18">
                                            <p:txEl>
                                              <p:pRg st="7" end="7"/>
                                            </p:txEl>
                                          </p:spTgt>
                                        </p:tgtEl>
                                      </p:cBhvr>
                                    </p:animEffect>
                                  </p:childTnLst>
                                </p:cTn>
                              </p:par>
                            </p:childTnLst>
                          </p:cTn>
                        </p:par>
                      </p:childTnLst>
                    </p:cTn>
                  </p:par>
                  <p:par>
                    <p:cTn id="32" fill="hold">
                      <p:stCondLst>
                        <p:cond delay="indefinite"/>
                      </p:stCondLst>
                      <p:childTnLst>
                        <p:par>
                          <p:cTn id="33" fill="hold">
                            <p:stCondLst>
                              <p:cond delay="0"/>
                            </p:stCondLst>
                            <p:childTnLst>
                              <p:par>
                                <p:cTn id="34" presetID="22" presetClass="entr" presetSubtype="8" fill="hold" nodeType="clickEffect">
                                  <p:stCondLst>
                                    <p:cond delay="0"/>
                                  </p:stCondLst>
                                  <p:childTnLst>
                                    <p:set>
                                      <p:cBhvr>
                                        <p:cTn id="35" dur="1" fill="hold">
                                          <p:stCondLst>
                                            <p:cond delay="0"/>
                                          </p:stCondLst>
                                        </p:cTn>
                                        <p:tgtEl>
                                          <p:spTgt spid="18">
                                            <p:txEl>
                                              <p:pRg st="8" end="8"/>
                                            </p:txEl>
                                          </p:spTgt>
                                        </p:tgtEl>
                                        <p:attrNameLst>
                                          <p:attrName>style.visibility</p:attrName>
                                        </p:attrNameLst>
                                      </p:cBhvr>
                                      <p:to>
                                        <p:strVal val="visible"/>
                                      </p:to>
                                    </p:set>
                                    <p:animEffect transition="in" filter="wipe(left)">
                                      <p:cBhvr>
                                        <p:cTn id="36" dur="500"/>
                                        <p:tgtEl>
                                          <p:spTgt spid="18">
                                            <p:txEl>
                                              <p:pRg st="8" end="8"/>
                                            </p:txEl>
                                          </p:spTgt>
                                        </p:tgtEl>
                                      </p:cBhvr>
                                    </p:animEffect>
                                  </p:childTnLst>
                                </p:cTn>
                              </p:par>
                            </p:childTnLst>
                          </p:cTn>
                        </p:par>
                      </p:childTnLst>
                    </p:cTn>
                  </p:par>
                  <p:par>
                    <p:cTn id="37" fill="hold">
                      <p:stCondLst>
                        <p:cond delay="indefinite"/>
                      </p:stCondLst>
                      <p:childTnLst>
                        <p:par>
                          <p:cTn id="38" fill="hold">
                            <p:stCondLst>
                              <p:cond delay="0"/>
                            </p:stCondLst>
                            <p:childTnLst>
                              <p:par>
                                <p:cTn id="39" presetID="22" presetClass="entr" presetSubtype="8" fill="hold" nodeType="clickEffect">
                                  <p:stCondLst>
                                    <p:cond delay="0"/>
                                  </p:stCondLst>
                                  <p:childTnLst>
                                    <p:set>
                                      <p:cBhvr>
                                        <p:cTn id="40" dur="1" fill="hold">
                                          <p:stCondLst>
                                            <p:cond delay="0"/>
                                          </p:stCondLst>
                                        </p:cTn>
                                        <p:tgtEl>
                                          <p:spTgt spid="18">
                                            <p:txEl>
                                              <p:pRg st="10" end="10"/>
                                            </p:txEl>
                                          </p:spTgt>
                                        </p:tgtEl>
                                        <p:attrNameLst>
                                          <p:attrName>style.visibility</p:attrName>
                                        </p:attrNameLst>
                                      </p:cBhvr>
                                      <p:to>
                                        <p:strVal val="visible"/>
                                      </p:to>
                                    </p:set>
                                    <p:animEffect transition="in" filter="wipe(left)">
                                      <p:cBhvr>
                                        <p:cTn id="41" dur="500"/>
                                        <p:tgtEl>
                                          <p:spTgt spid="18">
                                            <p:txEl>
                                              <p:pRg st="10" end="1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dirty="0" smtClean="0"/>
              <a:t>Error Function with Minima and No Maxima</a:t>
            </a:r>
            <a:endParaRPr lang="en-US" dirty="0"/>
          </a:p>
        </p:txBody>
      </p:sp>
      <p:sp>
        <p:nvSpPr>
          <p:cNvPr id="14" name="TextBox 13"/>
          <p:cNvSpPr txBox="1"/>
          <p:nvPr/>
        </p:nvSpPr>
        <p:spPr>
          <a:xfrm>
            <a:off x="0" y="0"/>
            <a:ext cx="4572000" cy="369332"/>
          </a:xfrm>
          <a:prstGeom prst="rect">
            <a:avLst/>
          </a:prstGeom>
          <a:noFill/>
        </p:spPr>
        <p:txBody>
          <a:bodyPr wrap="square" rtlCol="0">
            <a:spAutoFit/>
          </a:bodyPr>
          <a:lstStyle/>
          <a:p>
            <a:pPr algn="r"/>
            <a:r>
              <a:rPr lang="en-US" b="1" dirty="0">
                <a:solidFill>
                  <a:schemeClr val="bg1"/>
                </a:solidFill>
              </a:rPr>
              <a:t>Introduction to Neural Network</a:t>
            </a:r>
          </a:p>
        </p:txBody>
      </p:sp>
      <p:sp>
        <p:nvSpPr>
          <p:cNvPr id="15" name="Date Placeholder 3"/>
          <p:cNvSpPr>
            <a:spLocks noGrp="1"/>
          </p:cNvSpPr>
          <p:nvPr>
            <p:ph type="dt" sz="half" idx="10"/>
          </p:nvPr>
        </p:nvSpPr>
        <p:spPr>
          <a:xfrm>
            <a:off x="0" y="6629400"/>
            <a:ext cx="3048000" cy="228600"/>
          </a:xfrm>
        </p:spPr>
        <p:txBody>
          <a:bodyPr/>
          <a:lstStyle/>
          <a:p>
            <a:fld id="{E7067A60-51C7-4095-BFA9-1CE32DCBA06F}" type="datetime1">
              <a:rPr lang="en-US" smtClean="0"/>
              <a:pPr/>
              <a:t>2/9/2026</a:t>
            </a:fld>
            <a:endParaRPr lang="en-US" dirty="0"/>
          </a:p>
        </p:txBody>
      </p:sp>
      <p:sp>
        <p:nvSpPr>
          <p:cNvPr id="16" name="Slide Number Placeholder 5"/>
          <p:cNvSpPr>
            <a:spLocks noGrp="1"/>
          </p:cNvSpPr>
          <p:nvPr>
            <p:ph type="sldNum" sz="quarter" idx="12"/>
          </p:nvPr>
        </p:nvSpPr>
        <p:spPr>
          <a:xfrm>
            <a:off x="6096000" y="6629400"/>
            <a:ext cx="3048000" cy="228600"/>
          </a:xfrm>
        </p:spPr>
        <p:txBody>
          <a:bodyPr/>
          <a:lstStyle/>
          <a:p>
            <a:r>
              <a:rPr lang="en-US" dirty="0" smtClean="0"/>
              <a:t>12</a:t>
            </a:r>
            <a:endParaRPr lang="en-US" dirty="0"/>
          </a:p>
        </p:txBody>
      </p:sp>
      <p:sp>
        <p:nvSpPr>
          <p:cNvPr id="17" name="Footer Placeholder 4">
            <a:extLst>
              <a:ext uri="{FF2B5EF4-FFF2-40B4-BE49-F238E27FC236}">
                <a16:creationId xmlns:a16="http://schemas.microsoft.com/office/drawing/2014/main" id="{CBB301ED-B8A4-4772-B559-A9E41E7472BD}"/>
              </a:ext>
            </a:extLst>
          </p:cNvPr>
          <p:cNvSpPr>
            <a:spLocks noGrp="1"/>
          </p:cNvSpPr>
          <p:nvPr>
            <p:ph type="ftr" sz="quarter" idx="11"/>
          </p:nvPr>
        </p:nvSpPr>
        <p:spPr>
          <a:xfrm>
            <a:off x="2286000" y="6629400"/>
            <a:ext cx="4136571" cy="228600"/>
          </a:xfrm>
        </p:spPr>
        <p:txBody>
          <a:bodyPr/>
          <a:lstStyle/>
          <a:p>
            <a:r>
              <a:rPr lang="en-US" dirty="0"/>
              <a:t>Dr. Sibarama Panigrahi, Dept. of CSE, NIT Rourkela</a:t>
            </a:r>
          </a:p>
        </p:txBody>
      </p:sp>
      <p:sp>
        <p:nvSpPr>
          <p:cNvPr id="18" name="Content Placeholder 2"/>
          <p:cNvSpPr>
            <a:spLocks noGrp="1"/>
          </p:cNvSpPr>
          <p:nvPr>
            <p:ph idx="1"/>
          </p:nvPr>
        </p:nvSpPr>
        <p:spPr>
          <a:xfrm>
            <a:off x="0" y="1066800"/>
            <a:ext cx="9144000" cy="5562600"/>
          </a:xfrm>
        </p:spPr>
        <p:txBody>
          <a:bodyPr>
            <a:normAutofit/>
          </a:bodyPr>
          <a:lstStyle/>
          <a:p>
            <a:pPr marL="336550" indent="0">
              <a:buNone/>
            </a:pPr>
            <a:endParaRPr lang="en-IN" sz="2000" i="1" dirty="0" smtClean="0"/>
          </a:p>
          <a:p>
            <a:pPr marL="336550" indent="0">
              <a:buNone/>
            </a:pPr>
            <a:endParaRPr lang="en-IN" sz="2000" dirty="0" smtClean="0"/>
          </a:p>
          <a:p>
            <a:pPr marL="336550" indent="0">
              <a:buNone/>
            </a:pPr>
            <a:endParaRPr lang="en-IN" sz="2000" dirty="0" smtClean="0"/>
          </a:p>
          <a:p>
            <a:pPr marL="336550" indent="0">
              <a:buNone/>
            </a:pPr>
            <a:endParaRPr lang="en-IN" sz="2000" dirty="0" smtClean="0"/>
          </a:p>
          <a:p>
            <a:pPr marL="336550" indent="0">
              <a:buNone/>
            </a:pPr>
            <a:endParaRPr lang="en-IN" sz="2000" dirty="0" smtClean="0"/>
          </a:p>
          <a:p>
            <a:pPr marL="336550" indent="0">
              <a:buNone/>
            </a:pPr>
            <a:endParaRPr lang="en-IN" sz="2000" dirty="0" smtClean="0"/>
          </a:p>
        </p:txBody>
      </p:sp>
      <p:graphicFrame>
        <p:nvGraphicFramePr>
          <p:cNvPr id="20" name="Chart 19"/>
          <p:cNvGraphicFramePr/>
          <p:nvPr>
            <p:extLst/>
          </p:nvPr>
        </p:nvGraphicFramePr>
        <p:xfrm>
          <a:off x="3733800" y="990600"/>
          <a:ext cx="5029200" cy="2514600"/>
        </p:xfrm>
        <a:graphic>
          <a:graphicData uri="http://schemas.openxmlformats.org/drawingml/2006/chart">
            <c:chart xmlns:c="http://schemas.openxmlformats.org/drawingml/2006/chart" xmlns:r="http://schemas.openxmlformats.org/officeDocument/2006/relationships" r:id="rId2"/>
          </a:graphicData>
        </a:graphic>
      </p:graphicFrame>
      <p:cxnSp>
        <p:nvCxnSpPr>
          <p:cNvPr id="22" name="Straight Arrow Connector 21"/>
          <p:cNvCxnSpPr/>
          <p:nvPr/>
        </p:nvCxnSpPr>
        <p:spPr>
          <a:xfrm flipV="1">
            <a:off x="3886200" y="990600"/>
            <a:ext cx="0" cy="236220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25" name="Straight Connector 24"/>
          <p:cNvCxnSpPr/>
          <p:nvPr/>
        </p:nvCxnSpPr>
        <p:spPr>
          <a:xfrm>
            <a:off x="4886235" y="2743200"/>
            <a:ext cx="3343365" cy="12919"/>
          </a:xfrm>
          <a:prstGeom prst="line">
            <a:avLst/>
          </a:prstGeom>
          <a:ln w="38100">
            <a:solidFill>
              <a:schemeClr val="tx1"/>
            </a:solidFill>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42" name="Rectangle 41"/>
              <p:cNvSpPr/>
              <p:nvPr/>
            </p:nvSpPr>
            <p:spPr>
              <a:xfrm rot="16200000">
                <a:off x="3322792" y="1244104"/>
                <a:ext cx="811172" cy="194628"/>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i="1" dirty="0" smtClean="0">
                  <a:solidFill>
                    <a:schemeClr val="tx1"/>
                  </a:solidFill>
                  <a:latin typeface="Cambria Math" panose="02040503050406030204" pitchFamily="18" charset="0"/>
                </a:endParaRPr>
              </a:p>
              <a:p>
                <a:pPr algn="ctr"/>
                <a14:m>
                  <m:oMathPara xmlns:m="http://schemas.openxmlformats.org/officeDocument/2006/math">
                    <m:oMathParaPr>
                      <m:jc m:val="centerGroup"/>
                    </m:oMathParaPr>
                    <m:oMath xmlns:m="http://schemas.openxmlformats.org/officeDocument/2006/math">
                      <m:r>
                        <a:rPr lang="en-IN" sz="1200" i="1" smtClean="0">
                          <a:solidFill>
                            <a:schemeClr val="tx1"/>
                          </a:solidFill>
                          <a:latin typeface="Cambria Math" panose="02040503050406030204" pitchFamily="18" charset="0"/>
                        </a:rPr>
                        <m:t>𝑦</m:t>
                      </m:r>
                      <m:r>
                        <a:rPr lang="en-IN" sz="1200" i="1" smtClean="0">
                          <a:solidFill>
                            <a:schemeClr val="tx1"/>
                          </a:solidFill>
                          <a:latin typeface="Cambria Math" panose="02040503050406030204" pitchFamily="18" charset="0"/>
                        </a:rPr>
                        <m:t>=</m:t>
                      </m:r>
                      <m:r>
                        <a:rPr lang="en-IN" sz="1200" i="1" smtClean="0">
                          <a:solidFill>
                            <a:schemeClr val="tx1"/>
                          </a:solidFill>
                          <a:latin typeface="Cambria Math" panose="02040503050406030204" pitchFamily="18" charset="0"/>
                        </a:rPr>
                        <m:t>𝑓</m:t>
                      </m:r>
                      <m:r>
                        <a:rPr lang="en-IN" sz="1200" i="1" smtClean="0">
                          <a:solidFill>
                            <a:schemeClr val="tx1"/>
                          </a:solidFill>
                          <a:latin typeface="Cambria Math" panose="02040503050406030204" pitchFamily="18" charset="0"/>
                        </a:rPr>
                        <m:t>(</m:t>
                      </m:r>
                      <m:r>
                        <a:rPr lang="en-IN" sz="1200" i="1" smtClean="0">
                          <a:solidFill>
                            <a:schemeClr val="tx1"/>
                          </a:solidFill>
                          <a:latin typeface="Cambria Math" panose="02040503050406030204" pitchFamily="18" charset="0"/>
                        </a:rPr>
                        <m:t>𝑥</m:t>
                      </m:r>
                      <m:r>
                        <a:rPr lang="en-IN" sz="1200" i="1" smtClean="0">
                          <a:solidFill>
                            <a:schemeClr val="tx1"/>
                          </a:solidFill>
                          <a:latin typeface="Cambria Math" panose="02040503050406030204" pitchFamily="18" charset="0"/>
                        </a:rPr>
                        <m:t>)</m:t>
                      </m:r>
                    </m:oMath>
                  </m:oMathPara>
                </a14:m>
                <a:endParaRPr lang="en-IN" sz="1200" dirty="0">
                  <a:solidFill>
                    <a:schemeClr val="tx1"/>
                  </a:solidFill>
                </a:endParaRPr>
              </a:p>
              <a:p>
                <a:pPr algn="ctr"/>
                <a:endParaRPr lang="en-IN" dirty="0"/>
              </a:p>
            </p:txBody>
          </p:sp>
        </mc:Choice>
        <mc:Fallback xmlns="">
          <p:sp>
            <p:nvSpPr>
              <p:cNvPr id="42" name="Rectangle 41"/>
              <p:cNvSpPr>
                <a:spLocks noRot="1" noChangeAspect="1" noMove="1" noResize="1" noEditPoints="1" noAdjustHandles="1" noChangeArrowheads="1" noChangeShapeType="1" noTextEdit="1"/>
              </p:cNvSpPr>
              <p:nvPr/>
            </p:nvSpPr>
            <p:spPr>
              <a:xfrm rot="16200000">
                <a:off x="3322792" y="1244104"/>
                <a:ext cx="811172" cy="194628"/>
              </a:xfrm>
              <a:prstGeom prst="rect">
                <a:avLst/>
              </a:prstGeom>
              <a:blipFill rotWithShape="0">
                <a:blip r:embed="rId3"/>
                <a:stretch>
                  <a:fillRect l="-3125" r="-31250"/>
                </a:stretch>
              </a:blipFill>
              <a:ln>
                <a:noFill/>
              </a:ln>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43" name="Rectangle 42"/>
              <p:cNvSpPr/>
              <p:nvPr/>
            </p:nvSpPr>
            <p:spPr>
              <a:xfrm>
                <a:off x="4800600" y="3455541"/>
                <a:ext cx="811172" cy="194628"/>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i="1" dirty="0" smtClean="0">
                  <a:solidFill>
                    <a:schemeClr val="tx1"/>
                  </a:solidFill>
                  <a:latin typeface="Cambria Math" panose="02040503050406030204" pitchFamily="18" charset="0"/>
                </a:endParaRPr>
              </a:p>
              <a:p>
                <a:pPr algn="ctr"/>
                <a14:m>
                  <m:oMath xmlns:m="http://schemas.openxmlformats.org/officeDocument/2006/math">
                    <m:r>
                      <a:rPr lang="en-IN" sz="2400" b="0" i="1" smtClean="0">
                        <a:solidFill>
                          <a:schemeClr val="tx1"/>
                        </a:solidFill>
                        <a:latin typeface="Cambria Math" panose="02040503050406030204" pitchFamily="18" charset="0"/>
                      </a:rPr>
                      <m:t>𝑥</m:t>
                    </m:r>
                  </m:oMath>
                </a14:m>
                <a:r>
                  <a:rPr lang="en-IN" sz="1400" b="0" dirty="0" smtClean="0">
                    <a:solidFill>
                      <a:schemeClr val="tx1"/>
                    </a:solidFill>
                  </a:rPr>
                  <a:t> </a:t>
                </a:r>
                <a:r>
                  <a:rPr lang="en-IN" sz="1400" b="0" dirty="0" smtClean="0">
                    <a:solidFill>
                      <a:schemeClr val="tx1"/>
                    </a:solidFill>
                    <a:sym typeface="Wingdings" panose="05000000000000000000" pitchFamily="2" charset="2"/>
                  </a:rPr>
                  <a:t></a:t>
                </a:r>
                <a:endParaRPr lang="en-IN" sz="1400" b="0" dirty="0" smtClean="0">
                  <a:solidFill>
                    <a:schemeClr val="tx1"/>
                  </a:solidFill>
                </a:endParaRPr>
              </a:p>
              <a:p>
                <a:pPr algn="ctr"/>
                <a:endParaRPr lang="en-IN" dirty="0"/>
              </a:p>
            </p:txBody>
          </p:sp>
        </mc:Choice>
        <mc:Fallback xmlns="">
          <p:sp>
            <p:nvSpPr>
              <p:cNvPr id="43" name="Rectangle 42"/>
              <p:cNvSpPr>
                <a:spLocks noRot="1" noChangeAspect="1" noMove="1" noResize="1" noEditPoints="1" noAdjustHandles="1" noChangeArrowheads="1" noChangeShapeType="1" noTextEdit="1"/>
              </p:cNvSpPr>
              <p:nvPr/>
            </p:nvSpPr>
            <p:spPr>
              <a:xfrm>
                <a:off x="4800600" y="3455541"/>
                <a:ext cx="811172" cy="194628"/>
              </a:xfrm>
              <a:prstGeom prst="rect">
                <a:avLst/>
              </a:prstGeom>
              <a:blipFill rotWithShape="0">
                <a:blip r:embed="rId4"/>
                <a:stretch>
                  <a:fillRect t="-9375" b="-87500"/>
                </a:stretch>
              </a:blipFill>
              <a:ln>
                <a:noFill/>
              </a:ln>
            </p:spPr>
            <p:txBody>
              <a:bodyPr/>
              <a:lstStyle/>
              <a:p>
                <a:r>
                  <a:rPr lang="en-IN">
                    <a:noFill/>
                  </a:rPr>
                  <a:t> </a:t>
                </a:r>
              </a:p>
            </p:txBody>
          </p:sp>
        </mc:Fallback>
      </mc:AlternateContent>
      <p:sp>
        <p:nvSpPr>
          <p:cNvPr id="26" name="Content Placeholder 2"/>
          <p:cNvSpPr txBox="1">
            <a:spLocks/>
          </p:cNvSpPr>
          <p:nvPr/>
        </p:nvSpPr>
        <p:spPr>
          <a:xfrm>
            <a:off x="152400" y="1219200"/>
            <a:ext cx="9144000" cy="5562600"/>
          </a:xfrm>
          <a:prstGeom prst="rect">
            <a:avLst/>
          </a:prstGeom>
        </p:spPr>
        <p:txBody>
          <a:bodyPr vert="horz" lIns="91440" tIns="45720" rIns="91440" bIns="45720" rtlCol="0">
            <a:normAutofit/>
          </a:bodyPr>
          <a:lstStyle>
            <a:lvl1pPr marL="679450" indent="-342900" algn="l" defTabSz="914400" rtl="0" eaLnBrk="1" latinLnBrk="0" hangingPunct="1">
              <a:spcBef>
                <a:spcPct val="20000"/>
              </a:spcBef>
              <a:buClr>
                <a:srgbClr val="000099"/>
              </a:buClr>
              <a:buSzPct val="120000"/>
              <a:buFont typeface="Times New Roman" pitchFamily="18" charset="0"/>
              <a:buChar char="•"/>
              <a:defRPr sz="3200" kern="1200">
                <a:solidFill>
                  <a:schemeClr val="tx1"/>
                </a:solidFill>
                <a:latin typeface="Times New Roman" pitchFamily="18" charset="0"/>
                <a:ea typeface="+mn-ea"/>
                <a:cs typeface="Times New Roman" pitchFamily="18" charset="0"/>
              </a:defRPr>
            </a:lvl1pPr>
            <a:lvl2pPr marL="971550" indent="-285750" algn="l" defTabSz="914400" rtl="0" eaLnBrk="1" latinLnBrk="0" hangingPunct="1">
              <a:spcBef>
                <a:spcPct val="20000"/>
              </a:spcBef>
              <a:buClr>
                <a:srgbClr val="000099"/>
              </a:buClr>
              <a:buSzPct val="115000"/>
              <a:buFont typeface="Arial" pitchFamily="34" charset="0"/>
              <a:buChar char="–"/>
              <a:defRPr sz="2800" kern="1200">
                <a:solidFill>
                  <a:schemeClr val="tx1"/>
                </a:solidFill>
                <a:latin typeface="Times New Roman" pitchFamily="18" charset="0"/>
                <a:ea typeface="+mn-ea"/>
                <a:cs typeface="Times New Roman" pitchFamily="18" charset="0"/>
              </a:defRPr>
            </a:lvl2pPr>
            <a:lvl3pPr marL="1317625" indent="-228600" algn="l" defTabSz="914400" rtl="0" eaLnBrk="1" latinLnBrk="0" hangingPunct="1">
              <a:spcBef>
                <a:spcPct val="20000"/>
              </a:spcBef>
              <a:buClr>
                <a:srgbClr val="000099"/>
              </a:buClr>
              <a:buSzPct val="120000"/>
              <a:buFont typeface="Arial" pitchFamily="34" charset="0"/>
              <a:buChar char="•"/>
              <a:defRPr sz="2400" kern="1200">
                <a:solidFill>
                  <a:schemeClr val="tx1"/>
                </a:solidFill>
                <a:latin typeface="Times New Roman" pitchFamily="18" charset="0"/>
                <a:ea typeface="+mn-ea"/>
                <a:cs typeface="Times New Roman" pitchFamily="18" charset="0"/>
              </a:defRPr>
            </a:lvl3pPr>
            <a:lvl4pPr marL="1600200" indent="-228600" algn="l" defTabSz="914400" rtl="0" eaLnBrk="1" latinLnBrk="0" hangingPunct="1">
              <a:spcBef>
                <a:spcPct val="20000"/>
              </a:spcBef>
              <a:buClr>
                <a:srgbClr val="000099"/>
              </a:buClr>
              <a:buFont typeface="Arial" pitchFamily="34" charset="0"/>
              <a:buChar char="–"/>
              <a:defRPr sz="2000" kern="1200">
                <a:solidFill>
                  <a:schemeClr val="tx1"/>
                </a:solidFill>
                <a:latin typeface="Times New Roman" pitchFamily="18" charset="0"/>
                <a:ea typeface="+mn-ea"/>
                <a:cs typeface="Times New Roman" pitchFamily="18" charset="0"/>
              </a:defRPr>
            </a:lvl4pPr>
            <a:lvl5pPr marL="1828800" indent="-228600" algn="l" defTabSz="914400" rtl="0" eaLnBrk="1" latinLnBrk="0" hangingPunct="1">
              <a:spcBef>
                <a:spcPct val="20000"/>
              </a:spcBef>
              <a:buClr>
                <a:srgbClr val="000099"/>
              </a:buClr>
              <a:buFont typeface="Arial" pitchFamily="34" charset="0"/>
              <a:buChar char="»"/>
              <a:defRPr sz="2000" kern="1200">
                <a:solidFill>
                  <a:schemeClr val="tx1"/>
                </a:solidFill>
                <a:latin typeface="Times New Roman" pitchFamily="18" charset="0"/>
                <a:ea typeface="+mn-ea"/>
                <a:cs typeface="Times New Roman" pitchFamily="18" charset="0"/>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336550" indent="0">
              <a:buFont typeface="Times New Roman" pitchFamily="18" charset="0"/>
              <a:buNone/>
            </a:pPr>
            <a:endParaRPr lang="en-IN" dirty="0" smtClean="0"/>
          </a:p>
          <a:p>
            <a:pPr marL="336550" indent="0">
              <a:buFont typeface="Times New Roman" pitchFamily="18" charset="0"/>
              <a:buNone/>
            </a:pPr>
            <a:endParaRPr lang="en-IN" dirty="0" smtClean="0"/>
          </a:p>
          <a:p>
            <a:pPr marL="336550" indent="0">
              <a:buFont typeface="Times New Roman" pitchFamily="18" charset="0"/>
              <a:buNone/>
            </a:pPr>
            <a:endParaRPr lang="en-IN" dirty="0" smtClean="0"/>
          </a:p>
          <a:p>
            <a:pPr marL="336550" indent="0">
              <a:buFont typeface="Times New Roman" pitchFamily="18" charset="0"/>
              <a:buNone/>
            </a:pPr>
            <a:endParaRPr lang="en-IN" sz="2400" dirty="0" smtClean="0"/>
          </a:p>
          <a:p>
            <a:pPr marL="336550" indent="0">
              <a:buFont typeface="Times New Roman" pitchFamily="18" charset="0"/>
              <a:buNone/>
            </a:pPr>
            <a:endParaRPr lang="en-IN" dirty="0" smtClean="0"/>
          </a:p>
        </p:txBody>
      </p:sp>
      <p:cxnSp>
        <p:nvCxnSpPr>
          <p:cNvPr id="28" name="Straight Connector 27"/>
          <p:cNvCxnSpPr/>
          <p:nvPr/>
        </p:nvCxnSpPr>
        <p:spPr>
          <a:xfrm flipH="1">
            <a:off x="6722466" y="2757488"/>
            <a:ext cx="35522" cy="671512"/>
          </a:xfrm>
          <a:prstGeom prst="line">
            <a:avLst/>
          </a:prstGeom>
          <a:ln w="25400">
            <a:solidFill>
              <a:schemeClr val="tx1"/>
            </a:solidFill>
            <a:prstDash val="dash"/>
          </a:ln>
        </p:spPr>
        <p:style>
          <a:lnRef idx="1">
            <a:schemeClr val="accent1"/>
          </a:lnRef>
          <a:fillRef idx="0">
            <a:schemeClr val="accent1"/>
          </a:fillRef>
          <a:effectRef idx="0">
            <a:schemeClr val="accent1"/>
          </a:effectRef>
          <a:fontRef idx="minor">
            <a:schemeClr val="tx1"/>
          </a:fontRef>
        </p:style>
      </p:cxnSp>
      <p:sp>
        <p:nvSpPr>
          <p:cNvPr id="3" name="Rectangular Callout 2"/>
          <p:cNvSpPr/>
          <p:nvPr/>
        </p:nvSpPr>
        <p:spPr>
          <a:xfrm>
            <a:off x="7086600" y="3733800"/>
            <a:ext cx="1447800" cy="990600"/>
          </a:xfrm>
          <a:prstGeom prst="wedgeRectCallout">
            <a:avLst>
              <a:gd name="adj1" fmla="val -72679"/>
              <a:gd name="adj2" fmla="val -148292"/>
            </a:avLst>
          </a:prstGeom>
          <a:solidFill>
            <a:schemeClr val="bg1">
              <a:lumMod val="95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N" b="1" dirty="0" smtClean="0">
                <a:solidFill>
                  <a:schemeClr val="tx1"/>
                </a:solidFill>
                <a:latin typeface="Times New Roman" panose="02020603050405020304" pitchFamily="18" charset="0"/>
                <a:cs typeface="Times New Roman" panose="02020603050405020304" pitchFamily="18" charset="0"/>
              </a:rPr>
              <a:t>Minima</a:t>
            </a:r>
            <a:endParaRPr lang="en-IN" b="1" dirty="0">
              <a:solidFill>
                <a:schemeClr val="tx1"/>
              </a:solidFill>
              <a:latin typeface="Times New Roman" panose="02020603050405020304" pitchFamily="18" charset="0"/>
              <a:cs typeface="Times New Roman" panose="02020603050405020304" pitchFamily="18" charset="0"/>
            </a:endParaRPr>
          </a:p>
        </p:txBody>
      </p:sp>
      <p:sp>
        <p:nvSpPr>
          <p:cNvPr id="5" name="Freeform 4"/>
          <p:cNvSpPr/>
          <p:nvPr/>
        </p:nvSpPr>
        <p:spPr>
          <a:xfrm>
            <a:off x="4844955" y="1433015"/>
            <a:ext cx="3111690" cy="1310813"/>
          </a:xfrm>
          <a:custGeom>
            <a:avLst/>
            <a:gdLst>
              <a:gd name="connsiteX0" fmla="*/ 0 w 3111690"/>
              <a:gd name="connsiteY0" fmla="*/ 136478 h 1310813"/>
              <a:gd name="connsiteX1" fmla="*/ 1897039 w 3111690"/>
              <a:gd name="connsiteY1" fmla="*/ 1310185 h 1310813"/>
              <a:gd name="connsiteX2" fmla="*/ 3111690 w 3111690"/>
              <a:gd name="connsiteY2" fmla="*/ 0 h 1310813"/>
              <a:gd name="connsiteX3" fmla="*/ 3111690 w 3111690"/>
              <a:gd name="connsiteY3" fmla="*/ 0 h 1310813"/>
            </a:gdLst>
            <a:ahLst/>
            <a:cxnLst>
              <a:cxn ang="0">
                <a:pos x="connsiteX0" y="connsiteY0"/>
              </a:cxn>
              <a:cxn ang="0">
                <a:pos x="connsiteX1" y="connsiteY1"/>
              </a:cxn>
              <a:cxn ang="0">
                <a:pos x="connsiteX2" y="connsiteY2"/>
              </a:cxn>
              <a:cxn ang="0">
                <a:pos x="connsiteX3" y="connsiteY3"/>
              </a:cxn>
            </a:cxnLst>
            <a:rect l="l" t="t" r="r" b="b"/>
            <a:pathLst>
              <a:path w="3111690" h="1310813">
                <a:moveTo>
                  <a:pt x="0" y="136478"/>
                </a:moveTo>
                <a:cubicBezTo>
                  <a:pt x="689212" y="734704"/>
                  <a:pt x="1378424" y="1332931"/>
                  <a:pt x="1897039" y="1310185"/>
                </a:cubicBezTo>
                <a:cubicBezTo>
                  <a:pt x="2415654" y="1287439"/>
                  <a:pt x="3111690" y="0"/>
                  <a:pt x="3111690" y="0"/>
                </a:cubicBezTo>
                <a:lnTo>
                  <a:pt x="3111690" y="0"/>
                </a:lnTo>
              </a:path>
            </a:pathLst>
          </a:cu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19" name="TextBox 18"/>
          <p:cNvSpPr txBox="1"/>
          <p:nvPr/>
        </p:nvSpPr>
        <p:spPr>
          <a:xfrm flipH="1">
            <a:off x="6472238" y="6600824"/>
            <a:ext cx="2366962" cy="307777"/>
          </a:xfrm>
          <a:prstGeom prst="rect">
            <a:avLst/>
          </a:prstGeom>
          <a:noFill/>
        </p:spPr>
        <p:txBody>
          <a:bodyPr wrap="square" rtlCol="0">
            <a:spAutoFit/>
          </a:bodyPr>
          <a:lstStyle/>
          <a:p>
            <a:r>
              <a:rPr lang="en-US" sz="1400" dirty="0" smtClean="0">
                <a:latin typeface="Times New Roman" panose="02020603050405020304" pitchFamily="18" charset="0"/>
                <a:cs typeface="Times New Roman" panose="02020603050405020304" pitchFamily="18" charset="0"/>
              </a:rPr>
              <a:t>Error Fun with Maxima…</a:t>
            </a:r>
            <a:endParaRPr lang="en-IN" sz="14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708532178"/>
      </p:ext>
    </p:extLst>
  </p:cSld>
  <p:clrMapOvr>
    <a:masterClrMapping/>
  </p:clrMapOvr>
  <p:timing>
    <p:tnLst>
      <p:par>
        <p:cTn id="1" dur="indefinite" restart="never" nodeType="tmRoot"/>
      </p:par>
    </p:tn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dirty="0" smtClean="0"/>
              <a:t>Error Function with a Maxima and No Minima</a:t>
            </a:r>
            <a:endParaRPr lang="en-US" dirty="0"/>
          </a:p>
        </p:txBody>
      </p:sp>
      <p:sp>
        <p:nvSpPr>
          <p:cNvPr id="14" name="TextBox 13"/>
          <p:cNvSpPr txBox="1"/>
          <p:nvPr/>
        </p:nvSpPr>
        <p:spPr>
          <a:xfrm>
            <a:off x="0" y="0"/>
            <a:ext cx="4572000" cy="369332"/>
          </a:xfrm>
          <a:prstGeom prst="rect">
            <a:avLst/>
          </a:prstGeom>
          <a:noFill/>
        </p:spPr>
        <p:txBody>
          <a:bodyPr wrap="square" rtlCol="0">
            <a:spAutoFit/>
          </a:bodyPr>
          <a:lstStyle/>
          <a:p>
            <a:pPr algn="r"/>
            <a:r>
              <a:rPr lang="en-US" b="1" dirty="0">
                <a:solidFill>
                  <a:schemeClr val="bg1"/>
                </a:solidFill>
              </a:rPr>
              <a:t>Introduction to Neural Network</a:t>
            </a:r>
          </a:p>
        </p:txBody>
      </p:sp>
      <p:sp>
        <p:nvSpPr>
          <p:cNvPr id="15" name="Date Placeholder 3"/>
          <p:cNvSpPr>
            <a:spLocks noGrp="1"/>
          </p:cNvSpPr>
          <p:nvPr>
            <p:ph type="dt" sz="half" idx="10"/>
          </p:nvPr>
        </p:nvSpPr>
        <p:spPr>
          <a:xfrm>
            <a:off x="0" y="6629400"/>
            <a:ext cx="3048000" cy="228600"/>
          </a:xfrm>
        </p:spPr>
        <p:txBody>
          <a:bodyPr/>
          <a:lstStyle/>
          <a:p>
            <a:fld id="{E7067A60-51C7-4095-BFA9-1CE32DCBA06F}" type="datetime1">
              <a:rPr lang="en-US" smtClean="0"/>
              <a:pPr/>
              <a:t>2/9/2026</a:t>
            </a:fld>
            <a:endParaRPr lang="en-US" dirty="0"/>
          </a:p>
        </p:txBody>
      </p:sp>
      <p:sp>
        <p:nvSpPr>
          <p:cNvPr id="16" name="Slide Number Placeholder 5"/>
          <p:cNvSpPr>
            <a:spLocks noGrp="1"/>
          </p:cNvSpPr>
          <p:nvPr>
            <p:ph type="sldNum" sz="quarter" idx="12"/>
          </p:nvPr>
        </p:nvSpPr>
        <p:spPr>
          <a:xfrm>
            <a:off x="6096000" y="6629400"/>
            <a:ext cx="3048000" cy="228600"/>
          </a:xfrm>
        </p:spPr>
        <p:txBody>
          <a:bodyPr/>
          <a:lstStyle/>
          <a:p>
            <a:r>
              <a:rPr lang="en-US" dirty="0" smtClean="0"/>
              <a:t>12</a:t>
            </a:r>
            <a:endParaRPr lang="en-US" dirty="0"/>
          </a:p>
        </p:txBody>
      </p:sp>
      <p:sp>
        <p:nvSpPr>
          <p:cNvPr id="17" name="Footer Placeholder 4">
            <a:extLst>
              <a:ext uri="{FF2B5EF4-FFF2-40B4-BE49-F238E27FC236}">
                <a16:creationId xmlns:a16="http://schemas.microsoft.com/office/drawing/2014/main" id="{CBB301ED-B8A4-4772-B559-A9E41E7472BD}"/>
              </a:ext>
            </a:extLst>
          </p:cNvPr>
          <p:cNvSpPr>
            <a:spLocks noGrp="1"/>
          </p:cNvSpPr>
          <p:nvPr>
            <p:ph type="ftr" sz="quarter" idx="11"/>
          </p:nvPr>
        </p:nvSpPr>
        <p:spPr>
          <a:xfrm>
            <a:off x="2286000" y="6629400"/>
            <a:ext cx="4136571" cy="228600"/>
          </a:xfrm>
        </p:spPr>
        <p:txBody>
          <a:bodyPr/>
          <a:lstStyle/>
          <a:p>
            <a:r>
              <a:rPr lang="en-US" dirty="0"/>
              <a:t>Dr. Sibarama Panigrahi, Dept. of CSE, NIT Rourkela</a:t>
            </a:r>
          </a:p>
        </p:txBody>
      </p:sp>
      <p:sp>
        <p:nvSpPr>
          <p:cNvPr id="18" name="Content Placeholder 2"/>
          <p:cNvSpPr>
            <a:spLocks noGrp="1"/>
          </p:cNvSpPr>
          <p:nvPr>
            <p:ph idx="1"/>
          </p:nvPr>
        </p:nvSpPr>
        <p:spPr>
          <a:xfrm>
            <a:off x="0" y="1066800"/>
            <a:ext cx="9144000" cy="5562600"/>
          </a:xfrm>
        </p:spPr>
        <p:txBody>
          <a:bodyPr>
            <a:normAutofit/>
          </a:bodyPr>
          <a:lstStyle/>
          <a:p>
            <a:pPr marL="336550" indent="0">
              <a:buNone/>
            </a:pPr>
            <a:endParaRPr lang="en-IN" sz="2000" i="1" dirty="0" smtClean="0"/>
          </a:p>
          <a:p>
            <a:pPr marL="336550" indent="0">
              <a:buNone/>
            </a:pPr>
            <a:endParaRPr lang="en-IN" sz="2000" dirty="0" smtClean="0"/>
          </a:p>
          <a:p>
            <a:pPr marL="336550" indent="0">
              <a:buNone/>
            </a:pPr>
            <a:endParaRPr lang="en-IN" sz="2000" dirty="0" smtClean="0"/>
          </a:p>
          <a:p>
            <a:pPr marL="336550" indent="0">
              <a:buNone/>
            </a:pPr>
            <a:endParaRPr lang="en-IN" sz="2000" dirty="0" smtClean="0"/>
          </a:p>
          <a:p>
            <a:pPr marL="336550" indent="0">
              <a:buNone/>
            </a:pPr>
            <a:endParaRPr lang="en-IN" sz="2000" dirty="0" smtClean="0"/>
          </a:p>
          <a:p>
            <a:pPr marL="336550" indent="0">
              <a:buNone/>
            </a:pPr>
            <a:endParaRPr lang="en-IN" sz="2000" dirty="0" smtClean="0"/>
          </a:p>
        </p:txBody>
      </p:sp>
      <p:graphicFrame>
        <p:nvGraphicFramePr>
          <p:cNvPr id="20" name="Chart 19"/>
          <p:cNvGraphicFramePr/>
          <p:nvPr>
            <p:extLst/>
          </p:nvPr>
        </p:nvGraphicFramePr>
        <p:xfrm>
          <a:off x="3733800" y="990600"/>
          <a:ext cx="5029200" cy="2514600"/>
        </p:xfrm>
        <a:graphic>
          <a:graphicData uri="http://schemas.openxmlformats.org/drawingml/2006/chart">
            <c:chart xmlns:c="http://schemas.openxmlformats.org/drawingml/2006/chart" xmlns:r="http://schemas.openxmlformats.org/officeDocument/2006/relationships" r:id="rId2"/>
          </a:graphicData>
        </a:graphic>
      </p:graphicFrame>
      <p:cxnSp>
        <p:nvCxnSpPr>
          <p:cNvPr id="22" name="Straight Arrow Connector 21"/>
          <p:cNvCxnSpPr/>
          <p:nvPr/>
        </p:nvCxnSpPr>
        <p:spPr>
          <a:xfrm flipV="1">
            <a:off x="3886200" y="990600"/>
            <a:ext cx="0" cy="236220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25" name="Straight Connector 24"/>
          <p:cNvCxnSpPr/>
          <p:nvPr/>
        </p:nvCxnSpPr>
        <p:spPr>
          <a:xfrm>
            <a:off x="4660931" y="1327769"/>
            <a:ext cx="3343365" cy="12919"/>
          </a:xfrm>
          <a:prstGeom prst="line">
            <a:avLst/>
          </a:prstGeom>
          <a:ln w="38100">
            <a:solidFill>
              <a:schemeClr val="tx1"/>
            </a:solidFill>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42" name="Rectangle 41"/>
              <p:cNvSpPr/>
              <p:nvPr/>
            </p:nvSpPr>
            <p:spPr>
              <a:xfrm rot="16200000">
                <a:off x="3322792" y="1244104"/>
                <a:ext cx="811172" cy="194628"/>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i="1" dirty="0" smtClean="0">
                  <a:solidFill>
                    <a:schemeClr val="tx1"/>
                  </a:solidFill>
                  <a:latin typeface="Cambria Math" panose="02040503050406030204" pitchFamily="18" charset="0"/>
                </a:endParaRPr>
              </a:p>
              <a:p>
                <a:pPr algn="ctr"/>
                <a14:m>
                  <m:oMathPara xmlns:m="http://schemas.openxmlformats.org/officeDocument/2006/math">
                    <m:oMathParaPr>
                      <m:jc m:val="centerGroup"/>
                    </m:oMathParaPr>
                    <m:oMath xmlns:m="http://schemas.openxmlformats.org/officeDocument/2006/math">
                      <m:r>
                        <a:rPr lang="en-IN" sz="1200" i="1" smtClean="0">
                          <a:solidFill>
                            <a:schemeClr val="tx1"/>
                          </a:solidFill>
                          <a:latin typeface="Cambria Math" panose="02040503050406030204" pitchFamily="18" charset="0"/>
                        </a:rPr>
                        <m:t>𝑦</m:t>
                      </m:r>
                      <m:r>
                        <a:rPr lang="en-IN" sz="1200" i="1" smtClean="0">
                          <a:solidFill>
                            <a:schemeClr val="tx1"/>
                          </a:solidFill>
                          <a:latin typeface="Cambria Math" panose="02040503050406030204" pitchFamily="18" charset="0"/>
                        </a:rPr>
                        <m:t>=</m:t>
                      </m:r>
                      <m:r>
                        <a:rPr lang="en-IN" sz="1200" i="1" smtClean="0">
                          <a:solidFill>
                            <a:schemeClr val="tx1"/>
                          </a:solidFill>
                          <a:latin typeface="Cambria Math" panose="02040503050406030204" pitchFamily="18" charset="0"/>
                        </a:rPr>
                        <m:t>𝑓</m:t>
                      </m:r>
                      <m:r>
                        <a:rPr lang="en-IN" sz="1200" i="1" smtClean="0">
                          <a:solidFill>
                            <a:schemeClr val="tx1"/>
                          </a:solidFill>
                          <a:latin typeface="Cambria Math" panose="02040503050406030204" pitchFamily="18" charset="0"/>
                        </a:rPr>
                        <m:t>(</m:t>
                      </m:r>
                      <m:r>
                        <a:rPr lang="en-IN" sz="1200" i="1" smtClean="0">
                          <a:solidFill>
                            <a:schemeClr val="tx1"/>
                          </a:solidFill>
                          <a:latin typeface="Cambria Math" panose="02040503050406030204" pitchFamily="18" charset="0"/>
                        </a:rPr>
                        <m:t>𝑥</m:t>
                      </m:r>
                      <m:r>
                        <a:rPr lang="en-IN" sz="1200" i="1" smtClean="0">
                          <a:solidFill>
                            <a:schemeClr val="tx1"/>
                          </a:solidFill>
                          <a:latin typeface="Cambria Math" panose="02040503050406030204" pitchFamily="18" charset="0"/>
                        </a:rPr>
                        <m:t>)</m:t>
                      </m:r>
                    </m:oMath>
                  </m:oMathPara>
                </a14:m>
                <a:endParaRPr lang="en-IN" sz="1200" dirty="0">
                  <a:solidFill>
                    <a:schemeClr val="tx1"/>
                  </a:solidFill>
                </a:endParaRPr>
              </a:p>
              <a:p>
                <a:pPr algn="ctr"/>
                <a:endParaRPr lang="en-IN" dirty="0"/>
              </a:p>
            </p:txBody>
          </p:sp>
        </mc:Choice>
        <mc:Fallback xmlns="">
          <p:sp>
            <p:nvSpPr>
              <p:cNvPr id="42" name="Rectangle 41"/>
              <p:cNvSpPr>
                <a:spLocks noRot="1" noChangeAspect="1" noMove="1" noResize="1" noEditPoints="1" noAdjustHandles="1" noChangeArrowheads="1" noChangeShapeType="1" noTextEdit="1"/>
              </p:cNvSpPr>
              <p:nvPr/>
            </p:nvSpPr>
            <p:spPr>
              <a:xfrm rot="16200000">
                <a:off x="3322792" y="1244104"/>
                <a:ext cx="811172" cy="194628"/>
              </a:xfrm>
              <a:prstGeom prst="rect">
                <a:avLst/>
              </a:prstGeom>
              <a:blipFill rotWithShape="0">
                <a:blip r:embed="rId3"/>
                <a:stretch>
                  <a:fillRect l="-3125" r="-31250"/>
                </a:stretch>
              </a:blipFill>
              <a:ln>
                <a:noFill/>
              </a:ln>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43" name="Rectangle 42"/>
              <p:cNvSpPr/>
              <p:nvPr/>
            </p:nvSpPr>
            <p:spPr>
              <a:xfrm>
                <a:off x="4800600" y="3455541"/>
                <a:ext cx="811172" cy="194628"/>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i="1" dirty="0" smtClean="0">
                  <a:solidFill>
                    <a:schemeClr val="tx1"/>
                  </a:solidFill>
                  <a:latin typeface="Cambria Math" panose="02040503050406030204" pitchFamily="18" charset="0"/>
                </a:endParaRPr>
              </a:p>
              <a:p>
                <a:pPr algn="ctr"/>
                <a14:m>
                  <m:oMath xmlns:m="http://schemas.openxmlformats.org/officeDocument/2006/math">
                    <m:r>
                      <a:rPr lang="en-IN" sz="2400" b="0" i="1" smtClean="0">
                        <a:solidFill>
                          <a:schemeClr val="tx1"/>
                        </a:solidFill>
                        <a:latin typeface="Cambria Math" panose="02040503050406030204" pitchFamily="18" charset="0"/>
                      </a:rPr>
                      <m:t>𝑥</m:t>
                    </m:r>
                  </m:oMath>
                </a14:m>
                <a:r>
                  <a:rPr lang="en-IN" sz="1400" b="0" dirty="0" smtClean="0">
                    <a:solidFill>
                      <a:schemeClr val="tx1"/>
                    </a:solidFill>
                  </a:rPr>
                  <a:t> </a:t>
                </a:r>
                <a:r>
                  <a:rPr lang="en-IN" sz="1400" b="0" dirty="0" smtClean="0">
                    <a:solidFill>
                      <a:schemeClr val="tx1"/>
                    </a:solidFill>
                    <a:sym typeface="Wingdings" panose="05000000000000000000" pitchFamily="2" charset="2"/>
                  </a:rPr>
                  <a:t></a:t>
                </a:r>
                <a:endParaRPr lang="en-IN" sz="1400" b="0" dirty="0" smtClean="0">
                  <a:solidFill>
                    <a:schemeClr val="tx1"/>
                  </a:solidFill>
                </a:endParaRPr>
              </a:p>
              <a:p>
                <a:pPr algn="ctr"/>
                <a:endParaRPr lang="en-IN" dirty="0"/>
              </a:p>
            </p:txBody>
          </p:sp>
        </mc:Choice>
        <mc:Fallback xmlns="">
          <p:sp>
            <p:nvSpPr>
              <p:cNvPr id="43" name="Rectangle 42"/>
              <p:cNvSpPr>
                <a:spLocks noRot="1" noChangeAspect="1" noMove="1" noResize="1" noEditPoints="1" noAdjustHandles="1" noChangeArrowheads="1" noChangeShapeType="1" noTextEdit="1"/>
              </p:cNvSpPr>
              <p:nvPr/>
            </p:nvSpPr>
            <p:spPr>
              <a:xfrm>
                <a:off x="4800600" y="3455541"/>
                <a:ext cx="811172" cy="194628"/>
              </a:xfrm>
              <a:prstGeom prst="rect">
                <a:avLst/>
              </a:prstGeom>
              <a:blipFill rotWithShape="0">
                <a:blip r:embed="rId4"/>
                <a:stretch>
                  <a:fillRect t="-9375" b="-87500"/>
                </a:stretch>
              </a:blipFill>
              <a:ln>
                <a:noFill/>
              </a:ln>
            </p:spPr>
            <p:txBody>
              <a:bodyPr/>
              <a:lstStyle/>
              <a:p>
                <a:r>
                  <a:rPr lang="en-IN">
                    <a:noFill/>
                  </a:rPr>
                  <a:t> </a:t>
                </a:r>
              </a:p>
            </p:txBody>
          </p:sp>
        </mc:Fallback>
      </mc:AlternateContent>
      <p:sp>
        <p:nvSpPr>
          <p:cNvPr id="26" name="Content Placeholder 2"/>
          <p:cNvSpPr txBox="1">
            <a:spLocks/>
          </p:cNvSpPr>
          <p:nvPr/>
        </p:nvSpPr>
        <p:spPr>
          <a:xfrm>
            <a:off x="152400" y="1219200"/>
            <a:ext cx="9144000" cy="5562600"/>
          </a:xfrm>
          <a:prstGeom prst="rect">
            <a:avLst/>
          </a:prstGeom>
        </p:spPr>
        <p:txBody>
          <a:bodyPr vert="horz" lIns="91440" tIns="45720" rIns="91440" bIns="45720" rtlCol="0">
            <a:normAutofit/>
          </a:bodyPr>
          <a:lstStyle>
            <a:lvl1pPr marL="679450" indent="-342900" algn="l" defTabSz="914400" rtl="0" eaLnBrk="1" latinLnBrk="0" hangingPunct="1">
              <a:spcBef>
                <a:spcPct val="20000"/>
              </a:spcBef>
              <a:buClr>
                <a:srgbClr val="000099"/>
              </a:buClr>
              <a:buSzPct val="120000"/>
              <a:buFont typeface="Times New Roman" pitchFamily="18" charset="0"/>
              <a:buChar char="•"/>
              <a:defRPr sz="3200" kern="1200">
                <a:solidFill>
                  <a:schemeClr val="tx1"/>
                </a:solidFill>
                <a:latin typeface="Times New Roman" pitchFamily="18" charset="0"/>
                <a:ea typeface="+mn-ea"/>
                <a:cs typeface="Times New Roman" pitchFamily="18" charset="0"/>
              </a:defRPr>
            </a:lvl1pPr>
            <a:lvl2pPr marL="971550" indent="-285750" algn="l" defTabSz="914400" rtl="0" eaLnBrk="1" latinLnBrk="0" hangingPunct="1">
              <a:spcBef>
                <a:spcPct val="20000"/>
              </a:spcBef>
              <a:buClr>
                <a:srgbClr val="000099"/>
              </a:buClr>
              <a:buSzPct val="115000"/>
              <a:buFont typeface="Arial" pitchFamily="34" charset="0"/>
              <a:buChar char="–"/>
              <a:defRPr sz="2800" kern="1200">
                <a:solidFill>
                  <a:schemeClr val="tx1"/>
                </a:solidFill>
                <a:latin typeface="Times New Roman" pitchFamily="18" charset="0"/>
                <a:ea typeface="+mn-ea"/>
                <a:cs typeface="Times New Roman" pitchFamily="18" charset="0"/>
              </a:defRPr>
            </a:lvl2pPr>
            <a:lvl3pPr marL="1317625" indent="-228600" algn="l" defTabSz="914400" rtl="0" eaLnBrk="1" latinLnBrk="0" hangingPunct="1">
              <a:spcBef>
                <a:spcPct val="20000"/>
              </a:spcBef>
              <a:buClr>
                <a:srgbClr val="000099"/>
              </a:buClr>
              <a:buSzPct val="120000"/>
              <a:buFont typeface="Arial" pitchFamily="34" charset="0"/>
              <a:buChar char="•"/>
              <a:defRPr sz="2400" kern="1200">
                <a:solidFill>
                  <a:schemeClr val="tx1"/>
                </a:solidFill>
                <a:latin typeface="Times New Roman" pitchFamily="18" charset="0"/>
                <a:ea typeface="+mn-ea"/>
                <a:cs typeface="Times New Roman" pitchFamily="18" charset="0"/>
              </a:defRPr>
            </a:lvl3pPr>
            <a:lvl4pPr marL="1600200" indent="-228600" algn="l" defTabSz="914400" rtl="0" eaLnBrk="1" latinLnBrk="0" hangingPunct="1">
              <a:spcBef>
                <a:spcPct val="20000"/>
              </a:spcBef>
              <a:buClr>
                <a:srgbClr val="000099"/>
              </a:buClr>
              <a:buFont typeface="Arial" pitchFamily="34" charset="0"/>
              <a:buChar char="–"/>
              <a:defRPr sz="2000" kern="1200">
                <a:solidFill>
                  <a:schemeClr val="tx1"/>
                </a:solidFill>
                <a:latin typeface="Times New Roman" pitchFamily="18" charset="0"/>
                <a:ea typeface="+mn-ea"/>
                <a:cs typeface="Times New Roman" pitchFamily="18" charset="0"/>
              </a:defRPr>
            </a:lvl4pPr>
            <a:lvl5pPr marL="1828800" indent="-228600" algn="l" defTabSz="914400" rtl="0" eaLnBrk="1" latinLnBrk="0" hangingPunct="1">
              <a:spcBef>
                <a:spcPct val="20000"/>
              </a:spcBef>
              <a:buClr>
                <a:srgbClr val="000099"/>
              </a:buClr>
              <a:buFont typeface="Arial" pitchFamily="34" charset="0"/>
              <a:buChar char="»"/>
              <a:defRPr sz="2000" kern="1200">
                <a:solidFill>
                  <a:schemeClr val="tx1"/>
                </a:solidFill>
                <a:latin typeface="Times New Roman" pitchFamily="18" charset="0"/>
                <a:ea typeface="+mn-ea"/>
                <a:cs typeface="Times New Roman" pitchFamily="18" charset="0"/>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336550" indent="0">
              <a:buFont typeface="Times New Roman" pitchFamily="18" charset="0"/>
              <a:buNone/>
            </a:pPr>
            <a:endParaRPr lang="en-IN" dirty="0" smtClean="0"/>
          </a:p>
          <a:p>
            <a:pPr marL="336550" indent="0">
              <a:buFont typeface="Times New Roman" pitchFamily="18" charset="0"/>
              <a:buNone/>
            </a:pPr>
            <a:endParaRPr lang="en-IN" dirty="0" smtClean="0"/>
          </a:p>
          <a:p>
            <a:pPr marL="336550" indent="0">
              <a:buFont typeface="Times New Roman" pitchFamily="18" charset="0"/>
              <a:buNone/>
            </a:pPr>
            <a:endParaRPr lang="en-IN" dirty="0" smtClean="0"/>
          </a:p>
          <a:p>
            <a:pPr marL="336550" indent="0">
              <a:buFont typeface="Times New Roman" pitchFamily="18" charset="0"/>
              <a:buNone/>
            </a:pPr>
            <a:endParaRPr lang="en-IN" sz="2400" dirty="0" smtClean="0"/>
          </a:p>
          <a:p>
            <a:pPr marL="336550" indent="0">
              <a:buFont typeface="Times New Roman" pitchFamily="18" charset="0"/>
              <a:buNone/>
            </a:pPr>
            <a:endParaRPr lang="en-IN" dirty="0" smtClean="0"/>
          </a:p>
        </p:txBody>
      </p:sp>
      <p:sp>
        <p:nvSpPr>
          <p:cNvPr id="21" name="Rectangular Callout 20"/>
          <p:cNvSpPr/>
          <p:nvPr/>
        </p:nvSpPr>
        <p:spPr>
          <a:xfrm>
            <a:off x="1390490" y="2362717"/>
            <a:ext cx="1447800" cy="941696"/>
          </a:xfrm>
          <a:prstGeom prst="wedgeRectCallout">
            <a:avLst>
              <a:gd name="adj1" fmla="val 253480"/>
              <a:gd name="adj2" fmla="val -158437"/>
            </a:avLst>
          </a:prstGeom>
          <a:solidFill>
            <a:schemeClr val="bg1">
              <a:lumMod val="95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N" b="1" dirty="0" smtClean="0">
                <a:solidFill>
                  <a:schemeClr val="tx1"/>
                </a:solidFill>
                <a:latin typeface="Times New Roman" panose="02020603050405020304" pitchFamily="18" charset="0"/>
                <a:cs typeface="Times New Roman" panose="02020603050405020304" pitchFamily="18" charset="0"/>
              </a:rPr>
              <a:t>Maxima</a:t>
            </a:r>
            <a:endParaRPr lang="en-IN" b="1" dirty="0">
              <a:solidFill>
                <a:schemeClr val="tx1"/>
              </a:solidFill>
              <a:latin typeface="Times New Roman" panose="02020603050405020304" pitchFamily="18" charset="0"/>
              <a:cs typeface="Times New Roman" panose="02020603050405020304" pitchFamily="18" charset="0"/>
            </a:endParaRPr>
          </a:p>
        </p:txBody>
      </p:sp>
      <p:sp>
        <p:nvSpPr>
          <p:cNvPr id="4" name="Freeform 3"/>
          <p:cNvSpPr/>
          <p:nvPr/>
        </p:nvSpPr>
        <p:spPr>
          <a:xfrm>
            <a:off x="4107976" y="1336612"/>
            <a:ext cx="3766782" cy="1856964"/>
          </a:xfrm>
          <a:custGeom>
            <a:avLst/>
            <a:gdLst>
              <a:gd name="connsiteX0" fmla="*/ 0 w 3766782"/>
              <a:gd name="connsiteY0" fmla="*/ 1665895 h 1856964"/>
              <a:gd name="connsiteX1" fmla="*/ 1965278 w 3766782"/>
              <a:gd name="connsiteY1" fmla="*/ 869 h 1856964"/>
              <a:gd name="connsiteX2" fmla="*/ 3766782 w 3766782"/>
              <a:gd name="connsiteY2" fmla="*/ 1856964 h 1856964"/>
            </a:gdLst>
            <a:ahLst/>
            <a:cxnLst>
              <a:cxn ang="0">
                <a:pos x="connsiteX0" y="connsiteY0"/>
              </a:cxn>
              <a:cxn ang="0">
                <a:pos x="connsiteX1" y="connsiteY1"/>
              </a:cxn>
              <a:cxn ang="0">
                <a:pos x="connsiteX2" y="connsiteY2"/>
              </a:cxn>
            </a:cxnLst>
            <a:rect l="l" t="t" r="r" b="b"/>
            <a:pathLst>
              <a:path w="3766782" h="1856964">
                <a:moveTo>
                  <a:pt x="0" y="1665895"/>
                </a:moveTo>
                <a:cubicBezTo>
                  <a:pt x="668740" y="817459"/>
                  <a:pt x="1337481" y="-30976"/>
                  <a:pt x="1965278" y="869"/>
                </a:cubicBezTo>
                <a:cubicBezTo>
                  <a:pt x="2593075" y="32714"/>
                  <a:pt x="3450609" y="1533967"/>
                  <a:pt x="3766782" y="1856964"/>
                </a:cubicBezTo>
              </a:path>
            </a:pathLst>
          </a:cu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19" name="TextBox 18"/>
          <p:cNvSpPr txBox="1"/>
          <p:nvPr/>
        </p:nvSpPr>
        <p:spPr>
          <a:xfrm flipH="1">
            <a:off x="6472238" y="6600824"/>
            <a:ext cx="2366962" cy="307777"/>
          </a:xfrm>
          <a:prstGeom prst="rect">
            <a:avLst/>
          </a:prstGeom>
          <a:noFill/>
        </p:spPr>
        <p:txBody>
          <a:bodyPr wrap="square" rtlCol="0">
            <a:spAutoFit/>
          </a:bodyPr>
          <a:lstStyle/>
          <a:p>
            <a:r>
              <a:rPr lang="en-US" sz="1400" dirty="0" smtClean="0">
                <a:latin typeface="Times New Roman" panose="02020603050405020304" pitchFamily="18" charset="0"/>
                <a:cs typeface="Times New Roman" panose="02020603050405020304" pitchFamily="18" charset="0"/>
              </a:rPr>
              <a:t>Error Fun: No Max No Min</a:t>
            </a:r>
            <a:endParaRPr lang="en-IN" sz="14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854480364"/>
      </p:ext>
    </p:extLst>
  </p:cSld>
  <p:clrMapOvr>
    <a:masterClrMapping/>
  </p:clrMapOvr>
  <p:timing>
    <p:tnLst>
      <p:par>
        <p:cTn id="1" dur="indefinite" restart="never" nodeType="tmRoot"/>
      </p:par>
    </p:tn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dirty="0" smtClean="0"/>
              <a:t>Error Function without a Maxima and Minima</a:t>
            </a:r>
            <a:endParaRPr lang="en-US" dirty="0"/>
          </a:p>
        </p:txBody>
      </p:sp>
      <p:sp>
        <p:nvSpPr>
          <p:cNvPr id="14" name="TextBox 13"/>
          <p:cNvSpPr txBox="1"/>
          <p:nvPr/>
        </p:nvSpPr>
        <p:spPr>
          <a:xfrm>
            <a:off x="0" y="0"/>
            <a:ext cx="4572000" cy="369332"/>
          </a:xfrm>
          <a:prstGeom prst="rect">
            <a:avLst/>
          </a:prstGeom>
          <a:noFill/>
        </p:spPr>
        <p:txBody>
          <a:bodyPr wrap="square" rtlCol="0">
            <a:spAutoFit/>
          </a:bodyPr>
          <a:lstStyle/>
          <a:p>
            <a:pPr algn="r"/>
            <a:r>
              <a:rPr lang="en-US" b="1" dirty="0">
                <a:solidFill>
                  <a:schemeClr val="bg1"/>
                </a:solidFill>
              </a:rPr>
              <a:t>Introduction to Neural Network</a:t>
            </a:r>
          </a:p>
        </p:txBody>
      </p:sp>
      <p:sp>
        <p:nvSpPr>
          <p:cNvPr id="15" name="Date Placeholder 3"/>
          <p:cNvSpPr>
            <a:spLocks noGrp="1"/>
          </p:cNvSpPr>
          <p:nvPr>
            <p:ph type="dt" sz="half" idx="10"/>
          </p:nvPr>
        </p:nvSpPr>
        <p:spPr>
          <a:xfrm>
            <a:off x="0" y="6629400"/>
            <a:ext cx="3048000" cy="228600"/>
          </a:xfrm>
        </p:spPr>
        <p:txBody>
          <a:bodyPr/>
          <a:lstStyle/>
          <a:p>
            <a:fld id="{E7067A60-51C7-4095-BFA9-1CE32DCBA06F}" type="datetime1">
              <a:rPr lang="en-US" smtClean="0"/>
              <a:pPr/>
              <a:t>2/9/2026</a:t>
            </a:fld>
            <a:endParaRPr lang="en-US" dirty="0"/>
          </a:p>
        </p:txBody>
      </p:sp>
      <p:sp>
        <p:nvSpPr>
          <p:cNvPr id="16" name="Slide Number Placeholder 5"/>
          <p:cNvSpPr>
            <a:spLocks noGrp="1"/>
          </p:cNvSpPr>
          <p:nvPr>
            <p:ph type="sldNum" sz="quarter" idx="12"/>
          </p:nvPr>
        </p:nvSpPr>
        <p:spPr>
          <a:xfrm>
            <a:off x="6096000" y="6629400"/>
            <a:ext cx="3048000" cy="228600"/>
          </a:xfrm>
        </p:spPr>
        <p:txBody>
          <a:bodyPr/>
          <a:lstStyle/>
          <a:p>
            <a:r>
              <a:rPr lang="en-US" dirty="0" smtClean="0"/>
              <a:t>12</a:t>
            </a:r>
            <a:endParaRPr lang="en-US" dirty="0"/>
          </a:p>
        </p:txBody>
      </p:sp>
      <p:sp>
        <p:nvSpPr>
          <p:cNvPr id="17" name="Footer Placeholder 4">
            <a:extLst>
              <a:ext uri="{FF2B5EF4-FFF2-40B4-BE49-F238E27FC236}">
                <a16:creationId xmlns:a16="http://schemas.microsoft.com/office/drawing/2014/main" id="{CBB301ED-B8A4-4772-B559-A9E41E7472BD}"/>
              </a:ext>
            </a:extLst>
          </p:cNvPr>
          <p:cNvSpPr>
            <a:spLocks noGrp="1"/>
          </p:cNvSpPr>
          <p:nvPr>
            <p:ph type="ftr" sz="quarter" idx="11"/>
          </p:nvPr>
        </p:nvSpPr>
        <p:spPr>
          <a:xfrm>
            <a:off x="2286000" y="6629400"/>
            <a:ext cx="4136571" cy="228600"/>
          </a:xfrm>
        </p:spPr>
        <p:txBody>
          <a:bodyPr/>
          <a:lstStyle/>
          <a:p>
            <a:r>
              <a:rPr lang="en-US" dirty="0"/>
              <a:t>Dr. Sibarama Panigrahi, Dept. of CSE, NIT Rourkela</a:t>
            </a:r>
          </a:p>
        </p:txBody>
      </p:sp>
      <p:sp>
        <p:nvSpPr>
          <p:cNvPr id="18" name="Content Placeholder 2"/>
          <p:cNvSpPr>
            <a:spLocks noGrp="1"/>
          </p:cNvSpPr>
          <p:nvPr>
            <p:ph idx="1"/>
          </p:nvPr>
        </p:nvSpPr>
        <p:spPr>
          <a:xfrm>
            <a:off x="0" y="1066800"/>
            <a:ext cx="9144000" cy="5562600"/>
          </a:xfrm>
        </p:spPr>
        <p:txBody>
          <a:bodyPr>
            <a:normAutofit/>
          </a:bodyPr>
          <a:lstStyle/>
          <a:p>
            <a:pPr marL="336550" indent="0">
              <a:buNone/>
            </a:pPr>
            <a:endParaRPr lang="en-IN" sz="2000" i="1" dirty="0" smtClean="0"/>
          </a:p>
          <a:p>
            <a:pPr marL="336550" indent="0">
              <a:buNone/>
            </a:pPr>
            <a:endParaRPr lang="en-IN" sz="2000" dirty="0" smtClean="0"/>
          </a:p>
          <a:p>
            <a:pPr marL="336550" indent="0">
              <a:buNone/>
            </a:pPr>
            <a:endParaRPr lang="en-IN" sz="2000" dirty="0" smtClean="0"/>
          </a:p>
          <a:p>
            <a:pPr marL="336550" indent="0">
              <a:buNone/>
            </a:pPr>
            <a:endParaRPr lang="en-IN" sz="2000" dirty="0" smtClean="0"/>
          </a:p>
          <a:p>
            <a:pPr marL="336550" indent="0">
              <a:buNone/>
            </a:pPr>
            <a:endParaRPr lang="en-IN" sz="2000" dirty="0" smtClean="0"/>
          </a:p>
          <a:p>
            <a:pPr marL="336550" indent="0">
              <a:buNone/>
            </a:pPr>
            <a:endParaRPr lang="en-IN" sz="2000" dirty="0" smtClean="0"/>
          </a:p>
        </p:txBody>
      </p:sp>
      <p:graphicFrame>
        <p:nvGraphicFramePr>
          <p:cNvPr id="20" name="Chart 19"/>
          <p:cNvGraphicFramePr/>
          <p:nvPr>
            <p:extLst/>
          </p:nvPr>
        </p:nvGraphicFramePr>
        <p:xfrm>
          <a:off x="3733800" y="990600"/>
          <a:ext cx="5029200" cy="2514600"/>
        </p:xfrm>
        <a:graphic>
          <a:graphicData uri="http://schemas.openxmlformats.org/drawingml/2006/chart">
            <c:chart xmlns:c="http://schemas.openxmlformats.org/drawingml/2006/chart" xmlns:r="http://schemas.openxmlformats.org/officeDocument/2006/relationships" r:id="rId2"/>
          </a:graphicData>
        </a:graphic>
      </p:graphicFrame>
      <p:cxnSp>
        <p:nvCxnSpPr>
          <p:cNvPr id="22" name="Straight Arrow Connector 21"/>
          <p:cNvCxnSpPr/>
          <p:nvPr/>
        </p:nvCxnSpPr>
        <p:spPr>
          <a:xfrm flipV="1">
            <a:off x="3886200" y="990600"/>
            <a:ext cx="0" cy="236220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42" name="Rectangle 41"/>
              <p:cNvSpPr/>
              <p:nvPr/>
            </p:nvSpPr>
            <p:spPr>
              <a:xfrm rot="16200000">
                <a:off x="3322792" y="1244104"/>
                <a:ext cx="811172" cy="194628"/>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i="1" dirty="0" smtClean="0">
                  <a:solidFill>
                    <a:schemeClr val="tx1"/>
                  </a:solidFill>
                  <a:latin typeface="Cambria Math" panose="02040503050406030204" pitchFamily="18" charset="0"/>
                </a:endParaRPr>
              </a:p>
              <a:p>
                <a:pPr algn="ctr"/>
                <a14:m>
                  <m:oMathPara xmlns:m="http://schemas.openxmlformats.org/officeDocument/2006/math">
                    <m:oMathParaPr>
                      <m:jc m:val="centerGroup"/>
                    </m:oMathParaPr>
                    <m:oMath xmlns:m="http://schemas.openxmlformats.org/officeDocument/2006/math">
                      <m:r>
                        <a:rPr lang="en-IN" sz="1200" i="1" smtClean="0">
                          <a:solidFill>
                            <a:schemeClr val="tx1"/>
                          </a:solidFill>
                          <a:latin typeface="Cambria Math" panose="02040503050406030204" pitchFamily="18" charset="0"/>
                        </a:rPr>
                        <m:t>𝑦</m:t>
                      </m:r>
                      <m:r>
                        <a:rPr lang="en-IN" sz="1200" i="1" smtClean="0">
                          <a:solidFill>
                            <a:schemeClr val="tx1"/>
                          </a:solidFill>
                          <a:latin typeface="Cambria Math" panose="02040503050406030204" pitchFamily="18" charset="0"/>
                        </a:rPr>
                        <m:t>=</m:t>
                      </m:r>
                      <m:r>
                        <a:rPr lang="en-IN" sz="1200" i="1" smtClean="0">
                          <a:solidFill>
                            <a:schemeClr val="tx1"/>
                          </a:solidFill>
                          <a:latin typeface="Cambria Math" panose="02040503050406030204" pitchFamily="18" charset="0"/>
                        </a:rPr>
                        <m:t>𝑓</m:t>
                      </m:r>
                      <m:r>
                        <a:rPr lang="en-IN" sz="1200" i="1" smtClean="0">
                          <a:solidFill>
                            <a:schemeClr val="tx1"/>
                          </a:solidFill>
                          <a:latin typeface="Cambria Math" panose="02040503050406030204" pitchFamily="18" charset="0"/>
                        </a:rPr>
                        <m:t>(</m:t>
                      </m:r>
                      <m:r>
                        <a:rPr lang="en-IN" sz="1200" i="1" smtClean="0">
                          <a:solidFill>
                            <a:schemeClr val="tx1"/>
                          </a:solidFill>
                          <a:latin typeface="Cambria Math" panose="02040503050406030204" pitchFamily="18" charset="0"/>
                        </a:rPr>
                        <m:t>𝑥</m:t>
                      </m:r>
                      <m:r>
                        <a:rPr lang="en-IN" sz="1200" i="1" smtClean="0">
                          <a:solidFill>
                            <a:schemeClr val="tx1"/>
                          </a:solidFill>
                          <a:latin typeface="Cambria Math" panose="02040503050406030204" pitchFamily="18" charset="0"/>
                        </a:rPr>
                        <m:t>)</m:t>
                      </m:r>
                    </m:oMath>
                  </m:oMathPara>
                </a14:m>
                <a:endParaRPr lang="en-IN" sz="1200" dirty="0">
                  <a:solidFill>
                    <a:schemeClr val="tx1"/>
                  </a:solidFill>
                </a:endParaRPr>
              </a:p>
              <a:p>
                <a:pPr algn="ctr"/>
                <a:endParaRPr lang="en-IN" dirty="0"/>
              </a:p>
            </p:txBody>
          </p:sp>
        </mc:Choice>
        <mc:Fallback xmlns="">
          <p:sp>
            <p:nvSpPr>
              <p:cNvPr id="42" name="Rectangle 41"/>
              <p:cNvSpPr>
                <a:spLocks noRot="1" noChangeAspect="1" noMove="1" noResize="1" noEditPoints="1" noAdjustHandles="1" noChangeArrowheads="1" noChangeShapeType="1" noTextEdit="1"/>
              </p:cNvSpPr>
              <p:nvPr/>
            </p:nvSpPr>
            <p:spPr>
              <a:xfrm rot="16200000">
                <a:off x="3322792" y="1244104"/>
                <a:ext cx="811172" cy="194628"/>
              </a:xfrm>
              <a:prstGeom prst="rect">
                <a:avLst/>
              </a:prstGeom>
              <a:blipFill rotWithShape="0">
                <a:blip r:embed="rId3"/>
                <a:stretch>
                  <a:fillRect l="-3125" r="-31250"/>
                </a:stretch>
              </a:blipFill>
              <a:ln>
                <a:noFill/>
              </a:ln>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43" name="Rectangle 42"/>
              <p:cNvSpPr/>
              <p:nvPr/>
            </p:nvSpPr>
            <p:spPr>
              <a:xfrm>
                <a:off x="4800600" y="3455541"/>
                <a:ext cx="811172" cy="194628"/>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i="1" dirty="0" smtClean="0">
                  <a:solidFill>
                    <a:schemeClr val="tx1"/>
                  </a:solidFill>
                  <a:latin typeface="Cambria Math" panose="02040503050406030204" pitchFamily="18" charset="0"/>
                </a:endParaRPr>
              </a:p>
              <a:p>
                <a:pPr algn="ctr"/>
                <a14:m>
                  <m:oMath xmlns:m="http://schemas.openxmlformats.org/officeDocument/2006/math">
                    <m:r>
                      <a:rPr lang="en-IN" sz="2400" b="0" i="1" smtClean="0">
                        <a:solidFill>
                          <a:schemeClr val="tx1"/>
                        </a:solidFill>
                        <a:latin typeface="Cambria Math" panose="02040503050406030204" pitchFamily="18" charset="0"/>
                      </a:rPr>
                      <m:t>𝑥</m:t>
                    </m:r>
                  </m:oMath>
                </a14:m>
                <a:r>
                  <a:rPr lang="en-IN" sz="1400" b="0" dirty="0" smtClean="0">
                    <a:solidFill>
                      <a:schemeClr val="tx1"/>
                    </a:solidFill>
                  </a:rPr>
                  <a:t> </a:t>
                </a:r>
                <a:r>
                  <a:rPr lang="en-IN" sz="1400" b="0" dirty="0" smtClean="0">
                    <a:solidFill>
                      <a:schemeClr val="tx1"/>
                    </a:solidFill>
                    <a:sym typeface="Wingdings" panose="05000000000000000000" pitchFamily="2" charset="2"/>
                  </a:rPr>
                  <a:t></a:t>
                </a:r>
                <a:endParaRPr lang="en-IN" sz="1400" b="0" dirty="0" smtClean="0">
                  <a:solidFill>
                    <a:schemeClr val="tx1"/>
                  </a:solidFill>
                </a:endParaRPr>
              </a:p>
              <a:p>
                <a:pPr algn="ctr"/>
                <a:endParaRPr lang="en-IN" dirty="0"/>
              </a:p>
            </p:txBody>
          </p:sp>
        </mc:Choice>
        <mc:Fallback xmlns="">
          <p:sp>
            <p:nvSpPr>
              <p:cNvPr id="43" name="Rectangle 42"/>
              <p:cNvSpPr>
                <a:spLocks noRot="1" noChangeAspect="1" noMove="1" noResize="1" noEditPoints="1" noAdjustHandles="1" noChangeArrowheads="1" noChangeShapeType="1" noTextEdit="1"/>
              </p:cNvSpPr>
              <p:nvPr/>
            </p:nvSpPr>
            <p:spPr>
              <a:xfrm>
                <a:off x="4800600" y="3455541"/>
                <a:ext cx="811172" cy="194628"/>
              </a:xfrm>
              <a:prstGeom prst="rect">
                <a:avLst/>
              </a:prstGeom>
              <a:blipFill rotWithShape="0">
                <a:blip r:embed="rId4"/>
                <a:stretch>
                  <a:fillRect t="-9375" b="-87500"/>
                </a:stretch>
              </a:blipFill>
              <a:ln>
                <a:noFill/>
              </a:ln>
            </p:spPr>
            <p:txBody>
              <a:bodyPr/>
              <a:lstStyle/>
              <a:p>
                <a:r>
                  <a:rPr lang="en-IN">
                    <a:noFill/>
                  </a:rPr>
                  <a:t> </a:t>
                </a:r>
              </a:p>
            </p:txBody>
          </p:sp>
        </mc:Fallback>
      </mc:AlternateContent>
      <p:sp>
        <p:nvSpPr>
          <p:cNvPr id="26" name="Content Placeholder 2"/>
          <p:cNvSpPr txBox="1">
            <a:spLocks/>
          </p:cNvSpPr>
          <p:nvPr/>
        </p:nvSpPr>
        <p:spPr>
          <a:xfrm>
            <a:off x="152400" y="1219200"/>
            <a:ext cx="9144000" cy="5562600"/>
          </a:xfrm>
          <a:prstGeom prst="rect">
            <a:avLst/>
          </a:prstGeom>
        </p:spPr>
        <p:txBody>
          <a:bodyPr vert="horz" lIns="91440" tIns="45720" rIns="91440" bIns="45720" rtlCol="0">
            <a:normAutofit/>
          </a:bodyPr>
          <a:lstStyle>
            <a:lvl1pPr marL="679450" indent="-342900" algn="l" defTabSz="914400" rtl="0" eaLnBrk="1" latinLnBrk="0" hangingPunct="1">
              <a:spcBef>
                <a:spcPct val="20000"/>
              </a:spcBef>
              <a:buClr>
                <a:srgbClr val="000099"/>
              </a:buClr>
              <a:buSzPct val="120000"/>
              <a:buFont typeface="Times New Roman" pitchFamily="18" charset="0"/>
              <a:buChar char="•"/>
              <a:defRPr sz="3200" kern="1200">
                <a:solidFill>
                  <a:schemeClr val="tx1"/>
                </a:solidFill>
                <a:latin typeface="Times New Roman" pitchFamily="18" charset="0"/>
                <a:ea typeface="+mn-ea"/>
                <a:cs typeface="Times New Roman" pitchFamily="18" charset="0"/>
              </a:defRPr>
            </a:lvl1pPr>
            <a:lvl2pPr marL="971550" indent="-285750" algn="l" defTabSz="914400" rtl="0" eaLnBrk="1" latinLnBrk="0" hangingPunct="1">
              <a:spcBef>
                <a:spcPct val="20000"/>
              </a:spcBef>
              <a:buClr>
                <a:srgbClr val="000099"/>
              </a:buClr>
              <a:buSzPct val="115000"/>
              <a:buFont typeface="Arial" pitchFamily="34" charset="0"/>
              <a:buChar char="–"/>
              <a:defRPr sz="2800" kern="1200">
                <a:solidFill>
                  <a:schemeClr val="tx1"/>
                </a:solidFill>
                <a:latin typeface="Times New Roman" pitchFamily="18" charset="0"/>
                <a:ea typeface="+mn-ea"/>
                <a:cs typeface="Times New Roman" pitchFamily="18" charset="0"/>
              </a:defRPr>
            </a:lvl2pPr>
            <a:lvl3pPr marL="1317625" indent="-228600" algn="l" defTabSz="914400" rtl="0" eaLnBrk="1" latinLnBrk="0" hangingPunct="1">
              <a:spcBef>
                <a:spcPct val="20000"/>
              </a:spcBef>
              <a:buClr>
                <a:srgbClr val="000099"/>
              </a:buClr>
              <a:buSzPct val="120000"/>
              <a:buFont typeface="Arial" pitchFamily="34" charset="0"/>
              <a:buChar char="•"/>
              <a:defRPr sz="2400" kern="1200">
                <a:solidFill>
                  <a:schemeClr val="tx1"/>
                </a:solidFill>
                <a:latin typeface="Times New Roman" pitchFamily="18" charset="0"/>
                <a:ea typeface="+mn-ea"/>
                <a:cs typeface="Times New Roman" pitchFamily="18" charset="0"/>
              </a:defRPr>
            </a:lvl3pPr>
            <a:lvl4pPr marL="1600200" indent="-228600" algn="l" defTabSz="914400" rtl="0" eaLnBrk="1" latinLnBrk="0" hangingPunct="1">
              <a:spcBef>
                <a:spcPct val="20000"/>
              </a:spcBef>
              <a:buClr>
                <a:srgbClr val="000099"/>
              </a:buClr>
              <a:buFont typeface="Arial" pitchFamily="34" charset="0"/>
              <a:buChar char="–"/>
              <a:defRPr sz="2000" kern="1200">
                <a:solidFill>
                  <a:schemeClr val="tx1"/>
                </a:solidFill>
                <a:latin typeface="Times New Roman" pitchFamily="18" charset="0"/>
                <a:ea typeface="+mn-ea"/>
                <a:cs typeface="Times New Roman" pitchFamily="18" charset="0"/>
              </a:defRPr>
            </a:lvl4pPr>
            <a:lvl5pPr marL="1828800" indent="-228600" algn="l" defTabSz="914400" rtl="0" eaLnBrk="1" latinLnBrk="0" hangingPunct="1">
              <a:spcBef>
                <a:spcPct val="20000"/>
              </a:spcBef>
              <a:buClr>
                <a:srgbClr val="000099"/>
              </a:buClr>
              <a:buFont typeface="Arial" pitchFamily="34" charset="0"/>
              <a:buChar char="»"/>
              <a:defRPr sz="2000" kern="1200">
                <a:solidFill>
                  <a:schemeClr val="tx1"/>
                </a:solidFill>
                <a:latin typeface="Times New Roman" pitchFamily="18" charset="0"/>
                <a:ea typeface="+mn-ea"/>
                <a:cs typeface="Times New Roman" pitchFamily="18" charset="0"/>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336550" indent="0">
              <a:buFont typeface="Times New Roman" pitchFamily="18" charset="0"/>
              <a:buNone/>
            </a:pPr>
            <a:endParaRPr lang="en-IN" dirty="0" smtClean="0"/>
          </a:p>
          <a:p>
            <a:pPr marL="336550" indent="0">
              <a:buFont typeface="Times New Roman" pitchFamily="18" charset="0"/>
              <a:buNone/>
            </a:pPr>
            <a:endParaRPr lang="en-IN" dirty="0" smtClean="0"/>
          </a:p>
          <a:p>
            <a:pPr marL="336550" indent="0">
              <a:buFont typeface="Times New Roman" pitchFamily="18" charset="0"/>
              <a:buNone/>
            </a:pPr>
            <a:endParaRPr lang="en-IN" dirty="0" smtClean="0"/>
          </a:p>
          <a:p>
            <a:pPr marL="336550" indent="0">
              <a:buFont typeface="Times New Roman" pitchFamily="18" charset="0"/>
              <a:buNone/>
            </a:pPr>
            <a:endParaRPr lang="en-IN" sz="2400" dirty="0" smtClean="0"/>
          </a:p>
          <a:p>
            <a:pPr marL="336550" indent="0">
              <a:buFont typeface="Times New Roman" pitchFamily="18" charset="0"/>
              <a:buNone/>
            </a:pPr>
            <a:endParaRPr lang="en-IN" dirty="0" smtClean="0"/>
          </a:p>
        </p:txBody>
      </p:sp>
      <p:sp>
        <p:nvSpPr>
          <p:cNvPr id="5" name="Freeform 4"/>
          <p:cNvSpPr/>
          <p:nvPr/>
        </p:nvSpPr>
        <p:spPr>
          <a:xfrm>
            <a:off x="4053385" y="1351128"/>
            <a:ext cx="4312693" cy="2497541"/>
          </a:xfrm>
          <a:custGeom>
            <a:avLst/>
            <a:gdLst>
              <a:gd name="connsiteX0" fmla="*/ 0 w 4312693"/>
              <a:gd name="connsiteY0" fmla="*/ 2497541 h 2497541"/>
              <a:gd name="connsiteX1" fmla="*/ 1446663 w 4312693"/>
              <a:gd name="connsiteY1" fmla="*/ 1146412 h 2497541"/>
              <a:gd name="connsiteX2" fmla="*/ 3643952 w 4312693"/>
              <a:gd name="connsiteY2" fmla="*/ 736979 h 2497541"/>
              <a:gd name="connsiteX3" fmla="*/ 4312693 w 4312693"/>
              <a:gd name="connsiteY3" fmla="*/ 0 h 2497541"/>
            </a:gdLst>
            <a:ahLst/>
            <a:cxnLst>
              <a:cxn ang="0">
                <a:pos x="connsiteX0" y="connsiteY0"/>
              </a:cxn>
              <a:cxn ang="0">
                <a:pos x="connsiteX1" y="connsiteY1"/>
              </a:cxn>
              <a:cxn ang="0">
                <a:pos x="connsiteX2" y="connsiteY2"/>
              </a:cxn>
              <a:cxn ang="0">
                <a:pos x="connsiteX3" y="connsiteY3"/>
              </a:cxn>
            </a:cxnLst>
            <a:rect l="l" t="t" r="r" b="b"/>
            <a:pathLst>
              <a:path w="4312693" h="2497541">
                <a:moveTo>
                  <a:pt x="0" y="2497541"/>
                </a:moveTo>
                <a:cubicBezTo>
                  <a:pt x="419669" y="1968690"/>
                  <a:pt x="839338" y="1439839"/>
                  <a:pt x="1446663" y="1146412"/>
                </a:cubicBezTo>
                <a:cubicBezTo>
                  <a:pt x="2053988" y="852985"/>
                  <a:pt x="3166280" y="928048"/>
                  <a:pt x="3643952" y="736979"/>
                </a:cubicBezTo>
                <a:cubicBezTo>
                  <a:pt x="4121624" y="545910"/>
                  <a:pt x="4217158" y="272955"/>
                  <a:pt x="4312693" y="0"/>
                </a:cubicBezTo>
              </a:path>
            </a:pathLst>
          </a:cu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19" name="TextBox 18"/>
          <p:cNvSpPr txBox="1"/>
          <p:nvPr/>
        </p:nvSpPr>
        <p:spPr>
          <a:xfrm flipH="1">
            <a:off x="6472238" y="6600824"/>
            <a:ext cx="2671762" cy="307777"/>
          </a:xfrm>
          <a:prstGeom prst="rect">
            <a:avLst/>
          </a:prstGeom>
          <a:noFill/>
        </p:spPr>
        <p:txBody>
          <a:bodyPr wrap="square" rtlCol="0">
            <a:spAutoFit/>
          </a:bodyPr>
          <a:lstStyle/>
          <a:p>
            <a:r>
              <a:rPr lang="en-US" sz="1400" dirty="0" smtClean="0">
                <a:latin typeface="Times New Roman" panose="02020603050405020304" pitchFamily="18" charset="0"/>
                <a:cs typeface="Times New Roman" panose="02020603050405020304" pitchFamily="18" charset="0"/>
              </a:rPr>
              <a:t>Error Fun: </a:t>
            </a:r>
            <a:r>
              <a:rPr lang="en-US" sz="1400" dirty="0" err="1" smtClean="0">
                <a:latin typeface="Times New Roman" panose="02020603050405020304" pitchFamily="18" charset="0"/>
                <a:cs typeface="Times New Roman" panose="02020603050405020304" pitchFamily="18" charset="0"/>
              </a:rPr>
              <a:t>Mult</a:t>
            </a:r>
            <a:r>
              <a:rPr lang="en-US" sz="1400" dirty="0" smtClean="0">
                <a:latin typeface="Times New Roman" panose="02020603050405020304" pitchFamily="18" charset="0"/>
                <a:cs typeface="Times New Roman" panose="02020603050405020304" pitchFamily="18" charset="0"/>
              </a:rPr>
              <a:t> Max </a:t>
            </a:r>
            <a:r>
              <a:rPr lang="en-US" sz="1400" dirty="0" err="1" smtClean="0">
                <a:latin typeface="Times New Roman" panose="02020603050405020304" pitchFamily="18" charset="0"/>
                <a:cs typeface="Times New Roman" panose="02020603050405020304" pitchFamily="18" charset="0"/>
              </a:rPr>
              <a:t>Mult</a:t>
            </a:r>
            <a:r>
              <a:rPr lang="en-US" sz="1400" dirty="0" smtClean="0">
                <a:latin typeface="Times New Roman" panose="02020603050405020304" pitchFamily="18" charset="0"/>
                <a:cs typeface="Times New Roman" panose="02020603050405020304" pitchFamily="18" charset="0"/>
              </a:rPr>
              <a:t> Min</a:t>
            </a:r>
            <a:endParaRPr lang="en-IN" sz="14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771242227"/>
      </p:ext>
    </p:extLst>
  </p:cSld>
  <p:clrMapOvr>
    <a:masterClrMapping/>
  </p:clrMapOvr>
  <p:timing>
    <p:tnLst>
      <p:par>
        <p:cTn id="1" dur="indefinite" restart="never" nodeType="tmRoot"/>
      </p:par>
    </p:tn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dirty="0" smtClean="0"/>
              <a:t>Error Function with multiple Maxima and Minima</a:t>
            </a:r>
            <a:endParaRPr lang="en-US" dirty="0"/>
          </a:p>
        </p:txBody>
      </p:sp>
      <p:sp>
        <p:nvSpPr>
          <p:cNvPr id="14" name="TextBox 13"/>
          <p:cNvSpPr txBox="1"/>
          <p:nvPr/>
        </p:nvSpPr>
        <p:spPr>
          <a:xfrm>
            <a:off x="0" y="0"/>
            <a:ext cx="4572000" cy="369332"/>
          </a:xfrm>
          <a:prstGeom prst="rect">
            <a:avLst/>
          </a:prstGeom>
          <a:noFill/>
        </p:spPr>
        <p:txBody>
          <a:bodyPr wrap="square" rtlCol="0">
            <a:spAutoFit/>
          </a:bodyPr>
          <a:lstStyle/>
          <a:p>
            <a:pPr algn="r"/>
            <a:r>
              <a:rPr lang="en-US" b="1" dirty="0">
                <a:solidFill>
                  <a:schemeClr val="bg1"/>
                </a:solidFill>
              </a:rPr>
              <a:t>Introduction to Neural Network</a:t>
            </a:r>
          </a:p>
        </p:txBody>
      </p:sp>
      <p:sp>
        <p:nvSpPr>
          <p:cNvPr id="15" name="Date Placeholder 3"/>
          <p:cNvSpPr>
            <a:spLocks noGrp="1"/>
          </p:cNvSpPr>
          <p:nvPr>
            <p:ph type="dt" sz="half" idx="10"/>
          </p:nvPr>
        </p:nvSpPr>
        <p:spPr>
          <a:xfrm>
            <a:off x="0" y="6629400"/>
            <a:ext cx="3048000" cy="228600"/>
          </a:xfrm>
        </p:spPr>
        <p:txBody>
          <a:bodyPr/>
          <a:lstStyle/>
          <a:p>
            <a:fld id="{E7067A60-51C7-4095-BFA9-1CE32DCBA06F}" type="datetime1">
              <a:rPr lang="en-US" smtClean="0"/>
              <a:pPr/>
              <a:t>2/9/2026</a:t>
            </a:fld>
            <a:endParaRPr lang="en-US" dirty="0"/>
          </a:p>
        </p:txBody>
      </p:sp>
      <p:sp>
        <p:nvSpPr>
          <p:cNvPr id="16" name="Slide Number Placeholder 5"/>
          <p:cNvSpPr>
            <a:spLocks noGrp="1"/>
          </p:cNvSpPr>
          <p:nvPr>
            <p:ph type="sldNum" sz="quarter" idx="12"/>
          </p:nvPr>
        </p:nvSpPr>
        <p:spPr>
          <a:xfrm>
            <a:off x="6096000" y="6629400"/>
            <a:ext cx="3048000" cy="228600"/>
          </a:xfrm>
        </p:spPr>
        <p:txBody>
          <a:bodyPr/>
          <a:lstStyle/>
          <a:p>
            <a:r>
              <a:rPr lang="en-US" dirty="0" smtClean="0"/>
              <a:t>12</a:t>
            </a:r>
            <a:endParaRPr lang="en-US" dirty="0"/>
          </a:p>
        </p:txBody>
      </p:sp>
      <p:sp>
        <p:nvSpPr>
          <p:cNvPr id="17" name="Footer Placeholder 4">
            <a:extLst>
              <a:ext uri="{FF2B5EF4-FFF2-40B4-BE49-F238E27FC236}">
                <a16:creationId xmlns:a16="http://schemas.microsoft.com/office/drawing/2014/main" id="{CBB301ED-B8A4-4772-B559-A9E41E7472BD}"/>
              </a:ext>
            </a:extLst>
          </p:cNvPr>
          <p:cNvSpPr>
            <a:spLocks noGrp="1"/>
          </p:cNvSpPr>
          <p:nvPr>
            <p:ph type="ftr" sz="quarter" idx="11"/>
          </p:nvPr>
        </p:nvSpPr>
        <p:spPr>
          <a:xfrm>
            <a:off x="2286000" y="6629400"/>
            <a:ext cx="4136571" cy="228600"/>
          </a:xfrm>
        </p:spPr>
        <p:txBody>
          <a:bodyPr/>
          <a:lstStyle/>
          <a:p>
            <a:r>
              <a:rPr lang="en-US" dirty="0"/>
              <a:t>Dr. Sibarama Panigrahi, Dept. of CSE, NIT Rourkela</a:t>
            </a:r>
          </a:p>
        </p:txBody>
      </p:sp>
      <p:sp>
        <p:nvSpPr>
          <p:cNvPr id="18" name="Content Placeholder 2"/>
          <p:cNvSpPr>
            <a:spLocks noGrp="1"/>
          </p:cNvSpPr>
          <p:nvPr>
            <p:ph idx="1"/>
          </p:nvPr>
        </p:nvSpPr>
        <p:spPr>
          <a:xfrm>
            <a:off x="0" y="1066800"/>
            <a:ext cx="9144000" cy="5562600"/>
          </a:xfrm>
        </p:spPr>
        <p:txBody>
          <a:bodyPr>
            <a:normAutofit/>
          </a:bodyPr>
          <a:lstStyle/>
          <a:p>
            <a:pPr marL="336550" indent="0">
              <a:buNone/>
            </a:pPr>
            <a:endParaRPr lang="en-IN" sz="2000" i="1" dirty="0" smtClean="0"/>
          </a:p>
          <a:p>
            <a:pPr marL="336550" indent="0">
              <a:buNone/>
            </a:pPr>
            <a:endParaRPr lang="en-IN" sz="2000" dirty="0" smtClean="0"/>
          </a:p>
          <a:p>
            <a:pPr marL="336550" indent="0">
              <a:buNone/>
            </a:pPr>
            <a:endParaRPr lang="en-IN" sz="2000" dirty="0" smtClean="0"/>
          </a:p>
          <a:p>
            <a:pPr marL="336550" indent="0">
              <a:buNone/>
            </a:pPr>
            <a:endParaRPr lang="en-IN" sz="2000" dirty="0" smtClean="0"/>
          </a:p>
          <a:p>
            <a:pPr marL="336550" indent="0">
              <a:buNone/>
            </a:pPr>
            <a:endParaRPr lang="en-IN" sz="2000" dirty="0" smtClean="0"/>
          </a:p>
          <a:p>
            <a:pPr marL="336550" indent="0">
              <a:buNone/>
            </a:pPr>
            <a:endParaRPr lang="en-IN" sz="2000" dirty="0" smtClean="0"/>
          </a:p>
        </p:txBody>
      </p:sp>
      <p:graphicFrame>
        <p:nvGraphicFramePr>
          <p:cNvPr id="20" name="Chart 19"/>
          <p:cNvGraphicFramePr/>
          <p:nvPr>
            <p:extLst/>
          </p:nvPr>
        </p:nvGraphicFramePr>
        <p:xfrm>
          <a:off x="3733800" y="990600"/>
          <a:ext cx="5029200" cy="2514600"/>
        </p:xfrm>
        <a:graphic>
          <a:graphicData uri="http://schemas.openxmlformats.org/drawingml/2006/chart">
            <c:chart xmlns:c="http://schemas.openxmlformats.org/drawingml/2006/chart" xmlns:r="http://schemas.openxmlformats.org/officeDocument/2006/relationships" r:id="rId2"/>
          </a:graphicData>
        </a:graphic>
      </p:graphicFrame>
      <p:cxnSp>
        <p:nvCxnSpPr>
          <p:cNvPr id="22" name="Straight Arrow Connector 21"/>
          <p:cNvCxnSpPr/>
          <p:nvPr/>
        </p:nvCxnSpPr>
        <p:spPr>
          <a:xfrm flipV="1">
            <a:off x="3886200" y="990600"/>
            <a:ext cx="0" cy="236220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42" name="Rectangle 41"/>
              <p:cNvSpPr/>
              <p:nvPr/>
            </p:nvSpPr>
            <p:spPr>
              <a:xfrm rot="16200000">
                <a:off x="3322792" y="1244104"/>
                <a:ext cx="811172" cy="194628"/>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i="1" dirty="0" smtClean="0">
                  <a:solidFill>
                    <a:schemeClr val="tx1"/>
                  </a:solidFill>
                  <a:latin typeface="Cambria Math" panose="02040503050406030204" pitchFamily="18" charset="0"/>
                </a:endParaRPr>
              </a:p>
              <a:p>
                <a:pPr algn="ctr"/>
                <a14:m>
                  <m:oMathPara xmlns:m="http://schemas.openxmlformats.org/officeDocument/2006/math">
                    <m:oMathParaPr>
                      <m:jc m:val="centerGroup"/>
                    </m:oMathParaPr>
                    <m:oMath xmlns:m="http://schemas.openxmlformats.org/officeDocument/2006/math">
                      <m:r>
                        <a:rPr lang="en-IN" sz="1200" i="1" smtClean="0">
                          <a:solidFill>
                            <a:schemeClr val="tx1"/>
                          </a:solidFill>
                          <a:latin typeface="Cambria Math" panose="02040503050406030204" pitchFamily="18" charset="0"/>
                        </a:rPr>
                        <m:t>𝑦</m:t>
                      </m:r>
                      <m:r>
                        <a:rPr lang="en-IN" sz="1200" i="1" smtClean="0">
                          <a:solidFill>
                            <a:schemeClr val="tx1"/>
                          </a:solidFill>
                          <a:latin typeface="Cambria Math" panose="02040503050406030204" pitchFamily="18" charset="0"/>
                        </a:rPr>
                        <m:t>=</m:t>
                      </m:r>
                      <m:r>
                        <a:rPr lang="en-IN" sz="1200" i="1" smtClean="0">
                          <a:solidFill>
                            <a:schemeClr val="tx1"/>
                          </a:solidFill>
                          <a:latin typeface="Cambria Math" panose="02040503050406030204" pitchFamily="18" charset="0"/>
                        </a:rPr>
                        <m:t>𝑓</m:t>
                      </m:r>
                      <m:r>
                        <a:rPr lang="en-IN" sz="1200" i="1" smtClean="0">
                          <a:solidFill>
                            <a:schemeClr val="tx1"/>
                          </a:solidFill>
                          <a:latin typeface="Cambria Math" panose="02040503050406030204" pitchFamily="18" charset="0"/>
                        </a:rPr>
                        <m:t>(</m:t>
                      </m:r>
                      <m:r>
                        <a:rPr lang="en-IN" sz="1200" i="1" smtClean="0">
                          <a:solidFill>
                            <a:schemeClr val="tx1"/>
                          </a:solidFill>
                          <a:latin typeface="Cambria Math" panose="02040503050406030204" pitchFamily="18" charset="0"/>
                        </a:rPr>
                        <m:t>𝑥</m:t>
                      </m:r>
                      <m:r>
                        <a:rPr lang="en-IN" sz="1200" i="1" smtClean="0">
                          <a:solidFill>
                            <a:schemeClr val="tx1"/>
                          </a:solidFill>
                          <a:latin typeface="Cambria Math" panose="02040503050406030204" pitchFamily="18" charset="0"/>
                        </a:rPr>
                        <m:t>)</m:t>
                      </m:r>
                    </m:oMath>
                  </m:oMathPara>
                </a14:m>
                <a:endParaRPr lang="en-IN" sz="1200" dirty="0">
                  <a:solidFill>
                    <a:schemeClr val="tx1"/>
                  </a:solidFill>
                </a:endParaRPr>
              </a:p>
              <a:p>
                <a:pPr algn="ctr"/>
                <a:endParaRPr lang="en-IN" dirty="0"/>
              </a:p>
            </p:txBody>
          </p:sp>
        </mc:Choice>
        <mc:Fallback xmlns="">
          <p:sp>
            <p:nvSpPr>
              <p:cNvPr id="42" name="Rectangle 41"/>
              <p:cNvSpPr>
                <a:spLocks noRot="1" noChangeAspect="1" noMove="1" noResize="1" noEditPoints="1" noAdjustHandles="1" noChangeArrowheads="1" noChangeShapeType="1" noTextEdit="1"/>
              </p:cNvSpPr>
              <p:nvPr/>
            </p:nvSpPr>
            <p:spPr>
              <a:xfrm rot="16200000">
                <a:off x="3322792" y="1244104"/>
                <a:ext cx="811172" cy="194628"/>
              </a:xfrm>
              <a:prstGeom prst="rect">
                <a:avLst/>
              </a:prstGeom>
              <a:blipFill rotWithShape="0">
                <a:blip r:embed="rId3"/>
                <a:stretch>
                  <a:fillRect l="-3125" r="-31250"/>
                </a:stretch>
              </a:blipFill>
              <a:ln>
                <a:noFill/>
              </a:ln>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43" name="Rectangle 42"/>
              <p:cNvSpPr/>
              <p:nvPr/>
            </p:nvSpPr>
            <p:spPr>
              <a:xfrm>
                <a:off x="4800600" y="3455541"/>
                <a:ext cx="811172" cy="194628"/>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i="1" dirty="0" smtClean="0">
                  <a:solidFill>
                    <a:schemeClr val="tx1"/>
                  </a:solidFill>
                  <a:latin typeface="Cambria Math" panose="02040503050406030204" pitchFamily="18" charset="0"/>
                </a:endParaRPr>
              </a:p>
              <a:p>
                <a:pPr algn="ctr"/>
                <a14:m>
                  <m:oMath xmlns:m="http://schemas.openxmlformats.org/officeDocument/2006/math">
                    <m:r>
                      <a:rPr lang="en-IN" sz="2400" b="0" i="1" smtClean="0">
                        <a:solidFill>
                          <a:schemeClr val="tx1"/>
                        </a:solidFill>
                        <a:latin typeface="Cambria Math" panose="02040503050406030204" pitchFamily="18" charset="0"/>
                      </a:rPr>
                      <m:t>𝑥</m:t>
                    </m:r>
                  </m:oMath>
                </a14:m>
                <a:r>
                  <a:rPr lang="en-IN" sz="1400" b="0" dirty="0" smtClean="0">
                    <a:solidFill>
                      <a:schemeClr val="tx1"/>
                    </a:solidFill>
                  </a:rPr>
                  <a:t> </a:t>
                </a:r>
                <a:r>
                  <a:rPr lang="en-IN" sz="1400" b="0" dirty="0" smtClean="0">
                    <a:solidFill>
                      <a:schemeClr val="tx1"/>
                    </a:solidFill>
                    <a:sym typeface="Wingdings" panose="05000000000000000000" pitchFamily="2" charset="2"/>
                  </a:rPr>
                  <a:t></a:t>
                </a:r>
                <a:endParaRPr lang="en-IN" sz="1400" b="0" dirty="0" smtClean="0">
                  <a:solidFill>
                    <a:schemeClr val="tx1"/>
                  </a:solidFill>
                </a:endParaRPr>
              </a:p>
              <a:p>
                <a:pPr algn="ctr"/>
                <a:endParaRPr lang="en-IN" dirty="0"/>
              </a:p>
            </p:txBody>
          </p:sp>
        </mc:Choice>
        <mc:Fallback xmlns="">
          <p:sp>
            <p:nvSpPr>
              <p:cNvPr id="43" name="Rectangle 42"/>
              <p:cNvSpPr>
                <a:spLocks noRot="1" noChangeAspect="1" noMove="1" noResize="1" noEditPoints="1" noAdjustHandles="1" noChangeArrowheads="1" noChangeShapeType="1" noTextEdit="1"/>
              </p:cNvSpPr>
              <p:nvPr/>
            </p:nvSpPr>
            <p:spPr>
              <a:xfrm>
                <a:off x="4800600" y="3455541"/>
                <a:ext cx="811172" cy="194628"/>
              </a:xfrm>
              <a:prstGeom prst="rect">
                <a:avLst/>
              </a:prstGeom>
              <a:blipFill rotWithShape="0">
                <a:blip r:embed="rId4"/>
                <a:stretch>
                  <a:fillRect t="-9375" b="-87500"/>
                </a:stretch>
              </a:blipFill>
              <a:ln>
                <a:noFill/>
              </a:ln>
            </p:spPr>
            <p:txBody>
              <a:bodyPr/>
              <a:lstStyle/>
              <a:p>
                <a:r>
                  <a:rPr lang="en-IN">
                    <a:noFill/>
                  </a:rPr>
                  <a:t> </a:t>
                </a:r>
              </a:p>
            </p:txBody>
          </p:sp>
        </mc:Fallback>
      </mc:AlternateContent>
      <p:sp>
        <p:nvSpPr>
          <p:cNvPr id="26" name="Content Placeholder 2"/>
          <p:cNvSpPr txBox="1">
            <a:spLocks/>
          </p:cNvSpPr>
          <p:nvPr/>
        </p:nvSpPr>
        <p:spPr>
          <a:xfrm>
            <a:off x="152400" y="1219200"/>
            <a:ext cx="9144000" cy="5562600"/>
          </a:xfrm>
          <a:prstGeom prst="rect">
            <a:avLst/>
          </a:prstGeom>
        </p:spPr>
        <p:txBody>
          <a:bodyPr vert="horz" lIns="91440" tIns="45720" rIns="91440" bIns="45720" rtlCol="0">
            <a:normAutofit/>
          </a:bodyPr>
          <a:lstStyle>
            <a:lvl1pPr marL="679450" indent="-342900" algn="l" defTabSz="914400" rtl="0" eaLnBrk="1" latinLnBrk="0" hangingPunct="1">
              <a:spcBef>
                <a:spcPct val="20000"/>
              </a:spcBef>
              <a:buClr>
                <a:srgbClr val="000099"/>
              </a:buClr>
              <a:buSzPct val="120000"/>
              <a:buFont typeface="Times New Roman" pitchFamily="18" charset="0"/>
              <a:buChar char="•"/>
              <a:defRPr sz="3200" kern="1200">
                <a:solidFill>
                  <a:schemeClr val="tx1"/>
                </a:solidFill>
                <a:latin typeface="Times New Roman" pitchFamily="18" charset="0"/>
                <a:ea typeface="+mn-ea"/>
                <a:cs typeface="Times New Roman" pitchFamily="18" charset="0"/>
              </a:defRPr>
            </a:lvl1pPr>
            <a:lvl2pPr marL="971550" indent="-285750" algn="l" defTabSz="914400" rtl="0" eaLnBrk="1" latinLnBrk="0" hangingPunct="1">
              <a:spcBef>
                <a:spcPct val="20000"/>
              </a:spcBef>
              <a:buClr>
                <a:srgbClr val="000099"/>
              </a:buClr>
              <a:buSzPct val="115000"/>
              <a:buFont typeface="Arial" pitchFamily="34" charset="0"/>
              <a:buChar char="–"/>
              <a:defRPr sz="2800" kern="1200">
                <a:solidFill>
                  <a:schemeClr val="tx1"/>
                </a:solidFill>
                <a:latin typeface="Times New Roman" pitchFamily="18" charset="0"/>
                <a:ea typeface="+mn-ea"/>
                <a:cs typeface="Times New Roman" pitchFamily="18" charset="0"/>
              </a:defRPr>
            </a:lvl2pPr>
            <a:lvl3pPr marL="1317625" indent="-228600" algn="l" defTabSz="914400" rtl="0" eaLnBrk="1" latinLnBrk="0" hangingPunct="1">
              <a:spcBef>
                <a:spcPct val="20000"/>
              </a:spcBef>
              <a:buClr>
                <a:srgbClr val="000099"/>
              </a:buClr>
              <a:buSzPct val="120000"/>
              <a:buFont typeface="Arial" pitchFamily="34" charset="0"/>
              <a:buChar char="•"/>
              <a:defRPr sz="2400" kern="1200">
                <a:solidFill>
                  <a:schemeClr val="tx1"/>
                </a:solidFill>
                <a:latin typeface="Times New Roman" pitchFamily="18" charset="0"/>
                <a:ea typeface="+mn-ea"/>
                <a:cs typeface="Times New Roman" pitchFamily="18" charset="0"/>
              </a:defRPr>
            </a:lvl3pPr>
            <a:lvl4pPr marL="1600200" indent="-228600" algn="l" defTabSz="914400" rtl="0" eaLnBrk="1" latinLnBrk="0" hangingPunct="1">
              <a:spcBef>
                <a:spcPct val="20000"/>
              </a:spcBef>
              <a:buClr>
                <a:srgbClr val="000099"/>
              </a:buClr>
              <a:buFont typeface="Arial" pitchFamily="34" charset="0"/>
              <a:buChar char="–"/>
              <a:defRPr sz="2000" kern="1200">
                <a:solidFill>
                  <a:schemeClr val="tx1"/>
                </a:solidFill>
                <a:latin typeface="Times New Roman" pitchFamily="18" charset="0"/>
                <a:ea typeface="+mn-ea"/>
                <a:cs typeface="Times New Roman" pitchFamily="18" charset="0"/>
              </a:defRPr>
            </a:lvl4pPr>
            <a:lvl5pPr marL="1828800" indent="-228600" algn="l" defTabSz="914400" rtl="0" eaLnBrk="1" latinLnBrk="0" hangingPunct="1">
              <a:spcBef>
                <a:spcPct val="20000"/>
              </a:spcBef>
              <a:buClr>
                <a:srgbClr val="000099"/>
              </a:buClr>
              <a:buFont typeface="Arial" pitchFamily="34" charset="0"/>
              <a:buChar char="»"/>
              <a:defRPr sz="2000" kern="1200">
                <a:solidFill>
                  <a:schemeClr val="tx1"/>
                </a:solidFill>
                <a:latin typeface="Times New Roman" pitchFamily="18" charset="0"/>
                <a:ea typeface="+mn-ea"/>
                <a:cs typeface="Times New Roman" pitchFamily="18" charset="0"/>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336550" indent="0">
              <a:buFont typeface="Times New Roman" pitchFamily="18" charset="0"/>
              <a:buNone/>
            </a:pPr>
            <a:endParaRPr lang="en-IN" dirty="0" smtClean="0"/>
          </a:p>
          <a:p>
            <a:pPr marL="336550" indent="0">
              <a:buFont typeface="Times New Roman" pitchFamily="18" charset="0"/>
              <a:buNone/>
            </a:pPr>
            <a:endParaRPr lang="en-IN" dirty="0" smtClean="0"/>
          </a:p>
          <a:p>
            <a:pPr marL="336550" indent="0">
              <a:buFont typeface="Times New Roman" pitchFamily="18" charset="0"/>
              <a:buNone/>
            </a:pPr>
            <a:endParaRPr lang="en-IN" dirty="0" smtClean="0"/>
          </a:p>
          <a:p>
            <a:pPr marL="336550" indent="0">
              <a:buFont typeface="Times New Roman" pitchFamily="18" charset="0"/>
              <a:buNone/>
            </a:pPr>
            <a:endParaRPr lang="en-IN" sz="2400" dirty="0" smtClean="0"/>
          </a:p>
          <a:p>
            <a:pPr marL="336550" indent="0">
              <a:buFont typeface="Times New Roman" pitchFamily="18" charset="0"/>
              <a:buNone/>
            </a:pPr>
            <a:endParaRPr lang="en-IN" dirty="0" smtClean="0"/>
          </a:p>
        </p:txBody>
      </p:sp>
      <p:sp>
        <p:nvSpPr>
          <p:cNvPr id="3" name="Freeform 2"/>
          <p:cNvSpPr/>
          <p:nvPr/>
        </p:nvSpPr>
        <p:spPr>
          <a:xfrm>
            <a:off x="3985146" y="1240204"/>
            <a:ext cx="4326341" cy="1947186"/>
          </a:xfrm>
          <a:custGeom>
            <a:avLst/>
            <a:gdLst>
              <a:gd name="connsiteX0" fmla="*/ 0 w 4326341"/>
              <a:gd name="connsiteY0" fmla="*/ 861551 h 1947186"/>
              <a:gd name="connsiteX1" fmla="*/ 286603 w 4326341"/>
              <a:gd name="connsiteY1" fmla="*/ 329289 h 1947186"/>
              <a:gd name="connsiteX2" fmla="*/ 504967 w 4326341"/>
              <a:gd name="connsiteY2" fmla="*/ 1516644 h 1947186"/>
              <a:gd name="connsiteX3" fmla="*/ 968991 w 4326341"/>
              <a:gd name="connsiteY3" fmla="*/ 711426 h 1947186"/>
              <a:gd name="connsiteX4" fmla="*/ 1310185 w 4326341"/>
              <a:gd name="connsiteY4" fmla="*/ 1939724 h 1947186"/>
              <a:gd name="connsiteX5" fmla="*/ 1897039 w 4326341"/>
              <a:gd name="connsiteY5" fmla="*/ 15390 h 1947186"/>
              <a:gd name="connsiteX6" fmla="*/ 2224585 w 4326341"/>
              <a:gd name="connsiteY6" fmla="*/ 998029 h 1947186"/>
              <a:gd name="connsiteX7" fmla="*/ 2784144 w 4326341"/>
              <a:gd name="connsiteY7" fmla="*/ 288345 h 1947186"/>
              <a:gd name="connsiteX8" fmla="*/ 3425588 w 4326341"/>
              <a:gd name="connsiteY8" fmla="*/ 1489348 h 1947186"/>
              <a:gd name="connsiteX9" fmla="*/ 3889612 w 4326341"/>
              <a:gd name="connsiteY9" fmla="*/ 643187 h 1947186"/>
              <a:gd name="connsiteX10" fmla="*/ 4326341 w 4326341"/>
              <a:gd name="connsiteY10" fmla="*/ 1557587 h 194718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4326341" h="1947186">
                <a:moveTo>
                  <a:pt x="0" y="861551"/>
                </a:moveTo>
                <a:cubicBezTo>
                  <a:pt x="101221" y="540829"/>
                  <a:pt x="202442" y="220107"/>
                  <a:pt x="286603" y="329289"/>
                </a:cubicBezTo>
                <a:cubicBezTo>
                  <a:pt x="370764" y="438471"/>
                  <a:pt x="391236" y="1452955"/>
                  <a:pt x="504967" y="1516644"/>
                </a:cubicBezTo>
                <a:cubicBezTo>
                  <a:pt x="618698" y="1580333"/>
                  <a:pt x="834788" y="640913"/>
                  <a:pt x="968991" y="711426"/>
                </a:cubicBezTo>
                <a:cubicBezTo>
                  <a:pt x="1103194" y="781939"/>
                  <a:pt x="1155510" y="2055730"/>
                  <a:pt x="1310185" y="1939724"/>
                </a:cubicBezTo>
                <a:cubicBezTo>
                  <a:pt x="1464860" y="1823718"/>
                  <a:pt x="1744639" y="172339"/>
                  <a:pt x="1897039" y="15390"/>
                </a:cubicBezTo>
                <a:cubicBezTo>
                  <a:pt x="2049439" y="-141559"/>
                  <a:pt x="2076734" y="952537"/>
                  <a:pt x="2224585" y="998029"/>
                </a:cubicBezTo>
                <a:cubicBezTo>
                  <a:pt x="2372436" y="1043521"/>
                  <a:pt x="2583977" y="206459"/>
                  <a:pt x="2784144" y="288345"/>
                </a:cubicBezTo>
                <a:cubicBezTo>
                  <a:pt x="2984311" y="370231"/>
                  <a:pt x="3241343" y="1430208"/>
                  <a:pt x="3425588" y="1489348"/>
                </a:cubicBezTo>
                <a:cubicBezTo>
                  <a:pt x="3609833" y="1548488"/>
                  <a:pt x="3739487" y="631814"/>
                  <a:pt x="3889612" y="643187"/>
                </a:cubicBezTo>
                <a:cubicBezTo>
                  <a:pt x="4039737" y="654560"/>
                  <a:pt x="4183039" y="1106073"/>
                  <a:pt x="4326341" y="1557587"/>
                </a:cubicBezTo>
              </a:path>
            </a:pathLst>
          </a:cu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19" name="Rectangular Callout 18"/>
          <p:cNvSpPr/>
          <p:nvPr/>
        </p:nvSpPr>
        <p:spPr>
          <a:xfrm>
            <a:off x="914400" y="4191000"/>
            <a:ext cx="1447800" cy="941696"/>
          </a:xfrm>
          <a:prstGeom prst="wedgeRectCallout">
            <a:avLst>
              <a:gd name="adj1" fmla="val 253480"/>
              <a:gd name="adj2" fmla="val -158437"/>
            </a:avLst>
          </a:prstGeom>
          <a:solidFill>
            <a:schemeClr val="bg1">
              <a:lumMod val="95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N" b="1" dirty="0" smtClean="0">
                <a:solidFill>
                  <a:schemeClr val="tx1"/>
                </a:solidFill>
                <a:latin typeface="Times New Roman" panose="02020603050405020304" pitchFamily="18" charset="0"/>
                <a:cs typeface="Times New Roman" panose="02020603050405020304" pitchFamily="18" charset="0"/>
              </a:rPr>
              <a:t>Global Minima</a:t>
            </a:r>
            <a:endParaRPr lang="en-IN" b="1" dirty="0">
              <a:solidFill>
                <a:schemeClr val="tx1"/>
              </a:solidFill>
              <a:latin typeface="Times New Roman" panose="02020603050405020304" pitchFamily="18" charset="0"/>
              <a:cs typeface="Times New Roman" panose="02020603050405020304" pitchFamily="18" charset="0"/>
            </a:endParaRPr>
          </a:p>
        </p:txBody>
      </p:sp>
      <p:sp>
        <p:nvSpPr>
          <p:cNvPr id="21" name="Rectangular Callout 20"/>
          <p:cNvSpPr/>
          <p:nvPr/>
        </p:nvSpPr>
        <p:spPr>
          <a:xfrm>
            <a:off x="4083223" y="4661848"/>
            <a:ext cx="1447800" cy="941696"/>
          </a:xfrm>
          <a:prstGeom prst="wedgeRectCallout">
            <a:avLst>
              <a:gd name="adj1" fmla="val 179952"/>
              <a:gd name="adj2" fmla="val -254089"/>
            </a:avLst>
          </a:prstGeom>
          <a:solidFill>
            <a:schemeClr val="bg1">
              <a:lumMod val="95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N" b="1" dirty="0" smtClean="0">
                <a:solidFill>
                  <a:schemeClr val="tx1"/>
                </a:solidFill>
                <a:latin typeface="Times New Roman" panose="02020603050405020304" pitchFamily="18" charset="0"/>
                <a:cs typeface="Times New Roman" panose="02020603050405020304" pitchFamily="18" charset="0"/>
              </a:rPr>
              <a:t>Local Minima</a:t>
            </a:r>
            <a:endParaRPr lang="en-IN" b="1" dirty="0">
              <a:solidFill>
                <a:schemeClr val="tx1"/>
              </a:solidFill>
              <a:latin typeface="Times New Roman" panose="02020603050405020304" pitchFamily="18" charset="0"/>
              <a:cs typeface="Times New Roman" panose="02020603050405020304" pitchFamily="18" charset="0"/>
            </a:endParaRPr>
          </a:p>
        </p:txBody>
      </p:sp>
      <p:cxnSp>
        <p:nvCxnSpPr>
          <p:cNvPr id="6" name="Straight Connector 5"/>
          <p:cNvCxnSpPr/>
          <p:nvPr/>
        </p:nvCxnSpPr>
        <p:spPr>
          <a:xfrm flipH="1">
            <a:off x="4940490" y="4661848"/>
            <a:ext cx="12510" cy="19334"/>
          </a:xfrm>
          <a:prstGeom prst="line">
            <a:avLst/>
          </a:prstGeom>
        </p:spPr>
        <p:style>
          <a:lnRef idx="1">
            <a:schemeClr val="dk1"/>
          </a:lnRef>
          <a:fillRef idx="0">
            <a:schemeClr val="dk1"/>
          </a:fillRef>
          <a:effectRef idx="0">
            <a:schemeClr val="dk1"/>
          </a:effectRef>
          <a:fontRef idx="minor">
            <a:schemeClr val="tx1"/>
          </a:fontRef>
        </p:style>
      </p:cxnSp>
      <p:cxnSp>
        <p:nvCxnSpPr>
          <p:cNvPr id="8" name="Straight Connector 7"/>
          <p:cNvCxnSpPr/>
          <p:nvPr/>
        </p:nvCxnSpPr>
        <p:spPr>
          <a:xfrm flipH="1" flipV="1">
            <a:off x="4495800" y="2708645"/>
            <a:ext cx="457200" cy="1953203"/>
          </a:xfrm>
          <a:prstGeom prst="line">
            <a:avLst/>
          </a:prstGeom>
        </p:spPr>
        <p:style>
          <a:lnRef idx="1">
            <a:schemeClr val="accent1"/>
          </a:lnRef>
          <a:fillRef idx="0">
            <a:schemeClr val="accent1"/>
          </a:fillRef>
          <a:effectRef idx="0">
            <a:schemeClr val="accent1"/>
          </a:effectRef>
          <a:fontRef idx="minor">
            <a:schemeClr val="tx1"/>
          </a:fontRef>
        </p:style>
      </p:cxnSp>
      <p:cxnSp>
        <p:nvCxnSpPr>
          <p:cNvPr id="10" name="Straight Connector 9"/>
          <p:cNvCxnSpPr>
            <a:endCxn id="3" idx="6"/>
          </p:cNvCxnSpPr>
          <p:nvPr/>
        </p:nvCxnSpPr>
        <p:spPr>
          <a:xfrm flipV="1">
            <a:off x="4953000" y="2238233"/>
            <a:ext cx="1256731" cy="2433282"/>
          </a:xfrm>
          <a:prstGeom prst="line">
            <a:avLst/>
          </a:prstGeom>
        </p:spPr>
        <p:style>
          <a:lnRef idx="1">
            <a:schemeClr val="accent1"/>
          </a:lnRef>
          <a:fillRef idx="0">
            <a:schemeClr val="accent1"/>
          </a:fillRef>
          <a:effectRef idx="0">
            <a:schemeClr val="accent1"/>
          </a:effectRef>
          <a:fontRef idx="minor">
            <a:schemeClr val="tx1"/>
          </a:fontRef>
        </p:style>
      </p:cxnSp>
      <p:sp>
        <p:nvSpPr>
          <p:cNvPr id="23" name="TextBox 22"/>
          <p:cNvSpPr txBox="1"/>
          <p:nvPr/>
        </p:nvSpPr>
        <p:spPr>
          <a:xfrm flipH="1">
            <a:off x="6472238" y="6600824"/>
            <a:ext cx="2671762" cy="307777"/>
          </a:xfrm>
          <a:prstGeom prst="rect">
            <a:avLst/>
          </a:prstGeom>
          <a:noFill/>
        </p:spPr>
        <p:txBody>
          <a:bodyPr wrap="square" rtlCol="0">
            <a:spAutoFit/>
          </a:bodyPr>
          <a:lstStyle/>
          <a:p>
            <a:r>
              <a:rPr lang="en-US" sz="1400" dirty="0" smtClean="0">
                <a:latin typeface="Times New Roman" panose="02020603050405020304" pitchFamily="18" charset="0"/>
                <a:cs typeface="Times New Roman" panose="02020603050405020304" pitchFamily="18" charset="0"/>
              </a:rPr>
              <a:t>Training a Single Neuron Model</a:t>
            </a:r>
            <a:endParaRPr lang="en-IN" sz="14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89086746"/>
      </p:ext>
    </p:extLst>
  </p:cSld>
  <p:clrMapOvr>
    <a:masterClrMapping/>
  </p:clrMapOvr>
  <p:timing>
    <p:tnLst>
      <p:par>
        <p:cTn id="1" dur="indefinite" restart="never" nodeType="tmRoot"/>
      </p:par>
    </p:tn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cap="small" dirty="0"/>
              <a:t>Training a single-neuron model</a:t>
            </a:r>
          </a:p>
        </p:txBody>
      </p:sp>
      <p:sp>
        <p:nvSpPr>
          <p:cNvPr id="3" name="Content Placeholder 2"/>
          <p:cNvSpPr>
            <a:spLocks noGrp="1"/>
          </p:cNvSpPr>
          <p:nvPr>
            <p:ph idx="1"/>
          </p:nvPr>
        </p:nvSpPr>
        <p:spPr/>
        <p:txBody>
          <a:bodyPr>
            <a:normAutofit/>
          </a:bodyPr>
          <a:lstStyle/>
          <a:p>
            <a:endParaRPr lang="en-US" dirty="0"/>
          </a:p>
          <a:p>
            <a:endParaRPr lang="en-US" dirty="0"/>
          </a:p>
          <a:p>
            <a:endParaRPr lang="en-US" dirty="0"/>
          </a:p>
          <a:p>
            <a:endParaRPr lang="en-US" dirty="0"/>
          </a:p>
          <a:p>
            <a:endParaRPr lang="en-US" dirty="0"/>
          </a:p>
          <a:p>
            <a:endParaRPr lang="en-US" dirty="0"/>
          </a:p>
          <a:p>
            <a:r>
              <a:rPr lang="en-US" dirty="0"/>
              <a:t>Step-1: Define the loss function</a:t>
            </a:r>
          </a:p>
          <a:p>
            <a:endParaRPr lang="en-US" dirty="0"/>
          </a:p>
          <a:p>
            <a:r>
              <a:rPr lang="en-US" dirty="0"/>
              <a:t>Step-2:  Define the optimization </a:t>
            </a:r>
          </a:p>
        </p:txBody>
      </p:sp>
      <p:sp>
        <p:nvSpPr>
          <p:cNvPr id="4" name="Date Placeholder 3"/>
          <p:cNvSpPr>
            <a:spLocks noGrp="1"/>
          </p:cNvSpPr>
          <p:nvPr>
            <p:ph type="dt" sz="half" idx="10"/>
          </p:nvPr>
        </p:nvSpPr>
        <p:spPr/>
        <p:txBody>
          <a:bodyPr/>
          <a:lstStyle/>
          <a:p>
            <a:fld id="{E7067A60-51C7-4095-BFA9-1CE32DCBA06F}" type="datetime1">
              <a:rPr lang="en-US" smtClean="0"/>
              <a:pPr/>
              <a:t>2/9/2026</a:t>
            </a:fld>
            <a:endParaRPr lang="en-US" dirty="0"/>
          </a:p>
        </p:txBody>
      </p:sp>
      <p:sp>
        <p:nvSpPr>
          <p:cNvPr id="6" name="Slide Number Placeholder 5"/>
          <p:cNvSpPr>
            <a:spLocks noGrp="1"/>
          </p:cNvSpPr>
          <p:nvPr>
            <p:ph type="sldNum" sz="quarter" idx="12"/>
          </p:nvPr>
        </p:nvSpPr>
        <p:spPr/>
        <p:txBody>
          <a:bodyPr/>
          <a:lstStyle/>
          <a:p>
            <a:r>
              <a:rPr lang="en-US" dirty="0" smtClean="0"/>
              <a:t>13</a:t>
            </a:r>
            <a:endParaRPr lang="en-US" dirty="0"/>
          </a:p>
        </p:txBody>
      </p:sp>
      <p:sp>
        <p:nvSpPr>
          <p:cNvPr id="7" name="TextBox 6"/>
          <p:cNvSpPr txBox="1"/>
          <p:nvPr/>
        </p:nvSpPr>
        <p:spPr>
          <a:xfrm>
            <a:off x="0" y="0"/>
            <a:ext cx="4572000" cy="369332"/>
          </a:xfrm>
          <a:prstGeom prst="rect">
            <a:avLst/>
          </a:prstGeom>
          <a:noFill/>
        </p:spPr>
        <p:txBody>
          <a:bodyPr wrap="square" rtlCol="0">
            <a:spAutoFit/>
          </a:bodyPr>
          <a:lstStyle/>
          <a:p>
            <a:pPr algn="r"/>
            <a:r>
              <a:rPr lang="en-US" b="1" dirty="0">
                <a:solidFill>
                  <a:schemeClr val="bg1"/>
                </a:solidFill>
              </a:rPr>
              <a:t>Introduction to Neural Network</a:t>
            </a:r>
          </a:p>
        </p:txBody>
      </p:sp>
      <p:sp>
        <p:nvSpPr>
          <p:cNvPr id="8" name="Rectangle 2"/>
          <p:cNvSpPr>
            <a:spLocks noChangeArrowheads="1"/>
          </p:cNvSpPr>
          <p:nvPr/>
        </p:nvSpPr>
        <p:spPr bwMode="auto">
          <a:xfrm>
            <a:off x="0" y="0"/>
            <a:ext cx="91440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sp>
        <p:nvSpPr>
          <p:cNvPr id="9" name="Rectangle 2"/>
          <p:cNvSpPr>
            <a:spLocks noChangeArrowheads="1"/>
          </p:cNvSpPr>
          <p:nvPr/>
        </p:nvSpPr>
        <p:spPr bwMode="auto">
          <a:xfrm>
            <a:off x="0" y="0"/>
            <a:ext cx="91440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sp>
        <p:nvSpPr>
          <p:cNvPr id="11" name="Footer Placeholder 4">
            <a:extLst>
              <a:ext uri="{FF2B5EF4-FFF2-40B4-BE49-F238E27FC236}">
                <a16:creationId xmlns:a16="http://schemas.microsoft.com/office/drawing/2014/main" id="{CBB301ED-B8A4-4772-B559-A9E41E7472BD}"/>
              </a:ext>
            </a:extLst>
          </p:cNvPr>
          <p:cNvSpPr>
            <a:spLocks noGrp="1"/>
          </p:cNvSpPr>
          <p:nvPr>
            <p:ph type="ftr" sz="quarter" idx="11"/>
          </p:nvPr>
        </p:nvSpPr>
        <p:spPr>
          <a:xfrm>
            <a:off x="2286000" y="6629400"/>
            <a:ext cx="4136571" cy="228600"/>
          </a:xfrm>
        </p:spPr>
        <p:txBody>
          <a:bodyPr/>
          <a:lstStyle/>
          <a:p>
            <a:r>
              <a:rPr lang="en-US" dirty="0"/>
              <a:t>Dr. Sibarama Panigrahi, Dept. of CSE, NIT Rourkela</a:t>
            </a:r>
          </a:p>
        </p:txBody>
      </p:sp>
      <p:sp>
        <p:nvSpPr>
          <p:cNvPr id="10" name="Oval 9"/>
          <p:cNvSpPr/>
          <p:nvPr/>
        </p:nvSpPr>
        <p:spPr>
          <a:xfrm>
            <a:off x="2971800" y="1600200"/>
            <a:ext cx="1066800" cy="1295400"/>
          </a:xfrm>
          <a:prstGeom prst="ellipse">
            <a:avLst/>
          </a:prstGeom>
          <a:solidFill>
            <a:schemeClr val="accent1">
              <a:alpha val="17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4400" b="1" dirty="0">
                <a:solidFill>
                  <a:schemeClr val="tx1"/>
                </a:solidFill>
              </a:rPr>
              <a:t>∑</a:t>
            </a:r>
          </a:p>
        </p:txBody>
      </p:sp>
      <p:cxnSp>
        <p:nvCxnSpPr>
          <p:cNvPr id="12" name="Straight Arrow Connector 11"/>
          <p:cNvCxnSpPr/>
          <p:nvPr/>
        </p:nvCxnSpPr>
        <p:spPr>
          <a:xfrm>
            <a:off x="1219200" y="1219200"/>
            <a:ext cx="1828800" cy="685800"/>
          </a:xfrm>
          <a:prstGeom prst="straightConnector1">
            <a:avLst/>
          </a:prstGeom>
          <a:ln w="25400">
            <a:tailEnd type="arrow"/>
          </a:ln>
        </p:spPr>
        <p:style>
          <a:lnRef idx="1">
            <a:schemeClr val="accent1"/>
          </a:lnRef>
          <a:fillRef idx="0">
            <a:schemeClr val="accent1"/>
          </a:fillRef>
          <a:effectRef idx="0">
            <a:schemeClr val="accent1"/>
          </a:effectRef>
          <a:fontRef idx="minor">
            <a:schemeClr val="tx1"/>
          </a:fontRef>
        </p:style>
      </p:cxnSp>
      <p:cxnSp>
        <p:nvCxnSpPr>
          <p:cNvPr id="13" name="Straight Arrow Connector 12"/>
          <p:cNvCxnSpPr/>
          <p:nvPr/>
        </p:nvCxnSpPr>
        <p:spPr>
          <a:xfrm>
            <a:off x="1156648" y="1649104"/>
            <a:ext cx="1828800" cy="457200"/>
          </a:xfrm>
          <a:prstGeom prst="straightConnector1">
            <a:avLst/>
          </a:prstGeom>
          <a:ln w="25400">
            <a:tailEnd type="arrow"/>
          </a:ln>
        </p:spPr>
        <p:style>
          <a:lnRef idx="1">
            <a:schemeClr val="accent1"/>
          </a:lnRef>
          <a:fillRef idx="0">
            <a:schemeClr val="accent1"/>
          </a:fillRef>
          <a:effectRef idx="0">
            <a:schemeClr val="accent1"/>
          </a:effectRef>
          <a:fontRef idx="minor">
            <a:schemeClr val="tx1"/>
          </a:fontRef>
        </p:style>
      </p:cxnSp>
      <p:cxnSp>
        <p:nvCxnSpPr>
          <p:cNvPr id="14" name="Straight Arrow Connector 13"/>
          <p:cNvCxnSpPr/>
          <p:nvPr/>
        </p:nvCxnSpPr>
        <p:spPr>
          <a:xfrm>
            <a:off x="1150960" y="2217760"/>
            <a:ext cx="1828800" cy="76200"/>
          </a:xfrm>
          <a:prstGeom prst="straightConnector1">
            <a:avLst/>
          </a:prstGeom>
          <a:ln w="25400">
            <a:tailEnd type="arrow"/>
          </a:ln>
        </p:spPr>
        <p:style>
          <a:lnRef idx="1">
            <a:schemeClr val="accent1"/>
          </a:lnRef>
          <a:fillRef idx="0">
            <a:schemeClr val="accent1"/>
          </a:fillRef>
          <a:effectRef idx="0">
            <a:schemeClr val="accent1"/>
          </a:effectRef>
          <a:fontRef idx="minor">
            <a:schemeClr val="tx1"/>
          </a:fontRef>
        </p:style>
      </p:cxnSp>
      <p:cxnSp>
        <p:nvCxnSpPr>
          <p:cNvPr id="15" name="Straight Arrow Connector 14"/>
          <p:cNvCxnSpPr>
            <a:endCxn id="10" idx="3"/>
          </p:cNvCxnSpPr>
          <p:nvPr/>
        </p:nvCxnSpPr>
        <p:spPr>
          <a:xfrm flipV="1">
            <a:off x="1143000" y="2705893"/>
            <a:ext cx="1985029" cy="646907"/>
          </a:xfrm>
          <a:prstGeom prst="straightConnector1">
            <a:avLst/>
          </a:prstGeom>
          <a:ln w="25400">
            <a:tailEnd type="arrow"/>
          </a:ln>
        </p:spPr>
        <p:style>
          <a:lnRef idx="1">
            <a:schemeClr val="accent1"/>
          </a:lnRef>
          <a:fillRef idx="0">
            <a:schemeClr val="accent1"/>
          </a:fillRef>
          <a:effectRef idx="0">
            <a:schemeClr val="accent1"/>
          </a:effectRef>
          <a:fontRef idx="minor">
            <a:schemeClr val="tx1"/>
          </a:fontRef>
        </p:style>
      </p:cxnSp>
      <p:sp>
        <p:nvSpPr>
          <p:cNvPr id="16" name="TextBox 15"/>
          <p:cNvSpPr txBox="1"/>
          <p:nvPr/>
        </p:nvSpPr>
        <p:spPr>
          <a:xfrm>
            <a:off x="914400" y="1002268"/>
            <a:ext cx="457200" cy="369332"/>
          </a:xfrm>
          <a:prstGeom prst="rect">
            <a:avLst/>
          </a:prstGeom>
          <a:noFill/>
        </p:spPr>
        <p:txBody>
          <a:bodyPr wrap="square" rtlCol="0">
            <a:spAutoFit/>
          </a:bodyPr>
          <a:lstStyle/>
          <a:p>
            <a:r>
              <a:rPr lang="en-US" dirty="0"/>
              <a:t>x</a:t>
            </a:r>
            <a:r>
              <a:rPr lang="en-US" baseline="-25000" dirty="0"/>
              <a:t>i1</a:t>
            </a:r>
          </a:p>
        </p:txBody>
      </p:sp>
      <p:sp>
        <p:nvSpPr>
          <p:cNvPr id="17" name="TextBox 16"/>
          <p:cNvSpPr txBox="1"/>
          <p:nvPr/>
        </p:nvSpPr>
        <p:spPr>
          <a:xfrm>
            <a:off x="838200" y="1459468"/>
            <a:ext cx="457200" cy="369332"/>
          </a:xfrm>
          <a:prstGeom prst="rect">
            <a:avLst/>
          </a:prstGeom>
          <a:noFill/>
        </p:spPr>
        <p:txBody>
          <a:bodyPr wrap="square" rtlCol="0">
            <a:spAutoFit/>
          </a:bodyPr>
          <a:lstStyle/>
          <a:p>
            <a:r>
              <a:rPr lang="en-US" dirty="0"/>
              <a:t>x</a:t>
            </a:r>
            <a:r>
              <a:rPr lang="en-US" baseline="-25000" dirty="0"/>
              <a:t>i2</a:t>
            </a:r>
          </a:p>
        </p:txBody>
      </p:sp>
      <p:sp>
        <p:nvSpPr>
          <p:cNvPr id="18" name="TextBox 17"/>
          <p:cNvSpPr txBox="1"/>
          <p:nvPr/>
        </p:nvSpPr>
        <p:spPr>
          <a:xfrm>
            <a:off x="838200" y="1992868"/>
            <a:ext cx="457200" cy="369332"/>
          </a:xfrm>
          <a:prstGeom prst="rect">
            <a:avLst/>
          </a:prstGeom>
          <a:noFill/>
        </p:spPr>
        <p:txBody>
          <a:bodyPr wrap="square" rtlCol="0">
            <a:spAutoFit/>
          </a:bodyPr>
          <a:lstStyle/>
          <a:p>
            <a:r>
              <a:rPr lang="en-US" dirty="0"/>
              <a:t>x</a:t>
            </a:r>
            <a:r>
              <a:rPr lang="en-US" baseline="-25000" dirty="0"/>
              <a:t>i3</a:t>
            </a:r>
          </a:p>
        </p:txBody>
      </p:sp>
      <p:sp>
        <p:nvSpPr>
          <p:cNvPr id="19" name="TextBox 18"/>
          <p:cNvSpPr txBox="1"/>
          <p:nvPr/>
        </p:nvSpPr>
        <p:spPr>
          <a:xfrm>
            <a:off x="838200" y="3135868"/>
            <a:ext cx="457200" cy="369332"/>
          </a:xfrm>
          <a:prstGeom prst="rect">
            <a:avLst/>
          </a:prstGeom>
          <a:noFill/>
        </p:spPr>
        <p:txBody>
          <a:bodyPr wrap="square" rtlCol="0">
            <a:spAutoFit/>
          </a:bodyPr>
          <a:lstStyle/>
          <a:p>
            <a:r>
              <a:rPr lang="en-US" dirty="0" err="1"/>
              <a:t>x</a:t>
            </a:r>
            <a:r>
              <a:rPr lang="en-US" baseline="-25000" dirty="0" err="1"/>
              <a:t>id</a:t>
            </a:r>
            <a:endParaRPr lang="en-US" baseline="-25000" dirty="0"/>
          </a:p>
        </p:txBody>
      </p:sp>
      <p:sp>
        <p:nvSpPr>
          <p:cNvPr id="20" name="TextBox 19"/>
          <p:cNvSpPr txBox="1"/>
          <p:nvPr/>
        </p:nvSpPr>
        <p:spPr>
          <a:xfrm>
            <a:off x="1447800" y="2362200"/>
            <a:ext cx="76200" cy="923330"/>
          </a:xfrm>
          <a:prstGeom prst="rect">
            <a:avLst/>
          </a:prstGeom>
          <a:noFill/>
        </p:spPr>
        <p:txBody>
          <a:bodyPr wrap="square" rtlCol="0">
            <a:spAutoFit/>
          </a:bodyPr>
          <a:lstStyle/>
          <a:p>
            <a:r>
              <a:rPr lang="en-US" dirty="0"/>
              <a:t>:</a:t>
            </a:r>
          </a:p>
          <a:p>
            <a:r>
              <a:rPr lang="en-US" dirty="0"/>
              <a:t>:</a:t>
            </a:r>
          </a:p>
          <a:p>
            <a:r>
              <a:rPr lang="en-US" dirty="0"/>
              <a:t>:</a:t>
            </a:r>
          </a:p>
        </p:txBody>
      </p:sp>
      <p:sp>
        <p:nvSpPr>
          <p:cNvPr id="21" name="TextBox 20"/>
          <p:cNvSpPr txBox="1"/>
          <p:nvPr/>
        </p:nvSpPr>
        <p:spPr>
          <a:xfrm>
            <a:off x="2895600" y="2895600"/>
            <a:ext cx="1143000" cy="369332"/>
          </a:xfrm>
          <a:prstGeom prst="rect">
            <a:avLst/>
          </a:prstGeom>
          <a:noFill/>
        </p:spPr>
        <p:txBody>
          <a:bodyPr wrap="square" rtlCol="0">
            <a:spAutoFit/>
          </a:bodyPr>
          <a:lstStyle/>
          <a:p>
            <a:r>
              <a:rPr lang="en-US" dirty="0" err="1"/>
              <a:t>K</a:t>
            </a:r>
            <a:r>
              <a:rPr lang="en-US" baseline="30000" dirty="0" err="1"/>
              <a:t>th</a:t>
            </a:r>
            <a:r>
              <a:rPr lang="en-US" dirty="0"/>
              <a:t> Neuron</a:t>
            </a:r>
            <a:endParaRPr lang="en-US" baseline="30000" dirty="0"/>
          </a:p>
        </p:txBody>
      </p:sp>
      <p:sp>
        <p:nvSpPr>
          <p:cNvPr id="22" name="TextBox 21"/>
          <p:cNvSpPr txBox="1"/>
          <p:nvPr/>
        </p:nvSpPr>
        <p:spPr>
          <a:xfrm>
            <a:off x="1676400" y="1143000"/>
            <a:ext cx="567784" cy="369332"/>
          </a:xfrm>
          <a:prstGeom prst="rect">
            <a:avLst/>
          </a:prstGeom>
          <a:noFill/>
        </p:spPr>
        <p:txBody>
          <a:bodyPr wrap="none" rtlCol="0">
            <a:spAutoFit/>
          </a:bodyPr>
          <a:lstStyle/>
          <a:p>
            <a:r>
              <a:rPr lang="en-US" dirty="0"/>
              <a:t>W</a:t>
            </a:r>
            <a:r>
              <a:rPr lang="en-US" baseline="-25000" dirty="0"/>
              <a:t>k1</a:t>
            </a:r>
          </a:p>
        </p:txBody>
      </p:sp>
      <p:sp>
        <p:nvSpPr>
          <p:cNvPr id="23" name="TextBox 22"/>
          <p:cNvSpPr txBox="1"/>
          <p:nvPr/>
        </p:nvSpPr>
        <p:spPr>
          <a:xfrm>
            <a:off x="1676400" y="1535668"/>
            <a:ext cx="567784" cy="369332"/>
          </a:xfrm>
          <a:prstGeom prst="rect">
            <a:avLst/>
          </a:prstGeom>
          <a:noFill/>
        </p:spPr>
        <p:txBody>
          <a:bodyPr wrap="none" rtlCol="0">
            <a:spAutoFit/>
          </a:bodyPr>
          <a:lstStyle/>
          <a:p>
            <a:r>
              <a:rPr lang="en-US" dirty="0"/>
              <a:t>W</a:t>
            </a:r>
            <a:r>
              <a:rPr lang="en-US" baseline="-25000" dirty="0"/>
              <a:t>k2</a:t>
            </a:r>
          </a:p>
        </p:txBody>
      </p:sp>
      <p:sp>
        <p:nvSpPr>
          <p:cNvPr id="24" name="TextBox 23"/>
          <p:cNvSpPr txBox="1"/>
          <p:nvPr/>
        </p:nvSpPr>
        <p:spPr>
          <a:xfrm>
            <a:off x="1676400" y="1905000"/>
            <a:ext cx="567784" cy="369332"/>
          </a:xfrm>
          <a:prstGeom prst="rect">
            <a:avLst/>
          </a:prstGeom>
          <a:noFill/>
        </p:spPr>
        <p:txBody>
          <a:bodyPr wrap="none" rtlCol="0">
            <a:spAutoFit/>
          </a:bodyPr>
          <a:lstStyle/>
          <a:p>
            <a:r>
              <a:rPr lang="en-US" dirty="0"/>
              <a:t>W</a:t>
            </a:r>
            <a:r>
              <a:rPr lang="en-US" baseline="-25000" dirty="0"/>
              <a:t>k3</a:t>
            </a:r>
          </a:p>
        </p:txBody>
      </p:sp>
      <p:sp>
        <p:nvSpPr>
          <p:cNvPr id="25" name="TextBox 24"/>
          <p:cNvSpPr txBox="1"/>
          <p:nvPr/>
        </p:nvSpPr>
        <p:spPr>
          <a:xfrm>
            <a:off x="1752600" y="2678668"/>
            <a:ext cx="536301" cy="369332"/>
          </a:xfrm>
          <a:prstGeom prst="rect">
            <a:avLst/>
          </a:prstGeom>
          <a:noFill/>
        </p:spPr>
        <p:txBody>
          <a:bodyPr wrap="none" rtlCol="0">
            <a:spAutoFit/>
          </a:bodyPr>
          <a:lstStyle/>
          <a:p>
            <a:r>
              <a:rPr lang="en-US" dirty="0" err="1"/>
              <a:t>W</a:t>
            </a:r>
            <a:r>
              <a:rPr lang="en-US" baseline="-25000" dirty="0" err="1"/>
              <a:t>kd</a:t>
            </a:r>
            <a:endParaRPr lang="en-US" baseline="-25000" dirty="0"/>
          </a:p>
        </p:txBody>
      </p:sp>
      <p:cxnSp>
        <p:nvCxnSpPr>
          <p:cNvPr id="26" name="Straight Arrow Connector 25"/>
          <p:cNvCxnSpPr>
            <a:stCxn id="10" idx="6"/>
          </p:cNvCxnSpPr>
          <p:nvPr/>
        </p:nvCxnSpPr>
        <p:spPr>
          <a:xfrm>
            <a:off x="4038600" y="2247900"/>
            <a:ext cx="914400" cy="38100"/>
          </a:xfrm>
          <a:prstGeom prst="straightConnector1">
            <a:avLst/>
          </a:prstGeom>
          <a:ln w="44450">
            <a:tailEnd type="arrow"/>
          </a:ln>
        </p:spPr>
        <p:style>
          <a:lnRef idx="1">
            <a:schemeClr val="accent1"/>
          </a:lnRef>
          <a:fillRef idx="0">
            <a:schemeClr val="accent1"/>
          </a:fillRef>
          <a:effectRef idx="0">
            <a:schemeClr val="accent1"/>
          </a:effectRef>
          <a:fontRef idx="minor">
            <a:schemeClr val="tx1"/>
          </a:fontRef>
        </p:style>
      </p:cxnSp>
      <p:sp>
        <p:nvSpPr>
          <p:cNvPr id="27" name="Rectangle 26"/>
          <p:cNvSpPr/>
          <p:nvPr/>
        </p:nvSpPr>
        <p:spPr>
          <a:xfrm>
            <a:off x="4953000" y="1752600"/>
            <a:ext cx="1981200" cy="9906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rgbClr val="C00000"/>
                </a:solidFill>
              </a:rPr>
              <a:t>Activation   Function</a:t>
            </a:r>
          </a:p>
        </p:txBody>
      </p:sp>
      <p:sp>
        <p:nvSpPr>
          <p:cNvPr id="28" name="TextBox 27"/>
          <p:cNvSpPr txBox="1"/>
          <p:nvPr/>
        </p:nvSpPr>
        <p:spPr>
          <a:xfrm>
            <a:off x="4191000" y="1828800"/>
            <a:ext cx="533400" cy="369332"/>
          </a:xfrm>
          <a:prstGeom prst="rect">
            <a:avLst/>
          </a:prstGeom>
          <a:noFill/>
        </p:spPr>
        <p:txBody>
          <a:bodyPr wrap="square" rtlCol="0">
            <a:spAutoFit/>
          </a:bodyPr>
          <a:lstStyle/>
          <a:p>
            <a:r>
              <a:rPr lang="en-US" dirty="0" err="1"/>
              <a:t>V</a:t>
            </a:r>
            <a:r>
              <a:rPr lang="en-US" baseline="-25000" dirty="0" err="1"/>
              <a:t>k</a:t>
            </a:r>
            <a:endParaRPr lang="en-US" baseline="-25000" dirty="0"/>
          </a:p>
        </p:txBody>
      </p:sp>
      <p:sp>
        <p:nvSpPr>
          <p:cNvPr id="29" name="TextBox 28"/>
          <p:cNvSpPr txBox="1"/>
          <p:nvPr/>
        </p:nvSpPr>
        <p:spPr>
          <a:xfrm>
            <a:off x="304800" y="3581400"/>
            <a:ext cx="3581400" cy="738664"/>
          </a:xfrm>
          <a:prstGeom prst="rect">
            <a:avLst/>
          </a:prstGeom>
          <a:noFill/>
        </p:spPr>
        <p:txBody>
          <a:bodyPr wrap="square" rtlCol="0">
            <a:spAutoFit/>
          </a:bodyPr>
          <a:lstStyle/>
          <a:p>
            <a:r>
              <a:rPr lang="en-US" sz="2400" b="1" dirty="0" err="1">
                <a:latin typeface="Times New Roman" pitchFamily="18" charset="0"/>
                <a:cs typeface="Times New Roman" pitchFamily="18" charset="0"/>
              </a:rPr>
              <a:t>V</a:t>
            </a:r>
            <a:r>
              <a:rPr lang="en-US" sz="2400" b="1" baseline="-25000" dirty="0" err="1">
                <a:latin typeface="Times New Roman" pitchFamily="18" charset="0"/>
                <a:cs typeface="Times New Roman" pitchFamily="18" charset="0"/>
              </a:rPr>
              <a:t>k</a:t>
            </a:r>
            <a:r>
              <a:rPr lang="en-US" sz="2400" b="1" dirty="0">
                <a:latin typeface="Times New Roman" pitchFamily="18" charset="0"/>
                <a:cs typeface="Times New Roman" pitchFamily="18" charset="0"/>
              </a:rPr>
              <a:t>= </a:t>
            </a:r>
            <a:r>
              <a:rPr lang="en-US" sz="2400" b="1" dirty="0">
                <a:solidFill>
                  <a:srgbClr val="3116F6"/>
                </a:solidFill>
                <a:latin typeface="Times New Roman" pitchFamily="18" charset="0"/>
                <a:cs typeface="Times New Roman" pitchFamily="18" charset="0"/>
              </a:rPr>
              <a:t>∑</a:t>
            </a:r>
            <a:r>
              <a:rPr lang="en-US" sz="2400" b="1" baseline="-25000" dirty="0">
                <a:solidFill>
                  <a:srgbClr val="3116F6"/>
                </a:solidFill>
                <a:latin typeface="Times New Roman" pitchFamily="18" charset="0"/>
                <a:cs typeface="Times New Roman" pitchFamily="18" charset="0"/>
              </a:rPr>
              <a:t>j=1</a:t>
            </a:r>
            <a:r>
              <a:rPr lang="en-US" sz="2400" b="1" baseline="30000" dirty="0">
                <a:solidFill>
                  <a:srgbClr val="3116F6"/>
                </a:solidFill>
                <a:latin typeface="Times New Roman" pitchFamily="18" charset="0"/>
                <a:cs typeface="Times New Roman" pitchFamily="18" charset="0"/>
              </a:rPr>
              <a:t>d </a:t>
            </a:r>
            <a:r>
              <a:rPr lang="en-US" sz="2400" b="1" dirty="0">
                <a:solidFill>
                  <a:srgbClr val="3116F6"/>
                </a:solidFill>
                <a:latin typeface="Times New Roman" pitchFamily="18" charset="0"/>
                <a:cs typeface="Times New Roman" pitchFamily="18" charset="0"/>
              </a:rPr>
              <a:t>(</a:t>
            </a:r>
            <a:r>
              <a:rPr lang="en-US" sz="2400" b="1" dirty="0" err="1">
                <a:solidFill>
                  <a:srgbClr val="3116F6"/>
                </a:solidFill>
                <a:latin typeface="Times New Roman" pitchFamily="18" charset="0"/>
                <a:cs typeface="Times New Roman" pitchFamily="18" charset="0"/>
              </a:rPr>
              <a:t>W</a:t>
            </a:r>
            <a:r>
              <a:rPr lang="en-US" sz="2400" b="1" baseline="-25000" dirty="0" err="1">
                <a:solidFill>
                  <a:srgbClr val="3116F6"/>
                </a:solidFill>
                <a:latin typeface="Times New Roman" pitchFamily="18" charset="0"/>
                <a:cs typeface="Times New Roman" pitchFamily="18" charset="0"/>
              </a:rPr>
              <a:t>kj</a:t>
            </a:r>
            <a:r>
              <a:rPr lang="en-US" sz="2400" b="1" dirty="0">
                <a:solidFill>
                  <a:srgbClr val="3116F6"/>
                </a:solidFill>
                <a:latin typeface="Times New Roman" pitchFamily="18" charset="0"/>
                <a:cs typeface="Times New Roman" pitchFamily="18" charset="0"/>
              </a:rPr>
              <a:t>*</a:t>
            </a:r>
            <a:r>
              <a:rPr lang="en-US" sz="2400" b="1" dirty="0" err="1">
                <a:solidFill>
                  <a:srgbClr val="3116F6"/>
                </a:solidFill>
                <a:latin typeface="Times New Roman" pitchFamily="18" charset="0"/>
                <a:cs typeface="Times New Roman" pitchFamily="18" charset="0"/>
              </a:rPr>
              <a:t>x</a:t>
            </a:r>
            <a:r>
              <a:rPr lang="en-US" sz="2400" b="1" baseline="-25000" dirty="0" err="1">
                <a:solidFill>
                  <a:srgbClr val="3116F6"/>
                </a:solidFill>
                <a:latin typeface="Times New Roman" pitchFamily="18" charset="0"/>
                <a:cs typeface="Times New Roman" pitchFamily="18" charset="0"/>
              </a:rPr>
              <a:t>ij</a:t>
            </a:r>
            <a:r>
              <a:rPr lang="en-US" sz="2400" b="1" dirty="0">
                <a:solidFill>
                  <a:srgbClr val="3116F6"/>
                </a:solidFill>
                <a:latin typeface="Times New Roman" pitchFamily="18" charset="0"/>
                <a:cs typeface="Times New Roman" pitchFamily="18" charset="0"/>
              </a:rPr>
              <a:t>) </a:t>
            </a:r>
            <a:r>
              <a:rPr lang="en-US" sz="2400" b="1" dirty="0">
                <a:latin typeface="Times New Roman" pitchFamily="18" charset="0"/>
                <a:cs typeface="Times New Roman" pitchFamily="18" charset="0"/>
              </a:rPr>
              <a:t>+ </a:t>
            </a:r>
            <a:r>
              <a:rPr lang="en-US" sz="2400" b="1" dirty="0" err="1">
                <a:latin typeface="Times New Roman" pitchFamily="18" charset="0"/>
                <a:cs typeface="Times New Roman" pitchFamily="18" charset="0"/>
              </a:rPr>
              <a:t>b</a:t>
            </a:r>
            <a:r>
              <a:rPr lang="en-US" sz="2400" b="1" baseline="-25000" dirty="0" err="1">
                <a:latin typeface="Times New Roman" pitchFamily="18" charset="0"/>
                <a:cs typeface="Times New Roman" pitchFamily="18" charset="0"/>
              </a:rPr>
              <a:t>k</a:t>
            </a:r>
            <a:r>
              <a:rPr lang="en-US" sz="2400" b="1" baseline="-25000" dirty="0">
                <a:latin typeface="Times New Roman" pitchFamily="18" charset="0"/>
                <a:cs typeface="Times New Roman" pitchFamily="18" charset="0"/>
              </a:rPr>
              <a:t> </a:t>
            </a:r>
          </a:p>
          <a:p>
            <a:endParaRPr lang="en-US" b="1" dirty="0"/>
          </a:p>
        </p:txBody>
      </p:sp>
      <p:cxnSp>
        <p:nvCxnSpPr>
          <p:cNvPr id="30" name="Straight Arrow Connector 29"/>
          <p:cNvCxnSpPr/>
          <p:nvPr/>
        </p:nvCxnSpPr>
        <p:spPr>
          <a:xfrm rot="5400000">
            <a:off x="3199606" y="1295400"/>
            <a:ext cx="610394" cy="794"/>
          </a:xfrm>
          <a:prstGeom prst="straightConnector1">
            <a:avLst/>
          </a:prstGeom>
          <a:ln w="25400">
            <a:tailEnd type="arrow"/>
          </a:ln>
        </p:spPr>
        <p:style>
          <a:lnRef idx="1">
            <a:schemeClr val="accent1"/>
          </a:lnRef>
          <a:fillRef idx="0">
            <a:schemeClr val="accent1"/>
          </a:fillRef>
          <a:effectRef idx="0">
            <a:schemeClr val="accent1"/>
          </a:effectRef>
          <a:fontRef idx="minor">
            <a:schemeClr val="tx1"/>
          </a:fontRef>
        </p:style>
      </p:cxnSp>
      <p:sp>
        <p:nvSpPr>
          <p:cNvPr id="31" name="TextBox 30"/>
          <p:cNvSpPr txBox="1"/>
          <p:nvPr/>
        </p:nvSpPr>
        <p:spPr>
          <a:xfrm>
            <a:off x="3431370" y="914400"/>
            <a:ext cx="378630" cy="369332"/>
          </a:xfrm>
          <a:prstGeom prst="rect">
            <a:avLst/>
          </a:prstGeom>
          <a:noFill/>
        </p:spPr>
        <p:txBody>
          <a:bodyPr wrap="none" rtlCol="0">
            <a:spAutoFit/>
          </a:bodyPr>
          <a:lstStyle/>
          <a:p>
            <a:r>
              <a:rPr lang="en-US" dirty="0" err="1"/>
              <a:t>b</a:t>
            </a:r>
            <a:r>
              <a:rPr lang="en-US" baseline="-25000" dirty="0" err="1"/>
              <a:t>k</a:t>
            </a:r>
            <a:endParaRPr lang="en-US" baseline="-25000" dirty="0"/>
          </a:p>
        </p:txBody>
      </p:sp>
      <p:cxnSp>
        <p:nvCxnSpPr>
          <p:cNvPr id="32" name="Straight Arrow Connector 31"/>
          <p:cNvCxnSpPr/>
          <p:nvPr/>
        </p:nvCxnSpPr>
        <p:spPr>
          <a:xfrm>
            <a:off x="6934200" y="2286000"/>
            <a:ext cx="914400" cy="38100"/>
          </a:xfrm>
          <a:prstGeom prst="straightConnector1">
            <a:avLst/>
          </a:prstGeom>
          <a:ln w="44450">
            <a:tailEnd type="arrow"/>
          </a:ln>
        </p:spPr>
        <p:style>
          <a:lnRef idx="1">
            <a:schemeClr val="accent1"/>
          </a:lnRef>
          <a:fillRef idx="0">
            <a:schemeClr val="accent1"/>
          </a:fillRef>
          <a:effectRef idx="0">
            <a:schemeClr val="accent1"/>
          </a:effectRef>
          <a:fontRef idx="minor">
            <a:schemeClr val="tx1"/>
          </a:fontRef>
        </p:style>
      </p:cxnSp>
      <p:sp>
        <p:nvSpPr>
          <p:cNvPr id="33" name="TextBox 32"/>
          <p:cNvSpPr txBox="1"/>
          <p:nvPr/>
        </p:nvSpPr>
        <p:spPr>
          <a:xfrm>
            <a:off x="7848600" y="1981200"/>
            <a:ext cx="533400" cy="523220"/>
          </a:xfrm>
          <a:prstGeom prst="rect">
            <a:avLst/>
          </a:prstGeom>
          <a:noFill/>
        </p:spPr>
        <p:txBody>
          <a:bodyPr wrap="square" rtlCol="0">
            <a:spAutoFit/>
          </a:bodyPr>
          <a:lstStyle/>
          <a:p>
            <a:r>
              <a:rPr lang="en-US" sz="2800" dirty="0" err="1"/>
              <a:t>y’</a:t>
            </a:r>
            <a:r>
              <a:rPr lang="en-US" baseline="-25000" dirty="0" err="1"/>
              <a:t>k</a:t>
            </a:r>
            <a:endParaRPr lang="en-US" baseline="-25000" dirty="0"/>
          </a:p>
        </p:txBody>
      </p:sp>
      <p:sp>
        <p:nvSpPr>
          <p:cNvPr id="34" name="TextBox 33"/>
          <p:cNvSpPr txBox="1"/>
          <p:nvPr/>
        </p:nvSpPr>
        <p:spPr>
          <a:xfrm>
            <a:off x="3886200" y="3505200"/>
            <a:ext cx="5029200" cy="738664"/>
          </a:xfrm>
          <a:prstGeom prst="rect">
            <a:avLst/>
          </a:prstGeom>
          <a:noFill/>
        </p:spPr>
        <p:txBody>
          <a:bodyPr wrap="square" rtlCol="0">
            <a:spAutoFit/>
          </a:bodyPr>
          <a:lstStyle/>
          <a:p>
            <a:r>
              <a:rPr lang="en-US" sz="2400" b="1" dirty="0" err="1">
                <a:latin typeface="Times New Roman" pitchFamily="18" charset="0"/>
                <a:cs typeface="Times New Roman" pitchFamily="18" charset="0"/>
              </a:rPr>
              <a:t>y</a:t>
            </a:r>
            <a:r>
              <a:rPr lang="en-US" sz="2400" b="1" dirty="0" err="1">
                <a:latin typeface="Agency FB" pitchFamily="34" charset="0"/>
                <a:cs typeface="Times New Roman" pitchFamily="18" charset="0"/>
              </a:rPr>
              <a:t>’</a:t>
            </a:r>
            <a:r>
              <a:rPr lang="en-US" sz="2400" b="1" baseline="-25000" dirty="0" err="1">
                <a:latin typeface="Times New Roman" pitchFamily="18" charset="0"/>
                <a:cs typeface="Times New Roman" pitchFamily="18" charset="0"/>
              </a:rPr>
              <a:t>k</a:t>
            </a:r>
            <a:r>
              <a:rPr lang="en-US" sz="2400" b="1" dirty="0">
                <a:latin typeface="Times New Roman" pitchFamily="18" charset="0"/>
                <a:cs typeface="Times New Roman" pitchFamily="18" charset="0"/>
              </a:rPr>
              <a:t>= f(</a:t>
            </a:r>
            <a:r>
              <a:rPr lang="en-US" sz="2400" b="1" dirty="0" err="1">
                <a:latin typeface="Times New Roman" pitchFamily="18" charset="0"/>
                <a:cs typeface="Times New Roman" pitchFamily="18" charset="0"/>
              </a:rPr>
              <a:t>V</a:t>
            </a:r>
            <a:r>
              <a:rPr lang="en-US" sz="2400" b="1" baseline="-25000" dirty="0" err="1">
                <a:latin typeface="Times New Roman" pitchFamily="18" charset="0"/>
                <a:cs typeface="Times New Roman" pitchFamily="18" charset="0"/>
              </a:rPr>
              <a:t>k</a:t>
            </a:r>
            <a:r>
              <a:rPr lang="en-US" sz="2400" b="1" dirty="0" smtClean="0">
                <a:latin typeface="Times New Roman" pitchFamily="18" charset="0"/>
                <a:cs typeface="Times New Roman" pitchFamily="18" charset="0"/>
              </a:rPr>
              <a:t>)       L= </a:t>
            </a:r>
            <a:r>
              <a:rPr lang="en-US" sz="2400" b="1" dirty="0" smtClean="0">
                <a:solidFill>
                  <a:srgbClr val="3116F6"/>
                </a:solidFill>
                <a:latin typeface="Times New Roman" pitchFamily="18" charset="0"/>
                <a:cs typeface="Times New Roman" pitchFamily="18" charset="0"/>
              </a:rPr>
              <a:t>∑</a:t>
            </a:r>
            <a:r>
              <a:rPr lang="en-US" sz="2400" b="1" baseline="-25000" dirty="0" err="1" smtClean="0">
                <a:solidFill>
                  <a:srgbClr val="3116F6"/>
                </a:solidFill>
                <a:latin typeface="Times New Roman" pitchFamily="18" charset="0"/>
                <a:cs typeface="Times New Roman" pitchFamily="18" charset="0"/>
              </a:rPr>
              <a:t>i</a:t>
            </a:r>
            <a:r>
              <a:rPr lang="en-US" sz="2400" b="1" baseline="-25000" dirty="0" smtClean="0">
                <a:solidFill>
                  <a:srgbClr val="3116F6"/>
                </a:solidFill>
                <a:latin typeface="Times New Roman" pitchFamily="18" charset="0"/>
                <a:cs typeface="Times New Roman" pitchFamily="18" charset="0"/>
              </a:rPr>
              <a:t>=1</a:t>
            </a:r>
            <a:r>
              <a:rPr lang="en-US" sz="2400" b="1" baseline="30000" dirty="0" smtClean="0">
                <a:solidFill>
                  <a:srgbClr val="3116F6"/>
                </a:solidFill>
                <a:latin typeface="Times New Roman" pitchFamily="18" charset="0"/>
                <a:cs typeface="Times New Roman" pitchFamily="18" charset="0"/>
              </a:rPr>
              <a:t>n </a:t>
            </a:r>
            <a:r>
              <a:rPr lang="en-US" sz="2400" b="1" dirty="0" smtClean="0">
                <a:latin typeface="Times New Roman" pitchFamily="18" charset="0"/>
                <a:cs typeface="Times New Roman" pitchFamily="18" charset="0"/>
              </a:rPr>
              <a:t>(</a:t>
            </a:r>
            <a:r>
              <a:rPr lang="en-US" sz="2400" b="1" dirty="0" err="1" smtClean="0">
                <a:latin typeface="Times New Roman" pitchFamily="18" charset="0"/>
                <a:cs typeface="Times New Roman" pitchFamily="18" charset="0"/>
              </a:rPr>
              <a:t>y</a:t>
            </a:r>
            <a:r>
              <a:rPr lang="en-US" sz="2400" b="1" baseline="-25000" dirty="0" err="1" smtClean="0">
                <a:latin typeface="Times New Roman" pitchFamily="18" charset="0"/>
                <a:cs typeface="Times New Roman" pitchFamily="18" charset="0"/>
              </a:rPr>
              <a:t>i</a:t>
            </a:r>
            <a:r>
              <a:rPr lang="en-US" sz="2400" b="1" baseline="-25000" dirty="0" smtClean="0">
                <a:latin typeface="Times New Roman" pitchFamily="18" charset="0"/>
                <a:cs typeface="Times New Roman" pitchFamily="18" charset="0"/>
              </a:rPr>
              <a:t> </a:t>
            </a:r>
            <a:r>
              <a:rPr lang="en-US" sz="2400" b="1" dirty="0" smtClean="0">
                <a:latin typeface="Times New Roman" pitchFamily="18" charset="0"/>
                <a:cs typeface="Times New Roman" pitchFamily="18" charset="0"/>
              </a:rPr>
              <a:t>- f(</a:t>
            </a:r>
            <a:r>
              <a:rPr lang="en-US" sz="2400" b="1" dirty="0" err="1" smtClean="0">
                <a:latin typeface="Times New Roman" pitchFamily="18" charset="0"/>
                <a:cs typeface="Times New Roman" pitchFamily="18" charset="0"/>
              </a:rPr>
              <a:t>w</a:t>
            </a:r>
            <a:r>
              <a:rPr lang="en-US" sz="2400" b="1" baseline="30000" dirty="0" err="1" smtClean="0">
                <a:latin typeface="Times New Roman" pitchFamily="18" charset="0"/>
                <a:cs typeface="Times New Roman" pitchFamily="18" charset="0"/>
              </a:rPr>
              <a:t>T</a:t>
            </a:r>
            <a:r>
              <a:rPr lang="en-US" sz="2400" b="1" dirty="0" err="1" smtClean="0">
                <a:latin typeface="Times New Roman" pitchFamily="18" charset="0"/>
                <a:cs typeface="Times New Roman" pitchFamily="18" charset="0"/>
              </a:rPr>
              <a:t>x</a:t>
            </a:r>
            <a:r>
              <a:rPr lang="en-US" sz="2400" b="1" baseline="-25000" dirty="0" err="1" smtClean="0">
                <a:latin typeface="Times New Roman" pitchFamily="18" charset="0"/>
                <a:cs typeface="Times New Roman" pitchFamily="18" charset="0"/>
              </a:rPr>
              <a:t>i</a:t>
            </a:r>
            <a:r>
              <a:rPr lang="en-US" sz="2400" b="1" dirty="0" smtClean="0">
                <a:latin typeface="Times New Roman" pitchFamily="18" charset="0"/>
                <a:cs typeface="Times New Roman" pitchFamily="18" charset="0"/>
              </a:rPr>
              <a:t> +b)</a:t>
            </a:r>
            <a:r>
              <a:rPr lang="en-US" sz="2400" b="1" baseline="30000" dirty="0" smtClean="0">
                <a:latin typeface="Times New Roman" pitchFamily="18" charset="0"/>
                <a:cs typeface="Times New Roman" pitchFamily="18" charset="0"/>
              </a:rPr>
              <a:t>2</a:t>
            </a:r>
            <a:r>
              <a:rPr lang="en-US" sz="2400" b="1" baseline="-25000" dirty="0" smtClean="0">
                <a:latin typeface="Times New Roman" pitchFamily="18" charset="0"/>
                <a:cs typeface="Times New Roman" pitchFamily="18" charset="0"/>
              </a:rPr>
              <a:t> </a:t>
            </a:r>
            <a:endParaRPr lang="en-US" sz="2400" b="1" baseline="-25000" dirty="0">
              <a:latin typeface="Times New Roman" pitchFamily="18" charset="0"/>
              <a:cs typeface="Times New Roman" pitchFamily="18" charset="0"/>
            </a:endParaRPr>
          </a:p>
          <a:p>
            <a:endParaRPr lang="en-US" b="1" dirty="0"/>
          </a:p>
        </p:txBody>
      </p:sp>
      <p:pic>
        <p:nvPicPr>
          <p:cNvPr id="3074" name="Picture 2"/>
          <p:cNvPicPr>
            <a:picLocks noChangeAspect="1" noChangeArrowheads="1"/>
          </p:cNvPicPr>
          <p:nvPr/>
        </p:nvPicPr>
        <p:blipFill>
          <a:blip r:embed="rId2"/>
          <a:srcRect/>
          <a:stretch>
            <a:fillRect/>
          </a:stretch>
        </p:blipFill>
        <p:spPr bwMode="auto">
          <a:xfrm>
            <a:off x="6095999" y="5705472"/>
            <a:ext cx="3048001" cy="798286"/>
          </a:xfrm>
          <a:prstGeom prst="rect">
            <a:avLst/>
          </a:prstGeom>
          <a:noFill/>
          <a:ln w="9525">
            <a:noFill/>
            <a:miter lim="800000"/>
            <a:headEnd/>
            <a:tailEnd/>
          </a:ln>
          <a:effectLst/>
        </p:spPr>
      </p:pic>
      <p:pic>
        <p:nvPicPr>
          <p:cNvPr id="3075" name="Picture 3"/>
          <p:cNvPicPr>
            <a:picLocks noChangeAspect="1" noChangeArrowheads="1"/>
          </p:cNvPicPr>
          <p:nvPr/>
        </p:nvPicPr>
        <p:blipFill>
          <a:blip r:embed="rId3"/>
          <a:srcRect/>
          <a:stretch>
            <a:fillRect/>
          </a:stretch>
        </p:blipFill>
        <p:spPr bwMode="auto">
          <a:xfrm>
            <a:off x="6019800" y="4429125"/>
            <a:ext cx="1752600" cy="981075"/>
          </a:xfrm>
          <a:prstGeom prst="rect">
            <a:avLst/>
          </a:prstGeom>
          <a:noFill/>
          <a:ln w="9525">
            <a:noFill/>
            <a:miter lim="800000"/>
            <a:headEnd/>
            <a:tailEnd/>
          </a:ln>
          <a:effectLst/>
        </p:spPr>
      </p:pic>
      <p:sp>
        <p:nvSpPr>
          <p:cNvPr id="36" name="TextBox 35"/>
          <p:cNvSpPr txBox="1"/>
          <p:nvPr/>
        </p:nvSpPr>
        <p:spPr>
          <a:xfrm flipH="1">
            <a:off x="6400800" y="6600824"/>
            <a:ext cx="2671762" cy="307777"/>
          </a:xfrm>
          <a:prstGeom prst="rect">
            <a:avLst/>
          </a:prstGeom>
          <a:noFill/>
        </p:spPr>
        <p:txBody>
          <a:bodyPr wrap="square" rtlCol="0">
            <a:spAutoFit/>
          </a:bodyPr>
          <a:lstStyle/>
          <a:p>
            <a:r>
              <a:rPr lang="en-US" sz="1400" dirty="0" smtClean="0">
                <a:latin typeface="Times New Roman" panose="02020603050405020304" pitchFamily="18" charset="0"/>
                <a:cs typeface="Times New Roman" panose="02020603050405020304" pitchFamily="18" charset="0"/>
              </a:rPr>
              <a:t>Step-3Solve the </a:t>
            </a:r>
            <a:r>
              <a:rPr lang="en-US" sz="1400" dirty="0" err="1" smtClean="0">
                <a:latin typeface="Times New Roman" panose="02020603050405020304" pitchFamily="18" charset="0"/>
                <a:cs typeface="Times New Roman" panose="02020603050405020304" pitchFamily="18" charset="0"/>
              </a:rPr>
              <a:t>Optimz</a:t>
            </a:r>
            <a:r>
              <a:rPr lang="en-US" sz="1400" dirty="0" smtClean="0">
                <a:latin typeface="Times New Roman" panose="02020603050405020304" pitchFamily="18" charset="0"/>
                <a:cs typeface="Times New Roman" panose="02020603050405020304" pitchFamily="18" charset="0"/>
              </a:rPr>
              <a:t> Problem</a:t>
            </a:r>
            <a:endParaRPr lang="en-IN" sz="14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796180719"/>
      </p:ext>
    </p:extLst>
  </p:cSld>
  <p:clrMapOvr>
    <a:masterClrMapping/>
  </p:clrMapOvr>
  <p:timing>
    <p:tnLst>
      <p:par>
        <p:cTn id="1" dur="indefinite" restart="never" nodeType="tmRoot"/>
      </p:par>
    </p:tn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cap="small" dirty="0"/>
              <a:t>Training a single-neuron model</a:t>
            </a:r>
          </a:p>
        </p:txBody>
      </p:sp>
      <p:sp>
        <p:nvSpPr>
          <p:cNvPr id="3" name="Content Placeholder 2"/>
          <p:cNvSpPr>
            <a:spLocks noGrp="1"/>
          </p:cNvSpPr>
          <p:nvPr>
            <p:ph idx="1"/>
          </p:nvPr>
        </p:nvSpPr>
        <p:spPr/>
        <p:txBody>
          <a:bodyPr>
            <a:normAutofit/>
          </a:bodyPr>
          <a:lstStyle/>
          <a:p>
            <a:endParaRPr lang="en-US" dirty="0"/>
          </a:p>
          <a:p>
            <a:endParaRPr lang="en-US" dirty="0"/>
          </a:p>
          <a:p>
            <a:endParaRPr lang="en-US" dirty="0"/>
          </a:p>
          <a:p>
            <a:endParaRPr lang="en-US" dirty="0"/>
          </a:p>
          <a:p>
            <a:r>
              <a:rPr lang="en-US" dirty="0"/>
              <a:t>Step-3: Solve the optimization problem</a:t>
            </a:r>
          </a:p>
          <a:p>
            <a:pPr lvl="1"/>
            <a:r>
              <a:rPr lang="en-US" sz="2400" dirty="0"/>
              <a:t>Randomly initialize the weights</a:t>
            </a:r>
          </a:p>
          <a:p>
            <a:pPr lvl="1"/>
            <a:r>
              <a:rPr lang="en-US" sz="2400" dirty="0"/>
              <a:t>Feed forward the inputs and compute the loss function</a:t>
            </a:r>
          </a:p>
          <a:p>
            <a:pPr lvl="1"/>
            <a:r>
              <a:rPr lang="en-US" sz="2400" dirty="0"/>
              <a:t>Update the weights</a:t>
            </a:r>
          </a:p>
          <a:p>
            <a:pPr lvl="1"/>
            <a:endParaRPr lang="en-US" dirty="0"/>
          </a:p>
          <a:p>
            <a:pPr lvl="1"/>
            <a:endParaRPr lang="en-US" dirty="0"/>
          </a:p>
          <a:p>
            <a:endParaRPr lang="en-US" dirty="0"/>
          </a:p>
        </p:txBody>
      </p:sp>
      <p:sp>
        <p:nvSpPr>
          <p:cNvPr id="4" name="Date Placeholder 3"/>
          <p:cNvSpPr>
            <a:spLocks noGrp="1"/>
          </p:cNvSpPr>
          <p:nvPr>
            <p:ph type="dt" sz="half" idx="10"/>
          </p:nvPr>
        </p:nvSpPr>
        <p:spPr/>
        <p:txBody>
          <a:bodyPr/>
          <a:lstStyle/>
          <a:p>
            <a:fld id="{E7067A60-51C7-4095-BFA9-1CE32DCBA06F}" type="datetime1">
              <a:rPr lang="en-US" smtClean="0"/>
              <a:pPr/>
              <a:t>2/9/2026</a:t>
            </a:fld>
            <a:endParaRPr lang="en-US" dirty="0"/>
          </a:p>
        </p:txBody>
      </p:sp>
      <p:sp>
        <p:nvSpPr>
          <p:cNvPr id="6" name="Slide Number Placeholder 5"/>
          <p:cNvSpPr>
            <a:spLocks noGrp="1"/>
          </p:cNvSpPr>
          <p:nvPr>
            <p:ph type="sldNum" sz="quarter" idx="12"/>
          </p:nvPr>
        </p:nvSpPr>
        <p:spPr/>
        <p:txBody>
          <a:bodyPr/>
          <a:lstStyle/>
          <a:p>
            <a:fld id="{A03BBF96-A7A5-4867-9A4A-2F26A3CC4EC3}" type="slidenum">
              <a:rPr lang="en-US" smtClean="0"/>
              <a:pPr/>
              <a:t>27</a:t>
            </a:fld>
            <a:endParaRPr lang="en-US" dirty="0"/>
          </a:p>
        </p:txBody>
      </p:sp>
      <p:sp>
        <p:nvSpPr>
          <p:cNvPr id="7" name="TextBox 6"/>
          <p:cNvSpPr txBox="1"/>
          <p:nvPr/>
        </p:nvSpPr>
        <p:spPr>
          <a:xfrm>
            <a:off x="0" y="0"/>
            <a:ext cx="4572000" cy="369332"/>
          </a:xfrm>
          <a:prstGeom prst="rect">
            <a:avLst/>
          </a:prstGeom>
          <a:noFill/>
        </p:spPr>
        <p:txBody>
          <a:bodyPr wrap="square" rtlCol="0">
            <a:spAutoFit/>
          </a:bodyPr>
          <a:lstStyle/>
          <a:p>
            <a:pPr algn="r"/>
            <a:r>
              <a:rPr lang="en-US" b="1" dirty="0">
                <a:solidFill>
                  <a:schemeClr val="bg1"/>
                </a:solidFill>
              </a:rPr>
              <a:t>Introduction to Neural Network</a:t>
            </a:r>
          </a:p>
        </p:txBody>
      </p:sp>
      <p:sp>
        <p:nvSpPr>
          <p:cNvPr id="8" name="Rectangle 2"/>
          <p:cNvSpPr>
            <a:spLocks noChangeArrowheads="1"/>
          </p:cNvSpPr>
          <p:nvPr/>
        </p:nvSpPr>
        <p:spPr bwMode="auto">
          <a:xfrm>
            <a:off x="0" y="0"/>
            <a:ext cx="91440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sp>
        <p:nvSpPr>
          <p:cNvPr id="9" name="Rectangle 2"/>
          <p:cNvSpPr>
            <a:spLocks noChangeArrowheads="1"/>
          </p:cNvSpPr>
          <p:nvPr/>
        </p:nvSpPr>
        <p:spPr bwMode="auto">
          <a:xfrm>
            <a:off x="0" y="0"/>
            <a:ext cx="91440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sp>
        <p:nvSpPr>
          <p:cNvPr id="11" name="Footer Placeholder 4">
            <a:extLst>
              <a:ext uri="{FF2B5EF4-FFF2-40B4-BE49-F238E27FC236}">
                <a16:creationId xmlns:a16="http://schemas.microsoft.com/office/drawing/2014/main" id="{CBB301ED-B8A4-4772-B559-A9E41E7472BD}"/>
              </a:ext>
            </a:extLst>
          </p:cNvPr>
          <p:cNvSpPr>
            <a:spLocks noGrp="1"/>
          </p:cNvSpPr>
          <p:nvPr>
            <p:ph type="ftr" sz="quarter" idx="11"/>
          </p:nvPr>
        </p:nvSpPr>
        <p:spPr>
          <a:xfrm>
            <a:off x="2286000" y="6629400"/>
            <a:ext cx="4136571" cy="228600"/>
          </a:xfrm>
        </p:spPr>
        <p:txBody>
          <a:bodyPr/>
          <a:lstStyle/>
          <a:p>
            <a:r>
              <a:rPr lang="en-US" dirty="0"/>
              <a:t>Dr. Sibarama Panigrahi, Dept. of CSE, NIT Rourkela</a:t>
            </a:r>
          </a:p>
        </p:txBody>
      </p:sp>
      <p:sp>
        <p:nvSpPr>
          <p:cNvPr id="10" name="Oval 9"/>
          <p:cNvSpPr/>
          <p:nvPr/>
        </p:nvSpPr>
        <p:spPr>
          <a:xfrm>
            <a:off x="2971800" y="1600200"/>
            <a:ext cx="1066800" cy="1295400"/>
          </a:xfrm>
          <a:prstGeom prst="ellipse">
            <a:avLst/>
          </a:prstGeom>
          <a:solidFill>
            <a:schemeClr val="accent1">
              <a:alpha val="17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4400" b="1" dirty="0">
                <a:solidFill>
                  <a:schemeClr val="tx1"/>
                </a:solidFill>
              </a:rPr>
              <a:t>∑</a:t>
            </a:r>
          </a:p>
        </p:txBody>
      </p:sp>
      <p:cxnSp>
        <p:nvCxnSpPr>
          <p:cNvPr id="12" name="Straight Arrow Connector 11"/>
          <p:cNvCxnSpPr/>
          <p:nvPr/>
        </p:nvCxnSpPr>
        <p:spPr>
          <a:xfrm>
            <a:off x="1219200" y="1219200"/>
            <a:ext cx="1828800" cy="685800"/>
          </a:xfrm>
          <a:prstGeom prst="straightConnector1">
            <a:avLst/>
          </a:prstGeom>
          <a:ln w="25400">
            <a:tailEnd type="arrow"/>
          </a:ln>
        </p:spPr>
        <p:style>
          <a:lnRef idx="1">
            <a:schemeClr val="accent1"/>
          </a:lnRef>
          <a:fillRef idx="0">
            <a:schemeClr val="accent1"/>
          </a:fillRef>
          <a:effectRef idx="0">
            <a:schemeClr val="accent1"/>
          </a:effectRef>
          <a:fontRef idx="minor">
            <a:schemeClr val="tx1"/>
          </a:fontRef>
        </p:style>
      </p:cxnSp>
      <p:cxnSp>
        <p:nvCxnSpPr>
          <p:cNvPr id="13" name="Straight Arrow Connector 12"/>
          <p:cNvCxnSpPr/>
          <p:nvPr/>
        </p:nvCxnSpPr>
        <p:spPr>
          <a:xfrm>
            <a:off x="1156648" y="1649104"/>
            <a:ext cx="1828800" cy="457200"/>
          </a:xfrm>
          <a:prstGeom prst="straightConnector1">
            <a:avLst/>
          </a:prstGeom>
          <a:ln w="25400">
            <a:tailEnd type="arrow"/>
          </a:ln>
        </p:spPr>
        <p:style>
          <a:lnRef idx="1">
            <a:schemeClr val="accent1"/>
          </a:lnRef>
          <a:fillRef idx="0">
            <a:schemeClr val="accent1"/>
          </a:fillRef>
          <a:effectRef idx="0">
            <a:schemeClr val="accent1"/>
          </a:effectRef>
          <a:fontRef idx="minor">
            <a:schemeClr val="tx1"/>
          </a:fontRef>
        </p:style>
      </p:cxnSp>
      <p:cxnSp>
        <p:nvCxnSpPr>
          <p:cNvPr id="14" name="Straight Arrow Connector 13"/>
          <p:cNvCxnSpPr/>
          <p:nvPr/>
        </p:nvCxnSpPr>
        <p:spPr>
          <a:xfrm>
            <a:off x="1150960" y="2217760"/>
            <a:ext cx="1828800" cy="76200"/>
          </a:xfrm>
          <a:prstGeom prst="straightConnector1">
            <a:avLst/>
          </a:prstGeom>
          <a:ln w="25400">
            <a:tailEnd type="arrow"/>
          </a:ln>
        </p:spPr>
        <p:style>
          <a:lnRef idx="1">
            <a:schemeClr val="accent1"/>
          </a:lnRef>
          <a:fillRef idx="0">
            <a:schemeClr val="accent1"/>
          </a:fillRef>
          <a:effectRef idx="0">
            <a:schemeClr val="accent1"/>
          </a:effectRef>
          <a:fontRef idx="minor">
            <a:schemeClr val="tx1"/>
          </a:fontRef>
        </p:style>
      </p:cxnSp>
      <p:cxnSp>
        <p:nvCxnSpPr>
          <p:cNvPr id="15" name="Straight Arrow Connector 14"/>
          <p:cNvCxnSpPr>
            <a:endCxn id="10" idx="3"/>
          </p:cNvCxnSpPr>
          <p:nvPr/>
        </p:nvCxnSpPr>
        <p:spPr>
          <a:xfrm flipV="1">
            <a:off x="1143000" y="2705893"/>
            <a:ext cx="1985029" cy="646907"/>
          </a:xfrm>
          <a:prstGeom prst="straightConnector1">
            <a:avLst/>
          </a:prstGeom>
          <a:ln w="25400">
            <a:tailEnd type="arrow"/>
          </a:ln>
        </p:spPr>
        <p:style>
          <a:lnRef idx="1">
            <a:schemeClr val="accent1"/>
          </a:lnRef>
          <a:fillRef idx="0">
            <a:schemeClr val="accent1"/>
          </a:fillRef>
          <a:effectRef idx="0">
            <a:schemeClr val="accent1"/>
          </a:effectRef>
          <a:fontRef idx="minor">
            <a:schemeClr val="tx1"/>
          </a:fontRef>
        </p:style>
      </p:cxnSp>
      <p:sp>
        <p:nvSpPr>
          <p:cNvPr id="16" name="TextBox 15"/>
          <p:cNvSpPr txBox="1"/>
          <p:nvPr/>
        </p:nvSpPr>
        <p:spPr>
          <a:xfrm>
            <a:off x="914400" y="1002268"/>
            <a:ext cx="457200" cy="369332"/>
          </a:xfrm>
          <a:prstGeom prst="rect">
            <a:avLst/>
          </a:prstGeom>
          <a:noFill/>
        </p:spPr>
        <p:txBody>
          <a:bodyPr wrap="square" rtlCol="0">
            <a:spAutoFit/>
          </a:bodyPr>
          <a:lstStyle/>
          <a:p>
            <a:r>
              <a:rPr lang="en-US" dirty="0"/>
              <a:t>x</a:t>
            </a:r>
            <a:r>
              <a:rPr lang="en-US" baseline="-25000" dirty="0"/>
              <a:t>i1</a:t>
            </a:r>
          </a:p>
        </p:txBody>
      </p:sp>
      <p:sp>
        <p:nvSpPr>
          <p:cNvPr id="17" name="TextBox 16"/>
          <p:cNvSpPr txBox="1"/>
          <p:nvPr/>
        </p:nvSpPr>
        <p:spPr>
          <a:xfrm>
            <a:off x="838200" y="1459468"/>
            <a:ext cx="457200" cy="369332"/>
          </a:xfrm>
          <a:prstGeom prst="rect">
            <a:avLst/>
          </a:prstGeom>
          <a:noFill/>
        </p:spPr>
        <p:txBody>
          <a:bodyPr wrap="square" rtlCol="0">
            <a:spAutoFit/>
          </a:bodyPr>
          <a:lstStyle/>
          <a:p>
            <a:r>
              <a:rPr lang="en-US" dirty="0"/>
              <a:t>x</a:t>
            </a:r>
            <a:r>
              <a:rPr lang="en-US" baseline="-25000" dirty="0"/>
              <a:t>i2</a:t>
            </a:r>
          </a:p>
        </p:txBody>
      </p:sp>
      <p:sp>
        <p:nvSpPr>
          <p:cNvPr id="18" name="TextBox 17"/>
          <p:cNvSpPr txBox="1"/>
          <p:nvPr/>
        </p:nvSpPr>
        <p:spPr>
          <a:xfrm>
            <a:off x="838200" y="1992868"/>
            <a:ext cx="457200" cy="369332"/>
          </a:xfrm>
          <a:prstGeom prst="rect">
            <a:avLst/>
          </a:prstGeom>
          <a:noFill/>
        </p:spPr>
        <p:txBody>
          <a:bodyPr wrap="square" rtlCol="0">
            <a:spAutoFit/>
          </a:bodyPr>
          <a:lstStyle/>
          <a:p>
            <a:r>
              <a:rPr lang="en-US" dirty="0"/>
              <a:t>x</a:t>
            </a:r>
            <a:r>
              <a:rPr lang="en-US" baseline="-25000" dirty="0"/>
              <a:t>i3</a:t>
            </a:r>
          </a:p>
        </p:txBody>
      </p:sp>
      <p:sp>
        <p:nvSpPr>
          <p:cNvPr id="19" name="TextBox 18"/>
          <p:cNvSpPr txBox="1"/>
          <p:nvPr/>
        </p:nvSpPr>
        <p:spPr>
          <a:xfrm>
            <a:off x="838200" y="3135868"/>
            <a:ext cx="457200" cy="369332"/>
          </a:xfrm>
          <a:prstGeom prst="rect">
            <a:avLst/>
          </a:prstGeom>
          <a:noFill/>
        </p:spPr>
        <p:txBody>
          <a:bodyPr wrap="square" rtlCol="0">
            <a:spAutoFit/>
          </a:bodyPr>
          <a:lstStyle/>
          <a:p>
            <a:r>
              <a:rPr lang="en-US" dirty="0" err="1"/>
              <a:t>x</a:t>
            </a:r>
            <a:r>
              <a:rPr lang="en-US" baseline="-25000" dirty="0" err="1"/>
              <a:t>in</a:t>
            </a:r>
            <a:endParaRPr lang="en-US" baseline="-25000" dirty="0"/>
          </a:p>
        </p:txBody>
      </p:sp>
      <p:sp>
        <p:nvSpPr>
          <p:cNvPr id="20" name="TextBox 19"/>
          <p:cNvSpPr txBox="1"/>
          <p:nvPr/>
        </p:nvSpPr>
        <p:spPr>
          <a:xfrm>
            <a:off x="1447800" y="2362200"/>
            <a:ext cx="76200" cy="923330"/>
          </a:xfrm>
          <a:prstGeom prst="rect">
            <a:avLst/>
          </a:prstGeom>
          <a:noFill/>
        </p:spPr>
        <p:txBody>
          <a:bodyPr wrap="square" rtlCol="0">
            <a:spAutoFit/>
          </a:bodyPr>
          <a:lstStyle/>
          <a:p>
            <a:r>
              <a:rPr lang="en-US" dirty="0"/>
              <a:t>:</a:t>
            </a:r>
          </a:p>
          <a:p>
            <a:r>
              <a:rPr lang="en-US" dirty="0"/>
              <a:t>:</a:t>
            </a:r>
          </a:p>
          <a:p>
            <a:r>
              <a:rPr lang="en-US" dirty="0"/>
              <a:t>:</a:t>
            </a:r>
          </a:p>
        </p:txBody>
      </p:sp>
      <p:sp>
        <p:nvSpPr>
          <p:cNvPr id="22" name="TextBox 21"/>
          <p:cNvSpPr txBox="1"/>
          <p:nvPr/>
        </p:nvSpPr>
        <p:spPr>
          <a:xfrm>
            <a:off x="1676400" y="1143000"/>
            <a:ext cx="468398" cy="369332"/>
          </a:xfrm>
          <a:prstGeom prst="rect">
            <a:avLst/>
          </a:prstGeom>
          <a:noFill/>
        </p:spPr>
        <p:txBody>
          <a:bodyPr wrap="none" rtlCol="0">
            <a:spAutoFit/>
          </a:bodyPr>
          <a:lstStyle/>
          <a:p>
            <a:r>
              <a:rPr lang="en-US" dirty="0"/>
              <a:t>W</a:t>
            </a:r>
            <a:r>
              <a:rPr lang="en-US" baseline="-25000" dirty="0"/>
              <a:t>1</a:t>
            </a:r>
          </a:p>
        </p:txBody>
      </p:sp>
      <p:sp>
        <p:nvSpPr>
          <p:cNvPr id="23" name="TextBox 22"/>
          <p:cNvSpPr txBox="1"/>
          <p:nvPr/>
        </p:nvSpPr>
        <p:spPr>
          <a:xfrm>
            <a:off x="1676400" y="1535668"/>
            <a:ext cx="468398" cy="369332"/>
          </a:xfrm>
          <a:prstGeom prst="rect">
            <a:avLst/>
          </a:prstGeom>
          <a:noFill/>
        </p:spPr>
        <p:txBody>
          <a:bodyPr wrap="none" rtlCol="0">
            <a:spAutoFit/>
          </a:bodyPr>
          <a:lstStyle/>
          <a:p>
            <a:r>
              <a:rPr lang="en-US" dirty="0"/>
              <a:t>W</a:t>
            </a:r>
            <a:r>
              <a:rPr lang="en-US" baseline="-25000" dirty="0"/>
              <a:t>2</a:t>
            </a:r>
          </a:p>
        </p:txBody>
      </p:sp>
      <p:sp>
        <p:nvSpPr>
          <p:cNvPr id="24" name="TextBox 23"/>
          <p:cNvSpPr txBox="1"/>
          <p:nvPr/>
        </p:nvSpPr>
        <p:spPr>
          <a:xfrm>
            <a:off x="1676400" y="1905000"/>
            <a:ext cx="468398" cy="369332"/>
          </a:xfrm>
          <a:prstGeom prst="rect">
            <a:avLst/>
          </a:prstGeom>
          <a:noFill/>
        </p:spPr>
        <p:txBody>
          <a:bodyPr wrap="none" rtlCol="0">
            <a:spAutoFit/>
          </a:bodyPr>
          <a:lstStyle/>
          <a:p>
            <a:r>
              <a:rPr lang="en-US" dirty="0"/>
              <a:t>W</a:t>
            </a:r>
            <a:r>
              <a:rPr lang="en-US" baseline="-25000" dirty="0"/>
              <a:t>3</a:t>
            </a:r>
          </a:p>
        </p:txBody>
      </p:sp>
      <p:sp>
        <p:nvSpPr>
          <p:cNvPr id="25" name="TextBox 24"/>
          <p:cNvSpPr txBox="1"/>
          <p:nvPr/>
        </p:nvSpPr>
        <p:spPr>
          <a:xfrm>
            <a:off x="1752600" y="2678668"/>
            <a:ext cx="463268" cy="369332"/>
          </a:xfrm>
          <a:prstGeom prst="rect">
            <a:avLst/>
          </a:prstGeom>
          <a:noFill/>
        </p:spPr>
        <p:txBody>
          <a:bodyPr wrap="none" rtlCol="0">
            <a:spAutoFit/>
          </a:bodyPr>
          <a:lstStyle/>
          <a:p>
            <a:r>
              <a:rPr lang="en-US" dirty="0" err="1"/>
              <a:t>W</a:t>
            </a:r>
            <a:r>
              <a:rPr lang="en-US" baseline="-25000" dirty="0" err="1"/>
              <a:t>n</a:t>
            </a:r>
            <a:endParaRPr lang="en-US" baseline="-25000" dirty="0"/>
          </a:p>
        </p:txBody>
      </p:sp>
      <p:cxnSp>
        <p:nvCxnSpPr>
          <p:cNvPr id="26" name="Straight Arrow Connector 25"/>
          <p:cNvCxnSpPr>
            <a:stCxn id="10" idx="6"/>
            <a:endCxn id="27" idx="1"/>
          </p:cNvCxnSpPr>
          <p:nvPr/>
        </p:nvCxnSpPr>
        <p:spPr>
          <a:xfrm>
            <a:off x="4038600" y="2247900"/>
            <a:ext cx="914400" cy="0"/>
          </a:xfrm>
          <a:prstGeom prst="straightConnector1">
            <a:avLst/>
          </a:prstGeom>
          <a:ln w="44450">
            <a:tailEnd type="arrow"/>
          </a:ln>
        </p:spPr>
        <p:style>
          <a:lnRef idx="1">
            <a:schemeClr val="accent1"/>
          </a:lnRef>
          <a:fillRef idx="0">
            <a:schemeClr val="accent1"/>
          </a:fillRef>
          <a:effectRef idx="0">
            <a:schemeClr val="accent1"/>
          </a:effectRef>
          <a:fontRef idx="minor">
            <a:schemeClr val="tx1"/>
          </a:fontRef>
        </p:style>
      </p:cxnSp>
      <p:sp>
        <p:nvSpPr>
          <p:cNvPr id="27" name="Rectangle 26"/>
          <p:cNvSpPr/>
          <p:nvPr/>
        </p:nvSpPr>
        <p:spPr>
          <a:xfrm>
            <a:off x="4953000" y="1752600"/>
            <a:ext cx="1981200" cy="9906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rgbClr val="C00000"/>
                </a:solidFill>
              </a:rPr>
              <a:t>Activation   Function</a:t>
            </a:r>
          </a:p>
        </p:txBody>
      </p:sp>
      <p:sp>
        <p:nvSpPr>
          <p:cNvPr id="28" name="TextBox 27"/>
          <p:cNvSpPr txBox="1"/>
          <p:nvPr/>
        </p:nvSpPr>
        <p:spPr>
          <a:xfrm>
            <a:off x="4191000" y="1828800"/>
            <a:ext cx="533400" cy="369332"/>
          </a:xfrm>
          <a:prstGeom prst="rect">
            <a:avLst/>
          </a:prstGeom>
          <a:noFill/>
        </p:spPr>
        <p:txBody>
          <a:bodyPr wrap="square" rtlCol="0">
            <a:spAutoFit/>
          </a:bodyPr>
          <a:lstStyle/>
          <a:p>
            <a:r>
              <a:rPr lang="en-US" dirty="0" err="1"/>
              <a:t>V</a:t>
            </a:r>
            <a:r>
              <a:rPr lang="en-US" baseline="-25000" dirty="0" err="1"/>
              <a:t>k</a:t>
            </a:r>
            <a:endParaRPr lang="en-US" baseline="-25000" dirty="0"/>
          </a:p>
        </p:txBody>
      </p:sp>
      <p:cxnSp>
        <p:nvCxnSpPr>
          <p:cNvPr id="30" name="Straight Arrow Connector 29"/>
          <p:cNvCxnSpPr/>
          <p:nvPr/>
        </p:nvCxnSpPr>
        <p:spPr>
          <a:xfrm rot="5400000">
            <a:off x="3199606" y="1295400"/>
            <a:ext cx="610394" cy="794"/>
          </a:xfrm>
          <a:prstGeom prst="straightConnector1">
            <a:avLst/>
          </a:prstGeom>
          <a:ln w="25400">
            <a:tailEnd type="arrow"/>
          </a:ln>
        </p:spPr>
        <p:style>
          <a:lnRef idx="1">
            <a:schemeClr val="accent1"/>
          </a:lnRef>
          <a:fillRef idx="0">
            <a:schemeClr val="accent1"/>
          </a:fillRef>
          <a:effectRef idx="0">
            <a:schemeClr val="accent1"/>
          </a:effectRef>
          <a:fontRef idx="minor">
            <a:schemeClr val="tx1"/>
          </a:fontRef>
        </p:style>
      </p:cxnSp>
      <p:sp>
        <p:nvSpPr>
          <p:cNvPr id="31" name="TextBox 30"/>
          <p:cNvSpPr txBox="1"/>
          <p:nvPr/>
        </p:nvSpPr>
        <p:spPr>
          <a:xfrm>
            <a:off x="3431370" y="914400"/>
            <a:ext cx="378630" cy="369332"/>
          </a:xfrm>
          <a:prstGeom prst="rect">
            <a:avLst/>
          </a:prstGeom>
          <a:noFill/>
        </p:spPr>
        <p:txBody>
          <a:bodyPr wrap="none" rtlCol="0">
            <a:spAutoFit/>
          </a:bodyPr>
          <a:lstStyle/>
          <a:p>
            <a:r>
              <a:rPr lang="en-US" dirty="0" err="1"/>
              <a:t>b</a:t>
            </a:r>
            <a:r>
              <a:rPr lang="en-US" baseline="-25000" dirty="0" err="1"/>
              <a:t>k</a:t>
            </a:r>
            <a:endParaRPr lang="en-US" baseline="-25000" dirty="0"/>
          </a:p>
        </p:txBody>
      </p:sp>
      <p:cxnSp>
        <p:nvCxnSpPr>
          <p:cNvPr id="32" name="Straight Arrow Connector 31"/>
          <p:cNvCxnSpPr/>
          <p:nvPr/>
        </p:nvCxnSpPr>
        <p:spPr>
          <a:xfrm>
            <a:off x="6934200" y="2286000"/>
            <a:ext cx="685800" cy="7960"/>
          </a:xfrm>
          <a:prstGeom prst="straightConnector1">
            <a:avLst/>
          </a:prstGeom>
          <a:ln w="44450">
            <a:tailEnd type="arrow"/>
          </a:ln>
        </p:spPr>
        <p:style>
          <a:lnRef idx="1">
            <a:schemeClr val="accent1"/>
          </a:lnRef>
          <a:fillRef idx="0">
            <a:schemeClr val="accent1"/>
          </a:fillRef>
          <a:effectRef idx="0">
            <a:schemeClr val="accent1"/>
          </a:effectRef>
          <a:fontRef idx="minor">
            <a:schemeClr val="tx1"/>
          </a:fontRef>
        </p:style>
      </p:cxnSp>
      <p:sp>
        <p:nvSpPr>
          <p:cNvPr id="33" name="TextBox 32"/>
          <p:cNvSpPr txBox="1"/>
          <p:nvPr/>
        </p:nvSpPr>
        <p:spPr>
          <a:xfrm>
            <a:off x="7848600" y="1981200"/>
            <a:ext cx="533400" cy="523220"/>
          </a:xfrm>
          <a:prstGeom prst="rect">
            <a:avLst/>
          </a:prstGeom>
          <a:noFill/>
        </p:spPr>
        <p:txBody>
          <a:bodyPr wrap="square" rtlCol="0">
            <a:spAutoFit/>
          </a:bodyPr>
          <a:lstStyle/>
          <a:p>
            <a:r>
              <a:rPr lang="en-US" sz="2800" dirty="0" err="1"/>
              <a:t>y’</a:t>
            </a:r>
            <a:r>
              <a:rPr lang="en-US" baseline="-25000" dirty="0" err="1"/>
              <a:t>k</a:t>
            </a:r>
            <a:endParaRPr lang="en-US" baseline="-25000" dirty="0"/>
          </a:p>
        </p:txBody>
      </p:sp>
      <p:pic>
        <p:nvPicPr>
          <p:cNvPr id="4098" name="Picture 2"/>
          <p:cNvPicPr>
            <a:picLocks noChangeAspect="1" noChangeArrowheads="1"/>
          </p:cNvPicPr>
          <p:nvPr/>
        </p:nvPicPr>
        <p:blipFill>
          <a:blip r:embed="rId2"/>
          <a:srcRect/>
          <a:stretch>
            <a:fillRect/>
          </a:stretch>
        </p:blipFill>
        <p:spPr bwMode="auto">
          <a:xfrm>
            <a:off x="3505200" y="4876800"/>
            <a:ext cx="1447800" cy="1708404"/>
          </a:xfrm>
          <a:prstGeom prst="rect">
            <a:avLst/>
          </a:prstGeom>
          <a:noFill/>
          <a:ln w="9525">
            <a:noFill/>
            <a:miter lim="800000"/>
            <a:headEnd/>
            <a:tailEnd/>
          </a:ln>
          <a:effectLst/>
        </p:spPr>
      </p:pic>
      <p:pic>
        <p:nvPicPr>
          <p:cNvPr id="4099" name="Picture 3"/>
          <p:cNvPicPr>
            <a:picLocks noChangeAspect="1" noChangeArrowheads="1"/>
          </p:cNvPicPr>
          <p:nvPr/>
        </p:nvPicPr>
        <p:blipFill>
          <a:blip r:embed="rId3"/>
          <a:srcRect/>
          <a:stretch>
            <a:fillRect/>
          </a:stretch>
        </p:blipFill>
        <p:spPr bwMode="auto">
          <a:xfrm>
            <a:off x="5334000" y="4876800"/>
            <a:ext cx="1771650" cy="771525"/>
          </a:xfrm>
          <a:prstGeom prst="rect">
            <a:avLst/>
          </a:prstGeom>
          <a:noFill/>
          <a:ln w="9525">
            <a:noFill/>
            <a:miter lim="800000"/>
            <a:headEnd/>
            <a:tailEnd/>
          </a:ln>
          <a:effectLst/>
        </p:spPr>
      </p:pic>
      <p:sp>
        <p:nvSpPr>
          <p:cNvPr id="38" name="TextBox 37"/>
          <p:cNvSpPr txBox="1"/>
          <p:nvPr/>
        </p:nvSpPr>
        <p:spPr>
          <a:xfrm>
            <a:off x="3962400" y="990600"/>
            <a:ext cx="3581400" cy="738664"/>
          </a:xfrm>
          <a:prstGeom prst="rect">
            <a:avLst/>
          </a:prstGeom>
          <a:noFill/>
        </p:spPr>
        <p:txBody>
          <a:bodyPr wrap="square" rtlCol="0">
            <a:spAutoFit/>
          </a:bodyPr>
          <a:lstStyle/>
          <a:p>
            <a:r>
              <a:rPr lang="en-US" sz="2400" b="1" dirty="0" err="1">
                <a:latin typeface="Times New Roman" pitchFamily="18" charset="0"/>
                <a:cs typeface="Times New Roman" pitchFamily="18" charset="0"/>
              </a:rPr>
              <a:t>V</a:t>
            </a:r>
            <a:r>
              <a:rPr lang="en-US" sz="2400" b="1" baseline="-25000" dirty="0" err="1">
                <a:latin typeface="Times New Roman" pitchFamily="18" charset="0"/>
                <a:cs typeface="Times New Roman" pitchFamily="18" charset="0"/>
              </a:rPr>
              <a:t>k</a:t>
            </a:r>
            <a:r>
              <a:rPr lang="en-US" sz="2400" b="1" dirty="0">
                <a:latin typeface="Times New Roman" pitchFamily="18" charset="0"/>
                <a:cs typeface="Times New Roman" pitchFamily="18" charset="0"/>
              </a:rPr>
              <a:t>= </a:t>
            </a:r>
            <a:r>
              <a:rPr lang="en-US" sz="2400" b="1" dirty="0">
                <a:solidFill>
                  <a:srgbClr val="3116F6"/>
                </a:solidFill>
                <a:latin typeface="Times New Roman" pitchFamily="18" charset="0"/>
                <a:cs typeface="Times New Roman" pitchFamily="18" charset="0"/>
              </a:rPr>
              <a:t>∑</a:t>
            </a:r>
            <a:r>
              <a:rPr lang="en-US" sz="2400" b="1" baseline="-25000" dirty="0">
                <a:solidFill>
                  <a:srgbClr val="3116F6"/>
                </a:solidFill>
                <a:latin typeface="Times New Roman" pitchFamily="18" charset="0"/>
                <a:cs typeface="Times New Roman" pitchFamily="18" charset="0"/>
              </a:rPr>
              <a:t>j=1</a:t>
            </a:r>
            <a:r>
              <a:rPr lang="en-US" sz="2400" b="1" baseline="30000" dirty="0">
                <a:solidFill>
                  <a:srgbClr val="3116F6"/>
                </a:solidFill>
                <a:latin typeface="Times New Roman" pitchFamily="18" charset="0"/>
                <a:cs typeface="Times New Roman" pitchFamily="18" charset="0"/>
              </a:rPr>
              <a:t>d </a:t>
            </a:r>
            <a:r>
              <a:rPr lang="en-US" sz="2400" b="1" dirty="0">
                <a:solidFill>
                  <a:srgbClr val="3116F6"/>
                </a:solidFill>
                <a:latin typeface="Times New Roman" pitchFamily="18" charset="0"/>
                <a:cs typeface="Times New Roman" pitchFamily="18" charset="0"/>
              </a:rPr>
              <a:t>(</a:t>
            </a:r>
            <a:r>
              <a:rPr lang="en-US" sz="2400" b="1" dirty="0" err="1">
                <a:solidFill>
                  <a:srgbClr val="3116F6"/>
                </a:solidFill>
                <a:latin typeface="Times New Roman" pitchFamily="18" charset="0"/>
                <a:cs typeface="Times New Roman" pitchFamily="18" charset="0"/>
              </a:rPr>
              <a:t>W</a:t>
            </a:r>
            <a:r>
              <a:rPr lang="en-US" sz="2400" b="1" baseline="-25000" dirty="0" err="1">
                <a:solidFill>
                  <a:srgbClr val="3116F6"/>
                </a:solidFill>
                <a:latin typeface="Times New Roman" pitchFamily="18" charset="0"/>
                <a:cs typeface="Times New Roman" pitchFamily="18" charset="0"/>
              </a:rPr>
              <a:t>j</a:t>
            </a:r>
            <a:r>
              <a:rPr lang="en-US" sz="2400" b="1" dirty="0">
                <a:solidFill>
                  <a:srgbClr val="3116F6"/>
                </a:solidFill>
                <a:latin typeface="Times New Roman" pitchFamily="18" charset="0"/>
                <a:cs typeface="Times New Roman" pitchFamily="18" charset="0"/>
              </a:rPr>
              <a:t>*</a:t>
            </a:r>
            <a:r>
              <a:rPr lang="en-US" sz="2400" b="1" dirty="0" err="1">
                <a:solidFill>
                  <a:srgbClr val="3116F6"/>
                </a:solidFill>
                <a:latin typeface="Times New Roman" pitchFamily="18" charset="0"/>
                <a:cs typeface="Times New Roman" pitchFamily="18" charset="0"/>
              </a:rPr>
              <a:t>x</a:t>
            </a:r>
            <a:r>
              <a:rPr lang="en-US" sz="2400" b="1" baseline="-25000" dirty="0" err="1">
                <a:solidFill>
                  <a:srgbClr val="3116F6"/>
                </a:solidFill>
                <a:latin typeface="Times New Roman" pitchFamily="18" charset="0"/>
                <a:cs typeface="Times New Roman" pitchFamily="18" charset="0"/>
              </a:rPr>
              <a:t>ij</a:t>
            </a:r>
            <a:r>
              <a:rPr lang="en-US" sz="2400" b="1" dirty="0">
                <a:solidFill>
                  <a:srgbClr val="3116F6"/>
                </a:solidFill>
                <a:latin typeface="Times New Roman" pitchFamily="18" charset="0"/>
                <a:cs typeface="Times New Roman" pitchFamily="18" charset="0"/>
              </a:rPr>
              <a:t>) </a:t>
            </a:r>
            <a:r>
              <a:rPr lang="en-US" sz="2400" b="1" dirty="0">
                <a:latin typeface="Times New Roman" pitchFamily="18" charset="0"/>
                <a:cs typeface="Times New Roman" pitchFamily="18" charset="0"/>
              </a:rPr>
              <a:t>+ </a:t>
            </a:r>
            <a:r>
              <a:rPr lang="en-US" sz="2400" b="1" dirty="0" err="1">
                <a:latin typeface="Times New Roman" pitchFamily="18" charset="0"/>
                <a:cs typeface="Times New Roman" pitchFamily="18" charset="0"/>
              </a:rPr>
              <a:t>b</a:t>
            </a:r>
            <a:r>
              <a:rPr lang="en-US" sz="2400" b="1" baseline="-25000" dirty="0" err="1">
                <a:latin typeface="Times New Roman" pitchFamily="18" charset="0"/>
                <a:cs typeface="Times New Roman" pitchFamily="18" charset="0"/>
              </a:rPr>
              <a:t>k</a:t>
            </a:r>
            <a:r>
              <a:rPr lang="en-US" sz="2400" b="1" baseline="-25000" dirty="0">
                <a:latin typeface="Times New Roman" pitchFamily="18" charset="0"/>
                <a:cs typeface="Times New Roman" pitchFamily="18" charset="0"/>
              </a:rPr>
              <a:t> </a:t>
            </a:r>
          </a:p>
          <a:p>
            <a:endParaRPr lang="en-US" b="1" dirty="0"/>
          </a:p>
        </p:txBody>
      </p:sp>
      <p:sp>
        <p:nvSpPr>
          <p:cNvPr id="39" name="TextBox 38"/>
          <p:cNvSpPr txBox="1"/>
          <p:nvPr/>
        </p:nvSpPr>
        <p:spPr>
          <a:xfrm>
            <a:off x="7543800" y="914400"/>
            <a:ext cx="3581400" cy="738664"/>
          </a:xfrm>
          <a:prstGeom prst="rect">
            <a:avLst/>
          </a:prstGeom>
          <a:noFill/>
        </p:spPr>
        <p:txBody>
          <a:bodyPr wrap="square" rtlCol="0">
            <a:spAutoFit/>
          </a:bodyPr>
          <a:lstStyle/>
          <a:p>
            <a:r>
              <a:rPr lang="en-US" sz="2400" b="1" dirty="0" err="1">
                <a:latin typeface="Times New Roman" pitchFamily="18" charset="0"/>
                <a:cs typeface="Times New Roman" pitchFamily="18" charset="0"/>
              </a:rPr>
              <a:t>y</a:t>
            </a:r>
            <a:r>
              <a:rPr lang="en-US" sz="2400" b="1" dirty="0" err="1">
                <a:latin typeface="Agency FB" pitchFamily="34" charset="0"/>
                <a:cs typeface="Times New Roman" pitchFamily="18" charset="0"/>
              </a:rPr>
              <a:t>’</a:t>
            </a:r>
            <a:r>
              <a:rPr lang="en-US" sz="2400" b="1" baseline="-25000" dirty="0" err="1">
                <a:latin typeface="Times New Roman" pitchFamily="18" charset="0"/>
                <a:cs typeface="Times New Roman" pitchFamily="18" charset="0"/>
              </a:rPr>
              <a:t>k</a:t>
            </a:r>
            <a:r>
              <a:rPr lang="en-US" sz="2400" b="1" dirty="0">
                <a:latin typeface="Times New Roman" pitchFamily="18" charset="0"/>
                <a:cs typeface="Times New Roman" pitchFamily="18" charset="0"/>
              </a:rPr>
              <a:t>= f(</a:t>
            </a:r>
            <a:r>
              <a:rPr lang="en-US" sz="2400" b="1" dirty="0" err="1">
                <a:latin typeface="Times New Roman" pitchFamily="18" charset="0"/>
                <a:cs typeface="Times New Roman" pitchFamily="18" charset="0"/>
              </a:rPr>
              <a:t>V</a:t>
            </a:r>
            <a:r>
              <a:rPr lang="en-US" sz="2400" b="1" baseline="-25000" dirty="0" err="1">
                <a:latin typeface="Times New Roman" pitchFamily="18" charset="0"/>
                <a:cs typeface="Times New Roman" pitchFamily="18" charset="0"/>
              </a:rPr>
              <a:t>k</a:t>
            </a:r>
            <a:r>
              <a:rPr lang="en-US" sz="2400" b="1" dirty="0">
                <a:latin typeface="Times New Roman" pitchFamily="18" charset="0"/>
                <a:cs typeface="Times New Roman" pitchFamily="18" charset="0"/>
              </a:rPr>
              <a:t>)</a:t>
            </a:r>
            <a:r>
              <a:rPr lang="en-US" sz="2400" b="1" baseline="-25000" dirty="0">
                <a:latin typeface="Times New Roman" pitchFamily="18" charset="0"/>
                <a:cs typeface="Times New Roman" pitchFamily="18" charset="0"/>
              </a:rPr>
              <a:t> </a:t>
            </a:r>
          </a:p>
          <a:p>
            <a:endParaRPr lang="en-US" b="1" dirty="0"/>
          </a:p>
        </p:txBody>
      </p:sp>
      <p:pic>
        <p:nvPicPr>
          <p:cNvPr id="4100" name="Picture 4"/>
          <p:cNvPicPr>
            <a:picLocks noChangeAspect="1" noChangeArrowheads="1"/>
          </p:cNvPicPr>
          <p:nvPr/>
        </p:nvPicPr>
        <p:blipFill>
          <a:blip r:embed="rId4"/>
          <a:srcRect/>
          <a:stretch>
            <a:fillRect/>
          </a:stretch>
        </p:blipFill>
        <p:spPr bwMode="auto">
          <a:xfrm>
            <a:off x="914400" y="5410200"/>
            <a:ext cx="3267075" cy="723900"/>
          </a:xfrm>
          <a:prstGeom prst="rect">
            <a:avLst/>
          </a:prstGeom>
          <a:noFill/>
          <a:ln w="9525">
            <a:noFill/>
            <a:miter lim="800000"/>
            <a:headEnd/>
            <a:tailEnd/>
          </a:ln>
          <a:effectLst/>
        </p:spPr>
      </p:pic>
      <p:sp>
        <p:nvSpPr>
          <p:cNvPr id="29" name="Line Callout 1 28"/>
          <p:cNvSpPr/>
          <p:nvPr/>
        </p:nvSpPr>
        <p:spPr>
          <a:xfrm>
            <a:off x="7222224" y="3834908"/>
            <a:ext cx="1540775" cy="612648"/>
          </a:xfrm>
          <a:prstGeom prst="borderCallout1">
            <a:avLst>
              <a:gd name="adj1" fmla="val 18750"/>
              <a:gd name="adj2" fmla="val -8333"/>
              <a:gd name="adj3" fmla="val 186013"/>
              <a:gd name="adj4" fmla="val -45419"/>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N" b="1" dirty="0" smtClean="0">
                <a:solidFill>
                  <a:schemeClr val="tx1"/>
                </a:solidFill>
                <a:latin typeface="Times New Roman" panose="02020603050405020304" pitchFamily="18" charset="0"/>
                <a:cs typeface="Times New Roman" panose="02020603050405020304" pitchFamily="18" charset="0"/>
              </a:rPr>
              <a:t>-2(y-y’)</a:t>
            </a:r>
            <a:r>
              <a:rPr lang="en-IN" b="1" dirty="0" smtClean="0">
                <a:latin typeface="Times New Roman" panose="02020603050405020304" pitchFamily="18" charset="0"/>
                <a:cs typeface="Times New Roman" panose="02020603050405020304" pitchFamily="18" charset="0"/>
              </a:rPr>
              <a:t>)</a:t>
            </a:r>
            <a:endParaRPr lang="en-IN" b="1" dirty="0">
              <a:latin typeface="Times New Roman" panose="02020603050405020304" pitchFamily="18" charset="0"/>
              <a:cs typeface="Times New Roman" panose="02020603050405020304" pitchFamily="18" charset="0"/>
            </a:endParaRPr>
          </a:p>
        </p:txBody>
      </p:sp>
      <p:sp>
        <p:nvSpPr>
          <p:cNvPr id="40" name="Line Callout 1 39"/>
          <p:cNvSpPr/>
          <p:nvPr/>
        </p:nvSpPr>
        <p:spPr>
          <a:xfrm>
            <a:off x="7543800" y="4876800"/>
            <a:ext cx="1540775" cy="612648"/>
          </a:xfrm>
          <a:prstGeom prst="borderCallout1">
            <a:avLst>
              <a:gd name="adj1" fmla="val 18750"/>
              <a:gd name="adj2" fmla="val -8333"/>
              <a:gd name="adj3" fmla="val 45670"/>
              <a:gd name="adj4" fmla="val -36561"/>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N" b="1" dirty="0" smtClean="0">
                <a:solidFill>
                  <a:schemeClr val="tx1"/>
                </a:solidFill>
                <a:latin typeface="Times New Roman" panose="02020603050405020304" pitchFamily="18" charset="0"/>
                <a:cs typeface="Times New Roman" panose="02020603050405020304" pitchFamily="18" charset="0"/>
              </a:rPr>
              <a:t>x</a:t>
            </a:r>
            <a:endParaRPr lang="en-IN" b="1" dirty="0">
              <a:latin typeface="Times New Roman" panose="02020603050405020304" pitchFamily="18" charset="0"/>
              <a:cs typeface="Times New Roman" panose="02020603050405020304" pitchFamily="18" charset="0"/>
            </a:endParaRPr>
          </a:p>
        </p:txBody>
      </p:sp>
      <p:sp>
        <p:nvSpPr>
          <p:cNvPr id="41" name="Line Callout 1 40"/>
          <p:cNvSpPr/>
          <p:nvPr/>
        </p:nvSpPr>
        <p:spPr>
          <a:xfrm>
            <a:off x="6231625" y="4949952"/>
            <a:ext cx="1540775" cy="612648"/>
          </a:xfrm>
          <a:prstGeom prst="borderCallout1">
            <a:avLst>
              <a:gd name="adj1" fmla="val 32116"/>
              <a:gd name="adj2" fmla="val -6562"/>
              <a:gd name="adj3" fmla="val 38987"/>
              <a:gd name="adj4" fmla="val -6444"/>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N" b="1" dirty="0" smtClean="0">
                <a:solidFill>
                  <a:schemeClr val="tx1"/>
                </a:solidFill>
                <a:latin typeface="Times New Roman" panose="02020603050405020304" pitchFamily="18" charset="0"/>
                <a:cs typeface="Times New Roman" panose="02020603050405020304" pitchFamily="18" charset="0"/>
              </a:rPr>
              <a:t>-2(y-y’)*x</a:t>
            </a:r>
            <a:endParaRPr lang="en-IN" b="1" dirty="0">
              <a:solidFill>
                <a:schemeClr val="tx1"/>
              </a:solidFill>
              <a:latin typeface="Times New Roman" panose="02020603050405020304" pitchFamily="18" charset="0"/>
              <a:cs typeface="Times New Roman" panose="02020603050405020304" pitchFamily="18" charset="0"/>
            </a:endParaRPr>
          </a:p>
        </p:txBody>
      </p:sp>
      <p:sp>
        <p:nvSpPr>
          <p:cNvPr id="5" name="TextBox 4"/>
          <p:cNvSpPr txBox="1"/>
          <p:nvPr/>
        </p:nvSpPr>
        <p:spPr>
          <a:xfrm>
            <a:off x="7620000" y="1535668"/>
            <a:ext cx="1464575" cy="461665"/>
          </a:xfrm>
          <a:prstGeom prst="rect">
            <a:avLst/>
          </a:prstGeom>
          <a:noFill/>
        </p:spPr>
        <p:txBody>
          <a:bodyPr wrap="square" rtlCol="0">
            <a:spAutoFit/>
          </a:bodyPr>
          <a:lstStyle/>
          <a:p>
            <a:r>
              <a:rPr lang="en-US" sz="2400" b="1" dirty="0" smtClean="0"/>
              <a:t>L=(y-y’)</a:t>
            </a:r>
            <a:r>
              <a:rPr lang="en-US" sz="2400" b="1" baseline="30000" dirty="0" smtClean="0"/>
              <a:t>2</a:t>
            </a:r>
            <a:endParaRPr lang="en-IN" sz="2400" b="1" baseline="30000" dirty="0"/>
          </a:p>
        </p:txBody>
      </p:sp>
      <p:sp>
        <p:nvSpPr>
          <p:cNvPr id="42" name="TextBox 41"/>
          <p:cNvSpPr txBox="1"/>
          <p:nvPr/>
        </p:nvSpPr>
        <p:spPr>
          <a:xfrm flipH="1">
            <a:off x="6400800" y="6600824"/>
            <a:ext cx="2671762" cy="307777"/>
          </a:xfrm>
          <a:prstGeom prst="rect">
            <a:avLst/>
          </a:prstGeom>
          <a:noFill/>
        </p:spPr>
        <p:txBody>
          <a:bodyPr wrap="square" rtlCol="0">
            <a:spAutoFit/>
          </a:bodyPr>
          <a:lstStyle/>
          <a:p>
            <a:r>
              <a:rPr lang="en-US" sz="1400" dirty="0" smtClean="0">
                <a:latin typeface="Times New Roman" panose="02020603050405020304" pitchFamily="18" charset="0"/>
                <a:cs typeface="Times New Roman" panose="02020603050405020304" pitchFamily="18" charset="0"/>
              </a:rPr>
              <a:t>Types of ANN</a:t>
            </a:r>
            <a:endParaRPr lang="en-IN" sz="14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79618071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nodeType="clickEffect">
                                  <p:stCondLst>
                                    <p:cond delay="0"/>
                                  </p:stCondLst>
                                  <p:childTnLst>
                                    <p:set>
                                      <p:cBhvr>
                                        <p:cTn id="6" dur="1" fill="hold">
                                          <p:stCondLst>
                                            <p:cond delay="0"/>
                                          </p:stCondLst>
                                        </p:cTn>
                                        <p:tgtEl>
                                          <p:spTgt spid="4099"/>
                                        </p:tgtEl>
                                        <p:attrNameLst>
                                          <p:attrName>style.visibility</p:attrName>
                                        </p:attrNameLst>
                                      </p:cBhvr>
                                      <p:to>
                                        <p:strVal val="visible"/>
                                      </p:to>
                                    </p:set>
                                    <p:animEffect transition="in" filter="wipe(left)">
                                      <p:cBhvr>
                                        <p:cTn id="7" dur="500"/>
                                        <p:tgtEl>
                                          <p:spTgt spid="4099"/>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4" fill="hold" grpId="0" nodeType="clickEffect">
                                  <p:stCondLst>
                                    <p:cond delay="0"/>
                                  </p:stCondLst>
                                  <p:childTnLst>
                                    <p:set>
                                      <p:cBhvr>
                                        <p:cTn id="11" dur="1" fill="hold">
                                          <p:stCondLst>
                                            <p:cond delay="0"/>
                                          </p:stCondLst>
                                        </p:cTn>
                                        <p:tgtEl>
                                          <p:spTgt spid="29"/>
                                        </p:tgtEl>
                                        <p:attrNameLst>
                                          <p:attrName>style.visibility</p:attrName>
                                        </p:attrNameLst>
                                      </p:cBhvr>
                                      <p:to>
                                        <p:strVal val="visible"/>
                                      </p:to>
                                    </p:set>
                                    <p:animEffect transition="in" filter="wipe(down)">
                                      <p:cBhvr>
                                        <p:cTn id="12" dur="500"/>
                                        <p:tgtEl>
                                          <p:spTgt spid="29"/>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4" fill="hold" grpId="0" nodeType="clickEffect">
                                  <p:stCondLst>
                                    <p:cond delay="0"/>
                                  </p:stCondLst>
                                  <p:childTnLst>
                                    <p:set>
                                      <p:cBhvr>
                                        <p:cTn id="16" dur="1" fill="hold">
                                          <p:stCondLst>
                                            <p:cond delay="0"/>
                                          </p:stCondLst>
                                        </p:cTn>
                                        <p:tgtEl>
                                          <p:spTgt spid="40"/>
                                        </p:tgtEl>
                                        <p:attrNameLst>
                                          <p:attrName>style.visibility</p:attrName>
                                        </p:attrNameLst>
                                      </p:cBhvr>
                                      <p:to>
                                        <p:strVal val="visible"/>
                                      </p:to>
                                    </p:set>
                                    <p:animEffect transition="in" filter="wipe(down)">
                                      <p:cBhvr>
                                        <p:cTn id="17" dur="500"/>
                                        <p:tgtEl>
                                          <p:spTgt spid="40"/>
                                        </p:tgtEl>
                                      </p:cBhvr>
                                    </p:animEffect>
                                  </p:childTnLst>
                                </p:cTn>
                              </p:par>
                            </p:childTnLst>
                          </p:cTn>
                        </p:par>
                      </p:childTnLst>
                    </p:cTn>
                  </p:par>
                  <p:par>
                    <p:cTn id="18" fill="hold">
                      <p:stCondLst>
                        <p:cond delay="indefinite"/>
                      </p:stCondLst>
                      <p:childTnLst>
                        <p:par>
                          <p:cTn id="19" fill="hold">
                            <p:stCondLst>
                              <p:cond delay="0"/>
                            </p:stCondLst>
                            <p:childTnLst>
                              <p:par>
                                <p:cTn id="20" presetID="22" presetClass="entr" presetSubtype="4" fill="hold" grpId="0" nodeType="clickEffect">
                                  <p:stCondLst>
                                    <p:cond delay="0"/>
                                  </p:stCondLst>
                                  <p:childTnLst>
                                    <p:set>
                                      <p:cBhvr>
                                        <p:cTn id="21" dur="1" fill="hold">
                                          <p:stCondLst>
                                            <p:cond delay="0"/>
                                          </p:stCondLst>
                                        </p:cTn>
                                        <p:tgtEl>
                                          <p:spTgt spid="41"/>
                                        </p:tgtEl>
                                        <p:attrNameLst>
                                          <p:attrName>style.visibility</p:attrName>
                                        </p:attrNameLst>
                                      </p:cBhvr>
                                      <p:to>
                                        <p:strVal val="visible"/>
                                      </p:to>
                                    </p:set>
                                    <p:animEffect transition="in" filter="wipe(down)">
                                      <p:cBhvr>
                                        <p:cTn id="22" dur="500"/>
                                        <p:tgtEl>
                                          <p:spTgt spid="41"/>
                                        </p:tgtEl>
                                      </p:cBhvr>
                                    </p:animEffect>
                                  </p:childTnLst>
                                </p:cTn>
                              </p:par>
                            </p:childTnLst>
                          </p:cTn>
                        </p:par>
                      </p:childTnLst>
                    </p:cTn>
                  </p:par>
                  <p:par>
                    <p:cTn id="23" fill="hold">
                      <p:stCondLst>
                        <p:cond delay="indefinite"/>
                      </p:stCondLst>
                      <p:childTnLst>
                        <p:par>
                          <p:cTn id="24" fill="hold">
                            <p:stCondLst>
                              <p:cond delay="0"/>
                            </p:stCondLst>
                            <p:childTnLst>
                              <p:par>
                                <p:cTn id="25" presetID="1" presetClass="exit" presetSubtype="0" fill="hold" nodeType="clickEffect">
                                  <p:stCondLst>
                                    <p:cond delay="0"/>
                                  </p:stCondLst>
                                  <p:childTnLst>
                                    <p:set>
                                      <p:cBhvr>
                                        <p:cTn id="26" dur="1" fill="hold">
                                          <p:stCondLst>
                                            <p:cond delay="0"/>
                                          </p:stCondLst>
                                        </p:cTn>
                                        <p:tgtEl>
                                          <p:spTgt spid="4098"/>
                                        </p:tgtEl>
                                        <p:attrNameLst>
                                          <p:attrName>style.visibility</p:attrName>
                                        </p:attrNameLst>
                                      </p:cBhvr>
                                      <p:to>
                                        <p:strVal val="hidden"/>
                                      </p:to>
                                    </p:set>
                                  </p:childTnLst>
                                </p:cTn>
                              </p:par>
                              <p:par>
                                <p:cTn id="27" presetID="1" presetClass="exit" presetSubtype="0" fill="hold" nodeType="withEffect">
                                  <p:stCondLst>
                                    <p:cond delay="0"/>
                                  </p:stCondLst>
                                  <p:childTnLst>
                                    <p:set>
                                      <p:cBhvr>
                                        <p:cTn id="28" dur="1" fill="hold">
                                          <p:stCondLst>
                                            <p:cond delay="0"/>
                                          </p:stCondLst>
                                        </p:cTn>
                                        <p:tgtEl>
                                          <p:spTgt spid="4099"/>
                                        </p:tgtEl>
                                        <p:attrNameLst>
                                          <p:attrName>style.visibility</p:attrName>
                                        </p:attrNameLst>
                                      </p:cBhvr>
                                      <p:to>
                                        <p:strVal val="hidden"/>
                                      </p:to>
                                    </p:set>
                                  </p:childTnLst>
                                </p:cTn>
                              </p:par>
                            </p:childTnLst>
                          </p:cTn>
                        </p:par>
                      </p:childTnLst>
                    </p:cTn>
                  </p:par>
                  <p:par>
                    <p:cTn id="29" fill="hold">
                      <p:stCondLst>
                        <p:cond delay="indefinite"/>
                      </p:stCondLst>
                      <p:childTnLst>
                        <p:par>
                          <p:cTn id="30" fill="hold">
                            <p:stCondLst>
                              <p:cond delay="0"/>
                            </p:stCondLst>
                            <p:childTnLst>
                              <p:par>
                                <p:cTn id="31" presetID="22" presetClass="entr" presetSubtype="8" fill="hold" nodeType="clickEffect">
                                  <p:stCondLst>
                                    <p:cond delay="0"/>
                                  </p:stCondLst>
                                  <p:childTnLst>
                                    <p:set>
                                      <p:cBhvr>
                                        <p:cTn id="32" dur="1" fill="hold">
                                          <p:stCondLst>
                                            <p:cond delay="0"/>
                                          </p:stCondLst>
                                        </p:cTn>
                                        <p:tgtEl>
                                          <p:spTgt spid="4100"/>
                                        </p:tgtEl>
                                        <p:attrNameLst>
                                          <p:attrName>style.visibility</p:attrName>
                                        </p:attrNameLst>
                                      </p:cBhvr>
                                      <p:to>
                                        <p:strVal val="visible"/>
                                      </p:to>
                                    </p:set>
                                    <p:animEffect transition="in" filter="wipe(left)">
                                      <p:cBhvr>
                                        <p:cTn id="33" dur="500"/>
                                        <p:tgtEl>
                                          <p:spTgt spid="410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9" grpId="0" animBg="1"/>
      <p:bldP spid="40" grpId="0" animBg="1"/>
      <p:bldP spid="41" grpId="0" animBg="1"/>
    </p:bld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cap="small" dirty="0"/>
              <a:t>Types of Neural Network</a:t>
            </a:r>
          </a:p>
        </p:txBody>
      </p:sp>
      <p:sp>
        <p:nvSpPr>
          <p:cNvPr id="3" name="Content Placeholder 2"/>
          <p:cNvSpPr>
            <a:spLocks noGrp="1"/>
          </p:cNvSpPr>
          <p:nvPr>
            <p:ph idx="1"/>
          </p:nvPr>
        </p:nvSpPr>
        <p:spPr/>
        <p:txBody>
          <a:bodyPr>
            <a:normAutofit/>
          </a:bodyPr>
          <a:lstStyle/>
          <a:p>
            <a:endParaRPr lang="en-US" dirty="0"/>
          </a:p>
          <a:p>
            <a:endParaRPr lang="en-US" dirty="0"/>
          </a:p>
          <a:p>
            <a:endParaRPr lang="en-US" dirty="0"/>
          </a:p>
        </p:txBody>
      </p:sp>
      <p:sp>
        <p:nvSpPr>
          <p:cNvPr id="4" name="Date Placeholder 3"/>
          <p:cNvSpPr>
            <a:spLocks noGrp="1"/>
          </p:cNvSpPr>
          <p:nvPr>
            <p:ph type="dt" sz="half" idx="10"/>
          </p:nvPr>
        </p:nvSpPr>
        <p:spPr/>
        <p:txBody>
          <a:bodyPr/>
          <a:lstStyle/>
          <a:p>
            <a:fld id="{E7067A60-51C7-4095-BFA9-1CE32DCBA06F}" type="datetime1">
              <a:rPr lang="en-US" smtClean="0"/>
              <a:pPr/>
              <a:t>2/9/2026</a:t>
            </a:fld>
            <a:endParaRPr lang="en-US" dirty="0"/>
          </a:p>
        </p:txBody>
      </p:sp>
      <p:sp>
        <p:nvSpPr>
          <p:cNvPr id="6" name="Slide Number Placeholder 5"/>
          <p:cNvSpPr>
            <a:spLocks noGrp="1"/>
          </p:cNvSpPr>
          <p:nvPr>
            <p:ph type="sldNum" sz="quarter" idx="12"/>
          </p:nvPr>
        </p:nvSpPr>
        <p:spPr/>
        <p:txBody>
          <a:bodyPr/>
          <a:lstStyle/>
          <a:p>
            <a:fld id="{A03BBF96-A7A5-4867-9A4A-2F26A3CC4EC3}" type="slidenum">
              <a:rPr lang="en-US" smtClean="0"/>
              <a:pPr/>
              <a:t>28</a:t>
            </a:fld>
            <a:endParaRPr lang="en-US" dirty="0"/>
          </a:p>
        </p:txBody>
      </p:sp>
      <p:sp>
        <p:nvSpPr>
          <p:cNvPr id="7" name="TextBox 6"/>
          <p:cNvSpPr txBox="1"/>
          <p:nvPr/>
        </p:nvSpPr>
        <p:spPr>
          <a:xfrm>
            <a:off x="0" y="0"/>
            <a:ext cx="4572000" cy="369332"/>
          </a:xfrm>
          <a:prstGeom prst="rect">
            <a:avLst/>
          </a:prstGeom>
          <a:noFill/>
        </p:spPr>
        <p:txBody>
          <a:bodyPr wrap="square" rtlCol="0">
            <a:spAutoFit/>
          </a:bodyPr>
          <a:lstStyle/>
          <a:p>
            <a:pPr algn="r"/>
            <a:r>
              <a:rPr lang="en-US" b="1" dirty="0">
                <a:solidFill>
                  <a:schemeClr val="bg1"/>
                </a:solidFill>
              </a:rPr>
              <a:t>Introduction to Neural Network</a:t>
            </a:r>
          </a:p>
        </p:txBody>
      </p:sp>
      <p:sp>
        <p:nvSpPr>
          <p:cNvPr id="8" name="Rectangle 2"/>
          <p:cNvSpPr>
            <a:spLocks noChangeArrowheads="1"/>
          </p:cNvSpPr>
          <p:nvPr/>
        </p:nvSpPr>
        <p:spPr bwMode="auto">
          <a:xfrm>
            <a:off x="0" y="0"/>
            <a:ext cx="91440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sp>
        <p:nvSpPr>
          <p:cNvPr id="9" name="Rectangle 2"/>
          <p:cNvSpPr>
            <a:spLocks noChangeArrowheads="1"/>
          </p:cNvSpPr>
          <p:nvPr/>
        </p:nvSpPr>
        <p:spPr bwMode="auto">
          <a:xfrm>
            <a:off x="0" y="0"/>
            <a:ext cx="91440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sp>
        <p:nvSpPr>
          <p:cNvPr id="11" name="Footer Placeholder 4">
            <a:extLst>
              <a:ext uri="{FF2B5EF4-FFF2-40B4-BE49-F238E27FC236}">
                <a16:creationId xmlns:a16="http://schemas.microsoft.com/office/drawing/2014/main" id="{CBB301ED-B8A4-4772-B559-A9E41E7472BD}"/>
              </a:ext>
            </a:extLst>
          </p:cNvPr>
          <p:cNvSpPr>
            <a:spLocks noGrp="1"/>
          </p:cNvSpPr>
          <p:nvPr>
            <p:ph type="ftr" sz="quarter" idx="11"/>
          </p:nvPr>
        </p:nvSpPr>
        <p:spPr>
          <a:xfrm>
            <a:off x="2286000" y="6629400"/>
            <a:ext cx="4136571" cy="228600"/>
          </a:xfrm>
        </p:spPr>
        <p:txBody>
          <a:bodyPr/>
          <a:lstStyle/>
          <a:p>
            <a:r>
              <a:rPr lang="en-US" dirty="0"/>
              <a:t>Dr. Sibarama Panigrahi, Dept. of CSE, NIT Rourkela</a:t>
            </a:r>
          </a:p>
        </p:txBody>
      </p:sp>
      <p:pic>
        <p:nvPicPr>
          <p:cNvPr id="5122" name="Picture 2"/>
          <p:cNvPicPr>
            <a:picLocks noChangeAspect="1" noChangeArrowheads="1"/>
          </p:cNvPicPr>
          <p:nvPr/>
        </p:nvPicPr>
        <p:blipFill>
          <a:blip r:embed="rId2"/>
          <a:srcRect/>
          <a:stretch>
            <a:fillRect/>
          </a:stretch>
        </p:blipFill>
        <p:spPr bwMode="auto">
          <a:xfrm>
            <a:off x="1600200" y="990600"/>
            <a:ext cx="6477000" cy="5376582"/>
          </a:xfrm>
          <a:prstGeom prst="rect">
            <a:avLst/>
          </a:prstGeom>
          <a:noFill/>
          <a:ln w="9525">
            <a:noFill/>
            <a:miter lim="800000"/>
            <a:headEnd/>
            <a:tailEnd/>
          </a:ln>
          <a:effectLst/>
        </p:spPr>
      </p:pic>
      <p:sp>
        <p:nvSpPr>
          <p:cNvPr id="12" name="TextBox 11"/>
          <p:cNvSpPr txBox="1"/>
          <p:nvPr/>
        </p:nvSpPr>
        <p:spPr>
          <a:xfrm flipH="1">
            <a:off x="6400800" y="6600824"/>
            <a:ext cx="2671762" cy="307777"/>
          </a:xfrm>
          <a:prstGeom prst="rect">
            <a:avLst/>
          </a:prstGeom>
          <a:noFill/>
        </p:spPr>
        <p:txBody>
          <a:bodyPr wrap="square" rtlCol="0">
            <a:spAutoFit/>
          </a:bodyPr>
          <a:lstStyle/>
          <a:p>
            <a:r>
              <a:rPr lang="en-US" sz="1400" dirty="0" smtClean="0">
                <a:latin typeface="Times New Roman" panose="02020603050405020304" pitchFamily="18" charset="0"/>
                <a:cs typeface="Times New Roman" panose="02020603050405020304" pitchFamily="18" charset="0"/>
              </a:rPr>
              <a:t>Why Multilayer ANN?</a:t>
            </a:r>
            <a:endParaRPr lang="en-IN" sz="14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796180719"/>
      </p:ext>
    </p:extLst>
  </p:cSld>
  <p:clrMapOvr>
    <a:masterClrMapping/>
  </p:clrMapOvr>
  <p:timing>
    <p:tnLst>
      <p:par>
        <p:cTn id="1" dur="indefinite" restart="never" nodeType="tmRoot"/>
      </p:par>
    </p:tn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cap="small" dirty="0" smtClean="0"/>
              <a:t>Why Multilayer Neural Network?</a:t>
            </a:r>
            <a:endParaRPr lang="en-US" cap="small" dirty="0"/>
          </a:p>
        </p:txBody>
      </p:sp>
      <p:sp>
        <p:nvSpPr>
          <p:cNvPr id="3" name="Content Placeholder 2"/>
          <p:cNvSpPr>
            <a:spLocks noGrp="1"/>
          </p:cNvSpPr>
          <p:nvPr>
            <p:ph idx="1"/>
          </p:nvPr>
        </p:nvSpPr>
        <p:spPr/>
        <p:txBody>
          <a:bodyPr>
            <a:normAutofit/>
          </a:bodyPr>
          <a:lstStyle/>
          <a:p>
            <a:r>
              <a:rPr lang="en-US" sz="2400" b="1" dirty="0" smtClean="0"/>
              <a:t>Biological Inspiration</a:t>
            </a:r>
          </a:p>
          <a:p>
            <a:pPr algn="just"/>
            <a:r>
              <a:rPr lang="en-US" sz="2400" b="1" dirty="0" smtClean="0"/>
              <a:t>Universal </a:t>
            </a:r>
            <a:r>
              <a:rPr lang="en-US" sz="2400" b="1" dirty="0" err="1" smtClean="0"/>
              <a:t>Approximators</a:t>
            </a:r>
            <a:r>
              <a:rPr lang="en-US" sz="2400" b="1" dirty="0" smtClean="0"/>
              <a:t>: </a:t>
            </a:r>
            <a:r>
              <a:rPr lang="en-US" sz="2400" dirty="0" smtClean="0"/>
              <a:t>Can approximate any nonlinear function to any desired level of accuracy.</a:t>
            </a:r>
          </a:p>
          <a:p>
            <a:pPr algn="just"/>
            <a:r>
              <a:rPr lang="en-US" sz="2400" b="1" dirty="0" smtClean="0"/>
              <a:t>Results in Powerful Models</a:t>
            </a:r>
            <a:endParaRPr lang="en-US" sz="2400" b="1" dirty="0"/>
          </a:p>
          <a:p>
            <a:endParaRPr lang="en-US" dirty="0"/>
          </a:p>
          <a:p>
            <a:endParaRPr lang="en-US" dirty="0"/>
          </a:p>
        </p:txBody>
      </p:sp>
      <p:sp>
        <p:nvSpPr>
          <p:cNvPr id="4" name="Date Placeholder 3"/>
          <p:cNvSpPr>
            <a:spLocks noGrp="1"/>
          </p:cNvSpPr>
          <p:nvPr>
            <p:ph type="dt" sz="half" idx="10"/>
          </p:nvPr>
        </p:nvSpPr>
        <p:spPr/>
        <p:txBody>
          <a:bodyPr/>
          <a:lstStyle/>
          <a:p>
            <a:fld id="{E7067A60-51C7-4095-BFA9-1CE32DCBA06F}" type="datetime1">
              <a:rPr lang="en-US" smtClean="0"/>
              <a:pPr/>
              <a:t>2/9/2026</a:t>
            </a:fld>
            <a:endParaRPr lang="en-US" dirty="0"/>
          </a:p>
        </p:txBody>
      </p:sp>
      <p:sp>
        <p:nvSpPr>
          <p:cNvPr id="6" name="Slide Number Placeholder 5"/>
          <p:cNvSpPr>
            <a:spLocks noGrp="1"/>
          </p:cNvSpPr>
          <p:nvPr>
            <p:ph type="sldNum" sz="quarter" idx="12"/>
          </p:nvPr>
        </p:nvSpPr>
        <p:spPr/>
        <p:txBody>
          <a:bodyPr/>
          <a:lstStyle/>
          <a:p>
            <a:fld id="{A03BBF96-A7A5-4867-9A4A-2F26A3CC4EC3}" type="slidenum">
              <a:rPr lang="en-US" smtClean="0"/>
              <a:pPr/>
              <a:t>29</a:t>
            </a:fld>
            <a:endParaRPr lang="en-US" dirty="0"/>
          </a:p>
        </p:txBody>
      </p:sp>
      <p:sp>
        <p:nvSpPr>
          <p:cNvPr id="7" name="TextBox 6"/>
          <p:cNvSpPr txBox="1"/>
          <p:nvPr/>
        </p:nvSpPr>
        <p:spPr>
          <a:xfrm>
            <a:off x="0" y="0"/>
            <a:ext cx="4572000" cy="369332"/>
          </a:xfrm>
          <a:prstGeom prst="rect">
            <a:avLst/>
          </a:prstGeom>
          <a:noFill/>
        </p:spPr>
        <p:txBody>
          <a:bodyPr wrap="square" rtlCol="0">
            <a:spAutoFit/>
          </a:bodyPr>
          <a:lstStyle/>
          <a:p>
            <a:pPr algn="r"/>
            <a:r>
              <a:rPr lang="en-US" b="1" dirty="0">
                <a:solidFill>
                  <a:schemeClr val="bg1"/>
                </a:solidFill>
              </a:rPr>
              <a:t>Introduction to Neural Network</a:t>
            </a:r>
          </a:p>
        </p:txBody>
      </p:sp>
      <p:sp>
        <p:nvSpPr>
          <p:cNvPr id="8" name="Rectangle 2"/>
          <p:cNvSpPr>
            <a:spLocks noChangeArrowheads="1"/>
          </p:cNvSpPr>
          <p:nvPr/>
        </p:nvSpPr>
        <p:spPr bwMode="auto">
          <a:xfrm>
            <a:off x="0" y="0"/>
            <a:ext cx="91440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sp>
        <p:nvSpPr>
          <p:cNvPr id="9" name="Rectangle 2"/>
          <p:cNvSpPr>
            <a:spLocks noChangeArrowheads="1"/>
          </p:cNvSpPr>
          <p:nvPr/>
        </p:nvSpPr>
        <p:spPr bwMode="auto">
          <a:xfrm>
            <a:off x="0" y="0"/>
            <a:ext cx="91440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sp>
        <p:nvSpPr>
          <p:cNvPr id="11" name="Footer Placeholder 4">
            <a:extLst>
              <a:ext uri="{FF2B5EF4-FFF2-40B4-BE49-F238E27FC236}">
                <a16:creationId xmlns:a16="http://schemas.microsoft.com/office/drawing/2014/main" id="{CBB301ED-B8A4-4772-B559-A9E41E7472BD}"/>
              </a:ext>
            </a:extLst>
          </p:cNvPr>
          <p:cNvSpPr>
            <a:spLocks noGrp="1"/>
          </p:cNvSpPr>
          <p:nvPr>
            <p:ph type="ftr" sz="quarter" idx="11"/>
          </p:nvPr>
        </p:nvSpPr>
        <p:spPr>
          <a:xfrm>
            <a:off x="2286000" y="6629400"/>
            <a:ext cx="4136571" cy="228600"/>
          </a:xfrm>
        </p:spPr>
        <p:txBody>
          <a:bodyPr/>
          <a:lstStyle/>
          <a:p>
            <a:r>
              <a:rPr lang="en-US" dirty="0"/>
              <a:t>Dr. Sibarama Panigrahi, Dept. of CSE, NIT Rourkela</a:t>
            </a:r>
          </a:p>
        </p:txBody>
      </p:sp>
      <p:pic>
        <p:nvPicPr>
          <p:cNvPr id="5" name="Picture 4"/>
          <p:cNvPicPr>
            <a:picLocks noChangeAspect="1"/>
          </p:cNvPicPr>
          <p:nvPr/>
        </p:nvPicPr>
        <p:blipFill>
          <a:blip r:embed="rId2"/>
          <a:stretch>
            <a:fillRect/>
          </a:stretch>
        </p:blipFill>
        <p:spPr>
          <a:xfrm>
            <a:off x="3015614" y="2800350"/>
            <a:ext cx="5180648" cy="2854814"/>
          </a:xfrm>
          <a:prstGeom prst="rect">
            <a:avLst/>
          </a:prstGeom>
        </p:spPr>
      </p:pic>
      <p:pic>
        <p:nvPicPr>
          <p:cNvPr id="10" name="Picture 9"/>
          <p:cNvPicPr>
            <a:picLocks noChangeAspect="1"/>
          </p:cNvPicPr>
          <p:nvPr/>
        </p:nvPicPr>
        <p:blipFill>
          <a:blip r:embed="rId3"/>
          <a:stretch>
            <a:fillRect/>
          </a:stretch>
        </p:blipFill>
        <p:spPr>
          <a:xfrm>
            <a:off x="870329" y="3148013"/>
            <a:ext cx="8273671" cy="3405187"/>
          </a:xfrm>
          <a:prstGeom prst="rect">
            <a:avLst/>
          </a:prstGeom>
        </p:spPr>
      </p:pic>
      <p:sp>
        <p:nvSpPr>
          <p:cNvPr id="12" name="TextBox 11"/>
          <p:cNvSpPr txBox="1"/>
          <p:nvPr/>
        </p:nvSpPr>
        <p:spPr>
          <a:xfrm flipH="1">
            <a:off x="6400800" y="6600824"/>
            <a:ext cx="2671762" cy="307777"/>
          </a:xfrm>
          <a:prstGeom prst="rect">
            <a:avLst/>
          </a:prstGeom>
          <a:noFill/>
        </p:spPr>
        <p:txBody>
          <a:bodyPr wrap="square" rtlCol="0">
            <a:spAutoFit/>
          </a:bodyPr>
          <a:lstStyle/>
          <a:p>
            <a:r>
              <a:rPr lang="en-US" sz="1400" dirty="0" smtClean="0">
                <a:latin typeface="Times New Roman" panose="02020603050405020304" pitchFamily="18" charset="0"/>
                <a:cs typeface="Times New Roman" panose="02020603050405020304" pitchFamily="18" charset="0"/>
              </a:rPr>
              <a:t>Feed Forward VS Recurrent ANN</a:t>
            </a:r>
            <a:endParaRPr lang="en-IN" sz="14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67954356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0"/>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cap="small" dirty="0"/>
              <a:t>Training Multilayer Neural Network</a:t>
            </a:r>
          </a:p>
        </p:txBody>
      </p:sp>
      <p:sp>
        <p:nvSpPr>
          <p:cNvPr id="3" name="Content Placeholder 2"/>
          <p:cNvSpPr>
            <a:spLocks noGrp="1"/>
          </p:cNvSpPr>
          <p:nvPr>
            <p:ph idx="1"/>
          </p:nvPr>
        </p:nvSpPr>
        <p:spPr/>
        <p:txBody>
          <a:bodyPr>
            <a:normAutofit/>
          </a:bodyPr>
          <a:lstStyle/>
          <a:p>
            <a:endParaRPr lang="en-US" dirty="0"/>
          </a:p>
          <a:p>
            <a:endParaRPr lang="en-US" dirty="0"/>
          </a:p>
          <a:p>
            <a:endParaRPr lang="en-US" dirty="0"/>
          </a:p>
          <a:p>
            <a:endParaRPr lang="en-US" dirty="0"/>
          </a:p>
          <a:p>
            <a:endParaRPr lang="en-US" dirty="0"/>
          </a:p>
          <a:p>
            <a:r>
              <a:rPr lang="en-US" dirty="0"/>
              <a:t>Back-Propagation: Chain Rule + </a:t>
            </a:r>
            <a:r>
              <a:rPr lang="en-US" dirty="0" err="1"/>
              <a:t>Memoization</a:t>
            </a:r>
            <a:endParaRPr lang="en-US" dirty="0"/>
          </a:p>
          <a:p>
            <a:pPr lvl="1"/>
            <a:r>
              <a:rPr lang="en-US" sz="2000" dirty="0"/>
              <a:t>In Stochastic Gradient Descent (SGD) U take one </a:t>
            </a:r>
            <a:r>
              <a:rPr lang="en-US" sz="2000" dirty="0" smtClean="0"/>
              <a:t>point (</a:t>
            </a:r>
            <a:r>
              <a:rPr lang="en-US" sz="2000" dirty="0"/>
              <a:t>Input Vector)</a:t>
            </a:r>
          </a:p>
          <a:p>
            <a:pPr lvl="1"/>
            <a:r>
              <a:rPr lang="en-US" sz="2000" dirty="0"/>
              <a:t>In Mini-Batch SGD, U take a set of points(input vectors)</a:t>
            </a:r>
          </a:p>
          <a:p>
            <a:pPr lvl="1"/>
            <a:r>
              <a:rPr lang="en-US" sz="2000" dirty="0"/>
              <a:t>In Gradient Descent, U take all the input vectors</a:t>
            </a:r>
          </a:p>
          <a:p>
            <a:pPr lvl="1"/>
            <a:endParaRPr lang="en-US" dirty="0"/>
          </a:p>
        </p:txBody>
      </p:sp>
      <p:sp>
        <p:nvSpPr>
          <p:cNvPr id="4" name="Date Placeholder 3"/>
          <p:cNvSpPr>
            <a:spLocks noGrp="1"/>
          </p:cNvSpPr>
          <p:nvPr>
            <p:ph type="dt" sz="half" idx="10"/>
          </p:nvPr>
        </p:nvSpPr>
        <p:spPr/>
        <p:txBody>
          <a:bodyPr/>
          <a:lstStyle/>
          <a:p>
            <a:fld id="{E7067A60-51C7-4095-BFA9-1CE32DCBA06F}" type="datetime1">
              <a:rPr lang="en-US" smtClean="0"/>
              <a:pPr/>
              <a:t>2/9/2026</a:t>
            </a:fld>
            <a:endParaRPr lang="en-US" dirty="0"/>
          </a:p>
        </p:txBody>
      </p:sp>
      <p:sp>
        <p:nvSpPr>
          <p:cNvPr id="6" name="Slide Number Placeholder 5"/>
          <p:cNvSpPr>
            <a:spLocks noGrp="1"/>
          </p:cNvSpPr>
          <p:nvPr>
            <p:ph type="sldNum" sz="quarter" idx="12"/>
          </p:nvPr>
        </p:nvSpPr>
        <p:spPr/>
        <p:txBody>
          <a:bodyPr/>
          <a:lstStyle/>
          <a:p>
            <a:fld id="{A03BBF96-A7A5-4867-9A4A-2F26A3CC4EC3}" type="slidenum">
              <a:rPr lang="en-US" smtClean="0"/>
              <a:pPr/>
              <a:t>30</a:t>
            </a:fld>
            <a:endParaRPr lang="en-US" dirty="0"/>
          </a:p>
        </p:txBody>
      </p:sp>
      <p:sp>
        <p:nvSpPr>
          <p:cNvPr id="7" name="TextBox 6"/>
          <p:cNvSpPr txBox="1"/>
          <p:nvPr/>
        </p:nvSpPr>
        <p:spPr>
          <a:xfrm>
            <a:off x="0" y="0"/>
            <a:ext cx="4572000" cy="369332"/>
          </a:xfrm>
          <a:prstGeom prst="rect">
            <a:avLst/>
          </a:prstGeom>
          <a:noFill/>
        </p:spPr>
        <p:txBody>
          <a:bodyPr wrap="square" rtlCol="0">
            <a:spAutoFit/>
          </a:bodyPr>
          <a:lstStyle/>
          <a:p>
            <a:pPr algn="r"/>
            <a:r>
              <a:rPr lang="en-US" b="1" dirty="0">
                <a:solidFill>
                  <a:schemeClr val="bg1"/>
                </a:solidFill>
              </a:rPr>
              <a:t>Introduction to Neural Network</a:t>
            </a:r>
          </a:p>
        </p:txBody>
      </p:sp>
      <p:sp>
        <p:nvSpPr>
          <p:cNvPr id="8" name="Rectangle 2"/>
          <p:cNvSpPr>
            <a:spLocks noChangeArrowheads="1"/>
          </p:cNvSpPr>
          <p:nvPr/>
        </p:nvSpPr>
        <p:spPr bwMode="auto">
          <a:xfrm>
            <a:off x="0" y="0"/>
            <a:ext cx="91440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sp>
        <p:nvSpPr>
          <p:cNvPr id="9" name="Rectangle 2"/>
          <p:cNvSpPr>
            <a:spLocks noChangeArrowheads="1"/>
          </p:cNvSpPr>
          <p:nvPr/>
        </p:nvSpPr>
        <p:spPr bwMode="auto">
          <a:xfrm>
            <a:off x="0" y="0"/>
            <a:ext cx="91440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sp>
        <p:nvSpPr>
          <p:cNvPr id="11" name="Footer Placeholder 4">
            <a:extLst>
              <a:ext uri="{FF2B5EF4-FFF2-40B4-BE49-F238E27FC236}">
                <a16:creationId xmlns:a16="http://schemas.microsoft.com/office/drawing/2014/main" id="{CBB301ED-B8A4-4772-B559-A9E41E7472BD}"/>
              </a:ext>
            </a:extLst>
          </p:cNvPr>
          <p:cNvSpPr>
            <a:spLocks noGrp="1"/>
          </p:cNvSpPr>
          <p:nvPr>
            <p:ph type="ftr" sz="quarter" idx="11"/>
          </p:nvPr>
        </p:nvSpPr>
        <p:spPr>
          <a:xfrm>
            <a:off x="2286000" y="6629400"/>
            <a:ext cx="4136571" cy="228600"/>
          </a:xfrm>
        </p:spPr>
        <p:txBody>
          <a:bodyPr/>
          <a:lstStyle/>
          <a:p>
            <a:r>
              <a:rPr lang="en-US" dirty="0"/>
              <a:t>Dr. Sibarama Panigrahi, Dept. of CSE, NIT Rourkela</a:t>
            </a:r>
          </a:p>
        </p:txBody>
      </p:sp>
      <p:sp>
        <p:nvSpPr>
          <p:cNvPr id="12" name="Ορθογώνιο 2"/>
          <p:cNvSpPr/>
          <p:nvPr/>
        </p:nvSpPr>
        <p:spPr>
          <a:xfrm>
            <a:off x="76200" y="1752600"/>
            <a:ext cx="1524000" cy="1412648"/>
          </a:xfrm>
          <a:prstGeom prst="rect">
            <a:avLst/>
          </a:prstGeom>
        </p:spPr>
        <p:style>
          <a:lnRef idx="3">
            <a:schemeClr val="lt1"/>
          </a:lnRef>
          <a:fillRef idx="1">
            <a:schemeClr val="accent4"/>
          </a:fillRef>
          <a:effectRef idx="1">
            <a:schemeClr val="accent4"/>
          </a:effectRef>
          <a:fontRef idx="minor">
            <a:schemeClr val="lt1"/>
          </a:fontRef>
        </p:style>
        <p:txBody>
          <a:bodyPr rtlCol="0" anchor="ctr"/>
          <a:lstStyle/>
          <a:p>
            <a:pPr algn="ctr"/>
            <a:r>
              <a:rPr lang="en-US" dirty="0"/>
              <a:t>Sample labeled data</a:t>
            </a:r>
          </a:p>
          <a:p>
            <a:pPr algn="ctr"/>
            <a:endParaRPr lang="el-GR" dirty="0"/>
          </a:p>
        </p:txBody>
      </p:sp>
      <p:sp>
        <p:nvSpPr>
          <p:cNvPr id="13" name="Ορθογώνιο 6"/>
          <p:cNvSpPr/>
          <p:nvPr/>
        </p:nvSpPr>
        <p:spPr>
          <a:xfrm>
            <a:off x="3549096" y="1752600"/>
            <a:ext cx="1708704" cy="1412648"/>
          </a:xfrm>
          <a:prstGeom prst="rect">
            <a:avLst/>
          </a:prstGeom>
        </p:spPr>
        <p:style>
          <a:lnRef idx="3">
            <a:schemeClr val="lt1"/>
          </a:lnRef>
          <a:fillRef idx="1">
            <a:schemeClr val="accent4"/>
          </a:fillRef>
          <a:effectRef idx="1">
            <a:schemeClr val="accent4"/>
          </a:effectRef>
          <a:fontRef idx="minor">
            <a:schemeClr val="lt1"/>
          </a:fontRef>
        </p:style>
        <p:txBody>
          <a:bodyPr rtlCol="0" anchor="ctr"/>
          <a:lstStyle/>
          <a:p>
            <a:pPr algn="ctr"/>
            <a:r>
              <a:rPr lang="en-US" sz="2000" b="1" dirty="0">
                <a:solidFill>
                  <a:schemeClr val="bg1"/>
                </a:solidFill>
              </a:rPr>
              <a:t>Forward</a:t>
            </a:r>
            <a:r>
              <a:rPr lang="en-US" sz="2000" dirty="0">
                <a:solidFill>
                  <a:schemeClr val="bg1"/>
                </a:solidFill>
              </a:rPr>
              <a:t> </a:t>
            </a:r>
            <a:r>
              <a:rPr lang="en-US" dirty="0"/>
              <a:t>it through the network, get predictions</a:t>
            </a:r>
            <a:endParaRPr lang="el-GR" dirty="0"/>
          </a:p>
        </p:txBody>
      </p:sp>
      <p:sp>
        <p:nvSpPr>
          <p:cNvPr id="14" name="Ορθογώνιο 7"/>
          <p:cNvSpPr/>
          <p:nvPr/>
        </p:nvSpPr>
        <p:spPr>
          <a:xfrm>
            <a:off x="5454096" y="1752600"/>
            <a:ext cx="1708704" cy="1412648"/>
          </a:xfrm>
          <a:prstGeom prst="rect">
            <a:avLst/>
          </a:prstGeom>
        </p:spPr>
        <p:style>
          <a:lnRef idx="3">
            <a:schemeClr val="lt1"/>
          </a:lnRef>
          <a:fillRef idx="1">
            <a:schemeClr val="accent4"/>
          </a:fillRef>
          <a:effectRef idx="1">
            <a:schemeClr val="accent4"/>
          </a:effectRef>
          <a:fontRef idx="minor">
            <a:schemeClr val="lt1"/>
          </a:fontRef>
        </p:style>
        <p:txBody>
          <a:bodyPr rtlCol="0" anchor="ctr"/>
          <a:lstStyle/>
          <a:p>
            <a:pPr algn="ctr"/>
            <a:r>
              <a:rPr lang="en-US" sz="2000" b="1" dirty="0">
                <a:solidFill>
                  <a:schemeClr val="bg1"/>
                </a:solidFill>
              </a:rPr>
              <a:t>Back-propagate</a:t>
            </a:r>
            <a:r>
              <a:rPr lang="en-US" dirty="0"/>
              <a:t> the errors</a:t>
            </a:r>
            <a:endParaRPr lang="el-GR" dirty="0"/>
          </a:p>
        </p:txBody>
      </p:sp>
      <p:sp>
        <p:nvSpPr>
          <p:cNvPr id="15" name="Ορθογώνιο 8"/>
          <p:cNvSpPr/>
          <p:nvPr/>
        </p:nvSpPr>
        <p:spPr>
          <a:xfrm>
            <a:off x="7359096" y="1752600"/>
            <a:ext cx="1708704" cy="1412648"/>
          </a:xfrm>
          <a:prstGeom prst="rect">
            <a:avLst/>
          </a:prstGeom>
        </p:spPr>
        <p:style>
          <a:lnRef idx="3">
            <a:schemeClr val="lt1"/>
          </a:lnRef>
          <a:fillRef idx="1">
            <a:schemeClr val="accent4"/>
          </a:fillRef>
          <a:effectRef idx="1">
            <a:schemeClr val="accent4"/>
          </a:effectRef>
          <a:fontRef idx="minor">
            <a:schemeClr val="lt1"/>
          </a:fontRef>
        </p:style>
        <p:txBody>
          <a:bodyPr rtlCol="0" anchor="ctr"/>
          <a:lstStyle/>
          <a:p>
            <a:pPr algn="ctr"/>
            <a:r>
              <a:rPr lang="en-US" sz="2000" b="1" dirty="0"/>
              <a:t>Update</a:t>
            </a:r>
            <a:r>
              <a:rPr lang="en-US" sz="2000" dirty="0"/>
              <a:t> </a:t>
            </a:r>
            <a:r>
              <a:rPr lang="en-US" dirty="0"/>
              <a:t>the network weights</a:t>
            </a:r>
            <a:endParaRPr lang="el-GR" dirty="0"/>
          </a:p>
        </p:txBody>
      </p:sp>
      <p:cxnSp>
        <p:nvCxnSpPr>
          <p:cNvPr id="17" name="Ευθύγραμμο βέλος σύνδεσης 12"/>
          <p:cNvCxnSpPr/>
          <p:nvPr/>
        </p:nvCxnSpPr>
        <p:spPr>
          <a:xfrm>
            <a:off x="7086600" y="2469696"/>
            <a:ext cx="304800" cy="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18" name="Γωνιώδης σύνδεση 14"/>
          <p:cNvCxnSpPr>
            <a:stCxn id="15" idx="2"/>
            <a:endCxn id="13" idx="2"/>
          </p:cNvCxnSpPr>
          <p:nvPr/>
        </p:nvCxnSpPr>
        <p:spPr>
          <a:xfrm rot="5400000">
            <a:off x="6308448" y="1260248"/>
            <a:ext cx="12700" cy="3810000"/>
          </a:xfrm>
          <a:prstGeom prst="bentConnector3">
            <a:avLst>
              <a:gd name="adj1" fmla="val 1800000"/>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19" name="Ευθύγραμμο βέλος σύνδεσης 10"/>
          <p:cNvCxnSpPr/>
          <p:nvPr/>
        </p:nvCxnSpPr>
        <p:spPr>
          <a:xfrm>
            <a:off x="5257800" y="2469696"/>
            <a:ext cx="230943" cy="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20" name="Ορθογώνιο 6"/>
          <p:cNvSpPr/>
          <p:nvPr/>
        </p:nvSpPr>
        <p:spPr>
          <a:xfrm>
            <a:off x="1872696" y="1752600"/>
            <a:ext cx="1510065" cy="1412648"/>
          </a:xfrm>
          <a:prstGeom prst="rect">
            <a:avLst/>
          </a:prstGeom>
        </p:spPr>
        <p:style>
          <a:lnRef idx="3">
            <a:schemeClr val="lt1"/>
          </a:lnRef>
          <a:fillRef idx="1">
            <a:schemeClr val="accent4"/>
          </a:fillRef>
          <a:effectRef idx="1">
            <a:schemeClr val="accent4"/>
          </a:effectRef>
          <a:fontRef idx="minor">
            <a:schemeClr val="lt1"/>
          </a:fontRef>
        </p:style>
        <p:txBody>
          <a:bodyPr rtlCol="0" anchor="ctr"/>
          <a:lstStyle/>
          <a:p>
            <a:pPr algn="ctr"/>
            <a:r>
              <a:rPr lang="en-US" sz="2000" b="1" dirty="0" smtClean="0">
                <a:solidFill>
                  <a:schemeClr val="bg1"/>
                </a:solidFill>
              </a:rPr>
              <a:t>Randomly Initialize the Weights</a:t>
            </a:r>
            <a:endParaRPr lang="el-GR" dirty="0"/>
          </a:p>
        </p:txBody>
      </p:sp>
      <p:cxnSp>
        <p:nvCxnSpPr>
          <p:cNvPr id="22" name="Ευθύγραμμο βέλος σύνδεσης 10"/>
          <p:cNvCxnSpPr/>
          <p:nvPr/>
        </p:nvCxnSpPr>
        <p:spPr>
          <a:xfrm>
            <a:off x="3352800" y="2465696"/>
            <a:ext cx="230943" cy="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23" name="Ευθύγραμμο βέλος σύνδεσης 10"/>
          <p:cNvCxnSpPr/>
          <p:nvPr/>
        </p:nvCxnSpPr>
        <p:spPr>
          <a:xfrm>
            <a:off x="1646761" y="2452048"/>
            <a:ext cx="230943" cy="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21" name="TextBox 20"/>
          <p:cNvSpPr txBox="1"/>
          <p:nvPr/>
        </p:nvSpPr>
        <p:spPr>
          <a:xfrm flipH="1">
            <a:off x="6400800" y="6600824"/>
            <a:ext cx="2671762" cy="307777"/>
          </a:xfrm>
          <a:prstGeom prst="rect">
            <a:avLst/>
          </a:prstGeom>
          <a:noFill/>
        </p:spPr>
        <p:txBody>
          <a:bodyPr wrap="square" rtlCol="0">
            <a:spAutoFit/>
          </a:bodyPr>
          <a:lstStyle/>
          <a:p>
            <a:r>
              <a:rPr lang="en-US" sz="1400" dirty="0" smtClean="0">
                <a:latin typeface="Times New Roman" panose="02020603050405020304" pitchFamily="18" charset="0"/>
                <a:cs typeface="Times New Roman" panose="02020603050405020304" pitchFamily="18" charset="0"/>
              </a:rPr>
              <a:t>Deep Learning</a:t>
            </a:r>
            <a:endParaRPr lang="en-IN" sz="14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796180719"/>
      </p:ext>
    </p:extLst>
  </p:cSld>
  <p:clrMapOvr>
    <a:masterClrMapping/>
  </p:clrMapOvr>
  <p:timing>
    <p:tnLst>
      <p:par>
        <p:cTn id="1" dur="indefinite" restart="never" nodeType="tmRoot"/>
      </p:par>
    </p:tn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dirty="0" smtClean="0"/>
              <a:t>AI </a:t>
            </a:r>
            <a:r>
              <a:rPr lang="en-IN" dirty="0" err="1" smtClean="0"/>
              <a:t>vs</a:t>
            </a:r>
            <a:r>
              <a:rPr lang="en-IN" dirty="0" smtClean="0"/>
              <a:t> Machine Learning </a:t>
            </a:r>
            <a:r>
              <a:rPr lang="en-IN" dirty="0" err="1" smtClean="0"/>
              <a:t>vs</a:t>
            </a:r>
            <a:r>
              <a:rPr lang="en-IN" dirty="0" smtClean="0"/>
              <a:t> Deep Learning</a:t>
            </a:r>
            <a:endParaRPr lang="en-IN" dirty="0"/>
          </a:p>
        </p:txBody>
      </p:sp>
      <p:sp>
        <p:nvSpPr>
          <p:cNvPr id="3" name="Content Placeholder 2"/>
          <p:cNvSpPr>
            <a:spLocks noGrp="1"/>
          </p:cNvSpPr>
          <p:nvPr>
            <p:ph idx="1"/>
          </p:nvPr>
        </p:nvSpPr>
        <p:spPr/>
        <p:txBody>
          <a:bodyPr/>
          <a:lstStyle/>
          <a:p>
            <a:pPr algn="just"/>
            <a:endParaRPr lang="en-US" dirty="0"/>
          </a:p>
          <a:p>
            <a:pPr algn="just"/>
            <a:endParaRPr lang="en-US" dirty="0" smtClean="0"/>
          </a:p>
          <a:p>
            <a:pPr algn="just"/>
            <a:endParaRPr lang="en-US" dirty="0"/>
          </a:p>
          <a:p>
            <a:pPr algn="just"/>
            <a:endParaRPr lang="en-US" dirty="0" smtClean="0"/>
          </a:p>
          <a:p>
            <a:pPr algn="just"/>
            <a:endParaRPr lang="en-US" dirty="0"/>
          </a:p>
          <a:p>
            <a:pPr marL="336550" indent="0" algn="just">
              <a:buNone/>
            </a:pPr>
            <a:r>
              <a:rPr lang="en-US" sz="2400" dirty="0" smtClean="0">
                <a:solidFill>
                  <a:srgbClr val="C00000"/>
                </a:solidFill>
              </a:rPr>
              <a:t>			</a:t>
            </a:r>
          </a:p>
          <a:p>
            <a:pPr marL="336550" indent="0" algn="just">
              <a:buNone/>
            </a:pPr>
            <a:endParaRPr lang="en-US" sz="2400" dirty="0">
              <a:solidFill>
                <a:srgbClr val="C00000"/>
              </a:solidFill>
            </a:endParaRPr>
          </a:p>
          <a:p>
            <a:pPr marL="336550" indent="0" algn="just">
              <a:buNone/>
            </a:pPr>
            <a:endParaRPr lang="en-US" sz="2400" dirty="0" smtClean="0">
              <a:solidFill>
                <a:srgbClr val="C00000"/>
              </a:solidFill>
            </a:endParaRPr>
          </a:p>
          <a:p>
            <a:pPr marL="336550" indent="0" algn="just">
              <a:buNone/>
            </a:pPr>
            <a:endParaRPr lang="en-US" sz="2400" dirty="0">
              <a:solidFill>
                <a:srgbClr val="C00000"/>
              </a:solidFill>
            </a:endParaRPr>
          </a:p>
          <a:p>
            <a:pPr marL="336550" indent="0" algn="just">
              <a:buNone/>
            </a:pPr>
            <a:endParaRPr lang="en-US" sz="2400" dirty="0" smtClean="0">
              <a:solidFill>
                <a:srgbClr val="C00000"/>
              </a:solidFill>
            </a:endParaRPr>
          </a:p>
          <a:p>
            <a:pPr marL="336550" indent="0" algn="just">
              <a:buNone/>
            </a:pPr>
            <a:r>
              <a:rPr lang="en-US" sz="2400" dirty="0">
                <a:solidFill>
                  <a:srgbClr val="C00000"/>
                </a:solidFill>
              </a:rPr>
              <a:t>	</a:t>
            </a:r>
            <a:r>
              <a:rPr lang="en-US" sz="2400" dirty="0" smtClean="0">
                <a:solidFill>
                  <a:srgbClr val="C00000"/>
                </a:solidFill>
              </a:rPr>
              <a:t>		</a:t>
            </a:r>
            <a:endParaRPr lang="en-IN" sz="2400" dirty="0">
              <a:solidFill>
                <a:srgbClr val="C00000"/>
              </a:solidFill>
            </a:endParaRPr>
          </a:p>
        </p:txBody>
      </p:sp>
      <p:sp>
        <p:nvSpPr>
          <p:cNvPr id="4" name="Date Placeholder 3"/>
          <p:cNvSpPr>
            <a:spLocks noGrp="1"/>
          </p:cNvSpPr>
          <p:nvPr>
            <p:ph type="dt" sz="half" idx="10"/>
          </p:nvPr>
        </p:nvSpPr>
        <p:spPr/>
        <p:txBody>
          <a:bodyPr/>
          <a:lstStyle/>
          <a:p>
            <a:fld id="{E7067A60-51C7-4095-BFA9-1CE32DCBA06F}" type="datetime1">
              <a:rPr lang="en-US" smtClean="0">
                <a:solidFill>
                  <a:prstClr val="black"/>
                </a:solidFill>
              </a:rPr>
              <a:pPr/>
              <a:t>2/9/2026</a:t>
            </a:fld>
            <a:endParaRPr lang="en-US" dirty="0">
              <a:solidFill>
                <a:prstClr val="black"/>
              </a:solidFill>
            </a:endParaRPr>
          </a:p>
        </p:txBody>
      </p:sp>
      <p:sp>
        <p:nvSpPr>
          <p:cNvPr id="5" name="Footer Placeholder 4"/>
          <p:cNvSpPr>
            <a:spLocks noGrp="1"/>
          </p:cNvSpPr>
          <p:nvPr>
            <p:ph type="ftr" sz="quarter" idx="11"/>
          </p:nvPr>
        </p:nvSpPr>
        <p:spPr/>
        <p:txBody>
          <a:bodyPr/>
          <a:lstStyle/>
          <a:p>
            <a:r>
              <a:rPr lang="en-US" dirty="0"/>
              <a:t>Dr. Sibarama Panigrahi, Dept. of CSE, NIT Rourkela</a:t>
            </a:r>
          </a:p>
        </p:txBody>
      </p:sp>
      <p:sp>
        <p:nvSpPr>
          <p:cNvPr id="6" name="Slide Number Placeholder 5"/>
          <p:cNvSpPr>
            <a:spLocks noGrp="1"/>
          </p:cNvSpPr>
          <p:nvPr>
            <p:ph type="sldNum" sz="quarter" idx="12"/>
          </p:nvPr>
        </p:nvSpPr>
        <p:spPr>
          <a:xfrm>
            <a:off x="6400798" y="6629400"/>
            <a:ext cx="2743201" cy="279202"/>
          </a:xfrm>
        </p:spPr>
        <p:txBody>
          <a:bodyPr/>
          <a:lstStyle/>
          <a:p>
            <a:fld id="{A03BBF96-A7A5-4867-9A4A-2F26A3CC4EC3}" type="slidenum">
              <a:rPr lang="en-US" smtClean="0">
                <a:solidFill>
                  <a:prstClr val="black">
                    <a:tint val="75000"/>
                  </a:prstClr>
                </a:solidFill>
              </a:rPr>
              <a:pPr/>
              <a:t>31</a:t>
            </a:fld>
            <a:endParaRPr lang="en-US" dirty="0">
              <a:solidFill>
                <a:prstClr val="black">
                  <a:tint val="75000"/>
                </a:prstClr>
              </a:solidFill>
            </a:endParaRPr>
          </a:p>
        </p:txBody>
      </p:sp>
      <p:sp>
        <p:nvSpPr>
          <p:cNvPr id="7" name="TextBox 6"/>
          <p:cNvSpPr txBox="1"/>
          <p:nvPr/>
        </p:nvSpPr>
        <p:spPr>
          <a:xfrm>
            <a:off x="0" y="0"/>
            <a:ext cx="4572000" cy="369332"/>
          </a:xfrm>
          <a:prstGeom prst="rect">
            <a:avLst/>
          </a:prstGeom>
          <a:noFill/>
        </p:spPr>
        <p:txBody>
          <a:bodyPr wrap="square" rtlCol="0">
            <a:spAutoFit/>
          </a:bodyPr>
          <a:lstStyle/>
          <a:p>
            <a:pPr algn="r"/>
            <a:r>
              <a:rPr lang="en-US" b="1" dirty="0">
                <a:solidFill>
                  <a:schemeClr val="bg1"/>
                </a:solidFill>
              </a:rPr>
              <a:t>Introduction to </a:t>
            </a:r>
            <a:r>
              <a:rPr lang="en-US" b="1" dirty="0" smtClean="0">
                <a:solidFill>
                  <a:schemeClr val="bg1"/>
                </a:solidFill>
              </a:rPr>
              <a:t>Neural </a:t>
            </a:r>
            <a:r>
              <a:rPr lang="en-US" b="1" dirty="0">
                <a:solidFill>
                  <a:schemeClr val="bg1"/>
                </a:solidFill>
              </a:rPr>
              <a:t>Network</a:t>
            </a:r>
          </a:p>
        </p:txBody>
      </p:sp>
      <p:pic>
        <p:nvPicPr>
          <p:cNvPr id="1026" name="Picture 2" descr="AI, Machine Learning, Deep Learning, and Computer Vision"/>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738188" y="1066799"/>
            <a:ext cx="7796212" cy="5110963"/>
          </a:xfrm>
          <a:prstGeom prst="rect">
            <a:avLst/>
          </a:prstGeom>
          <a:noFill/>
          <a:extLst>
            <a:ext uri="{909E8E84-426E-40DD-AFC4-6F175D3DCCD1}">
              <a14:hiddenFill xmlns:a14="http://schemas.microsoft.com/office/drawing/2010/main">
                <a:solidFill>
                  <a:srgbClr val="FFFFFF"/>
                </a:solidFill>
              </a14:hiddenFill>
            </a:ext>
          </a:extLst>
        </p:spPr>
      </p:pic>
      <p:sp>
        <p:nvSpPr>
          <p:cNvPr id="9" name="TextBox 8"/>
          <p:cNvSpPr txBox="1"/>
          <p:nvPr/>
        </p:nvSpPr>
        <p:spPr>
          <a:xfrm flipH="1">
            <a:off x="6400799" y="6600825"/>
            <a:ext cx="2492829" cy="307777"/>
          </a:xfrm>
          <a:prstGeom prst="rect">
            <a:avLst/>
          </a:prstGeom>
          <a:noFill/>
        </p:spPr>
        <p:txBody>
          <a:bodyPr wrap="square" rtlCol="0">
            <a:spAutoFit/>
          </a:bodyPr>
          <a:lstStyle/>
          <a:p>
            <a:r>
              <a:rPr lang="en-US" sz="1400" dirty="0" smtClean="0">
                <a:latin typeface="Times New Roman" panose="02020603050405020304" pitchFamily="18" charset="0"/>
                <a:cs typeface="Times New Roman" panose="02020603050405020304" pitchFamily="18" charset="0"/>
              </a:rPr>
              <a:t>Formal Definition of DL</a:t>
            </a:r>
            <a:endParaRPr lang="en-IN" sz="14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241725072"/>
      </p:ext>
    </p:extLst>
  </p:cSld>
  <p:clrMapOvr>
    <a:masterClrMapping/>
  </p:clrMapOvr>
  <p:timing>
    <p:tnLst>
      <p:par>
        <p:cTn id="1" dur="indefinite" restart="never" nodeType="tmRoot"/>
      </p:par>
    </p:tn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dirty="0" smtClean="0"/>
              <a:t>Deep Learning</a:t>
            </a:r>
            <a:endParaRPr lang="en-IN" dirty="0"/>
          </a:p>
        </p:txBody>
      </p:sp>
      <p:sp>
        <p:nvSpPr>
          <p:cNvPr id="3" name="Content Placeholder 2"/>
          <p:cNvSpPr>
            <a:spLocks noGrp="1"/>
          </p:cNvSpPr>
          <p:nvPr>
            <p:ph idx="1"/>
          </p:nvPr>
        </p:nvSpPr>
        <p:spPr/>
        <p:txBody>
          <a:bodyPr/>
          <a:lstStyle/>
          <a:p>
            <a:pPr algn="just"/>
            <a:r>
              <a:rPr lang="en-US" dirty="0"/>
              <a:t>A</a:t>
            </a:r>
            <a:r>
              <a:rPr lang="en-US" dirty="0" smtClean="0"/>
              <a:t> </a:t>
            </a:r>
            <a:r>
              <a:rPr lang="en-US" dirty="0"/>
              <a:t>type of </a:t>
            </a:r>
            <a:r>
              <a:rPr lang="en-US" b="1" i="1" dirty="0"/>
              <a:t>machine learning </a:t>
            </a:r>
            <a:r>
              <a:rPr lang="en-US" dirty="0"/>
              <a:t>based on </a:t>
            </a:r>
            <a:r>
              <a:rPr lang="en-US" b="1" i="1" dirty="0">
                <a:solidFill>
                  <a:srgbClr val="2312FA"/>
                </a:solidFill>
              </a:rPr>
              <a:t>artificial neural networks</a:t>
            </a:r>
            <a:r>
              <a:rPr lang="en-US" dirty="0"/>
              <a:t> in which </a:t>
            </a:r>
            <a:r>
              <a:rPr lang="en-US" i="1" dirty="0"/>
              <a:t>multiple layers of processing</a:t>
            </a:r>
            <a:r>
              <a:rPr lang="en-US" dirty="0"/>
              <a:t> are used to </a:t>
            </a:r>
            <a:r>
              <a:rPr lang="en-US" i="1" dirty="0">
                <a:solidFill>
                  <a:srgbClr val="2312FA"/>
                </a:solidFill>
              </a:rPr>
              <a:t>extract progressively higher level features</a:t>
            </a:r>
            <a:r>
              <a:rPr lang="en-US" dirty="0"/>
              <a:t> from data</a:t>
            </a:r>
            <a:r>
              <a:rPr lang="en-US" dirty="0" smtClean="0"/>
              <a:t>.</a:t>
            </a:r>
          </a:p>
          <a:p>
            <a:pPr marL="336550" indent="0" algn="just">
              <a:buNone/>
            </a:pPr>
            <a:endParaRPr lang="en-US" sz="2400" dirty="0" smtClean="0">
              <a:solidFill>
                <a:srgbClr val="C00000"/>
              </a:solidFill>
            </a:endParaRPr>
          </a:p>
          <a:p>
            <a:pPr marL="336550" indent="0" algn="just">
              <a:buNone/>
            </a:pPr>
            <a:r>
              <a:rPr lang="en-US" sz="2400" dirty="0">
                <a:solidFill>
                  <a:srgbClr val="C00000"/>
                </a:solidFill>
              </a:rPr>
              <a:t> </a:t>
            </a:r>
            <a:r>
              <a:rPr lang="en-US" sz="2400" dirty="0" smtClean="0">
                <a:solidFill>
                  <a:srgbClr val="C00000"/>
                </a:solidFill>
              </a:rPr>
              <a:t>     			- “Deep Learning with Python” Francois </a:t>
            </a:r>
            <a:r>
              <a:rPr lang="en-US" sz="2400" dirty="0" err="1" smtClean="0">
                <a:solidFill>
                  <a:srgbClr val="C00000"/>
                </a:solidFill>
              </a:rPr>
              <a:t>Chollet</a:t>
            </a:r>
            <a:endParaRPr lang="en-IN" sz="2400" dirty="0">
              <a:solidFill>
                <a:srgbClr val="C00000"/>
              </a:solidFill>
            </a:endParaRPr>
          </a:p>
        </p:txBody>
      </p:sp>
      <p:sp>
        <p:nvSpPr>
          <p:cNvPr id="4" name="Date Placeholder 3"/>
          <p:cNvSpPr>
            <a:spLocks noGrp="1"/>
          </p:cNvSpPr>
          <p:nvPr>
            <p:ph type="dt" sz="half" idx="10"/>
          </p:nvPr>
        </p:nvSpPr>
        <p:spPr/>
        <p:txBody>
          <a:bodyPr/>
          <a:lstStyle/>
          <a:p>
            <a:fld id="{E7067A60-51C7-4095-BFA9-1CE32DCBA06F}" type="datetime1">
              <a:rPr lang="en-US" smtClean="0">
                <a:solidFill>
                  <a:prstClr val="black"/>
                </a:solidFill>
              </a:rPr>
              <a:pPr/>
              <a:t>2/9/2026</a:t>
            </a:fld>
            <a:endParaRPr lang="en-US" dirty="0">
              <a:solidFill>
                <a:prstClr val="black"/>
              </a:solidFill>
            </a:endParaRPr>
          </a:p>
        </p:txBody>
      </p:sp>
      <p:sp>
        <p:nvSpPr>
          <p:cNvPr id="5" name="Footer Placeholder 4"/>
          <p:cNvSpPr>
            <a:spLocks noGrp="1"/>
          </p:cNvSpPr>
          <p:nvPr>
            <p:ph type="ftr" sz="quarter" idx="11"/>
          </p:nvPr>
        </p:nvSpPr>
        <p:spPr/>
        <p:txBody>
          <a:bodyPr/>
          <a:lstStyle/>
          <a:p>
            <a:r>
              <a:rPr lang="en-US" dirty="0"/>
              <a:t>Dr. Sibarama Panigrahi, Dept. of CSE, NIT Rourkela</a:t>
            </a:r>
          </a:p>
        </p:txBody>
      </p:sp>
      <p:sp>
        <p:nvSpPr>
          <p:cNvPr id="6" name="Slide Number Placeholder 5"/>
          <p:cNvSpPr>
            <a:spLocks noGrp="1"/>
          </p:cNvSpPr>
          <p:nvPr>
            <p:ph type="sldNum" sz="quarter" idx="12"/>
          </p:nvPr>
        </p:nvSpPr>
        <p:spPr>
          <a:xfrm>
            <a:off x="6400800" y="6629400"/>
            <a:ext cx="2743200" cy="228600"/>
          </a:xfrm>
        </p:spPr>
        <p:txBody>
          <a:bodyPr/>
          <a:lstStyle/>
          <a:p>
            <a:fld id="{A03BBF96-A7A5-4867-9A4A-2F26A3CC4EC3}" type="slidenum">
              <a:rPr lang="en-US" smtClean="0">
                <a:solidFill>
                  <a:prstClr val="black">
                    <a:tint val="75000"/>
                  </a:prstClr>
                </a:solidFill>
              </a:rPr>
              <a:pPr/>
              <a:t>32</a:t>
            </a:fld>
            <a:endParaRPr lang="en-US" dirty="0">
              <a:solidFill>
                <a:prstClr val="black">
                  <a:tint val="75000"/>
                </a:prstClr>
              </a:solidFill>
            </a:endParaRPr>
          </a:p>
        </p:txBody>
      </p:sp>
      <p:sp>
        <p:nvSpPr>
          <p:cNvPr id="7" name="TextBox 6"/>
          <p:cNvSpPr txBox="1"/>
          <p:nvPr/>
        </p:nvSpPr>
        <p:spPr>
          <a:xfrm>
            <a:off x="0" y="0"/>
            <a:ext cx="4572000" cy="369332"/>
          </a:xfrm>
          <a:prstGeom prst="rect">
            <a:avLst/>
          </a:prstGeom>
          <a:noFill/>
        </p:spPr>
        <p:txBody>
          <a:bodyPr wrap="square" rtlCol="0">
            <a:spAutoFit/>
          </a:bodyPr>
          <a:lstStyle/>
          <a:p>
            <a:pPr algn="r"/>
            <a:r>
              <a:rPr lang="en-US" b="1" dirty="0">
                <a:solidFill>
                  <a:schemeClr val="bg1"/>
                </a:solidFill>
              </a:rPr>
              <a:t>Introduction to Deep Neural Network</a:t>
            </a:r>
          </a:p>
        </p:txBody>
      </p:sp>
      <p:sp>
        <p:nvSpPr>
          <p:cNvPr id="8" name="TextBox 7"/>
          <p:cNvSpPr txBox="1"/>
          <p:nvPr/>
        </p:nvSpPr>
        <p:spPr>
          <a:xfrm flipH="1">
            <a:off x="6248399" y="6600825"/>
            <a:ext cx="2645229" cy="523220"/>
          </a:xfrm>
          <a:prstGeom prst="rect">
            <a:avLst/>
          </a:prstGeom>
          <a:noFill/>
        </p:spPr>
        <p:txBody>
          <a:bodyPr wrap="square" rtlCol="0">
            <a:spAutoFit/>
          </a:bodyPr>
          <a:lstStyle/>
          <a:p>
            <a:r>
              <a:rPr lang="en-US" sz="1400" dirty="0" smtClean="0">
                <a:latin typeface="Times New Roman" panose="02020603050405020304" pitchFamily="18" charset="0"/>
                <a:cs typeface="Times New Roman" panose="02020603050405020304" pitchFamily="18" charset="0"/>
              </a:rPr>
              <a:t>DL Approach for solving problems</a:t>
            </a:r>
            <a:endParaRPr lang="en-IN" sz="14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0968307"/>
      </p:ext>
    </p:extLst>
  </p:cSld>
  <p:clrMapOvr>
    <a:masterClrMapping/>
  </p:clrMapOvr>
  <p:timing>
    <p:tnLst>
      <p:par>
        <p:cTn id="1" dur="indefinite" restart="never" nodeType="tmRoot"/>
      </p:par>
    </p:tnLst>
  </p:timing>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cap="small" dirty="0"/>
              <a:t>Deep </a:t>
            </a:r>
            <a:r>
              <a:rPr lang="en-US" cap="small" dirty="0" smtClean="0"/>
              <a:t>Learning Approach</a:t>
            </a:r>
            <a:endParaRPr lang="en-US" cap="small" dirty="0"/>
          </a:p>
        </p:txBody>
      </p:sp>
      <p:sp>
        <p:nvSpPr>
          <p:cNvPr id="3" name="Content Placeholder 2"/>
          <p:cNvSpPr>
            <a:spLocks noGrp="1"/>
          </p:cNvSpPr>
          <p:nvPr>
            <p:ph idx="1"/>
          </p:nvPr>
        </p:nvSpPr>
        <p:spPr/>
        <p:txBody>
          <a:bodyPr>
            <a:normAutofit/>
          </a:bodyPr>
          <a:lstStyle/>
          <a:p>
            <a:r>
              <a:rPr lang="en-US" dirty="0"/>
              <a:t>Standard Approach (Mathematicians)</a:t>
            </a:r>
          </a:p>
          <a:p>
            <a:pPr lvl="1"/>
            <a:r>
              <a:rPr lang="en-US" dirty="0"/>
              <a:t>Build new theories</a:t>
            </a:r>
          </a:p>
          <a:p>
            <a:pPr lvl="1"/>
            <a:r>
              <a:rPr lang="en-US" dirty="0"/>
              <a:t>Perform Experiments</a:t>
            </a:r>
          </a:p>
          <a:p>
            <a:r>
              <a:rPr lang="en-US" dirty="0"/>
              <a:t>New Deep Learning (Engineers way)</a:t>
            </a:r>
          </a:p>
          <a:p>
            <a:pPr lvl="1"/>
            <a:r>
              <a:rPr lang="en-US" dirty="0"/>
              <a:t>Given huge amount of computational power</a:t>
            </a:r>
          </a:p>
          <a:p>
            <a:pPr lvl="1"/>
            <a:r>
              <a:rPr lang="en-US" dirty="0"/>
              <a:t>People First Experiment and then try to build a </a:t>
            </a:r>
            <a:r>
              <a:rPr lang="en-US" dirty="0" smtClean="0"/>
              <a:t>theory </a:t>
            </a:r>
            <a:endParaRPr lang="en-US" dirty="0"/>
          </a:p>
          <a:p>
            <a:endParaRPr lang="en-US" dirty="0"/>
          </a:p>
        </p:txBody>
      </p:sp>
      <p:sp>
        <p:nvSpPr>
          <p:cNvPr id="4" name="Date Placeholder 3"/>
          <p:cNvSpPr>
            <a:spLocks noGrp="1"/>
          </p:cNvSpPr>
          <p:nvPr>
            <p:ph type="dt" sz="half" idx="10"/>
          </p:nvPr>
        </p:nvSpPr>
        <p:spPr/>
        <p:txBody>
          <a:bodyPr/>
          <a:lstStyle/>
          <a:p>
            <a:fld id="{E7067A60-51C7-4095-BFA9-1CE32DCBA06F}" type="datetime1">
              <a:rPr lang="en-US" smtClean="0"/>
              <a:pPr/>
              <a:t>2/9/2026</a:t>
            </a:fld>
            <a:endParaRPr lang="en-US" dirty="0"/>
          </a:p>
        </p:txBody>
      </p:sp>
      <p:sp>
        <p:nvSpPr>
          <p:cNvPr id="6" name="Slide Number Placeholder 5"/>
          <p:cNvSpPr>
            <a:spLocks noGrp="1"/>
          </p:cNvSpPr>
          <p:nvPr>
            <p:ph type="sldNum" sz="quarter" idx="12"/>
          </p:nvPr>
        </p:nvSpPr>
        <p:spPr/>
        <p:txBody>
          <a:bodyPr/>
          <a:lstStyle/>
          <a:p>
            <a:fld id="{A03BBF96-A7A5-4867-9A4A-2F26A3CC4EC3}" type="slidenum">
              <a:rPr lang="en-US" smtClean="0"/>
              <a:pPr/>
              <a:t>33</a:t>
            </a:fld>
            <a:endParaRPr lang="en-US" dirty="0"/>
          </a:p>
        </p:txBody>
      </p:sp>
      <p:sp>
        <p:nvSpPr>
          <p:cNvPr id="7" name="TextBox 6"/>
          <p:cNvSpPr txBox="1"/>
          <p:nvPr/>
        </p:nvSpPr>
        <p:spPr>
          <a:xfrm>
            <a:off x="0" y="0"/>
            <a:ext cx="4572000" cy="369332"/>
          </a:xfrm>
          <a:prstGeom prst="rect">
            <a:avLst/>
          </a:prstGeom>
          <a:noFill/>
        </p:spPr>
        <p:txBody>
          <a:bodyPr wrap="square" rtlCol="0">
            <a:spAutoFit/>
          </a:bodyPr>
          <a:lstStyle/>
          <a:p>
            <a:pPr algn="r"/>
            <a:r>
              <a:rPr lang="en-US" b="1" dirty="0">
                <a:solidFill>
                  <a:schemeClr val="bg1"/>
                </a:solidFill>
              </a:rPr>
              <a:t>Introduction to Deep Neural Network</a:t>
            </a:r>
          </a:p>
        </p:txBody>
      </p:sp>
      <p:sp>
        <p:nvSpPr>
          <p:cNvPr id="8" name="Rectangle 2"/>
          <p:cNvSpPr>
            <a:spLocks noChangeArrowheads="1"/>
          </p:cNvSpPr>
          <p:nvPr/>
        </p:nvSpPr>
        <p:spPr bwMode="auto">
          <a:xfrm>
            <a:off x="0" y="0"/>
            <a:ext cx="91440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sp>
        <p:nvSpPr>
          <p:cNvPr id="9" name="Rectangle 2"/>
          <p:cNvSpPr>
            <a:spLocks noChangeArrowheads="1"/>
          </p:cNvSpPr>
          <p:nvPr/>
        </p:nvSpPr>
        <p:spPr bwMode="auto">
          <a:xfrm>
            <a:off x="0" y="0"/>
            <a:ext cx="91440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sp>
        <p:nvSpPr>
          <p:cNvPr id="11" name="Footer Placeholder 4">
            <a:extLst>
              <a:ext uri="{FF2B5EF4-FFF2-40B4-BE49-F238E27FC236}">
                <a16:creationId xmlns:a16="http://schemas.microsoft.com/office/drawing/2014/main" id="{CBB301ED-B8A4-4772-B559-A9E41E7472BD}"/>
              </a:ext>
            </a:extLst>
          </p:cNvPr>
          <p:cNvSpPr>
            <a:spLocks noGrp="1"/>
          </p:cNvSpPr>
          <p:nvPr>
            <p:ph type="ftr" sz="quarter" idx="11"/>
          </p:nvPr>
        </p:nvSpPr>
        <p:spPr>
          <a:xfrm>
            <a:off x="2286000" y="6629400"/>
            <a:ext cx="4136571" cy="228600"/>
          </a:xfrm>
        </p:spPr>
        <p:txBody>
          <a:bodyPr/>
          <a:lstStyle/>
          <a:p>
            <a:r>
              <a:rPr lang="en-US" dirty="0"/>
              <a:t>Dr. Sibarama Panigrahi, Dept. of CSE, NIT Rourkela</a:t>
            </a:r>
          </a:p>
        </p:txBody>
      </p:sp>
      <p:sp>
        <p:nvSpPr>
          <p:cNvPr id="10" name="TextBox 9"/>
          <p:cNvSpPr txBox="1"/>
          <p:nvPr/>
        </p:nvSpPr>
        <p:spPr>
          <a:xfrm flipH="1">
            <a:off x="6400800" y="6600824"/>
            <a:ext cx="2797629" cy="307777"/>
          </a:xfrm>
          <a:prstGeom prst="rect">
            <a:avLst/>
          </a:prstGeom>
          <a:noFill/>
        </p:spPr>
        <p:txBody>
          <a:bodyPr wrap="square" rtlCol="0">
            <a:spAutoFit/>
          </a:bodyPr>
          <a:lstStyle/>
          <a:p>
            <a:r>
              <a:rPr lang="en-US" sz="1400" dirty="0" smtClean="0">
                <a:latin typeface="Times New Roman" panose="02020603050405020304" pitchFamily="18" charset="0"/>
                <a:cs typeface="Times New Roman" panose="02020603050405020304" pitchFamily="18" charset="0"/>
              </a:rPr>
              <a:t>Why DL? Why now?</a:t>
            </a:r>
            <a:endParaRPr lang="en-IN" sz="14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787725732"/>
      </p:ext>
    </p:extLst>
  </p:cSld>
  <p:clrMapOvr>
    <a:masterClrMapping/>
  </p:clrMapOvr>
  <p:timing>
    <p:tnLst>
      <p:par>
        <p:cTn id="1" dur="indefinite" restart="never" nodeType="tmRoot"/>
      </p:par>
    </p:tnLst>
  </p:timing>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dirty="0" smtClean="0"/>
              <a:t>Why Deep Learning ? Why Now ?</a:t>
            </a:r>
            <a:endParaRPr lang="en-IN" dirty="0"/>
          </a:p>
        </p:txBody>
      </p:sp>
      <p:sp>
        <p:nvSpPr>
          <p:cNvPr id="3" name="Content Placeholder 2"/>
          <p:cNvSpPr>
            <a:spLocks noGrp="1"/>
          </p:cNvSpPr>
          <p:nvPr>
            <p:ph idx="1"/>
          </p:nvPr>
        </p:nvSpPr>
        <p:spPr/>
        <p:txBody>
          <a:bodyPr>
            <a:normAutofit/>
          </a:bodyPr>
          <a:lstStyle/>
          <a:p>
            <a:pPr algn="just"/>
            <a:r>
              <a:rPr lang="en-US" sz="3000" b="1" dirty="0" smtClean="0">
                <a:solidFill>
                  <a:srgbClr val="2312FA"/>
                </a:solidFill>
              </a:rPr>
              <a:t>Computer Vision- </a:t>
            </a:r>
            <a:r>
              <a:rPr lang="en-US" sz="3000" i="1" dirty="0" smtClean="0">
                <a:solidFill>
                  <a:srgbClr val="C00000"/>
                </a:solidFill>
              </a:rPr>
              <a:t>Convolutional Neural Networks</a:t>
            </a:r>
            <a:r>
              <a:rPr lang="en-US" sz="3000" dirty="0" smtClean="0"/>
              <a:t> </a:t>
            </a:r>
            <a:r>
              <a:rPr lang="en-US" sz="3000" dirty="0"/>
              <a:t>and </a:t>
            </a:r>
            <a:r>
              <a:rPr lang="en-US" sz="3000" i="1" dirty="0" err="1" smtClean="0">
                <a:solidFill>
                  <a:srgbClr val="FF0000"/>
                </a:solidFill>
              </a:rPr>
              <a:t>Backpropagation</a:t>
            </a:r>
            <a:r>
              <a:rPr lang="en-US" sz="3000" dirty="0" smtClean="0"/>
              <a:t> —well </a:t>
            </a:r>
            <a:r>
              <a:rPr lang="en-US" sz="3000" dirty="0"/>
              <a:t>understood </a:t>
            </a:r>
            <a:r>
              <a:rPr lang="en-US" sz="3000" dirty="0" smtClean="0"/>
              <a:t>since 1989</a:t>
            </a:r>
          </a:p>
          <a:p>
            <a:pPr algn="just"/>
            <a:endParaRPr lang="en-US" sz="3000" dirty="0" smtClean="0"/>
          </a:p>
          <a:p>
            <a:r>
              <a:rPr lang="en-US" sz="3000" dirty="0" smtClean="0"/>
              <a:t> </a:t>
            </a:r>
            <a:r>
              <a:rPr lang="en-US" b="1" dirty="0" smtClean="0">
                <a:solidFill>
                  <a:srgbClr val="2312FA"/>
                </a:solidFill>
              </a:rPr>
              <a:t>Time Series Forecasting- </a:t>
            </a:r>
            <a:r>
              <a:rPr lang="en-US" i="1" dirty="0" smtClean="0">
                <a:solidFill>
                  <a:srgbClr val="C00000"/>
                </a:solidFill>
              </a:rPr>
              <a:t>Long Short-Term Memory </a:t>
            </a:r>
            <a:r>
              <a:rPr lang="en-US" dirty="0" smtClean="0"/>
              <a:t>— well </a:t>
            </a:r>
            <a:r>
              <a:rPr lang="en-US" dirty="0"/>
              <a:t>understood since </a:t>
            </a:r>
            <a:r>
              <a:rPr lang="en-US" dirty="0" smtClean="0"/>
              <a:t>1997</a:t>
            </a:r>
            <a:r>
              <a:rPr lang="en-US" dirty="0"/>
              <a:t/>
            </a:r>
            <a:br>
              <a:rPr lang="en-US" dirty="0"/>
            </a:br>
            <a:endParaRPr lang="en-US" dirty="0" smtClean="0"/>
          </a:p>
          <a:p>
            <a:pPr marL="336550" indent="0" algn="just">
              <a:buNone/>
            </a:pPr>
            <a:r>
              <a:rPr lang="en-US" sz="2400" dirty="0" smtClean="0">
                <a:solidFill>
                  <a:srgbClr val="C00000"/>
                </a:solidFill>
              </a:rPr>
              <a:t>		               - “Deep Learning with Python” Francois </a:t>
            </a:r>
            <a:r>
              <a:rPr lang="en-US" sz="2400" dirty="0" err="1" smtClean="0">
                <a:solidFill>
                  <a:srgbClr val="C00000"/>
                </a:solidFill>
              </a:rPr>
              <a:t>Chollet</a:t>
            </a:r>
            <a:endParaRPr lang="en-IN" sz="2400" dirty="0">
              <a:solidFill>
                <a:srgbClr val="C00000"/>
              </a:solidFill>
            </a:endParaRPr>
          </a:p>
        </p:txBody>
      </p:sp>
      <p:sp>
        <p:nvSpPr>
          <p:cNvPr id="4" name="Date Placeholder 3"/>
          <p:cNvSpPr>
            <a:spLocks noGrp="1"/>
          </p:cNvSpPr>
          <p:nvPr>
            <p:ph type="dt" sz="half" idx="10"/>
          </p:nvPr>
        </p:nvSpPr>
        <p:spPr/>
        <p:txBody>
          <a:bodyPr/>
          <a:lstStyle/>
          <a:p>
            <a:fld id="{E7067A60-51C7-4095-BFA9-1CE32DCBA06F}" type="datetime1">
              <a:rPr lang="en-US" smtClean="0">
                <a:solidFill>
                  <a:prstClr val="black"/>
                </a:solidFill>
              </a:rPr>
              <a:pPr/>
              <a:t>2/9/2026</a:t>
            </a:fld>
            <a:endParaRPr lang="en-US" dirty="0">
              <a:solidFill>
                <a:prstClr val="black"/>
              </a:solidFill>
            </a:endParaRPr>
          </a:p>
        </p:txBody>
      </p:sp>
      <p:sp>
        <p:nvSpPr>
          <p:cNvPr id="5" name="Footer Placeholder 4"/>
          <p:cNvSpPr>
            <a:spLocks noGrp="1"/>
          </p:cNvSpPr>
          <p:nvPr>
            <p:ph type="ftr" sz="quarter" idx="11"/>
          </p:nvPr>
        </p:nvSpPr>
        <p:spPr/>
        <p:txBody>
          <a:bodyPr/>
          <a:lstStyle/>
          <a:p>
            <a:r>
              <a:rPr lang="en-US" dirty="0"/>
              <a:t>Dr. Sibarama Panigrahi, Dept. of CSE, NIT Rourkela</a:t>
            </a:r>
          </a:p>
        </p:txBody>
      </p:sp>
      <p:sp>
        <p:nvSpPr>
          <p:cNvPr id="6" name="Slide Number Placeholder 5"/>
          <p:cNvSpPr>
            <a:spLocks noGrp="1"/>
          </p:cNvSpPr>
          <p:nvPr>
            <p:ph type="sldNum" sz="quarter" idx="12"/>
          </p:nvPr>
        </p:nvSpPr>
        <p:spPr>
          <a:xfrm>
            <a:off x="6613072" y="6629400"/>
            <a:ext cx="2530928" cy="228600"/>
          </a:xfrm>
        </p:spPr>
        <p:txBody>
          <a:bodyPr/>
          <a:lstStyle/>
          <a:p>
            <a:fld id="{A03BBF96-A7A5-4867-9A4A-2F26A3CC4EC3}" type="slidenum">
              <a:rPr lang="en-US" smtClean="0">
                <a:solidFill>
                  <a:prstClr val="black">
                    <a:tint val="75000"/>
                  </a:prstClr>
                </a:solidFill>
              </a:rPr>
              <a:pPr/>
              <a:t>34</a:t>
            </a:fld>
            <a:endParaRPr lang="en-US" dirty="0">
              <a:solidFill>
                <a:prstClr val="black">
                  <a:tint val="75000"/>
                </a:prstClr>
              </a:solidFill>
            </a:endParaRPr>
          </a:p>
        </p:txBody>
      </p:sp>
      <p:sp>
        <p:nvSpPr>
          <p:cNvPr id="7" name="TextBox 6"/>
          <p:cNvSpPr txBox="1"/>
          <p:nvPr/>
        </p:nvSpPr>
        <p:spPr>
          <a:xfrm>
            <a:off x="0" y="0"/>
            <a:ext cx="4572000" cy="369332"/>
          </a:xfrm>
          <a:prstGeom prst="rect">
            <a:avLst/>
          </a:prstGeom>
          <a:noFill/>
        </p:spPr>
        <p:txBody>
          <a:bodyPr wrap="square" rtlCol="0">
            <a:spAutoFit/>
          </a:bodyPr>
          <a:lstStyle/>
          <a:p>
            <a:pPr algn="r"/>
            <a:r>
              <a:rPr lang="en-US" b="1" dirty="0">
                <a:solidFill>
                  <a:schemeClr val="bg1"/>
                </a:solidFill>
              </a:rPr>
              <a:t>Introduction to Deep Neural Network</a:t>
            </a:r>
          </a:p>
        </p:txBody>
      </p:sp>
      <p:sp>
        <p:nvSpPr>
          <p:cNvPr id="8" name="TextBox 7"/>
          <p:cNvSpPr txBox="1"/>
          <p:nvPr/>
        </p:nvSpPr>
        <p:spPr>
          <a:xfrm flipH="1">
            <a:off x="6613071" y="6600825"/>
            <a:ext cx="2280557" cy="307777"/>
          </a:xfrm>
          <a:prstGeom prst="rect">
            <a:avLst/>
          </a:prstGeom>
          <a:noFill/>
        </p:spPr>
        <p:txBody>
          <a:bodyPr wrap="square" rtlCol="0">
            <a:spAutoFit/>
          </a:bodyPr>
          <a:lstStyle/>
          <a:p>
            <a:r>
              <a:rPr lang="en-US" sz="1400" dirty="0" smtClean="0">
                <a:latin typeface="Times New Roman" panose="02020603050405020304" pitchFamily="18" charset="0"/>
                <a:cs typeface="Times New Roman" panose="02020603050405020304" pitchFamily="18" charset="0"/>
              </a:rPr>
              <a:t>Why DL? Why now?</a:t>
            </a:r>
            <a:endParaRPr lang="en-IN" sz="14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945625996"/>
      </p:ext>
    </p:extLst>
  </p:cSld>
  <p:clrMapOvr>
    <a:masterClrMapping/>
  </p:clrMapOvr>
  <p:timing>
    <p:tnLst>
      <p:par>
        <p:cTn id="1" dur="indefinite" restart="never" nodeType="tmRoot"/>
      </p:par>
    </p:tnLst>
  </p:timing>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dirty="0" smtClean="0"/>
              <a:t>Why Deep Learning ? Why Now ?</a:t>
            </a:r>
            <a:endParaRPr lang="en-IN" dirty="0"/>
          </a:p>
        </p:txBody>
      </p:sp>
      <p:sp>
        <p:nvSpPr>
          <p:cNvPr id="3" name="Content Placeholder 2"/>
          <p:cNvSpPr>
            <a:spLocks noGrp="1"/>
          </p:cNvSpPr>
          <p:nvPr>
            <p:ph idx="1"/>
          </p:nvPr>
        </p:nvSpPr>
        <p:spPr/>
        <p:txBody>
          <a:bodyPr>
            <a:normAutofit/>
          </a:bodyPr>
          <a:lstStyle/>
          <a:p>
            <a:pPr marL="336550" indent="0" algn="just">
              <a:buNone/>
            </a:pPr>
            <a:endParaRPr lang="en-IN" sz="2400" dirty="0">
              <a:solidFill>
                <a:srgbClr val="C00000"/>
              </a:solidFill>
            </a:endParaRPr>
          </a:p>
        </p:txBody>
      </p:sp>
      <p:sp>
        <p:nvSpPr>
          <p:cNvPr id="4" name="Date Placeholder 3"/>
          <p:cNvSpPr>
            <a:spLocks noGrp="1"/>
          </p:cNvSpPr>
          <p:nvPr>
            <p:ph type="dt" sz="half" idx="10"/>
          </p:nvPr>
        </p:nvSpPr>
        <p:spPr/>
        <p:txBody>
          <a:bodyPr/>
          <a:lstStyle/>
          <a:p>
            <a:fld id="{E7067A60-51C7-4095-BFA9-1CE32DCBA06F}" type="datetime1">
              <a:rPr lang="en-US" smtClean="0">
                <a:solidFill>
                  <a:prstClr val="black"/>
                </a:solidFill>
              </a:rPr>
              <a:pPr/>
              <a:t>2/9/2026</a:t>
            </a:fld>
            <a:endParaRPr lang="en-US" dirty="0">
              <a:solidFill>
                <a:prstClr val="black"/>
              </a:solidFill>
            </a:endParaRPr>
          </a:p>
        </p:txBody>
      </p:sp>
      <p:sp>
        <p:nvSpPr>
          <p:cNvPr id="5" name="Footer Placeholder 4"/>
          <p:cNvSpPr>
            <a:spLocks noGrp="1"/>
          </p:cNvSpPr>
          <p:nvPr>
            <p:ph type="ftr" sz="quarter" idx="11"/>
          </p:nvPr>
        </p:nvSpPr>
        <p:spPr/>
        <p:txBody>
          <a:bodyPr/>
          <a:lstStyle/>
          <a:p>
            <a:r>
              <a:rPr lang="en-US" dirty="0"/>
              <a:t>Dr. Sibarama Panigrahi, Dept. of CSE, NIT Rourkela</a:t>
            </a:r>
          </a:p>
        </p:txBody>
      </p:sp>
      <p:sp>
        <p:nvSpPr>
          <p:cNvPr id="6" name="Slide Number Placeholder 5"/>
          <p:cNvSpPr>
            <a:spLocks noGrp="1"/>
          </p:cNvSpPr>
          <p:nvPr>
            <p:ph type="sldNum" sz="quarter" idx="12"/>
          </p:nvPr>
        </p:nvSpPr>
        <p:spPr>
          <a:xfrm>
            <a:off x="6357702" y="6629400"/>
            <a:ext cx="2786297" cy="228600"/>
          </a:xfrm>
        </p:spPr>
        <p:txBody>
          <a:bodyPr/>
          <a:lstStyle/>
          <a:p>
            <a:fld id="{A03BBF96-A7A5-4867-9A4A-2F26A3CC4EC3}" type="slidenum">
              <a:rPr lang="en-US" smtClean="0">
                <a:solidFill>
                  <a:prstClr val="black">
                    <a:tint val="75000"/>
                  </a:prstClr>
                </a:solidFill>
              </a:rPr>
              <a:pPr/>
              <a:t>35</a:t>
            </a:fld>
            <a:endParaRPr lang="en-US" dirty="0">
              <a:solidFill>
                <a:prstClr val="black">
                  <a:tint val="75000"/>
                </a:prstClr>
              </a:solidFill>
            </a:endParaRPr>
          </a:p>
        </p:txBody>
      </p:sp>
      <p:sp>
        <p:nvSpPr>
          <p:cNvPr id="7" name="TextBox 6"/>
          <p:cNvSpPr txBox="1"/>
          <p:nvPr/>
        </p:nvSpPr>
        <p:spPr>
          <a:xfrm>
            <a:off x="0" y="0"/>
            <a:ext cx="4572000" cy="369332"/>
          </a:xfrm>
          <a:prstGeom prst="rect">
            <a:avLst/>
          </a:prstGeom>
          <a:noFill/>
        </p:spPr>
        <p:txBody>
          <a:bodyPr wrap="square" rtlCol="0">
            <a:spAutoFit/>
          </a:bodyPr>
          <a:lstStyle/>
          <a:p>
            <a:pPr algn="r"/>
            <a:r>
              <a:rPr lang="en-US" b="1" dirty="0">
                <a:solidFill>
                  <a:schemeClr val="bg1"/>
                </a:solidFill>
              </a:rPr>
              <a:t>Introduction to Deep Neural Network</a:t>
            </a:r>
          </a:p>
        </p:txBody>
      </p:sp>
      <p:pic>
        <p:nvPicPr>
          <p:cNvPr id="2050" name="Picture 2" descr="Does Deep Learning Really Require “Big Data”? — No! | by Zach Monge, PhD |  Towards Data Science"/>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5029200" y="1266825"/>
            <a:ext cx="3618866" cy="2542586"/>
          </a:xfrm>
          <a:prstGeom prst="rect">
            <a:avLst/>
          </a:prstGeom>
          <a:noFill/>
          <a:extLst>
            <a:ext uri="{909E8E84-426E-40DD-AFC4-6F175D3DCCD1}">
              <a14:hiddenFill xmlns:a14="http://schemas.microsoft.com/office/drawing/2010/main">
                <a:solidFill>
                  <a:srgbClr val="FFFFFF"/>
                </a:solidFill>
              </a14:hiddenFill>
            </a:ext>
          </a:extLst>
        </p:spPr>
      </p:pic>
      <p:pic>
        <p:nvPicPr>
          <p:cNvPr id="2052" name="Picture 4" descr="Abstract word cloud for lots of data with related tags and terms. | CanStock"/>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09600" y="1266825"/>
            <a:ext cx="2971800" cy="2543764"/>
          </a:xfrm>
          <a:prstGeom prst="rect">
            <a:avLst/>
          </a:prstGeom>
          <a:noFill/>
          <a:extLst>
            <a:ext uri="{909E8E84-426E-40DD-AFC4-6F175D3DCCD1}">
              <a14:hiddenFill xmlns:a14="http://schemas.microsoft.com/office/drawing/2010/main">
                <a:solidFill>
                  <a:srgbClr val="FFFFFF"/>
                </a:solidFill>
              </a14:hiddenFill>
            </a:ext>
          </a:extLst>
        </p:spPr>
      </p:pic>
      <p:sp>
        <p:nvSpPr>
          <p:cNvPr id="8" name="Rectangle 7"/>
          <p:cNvSpPr/>
          <p:nvPr/>
        </p:nvSpPr>
        <p:spPr>
          <a:xfrm>
            <a:off x="4953000" y="1295400"/>
            <a:ext cx="3662692" cy="1200329"/>
          </a:xfrm>
          <a:prstGeom prst="rect">
            <a:avLst/>
          </a:prstGeom>
          <a:noFill/>
        </p:spPr>
        <p:txBody>
          <a:bodyPr wrap="square" lIns="91440" tIns="45720" rIns="91440" bIns="45720">
            <a:spAutoFit/>
          </a:bodyPr>
          <a:lstStyle/>
          <a:p>
            <a:pPr algn="ctr"/>
            <a:r>
              <a:rPr lang="en-US" sz="3600" b="1" cap="none" spc="50" dirty="0" smtClean="0">
                <a:ln w="9525" cmpd="sng">
                  <a:solidFill>
                    <a:schemeClr val="accent1"/>
                  </a:solidFill>
                  <a:prstDash val="solid"/>
                </a:ln>
                <a:solidFill>
                  <a:schemeClr val="bg1"/>
                </a:solidFill>
                <a:effectLst>
                  <a:glow rad="38100">
                    <a:schemeClr val="accent1">
                      <a:alpha val="40000"/>
                    </a:schemeClr>
                  </a:glow>
                </a:effectLst>
              </a:rPr>
              <a:t>Algorithmic </a:t>
            </a:r>
          </a:p>
          <a:p>
            <a:pPr algn="ctr"/>
            <a:r>
              <a:rPr lang="en-US" sz="3600" b="1" spc="50" dirty="0" smtClean="0">
                <a:ln w="9525" cmpd="sng">
                  <a:solidFill>
                    <a:schemeClr val="accent1"/>
                  </a:solidFill>
                  <a:prstDash val="solid"/>
                </a:ln>
                <a:solidFill>
                  <a:schemeClr val="bg1"/>
                </a:solidFill>
                <a:effectLst>
                  <a:glow rad="38100">
                    <a:schemeClr val="accent1">
                      <a:alpha val="40000"/>
                    </a:schemeClr>
                  </a:glow>
                </a:effectLst>
              </a:rPr>
              <a:t>Advancements</a:t>
            </a:r>
            <a:endParaRPr lang="en-US" sz="3600" b="1" cap="none" spc="50" dirty="0">
              <a:ln w="9525" cmpd="sng">
                <a:solidFill>
                  <a:schemeClr val="accent1"/>
                </a:solidFill>
                <a:prstDash val="solid"/>
              </a:ln>
              <a:solidFill>
                <a:schemeClr val="bg1"/>
              </a:solidFill>
              <a:effectLst>
                <a:glow rad="38100">
                  <a:schemeClr val="accent1">
                    <a:alpha val="40000"/>
                  </a:schemeClr>
                </a:glow>
              </a:effectLst>
            </a:endParaRPr>
          </a:p>
        </p:txBody>
      </p:sp>
      <p:pic>
        <p:nvPicPr>
          <p:cNvPr id="11" name="Picture 10"/>
          <p:cNvPicPr>
            <a:picLocks noChangeAspect="1"/>
          </p:cNvPicPr>
          <p:nvPr/>
        </p:nvPicPr>
        <p:blipFill>
          <a:blip r:embed="rId4"/>
          <a:stretch>
            <a:fillRect/>
          </a:stretch>
        </p:blipFill>
        <p:spPr>
          <a:xfrm>
            <a:off x="2286000" y="4028486"/>
            <a:ext cx="4071704" cy="2505664"/>
          </a:xfrm>
          <a:prstGeom prst="rect">
            <a:avLst/>
          </a:prstGeom>
        </p:spPr>
      </p:pic>
      <p:sp>
        <p:nvSpPr>
          <p:cNvPr id="12" name="Rectangle 11"/>
          <p:cNvSpPr/>
          <p:nvPr/>
        </p:nvSpPr>
        <p:spPr>
          <a:xfrm>
            <a:off x="2732642" y="3828871"/>
            <a:ext cx="3023776" cy="1200329"/>
          </a:xfrm>
          <a:prstGeom prst="rect">
            <a:avLst/>
          </a:prstGeom>
          <a:noFill/>
        </p:spPr>
        <p:txBody>
          <a:bodyPr wrap="none" lIns="91440" tIns="45720" rIns="91440" bIns="45720">
            <a:spAutoFit/>
          </a:bodyPr>
          <a:lstStyle/>
          <a:p>
            <a:pPr algn="ctr"/>
            <a:r>
              <a:rPr lang="en-US" sz="3600" b="1" cap="none" spc="0" dirty="0" smtClean="0">
                <a:ln w="10160">
                  <a:solidFill>
                    <a:schemeClr val="accent5"/>
                  </a:solidFill>
                  <a:prstDash val="solid"/>
                </a:ln>
                <a:solidFill>
                  <a:srgbClr val="FFFFFF"/>
                </a:solidFill>
                <a:effectLst>
                  <a:outerShdw blurRad="38100" dist="22860" dir="5400000" algn="tl" rotWithShape="0">
                    <a:srgbClr val="000000">
                      <a:alpha val="30000"/>
                    </a:srgbClr>
                  </a:outerShdw>
                </a:effectLst>
              </a:rPr>
              <a:t>Hardware </a:t>
            </a:r>
          </a:p>
          <a:p>
            <a:pPr algn="ctr"/>
            <a:r>
              <a:rPr lang="en-US" sz="3600" b="1" cap="none" spc="0" dirty="0" smtClean="0">
                <a:ln w="10160">
                  <a:solidFill>
                    <a:schemeClr val="accent5"/>
                  </a:solidFill>
                  <a:prstDash val="solid"/>
                </a:ln>
                <a:solidFill>
                  <a:srgbClr val="FFFFFF"/>
                </a:solidFill>
                <a:effectLst>
                  <a:outerShdw blurRad="38100" dist="22860" dir="5400000" algn="tl" rotWithShape="0">
                    <a:srgbClr val="000000">
                      <a:alpha val="30000"/>
                    </a:srgbClr>
                  </a:outerShdw>
                </a:effectLst>
              </a:rPr>
              <a:t>Advancements</a:t>
            </a:r>
            <a:endParaRPr lang="en-US" sz="3600" b="1" cap="none" spc="0" dirty="0">
              <a:ln w="10160">
                <a:solidFill>
                  <a:schemeClr val="accent5"/>
                </a:solidFill>
                <a:prstDash val="solid"/>
              </a:ln>
              <a:solidFill>
                <a:srgbClr val="FFFFFF"/>
              </a:solidFill>
              <a:effectLst>
                <a:outerShdw blurRad="38100" dist="22860" dir="5400000" algn="tl" rotWithShape="0">
                  <a:srgbClr val="000000">
                    <a:alpha val="30000"/>
                  </a:srgbClr>
                </a:outerShdw>
              </a:effectLst>
            </a:endParaRPr>
          </a:p>
        </p:txBody>
      </p:sp>
      <p:sp>
        <p:nvSpPr>
          <p:cNvPr id="13" name="TextBox 12"/>
          <p:cNvSpPr txBox="1"/>
          <p:nvPr/>
        </p:nvSpPr>
        <p:spPr>
          <a:xfrm flipH="1">
            <a:off x="6357703" y="6600825"/>
            <a:ext cx="2535925" cy="307777"/>
          </a:xfrm>
          <a:prstGeom prst="rect">
            <a:avLst/>
          </a:prstGeom>
          <a:noFill/>
        </p:spPr>
        <p:txBody>
          <a:bodyPr wrap="square" rtlCol="0">
            <a:spAutoFit/>
          </a:bodyPr>
          <a:lstStyle/>
          <a:p>
            <a:r>
              <a:rPr lang="en-US" sz="1400" dirty="0" smtClean="0">
                <a:latin typeface="Times New Roman" panose="02020603050405020304" pitchFamily="18" charset="0"/>
                <a:cs typeface="Times New Roman" panose="02020603050405020304" pitchFamily="18" charset="0"/>
              </a:rPr>
              <a:t>Algorithmic Advancements…</a:t>
            </a:r>
            <a:endParaRPr lang="en-IN" sz="14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615959945"/>
      </p:ext>
    </p:extLst>
  </p:cSld>
  <p:clrMapOvr>
    <a:masterClrMapping/>
  </p:clrMapOvr>
  <p:timing>
    <p:tnLst>
      <p:par>
        <p:cTn id="1" dur="indefinite" restart="never" nodeType="tmRoot"/>
      </p:par>
    </p:tnLst>
  </p:timing>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dirty="0" smtClean="0"/>
              <a:t>Algorithmic Advancements…</a:t>
            </a:r>
            <a:endParaRPr lang="en-IN" dirty="0"/>
          </a:p>
        </p:txBody>
      </p:sp>
      <p:sp>
        <p:nvSpPr>
          <p:cNvPr id="3" name="Content Placeholder 2"/>
          <p:cNvSpPr>
            <a:spLocks noGrp="1"/>
          </p:cNvSpPr>
          <p:nvPr>
            <p:ph idx="1"/>
          </p:nvPr>
        </p:nvSpPr>
        <p:spPr/>
        <p:txBody>
          <a:bodyPr>
            <a:normAutofit fontScale="92500" lnSpcReduction="20000"/>
          </a:bodyPr>
          <a:lstStyle/>
          <a:p>
            <a:pPr algn="just"/>
            <a:r>
              <a:rPr lang="en-IN" dirty="0" smtClean="0"/>
              <a:t>Better</a:t>
            </a:r>
            <a:r>
              <a:rPr lang="en-IN" dirty="0" smtClean="0">
                <a:solidFill>
                  <a:srgbClr val="C00000"/>
                </a:solidFill>
              </a:rPr>
              <a:t> </a:t>
            </a:r>
            <a:r>
              <a:rPr lang="en-IN" b="1" i="1" dirty="0" smtClean="0">
                <a:solidFill>
                  <a:srgbClr val="C00000"/>
                </a:solidFill>
              </a:rPr>
              <a:t>Activation Functions </a:t>
            </a:r>
            <a:r>
              <a:rPr lang="en-IN" dirty="0" smtClean="0"/>
              <a:t>for neural layers.</a:t>
            </a:r>
          </a:p>
          <a:p>
            <a:pPr algn="just"/>
            <a:endParaRPr lang="en-IN" dirty="0">
              <a:solidFill>
                <a:srgbClr val="C00000"/>
              </a:solidFill>
            </a:endParaRPr>
          </a:p>
          <a:p>
            <a:pPr algn="just"/>
            <a:r>
              <a:rPr lang="en-IN" dirty="0" smtClean="0"/>
              <a:t>Better</a:t>
            </a:r>
            <a:r>
              <a:rPr lang="en-IN" dirty="0" smtClean="0">
                <a:solidFill>
                  <a:srgbClr val="2312FA"/>
                </a:solidFill>
              </a:rPr>
              <a:t> </a:t>
            </a:r>
            <a:r>
              <a:rPr lang="en-IN" b="1" i="1" dirty="0" smtClean="0">
                <a:solidFill>
                  <a:srgbClr val="2312FA"/>
                </a:solidFill>
              </a:rPr>
              <a:t>Weight Initialization</a:t>
            </a:r>
            <a:r>
              <a:rPr lang="en-IN" dirty="0" smtClean="0">
                <a:solidFill>
                  <a:srgbClr val="2312FA"/>
                </a:solidFill>
              </a:rPr>
              <a:t> Schemes </a:t>
            </a:r>
            <a:r>
              <a:rPr lang="en-IN" dirty="0"/>
              <a:t>starting with layer-wise </a:t>
            </a:r>
            <a:r>
              <a:rPr lang="en-IN" dirty="0" err="1" smtClean="0"/>
              <a:t>pretraining</a:t>
            </a:r>
            <a:r>
              <a:rPr lang="en-IN" dirty="0" smtClean="0"/>
              <a:t>.</a:t>
            </a:r>
          </a:p>
          <a:p>
            <a:pPr marL="336550" indent="0">
              <a:buNone/>
            </a:pPr>
            <a:r>
              <a:rPr lang="en-IN" dirty="0" smtClean="0"/>
              <a:t> </a:t>
            </a:r>
          </a:p>
          <a:p>
            <a:pPr algn="just"/>
            <a:r>
              <a:rPr lang="en-US" dirty="0" smtClean="0"/>
              <a:t>To avoid Overfitting the Concepts like </a:t>
            </a:r>
            <a:r>
              <a:rPr lang="en-US" b="1" i="1" dirty="0" smtClean="0">
                <a:solidFill>
                  <a:srgbClr val="3116F6"/>
                </a:solidFill>
              </a:rPr>
              <a:t>Dropout</a:t>
            </a:r>
            <a:r>
              <a:rPr lang="en-US" b="1" dirty="0" smtClean="0"/>
              <a:t> </a:t>
            </a:r>
            <a:r>
              <a:rPr lang="en-US" dirty="0" smtClean="0"/>
              <a:t>is Introduced.</a:t>
            </a:r>
            <a:endParaRPr lang="en-US" b="1" dirty="0" smtClean="0"/>
          </a:p>
          <a:p>
            <a:endParaRPr lang="en-US" dirty="0" smtClean="0"/>
          </a:p>
          <a:p>
            <a:r>
              <a:rPr lang="en-US" dirty="0" smtClean="0"/>
              <a:t>Better </a:t>
            </a:r>
            <a:r>
              <a:rPr lang="en-US" b="1" i="1" dirty="0">
                <a:solidFill>
                  <a:srgbClr val="3116F6"/>
                </a:solidFill>
              </a:rPr>
              <a:t>optimization schemes</a:t>
            </a:r>
            <a:r>
              <a:rPr lang="en-US" dirty="0">
                <a:solidFill>
                  <a:srgbClr val="3116F6"/>
                </a:solidFill>
              </a:rPr>
              <a:t>,</a:t>
            </a:r>
            <a:r>
              <a:rPr lang="en-US" dirty="0"/>
              <a:t> such as </a:t>
            </a:r>
            <a:r>
              <a:rPr lang="en-US" dirty="0" err="1"/>
              <a:t>RMSProp</a:t>
            </a:r>
            <a:r>
              <a:rPr lang="en-US" dirty="0"/>
              <a:t> and </a:t>
            </a:r>
            <a:r>
              <a:rPr lang="en-US" dirty="0" smtClean="0"/>
              <a:t>Adam. </a:t>
            </a:r>
            <a:r>
              <a:rPr lang="en-US" dirty="0"/>
              <a:t/>
            </a:r>
            <a:br>
              <a:rPr lang="en-US" dirty="0"/>
            </a:br>
            <a:r>
              <a:rPr lang="en-IN" dirty="0"/>
              <a:t/>
            </a:r>
            <a:br>
              <a:rPr lang="en-IN" dirty="0"/>
            </a:br>
            <a:endParaRPr lang="en-IN" dirty="0">
              <a:solidFill>
                <a:srgbClr val="2312FA"/>
              </a:solidFill>
            </a:endParaRPr>
          </a:p>
        </p:txBody>
      </p:sp>
      <p:sp>
        <p:nvSpPr>
          <p:cNvPr id="4" name="Date Placeholder 3"/>
          <p:cNvSpPr>
            <a:spLocks noGrp="1"/>
          </p:cNvSpPr>
          <p:nvPr>
            <p:ph type="dt" sz="half" idx="10"/>
          </p:nvPr>
        </p:nvSpPr>
        <p:spPr/>
        <p:txBody>
          <a:bodyPr/>
          <a:lstStyle/>
          <a:p>
            <a:fld id="{E7067A60-51C7-4095-BFA9-1CE32DCBA06F}" type="datetime1">
              <a:rPr lang="en-US" smtClean="0">
                <a:solidFill>
                  <a:prstClr val="black"/>
                </a:solidFill>
              </a:rPr>
              <a:pPr/>
              <a:t>2/9/2026</a:t>
            </a:fld>
            <a:endParaRPr lang="en-US" dirty="0">
              <a:solidFill>
                <a:prstClr val="black"/>
              </a:solidFill>
            </a:endParaRPr>
          </a:p>
        </p:txBody>
      </p:sp>
      <p:sp>
        <p:nvSpPr>
          <p:cNvPr id="5" name="Footer Placeholder 4"/>
          <p:cNvSpPr>
            <a:spLocks noGrp="1"/>
          </p:cNvSpPr>
          <p:nvPr>
            <p:ph type="ftr" sz="quarter" idx="11"/>
          </p:nvPr>
        </p:nvSpPr>
        <p:spPr/>
        <p:txBody>
          <a:bodyPr/>
          <a:lstStyle/>
          <a:p>
            <a:r>
              <a:rPr lang="en-US" dirty="0"/>
              <a:t>Dr. Sibarama Panigrahi, Dept. of CSE, NIT Rourkela</a:t>
            </a:r>
          </a:p>
        </p:txBody>
      </p:sp>
      <p:sp>
        <p:nvSpPr>
          <p:cNvPr id="6" name="Slide Number Placeholder 5"/>
          <p:cNvSpPr>
            <a:spLocks noGrp="1"/>
          </p:cNvSpPr>
          <p:nvPr>
            <p:ph type="sldNum" sz="quarter" idx="12"/>
          </p:nvPr>
        </p:nvSpPr>
        <p:spPr>
          <a:xfrm>
            <a:off x="6324600" y="6629400"/>
            <a:ext cx="2819400" cy="228600"/>
          </a:xfrm>
        </p:spPr>
        <p:txBody>
          <a:bodyPr/>
          <a:lstStyle/>
          <a:p>
            <a:fld id="{A03BBF96-A7A5-4867-9A4A-2F26A3CC4EC3}" type="slidenum">
              <a:rPr lang="en-US" smtClean="0">
                <a:solidFill>
                  <a:prstClr val="black">
                    <a:tint val="75000"/>
                  </a:prstClr>
                </a:solidFill>
              </a:rPr>
              <a:pPr/>
              <a:t>36</a:t>
            </a:fld>
            <a:endParaRPr lang="en-US" dirty="0">
              <a:solidFill>
                <a:prstClr val="black">
                  <a:tint val="75000"/>
                </a:prstClr>
              </a:solidFill>
            </a:endParaRPr>
          </a:p>
        </p:txBody>
      </p:sp>
      <p:sp>
        <p:nvSpPr>
          <p:cNvPr id="7" name="TextBox 6"/>
          <p:cNvSpPr txBox="1"/>
          <p:nvPr/>
        </p:nvSpPr>
        <p:spPr>
          <a:xfrm>
            <a:off x="0" y="0"/>
            <a:ext cx="4572000" cy="369332"/>
          </a:xfrm>
          <a:prstGeom prst="rect">
            <a:avLst/>
          </a:prstGeom>
          <a:noFill/>
        </p:spPr>
        <p:txBody>
          <a:bodyPr wrap="square" rtlCol="0">
            <a:spAutoFit/>
          </a:bodyPr>
          <a:lstStyle/>
          <a:p>
            <a:pPr algn="r"/>
            <a:r>
              <a:rPr lang="en-US" b="1" dirty="0">
                <a:solidFill>
                  <a:schemeClr val="bg1"/>
                </a:solidFill>
              </a:rPr>
              <a:t>Introduction to Deep Neural Network</a:t>
            </a:r>
          </a:p>
        </p:txBody>
      </p:sp>
      <p:sp>
        <p:nvSpPr>
          <p:cNvPr id="8" name="TextBox 7"/>
          <p:cNvSpPr txBox="1"/>
          <p:nvPr/>
        </p:nvSpPr>
        <p:spPr>
          <a:xfrm flipH="1">
            <a:off x="6476999" y="6600825"/>
            <a:ext cx="2416629" cy="307777"/>
          </a:xfrm>
          <a:prstGeom prst="rect">
            <a:avLst/>
          </a:prstGeom>
          <a:noFill/>
        </p:spPr>
        <p:txBody>
          <a:bodyPr wrap="square" rtlCol="0">
            <a:spAutoFit/>
          </a:bodyPr>
          <a:lstStyle/>
          <a:p>
            <a:r>
              <a:rPr lang="en-US" sz="1400" dirty="0" smtClean="0">
                <a:latin typeface="Times New Roman" panose="02020603050405020304" pitchFamily="18" charset="0"/>
                <a:cs typeface="Times New Roman" panose="02020603050405020304" pitchFamily="18" charset="0"/>
              </a:rPr>
              <a:t>Activation Functions</a:t>
            </a:r>
            <a:endParaRPr lang="en-IN" sz="14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899883075"/>
      </p:ext>
    </p:extLst>
  </p:cSld>
  <p:clrMapOvr>
    <a:masterClrMapping/>
  </p:clrMapOvr>
  <p:timing>
    <p:tnLst>
      <p:par>
        <p:cTn id="1" dur="indefinite" restart="never" nodeType="tmRoot"/>
      </p:par>
    </p:tnLst>
  </p:timing>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dirty="0" smtClean="0"/>
              <a:t>Activation Functions…</a:t>
            </a:r>
            <a:endParaRPr lang="en-IN" dirty="0"/>
          </a:p>
        </p:txBody>
      </p:sp>
      <p:sp>
        <p:nvSpPr>
          <p:cNvPr id="3" name="Content Placeholder 2"/>
          <p:cNvSpPr>
            <a:spLocks noGrp="1"/>
          </p:cNvSpPr>
          <p:nvPr>
            <p:ph idx="1"/>
          </p:nvPr>
        </p:nvSpPr>
        <p:spPr/>
        <p:txBody>
          <a:bodyPr>
            <a:normAutofit/>
          </a:bodyPr>
          <a:lstStyle/>
          <a:p>
            <a:r>
              <a:rPr lang="en-IN" sz="2800" dirty="0" smtClean="0"/>
              <a:t>An </a:t>
            </a:r>
            <a:r>
              <a:rPr lang="en-US" sz="2800" i="1" dirty="0">
                <a:solidFill>
                  <a:srgbClr val="3116F6"/>
                </a:solidFill>
              </a:rPr>
              <a:t>Activation </a:t>
            </a:r>
            <a:r>
              <a:rPr lang="en-US" sz="2800" i="1" dirty="0" smtClean="0">
                <a:solidFill>
                  <a:srgbClr val="3116F6"/>
                </a:solidFill>
              </a:rPr>
              <a:t>Function (Transfer Function) </a:t>
            </a:r>
            <a:r>
              <a:rPr lang="en-US" sz="2800" dirty="0" smtClean="0"/>
              <a:t>maps the weighted summation of inputs to output.</a:t>
            </a:r>
          </a:p>
          <a:p>
            <a:r>
              <a:rPr lang="en-US" sz="2800" dirty="0" smtClean="0"/>
              <a:t>An Activation function is used to add </a:t>
            </a:r>
            <a:r>
              <a:rPr lang="en-US" sz="2800" b="1" i="1" dirty="0" smtClean="0">
                <a:solidFill>
                  <a:srgbClr val="3116F6"/>
                </a:solidFill>
              </a:rPr>
              <a:t>Nonlinearity so that the network can learn complex patterns.</a:t>
            </a:r>
            <a:r>
              <a:rPr lang="en-IN" dirty="0"/>
              <a:t/>
            </a:r>
            <a:br>
              <a:rPr lang="en-IN" dirty="0"/>
            </a:br>
            <a:endParaRPr lang="en-IN" dirty="0">
              <a:solidFill>
                <a:srgbClr val="2312FA"/>
              </a:solidFill>
            </a:endParaRPr>
          </a:p>
        </p:txBody>
      </p:sp>
      <p:sp>
        <p:nvSpPr>
          <p:cNvPr id="4" name="Date Placeholder 3"/>
          <p:cNvSpPr>
            <a:spLocks noGrp="1"/>
          </p:cNvSpPr>
          <p:nvPr>
            <p:ph type="dt" sz="half" idx="10"/>
          </p:nvPr>
        </p:nvSpPr>
        <p:spPr/>
        <p:txBody>
          <a:bodyPr/>
          <a:lstStyle/>
          <a:p>
            <a:fld id="{E7067A60-51C7-4095-BFA9-1CE32DCBA06F}" type="datetime1">
              <a:rPr lang="en-US" smtClean="0">
                <a:solidFill>
                  <a:prstClr val="black"/>
                </a:solidFill>
              </a:rPr>
              <a:pPr/>
              <a:t>2/9/2026</a:t>
            </a:fld>
            <a:endParaRPr lang="en-US" dirty="0">
              <a:solidFill>
                <a:prstClr val="black"/>
              </a:solidFill>
            </a:endParaRPr>
          </a:p>
        </p:txBody>
      </p:sp>
      <p:sp>
        <p:nvSpPr>
          <p:cNvPr id="5" name="Footer Placeholder 4"/>
          <p:cNvSpPr>
            <a:spLocks noGrp="1"/>
          </p:cNvSpPr>
          <p:nvPr>
            <p:ph type="ftr" sz="quarter" idx="11"/>
          </p:nvPr>
        </p:nvSpPr>
        <p:spPr/>
        <p:txBody>
          <a:bodyPr/>
          <a:lstStyle/>
          <a:p>
            <a:r>
              <a:rPr lang="en-US" dirty="0"/>
              <a:t>Dr. Sibarama Panigrahi, Dept. of CSE, NIT Rourkela</a:t>
            </a:r>
          </a:p>
        </p:txBody>
      </p:sp>
      <p:sp>
        <p:nvSpPr>
          <p:cNvPr id="6" name="Slide Number Placeholder 5"/>
          <p:cNvSpPr>
            <a:spLocks noGrp="1"/>
          </p:cNvSpPr>
          <p:nvPr>
            <p:ph type="sldNum" sz="quarter" idx="12"/>
          </p:nvPr>
        </p:nvSpPr>
        <p:spPr>
          <a:xfrm>
            <a:off x="6400800" y="6629400"/>
            <a:ext cx="2743200" cy="228600"/>
          </a:xfrm>
        </p:spPr>
        <p:txBody>
          <a:bodyPr/>
          <a:lstStyle/>
          <a:p>
            <a:fld id="{A03BBF96-A7A5-4867-9A4A-2F26A3CC4EC3}" type="slidenum">
              <a:rPr lang="en-US" smtClean="0">
                <a:solidFill>
                  <a:prstClr val="black">
                    <a:tint val="75000"/>
                  </a:prstClr>
                </a:solidFill>
              </a:rPr>
              <a:pPr/>
              <a:t>37</a:t>
            </a:fld>
            <a:endParaRPr lang="en-US" dirty="0">
              <a:solidFill>
                <a:prstClr val="black">
                  <a:tint val="75000"/>
                </a:prstClr>
              </a:solidFill>
            </a:endParaRPr>
          </a:p>
        </p:txBody>
      </p:sp>
      <p:sp>
        <p:nvSpPr>
          <p:cNvPr id="7" name="TextBox 6"/>
          <p:cNvSpPr txBox="1"/>
          <p:nvPr/>
        </p:nvSpPr>
        <p:spPr>
          <a:xfrm>
            <a:off x="0" y="0"/>
            <a:ext cx="4572000" cy="369332"/>
          </a:xfrm>
          <a:prstGeom prst="rect">
            <a:avLst/>
          </a:prstGeom>
          <a:noFill/>
        </p:spPr>
        <p:txBody>
          <a:bodyPr wrap="square" rtlCol="0">
            <a:spAutoFit/>
          </a:bodyPr>
          <a:lstStyle/>
          <a:p>
            <a:pPr algn="r"/>
            <a:r>
              <a:rPr lang="en-US" b="1" dirty="0">
                <a:solidFill>
                  <a:schemeClr val="bg1"/>
                </a:solidFill>
              </a:rPr>
              <a:t>Introduction to Deep Neural Network</a:t>
            </a:r>
          </a:p>
        </p:txBody>
      </p:sp>
      <p:pic>
        <p:nvPicPr>
          <p:cNvPr id="8" name="Picture 7"/>
          <p:cNvPicPr>
            <a:picLocks noChangeAspect="1"/>
          </p:cNvPicPr>
          <p:nvPr/>
        </p:nvPicPr>
        <p:blipFill>
          <a:blip r:embed="rId2"/>
          <a:stretch>
            <a:fillRect/>
          </a:stretch>
        </p:blipFill>
        <p:spPr>
          <a:xfrm>
            <a:off x="1524000" y="2951349"/>
            <a:ext cx="5943600" cy="3678051"/>
          </a:xfrm>
          <a:prstGeom prst="rect">
            <a:avLst/>
          </a:prstGeom>
        </p:spPr>
      </p:pic>
      <p:sp>
        <p:nvSpPr>
          <p:cNvPr id="9" name="TextBox 8"/>
          <p:cNvSpPr txBox="1"/>
          <p:nvPr/>
        </p:nvSpPr>
        <p:spPr>
          <a:xfrm flipH="1">
            <a:off x="6613071" y="6600825"/>
            <a:ext cx="2280557" cy="307777"/>
          </a:xfrm>
          <a:prstGeom prst="rect">
            <a:avLst/>
          </a:prstGeom>
          <a:noFill/>
        </p:spPr>
        <p:txBody>
          <a:bodyPr wrap="square" rtlCol="0">
            <a:spAutoFit/>
          </a:bodyPr>
          <a:lstStyle/>
          <a:p>
            <a:r>
              <a:rPr lang="en-US" sz="1400" dirty="0" smtClean="0">
                <a:latin typeface="Times New Roman" panose="02020603050405020304" pitchFamily="18" charset="0"/>
                <a:cs typeface="Times New Roman" panose="02020603050405020304" pitchFamily="18" charset="0"/>
              </a:rPr>
              <a:t>Sigmoid Activation Function</a:t>
            </a:r>
            <a:endParaRPr lang="en-IN" sz="14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1410371"/>
      </p:ext>
    </p:extLst>
  </p:cSld>
  <p:clrMapOvr>
    <a:masterClrMapping/>
  </p:clrMapOvr>
  <p:timing>
    <p:tnLst>
      <p:par>
        <p:cTn id="1" dur="indefinite" restart="never" nodeType="tmRoot"/>
      </p:par>
    </p:tnLst>
  </p:timing>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dirty="0" smtClean="0"/>
              <a:t>Sigmoid Activation Functions</a:t>
            </a:r>
            <a:endParaRPr lang="en-IN" dirty="0"/>
          </a:p>
        </p:txBody>
      </p:sp>
      <p:sp>
        <p:nvSpPr>
          <p:cNvPr id="3" name="Content Placeholder 2"/>
          <p:cNvSpPr>
            <a:spLocks noGrp="1"/>
          </p:cNvSpPr>
          <p:nvPr>
            <p:ph idx="1"/>
          </p:nvPr>
        </p:nvSpPr>
        <p:spPr/>
        <p:txBody>
          <a:bodyPr>
            <a:normAutofit/>
          </a:bodyPr>
          <a:lstStyle/>
          <a:p>
            <a:r>
              <a:rPr lang="en-IN" b="1" dirty="0" smtClean="0"/>
              <a:t>Characteristics:</a:t>
            </a:r>
          </a:p>
          <a:p>
            <a:pPr lvl="1"/>
            <a:r>
              <a:rPr lang="en-IN" dirty="0" smtClean="0"/>
              <a:t>Differentiable</a:t>
            </a:r>
          </a:p>
          <a:p>
            <a:pPr lvl="1"/>
            <a:r>
              <a:rPr lang="en-IN" dirty="0" smtClean="0"/>
              <a:t>Nonlinear</a:t>
            </a:r>
          </a:p>
          <a:p>
            <a:pPr lvl="1"/>
            <a:r>
              <a:rPr lang="en-IN" dirty="0" smtClean="0"/>
              <a:t>O/P lies in [0-1]</a:t>
            </a:r>
          </a:p>
          <a:p>
            <a:pPr lvl="1"/>
            <a:r>
              <a:rPr lang="en-IN" dirty="0" smtClean="0"/>
              <a:t>Fast</a:t>
            </a:r>
          </a:p>
          <a:p>
            <a:pPr lvl="1"/>
            <a:r>
              <a:rPr lang="en-IN" b="1" i="1" dirty="0" smtClean="0">
                <a:solidFill>
                  <a:srgbClr val="3116F6"/>
                </a:solidFill>
              </a:rPr>
              <a:t>Vanishing Gradient</a:t>
            </a:r>
          </a:p>
          <a:p>
            <a:pPr marL="685800" lvl="1" indent="0">
              <a:buNone/>
            </a:pPr>
            <a:r>
              <a:rPr lang="en-IN" b="1" i="1" dirty="0">
                <a:solidFill>
                  <a:srgbClr val="3116F6"/>
                </a:solidFill>
              </a:rPr>
              <a:t> </a:t>
            </a:r>
            <a:r>
              <a:rPr lang="en-IN" b="1" i="1" dirty="0" smtClean="0">
                <a:solidFill>
                  <a:srgbClr val="3116F6"/>
                </a:solidFill>
              </a:rPr>
              <a:t>   Problem</a:t>
            </a:r>
          </a:p>
          <a:p>
            <a:pPr marL="685800" lvl="1" indent="0">
              <a:buNone/>
            </a:pPr>
            <a:r>
              <a:rPr lang="en-IN" dirty="0"/>
              <a:t/>
            </a:r>
            <a:br>
              <a:rPr lang="en-IN" dirty="0"/>
            </a:br>
            <a:endParaRPr lang="en-IN" dirty="0">
              <a:solidFill>
                <a:srgbClr val="2312FA"/>
              </a:solidFill>
            </a:endParaRPr>
          </a:p>
        </p:txBody>
      </p:sp>
      <p:sp>
        <p:nvSpPr>
          <p:cNvPr id="4" name="Date Placeholder 3"/>
          <p:cNvSpPr>
            <a:spLocks noGrp="1"/>
          </p:cNvSpPr>
          <p:nvPr>
            <p:ph type="dt" sz="half" idx="10"/>
          </p:nvPr>
        </p:nvSpPr>
        <p:spPr/>
        <p:txBody>
          <a:bodyPr/>
          <a:lstStyle/>
          <a:p>
            <a:fld id="{E7067A60-51C7-4095-BFA9-1CE32DCBA06F}" type="datetime1">
              <a:rPr lang="en-US" smtClean="0">
                <a:solidFill>
                  <a:prstClr val="black"/>
                </a:solidFill>
              </a:rPr>
              <a:pPr/>
              <a:t>2/9/2026</a:t>
            </a:fld>
            <a:endParaRPr lang="en-US" dirty="0">
              <a:solidFill>
                <a:prstClr val="black"/>
              </a:solidFill>
            </a:endParaRPr>
          </a:p>
        </p:txBody>
      </p:sp>
      <p:sp>
        <p:nvSpPr>
          <p:cNvPr id="5" name="Footer Placeholder 4"/>
          <p:cNvSpPr>
            <a:spLocks noGrp="1"/>
          </p:cNvSpPr>
          <p:nvPr>
            <p:ph type="ftr" sz="quarter" idx="11"/>
          </p:nvPr>
        </p:nvSpPr>
        <p:spPr/>
        <p:txBody>
          <a:bodyPr/>
          <a:lstStyle/>
          <a:p>
            <a:r>
              <a:rPr lang="en-US" dirty="0"/>
              <a:t>Dr. Sibarama Panigrahi, Dept. of CSE, NIT Rourkela</a:t>
            </a:r>
          </a:p>
        </p:txBody>
      </p:sp>
      <p:sp>
        <p:nvSpPr>
          <p:cNvPr id="6" name="Slide Number Placeholder 5"/>
          <p:cNvSpPr>
            <a:spLocks noGrp="1"/>
          </p:cNvSpPr>
          <p:nvPr>
            <p:ph type="sldNum" sz="quarter" idx="12"/>
          </p:nvPr>
        </p:nvSpPr>
        <p:spPr>
          <a:xfrm>
            <a:off x="6477000" y="6629400"/>
            <a:ext cx="2667000" cy="228600"/>
          </a:xfrm>
        </p:spPr>
        <p:txBody>
          <a:bodyPr/>
          <a:lstStyle/>
          <a:p>
            <a:fld id="{A03BBF96-A7A5-4867-9A4A-2F26A3CC4EC3}" type="slidenum">
              <a:rPr lang="en-US" smtClean="0">
                <a:solidFill>
                  <a:prstClr val="black">
                    <a:tint val="75000"/>
                  </a:prstClr>
                </a:solidFill>
              </a:rPr>
              <a:pPr/>
              <a:t>38</a:t>
            </a:fld>
            <a:endParaRPr lang="en-US" dirty="0">
              <a:solidFill>
                <a:prstClr val="black">
                  <a:tint val="75000"/>
                </a:prstClr>
              </a:solidFill>
            </a:endParaRPr>
          </a:p>
        </p:txBody>
      </p:sp>
      <p:sp>
        <p:nvSpPr>
          <p:cNvPr id="7" name="TextBox 6"/>
          <p:cNvSpPr txBox="1"/>
          <p:nvPr/>
        </p:nvSpPr>
        <p:spPr>
          <a:xfrm>
            <a:off x="0" y="0"/>
            <a:ext cx="4572000" cy="369332"/>
          </a:xfrm>
          <a:prstGeom prst="rect">
            <a:avLst/>
          </a:prstGeom>
          <a:noFill/>
        </p:spPr>
        <p:txBody>
          <a:bodyPr wrap="square" rtlCol="0">
            <a:spAutoFit/>
          </a:bodyPr>
          <a:lstStyle/>
          <a:p>
            <a:pPr algn="r"/>
            <a:r>
              <a:rPr lang="en-US" b="1" dirty="0">
                <a:solidFill>
                  <a:schemeClr val="bg1"/>
                </a:solidFill>
              </a:rPr>
              <a:t>Introduction to Deep Neural Network</a:t>
            </a:r>
          </a:p>
        </p:txBody>
      </p:sp>
      <p:pic>
        <p:nvPicPr>
          <p:cNvPr id="9" name="Picture 8"/>
          <p:cNvPicPr>
            <a:picLocks noChangeAspect="1"/>
          </p:cNvPicPr>
          <p:nvPr/>
        </p:nvPicPr>
        <p:blipFill>
          <a:blip r:embed="rId2"/>
          <a:stretch>
            <a:fillRect/>
          </a:stretch>
        </p:blipFill>
        <p:spPr>
          <a:xfrm>
            <a:off x="4448175" y="1057275"/>
            <a:ext cx="4657725" cy="2790825"/>
          </a:xfrm>
          <a:prstGeom prst="rect">
            <a:avLst/>
          </a:prstGeom>
        </p:spPr>
      </p:pic>
      <p:pic>
        <p:nvPicPr>
          <p:cNvPr id="10" name="Picture 9"/>
          <p:cNvPicPr>
            <a:picLocks noChangeAspect="1"/>
          </p:cNvPicPr>
          <p:nvPr/>
        </p:nvPicPr>
        <p:blipFill>
          <a:blip r:embed="rId3"/>
          <a:stretch>
            <a:fillRect/>
          </a:stretch>
        </p:blipFill>
        <p:spPr>
          <a:xfrm>
            <a:off x="3733800" y="990600"/>
            <a:ext cx="2238375" cy="1057275"/>
          </a:xfrm>
          <a:prstGeom prst="rect">
            <a:avLst/>
          </a:prstGeom>
        </p:spPr>
      </p:pic>
      <p:pic>
        <p:nvPicPr>
          <p:cNvPr id="11" name="Picture 10"/>
          <p:cNvPicPr>
            <a:picLocks noChangeAspect="1"/>
          </p:cNvPicPr>
          <p:nvPr/>
        </p:nvPicPr>
        <p:blipFill>
          <a:blip r:embed="rId4"/>
          <a:stretch>
            <a:fillRect/>
          </a:stretch>
        </p:blipFill>
        <p:spPr>
          <a:xfrm>
            <a:off x="4572000" y="3848100"/>
            <a:ext cx="4264704" cy="2705100"/>
          </a:xfrm>
          <a:prstGeom prst="rect">
            <a:avLst/>
          </a:prstGeom>
        </p:spPr>
      </p:pic>
      <p:sp>
        <p:nvSpPr>
          <p:cNvPr id="12" name="TextBox 11"/>
          <p:cNvSpPr txBox="1"/>
          <p:nvPr/>
        </p:nvSpPr>
        <p:spPr>
          <a:xfrm flipH="1">
            <a:off x="6613071" y="6600825"/>
            <a:ext cx="2280557" cy="307777"/>
          </a:xfrm>
          <a:prstGeom prst="rect">
            <a:avLst/>
          </a:prstGeom>
          <a:noFill/>
        </p:spPr>
        <p:txBody>
          <a:bodyPr wrap="square" rtlCol="0">
            <a:spAutoFit/>
          </a:bodyPr>
          <a:lstStyle/>
          <a:p>
            <a:r>
              <a:rPr lang="en-US" sz="1400" dirty="0" smtClean="0">
                <a:latin typeface="Times New Roman" panose="02020603050405020304" pitchFamily="18" charset="0"/>
                <a:cs typeface="Times New Roman" panose="02020603050405020304" pitchFamily="18" charset="0"/>
              </a:rPr>
              <a:t>Vanishing Gradient Problem</a:t>
            </a:r>
            <a:endParaRPr lang="en-IN" sz="14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733940665"/>
      </p:ext>
    </p:extLst>
  </p:cSld>
  <p:clrMapOvr>
    <a:masterClrMapping/>
  </p:clrMapOvr>
  <p:timing>
    <p:tnLst>
      <p:par>
        <p:cTn id="1" dur="indefinite" restart="never" nodeType="tmRoot"/>
      </p:par>
    </p:tnLst>
  </p:timing>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cap="small" dirty="0"/>
              <a:t>Vanishing Gradient problem</a:t>
            </a:r>
          </a:p>
        </p:txBody>
      </p:sp>
      <p:sp>
        <p:nvSpPr>
          <p:cNvPr id="3" name="Content Placeholder 2"/>
          <p:cNvSpPr>
            <a:spLocks noGrp="1"/>
          </p:cNvSpPr>
          <p:nvPr>
            <p:ph idx="1"/>
          </p:nvPr>
        </p:nvSpPr>
        <p:spPr/>
        <p:txBody>
          <a:bodyPr>
            <a:normAutofit/>
          </a:bodyPr>
          <a:lstStyle/>
          <a:p>
            <a:pPr algn="just"/>
            <a:r>
              <a:rPr lang="en-US" sz="2800" dirty="0"/>
              <a:t>Because of sigmoid activation function the derivative is </a:t>
            </a:r>
            <a:r>
              <a:rPr lang="en-US" sz="2800" b="1" i="1" dirty="0"/>
              <a:t>less than 1 </a:t>
            </a:r>
            <a:r>
              <a:rPr lang="en-US" sz="2800" dirty="0"/>
              <a:t>and </a:t>
            </a:r>
            <a:r>
              <a:rPr lang="en-US" sz="2800" i="1" dirty="0">
                <a:solidFill>
                  <a:srgbClr val="3116F6"/>
                </a:solidFill>
              </a:rPr>
              <a:t>when the derivatives are multiplied it gives a very small number</a:t>
            </a:r>
            <a:r>
              <a:rPr lang="en-US" sz="2800" dirty="0"/>
              <a:t> which ultimately changes the weight very less.</a:t>
            </a:r>
          </a:p>
          <a:p>
            <a:r>
              <a:rPr lang="en-US" sz="2800" i="1" dirty="0">
                <a:solidFill>
                  <a:srgbClr val="3116F6"/>
                </a:solidFill>
              </a:rPr>
              <a:t>Usually occurs when the derivative is less than 1.</a:t>
            </a:r>
          </a:p>
          <a:p>
            <a:r>
              <a:rPr lang="en-US" sz="2800" dirty="0"/>
              <a:t>In case of </a:t>
            </a:r>
            <a:r>
              <a:rPr lang="en-US" sz="2800" b="1" i="1" dirty="0">
                <a:solidFill>
                  <a:srgbClr val="3116F6"/>
                </a:solidFill>
              </a:rPr>
              <a:t>sigmoid and tanh activation </a:t>
            </a:r>
            <a:r>
              <a:rPr lang="en-US" sz="2800" dirty="0"/>
              <a:t>function it occurs frequently.</a:t>
            </a:r>
          </a:p>
          <a:p>
            <a:endParaRPr lang="en-US" dirty="0"/>
          </a:p>
          <a:p>
            <a:endParaRPr lang="en-US" dirty="0"/>
          </a:p>
        </p:txBody>
      </p:sp>
      <p:sp>
        <p:nvSpPr>
          <p:cNvPr id="4" name="Date Placeholder 3"/>
          <p:cNvSpPr>
            <a:spLocks noGrp="1"/>
          </p:cNvSpPr>
          <p:nvPr>
            <p:ph type="dt" sz="half" idx="10"/>
          </p:nvPr>
        </p:nvSpPr>
        <p:spPr/>
        <p:txBody>
          <a:bodyPr/>
          <a:lstStyle/>
          <a:p>
            <a:fld id="{E7067A60-51C7-4095-BFA9-1CE32DCBA06F}" type="datetime1">
              <a:rPr lang="en-US" smtClean="0"/>
              <a:pPr/>
              <a:t>2/9/2026</a:t>
            </a:fld>
            <a:endParaRPr lang="en-US" dirty="0"/>
          </a:p>
        </p:txBody>
      </p:sp>
      <p:sp>
        <p:nvSpPr>
          <p:cNvPr id="6" name="Slide Number Placeholder 5"/>
          <p:cNvSpPr>
            <a:spLocks noGrp="1"/>
          </p:cNvSpPr>
          <p:nvPr>
            <p:ph type="sldNum" sz="quarter" idx="12"/>
          </p:nvPr>
        </p:nvSpPr>
        <p:spPr/>
        <p:txBody>
          <a:bodyPr/>
          <a:lstStyle/>
          <a:p>
            <a:fld id="{A03BBF96-A7A5-4867-9A4A-2F26A3CC4EC3}" type="slidenum">
              <a:rPr lang="en-US" smtClean="0"/>
              <a:pPr/>
              <a:t>39</a:t>
            </a:fld>
            <a:endParaRPr lang="en-US" dirty="0"/>
          </a:p>
        </p:txBody>
      </p:sp>
      <p:sp>
        <p:nvSpPr>
          <p:cNvPr id="7" name="TextBox 6"/>
          <p:cNvSpPr txBox="1"/>
          <p:nvPr/>
        </p:nvSpPr>
        <p:spPr>
          <a:xfrm>
            <a:off x="0" y="0"/>
            <a:ext cx="4572000" cy="369332"/>
          </a:xfrm>
          <a:prstGeom prst="rect">
            <a:avLst/>
          </a:prstGeom>
          <a:noFill/>
        </p:spPr>
        <p:txBody>
          <a:bodyPr wrap="square" rtlCol="0">
            <a:spAutoFit/>
          </a:bodyPr>
          <a:lstStyle/>
          <a:p>
            <a:pPr algn="r"/>
            <a:r>
              <a:rPr lang="en-US" b="1" dirty="0">
                <a:solidFill>
                  <a:schemeClr val="bg1"/>
                </a:solidFill>
              </a:rPr>
              <a:t>Introduction to </a:t>
            </a:r>
            <a:r>
              <a:rPr lang="en-US" b="1" dirty="0" smtClean="0">
                <a:solidFill>
                  <a:schemeClr val="bg1"/>
                </a:solidFill>
              </a:rPr>
              <a:t>Deep Neural </a:t>
            </a:r>
            <a:r>
              <a:rPr lang="en-US" b="1" dirty="0">
                <a:solidFill>
                  <a:schemeClr val="bg1"/>
                </a:solidFill>
              </a:rPr>
              <a:t>Network</a:t>
            </a:r>
          </a:p>
        </p:txBody>
      </p:sp>
      <p:sp>
        <p:nvSpPr>
          <p:cNvPr id="8" name="Rectangle 2"/>
          <p:cNvSpPr>
            <a:spLocks noChangeArrowheads="1"/>
          </p:cNvSpPr>
          <p:nvPr/>
        </p:nvSpPr>
        <p:spPr bwMode="auto">
          <a:xfrm>
            <a:off x="0" y="0"/>
            <a:ext cx="91440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sp>
        <p:nvSpPr>
          <p:cNvPr id="9" name="Rectangle 2"/>
          <p:cNvSpPr>
            <a:spLocks noChangeArrowheads="1"/>
          </p:cNvSpPr>
          <p:nvPr/>
        </p:nvSpPr>
        <p:spPr bwMode="auto">
          <a:xfrm>
            <a:off x="0" y="0"/>
            <a:ext cx="91440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sp>
        <p:nvSpPr>
          <p:cNvPr id="11" name="Footer Placeholder 4">
            <a:extLst>
              <a:ext uri="{FF2B5EF4-FFF2-40B4-BE49-F238E27FC236}">
                <a16:creationId xmlns:a16="http://schemas.microsoft.com/office/drawing/2014/main" id="{CBB301ED-B8A4-4772-B559-A9E41E7472BD}"/>
              </a:ext>
            </a:extLst>
          </p:cNvPr>
          <p:cNvSpPr>
            <a:spLocks noGrp="1"/>
          </p:cNvSpPr>
          <p:nvPr>
            <p:ph type="ftr" sz="quarter" idx="11"/>
          </p:nvPr>
        </p:nvSpPr>
        <p:spPr>
          <a:xfrm>
            <a:off x="2286000" y="6629400"/>
            <a:ext cx="4136571" cy="228600"/>
          </a:xfrm>
        </p:spPr>
        <p:txBody>
          <a:bodyPr/>
          <a:lstStyle/>
          <a:p>
            <a:r>
              <a:rPr lang="en-US" dirty="0"/>
              <a:t>Dr. Sibarama Panigrahi, Dept. of CSE, NIT Rourkela</a:t>
            </a:r>
          </a:p>
        </p:txBody>
      </p:sp>
      <mc:AlternateContent xmlns:mc="http://schemas.openxmlformats.org/markup-compatibility/2006" xmlns:a14="http://schemas.microsoft.com/office/drawing/2010/main">
        <mc:Choice Requires="a14">
          <p:sp>
            <p:nvSpPr>
              <p:cNvPr id="5" name="Rectangle 4"/>
              <p:cNvSpPr/>
              <p:nvPr/>
            </p:nvSpPr>
            <p:spPr>
              <a:xfrm>
                <a:off x="762000" y="4724400"/>
                <a:ext cx="6926512" cy="987001"/>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f>
                        <m:fPr>
                          <m:ctrlPr>
                            <a:rPr lang="en-IN" sz="2800" i="1">
                              <a:latin typeface="Cambria Math" panose="02040503050406030204" pitchFamily="18" charset="0"/>
                            </a:rPr>
                          </m:ctrlPr>
                        </m:fPr>
                        <m:num>
                          <m:r>
                            <a:rPr lang="en-IN" sz="2800" i="1">
                              <a:latin typeface="Cambria Math" panose="02040503050406030204" pitchFamily="18" charset="0"/>
                            </a:rPr>
                            <m:t>𝑑𝐿</m:t>
                          </m:r>
                        </m:num>
                        <m:den>
                          <m:r>
                            <a:rPr lang="en-IN" sz="2800" i="1">
                              <a:latin typeface="Cambria Math" panose="02040503050406030204" pitchFamily="18" charset="0"/>
                            </a:rPr>
                            <m:t>𝑑𝑤</m:t>
                          </m:r>
                        </m:den>
                      </m:f>
                      <m:r>
                        <a:rPr lang="en-IN" sz="2800" i="0">
                          <a:latin typeface="Cambria Math" panose="02040503050406030204" pitchFamily="18" charset="0"/>
                        </a:rPr>
                        <m:t>=</m:t>
                      </m:r>
                      <m:f>
                        <m:fPr>
                          <m:ctrlPr>
                            <a:rPr lang="en-IN" sz="2800" i="1">
                              <a:latin typeface="Cambria Math" panose="02040503050406030204" pitchFamily="18" charset="0"/>
                            </a:rPr>
                          </m:ctrlPr>
                        </m:fPr>
                        <m:num>
                          <m:r>
                            <a:rPr lang="en-IN" sz="2800" i="1">
                              <a:latin typeface="Cambria Math" panose="02040503050406030204" pitchFamily="18" charset="0"/>
                            </a:rPr>
                            <m:t>𝑑𝐿</m:t>
                          </m:r>
                        </m:num>
                        <m:den>
                          <m:r>
                            <a:rPr lang="en-IN" sz="2800" i="1">
                              <a:latin typeface="Cambria Math" panose="02040503050406030204" pitchFamily="18" charset="0"/>
                            </a:rPr>
                            <m:t>𝑑</m:t>
                          </m:r>
                          <m:sSub>
                            <m:sSubPr>
                              <m:ctrlPr>
                                <a:rPr lang="en-IN" sz="2800" i="1">
                                  <a:latin typeface="Cambria Math" panose="02040503050406030204" pitchFamily="18" charset="0"/>
                                </a:rPr>
                              </m:ctrlPr>
                            </m:sSubPr>
                            <m:e>
                              <m:r>
                                <a:rPr lang="en-IN" sz="2800" i="1">
                                  <a:latin typeface="Cambria Math" panose="02040503050406030204" pitchFamily="18" charset="0"/>
                                </a:rPr>
                                <m:t>𝑓</m:t>
                              </m:r>
                            </m:e>
                            <m:sub>
                              <m:r>
                                <a:rPr lang="en-IN" sz="2800" i="0">
                                  <a:latin typeface="Cambria Math" panose="02040503050406030204" pitchFamily="18" charset="0"/>
                                </a:rPr>
                                <m:t>1</m:t>
                              </m:r>
                            </m:sub>
                          </m:sSub>
                        </m:den>
                      </m:f>
                      <m:r>
                        <a:rPr lang="en-IN" sz="2800" i="0">
                          <a:latin typeface="Cambria Math" panose="02040503050406030204" pitchFamily="18" charset="0"/>
                        </a:rPr>
                        <m:t>×</m:t>
                      </m:r>
                      <m:f>
                        <m:fPr>
                          <m:ctrlPr>
                            <a:rPr lang="en-IN" sz="2800" i="1">
                              <a:latin typeface="Cambria Math" panose="02040503050406030204" pitchFamily="18" charset="0"/>
                            </a:rPr>
                          </m:ctrlPr>
                        </m:fPr>
                        <m:num>
                          <m:r>
                            <a:rPr lang="en-IN" sz="2800" i="1">
                              <a:latin typeface="Cambria Math" panose="02040503050406030204" pitchFamily="18" charset="0"/>
                            </a:rPr>
                            <m:t>𝑑</m:t>
                          </m:r>
                          <m:sSub>
                            <m:sSubPr>
                              <m:ctrlPr>
                                <a:rPr lang="en-IN" sz="2800" i="1">
                                  <a:latin typeface="Cambria Math" panose="02040503050406030204" pitchFamily="18" charset="0"/>
                                </a:rPr>
                              </m:ctrlPr>
                            </m:sSubPr>
                            <m:e>
                              <m:r>
                                <a:rPr lang="en-IN" sz="2800" i="1">
                                  <a:latin typeface="Cambria Math" panose="02040503050406030204" pitchFamily="18" charset="0"/>
                                </a:rPr>
                                <m:t>𝑓</m:t>
                              </m:r>
                            </m:e>
                            <m:sub>
                              <m:r>
                                <a:rPr lang="en-IN" sz="2800" i="0">
                                  <a:latin typeface="Cambria Math" panose="02040503050406030204" pitchFamily="18" charset="0"/>
                                </a:rPr>
                                <m:t>1</m:t>
                              </m:r>
                            </m:sub>
                          </m:sSub>
                        </m:num>
                        <m:den>
                          <m:r>
                            <a:rPr lang="en-IN" sz="2800" i="1">
                              <a:latin typeface="Cambria Math" panose="02040503050406030204" pitchFamily="18" charset="0"/>
                            </a:rPr>
                            <m:t>𝑑</m:t>
                          </m:r>
                          <m:sSub>
                            <m:sSubPr>
                              <m:ctrlPr>
                                <a:rPr lang="en-IN" sz="2800" i="1">
                                  <a:latin typeface="Cambria Math" panose="02040503050406030204" pitchFamily="18" charset="0"/>
                                </a:rPr>
                              </m:ctrlPr>
                            </m:sSubPr>
                            <m:e>
                              <m:r>
                                <a:rPr lang="en-IN" sz="2800" i="1">
                                  <a:latin typeface="Cambria Math" panose="02040503050406030204" pitchFamily="18" charset="0"/>
                                </a:rPr>
                                <m:t>𝑓</m:t>
                              </m:r>
                            </m:e>
                            <m:sub>
                              <m:r>
                                <a:rPr lang="en-IN" sz="2800" i="0">
                                  <a:latin typeface="Cambria Math" panose="02040503050406030204" pitchFamily="18" charset="0"/>
                                </a:rPr>
                                <m:t>2</m:t>
                              </m:r>
                            </m:sub>
                          </m:sSub>
                        </m:den>
                      </m:f>
                      <m:r>
                        <a:rPr lang="en-IN" sz="2800" i="0">
                          <a:latin typeface="Cambria Math" panose="02040503050406030204" pitchFamily="18" charset="0"/>
                        </a:rPr>
                        <m:t>×</m:t>
                      </m:r>
                      <m:f>
                        <m:fPr>
                          <m:ctrlPr>
                            <a:rPr lang="en-IN" sz="2800" i="1">
                              <a:latin typeface="Cambria Math" panose="02040503050406030204" pitchFamily="18" charset="0"/>
                            </a:rPr>
                          </m:ctrlPr>
                        </m:fPr>
                        <m:num>
                          <m:r>
                            <a:rPr lang="en-IN" sz="2800" i="1">
                              <a:latin typeface="Cambria Math" panose="02040503050406030204" pitchFamily="18" charset="0"/>
                            </a:rPr>
                            <m:t>𝑑</m:t>
                          </m:r>
                          <m:sSub>
                            <m:sSubPr>
                              <m:ctrlPr>
                                <a:rPr lang="en-IN" sz="2800" i="1">
                                  <a:latin typeface="Cambria Math" panose="02040503050406030204" pitchFamily="18" charset="0"/>
                                </a:rPr>
                              </m:ctrlPr>
                            </m:sSubPr>
                            <m:e>
                              <m:r>
                                <a:rPr lang="en-IN" sz="2800" i="1">
                                  <a:latin typeface="Cambria Math" panose="02040503050406030204" pitchFamily="18" charset="0"/>
                                </a:rPr>
                                <m:t>𝑓</m:t>
                              </m:r>
                            </m:e>
                            <m:sub>
                              <m:r>
                                <a:rPr lang="en-IN" sz="2800" i="0">
                                  <a:latin typeface="Cambria Math" panose="02040503050406030204" pitchFamily="18" charset="0"/>
                                </a:rPr>
                                <m:t>2</m:t>
                              </m:r>
                            </m:sub>
                          </m:sSub>
                        </m:num>
                        <m:den>
                          <m:r>
                            <a:rPr lang="en-IN" sz="2800" i="1">
                              <a:latin typeface="Cambria Math" panose="02040503050406030204" pitchFamily="18" charset="0"/>
                            </a:rPr>
                            <m:t>𝑑</m:t>
                          </m:r>
                          <m:sSub>
                            <m:sSubPr>
                              <m:ctrlPr>
                                <a:rPr lang="en-IN" sz="2800" i="1">
                                  <a:latin typeface="Cambria Math" panose="02040503050406030204" pitchFamily="18" charset="0"/>
                                </a:rPr>
                              </m:ctrlPr>
                            </m:sSubPr>
                            <m:e>
                              <m:r>
                                <a:rPr lang="en-IN" sz="2800" i="1">
                                  <a:latin typeface="Cambria Math" panose="02040503050406030204" pitchFamily="18" charset="0"/>
                                </a:rPr>
                                <m:t>𝑓</m:t>
                              </m:r>
                            </m:e>
                            <m:sub>
                              <m:r>
                                <a:rPr lang="en-IN" sz="2800" i="0">
                                  <a:latin typeface="Cambria Math" panose="02040503050406030204" pitchFamily="18" charset="0"/>
                                </a:rPr>
                                <m:t>3</m:t>
                              </m:r>
                            </m:sub>
                          </m:sSub>
                        </m:den>
                      </m:f>
                      <m:r>
                        <a:rPr lang="en-IN" sz="2800" i="0">
                          <a:latin typeface="Cambria Math" panose="02040503050406030204" pitchFamily="18" charset="0"/>
                        </a:rPr>
                        <m:t>×………………×</m:t>
                      </m:r>
                      <m:f>
                        <m:fPr>
                          <m:ctrlPr>
                            <a:rPr lang="en-IN" sz="2800" i="1">
                              <a:latin typeface="Cambria Math" panose="02040503050406030204" pitchFamily="18" charset="0"/>
                            </a:rPr>
                          </m:ctrlPr>
                        </m:fPr>
                        <m:num>
                          <m:r>
                            <a:rPr lang="en-IN" sz="2800" i="1">
                              <a:latin typeface="Cambria Math" panose="02040503050406030204" pitchFamily="18" charset="0"/>
                            </a:rPr>
                            <m:t>𝑑</m:t>
                          </m:r>
                          <m:sSub>
                            <m:sSubPr>
                              <m:ctrlPr>
                                <a:rPr lang="en-IN" sz="2800" i="1">
                                  <a:latin typeface="Cambria Math" panose="02040503050406030204" pitchFamily="18" charset="0"/>
                                </a:rPr>
                              </m:ctrlPr>
                            </m:sSubPr>
                            <m:e>
                              <m:r>
                                <a:rPr lang="en-IN" sz="2800" i="1">
                                  <a:latin typeface="Cambria Math" panose="02040503050406030204" pitchFamily="18" charset="0"/>
                                </a:rPr>
                                <m:t>𝑓</m:t>
                              </m:r>
                            </m:e>
                            <m:sub>
                              <m:r>
                                <a:rPr lang="en-IN" sz="2800" i="1">
                                  <a:latin typeface="Cambria Math" panose="02040503050406030204" pitchFamily="18" charset="0"/>
                                </a:rPr>
                                <m:t>𝑛</m:t>
                              </m:r>
                            </m:sub>
                          </m:sSub>
                        </m:num>
                        <m:den>
                          <m:r>
                            <a:rPr lang="en-IN" sz="2800" i="1">
                              <a:latin typeface="Cambria Math" panose="02040503050406030204" pitchFamily="18" charset="0"/>
                            </a:rPr>
                            <m:t>𝑑𝑤</m:t>
                          </m:r>
                        </m:den>
                      </m:f>
                    </m:oMath>
                  </m:oMathPara>
                </a14:m>
                <a:endParaRPr lang="en-IN" sz="2800" dirty="0"/>
              </a:p>
            </p:txBody>
          </p:sp>
        </mc:Choice>
        <mc:Fallback xmlns="">
          <p:sp>
            <p:nvSpPr>
              <p:cNvPr id="5" name="Rectangle 4"/>
              <p:cNvSpPr>
                <a:spLocks noRot="1" noChangeAspect="1" noMove="1" noResize="1" noEditPoints="1" noAdjustHandles="1" noChangeArrowheads="1" noChangeShapeType="1" noTextEdit="1"/>
              </p:cNvSpPr>
              <p:nvPr/>
            </p:nvSpPr>
            <p:spPr>
              <a:xfrm>
                <a:off x="762000" y="4724400"/>
                <a:ext cx="6926512" cy="987001"/>
              </a:xfrm>
              <a:prstGeom prst="rect">
                <a:avLst/>
              </a:prstGeom>
              <a:blipFill rotWithShape="0">
                <a:blip r:embed="rId2"/>
                <a:stretch>
                  <a:fillRect/>
                </a:stretch>
              </a:blipFill>
            </p:spPr>
            <p:txBody>
              <a:bodyPr/>
              <a:lstStyle/>
              <a:p>
                <a:r>
                  <a:rPr lang="en-IN">
                    <a:noFill/>
                  </a:rPr>
                  <a:t> </a:t>
                </a:r>
              </a:p>
            </p:txBody>
          </p:sp>
        </mc:Fallback>
      </mc:AlternateContent>
      <p:sp>
        <p:nvSpPr>
          <p:cNvPr id="12" name="TextBox 11"/>
          <p:cNvSpPr txBox="1"/>
          <p:nvPr/>
        </p:nvSpPr>
        <p:spPr>
          <a:xfrm flipH="1">
            <a:off x="6477000" y="6600824"/>
            <a:ext cx="2797629" cy="307777"/>
          </a:xfrm>
          <a:prstGeom prst="rect">
            <a:avLst/>
          </a:prstGeom>
          <a:noFill/>
        </p:spPr>
        <p:txBody>
          <a:bodyPr wrap="square" rtlCol="0">
            <a:spAutoFit/>
          </a:bodyPr>
          <a:lstStyle/>
          <a:p>
            <a:r>
              <a:rPr lang="en-US" sz="1400" dirty="0" err="1" smtClean="0">
                <a:latin typeface="Times New Roman" panose="02020603050405020304" pitchFamily="18" charset="0"/>
                <a:cs typeface="Times New Roman" panose="02020603050405020304" pitchFamily="18" charset="0"/>
              </a:rPr>
              <a:t>ReLU</a:t>
            </a:r>
            <a:r>
              <a:rPr lang="en-US" sz="1400" dirty="0" smtClean="0">
                <a:latin typeface="Times New Roman" panose="02020603050405020304" pitchFamily="18" charset="0"/>
                <a:cs typeface="Times New Roman" panose="02020603050405020304" pitchFamily="18" charset="0"/>
              </a:rPr>
              <a:t> Activation Function</a:t>
            </a:r>
            <a:endParaRPr lang="en-IN" sz="14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285520751"/>
      </p:ext>
    </p:extLst>
  </p:cSld>
  <p:clrMapOvr>
    <a:masterClrMapping/>
  </p:clrMapOvr>
  <p:timing>
    <p:tnLst>
      <p:par>
        <p:cTn id="1" dur="indefinite" restart="never" nodeType="tmRoot"/>
      </p:par>
    </p:tnLst>
  </p:timing>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dirty="0" err="1" smtClean="0"/>
              <a:t>ReLU</a:t>
            </a:r>
            <a:r>
              <a:rPr lang="en-IN" dirty="0" smtClean="0"/>
              <a:t> Activation Function</a:t>
            </a:r>
            <a:endParaRPr lang="en-IN" dirty="0"/>
          </a:p>
        </p:txBody>
      </p:sp>
      <p:sp>
        <p:nvSpPr>
          <p:cNvPr id="3" name="Content Placeholder 2"/>
          <p:cNvSpPr>
            <a:spLocks noGrp="1"/>
          </p:cNvSpPr>
          <p:nvPr>
            <p:ph idx="1"/>
          </p:nvPr>
        </p:nvSpPr>
        <p:spPr/>
        <p:txBody>
          <a:bodyPr/>
          <a:lstStyle/>
          <a:p>
            <a:r>
              <a:rPr lang="en-IN" dirty="0"/>
              <a:t>f</a:t>
            </a:r>
            <a:r>
              <a:rPr lang="en-IN" dirty="0" smtClean="0"/>
              <a:t>(x)= x,   when x&gt;0</a:t>
            </a:r>
          </a:p>
          <a:p>
            <a:pPr marL="336550" indent="0">
              <a:buNone/>
            </a:pPr>
            <a:r>
              <a:rPr lang="en-IN" dirty="0" smtClean="0"/>
              <a:t>         = 0,   when x&lt;=0</a:t>
            </a:r>
          </a:p>
          <a:p>
            <a:r>
              <a:rPr lang="en-IN" dirty="0" smtClean="0"/>
              <a:t>Avoids Vanishing Gradient Problem.</a:t>
            </a:r>
          </a:p>
          <a:p>
            <a:r>
              <a:rPr lang="en-IN" dirty="0" smtClean="0"/>
              <a:t>Derivative is Simple </a:t>
            </a:r>
          </a:p>
          <a:p>
            <a:pPr lvl="1"/>
            <a:r>
              <a:rPr lang="en-IN" dirty="0" smtClean="0"/>
              <a:t>f’(x)= 1  for x&gt;=0</a:t>
            </a:r>
          </a:p>
          <a:p>
            <a:pPr marL="685800" lvl="1" indent="0">
              <a:buNone/>
            </a:pPr>
            <a:r>
              <a:rPr lang="en-IN" dirty="0"/>
              <a:t> </a:t>
            </a:r>
            <a:r>
              <a:rPr lang="en-IN" dirty="0" smtClean="0"/>
              <a:t>          = 0  for x&lt;0</a:t>
            </a:r>
          </a:p>
          <a:p>
            <a:r>
              <a:rPr lang="en-IN" dirty="0" smtClean="0"/>
              <a:t>Problem:</a:t>
            </a:r>
          </a:p>
          <a:p>
            <a:pPr lvl="1"/>
            <a:r>
              <a:rPr lang="en-IN" dirty="0" smtClean="0"/>
              <a:t>Dead </a:t>
            </a:r>
            <a:r>
              <a:rPr lang="en-IN" dirty="0" err="1" smtClean="0"/>
              <a:t>ReLU</a:t>
            </a:r>
            <a:r>
              <a:rPr lang="en-IN" dirty="0" smtClean="0"/>
              <a:t> Units</a:t>
            </a:r>
            <a:endParaRPr lang="en-IN" dirty="0"/>
          </a:p>
        </p:txBody>
      </p:sp>
      <p:sp>
        <p:nvSpPr>
          <p:cNvPr id="4" name="Date Placeholder 3"/>
          <p:cNvSpPr>
            <a:spLocks noGrp="1"/>
          </p:cNvSpPr>
          <p:nvPr>
            <p:ph type="dt" sz="half" idx="10"/>
          </p:nvPr>
        </p:nvSpPr>
        <p:spPr/>
        <p:txBody>
          <a:bodyPr/>
          <a:lstStyle/>
          <a:p>
            <a:fld id="{E7067A60-51C7-4095-BFA9-1CE32DCBA06F}" type="datetime1">
              <a:rPr lang="en-US" smtClean="0"/>
              <a:pPr/>
              <a:t>2/9/2026</a:t>
            </a:fld>
            <a:endParaRPr lang="en-US" dirty="0"/>
          </a:p>
        </p:txBody>
      </p:sp>
      <p:sp>
        <p:nvSpPr>
          <p:cNvPr id="5" name="Footer Placeholder 4"/>
          <p:cNvSpPr>
            <a:spLocks noGrp="1"/>
          </p:cNvSpPr>
          <p:nvPr>
            <p:ph type="ftr" sz="quarter" idx="11"/>
          </p:nvPr>
        </p:nvSpPr>
        <p:spPr/>
        <p:txBody>
          <a:bodyPr/>
          <a:lstStyle/>
          <a:p>
            <a:r>
              <a:rPr lang="en-US" dirty="0"/>
              <a:t>Dr. Sibarama Panigrahi, Dept. of CSE, NIT Rourkela</a:t>
            </a:r>
          </a:p>
        </p:txBody>
      </p:sp>
      <p:sp>
        <p:nvSpPr>
          <p:cNvPr id="6" name="Slide Number Placeholder 5"/>
          <p:cNvSpPr>
            <a:spLocks noGrp="1"/>
          </p:cNvSpPr>
          <p:nvPr>
            <p:ph type="sldNum" sz="quarter" idx="12"/>
          </p:nvPr>
        </p:nvSpPr>
        <p:spPr>
          <a:xfrm>
            <a:off x="6476998" y="6629400"/>
            <a:ext cx="2667001" cy="228600"/>
          </a:xfrm>
        </p:spPr>
        <p:txBody>
          <a:bodyPr/>
          <a:lstStyle/>
          <a:p>
            <a:fld id="{A03BBF96-A7A5-4867-9A4A-2F26A3CC4EC3}" type="slidenum">
              <a:rPr lang="en-US" smtClean="0"/>
              <a:pPr/>
              <a:t>40</a:t>
            </a:fld>
            <a:endParaRPr lang="en-US" dirty="0"/>
          </a:p>
        </p:txBody>
      </p:sp>
      <p:sp>
        <p:nvSpPr>
          <p:cNvPr id="7" name="TextBox 6"/>
          <p:cNvSpPr txBox="1"/>
          <p:nvPr/>
        </p:nvSpPr>
        <p:spPr>
          <a:xfrm>
            <a:off x="0" y="0"/>
            <a:ext cx="4572000" cy="369332"/>
          </a:xfrm>
          <a:prstGeom prst="rect">
            <a:avLst/>
          </a:prstGeom>
          <a:noFill/>
        </p:spPr>
        <p:txBody>
          <a:bodyPr wrap="square" rtlCol="0">
            <a:spAutoFit/>
          </a:bodyPr>
          <a:lstStyle/>
          <a:p>
            <a:pPr algn="r"/>
            <a:r>
              <a:rPr lang="en-US" b="1" dirty="0">
                <a:solidFill>
                  <a:schemeClr val="bg1"/>
                </a:solidFill>
              </a:rPr>
              <a:t>Introduction to Deep Neural Network</a:t>
            </a:r>
          </a:p>
        </p:txBody>
      </p:sp>
      <p:pic>
        <p:nvPicPr>
          <p:cNvPr id="9" name="Picture 8"/>
          <p:cNvPicPr>
            <a:picLocks noChangeAspect="1"/>
          </p:cNvPicPr>
          <p:nvPr/>
        </p:nvPicPr>
        <p:blipFill>
          <a:blip r:embed="rId2"/>
          <a:stretch>
            <a:fillRect/>
          </a:stretch>
        </p:blipFill>
        <p:spPr>
          <a:xfrm>
            <a:off x="4724400" y="3028950"/>
            <a:ext cx="4371975" cy="3600450"/>
          </a:xfrm>
          <a:prstGeom prst="rect">
            <a:avLst/>
          </a:prstGeom>
        </p:spPr>
      </p:pic>
      <p:pic>
        <p:nvPicPr>
          <p:cNvPr id="10" name="Picture 9"/>
          <p:cNvPicPr>
            <a:picLocks noChangeAspect="1"/>
          </p:cNvPicPr>
          <p:nvPr/>
        </p:nvPicPr>
        <p:blipFill>
          <a:blip r:embed="rId3"/>
          <a:stretch>
            <a:fillRect/>
          </a:stretch>
        </p:blipFill>
        <p:spPr>
          <a:xfrm>
            <a:off x="4544786" y="3048000"/>
            <a:ext cx="2133600" cy="533400"/>
          </a:xfrm>
          <a:prstGeom prst="rect">
            <a:avLst/>
          </a:prstGeom>
        </p:spPr>
      </p:pic>
      <p:sp>
        <p:nvSpPr>
          <p:cNvPr id="11" name="TextBox 10"/>
          <p:cNvSpPr txBox="1"/>
          <p:nvPr/>
        </p:nvSpPr>
        <p:spPr>
          <a:xfrm flipH="1">
            <a:off x="6476999" y="6600825"/>
            <a:ext cx="2416629" cy="307777"/>
          </a:xfrm>
          <a:prstGeom prst="rect">
            <a:avLst/>
          </a:prstGeom>
          <a:noFill/>
        </p:spPr>
        <p:txBody>
          <a:bodyPr wrap="square" rtlCol="0">
            <a:spAutoFit/>
          </a:bodyPr>
          <a:lstStyle/>
          <a:p>
            <a:r>
              <a:rPr lang="en-US" sz="1400" dirty="0" smtClean="0">
                <a:latin typeface="Times New Roman" panose="02020603050405020304" pitchFamily="18" charset="0"/>
                <a:cs typeface="Times New Roman" panose="02020603050405020304" pitchFamily="18" charset="0"/>
              </a:rPr>
              <a:t>Leaky </a:t>
            </a:r>
            <a:r>
              <a:rPr lang="en-US" sz="1400" dirty="0" err="1" smtClean="0">
                <a:latin typeface="Times New Roman" panose="02020603050405020304" pitchFamily="18" charset="0"/>
                <a:cs typeface="Times New Roman" panose="02020603050405020304" pitchFamily="18" charset="0"/>
              </a:rPr>
              <a:t>Relu</a:t>
            </a:r>
            <a:r>
              <a:rPr lang="en-US" sz="1400" dirty="0" smtClean="0">
                <a:latin typeface="Times New Roman" panose="02020603050405020304" pitchFamily="18" charset="0"/>
                <a:cs typeface="Times New Roman" panose="02020603050405020304" pitchFamily="18" charset="0"/>
              </a:rPr>
              <a:t> Act Fun</a:t>
            </a:r>
            <a:endParaRPr lang="en-IN" sz="14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289664362"/>
      </p:ext>
    </p:extLst>
  </p:cSld>
  <p:clrMapOvr>
    <a:masterClrMapping/>
  </p:clrMapOvr>
  <p:timing>
    <p:tnLst>
      <p:par>
        <p:cTn id="1" dur="indefinite" restart="never" nodeType="tmRoot"/>
      </p:par>
    </p:tnLst>
  </p:timing>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dirty="0" smtClean="0"/>
              <a:t>Leaky </a:t>
            </a:r>
            <a:r>
              <a:rPr lang="en-IN" dirty="0" err="1" smtClean="0"/>
              <a:t>ReLU</a:t>
            </a:r>
            <a:r>
              <a:rPr lang="en-IN" dirty="0" smtClean="0"/>
              <a:t> Activation Function</a:t>
            </a:r>
            <a:endParaRPr lang="en-IN" dirty="0"/>
          </a:p>
        </p:txBody>
      </p:sp>
      <p:sp>
        <p:nvSpPr>
          <p:cNvPr id="4" name="Date Placeholder 3"/>
          <p:cNvSpPr>
            <a:spLocks noGrp="1"/>
          </p:cNvSpPr>
          <p:nvPr>
            <p:ph type="dt" sz="half" idx="10"/>
          </p:nvPr>
        </p:nvSpPr>
        <p:spPr/>
        <p:txBody>
          <a:bodyPr/>
          <a:lstStyle/>
          <a:p>
            <a:fld id="{E7067A60-51C7-4095-BFA9-1CE32DCBA06F}" type="datetime1">
              <a:rPr lang="en-US" smtClean="0"/>
              <a:pPr/>
              <a:t>2/9/2026</a:t>
            </a:fld>
            <a:endParaRPr lang="en-US" dirty="0"/>
          </a:p>
        </p:txBody>
      </p:sp>
      <p:sp>
        <p:nvSpPr>
          <p:cNvPr id="5" name="Footer Placeholder 4"/>
          <p:cNvSpPr>
            <a:spLocks noGrp="1"/>
          </p:cNvSpPr>
          <p:nvPr>
            <p:ph type="ftr" sz="quarter" idx="11"/>
          </p:nvPr>
        </p:nvSpPr>
        <p:spPr/>
        <p:txBody>
          <a:bodyPr/>
          <a:lstStyle/>
          <a:p>
            <a:r>
              <a:rPr lang="en-US" dirty="0"/>
              <a:t>Dr. Sibarama Panigrahi, Dept. of CSE, NIT Rourkela</a:t>
            </a:r>
          </a:p>
        </p:txBody>
      </p:sp>
      <p:sp>
        <p:nvSpPr>
          <p:cNvPr id="6" name="Slide Number Placeholder 5"/>
          <p:cNvSpPr>
            <a:spLocks noGrp="1"/>
          </p:cNvSpPr>
          <p:nvPr>
            <p:ph type="sldNum" sz="quarter" idx="12"/>
          </p:nvPr>
        </p:nvSpPr>
        <p:spPr>
          <a:xfrm>
            <a:off x="6400798" y="6629400"/>
            <a:ext cx="2743202" cy="228600"/>
          </a:xfrm>
        </p:spPr>
        <p:txBody>
          <a:bodyPr/>
          <a:lstStyle/>
          <a:p>
            <a:fld id="{A03BBF96-A7A5-4867-9A4A-2F26A3CC4EC3}" type="slidenum">
              <a:rPr lang="en-US" smtClean="0"/>
              <a:pPr/>
              <a:t>41</a:t>
            </a:fld>
            <a:endParaRPr lang="en-US" dirty="0"/>
          </a:p>
        </p:txBody>
      </p:sp>
      <p:sp>
        <p:nvSpPr>
          <p:cNvPr id="7" name="TextBox 6"/>
          <p:cNvSpPr txBox="1"/>
          <p:nvPr/>
        </p:nvSpPr>
        <p:spPr>
          <a:xfrm>
            <a:off x="0" y="0"/>
            <a:ext cx="4572000" cy="369332"/>
          </a:xfrm>
          <a:prstGeom prst="rect">
            <a:avLst/>
          </a:prstGeom>
          <a:noFill/>
        </p:spPr>
        <p:txBody>
          <a:bodyPr wrap="square" rtlCol="0">
            <a:spAutoFit/>
          </a:bodyPr>
          <a:lstStyle/>
          <a:p>
            <a:pPr algn="r"/>
            <a:r>
              <a:rPr lang="en-US" b="1" dirty="0">
                <a:solidFill>
                  <a:schemeClr val="bg1"/>
                </a:solidFill>
              </a:rPr>
              <a:t>Introduction to Deep Neural Network</a:t>
            </a:r>
          </a:p>
        </p:txBody>
      </p:sp>
      <p:pic>
        <p:nvPicPr>
          <p:cNvPr id="8" name="Picture 7"/>
          <p:cNvPicPr>
            <a:picLocks noChangeAspect="1"/>
          </p:cNvPicPr>
          <p:nvPr/>
        </p:nvPicPr>
        <p:blipFill>
          <a:blip r:embed="rId2"/>
          <a:stretch>
            <a:fillRect/>
          </a:stretch>
        </p:blipFill>
        <p:spPr>
          <a:xfrm>
            <a:off x="4724400" y="3200400"/>
            <a:ext cx="4143375" cy="3362325"/>
          </a:xfrm>
          <a:prstGeom prst="rect">
            <a:avLst/>
          </a:prstGeom>
        </p:spPr>
      </p:pic>
      <p:sp>
        <p:nvSpPr>
          <p:cNvPr id="10" name="Content Placeholder 9"/>
          <p:cNvSpPr>
            <a:spLocks noGrp="1"/>
          </p:cNvSpPr>
          <p:nvPr>
            <p:ph idx="1"/>
          </p:nvPr>
        </p:nvSpPr>
        <p:spPr>
          <a:xfrm>
            <a:off x="0" y="1066800"/>
            <a:ext cx="9144000" cy="5483423"/>
          </a:xfrm>
        </p:spPr>
        <p:txBody>
          <a:bodyPr>
            <a:normAutofit lnSpcReduction="10000"/>
          </a:bodyPr>
          <a:lstStyle/>
          <a:p>
            <a:r>
              <a:rPr lang="en-IN" dirty="0"/>
              <a:t>f(x)= x,   </a:t>
            </a:r>
            <a:r>
              <a:rPr lang="en-IN" dirty="0" smtClean="0"/>
              <a:t>   when </a:t>
            </a:r>
            <a:r>
              <a:rPr lang="en-IN" dirty="0"/>
              <a:t>x&gt;0</a:t>
            </a:r>
          </a:p>
          <a:p>
            <a:pPr marL="336550" indent="0">
              <a:buNone/>
            </a:pPr>
            <a:r>
              <a:rPr lang="en-IN" dirty="0"/>
              <a:t>         = </a:t>
            </a:r>
            <a:r>
              <a:rPr lang="en-IN" dirty="0" smtClean="0"/>
              <a:t>0.1x,   </a:t>
            </a:r>
            <a:r>
              <a:rPr lang="en-IN" dirty="0"/>
              <a:t>when x&lt;=0</a:t>
            </a:r>
          </a:p>
          <a:p>
            <a:r>
              <a:rPr lang="en-US" dirty="0" smtClean="0"/>
              <a:t>The </a:t>
            </a:r>
            <a:r>
              <a:rPr lang="en-US" dirty="0"/>
              <a:t>advantages of Leaky </a:t>
            </a:r>
            <a:r>
              <a:rPr lang="en-US" dirty="0" err="1"/>
              <a:t>ReLU</a:t>
            </a:r>
            <a:r>
              <a:rPr lang="en-US" dirty="0"/>
              <a:t> are same as that of </a:t>
            </a:r>
            <a:r>
              <a:rPr lang="en-US" dirty="0" err="1" smtClean="0"/>
              <a:t>ReLU</a:t>
            </a:r>
            <a:r>
              <a:rPr lang="en-US" dirty="0" smtClean="0"/>
              <a:t>.</a:t>
            </a:r>
          </a:p>
          <a:p>
            <a:r>
              <a:rPr lang="en-US" dirty="0" smtClean="0"/>
              <a:t>In addition, it enables </a:t>
            </a:r>
            <a:r>
              <a:rPr lang="en-US" dirty="0" err="1"/>
              <a:t>B</a:t>
            </a:r>
            <a:r>
              <a:rPr lang="en-US" dirty="0" err="1" smtClean="0"/>
              <a:t>ackpropagation</a:t>
            </a:r>
            <a:r>
              <a:rPr lang="en-US" dirty="0"/>
              <a:t>, even for negative </a:t>
            </a:r>
            <a:r>
              <a:rPr lang="en-US" dirty="0" smtClean="0"/>
              <a:t>input </a:t>
            </a:r>
            <a:r>
              <a:rPr lang="en-US" dirty="0"/>
              <a:t>values</a:t>
            </a:r>
            <a:r>
              <a:rPr lang="en-US" dirty="0" smtClean="0"/>
              <a:t>.</a:t>
            </a:r>
          </a:p>
          <a:p>
            <a:r>
              <a:rPr lang="en-US" b="1" i="1" dirty="0" smtClean="0">
                <a:solidFill>
                  <a:srgbClr val="3116F6"/>
                </a:solidFill>
              </a:rPr>
              <a:t>Avoids Dead </a:t>
            </a:r>
            <a:r>
              <a:rPr lang="en-US" b="1" i="1" dirty="0" err="1" smtClean="0">
                <a:solidFill>
                  <a:srgbClr val="3116F6"/>
                </a:solidFill>
              </a:rPr>
              <a:t>ReLU</a:t>
            </a:r>
            <a:endParaRPr lang="en-US" b="1" i="1" dirty="0">
              <a:solidFill>
                <a:srgbClr val="3116F6"/>
              </a:solidFill>
            </a:endParaRPr>
          </a:p>
          <a:p>
            <a:r>
              <a:rPr lang="en-US" dirty="0" smtClean="0"/>
              <a:t>Simple Derivative</a:t>
            </a:r>
            <a:r>
              <a:rPr lang="en-US" dirty="0"/>
              <a:t> </a:t>
            </a:r>
            <a:endParaRPr lang="en-US" dirty="0" smtClean="0"/>
          </a:p>
          <a:p>
            <a:pPr lvl="1"/>
            <a:r>
              <a:rPr lang="en-IN" dirty="0">
                <a:solidFill>
                  <a:srgbClr val="3116F6"/>
                </a:solidFill>
              </a:rPr>
              <a:t>f’(x)= 1  </a:t>
            </a:r>
            <a:r>
              <a:rPr lang="en-IN" dirty="0" smtClean="0">
                <a:solidFill>
                  <a:srgbClr val="3116F6"/>
                </a:solidFill>
              </a:rPr>
              <a:t>    for </a:t>
            </a:r>
            <a:r>
              <a:rPr lang="en-IN" dirty="0">
                <a:solidFill>
                  <a:srgbClr val="3116F6"/>
                </a:solidFill>
              </a:rPr>
              <a:t>x&gt;=0</a:t>
            </a:r>
          </a:p>
          <a:p>
            <a:pPr marL="685800" lvl="1" indent="0">
              <a:buNone/>
            </a:pPr>
            <a:r>
              <a:rPr lang="en-IN" dirty="0">
                <a:solidFill>
                  <a:srgbClr val="3116F6"/>
                </a:solidFill>
              </a:rPr>
              <a:t>           = </a:t>
            </a:r>
            <a:r>
              <a:rPr lang="en-IN" dirty="0" smtClean="0">
                <a:solidFill>
                  <a:srgbClr val="3116F6"/>
                </a:solidFill>
              </a:rPr>
              <a:t>0.1  </a:t>
            </a:r>
            <a:r>
              <a:rPr lang="en-IN" dirty="0">
                <a:solidFill>
                  <a:srgbClr val="3116F6"/>
                </a:solidFill>
              </a:rPr>
              <a:t>for x&lt;0</a:t>
            </a:r>
          </a:p>
          <a:p>
            <a:pPr marL="685800" lvl="1" indent="0">
              <a:buNone/>
            </a:pPr>
            <a:endParaRPr lang="en-IN" dirty="0"/>
          </a:p>
        </p:txBody>
      </p:sp>
      <p:pic>
        <p:nvPicPr>
          <p:cNvPr id="11" name="Content Placeholder 8"/>
          <p:cNvPicPr>
            <a:picLocks noChangeAspect="1"/>
          </p:cNvPicPr>
          <p:nvPr/>
        </p:nvPicPr>
        <p:blipFill>
          <a:blip r:embed="rId3"/>
          <a:stretch>
            <a:fillRect/>
          </a:stretch>
        </p:blipFill>
        <p:spPr>
          <a:xfrm>
            <a:off x="5257800" y="4124325"/>
            <a:ext cx="2219325" cy="447675"/>
          </a:xfrm>
          <a:prstGeom prst="rect">
            <a:avLst/>
          </a:prstGeom>
        </p:spPr>
      </p:pic>
      <p:sp>
        <p:nvSpPr>
          <p:cNvPr id="12" name="TextBox 11"/>
          <p:cNvSpPr txBox="1"/>
          <p:nvPr/>
        </p:nvSpPr>
        <p:spPr>
          <a:xfrm flipH="1">
            <a:off x="6400799" y="6600825"/>
            <a:ext cx="2492829" cy="307777"/>
          </a:xfrm>
          <a:prstGeom prst="rect">
            <a:avLst/>
          </a:prstGeom>
          <a:noFill/>
        </p:spPr>
        <p:txBody>
          <a:bodyPr wrap="square" rtlCol="0">
            <a:spAutoFit/>
          </a:bodyPr>
          <a:lstStyle/>
          <a:p>
            <a:r>
              <a:rPr lang="en-US" sz="1400" dirty="0">
                <a:latin typeface="Times New Roman" panose="02020603050405020304" pitchFamily="18" charset="0"/>
                <a:cs typeface="Times New Roman" panose="02020603050405020304" pitchFamily="18" charset="0"/>
              </a:rPr>
              <a:t>Motivation </a:t>
            </a:r>
            <a:r>
              <a:rPr lang="en-US" sz="1400" dirty="0" smtClean="0">
                <a:latin typeface="Times New Roman" panose="02020603050405020304" pitchFamily="18" charset="0"/>
                <a:cs typeface="Times New Roman" panose="02020603050405020304" pitchFamily="18" charset="0"/>
              </a:rPr>
              <a:t> for Weight </a:t>
            </a:r>
            <a:r>
              <a:rPr lang="en-US" sz="1400" dirty="0" err="1" smtClean="0">
                <a:latin typeface="Times New Roman" panose="02020603050405020304" pitchFamily="18" charset="0"/>
                <a:cs typeface="Times New Roman" panose="02020603050405020304" pitchFamily="18" charset="0"/>
              </a:rPr>
              <a:t>Initia</a:t>
            </a:r>
            <a:r>
              <a:rPr lang="en-US" sz="1400" dirty="0" smtClean="0">
                <a:latin typeface="Times New Roman" panose="02020603050405020304" pitchFamily="18" charset="0"/>
                <a:cs typeface="Times New Roman" panose="02020603050405020304" pitchFamily="18" charset="0"/>
              </a:rPr>
              <a:t>..</a:t>
            </a:r>
            <a:endParaRPr lang="en-IN" sz="14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973387915"/>
      </p:ext>
    </p:extLst>
  </p:cSld>
  <p:clrMapOvr>
    <a:masterClrMapping/>
  </p:clrMapOvr>
  <p:timing>
    <p:tnLst>
      <p:par>
        <p:cTn id="1" dur="indefinite" restart="never" nodeType="tmRoot"/>
      </p:par>
    </p:tnLst>
  </p:timing>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cap="small" dirty="0" smtClean="0"/>
              <a:t>Weight Initialization</a:t>
            </a:r>
            <a:endParaRPr lang="en-US" cap="small" dirty="0"/>
          </a:p>
        </p:txBody>
      </p:sp>
      <p:sp>
        <p:nvSpPr>
          <p:cNvPr id="3" name="Content Placeholder 2"/>
          <p:cNvSpPr>
            <a:spLocks noGrp="1"/>
          </p:cNvSpPr>
          <p:nvPr>
            <p:ph idx="1"/>
          </p:nvPr>
        </p:nvSpPr>
        <p:spPr/>
        <p:txBody>
          <a:bodyPr>
            <a:normAutofit/>
          </a:bodyPr>
          <a:lstStyle/>
          <a:p>
            <a:endParaRPr lang="en-US" dirty="0"/>
          </a:p>
          <a:p>
            <a:endParaRPr lang="en-US" dirty="0"/>
          </a:p>
          <a:p>
            <a:endParaRPr lang="en-US" dirty="0"/>
          </a:p>
        </p:txBody>
      </p:sp>
      <p:sp>
        <p:nvSpPr>
          <p:cNvPr id="4" name="Date Placeholder 3"/>
          <p:cNvSpPr>
            <a:spLocks noGrp="1"/>
          </p:cNvSpPr>
          <p:nvPr>
            <p:ph type="dt" sz="half" idx="10"/>
          </p:nvPr>
        </p:nvSpPr>
        <p:spPr/>
        <p:txBody>
          <a:bodyPr/>
          <a:lstStyle/>
          <a:p>
            <a:fld id="{E7067A60-51C7-4095-BFA9-1CE32DCBA06F}" type="datetime1">
              <a:rPr lang="en-US" smtClean="0"/>
              <a:pPr/>
              <a:t>2/9/2026</a:t>
            </a:fld>
            <a:endParaRPr lang="en-US" dirty="0"/>
          </a:p>
        </p:txBody>
      </p:sp>
      <p:sp>
        <p:nvSpPr>
          <p:cNvPr id="6" name="Slide Number Placeholder 5"/>
          <p:cNvSpPr>
            <a:spLocks noGrp="1"/>
          </p:cNvSpPr>
          <p:nvPr>
            <p:ph type="sldNum" sz="quarter" idx="12"/>
          </p:nvPr>
        </p:nvSpPr>
        <p:spPr/>
        <p:txBody>
          <a:bodyPr/>
          <a:lstStyle/>
          <a:p>
            <a:fld id="{A03BBF96-A7A5-4867-9A4A-2F26A3CC4EC3}" type="slidenum">
              <a:rPr lang="en-US" smtClean="0"/>
              <a:pPr/>
              <a:t>42</a:t>
            </a:fld>
            <a:endParaRPr lang="en-US" dirty="0"/>
          </a:p>
        </p:txBody>
      </p:sp>
      <p:sp>
        <p:nvSpPr>
          <p:cNvPr id="7" name="TextBox 6"/>
          <p:cNvSpPr txBox="1"/>
          <p:nvPr/>
        </p:nvSpPr>
        <p:spPr>
          <a:xfrm>
            <a:off x="0" y="0"/>
            <a:ext cx="4572000" cy="369332"/>
          </a:xfrm>
          <a:prstGeom prst="rect">
            <a:avLst/>
          </a:prstGeom>
          <a:noFill/>
        </p:spPr>
        <p:txBody>
          <a:bodyPr wrap="square" rtlCol="0">
            <a:spAutoFit/>
          </a:bodyPr>
          <a:lstStyle/>
          <a:p>
            <a:pPr algn="r"/>
            <a:r>
              <a:rPr lang="en-US" b="1" dirty="0">
                <a:solidFill>
                  <a:schemeClr val="bg1"/>
                </a:solidFill>
              </a:rPr>
              <a:t>Introduction to Neural Network</a:t>
            </a:r>
          </a:p>
        </p:txBody>
      </p:sp>
      <p:sp>
        <p:nvSpPr>
          <p:cNvPr id="8" name="Rectangle 2"/>
          <p:cNvSpPr>
            <a:spLocks noChangeArrowheads="1"/>
          </p:cNvSpPr>
          <p:nvPr/>
        </p:nvSpPr>
        <p:spPr bwMode="auto">
          <a:xfrm>
            <a:off x="0" y="0"/>
            <a:ext cx="91440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sp>
        <p:nvSpPr>
          <p:cNvPr id="9" name="Rectangle 2"/>
          <p:cNvSpPr>
            <a:spLocks noChangeArrowheads="1"/>
          </p:cNvSpPr>
          <p:nvPr/>
        </p:nvSpPr>
        <p:spPr bwMode="auto">
          <a:xfrm>
            <a:off x="0" y="0"/>
            <a:ext cx="91440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sp>
        <p:nvSpPr>
          <p:cNvPr id="11" name="Footer Placeholder 4">
            <a:extLst>
              <a:ext uri="{FF2B5EF4-FFF2-40B4-BE49-F238E27FC236}">
                <a16:creationId xmlns:a16="http://schemas.microsoft.com/office/drawing/2014/main" id="{CBB301ED-B8A4-4772-B559-A9E41E7472BD}"/>
              </a:ext>
            </a:extLst>
          </p:cNvPr>
          <p:cNvSpPr>
            <a:spLocks noGrp="1"/>
          </p:cNvSpPr>
          <p:nvPr>
            <p:ph type="ftr" sz="quarter" idx="11"/>
          </p:nvPr>
        </p:nvSpPr>
        <p:spPr>
          <a:xfrm>
            <a:off x="2286000" y="6629400"/>
            <a:ext cx="4136571" cy="228600"/>
          </a:xfrm>
        </p:spPr>
        <p:txBody>
          <a:bodyPr/>
          <a:lstStyle/>
          <a:p>
            <a:r>
              <a:rPr lang="en-US" dirty="0"/>
              <a:t>Dr. Sibarama Panigrahi, Dept. of CSE, NIT Rourkela</a:t>
            </a:r>
          </a:p>
        </p:txBody>
      </p:sp>
      <p:cxnSp>
        <p:nvCxnSpPr>
          <p:cNvPr id="10" name="Straight Arrow Connector 9"/>
          <p:cNvCxnSpPr/>
          <p:nvPr/>
        </p:nvCxnSpPr>
        <p:spPr>
          <a:xfrm>
            <a:off x="4038600" y="3962400"/>
            <a:ext cx="3886200" cy="1588"/>
          </a:xfrm>
          <a:prstGeom prst="straightConnector1">
            <a:avLst/>
          </a:prstGeom>
          <a:ln w="38100">
            <a:tailEnd type="arrow"/>
          </a:ln>
        </p:spPr>
        <p:style>
          <a:lnRef idx="1">
            <a:schemeClr val="accent1"/>
          </a:lnRef>
          <a:fillRef idx="0">
            <a:schemeClr val="accent1"/>
          </a:fillRef>
          <a:effectRef idx="0">
            <a:schemeClr val="accent1"/>
          </a:effectRef>
          <a:fontRef idx="minor">
            <a:schemeClr val="tx1"/>
          </a:fontRef>
        </p:style>
      </p:cxnSp>
      <p:cxnSp>
        <p:nvCxnSpPr>
          <p:cNvPr id="12" name="Straight Arrow Connector 11"/>
          <p:cNvCxnSpPr/>
          <p:nvPr/>
        </p:nvCxnSpPr>
        <p:spPr>
          <a:xfrm rot="5400000" flipH="1" flipV="1">
            <a:off x="2933700" y="2857500"/>
            <a:ext cx="2209800" cy="1588"/>
          </a:xfrm>
          <a:prstGeom prst="straightConnector1">
            <a:avLst/>
          </a:prstGeom>
          <a:ln w="47625">
            <a:tailEnd type="arrow"/>
          </a:ln>
        </p:spPr>
        <p:style>
          <a:lnRef idx="1">
            <a:schemeClr val="accent1"/>
          </a:lnRef>
          <a:fillRef idx="0">
            <a:schemeClr val="accent1"/>
          </a:fillRef>
          <a:effectRef idx="0">
            <a:schemeClr val="accent1"/>
          </a:effectRef>
          <a:fontRef idx="minor">
            <a:schemeClr val="tx1"/>
          </a:fontRef>
        </p:style>
      </p:cxnSp>
      <p:cxnSp>
        <p:nvCxnSpPr>
          <p:cNvPr id="13" name="Straight Arrow Connector 12"/>
          <p:cNvCxnSpPr/>
          <p:nvPr/>
        </p:nvCxnSpPr>
        <p:spPr>
          <a:xfrm rot="10800000" flipV="1">
            <a:off x="2209800" y="3962400"/>
            <a:ext cx="1828800" cy="1524000"/>
          </a:xfrm>
          <a:prstGeom prst="straightConnector1">
            <a:avLst/>
          </a:prstGeom>
          <a:ln w="47625">
            <a:tailEnd type="arrow"/>
          </a:ln>
        </p:spPr>
        <p:style>
          <a:lnRef idx="1">
            <a:schemeClr val="accent1"/>
          </a:lnRef>
          <a:fillRef idx="0">
            <a:schemeClr val="accent1"/>
          </a:fillRef>
          <a:effectRef idx="0">
            <a:schemeClr val="accent1"/>
          </a:effectRef>
          <a:fontRef idx="minor">
            <a:schemeClr val="tx1"/>
          </a:fontRef>
        </p:style>
      </p:cxnSp>
      <p:cxnSp>
        <p:nvCxnSpPr>
          <p:cNvPr id="14" name="Straight Arrow Connector 13"/>
          <p:cNvCxnSpPr/>
          <p:nvPr/>
        </p:nvCxnSpPr>
        <p:spPr>
          <a:xfrm rot="5400000">
            <a:off x="3657600" y="4343400"/>
            <a:ext cx="762000" cy="1588"/>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cxnSp>
        <p:nvCxnSpPr>
          <p:cNvPr id="15" name="Straight Arrow Connector 14"/>
          <p:cNvCxnSpPr/>
          <p:nvPr/>
        </p:nvCxnSpPr>
        <p:spPr>
          <a:xfrm rot="16200000" flipH="1">
            <a:off x="3810000" y="4191000"/>
            <a:ext cx="685800" cy="228600"/>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cxnSp>
        <p:nvCxnSpPr>
          <p:cNvPr id="16" name="Straight Arrow Connector 15"/>
          <p:cNvCxnSpPr/>
          <p:nvPr/>
        </p:nvCxnSpPr>
        <p:spPr>
          <a:xfrm rot="16200000" flipH="1">
            <a:off x="4038600" y="3962400"/>
            <a:ext cx="457200" cy="457200"/>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cxnSp>
        <p:nvCxnSpPr>
          <p:cNvPr id="17" name="Straight Arrow Connector 16"/>
          <p:cNvCxnSpPr/>
          <p:nvPr/>
        </p:nvCxnSpPr>
        <p:spPr>
          <a:xfrm>
            <a:off x="4038600" y="3962400"/>
            <a:ext cx="685800" cy="228600"/>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sp>
        <p:nvSpPr>
          <p:cNvPr id="18" name="Freeform 17"/>
          <p:cNvSpPr/>
          <p:nvPr/>
        </p:nvSpPr>
        <p:spPr>
          <a:xfrm>
            <a:off x="2402006" y="1906138"/>
            <a:ext cx="5377218" cy="2033516"/>
          </a:xfrm>
          <a:custGeom>
            <a:avLst/>
            <a:gdLst>
              <a:gd name="connsiteX0" fmla="*/ 0 w 5377218"/>
              <a:gd name="connsiteY0" fmla="*/ 1669575 h 2033516"/>
              <a:gd name="connsiteX1" fmla="*/ 232012 w 5377218"/>
              <a:gd name="connsiteY1" fmla="*/ 1055426 h 2033516"/>
              <a:gd name="connsiteX2" fmla="*/ 477672 w 5377218"/>
              <a:gd name="connsiteY2" fmla="*/ 864358 h 2033516"/>
              <a:gd name="connsiteX3" fmla="*/ 723331 w 5377218"/>
              <a:gd name="connsiteY3" fmla="*/ 1232847 h 2033516"/>
              <a:gd name="connsiteX4" fmla="*/ 1037230 w 5377218"/>
              <a:gd name="connsiteY4" fmla="*/ 1860644 h 2033516"/>
              <a:gd name="connsiteX5" fmla="*/ 1255594 w 5377218"/>
              <a:gd name="connsiteY5" fmla="*/ 1533098 h 2033516"/>
              <a:gd name="connsiteX6" fmla="*/ 1460310 w 5377218"/>
              <a:gd name="connsiteY6" fmla="*/ 1096369 h 2033516"/>
              <a:gd name="connsiteX7" fmla="*/ 1746913 w 5377218"/>
              <a:gd name="connsiteY7" fmla="*/ 1601337 h 2033516"/>
              <a:gd name="connsiteX8" fmla="*/ 2169994 w 5377218"/>
              <a:gd name="connsiteY8" fmla="*/ 645993 h 2033516"/>
              <a:gd name="connsiteX9" fmla="*/ 2524836 w 5377218"/>
              <a:gd name="connsiteY9" fmla="*/ 1287438 h 2033516"/>
              <a:gd name="connsiteX10" fmla="*/ 2879678 w 5377218"/>
              <a:gd name="connsiteY10" fmla="*/ 113731 h 2033516"/>
              <a:gd name="connsiteX11" fmla="*/ 3698543 w 5377218"/>
              <a:gd name="connsiteY11" fmla="*/ 1969826 h 2033516"/>
              <a:gd name="connsiteX12" fmla="*/ 3957851 w 5377218"/>
              <a:gd name="connsiteY12" fmla="*/ 495868 h 2033516"/>
              <a:gd name="connsiteX13" fmla="*/ 4517409 w 5377218"/>
              <a:gd name="connsiteY13" fmla="*/ 1451211 h 2033516"/>
              <a:gd name="connsiteX14" fmla="*/ 4763069 w 5377218"/>
              <a:gd name="connsiteY14" fmla="*/ 809766 h 2033516"/>
              <a:gd name="connsiteX15" fmla="*/ 5186149 w 5377218"/>
              <a:gd name="connsiteY15" fmla="*/ 1737814 h 2033516"/>
              <a:gd name="connsiteX16" fmla="*/ 5377218 w 5377218"/>
              <a:gd name="connsiteY16" fmla="*/ 454925 h 2033516"/>
              <a:gd name="connsiteX17" fmla="*/ 5377218 w 5377218"/>
              <a:gd name="connsiteY17" fmla="*/ 454925 h 203351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5377218" h="2033516">
                <a:moveTo>
                  <a:pt x="0" y="1669575"/>
                </a:moveTo>
                <a:cubicBezTo>
                  <a:pt x="76200" y="1429602"/>
                  <a:pt x="152400" y="1189629"/>
                  <a:pt x="232012" y="1055426"/>
                </a:cubicBezTo>
                <a:cubicBezTo>
                  <a:pt x="311624" y="921223"/>
                  <a:pt x="395786" y="834788"/>
                  <a:pt x="477672" y="864358"/>
                </a:cubicBezTo>
                <a:cubicBezTo>
                  <a:pt x="559558" y="893928"/>
                  <a:pt x="630071" y="1066799"/>
                  <a:pt x="723331" y="1232847"/>
                </a:cubicBezTo>
                <a:cubicBezTo>
                  <a:pt x="816591" y="1398895"/>
                  <a:pt x="948519" y="1810602"/>
                  <a:pt x="1037230" y="1860644"/>
                </a:cubicBezTo>
                <a:cubicBezTo>
                  <a:pt x="1125941" y="1910686"/>
                  <a:pt x="1185081" y="1660477"/>
                  <a:pt x="1255594" y="1533098"/>
                </a:cubicBezTo>
                <a:cubicBezTo>
                  <a:pt x="1326107" y="1405719"/>
                  <a:pt x="1378424" y="1084996"/>
                  <a:pt x="1460310" y="1096369"/>
                </a:cubicBezTo>
                <a:cubicBezTo>
                  <a:pt x="1542196" y="1107742"/>
                  <a:pt x="1628632" y="1676400"/>
                  <a:pt x="1746913" y="1601337"/>
                </a:cubicBezTo>
                <a:cubicBezTo>
                  <a:pt x="1865194" y="1526274"/>
                  <a:pt x="2040340" y="698309"/>
                  <a:pt x="2169994" y="645993"/>
                </a:cubicBezTo>
                <a:cubicBezTo>
                  <a:pt x="2299648" y="593677"/>
                  <a:pt x="2406555" y="1376148"/>
                  <a:pt x="2524836" y="1287438"/>
                </a:cubicBezTo>
                <a:cubicBezTo>
                  <a:pt x="2643117" y="1198728"/>
                  <a:pt x="2684060" y="0"/>
                  <a:pt x="2879678" y="113731"/>
                </a:cubicBezTo>
                <a:cubicBezTo>
                  <a:pt x="3075296" y="227462"/>
                  <a:pt x="3518847" y="1906136"/>
                  <a:pt x="3698543" y="1969826"/>
                </a:cubicBezTo>
                <a:cubicBezTo>
                  <a:pt x="3878239" y="2033516"/>
                  <a:pt x="3821373" y="582304"/>
                  <a:pt x="3957851" y="495868"/>
                </a:cubicBezTo>
                <a:cubicBezTo>
                  <a:pt x="4094329" y="409432"/>
                  <a:pt x="4383206" y="1398895"/>
                  <a:pt x="4517409" y="1451211"/>
                </a:cubicBezTo>
                <a:cubicBezTo>
                  <a:pt x="4651612" y="1503527"/>
                  <a:pt x="4651612" y="761999"/>
                  <a:pt x="4763069" y="809766"/>
                </a:cubicBezTo>
                <a:cubicBezTo>
                  <a:pt x="4874526" y="857533"/>
                  <a:pt x="5083791" y="1796954"/>
                  <a:pt x="5186149" y="1737814"/>
                </a:cubicBezTo>
                <a:cubicBezTo>
                  <a:pt x="5288507" y="1678674"/>
                  <a:pt x="5377218" y="454925"/>
                  <a:pt x="5377218" y="454925"/>
                </a:cubicBezTo>
                <a:lnTo>
                  <a:pt x="5377218" y="454925"/>
                </a:lnTo>
              </a:path>
            </a:pathLst>
          </a:custGeom>
          <a:ln w="38100">
            <a:solidFill>
              <a:schemeClr val="accent2">
                <a:lumMod val="75000"/>
              </a:schemeClr>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sp>
        <p:nvSpPr>
          <p:cNvPr id="19" name="Oval 18"/>
          <p:cNvSpPr/>
          <p:nvPr/>
        </p:nvSpPr>
        <p:spPr>
          <a:xfrm>
            <a:off x="2819400" y="2743200"/>
            <a:ext cx="152400" cy="76200"/>
          </a:xfrm>
          <a:prstGeom prst="ellipse">
            <a:avLst/>
          </a:prstGeom>
          <a:solidFill>
            <a:srgbClr val="FF0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0" name="Rectangle 19"/>
          <p:cNvSpPr/>
          <p:nvPr/>
        </p:nvSpPr>
        <p:spPr>
          <a:xfrm>
            <a:off x="5257800" y="4038600"/>
            <a:ext cx="1524000" cy="2286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lumMod val="95000"/>
                    <a:lumOff val="5000"/>
                  </a:schemeClr>
                </a:solidFill>
              </a:rPr>
              <a:t>Weights----</a:t>
            </a:r>
            <a:r>
              <a:rPr lang="en-US" dirty="0">
                <a:solidFill>
                  <a:schemeClr val="tx1">
                    <a:lumMod val="95000"/>
                    <a:lumOff val="5000"/>
                  </a:schemeClr>
                </a:solidFill>
                <a:sym typeface="Wingdings" pitchFamily="2" charset="2"/>
              </a:rPr>
              <a:t></a:t>
            </a:r>
            <a:endParaRPr lang="en-US" dirty="0">
              <a:solidFill>
                <a:schemeClr val="tx1">
                  <a:lumMod val="95000"/>
                  <a:lumOff val="5000"/>
                </a:schemeClr>
              </a:solidFill>
            </a:endParaRPr>
          </a:p>
        </p:txBody>
      </p:sp>
      <p:sp>
        <p:nvSpPr>
          <p:cNvPr id="21" name="Rectangle 20"/>
          <p:cNvSpPr/>
          <p:nvPr/>
        </p:nvSpPr>
        <p:spPr>
          <a:xfrm rot="19285269">
            <a:off x="2362200" y="4426569"/>
            <a:ext cx="1524000" cy="2286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lumMod val="95000"/>
                    <a:lumOff val="5000"/>
                  </a:schemeClr>
                </a:solidFill>
              </a:rPr>
              <a:t>Weights----</a:t>
            </a:r>
            <a:r>
              <a:rPr lang="en-US" dirty="0">
                <a:solidFill>
                  <a:schemeClr val="tx1">
                    <a:lumMod val="95000"/>
                    <a:lumOff val="5000"/>
                  </a:schemeClr>
                </a:solidFill>
                <a:sym typeface="Wingdings" pitchFamily="2" charset="2"/>
              </a:rPr>
              <a:t></a:t>
            </a:r>
            <a:endParaRPr lang="en-US" dirty="0">
              <a:solidFill>
                <a:schemeClr val="tx1">
                  <a:lumMod val="95000"/>
                  <a:lumOff val="5000"/>
                </a:schemeClr>
              </a:solidFill>
            </a:endParaRPr>
          </a:p>
        </p:txBody>
      </p:sp>
      <p:sp>
        <p:nvSpPr>
          <p:cNvPr id="22" name="Rectangle 21"/>
          <p:cNvSpPr/>
          <p:nvPr/>
        </p:nvSpPr>
        <p:spPr>
          <a:xfrm rot="16200000">
            <a:off x="3086100" y="2324100"/>
            <a:ext cx="1524000" cy="2286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lumMod val="95000"/>
                    <a:lumOff val="5000"/>
                  </a:schemeClr>
                </a:solidFill>
              </a:rPr>
              <a:t>Error----</a:t>
            </a:r>
            <a:r>
              <a:rPr lang="en-US" dirty="0">
                <a:solidFill>
                  <a:schemeClr val="tx1">
                    <a:lumMod val="95000"/>
                    <a:lumOff val="5000"/>
                  </a:schemeClr>
                </a:solidFill>
                <a:sym typeface="Wingdings" pitchFamily="2" charset="2"/>
              </a:rPr>
              <a:t></a:t>
            </a:r>
            <a:endParaRPr lang="en-US" dirty="0">
              <a:solidFill>
                <a:schemeClr val="tx1">
                  <a:lumMod val="95000"/>
                  <a:lumOff val="5000"/>
                </a:schemeClr>
              </a:solidFill>
            </a:endParaRPr>
          </a:p>
        </p:txBody>
      </p:sp>
      <p:sp>
        <p:nvSpPr>
          <p:cNvPr id="23" name="Oval 22"/>
          <p:cNvSpPr/>
          <p:nvPr/>
        </p:nvSpPr>
        <p:spPr>
          <a:xfrm>
            <a:off x="5562600" y="2752720"/>
            <a:ext cx="152400" cy="76200"/>
          </a:xfrm>
          <a:prstGeom prst="ellipse">
            <a:avLst/>
          </a:prstGeom>
          <a:solidFill>
            <a:srgbClr val="FF0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4" name="TextBox 23"/>
          <p:cNvSpPr txBox="1"/>
          <p:nvPr/>
        </p:nvSpPr>
        <p:spPr>
          <a:xfrm flipH="1">
            <a:off x="6346371" y="6600824"/>
            <a:ext cx="2797629" cy="307777"/>
          </a:xfrm>
          <a:prstGeom prst="rect">
            <a:avLst/>
          </a:prstGeom>
          <a:noFill/>
        </p:spPr>
        <p:txBody>
          <a:bodyPr wrap="square" rtlCol="0">
            <a:spAutoFit/>
          </a:bodyPr>
          <a:lstStyle/>
          <a:p>
            <a:r>
              <a:rPr lang="en-US" sz="1400" dirty="0" smtClean="0">
                <a:latin typeface="Times New Roman" panose="02020603050405020304" pitchFamily="18" charset="0"/>
                <a:cs typeface="Times New Roman" panose="02020603050405020304" pitchFamily="18" charset="0"/>
              </a:rPr>
              <a:t>Used Rules Weight Initialization</a:t>
            </a:r>
            <a:endParaRPr lang="en-IN" sz="14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24862373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19"/>
                                        </p:tgtEl>
                                        <p:attrNameLst>
                                          <p:attrName>style.visibility</p:attrName>
                                        </p:attrNameLst>
                                      </p:cBhvr>
                                      <p:to>
                                        <p:strVal val="visible"/>
                                      </p:to>
                                    </p:set>
                                    <p:animEffect transition="in" filter="fade">
                                      <p:cBhvr>
                                        <p:cTn id="7" dur="2000"/>
                                        <p:tgtEl>
                                          <p:spTgt spid="19"/>
                                        </p:tgtEl>
                                      </p:cBhvr>
                                    </p:animEffect>
                                  </p:childTnLst>
                                </p:cTn>
                              </p:par>
                            </p:childTnLst>
                          </p:cTn>
                        </p:par>
                      </p:childTnLst>
                    </p:cTn>
                  </p:par>
                  <p:par>
                    <p:cTn id="8" fill="hold">
                      <p:stCondLst>
                        <p:cond delay="indefinite"/>
                      </p:stCondLst>
                      <p:childTnLst>
                        <p:par>
                          <p:cTn id="9" fill="hold">
                            <p:stCondLst>
                              <p:cond delay="0"/>
                            </p:stCondLst>
                            <p:childTnLst>
                              <p:par>
                                <p:cTn id="10" presetID="0" presetClass="path" presetSubtype="0" accel="50000" decel="50000" fill="hold" grpId="1" nodeType="clickEffect">
                                  <p:stCondLst>
                                    <p:cond delay="0"/>
                                  </p:stCondLst>
                                  <p:childTnLst>
                                    <p:animMotion origin="layout" path="M 0 0 C 0.01337 -0.00277 0.02691 -0.00555 0.02986 0 C 0.03281 0.00555 0.01563 0.02752 0.01788 0.03377 C 0.02014 0.04001 0.0408 0.03169 0.04323 0.03793 C 0.04566 0.04417 0.0316 0.05782 0.03281 0.07169 C 0.03403 0.08557 0.04601 0.10916 0.0507 0.12142 C 0.05538 0.13367 0.05955 0.14131 0.06129 0.14524 " pathEditMode="relative" ptsTypes="aaaaaaA">
                                      <p:cBhvr>
                                        <p:cTn id="11" dur="5000" fill="hold"/>
                                        <p:tgtEl>
                                          <p:spTgt spid="19"/>
                                        </p:tgtEl>
                                        <p:attrNameLst>
                                          <p:attrName>ppt_x</p:attrName>
                                          <p:attrName>ppt_y</p:attrName>
                                        </p:attrNameLst>
                                      </p:cBhvr>
                                    </p:animMotion>
                                  </p:childTnLst>
                                </p:cTn>
                              </p:par>
                            </p:childTnLst>
                          </p:cTn>
                        </p:par>
                      </p:childTnLst>
                    </p:cTn>
                  </p:par>
                  <p:par>
                    <p:cTn id="12" fill="hold">
                      <p:stCondLst>
                        <p:cond delay="indefinite"/>
                      </p:stCondLst>
                      <p:childTnLst>
                        <p:par>
                          <p:cTn id="13" fill="hold">
                            <p:stCondLst>
                              <p:cond delay="0"/>
                            </p:stCondLst>
                            <p:childTnLst>
                              <p:par>
                                <p:cTn id="14" presetID="1" presetClass="exit" presetSubtype="0" fill="hold" grpId="2" nodeType="clickEffect">
                                  <p:stCondLst>
                                    <p:cond delay="0"/>
                                  </p:stCondLst>
                                  <p:childTnLst>
                                    <p:set>
                                      <p:cBhvr>
                                        <p:cTn id="15" dur="1" fill="hold">
                                          <p:stCondLst>
                                            <p:cond delay="0"/>
                                          </p:stCondLst>
                                        </p:cTn>
                                        <p:tgtEl>
                                          <p:spTgt spid="19"/>
                                        </p:tgtEl>
                                        <p:attrNameLst>
                                          <p:attrName>style.visibility</p:attrName>
                                        </p:attrNameLst>
                                      </p:cBhvr>
                                      <p:to>
                                        <p:strVal val="hidden"/>
                                      </p:to>
                                    </p:set>
                                  </p:childTnLst>
                                </p:cTn>
                              </p:par>
                            </p:childTnLst>
                          </p:cTn>
                        </p:par>
                        <p:par>
                          <p:cTn id="16" fill="hold">
                            <p:stCondLst>
                              <p:cond delay="0"/>
                            </p:stCondLst>
                            <p:childTnLst>
                              <p:par>
                                <p:cTn id="17" presetID="10" presetClass="entr" presetSubtype="0" fill="hold" grpId="0" nodeType="afterEffect">
                                  <p:stCondLst>
                                    <p:cond delay="0"/>
                                  </p:stCondLst>
                                  <p:childTnLst>
                                    <p:set>
                                      <p:cBhvr>
                                        <p:cTn id="18" dur="1" fill="hold">
                                          <p:stCondLst>
                                            <p:cond delay="0"/>
                                          </p:stCondLst>
                                        </p:cTn>
                                        <p:tgtEl>
                                          <p:spTgt spid="23"/>
                                        </p:tgtEl>
                                        <p:attrNameLst>
                                          <p:attrName>style.visibility</p:attrName>
                                        </p:attrNameLst>
                                      </p:cBhvr>
                                      <p:to>
                                        <p:strVal val="visible"/>
                                      </p:to>
                                    </p:set>
                                    <p:animEffect transition="in" filter="fade">
                                      <p:cBhvr>
                                        <p:cTn id="19" dur="2000"/>
                                        <p:tgtEl>
                                          <p:spTgt spid="23"/>
                                        </p:tgtEl>
                                      </p:cBhvr>
                                    </p:animEffect>
                                  </p:childTnLst>
                                </p:cTn>
                              </p:par>
                            </p:childTnLst>
                          </p:cTn>
                        </p:par>
                        <p:par>
                          <p:cTn id="20" fill="hold">
                            <p:stCondLst>
                              <p:cond delay="2000"/>
                            </p:stCondLst>
                            <p:childTnLst>
                              <p:par>
                                <p:cTn id="21" presetID="0" presetClass="path" presetSubtype="0" accel="50000" decel="50000" fill="hold" grpId="1" nodeType="afterEffect">
                                  <p:stCondLst>
                                    <p:cond delay="0"/>
                                  </p:stCondLst>
                                  <p:childTnLst>
                                    <p:animMotion origin="layout" path="M 2.77778E-7 -7.40741E-7 C 0.01024 -0.00278 0.02083 -0.00579 0.02309 -7.40741E-7 C 0.02552 0.00579 0.01215 0.02894 0.01389 0.03542 C 0.01562 0.04213 0.03177 0.03333 0.03351 0.03982 C 0.03542 0.0463 0.02448 0.06065 0.02552 0.07523 C 0.02639 0.08982 0.03576 0.11458 0.03941 0.12755 C 0.04306 0.14005 0.04635 0.14815 0.04774 0.15232 " pathEditMode="relative" rAng="0" ptsTypes="AAAAAAA">
                                      <p:cBhvr>
                                        <p:cTn id="22" dur="5000" fill="hold"/>
                                        <p:tgtEl>
                                          <p:spTgt spid="23"/>
                                        </p:tgtEl>
                                        <p:attrNameLst>
                                          <p:attrName>ppt_x</p:attrName>
                                          <p:attrName>ppt_y</p:attrName>
                                        </p:attrNameLst>
                                      </p:cBhvr>
                                      <p:rCtr x="2378" y="7454"/>
                                    </p:animMotion>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9" grpId="0" animBg="1"/>
      <p:bldP spid="19" grpId="1" animBg="1"/>
      <p:bldP spid="19" grpId="2" animBg="1"/>
      <p:bldP spid="23" grpId="0" animBg="1"/>
      <p:bldP spid="23" grpId="1" animBg="1"/>
    </p:bldLst>
  </p:timing>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cap="small" dirty="0"/>
              <a:t>Weight Initialization</a:t>
            </a:r>
          </a:p>
        </p:txBody>
      </p:sp>
      <p:sp>
        <p:nvSpPr>
          <p:cNvPr id="3" name="Content Placeholder 2"/>
          <p:cNvSpPr>
            <a:spLocks noGrp="1"/>
          </p:cNvSpPr>
          <p:nvPr>
            <p:ph idx="1"/>
          </p:nvPr>
        </p:nvSpPr>
        <p:spPr/>
        <p:txBody>
          <a:bodyPr>
            <a:normAutofit/>
          </a:bodyPr>
          <a:lstStyle/>
          <a:p>
            <a:r>
              <a:rPr lang="en-US" dirty="0"/>
              <a:t>Mostly used</a:t>
            </a:r>
          </a:p>
          <a:p>
            <a:pPr lvl="1"/>
            <a:r>
              <a:rPr lang="en-US" dirty="0"/>
              <a:t>We should never initialize to same values.</a:t>
            </a:r>
          </a:p>
          <a:p>
            <a:pPr lvl="2"/>
            <a:r>
              <a:rPr lang="en-US" dirty="0"/>
              <a:t>Asymmetry is necessary</a:t>
            </a:r>
          </a:p>
          <a:p>
            <a:pPr lvl="1"/>
            <a:r>
              <a:rPr lang="en-US" dirty="0"/>
              <a:t>We should not initialize to large –</a:t>
            </a:r>
            <a:r>
              <a:rPr lang="en-US" dirty="0" err="1"/>
              <a:t>ve</a:t>
            </a:r>
            <a:r>
              <a:rPr lang="en-US" dirty="0"/>
              <a:t> values</a:t>
            </a:r>
          </a:p>
          <a:p>
            <a:pPr lvl="2"/>
            <a:r>
              <a:rPr lang="en-US" dirty="0"/>
              <a:t>Vanishing Gradient problems</a:t>
            </a:r>
          </a:p>
          <a:p>
            <a:pPr lvl="1"/>
            <a:r>
              <a:rPr lang="en-US" dirty="0"/>
              <a:t>Weights should be small (not too small)</a:t>
            </a:r>
          </a:p>
          <a:p>
            <a:pPr lvl="1"/>
            <a:r>
              <a:rPr lang="en-US" dirty="0"/>
              <a:t>Weights should have good variance</a:t>
            </a:r>
          </a:p>
          <a:p>
            <a:pPr lvl="1"/>
            <a:r>
              <a:rPr lang="en-US" dirty="0"/>
              <a:t>Weights should come from a Normal distribution with mean zero and small variance</a:t>
            </a:r>
          </a:p>
          <a:p>
            <a:pPr lvl="1"/>
            <a:r>
              <a:rPr lang="en-US" dirty="0"/>
              <a:t>Should have some +</a:t>
            </a:r>
            <a:r>
              <a:rPr lang="en-US" dirty="0" err="1"/>
              <a:t>ve</a:t>
            </a:r>
            <a:r>
              <a:rPr lang="en-US" dirty="0"/>
              <a:t> and Some –</a:t>
            </a:r>
            <a:r>
              <a:rPr lang="en-US" dirty="0" err="1"/>
              <a:t>ve</a:t>
            </a:r>
            <a:r>
              <a:rPr lang="en-US" dirty="0"/>
              <a:t> values</a:t>
            </a:r>
          </a:p>
          <a:p>
            <a:endParaRPr lang="en-US" dirty="0"/>
          </a:p>
        </p:txBody>
      </p:sp>
      <p:sp>
        <p:nvSpPr>
          <p:cNvPr id="4" name="Date Placeholder 3"/>
          <p:cNvSpPr>
            <a:spLocks noGrp="1"/>
          </p:cNvSpPr>
          <p:nvPr>
            <p:ph type="dt" sz="half" idx="10"/>
          </p:nvPr>
        </p:nvSpPr>
        <p:spPr/>
        <p:txBody>
          <a:bodyPr/>
          <a:lstStyle/>
          <a:p>
            <a:fld id="{E7067A60-51C7-4095-BFA9-1CE32DCBA06F}" type="datetime1">
              <a:rPr lang="en-US" smtClean="0"/>
              <a:pPr/>
              <a:t>2/9/2026</a:t>
            </a:fld>
            <a:endParaRPr lang="en-US" dirty="0"/>
          </a:p>
        </p:txBody>
      </p:sp>
      <p:sp>
        <p:nvSpPr>
          <p:cNvPr id="6" name="Slide Number Placeholder 5"/>
          <p:cNvSpPr>
            <a:spLocks noGrp="1"/>
          </p:cNvSpPr>
          <p:nvPr>
            <p:ph type="sldNum" sz="quarter" idx="12"/>
          </p:nvPr>
        </p:nvSpPr>
        <p:spPr/>
        <p:txBody>
          <a:bodyPr/>
          <a:lstStyle/>
          <a:p>
            <a:fld id="{A03BBF96-A7A5-4867-9A4A-2F26A3CC4EC3}" type="slidenum">
              <a:rPr lang="en-US" smtClean="0"/>
              <a:pPr/>
              <a:t>43</a:t>
            </a:fld>
            <a:endParaRPr lang="en-US" dirty="0"/>
          </a:p>
        </p:txBody>
      </p:sp>
      <p:sp>
        <p:nvSpPr>
          <p:cNvPr id="7" name="TextBox 6"/>
          <p:cNvSpPr txBox="1"/>
          <p:nvPr/>
        </p:nvSpPr>
        <p:spPr>
          <a:xfrm>
            <a:off x="0" y="0"/>
            <a:ext cx="4572000" cy="369332"/>
          </a:xfrm>
          <a:prstGeom prst="rect">
            <a:avLst/>
          </a:prstGeom>
          <a:noFill/>
        </p:spPr>
        <p:txBody>
          <a:bodyPr wrap="square" rtlCol="0">
            <a:spAutoFit/>
          </a:bodyPr>
          <a:lstStyle/>
          <a:p>
            <a:pPr algn="r"/>
            <a:r>
              <a:rPr lang="en-US" b="1" dirty="0">
                <a:solidFill>
                  <a:schemeClr val="bg1"/>
                </a:solidFill>
              </a:rPr>
              <a:t>Introduction to Deep Neural Network</a:t>
            </a:r>
          </a:p>
        </p:txBody>
      </p:sp>
      <p:sp>
        <p:nvSpPr>
          <p:cNvPr id="8" name="Rectangle 2"/>
          <p:cNvSpPr>
            <a:spLocks noChangeArrowheads="1"/>
          </p:cNvSpPr>
          <p:nvPr/>
        </p:nvSpPr>
        <p:spPr bwMode="auto">
          <a:xfrm>
            <a:off x="0" y="0"/>
            <a:ext cx="91440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sp>
        <p:nvSpPr>
          <p:cNvPr id="9" name="Rectangle 2"/>
          <p:cNvSpPr>
            <a:spLocks noChangeArrowheads="1"/>
          </p:cNvSpPr>
          <p:nvPr/>
        </p:nvSpPr>
        <p:spPr bwMode="auto">
          <a:xfrm>
            <a:off x="0" y="0"/>
            <a:ext cx="91440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sp>
        <p:nvSpPr>
          <p:cNvPr id="11" name="Footer Placeholder 4">
            <a:extLst>
              <a:ext uri="{FF2B5EF4-FFF2-40B4-BE49-F238E27FC236}">
                <a16:creationId xmlns:a16="http://schemas.microsoft.com/office/drawing/2014/main" id="{CBB301ED-B8A4-4772-B559-A9E41E7472BD}"/>
              </a:ext>
            </a:extLst>
          </p:cNvPr>
          <p:cNvSpPr>
            <a:spLocks noGrp="1"/>
          </p:cNvSpPr>
          <p:nvPr>
            <p:ph type="ftr" sz="quarter" idx="11"/>
          </p:nvPr>
        </p:nvSpPr>
        <p:spPr>
          <a:xfrm>
            <a:off x="2286000" y="6629400"/>
            <a:ext cx="4136571" cy="228600"/>
          </a:xfrm>
        </p:spPr>
        <p:txBody>
          <a:bodyPr/>
          <a:lstStyle/>
          <a:p>
            <a:r>
              <a:rPr lang="en-US" dirty="0"/>
              <a:t>Dr. Sibarama Panigrahi, Dept. of CSE, NIT Rourkela</a:t>
            </a:r>
          </a:p>
        </p:txBody>
      </p:sp>
      <p:sp>
        <p:nvSpPr>
          <p:cNvPr id="10" name="TextBox 9"/>
          <p:cNvSpPr txBox="1"/>
          <p:nvPr/>
        </p:nvSpPr>
        <p:spPr>
          <a:xfrm flipH="1">
            <a:off x="6095999" y="6600824"/>
            <a:ext cx="3048000" cy="307777"/>
          </a:xfrm>
          <a:prstGeom prst="rect">
            <a:avLst/>
          </a:prstGeom>
          <a:noFill/>
        </p:spPr>
        <p:txBody>
          <a:bodyPr wrap="square" rtlCol="0">
            <a:spAutoFit/>
          </a:bodyPr>
          <a:lstStyle/>
          <a:p>
            <a:r>
              <a:rPr lang="en-US" sz="1400" dirty="0" smtClean="0">
                <a:latin typeface="Times New Roman" panose="02020603050405020304" pitchFamily="18" charset="0"/>
                <a:cs typeface="Times New Roman" panose="02020603050405020304" pitchFamily="18" charset="0"/>
              </a:rPr>
              <a:t>Weight Initialization- Fan-in Fan-out</a:t>
            </a:r>
            <a:endParaRPr lang="en-IN" sz="14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137246014"/>
      </p:ext>
    </p:extLst>
  </p:cSld>
  <p:clrMapOvr>
    <a:masterClrMapping/>
  </p:clrMapOvr>
  <p:timing>
    <p:tnLst>
      <p:par>
        <p:cTn id="1" dur="indefinite" restart="never" nodeType="tmRoot"/>
      </p:par>
    </p:tnLst>
  </p:timing>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cap="small" dirty="0"/>
              <a:t>Weight Initialization</a:t>
            </a:r>
          </a:p>
        </p:txBody>
      </p:sp>
      <mc:AlternateContent xmlns:mc="http://schemas.openxmlformats.org/markup-compatibility/2006" xmlns:a14="http://schemas.microsoft.com/office/drawing/2010/main">
        <mc:Choice Requires="a14">
          <p:sp>
            <p:nvSpPr>
              <p:cNvPr id="3" name="Content Placeholder 2"/>
              <p:cNvSpPr>
                <a:spLocks noGrp="1"/>
              </p:cNvSpPr>
              <p:nvPr>
                <p:ph idx="1"/>
              </p:nvPr>
            </p:nvSpPr>
            <p:spPr/>
            <p:txBody>
              <a:bodyPr>
                <a:normAutofit/>
              </a:bodyPr>
              <a:lstStyle/>
              <a:p>
                <a:r>
                  <a:rPr lang="en-US" dirty="0"/>
                  <a:t>Better Strategies obtained from large experiments</a:t>
                </a:r>
              </a:p>
              <a:p>
                <a:pPr lvl="1"/>
                <a:r>
                  <a:rPr lang="en-US" dirty="0"/>
                  <a:t>Initialize weights based on Fan-in and Fan-out </a:t>
                </a:r>
              </a:p>
              <a:p>
                <a:pPr lvl="1"/>
                <a:r>
                  <a:rPr lang="en-US" dirty="0" smtClean="0"/>
                  <a:t>Initialize your weights from a uniform distribution </a:t>
                </a:r>
              </a:p>
              <a:p>
                <a:pPr lvl="2"/>
                <a14:m>
                  <m:oMath xmlns:m="http://schemas.openxmlformats.org/officeDocument/2006/math">
                    <m:d>
                      <m:dPr>
                        <m:begChr m:val="["/>
                        <m:endChr m:val="]"/>
                        <m:ctrlPr>
                          <a:rPr lang="en-IN" i="1">
                            <a:latin typeface="Cambria Math" panose="02040503050406030204" pitchFamily="18" charset="0"/>
                          </a:rPr>
                        </m:ctrlPr>
                      </m:dPr>
                      <m:e>
                        <m:r>
                          <a:rPr lang="en-IN" i="1">
                            <a:latin typeface="Cambria Math" panose="02040503050406030204" pitchFamily="18" charset="0"/>
                          </a:rPr>
                          <m:t>−</m:t>
                        </m:r>
                        <m:f>
                          <m:fPr>
                            <m:ctrlPr>
                              <a:rPr lang="en-IN" i="1">
                                <a:latin typeface="Cambria Math" panose="02040503050406030204" pitchFamily="18" charset="0"/>
                              </a:rPr>
                            </m:ctrlPr>
                          </m:fPr>
                          <m:num>
                            <m:r>
                              <a:rPr lang="en-IN" i="1">
                                <a:latin typeface="Cambria Math" panose="02040503050406030204" pitchFamily="18" charset="0"/>
                              </a:rPr>
                              <m:t>1</m:t>
                            </m:r>
                          </m:num>
                          <m:den>
                            <m:rad>
                              <m:radPr>
                                <m:degHide m:val="on"/>
                                <m:ctrlPr>
                                  <a:rPr lang="en-IN" i="1">
                                    <a:latin typeface="Cambria Math" panose="02040503050406030204" pitchFamily="18" charset="0"/>
                                  </a:rPr>
                                </m:ctrlPr>
                              </m:radPr>
                              <m:deg/>
                              <m:e>
                                <m:r>
                                  <a:rPr lang="en-IN" i="1">
                                    <a:latin typeface="Cambria Math" panose="02040503050406030204" pitchFamily="18" charset="0"/>
                                  </a:rPr>
                                  <m:t>𝑓𝑎𝑛𝑖𝑛</m:t>
                                </m:r>
                              </m:e>
                            </m:rad>
                          </m:den>
                        </m:f>
                        <m:r>
                          <a:rPr lang="en-IN" i="1">
                            <a:latin typeface="Cambria Math" panose="02040503050406030204" pitchFamily="18" charset="0"/>
                          </a:rPr>
                          <m:t>,</m:t>
                        </m:r>
                        <m:f>
                          <m:fPr>
                            <m:ctrlPr>
                              <a:rPr lang="en-IN" i="1">
                                <a:latin typeface="Cambria Math" panose="02040503050406030204" pitchFamily="18" charset="0"/>
                              </a:rPr>
                            </m:ctrlPr>
                          </m:fPr>
                          <m:num>
                            <m:r>
                              <a:rPr lang="en-IN" i="1">
                                <a:latin typeface="Cambria Math" panose="02040503050406030204" pitchFamily="18" charset="0"/>
                              </a:rPr>
                              <m:t>1</m:t>
                            </m:r>
                          </m:num>
                          <m:den>
                            <m:rad>
                              <m:radPr>
                                <m:degHide m:val="on"/>
                                <m:ctrlPr>
                                  <a:rPr lang="en-IN" i="1">
                                    <a:latin typeface="Cambria Math" panose="02040503050406030204" pitchFamily="18" charset="0"/>
                                  </a:rPr>
                                </m:ctrlPr>
                              </m:radPr>
                              <m:deg/>
                              <m:e>
                                <m:r>
                                  <a:rPr lang="en-IN" i="1">
                                    <a:latin typeface="Cambria Math" panose="02040503050406030204" pitchFamily="18" charset="0"/>
                                  </a:rPr>
                                  <m:t>𝑓𝑎𝑛𝑖𝑛</m:t>
                                </m:r>
                              </m:e>
                            </m:rad>
                          </m:den>
                        </m:f>
                      </m:e>
                    </m:d>
                  </m:oMath>
                </a14:m>
                <a:r>
                  <a:rPr lang="en-US" dirty="0" smtClean="0"/>
                  <a:t>             </a:t>
                </a:r>
              </a:p>
              <a:p>
                <a:pPr lvl="1"/>
                <a:r>
                  <a:rPr lang="en-US" dirty="0" smtClean="0"/>
                  <a:t>Works </a:t>
                </a:r>
                <a:r>
                  <a:rPr lang="en-US" dirty="0"/>
                  <a:t>well for sigmoid activation function</a:t>
                </a:r>
              </a:p>
              <a:p>
                <a:pPr>
                  <a:buNone/>
                </a:pPr>
                <a:endParaRPr lang="en-US" dirty="0"/>
              </a:p>
            </p:txBody>
          </p:sp>
        </mc:Choice>
        <mc:Fallback xmlns="">
          <p:sp>
            <p:nvSpPr>
              <p:cNvPr id="3" name="Content Placeholder 2"/>
              <p:cNvSpPr>
                <a:spLocks noGrp="1" noRot="1" noChangeAspect="1" noMove="1" noResize="1" noEditPoints="1" noAdjustHandles="1" noChangeArrowheads="1" noChangeShapeType="1" noTextEdit="1"/>
              </p:cNvSpPr>
              <p:nvPr>
                <p:ph idx="1"/>
              </p:nvPr>
            </p:nvSpPr>
            <p:spPr>
              <a:blipFill rotWithShape="0">
                <a:blip r:embed="rId2"/>
                <a:stretch>
                  <a:fillRect t="-2410"/>
                </a:stretch>
              </a:blipFill>
            </p:spPr>
            <p:txBody>
              <a:bodyPr/>
              <a:lstStyle/>
              <a:p>
                <a:r>
                  <a:rPr lang="en-IN">
                    <a:noFill/>
                  </a:rPr>
                  <a:t> </a:t>
                </a:r>
              </a:p>
            </p:txBody>
          </p:sp>
        </mc:Fallback>
      </mc:AlternateContent>
      <p:sp>
        <p:nvSpPr>
          <p:cNvPr id="4" name="Date Placeholder 3"/>
          <p:cNvSpPr>
            <a:spLocks noGrp="1"/>
          </p:cNvSpPr>
          <p:nvPr>
            <p:ph type="dt" sz="half" idx="10"/>
          </p:nvPr>
        </p:nvSpPr>
        <p:spPr/>
        <p:txBody>
          <a:bodyPr/>
          <a:lstStyle/>
          <a:p>
            <a:fld id="{E7067A60-51C7-4095-BFA9-1CE32DCBA06F}" type="datetime1">
              <a:rPr lang="en-US" smtClean="0"/>
              <a:pPr/>
              <a:t>2/9/2026</a:t>
            </a:fld>
            <a:endParaRPr lang="en-US" dirty="0"/>
          </a:p>
        </p:txBody>
      </p:sp>
      <p:sp>
        <p:nvSpPr>
          <p:cNvPr id="6" name="Slide Number Placeholder 5"/>
          <p:cNvSpPr>
            <a:spLocks noGrp="1"/>
          </p:cNvSpPr>
          <p:nvPr>
            <p:ph type="sldNum" sz="quarter" idx="12"/>
          </p:nvPr>
        </p:nvSpPr>
        <p:spPr/>
        <p:txBody>
          <a:bodyPr/>
          <a:lstStyle/>
          <a:p>
            <a:fld id="{A03BBF96-A7A5-4867-9A4A-2F26A3CC4EC3}" type="slidenum">
              <a:rPr lang="en-US" smtClean="0"/>
              <a:pPr/>
              <a:t>44</a:t>
            </a:fld>
            <a:endParaRPr lang="en-US" dirty="0"/>
          </a:p>
        </p:txBody>
      </p:sp>
      <p:sp>
        <p:nvSpPr>
          <p:cNvPr id="7" name="TextBox 6"/>
          <p:cNvSpPr txBox="1"/>
          <p:nvPr/>
        </p:nvSpPr>
        <p:spPr>
          <a:xfrm>
            <a:off x="0" y="0"/>
            <a:ext cx="4572000" cy="369332"/>
          </a:xfrm>
          <a:prstGeom prst="rect">
            <a:avLst/>
          </a:prstGeom>
          <a:noFill/>
        </p:spPr>
        <p:txBody>
          <a:bodyPr wrap="square" rtlCol="0">
            <a:spAutoFit/>
          </a:bodyPr>
          <a:lstStyle/>
          <a:p>
            <a:pPr algn="r"/>
            <a:r>
              <a:rPr lang="en-US" b="1" dirty="0">
                <a:solidFill>
                  <a:schemeClr val="bg1"/>
                </a:solidFill>
              </a:rPr>
              <a:t>Introduction to Deep Neural Network</a:t>
            </a:r>
          </a:p>
        </p:txBody>
      </p:sp>
      <p:sp>
        <p:nvSpPr>
          <p:cNvPr id="8" name="Rectangle 2"/>
          <p:cNvSpPr>
            <a:spLocks noChangeArrowheads="1"/>
          </p:cNvSpPr>
          <p:nvPr/>
        </p:nvSpPr>
        <p:spPr bwMode="auto">
          <a:xfrm>
            <a:off x="0" y="0"/>
            <a:ext cx="91440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sp>
        <p:nvSpPr>
          <p:cNvPr id="9" name="Rectangle 2"/>
          <p:cNvSpPr>
            <a:spLocks noChangeArrowheads="1"/>
          </p:cNvSpPr>
          <p:nvPr/>
        </p:nvSpPr>
        <p:spPr bwMode="auto">
          <a:xfrm>
            <a:off x="0" y="0"/>
            <a:ext cx="91440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sp>
        <p:nvSpPr>
          <p:cNvPr id="11" name="Footer Placeholder 4">
            <a:extLst>
              <a:ext uri="{FF2B5EF4-FFF2-40B4-BE49-F238E27FC236}">
                <a16:creationId xmlns:a16="http://schemas.microsoft.com/office/drawing/2014/main" id="{CBB301ED-B8A4-4772-B559-A9E41E7472BD}"/>
              </a:ext>
            </a:extLst>
          </p:cNvPr>
          <p:cNvSpPr>
            <a:spLocks noGrp="1"/>
          </p:cNvSpPr>
          <p:nvPr>
            <p:ph type="ftr" sz="quarter" idx="11"/>
          </p:nvPr>
        </p:nvSpPr>
        <p:spPr>
          <a:xfrm>
            <a:off x="2286000" y="6629400"/>
            <a:ext cx="4136571" cy="228600"/>
          </a:xfrm>
        </p:spPr>
        <p:txBody>
          <a:bodyPr/>
          <a:lstStyle/>
          <a:p>
            <a:r>
              <a:rPr lang="en-US" dirty="0"/>
              <a:t>Dr. Sibarama Panigrahi, Dept. of CSE, NIT Rourkela</a:t>
            </a:r>
          </a:p>
        </p:txBody>
      </p:sp>
      <p:pic>
        <p:nvPicPr>
          <p:cNvPr id="10" name="Picture 2" descr="Neural Network Part1: Inside a Single Neuron | by Shweta Kadam | Analytics  Vidhya | Medium"/>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000250" y="4067175"/>
            <a:ext cx="4076700" cy="2486025"/>
          </a:xfrm>
          <a:prstGeom prst="rect">
            <a:avLst/>
          </a:prstGeom>
          <a:noFill/>
          <a:extLst>
            <a:ext uri="{909E8E84-426E-40DD-AFC4-6F175D3DCCD1}">
              <a14:hiddenFill xmlns:a14="http://schemas.microsoft.com/office/drawing/2010/main">
                <a:solidFill>
                  <a:srgbClr val="FFFFFF"/>
                </a:solidFill>
              </a14:hiddenFill>
            </a:ext>
          </a:extLst>
        </p:spPr>
      </p:pic>
      <p:sp>
        <p:nvSpPr>
          <p:cNvPr id="12" name="Rounded Rectangle 11"/>
          <p:cNvSpPr/>
          <p:nvPr/>
        </p:nvSpPr>
        <p:spPr>
          <a:xfrm>
            <a:off x="3657600" y="4876800"/>
            <a:ext cx="1371600" cy="950289"/>
          </a:xfrm>
          <a:prstGeom prst="roundRect">
            <a:avLst/>
          </a:prstGeom>
          <a:solidFill>
            <a:schemeClr val="accent1">
              <a:alpha val="32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dirty="0" smtClean="0"/>
          </a:p>
          <a:p>
            <a:pPr algn="ctr"/>
            <a:endParaRPr lang="en-IN" dirty="0"/>
          </a:p>
          <a:p>
            <a:pPr algn="ctr"/>
            <a:r>
              <a:rPr lang="en-IN" b="1" dirty="0" smtClean="0">
                <a:solidFill>
                  <a:srgbClr val="FF0000"/>
                </a:solidFill>
              </a:rPr>
              <a:t>Neuron</a:t>
            </a:r>
            <a:endParaRPr lang="en-IN" b="1" dirty="0">
              <a:solidFill>
                <a:srgbClr val="FF0000"/>
              </a:solidFill>
            </a:endParaRPr>
          </a:p>
        </p:txBody>
      </p:sp>
      <p:sp>
        <p:nvSpPr>
          <p:cNvPr id="13" name="TextBox 12"/>
          <p:cNvSpPr txBox="1"/>
          <p:nvPr/>
        </p:nvSpPr>
        <p:spPr>
          <a:xfrm flipH="1">
            <a:off x="6324600" y="6600824"/>
            <a:ext cx="2797629" cy="307777"/>
          </a:xfrm>
          <a:prstGeom prst="rect">
            <a:avLst/>
          </a:prstGeom>
          <a:noFill/>
        </p:spPr>
        <p:txBody>
          <a:bodyPr wrap="square" rtlCol="0">
            <a:spAutoFit/>
          </a:bodyPr>
          <a:lstStyle/>
          <a:p>
            <a:r>
              <a:rPr lang="en-US" sz="1400" dirty="0" smtClean="0">
                <a:latin typeface="Times New Roman" panose="02020603050405020304" pitchFamily="18" charset="0"/>
                <a:cs typeface="Times New Roman" panose="02020603050405020304" pitchFamily="18" charset="0"/>
              </a:rPr>
              <a:t>Xavier </a:t>
            </a:r>
            <a:r>
              <a:rPr lang="en-US" sz="1400" dirty="0" err="1" smtClean="0">
                <a:latin typeface="Times New Roman" panose="02020603050405020304" pitchFamily="18" charset="0"/>
                <a:cs typeface="Times New Roman" panose="02020603050405020304" pitchFamily="18" charset="0"/>
              </a:rPr>
              <a:t>Glorot</a:t>
            </a:r>
            <a:r>
              <a:rPr lang="en-US" sz="1400" dirty="0" smtClean="0">
                <a:latin typeface="Times New Roman" panose="02020603050405020304" pitchFamily="18" charset="0"/>
                <a:cs typeface="Times New Roman" panose="02020603050405020304" pitchFamily="18" charset="0"/>
              </a:rPr>
              <a:t> Weight Initialization</a:t>
            </a:r>
            <a:endParaRPr lang="en-IN" sz="14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677043832"/>
      </p:ext>
    </p:extLst>
  </p:cSld>
  <p:clrMapOvr>
    <a:masterClrMapping/>
  </p:clrMapOvr>
  <p:timing>
    <p:tnLst>
      <p:par>
        <p:cTn id="1" dur="indefinite" restart="never" nodeType="tmRoot"/>
      </p:par>
    </p:tnLst>
  </p:timing>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cap="small" dirty="0"/>
              <a:t>Weight Initialization</a:t>
            </a:r>
          </a:p>
        </p:txBody>
      </p:sp>
      <p:sp>
        <p:nvSpPr>
          <p:cNvPr id="3" name="Content Placeholder 2"/>
          <p:cNvSpPr>
            <a:spLocks noGrp="1"/>
          </p:cNvSpPr>
          <p:nvPr>
            <p:ph idx="1"/>
          </p:nvPr>
        </p:nvSpPr>
        <p:spPr/>
        <p:txBody>
          <a:bodyPr>
            <a:normAutofit/>
          </a:bodyPr>
          <a:lstStyle/>
          <a:p>
            <a:pPr lvl="1"/>
            <a:r>
              <a:rPr lang="en-US" dirty="0"/>
              <a:t>Xavier/</a:t>
            </a:r>
            <a:r>
              <a:rPr lang="en-US" dirty="0" err="1"/>
              <a:t>Glorot</a:t>
            </a:r>
            <a:r>
              <a:rPr lang="en-US" dirty="0"/>
              <a:t> initialization in 2010- </a:t>
            </a:r>
            <a:r>
              <a:rPr lang="en-US" b="1" i="1" dirty="0">
                <a:solidFill>
                  <a:srgbClr val="2312FA"/>
                </a:solidFill>
              </a:rPr>
              <a:t>well for sigmoid activation function</a:t>
            </a:r>
          </a:p>
          <a:p>
            <a:pPr lvl="2"/>
            <a:r>
              <a:rPr lang="en-US" dirty="0"/>
              <a:t>First Variation – </a:t>
            </a:r>
          </a:p>
          <a:p>
            <a:pPr lvl="2"/>
            <a:endParaRPr lang="en-US" dirty="0"/>
          </a:p>
          <a:p>
            <a:pPr lvl="2"/>
            <a:r>
              <a:rPr lang="en-US" dirty="0"/>
              <a:t>Second Variation– </a:t>
            </a:r>
          </a:p>
          <a:p>
            <a:pPr lvl="2"/>
            <a:endParaRPr lang="en-US" dirty="0"/>
          </a:p>
        </p:txBody>
      </p:sp>
      <p:sp>
        <p:nvSpPr>
          <p:cNvPr id="4" name="Date Placeholder 3"/>
          <p:cNvSpPr>
            <a:spLocks noGrp="1"/>
          </p:cNvSpPr>
          <p:nvPr>
            <p:ph type="dt" sz="half" idx="10"/>
          </p:nvPr>
        </p:nvSpPr>
        <p:spPr/>
        <p:txBody>
          <a:bodyPr/>
          <a:lstStyle/>
          <a:p>
            <a:fld id="{E7067A60-51C7-4095-BFA9-1CE32DCBA06F}" type="datetime1">
              <a:rPr lang="en-US" smtClean="0"/>
              <a:pPr/>
              <a:t>2/9/2026</a:t>
            </a:fld>
            <a:endParaRPr lang="en-US" dirty="0"/>
          </a:p>
        </p:txBody>
      </p:sp>
      <p:sp>
        <p:nvSpPr>
          <p:cNvPr id="6" name="Slide Number Placeholder 5"/>
          <p:cNvSpPr>
            <a:spLocks noGrp="1"/>
          </p:cNvSpPr>
          <p:nvPr>
            <p:ph type="sldNum" sz="quarter" idx="12"/>
          </p:nvPr>
        </p:nvSpPr>
        <p:spPr/>
        <p:txBody>
          <a:bodyPr/>
          <a:lstStyle/>
          <a:p>
            <a:fld id="{A03BBF96-A7A5-4867-9A4A-2F26A3CC4EC3}" type="slidenum">
              <a:rPr lang="en-US" smtClean="0"/>
              <a:pPr/>
              <a:t>45</a:t>
            </a:fld>
            <a:endParaRPr lang="en-US" dirty="0"/>
          </a:p>
        </p:txBody>
      </p:sp>
      <p:sp>
        <p:nvSpPr>
          <p:cNvPr id="7" name="TextBox 6"/>
          <p:cNvSpPr txBox="1"/>
          <p:nvPr/>
        </p:nvSpPr>
        <p:spPr>
          <a:xfrm>
            <a:off x="0" y="0"/>
            <a:ext cx="4572000" cy="369332"/>
          </a:xfrm>
          <a:prstGeom prst="rect">
            <a:avLst/>
          </a:prstGeom>
          <a:noFill/>
        </p:spPr>
        <p:txBody>
          <a:bodyPr wrap="square" rtlCol="0">
            <a:spAutoFit/>
          </a:bodyPr>
          <a:lstStyle/>
          <a:p>
            <a:pPr algn="r"/>
            <a:r>
              <a:rPr lang="en-US" b="1" dirty="0">
                <a:solidFill>
                  <a:schemeClr val="bg1"/>
                </a:solidFill>
              </a:rPr>
              <a:t>Introduction to Deep Neural Network</a:t>
            </a:r>
          </a:p>
        </p:txBody>
      </p:sp>
      <p:sp>
        <p:nvSpPr>
          <p:cNvPr id="8" name="Rectangle 2"/>
          <p:cNvSpPr>
            <a:spLocks noChangeArrowheads="1"/>
          </p:cNvSpPr>
          <p:nvPr/>
        </p:nvSpPr>
        <p:spPr bwMode="auto">
          <a:xfrm>
            <a:off x="0" y="0"/>
            <a:ext cx="91440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sp>
        <p:nvSpPr>
          <p:cNvPr id="9" name="Rectangle 2"/>
          <p:cNvSpPr>
            <a:spLocks noChangeArrowheads="1"/>
          </p:cNvSpPr>
          <p:nvPr/>
        </p:nvSpPr>
        <p:spPr bwMode="auto">
          <a:xfrm>
            <a:off x="0" y="0"/>
            <a:ext cx="91440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sp>
        <p:nvSpPr>
          <p:cNvPr id="11" name="Footer Placeholder 4">
            <a:extLst>
              <a:ext uri="{FF2B5EF4-FFF2-40B4-BE49-F238E27FC236}">
                <a16:creationId xmlns:a16="http://schemas.microsoft.com/office/drawing/2014/main" id="{CBB301ED-B8A4-4772-B559-A9E41E7472BD}"/>
              </a:ext>
            </a:extLst>
          </p:cNvPr>
          <p:cNvSpPr>
            <a:spLocks noGrp="1"/>
          </p:cNvSpPr>
          <p:nvPr>
            <p:ph type="ftr" sz="quarter" idx="11"/>
          </p:nvPr>
        </p:nvSpPr>
        <p:spPr>
          <a:xfrm>
            <a:off x="2286000" y="6629400"/>
            <a:ext cx="4136571" cy="228600"/>
          </a:xfrm>
        </p:spPr>
        <p:txBody>
          <a:bodyPr/>
          <a:lstStyle/>
          <a:p>
            <a:r>
              <a:rPr lang="en-US" dirty="0"/>
              <a:t>Dr. Sibarama Panigrahi, Dept. of CSE, NIT Rourkela</a:t>
            </a:r>
          </a:p>
        </p:txBody>
      </p:sp>
      <p:pic>
        <p:nvPicPr>
          <p:cNvPr id="10243" name="Picture 3"/>
          <p:cNvPicPr>
            <a:picLocks noChangeAspect="1" noChangeArrowheads="1"/>
          </p:cNvPicPr>
          <p:nvPr/>
        </p:nvPicPr>
        <p:blipFill>
          <a:blip r:embed="rId2"/>
          <a:srcRect/>
          <a:stretch>
            <a:fillRect/>
          </a:stretch>
        </p:blipFill>
        <p:spPr bwMode="auto">
          <a:xfrm>
            <a:off x="3581400" y="1905000"/>
            <a:ext cx="4781550" cy="752475"/>
          </a:xfrm>
          <a:prstGeom prst="rect">
            <a:avLst/>
          </a:prstGeom>
          <a:noFill/>
          <a:ln w="9525">
            <a:noFill/>
            <a:miter lim="800000"/>
            <a:headEnd/>
            <a:tailEnd/>
          </a:ln>
          <a:effectLst/>
        </p:spPr>
      </p:pic>
      <p:pic>
        <p:nvPicPr>
          <p:cNvPr id="10245" name="Picture 5"/>
          <p:cNvPicPr>
            <a:picLocks noChangeAspect="1" noChangeArrowheads="1"/>
          </p:cNvPicPr>
          <p:nvPr/>
        </p:nvPicPr>
        <p:blipFill>
          <a:blip r:embed="rId3"/>
          <a:srcRect/>
          <a:stretch>
            <a:fillRect/>
          </a:stretch>
        </p:blipFill>
        <p:spPr bwMode="auto">
          <a:xfrm>
            <a:off x="3733800" y="2752725"/>
            <a:ext cx="5410200" cy="828675"/>
          </a:xfrm>
          <a:prstGeom prst="rect">
            <a:avLst/>
          </a:prstGeom>
          <a:noFill/>
          <a:ln w="9525">
            <a:noFill/>
            <a:miter lim="800000"/>
            <a:headEnd/>
            <a:tailEnd/>
          </a:ln>
          <a:effectLst/>
        </p:spPr>
      </p:pic>
      <p:sp>
        <p:nvSpPr>
          <p:cNvPr id="12" name="TextBox 11"/>
          <p:cNvSpPr txBox="1"/>
          <p:nvPr/>
        </p:nvSpPr>
        <p:spPr>
          <a:xfrm flipH="1">
            <a:off x="6324600" y="6600824"/>
            <a:ext cx="2797629" cy="307777"/>
          </a:xfrm>
          <a:prstGeom prst="rect">
            <a:avLst/>
          </a:prstGeom>
          <a:noFill/>
        </p:spPr>
        <p:txBody>
          <a:bodyPr wrap="square" rtlCol="0">
            <a:spAutoFit/>
          </a:bodyPr>
          <a:lstStyle/>
          <a:p>
            <a:r>
              <a:rPr lang="en-US" sz="1400" dirty="0" smtClean="0">
                <a:latin typeface="Times New Roman" panose="02020603050405020304" pitchFamily="18" charset="0"/>
                <a:cs typeface="Times New Roman" panose="02020603050405020304" pitchFamily="18" charset="0"/>
              </a:rPr>
              <a:t> He Weight Initialization</a:t>
            </a:r>
            <a:endParaRPr lang="en-IN" sz="14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540175593"/>
      </p:ext>
    </p:extLst>
  </p:cSld>
  <p:clrMapOvr>
    <a:masterClrMapping/>
  </p:clrMapOvr>
  <p:timing>
    <p:tnLst>
      <p:par>
        <p:cTn id="1" dur="indefinite" restart="never" nodeType="tmRoot"/>
      </p:par>
    </p:tnLst>
  </p:timing>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cap="small" dirty="0"/>
              <a:t>Weight Initialization</a:t>
            </a:r>
          </a:p>
        </p:txBody>
      </p:sp>
      <p:sp>
        <p:nvSpPr>
          <p:cNvPr id="3" name="Content Placeholder 2"/>
          <p:cNvSpPr>
            <a:spLocks noGrp="1"/>
          </p:cNvSpPr>
          <p:nvPr>
            <p:ph idx="1"/>
          </p:nvPr>
        </p:nvSpPr>
        <p:spPr/>
        <p:txBody>
          <a:bodyPr>
            <a:normAutofit/>
          </a:bodyPr>
          <a:lstStyle/>
          <a:p>
            <a:pPr lvl="1"/>
            <a:r>
              <a:rPr lang="en-US" dirty="0"/>
              <a:t>He </a:t>
            </a:r>
            <a:r>
              <a:rPr lang="en-US" dirty="0" err="1"/>
              <a:t>Initializer</a:t>
            </a:r>
            <a:r>
              <a:rPr lang="en-US" dirty="0"/>
              <a:t>, 2015 </a:t>
            </a:r>
            <a:r>
              <a:rPr lang="en-US" b="1" i="1" dirty="0">
                <a:solidFill>
                  <a:srgbClr val="2312FA"/>
                </a:solidFill>
              </a:rPr>
              <a:t>works well for </a:t>
            </a:r>
            <a:r>
              <a:rPr lang="en-US" b="1" i="1" dirty="0" err="1">
                <a:solidFill>
                  <a:srgbClr val="2312FA"/>
                </a:solidFill>
              </a:rPr>
              <a:t>ReLU</a:t>
            </a:r>
            <a:r>
              <a:rPr lang="en-US" b="1" i="1" dirty="0">
                <a:solidFill>
                  <a:srgbClr val="2312FA"/>
                </a:solidFill>
              </a:rPr>
              <a:t> </a:t>
            </a:r>
          </a:p>
          <a:p>
            <a:pPr lvl="1"/>
            <a:endParaRPr lang="en-US" dirty="0"/>
          </a:p>
          <a:p>
            <a:pPr lvl="2"/>
            <a:r>
              <a:rPr lang="en-US" dirty="0"/>
              <a:t>First Variation – </a:t>
            </a:r>
          </a:p>
          <a:p>
            <a:pPr lvl="2"/>
            <a:endParaRPr lang="en-US" dirty="0"/>
          </a:p>
          <a:p>
            <a:pPr lvl="2"/>
            <a:r>
              <a:rPr lang="en-US" dirty="0"/>
              <a:t>Second Variation– </a:t>
            </a:r>
          </a:p>
          <a:p>
            <a:endParaRPr lang="en-US" dirty="0"/>
          </a:p>
        </p:txBody>
      </p:sp>
      <p:sp>
        <p:nvSpPr>
          <p:cNvPr id="4" name="Date Placeholder 3"/>
          <p:cNvSpPr>
            <a:spLocks noGrp="1"/>
          </p:cNvSpPr>
          <p:nvPr>
            <p:ph type="dt" sz="half" idx="10"/>
          </p:nvPr>
        </p:nvSpPr>
        <p:spPr/>
        <p:txBody>
          <a:bodyPr/>
          <a:lstStyle/>
          <a:p>
            <a:fld id="{E7067A60-51C7-4095-BFA9-1CE32DCBA06F}" type="datetime1">
              <a:rPr lang="en-US" smtClean="0"/>
              <a:pPr/>
              <a:t>2/9/2026</a:t>
            </a:fld>
            <a:endParaRPr lang="en-US" dirty="0"/>
          </a:p>
        </p:txBody>
      </p:sp>
      <p:sp>
        <p:nvSpPr>
          <p:cNvPr id="6" name="Slide Number Placeholder 5"/>
          <p:cNvSpPr>
            <a:spLocks noGrp="1"/>
          </p:cNvSpPr>
          <p:nvPr>
            <p:ph type="sldNum" sz="quarter" idx="12"/>
          </p:nvPr>
        </p:nvSpPr>
        <p:spPr/>
        <p:txBody>
          <a:bodyPr/>
          <a:lstStyle/>
          <a:p>
            <a:fld id="{A03BBF96-A7A5-4867-9A4A-2F26A3CC4EC3}" type="slidenum">
              <a:rPr lang="en-US" smtClean="0"/>
              <a:pPr/>
              <a:t>46</a:t>
            </a:fld>
            <a:endParaRPr lang="en-US" dirty="0"/>
          </a:p>
        </p:txBody>
      </p:sp>
      <p:sp>
        <p:nvSpPr>
          <p:cNvPr id="7" name="TextBox 6"/>
          <p:cNvSpPr txBox="1"/>
          <p:nvPr/>
        </p:nvSpPr>
        <p:spPr>
          <a:xfrm>
            <a:off x="0" y="0"/>
            <a:ext cx="4572000" cy="369332"/>
          </a:xfrm>
          <a:prstGeom prst="rect">
            <a:avLst/>
          </a:prstGeom>
          <a:noFill/>
        </p:spPr>
        <p:txBody>
          <a:bodyPr wrap="square" rtlCol="0">
            <a:spAutoFit/>
          </a:bodyPr>
          <a:lstStyle/>
          <a:p>
            <a:pPr algn="r"/>
            <a:r>
              <a:rPr lang="en-US" b="1" dirty="0">
                <a:solidFill>
                  <a:schemeClr val="bg1"/>
                </a:solidFill>
              </a:rPr>
              <a:t>Introduction to Deep Neural Network</a:t>
            </a:r>
          </a:p>
        </p:txBody>
      </p:sp>
      <p:sp>
        <p:nvSpPr>
          <p:cNvPr id="8" name="Rectangle 2"/>
          <p:cNvSpPr>
            <a:spLocks noChangeArrowheads="1"/>
          </p:cNvSpPr>
          <p:nvPr/>
        </p:nvSpPr>
        <p:spPr bwMode="auto">
          <a:xfrm>
            <a:off x="0" y="0"/>
            <a:ext cx="91440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sp>
        <p:nvSpPr>
          <p:cNvPr id="9" name="Rectangle 2"/>
          <p:cNvSpPr>
            <a:spLocks noChangeArrowheads="1"/>
          </p:cNvSpPr>
          <p:nvPr/>
        </p:nvSpPr>
        <p:spPr bwMode="auto">
          <a:xfrm>
            <a:off x="0" y="0"/>
            <a:ext cx="91440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sp>
        <p:nvSpPr>
          <p:cNvPr id="11" name="Footer Placeholder 4">
            <a:extLst>
              <a:ext uri="{FF2B5EF4-FFF2-40B4-BE49-F238E27FC236}">
                <a16:creationId xmlns:a16="http://schemas.microsoft.com/office/drawing/2014/main" id="{CBB301ED-B8A4-4772-B559-A9E41E7472BD}"/>
              </a:ext>
            </a:extLst>
          </p:cNvPr>
          <p:cNvSpPr>
            <a:spLocks noGrp="1"/>
          </p:cNvSpPr>
          <p:nvPr>
            <p:ph type="ftr" sz="quarter" idx="11"/>
          </p:nvPr>
        </p:nvSpPr>
        <p:spPr>
          <a:xfrm>
            <a:off x="2286000" y="6629400"/>
            <a:ext cx="4136571" cy="228600"/>
          </a:xfrm>
        </p:spPr>
        <p:txBody>
          <a:bodyPr/>
          <a:lstStyle/>
          <a:p>
            <a:r>
              <a:rPr lang="en-US" dirty="0"/>
              <a:t>Dr. Sibarama Panigrahi, Dept. of CSE, NIT Rourkela</a:t>
            </a:r>
          </a:p>
        </p:txBody>
      </p:sp>
      <p:pic>
        <p:nvPicPr>
          <p:cNvPr id="11266" name="Picture 2"/>
          <p:cNvPicPr>
            <a:picLocks noChangeAspect="1" noChangeArrowheads="1"/>
          </p:cNvPicPr>
          <p:nvPr/>
        </p:nvPicPr>
        <p:blipFill>
          <a:blip r:embed="rId3"/>
          <a:srcRect/>
          <a:stretch>
            <a:fillRect/>
          </a:stretch>
        </p:blipFill>
        <p:spPr bwMode="auto">
          <a:xfrm>
            <a:off x="3352800" y="1752600"/>
            <a:ext cx="3914775" cy="1038225"/>
          </a:xfrm>
          <a:prstGeom prst="rect">
            <a:avLst/>
          </a:prstGeom>
          <a:noFill/>
          <a:ln w="9525">
            <a:noFill/>
            <a:miter lim="800000"/>
            <a:headEnd/>
            <a:tailEnd/>
          </a:ln>
          <a:effectLst/>
        </p:spPr>
      </p:pic>
      <p:pic>
        <p:nvPicPr>
          <p:cNvPr id="11267" name="Picture 3"/>
          <p:cNvPicPr>
            <a:picLocks noChangeAspect="1" noChangeArrowheads="1"/>
          </p:cNvPicPr>
          <p:nvPr/>
        </p:nvPicPr>
        <p:blipFill>
          <a:blip r:embed="rId4"/>
          <a:srcRect/>
          <a:stretch>
            <a:fillRect/>
          </a:stretch>
        </p:blipFill>
        <p:spPr bwMode="auto">
          <a:xfrm>
            <a:off x="3810000" y="2819400"/>
            <a:ext cx="3476625" cy="828675"/>
          </a:xfrm>
          <a:prstGeom prst="rect">
            <a:avLst/>
          </a:prstGeom>
          <a:noFill/>
          <a:ln w="9525">
            <a:noFill/>
            <a:miter lim="800000"/>
            <a:headEnd/>
            <a:tailEnd/>
          </a:ln>
          <a:effectLst/>
        </p:spPr>
      </p:pic>
      <p:sp>
        <p:nvSpPr>
          <p:cNvPr id="12" name="TextBox 11"/>
          <p:cNvSpPr txBox="1"/>
          <p:nvPr/>
        </p:nvSpPr>
        <p:spPr>
          <a:xfrm flipH="1">
            <a:off x="6324599" y="6600824"/>
            <a:ext cx="3048000" cy="307777"/>
          </a:xfrm>
          <a:prstGeom prst="rect">
            <a:avLst/>
          </a:prstGeom>
          <a:noFill/>
        </p:spPr>
        <p:txBody>
          <a:bodyPr wrap="square" rtlCol="0">
            <a:spAutoFit/>
          </a:bodyPr>
          <a:lstStyle/>
          <a:p>
            <a:r>
              <a:rPr lang="en-US" sz="1400" dirty="0" smtClean="0">
                <a:latin typeface="Times New Roman" panose="02020603050405020304" pitchFamily="18" charset="0"/>
                <a:cs typeface="Times New Roman" panose="02020603050405020304" pitchFamily="18" charset="0"/>
              </a:rPr>
              <a:t>Bias/Variance T/O Weight </a:t>
            </a:r>
            <a:r>
              <a:rPr lang="en-US" sz="1400" dirty="0" err="1" smtClean="0">
                <a:latin typeface="Times New Roman" panose="02020603050405020304" pitchFamily="18" charset="0"/>
                <a:cs typeface="Times New Roman" panose="02020603050405020304" pitchFamily="18" charset="0"/>
              </a:rPr>
              <a:t>Initializ</a:t>
            </a:r>
            <a:endParaRPr lang="en-IN" sz="14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4197376527"/>
      </p:ext>
    </p:extLst>
  </p:cSld>
  <p:clrMapOvr>
    <a:masterClrMapping/>
  </p:clrMapOvr>
  <p:timing>
    <p:tnLst>
      <p:par>
        <p:cTn id="1" dur="indefinite" restart="never" nodeType="tmRoot"/>
      </p:par>
    </p:tnLst>
  </p:timing>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cap="small" dirty="0"/>
              <a:t>Bias-Variance Trade-off</a:t>
            </a:r>
          </a:p>
        </p:txBody>
      </p:sp>
      <p:sp>
        <p:nvSpPr>
          <p:cNvPr id="3" name="Content Placeholder 2"/>
          <p:cNvSpPr>
            <a:spLocks noGrp="1"/>
          </p:cNvSpPr>
          <p:nvPr>
            <p:ph idx="1"/>
          </p:nvPr>
        </p:nvSpPr>
        <p:spPr/>
        <p:txBody>
          <a:bodyPr>
            <a:normAutofit/>
          </a:bodyPr>
          <a:lstStyle/>
          <a:p>
            <a:endParaRPr lang="en-US" dirty="0" smtClean="0"/>
          </a:p>
          <a:p>
            <a:endParaRPr lang="en-US" dirty="0"/>
          </a:p>
          <a:p>
            <a:endParaRPr lang="en-US" dirty="0" smtClean="0"/>
          </a:p>
          <a:p>
            <a:endParaRPr lang="en-US" dirty="0"/>
          </a:p>
          <a:p>
            <a:endParaRPr lang="en-US" dirty="0" smtClean="0"/>
          </a:p>
          <a:p>
            <a:pPr marL="336550" indent="0">
              <a:buNone/>
            </a:pPr>
            <a:endParaRPr lang="en-US" dirty="0"/>
          </a:p>
          <a:p>
            <a:endParaRPr lang="en-US" dirty="0"/>
          </a:p>
          <a:p>
            <a:r>
              <a:rPr lang="en-US" sz="2800" dirty="0" smtClean="0">
                <a:sym typeface="Wingdings" panose="05000000000000000000" pitchFamily="2" charset="2"/>
              </a:rPr>
              <a:t>Multilayer </a:t>
            </a:r>
            <a:r>
              <a:rPr lang="en-US" sz="2800" dirty="0">
                <a:sym typeface="Wingdings" panose="05000000000000000000" pitchFamily="2" charset="2"/>
              </a:rPr>
              <a:t>ANN has higher chance of </a:t>
            </a:r>
            <a:r>
              <a:rPr lang="en-US" sz="2800" dirty="0" smtClean="0">
                <a:sym typeface="Wingdings" panose="05000000000000000000" pitchFamily="2" charset="2"/>
              </a:rPr>
              <a:t>overfitting.</a:t>
            </a:r>
            <a:endParaRPr lang="en-US" sz="2800" dirty="0">
              <a:sym typeface="Wingdings" panose="05000000000000000000" pitchFamily="2" charset="2"/>
            </a:endParaRPr>
          </a:p>
          <a:p>
            <a:endParaRPr lang="en-US" dirty="0"/>
          </a:p>
          <a:p>
            <a:endParaRPr lang="en-US" dirty="0"/>
          </a:p>
          <a:p>
            <a:endParaRPr lang="en-US" dirty="0"/>
          </a:p>
        </p:txBody>
      </p:sp>
      <p:sp>
        <p:nvSpPr>
          <p:cNvPr id="4" name="Date Placeholder 3"/>
          <p:cNvSpPr>
            <a:spLocks noGrp="1"/>
          </p:cNvSpPr>
          <p:nvPr>
            <p:ph type="dt" sz="half" idx="10"/>
          </p:nvPr>
        </p:nvSpPr>
        <p:spPr/>
        <p:txBody>
          <a:bodyPr/>
          <a:lstStyle/>
          <a:p>
            <a:fld id="{E7067A60-51C7-4095-BFA9-1CE32DCBA06F}" type="datetime1">
              <a:rPr lang="en-US" smtClean="0"/>
              <a:pPr/>
              <a:t>2/9/2026</a:t>
            </a:fld>
            <a:endParaRPr lang="en-US" dirty="0"/>
          </a:p>
        </p:txBody>
      </p:sp>
      <p:sp>
        <p:nvSpPr>
          <p:cNvPr id="6" name="Slide Number Placeholder 5"/>
          <p:cNvSpPr>
            <a:spLocks noGrp="1"/>
          </p:cNvSpPr>
          <p:nvPr>
            <p:ph type="sldNum" sz="quarter" idx="12"/>
          </p:nvPr>
        </p:nvSpPr>
        <p:spPr/>
        <p:txBody>
          <a:bodyPr/>
          <a:lstStyle/>
          <a:p>
            <a:fld id="{A03BBF96-A7A5-4867-9A4A-2F26A3CC4EC3}" type="slidenum">
              <a:rPr lang="en-US" smtClean="0"/>
              <a:pPr/>
              <a:t>47</a:t>
            </a:fld>
            <a:endParaRPr lang="en-US" dirty="0"/>
          </a:p>
        </p:txBody>
      </p:sp>
      <p:sp>
        <p:nvSpPr>
          <p:cNvPr id="7" name="TextBox 6"/>
          <p:cNvSpPr txBox="1"/>
          <p:nvPr/>
        </p:nvSpPr>
        <p:spPr>
          <a:xfrm>
            <a:off x="0" y="0"/>
            <a:ext cx="4572000" cy="369332"/>
          </a:xfrm>
          <a:prstGeom prst="rect">
            <a:avLst/>
          </a:prstGeom>
          <a:noFill/>
        </p:spPr>
        <p:txBody>
          <a:bodyPr wrap="square" rtlCol="0">
            <a:spAutoFit/>
          </a:bodyPr>
          <a:lstStyle/>
          <a:p>
            <a:pPr algn="r"/>
            <a:r>
              <a:rPr lang="en-US" b="1" dirty="0">
                <a:solidFill>
                  <a:schemeClr val="bg1"/>
                </a:solidFill>
              </a:rPr>
              <a:t>Introduction to Neural Network</a:t>
            </a:r>
          </a:p>
        </p:txBody>
      </p:sp>
      <p:sp>
        <p:nvSpPr>
          <p:cNvPr id="8" name="Rectangle 2"/>
          <p:cNvSpPr>
            <a:spLocks noChangeArrowheads="1"/>
          </p:cNvSpPr>
          <p:nvPr/>
        </p:nvSpPr>
        <p:spPr bwMode="auto">
          <a:xfrm>
            <a:off x="0" y="0"/>
            <a:ext cx="91440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sp>
        <p:nvSpPr>
          <p:cNvPr id="9" name="Rectangle 2"/>
          <p:cNvSpPr>
            <a:spLocks noChangeArrowheads="1"/>
          </p:cNvSpPr>
          <p:nvPr/>
        </p:nvSpPr>
        <p:spPr bwMode="auto">
          <a:xfrm>
            <a:off x="0" y="0"/>
            <a:ext cx="91440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sp>
        <p:nvSpPr>
          <p:cNvPr id="11" name="Footer Placeholder 4">
            <a:extLst>
              <a:ext uri="{FF2B5EF4-FFF2-40B4-BE49-F238E27FC236}">
                <a16:creationId xmlns:a16="http://schemas.microsoft.com/office/drawing/2014/main" id="{CBB301ED-B8A4-4772-B559-A9E41E7472BD}"/>
              </a:ext>
            </a:extLst>
          </p:cNvPr>
          <p:cNvSpPr>
            <a:spLocks noGrp="1"/>
          </p:cNvSpPr>
          <p:nvPr>
            <p:ph type="ftr" sz="quarter" idx="11"/>
          </p:nvPr>
        </p:nvSpPr>
        <p:spPr>
          <a:xfrm>
            <a:off x="2286000" y="6629400"/>
            <a:ext cx="4136571" cy="228600"/>
          </a:xfrm>
        </p:spPr>
        <p:txBody>
          <a:bodyPr/>
          <a:lstStyle/>
          <a:p>
            <a:r>
              <a:rPr lang="en-US" dirty="0"/>
              <a:t>Dr. Sibarama Panigrahi, Dept. of CSE, NIT Rourkela</a:t>
            </a:r>
          </a:p>
        </p:txBody>
      </p:sp>
      <p:graphicFrame>
        <p:nvGraphicFramePr>
          <p:cNvPr id="5" name="Diagram 4"/>
          <p:cNvGraphicFramePr/>
          <p:nvPr>
            <p:extLst/>
          </p:nvPr>
        </p:nvGraphicFramePr>
        <p:xfrm>
          <a:off x="152400" y="990600"/>
          <a:ext cx="8991600" cy="1981200"/>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graphicFrame>
        <p:nvGraphicFramePr>
          <p:cNvPr id="12" name="Diagram 11"/>
          <p:cNvGraphicFramePr/>
          <p:nvPr>
            <p:extLst/>
          </p:nvPr>
        </p:nvGraphicFramePr>
        <p:xfrm>
          <a:off x="152400" y="3048000"/>
          <a:ext cx="8991600" cy="1981200"/>
        </p:xfrm>
        <a:graphic>
          <a:graphicData uri="http://schemas.openxmlformats.org/drawingml/2006/diagram">
            <dgm:relIds xmlns:dgm="http://schemas.openxmlformats.org/drawingml/2006/diagram" xmlns:r="http://schemas.openxmlformats.org/officeDocument/2006/relationships" r:dm="rId7" r:lo="rId8" r:qs="rId9" r:cs="rId10"/>
          </a:graphicData>
        </a:graphic>
      </p:graphicFrame>
      <p:sp>
        <p:nvSpPr>
          <p:cNvPr id="13" name="TextBox 12"/>
          <p:cNvSpPr txBox="1"/>
          <p:nvPr/>
        </p:nvSpPr>
        <p:spPr>
          <a:xfrm flipH="1">
            <a:off x="6324599" y="6600824"/>
            <a:ext cx="3048000" cy="307777"/>
          </a:xfrm>
          <a:prstGeom prst="rect">
            <a:avLst/>
          </a:prstGeom>
          <a:noFill/>
        </p:spPr>
        <p:txBody>
          <a:bodyPr wrap="square" rtlCol="0">
            <a:spAutoFit/>
          </a:bodyPr>
          <a:lstStyle/>
          <a:p>
            <a:r>
              <a:rPr lang="en-US" sz="1400" dirty="0" smtClean="0">
                <a:latin typeface="Times New Roman" panose="02020603050405020304" pitchFamily="18" charset="0"/>
                <a:cs typeface="Times New Roman" panose="02020603050405020304" pitchFamily="18" charset="0"/>
              </a:rPr>
              <a:t>Dropout and Regularization</a:t>
            </a:r>
            <a:endParaRPr lang="en-IN" sz="14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621692253"/>
      </p:ext>
    </p:extLst>
  </p:cSld>
  <p:clrMapOvr>
    <a:masterClrMapping/>
  </p:clrMapOvr>
  <p:timing>
    <p:tnLst>
      <p:par>
        <p:cTn id="1" dur="indefinite" restart="never" nodeType="tmRoot"/>
      </p:par>
    </p:tnLst>
  </p:timing>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cap="small" dirty="0" smtClean="0"/>
              <a:t>Dropout and Regularization</a:t>
            </a:r>
            <a:endParaRPr lang="en-US" dirty="0"/>
          </a:p>
        </p:txBody>
      </p:sp>
      <p:sp>
        <p:nvSpPr>
          <p:cNvPr id="3" name="Content Placeholder 2"/>
          <p:cNvSpPr>
            <a:spLocks noGrp="1"/>
          </p:cNvSpPr>
          <p:nvPr>
            <p:ph idx="1"/>
          </p:nvPr>
        </p:nvSpPr>
        <p:spPr/>
        <p:txBody>
          <a:bodyPr>
            <a:normAutofit fontScale="55000" lnSpcReduction="20000"/>
          </a:bodyPr>
          <a:lstStyle/>
          <a:p>
            <a:r>
              <a:rPr lang="en-US" sz="4500" dirty="0"/>
              <a:t>Deep NN tend to overfit because of many layers and weights</a:t>
            </a:r>
          </a:p>
          <a:p>
            <a:endParaRPr lang="en-US" sz="4500" dirty="0"/>
          </a:p>
          <a:p>
            <a:r>
              <a:rPr lang="en-US" sz="4500" dirty="0"/>
              <a:t>For this dropout and regularization is needed</a:t>
            </a:r>
          </a:p>
          <a:p>
            <a:endParaRPr lang="en-US" sz="4500" dirty="0"/>
          </a:p>
          <a:p>
            <a:r>
              <a:rPr lang="en-US" sz="4500" dirty="0" smtClean="0"/>
              <a:t>In </a:t>
            </a:r>
            <a:r>
              <a:rPr lang="en-US" sz="4500" dirty="0"/>
              <a:t>Dropout, a certain percentage of inputs and hidden layer neurons are dropped out for an  iteration</a:t>
            </a:r>
          </a:p>
          <a:p>
            <a:endParaRPr lang="en-US" sz="4500" dirty="0"/>
          </a:p>
          <a:p>
            <a:r>
              <a:rPr lang="en-US" sz="4500" dirty="0" smtClean="0"/>
              <a:t>Some </a:t>
            </a:r>
            <a:r>
              <a:rPr lang="en-US" sz="4500" dirty="0"/>
              <a:t>call it as drop out network or </a:t>
            </a:r>
            <a:r>
              <a:rPr lang="en-US" sz="4500" dirty="0" smtClean="0"/>
              <a:t>layer.</a:t>
            </a:r>
          </a:p>
          <a:p>
            <a:endParaRPr lang="en-US" dirty="0"/>
          </a:p>
          <a:p>
            <a:endParaRPr lang="en-US" dirty="0" smtClean="0"/>
          </a:p>
          <a:p>
            <a:endParaRPr lang="en-US" dirty="0"/>
          </a:p>
          <a:p>
            <a:endParaRPr lang="en-US" dirty="0" smtClean="0"/>
          </a:p>
          <a:p>
            <a:pPr marL="336550" indent="0">
              <a:buNone/>
            </a:pPr>
            <a:endParaRPr lang="en-US" dirty="0" smtClean="0"/>
          </a:p>
          <a:p>
            <a:endParaRPr lang="en-US" dirty="0"/>
          </a:p>
          <a:p>
            <a:endParaRPr lang="en-US" dirty="0" smtClean="0"/>
          </a:p>
          <a:p>
            <a:endParaRPr lang="en-US" dirty="0"/>
          </a:p>
          <a:p>
            <a:pPr marL="336550" indent="0">
              <a:buNone/>
            </a:pPr>
            <a:r>
              <a:rPr lang="en-US" dirty="0" smtClean="0"/>
              <a:t>‘</a:t>
            </a:r>
            <a:endParaRPr lang="en-US" dirty="0"/>
          </a:p>
          <a:p>
            <a:endParaRPr lang="en-US" dirty="0"/>
          </a:p>
          <a:p>
            <a:endParaRPr lang="en-US" dirty="0"/>
          </a:p>
          <a:p>
            <a:endParaRPr lang="en-US" dirty="0"/>
          </a:p>
          <a:p>
            <a:pPr lvl="1"/>
            <a:endParaRPr lang="en-US" dirty="0"/>
          </a:p>
          <a:p>
            <a:pPr lvl="1"/>
            <a:endParaRPr lang="en-US" dirty="0"/>
          </a:p>
          <a:p>
            <a:pPr lvl="1"/>
            <a:endParaRPr lang="en-US" dirty="0"/>
          </a:p>
          <a:p>
            <a:endParaRPr lang="en-US" dirty="0"/>
          </a:p>
          <a:p>
            <a:endParaRPr lang="en-US" dirty="0"/>
          </a:p>
          <a:p>
            <a:endParaRPr lang="en-US" dirty="0"/>
          </a:p>
        </p:txBody>
      </p:sp>
      <p:sp>
        <p:nvSpPr>
          <p:cNvPr id="4" name="Date Placeholder 3"/>
          <p:cNvSpPr>
            <a:spLocks noGrp="1"/>
          </p:cNvSpPr>
          <p:nvPr>
            <p:ph type="dt" sz="half" idx="10"/>
          </p:nvPr>
        </p:nvSpPr>
        <p:spPr/>
        <p:txBody>
          <a:bodyPr/>
          <a:lstStyle/>
          <a:p>
            <a:fld id="{E7067A60-51C7-4095-BFA9-1CE32DCBA06F}" type="datetime1">
              <a:rPr lang="en-US" smtClean="0"/>
              <a:pPr/>
              <a:t>2/9/2026</a:t>
            </a:fld>
            <a:endParaRPr lang="en-US" dirty="0"/>
          </a:p>
        </p:txBody>
      </p:sp>
      <p:sp>
        <p:nvSpPr>
          <p:cNvPr id="6" name="Slide Number Placeholder 5"/>
          <p:cNvSpPr>
            <a:spLocks noGrp="1"/>
          </p:cNvSpPr>
          <p:nvPr>
            <p:ph type="sldNum" sz="quarter" idx="12"/>
          </p:nvPr>
        </p:nvSpPr>
        <p:spPr/>
        <p:txBody>
          <a:bodyPr/>
          <a:lstStyle/>
          <a:p>
            <a:fld id="{A03BBF96-A7A5-4867-9A4A-2F26A3CC4EC3}" type="slidenum">
              <a:rPr lang="en-US" smtClean="0"/>
              <a:pPr/>
              <a:t>48</a:t>
            </a:fld>
            <a:endParaRPr lang="en-US" dirty="0"/>
          </a:p>
        </p:txBody>
      </p:sp>
      <p:sp>
        <p:nvSpPr>
          <p:cNvPr id="7" name="TextBox 6"/>
          <p:cNvSpPr txBox="1"/>
          <p:nvPr/>
        </p:nvSpPr>
        <p:spPr>
          <a:xfrm>
            <a:off x="0" y="0"/>
            <a:ext cx="4572000" cy="369332"/>
          </a:xfrm>
          <a:prstGeom prst="rect">
            <a:avLst/>
          </a:prstGeom>
          <a:noFill/>
        </p:spPr>
        <p:txBody>
          <a:bodyPr wrap="square" rtlCol="0">
            <a:spAutoFit/>
          </a:bodyPr>
          <a:lstStyle/>
          <a:p>
            <a:pPr algn="r"/>
            <a:r>
              <a:rPr lang="en-US" b="1" dirty="0">
                <a:solidFill>
                  <a:schemeClr val="bg1"/>
                </a:solidFill>
              </a:rPr>
              <a:t>Introduction to Deep Neural Network</a:t>
            </a:r>
          </a:p>
        </p:txBody>
      </p:sp>
      <p:sp>
        <p:nvSpPr>
          <p:cNvPr id="8" name="Rectangle 2"/>
          <p:cNvSpPr>
            <a:spLocks noChangeArrowheads="1"/>
          </p:cNvSpPr>
          <p:nvPr/>
        </p:nvSpPr>
        <p:spPr bwMode="auto">
          <a:xfrm>
            <a:off x="0" y="0"/>
            <a:ext cx="91440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sp>
        <p:nvSpPr>
          <p:cNvPr id="9" name="Rectangle 2"/>
          <p:cNvSpPr>
            <a:spLocks noChangeArrowheads="1"/>
          </p:cNvSpPr>
          <p:nvPr/>
        </p:nvSpPr>
        <p:spPr bwMode="auto">
          <a:xfrm>
            <a:off x="0" y="0"/>
            <a:ext cx="91440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sp>
        <p:nvSpPr>
          <p:cNvPr id="10" name="Footer Placeholder 4">
            <a:extLst>
              <a:ext uri="{FF2B5EF4-FFF2-40B4-BE49-F238E27FC236}">
                <a16:creationId xmlns:a16="http://schemas.microsoft.com/office/drawing/2014/main" id="{66AFB5F5-60EB-485C-AC35-A74E064AADC1}"/>
              </a:ext>
            </a:extLst>
          </p:cNvPr>
          <p:cNvSpPr>
            <a:spLocks noGrp="1"/>
          </p:cNvSpPr>
          <p:nvPr>
            <p:ph type="ftr" sz="quarter" idx="11"/>
          </p:nvPr>
        </p:nvSpPr>
        <p:spPr>
          <a:xfrm>
            <a:off x="2476501" y="6629400"/>
            <a:ext cx="4136571" cy="228600"/>
          </a:xfrm>
        </p:spPr>
        <p:txBody>
          <a:bodyPr/>
          <a:lstStyle/>
          <a:p>
            <a:r>
              <a:rPr lang="en-US" dirty="0"/>
              <a:t>Dr. Sibarama Panigrahi, Dept. of CSE, NIT Rourkela</a:t>
            </a:r>
          </a:p>
        </p:txBody>
      </p:sp>
      <p:pic>
        <p:nvPicPr>
          <p:cNvPr id="11" name="Picture 10"/>
          <p:cNvPicPr>
            <a:picLocks noChangeAspect="1"/>
          </p:cNvPicPr>
          <p:nvPr/>
        </p:nvPicPr>
        <p:blipFill>
          <a:blip r:embed="rId2"/>
          <a:stretch>
            <a:fillRect/>
          </a:stretch>
        </p:blipFill>
        <p:spPr>
          <a:xfrm>
            <a:off x="2873829" y="4267200"/>
            <a:ext cx="3063710" cy="2285999"/>
          </a:xfrm>
          <a:prstGeom prst="rect">
            <a:avLst/>
          </a:prstGeom>
        </p:spPr>
      </p:pic>
      <p:sp>
        <p:nvSpPr>
          <p:cNvPr id="12" name="TextBox 11"/>
          <p:cNvSpPr txBox="1"/>
          <p:nvPr/>
        </p:nvSpPr>
        <p:spPr>
          <a:xfrm flipH="1">
            <a:off x="6324599" y="6600824"/>
            <a:ext cx="3048000" cy="307777"/>
          </a:xfrm>
          <a:prstGeom prst="rect">
            <a:avLst/>
          </a:prstGeom>
          <a:noFill/>
        </p:spPr>
        <p:txBody>
          <a:bodyPr wrap="square" rtlCol="0">
            <a:spAutoFit/>
          </a:bodyPr>
          <a:lstStyle/>
          <a:p>
            <a:r>
              <a:rPr lang="en-US" sz="1400" dirty="0" smtClean="0">
                <a:latin typeface="Times New Roman" panose="02020603050405020304" pitchFamily="18" charset="0"/>
                <a:cs typeface="Times New Roman" panose="02020603050405020304" pitchFamily="18" charset="0"/>
              </a:rPr>
              <a:t>     Dropout Procedure</a:t>
            </a:r>
            <a:endParaRPr lang="en-IN" sz="14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777635568"/>
      </p:ext>
    </p:extLst>
  </p:cSld>
  <p:clrMapOvr>
    <a:masterClrMapping/>
  </p:clrMapOvr>
  <p:timing>
    <p:tnLst>
      <p:par>
        <p:cTn id="1" dur="indefinite" restart="never" nodeType="tmRoot"/>
      </p:par>
    </p:tnLst>
  </p:timing>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dirty="0"/>
              <a:t>Dropout </a:t>
            </a:r>
          </a:p>
        </p:txBody>
      </p:sp>
      <p:sp>
        <p:nvSpPr>
          <p:cNvPr id="3" name="Content Placeholder 2"/>
          <p:cNvSpPr>
            <a:spLocks noGrp="1"/>
          </p:cNvSpPr>
          <p:nvPr>
            <p:ph idx="1"/>
          </p:nvPr>
        </p:nvSpPr>
        <p:spPr/>
        <p:txBody>
          <a:bodyPr>
            <a:normAutofit fontScale="70000" lnSpcReduction="20000"/>
          </a:bodyPr>
          <a:lstStyle/>
          <a:p>
            <a:r>
              <a:rPr lang="en-US" dirty="0"/>
              <a:t>Procedure:</a:t>
            </a:r>
          </a:p>
          <a:p>
            <a:pPr lvl="1"/>
            <a:r>
              <a:rPr lang="en-US" dirty="0"/>
              <a:t>During training we decide with probability </a:t>
            </a:r>
            <a:r>
              <a:rPr lang="en-US" i="1" dirty="0"/>
              <a:t>p</a:t>
            </a:r>
            <a:r>
              <a:rPr lang="en-US" dirty="0"/>
              <a:t> to update a node’s weights or not. </a:t>
            </a:r>
          </a:p>
          <a:p>
            <a:pPr lvl="1"/>
            <a:r>
              <a:rPr lang="en-US" dirty="0"/>
              <a:t>We set </a:t>
            </a:r>
            <a:r>
              <a:rPr lang="en-US" i="1" dirty="0"/>
              <a:t>p</a:t>
            </a:r>
            <a:r>
              <a:rPr lang="en-US" dirty="0"/>
              <a:t> to be typically 0.5</a:t>
            </a:r>
          </a:p>
          <a:p>
            <a:r>
              <a:rPr lang="en-US" dirty="0"/>
              <a:t>Highly effective in deep learning:</a:t>
            </a:r>
          </a:p>
          <a:p>
            <a:pPr lvl="1"/>
            <a:r>
              <a:rPr lang="en-US" dirty="0"/>
              <a:t>Decreases overfitting</a:t>
            </a:r>
          </a:p>
          <a:p>
            <a:pPr lvl="1"/>
            <a:r>
              <a:rPr lang="en-US" dirty="0" smtClean="0"/>
              <a:t>Reduces </a:t>
            </a:r>
            <a:r>
              <a:rPr lang="en-US" dirty="0"/>
              <a:t>training time</a:t>
            </a:r>
          </a:p>
          <a:p>
            <a:r>
              <a:rPr lang="en-US" dirty="0"/>
              <a:t>Can be loosely interpreted as ensemble of networks</a:t>
            </a:r>
          </a:p>
          <a:p>
            <a:endParaRPr lang="en-US" dirty="0"/>
          </a:p>
          <a:p>
            <a:endParaRPr lang="en-US" dirty="0" smtClean="0"/>
          </a:p>
          <a:p>
            <a:endParaRPr lang="en-US" dirty="0"/>
          </a:p>
          <a:p>
            <a:endParaRPr lang="en-US" dirty="0" smtClean="0"/>
          </a:p>
          <a:p>
            <a:pPr marL="336550" indent="0">
              <a:buNone/>
            </a:pPr>
            <a:endParaRPr lang="en-US" dirty="0" smtClean="0"/>
          </a:p>
          <a:p>
            <a:endParaRPr lang="en-US" dirty="0"/>
          </a:p>
          <a:p>
            <a:endParaRPr lang="en-US" dirty="0" smtClean="0"/>
          </a:p>
          <a:p>
            <a:endParaRPr lang="en-US" dirty="0"/>
          </a:p>
          <a:p>
            <a:pPr marL="336550" indent="0">
              <a:buNone/>
            </a:pPr>
            <a:r>
              <a:rPr lang="en-US" dirty="0" smtClean="0"/>
              <a:t>‘</a:t>
            </a:r>
          </a:p>
          <a:p>
            <a:pPr marL="336550" indent="0">
              <a:buNone/>
            </a:pPr>
            <a:endParaRPr lang="en-US" dirty="0"/>
          </a:p>
        </p:txBody>
      </p:sp>
      <p:sp>
        <p:nvSpPr>
          <p:cNvPr id="4" name="Date Placeholder 3"/>
          <p:cNvSpPr>
            <a:spLocks noGrp="1"/>
          </p:cNvSpPr>
          <p:nvPr>
            <p:ph type="dt" sz="half" idx="10"/>
          </p:nvPr>
        </p:nvSpPr>
        <p:spPr/>
        <p:txBody>
          <a:bodyPr/>
          <a:lstStyle/>
          <a:p>
            <a:fld id="{E7067A60-51C7-4095-BFA9-1CE32DCBA06F}" type="datetime1">
              <a:rPr lang="en-US" smtClean="0"/>
              <a:pPr/>
              <a:t>2/9/2026</a:t>
            </a:fld>
            <a:endParaRPr lang="en-US" dirty="0"/>
          </a:p>
        </p:txBody>
      </p:sp>
      <p:sp>
        <p:nvSpPr>
          <p:cNvPr id="6" name="Slide Number Placeholder 5"/>
          <p:cNvSpPr>
            <a:spLocks noGrp="1"/>
          </p:cNvSpPr>
          <p:nvPr>
            <p:ph type="sldNum" sz="quarter" idx="12"/>
          </p:nvPr>
        </p:nvSpPr>
        <p:spPr/>
        <p:txBody>
          <a:bodyPr/>
          <a:lstStyle/>
          <a:p>
            <a:fld id="{A03BBF96-A7A5-4867-9A4A-2F26A3CC4EC3}" type="slidenum">
              <a:rPr lang="en-US" smtClean="0"/>
              <a:pPr/>
              <a:t>49</a:t>
            </a:fld>
            <a:endParaRPr lang="en-US" dirty="0"/>
          </a:p>
        </p:txBody>
      </p:sp>
      <p:sp>
        <p:nvSpPr>
          <p:cNvPr id="7" name="TextBox 6"/>
          <p:cNvSpPr txBox="1"/>
          <p:nvPr/>
        </p:nvSpPr>
        <p:spPr>
          <a:xfrm>
            <a:off x="0" y="0"/>
            <a:ext cx="4572000" cy="369332"/>
          </a:xfrm>
          <a:prstGeom prst="rect">
            <a:avLst/>
          </a:prstGeom>
          <a:noFill/>
        </p:spPr>
        <p:txBody>
          <a:bodyPr wrap="square" rtlCol="0">
            <a:spAutoFit/>
          </a:bodyPr>
          <a:lstStyle/>
          <a:p>
            <a:pPr algn="r"/>
            <a:r>
              <a:rPr lang="en-US" b="1" dirty="0">
                <a:solidFill>
                  <a:schemeClr val="bg1"/>
                </a:solidFill>
              </a:rPr>
              <a:t>Introduction to Deep Neural Network</a:t>
            </a:r>
          </a:p>
        </p:txBody>
      </p:sp>
      <p:sp>
        <p:nvSpPr>
          <p:cNvPr id="8" name="Rectangle 2"/>
          <p:cNvSpPr>
            <a:spLocks noChangeArrowheads="1"/>
          </p:cNvSpPr>
          <p:nvPr/>
        </p:nvSpPr>
        <p:spPr bwMode="auto">
          <a:xfrm>
            <a:off x="0" y="0"/>
            <a:ext cx="91440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sp>
        <p:nvSpPr>
          <p:cNvPr id="9" name="Rectangle 2"/>
          <p:cNvSpPr>
            <a:spLocks noChangeArrowheads="1"/>
          </p:cNvSpPr>
          <p:nvPr/>
        </p:nvSpPr>
        <p:spPr bwMode="auto">
          <a:xfrm>
            <a:off x="0" y="0"/>
            <a:ext cx="91440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sp>
        <p:nvSpPr>
          <p:cNvPr id="10" name="Footer Placeholder 4">
            <a:extLst>
              <a:ext uri="{FF2B5EF4-FFF2-40B4-BE49-F238E27FC236}">
                <a16:creationId xmlns:a16="http://schemas.microsoft.com/office/drawing/2014/main" id="{66AFB5F5-60EB-485C-AC35-A74E064AADC1}"/>
              </a:ext>
            </a:extLst>
          </p:cNvPr>
          <p:cNvSpPr>
            <a:spLocks noGrp="1"/>
          </p:cNvSpPr>
          <p:nvPr>
            <p:ph type="ftr" sz="quarter" idx="11"/>
          </p:nvPr>
        </p:nvSpPr>
        <p:spPr>
          <a:xfrm>
            <a:off x="2476501" y="6629400"/>
            <a:ext cx="4136571" cy="228600"/>
          </a:xfrm>
        </p:spPr>
        <p:txBody>
          <a:bodyPr/>
          <a:lstStyle/>
          <a:p>
            <a:r>
              <a:rPr lang="en-US" dirty="0"/>
              <a:t>Dr. Sibarama Panigrahi, Dept. of CSE, NIT Rourkela</a:t>
            </a:r>
          </a:p>
        </p:txBody>
      </p:sp>
      <p:pic>
        <p:nvPicPr>
          <p:cNvPr id="11" name="Picture 10"/>
          <p:cNvPicPr>
            <a:picLocks noChangeAspect="1"/>
          </p:cNvPicPr>
          <p:nvPr/>
        </p:nvPicPr>
        <p:blipFill>
          <a:blip r:embed="rId2"/>
          <a:stretch>
            <a:fillRect/>
          </a:stretch>
        </p:blipFill>
        <p:spPr>
          <a:xfrm>
            <a:off x="2873829" y="4059618"/>
            <a:ext cx="3341914" cy="2493582"/>
          </a:xfrm>
          <a:prstGeom prst="rect">
            <a:avLst/>
          </a:prstGeom>
        </p:spPr>
      </p:pic>
      <p:sp>
        <p:nvSpPr>
          <p:cNvPr id="12" name="TextBox 11"/>
          <p:cNvSpPr txBox="1"/>
          <p:nvPr/>
        </p:nvSpPr>
        <p:spPr>
          <a:xfrm flipH="1">
            <a:off x="6324599" y="6600824"/>
            <a:ext cx="3048000" cy="307777"/>
          </a:xfrm>
          <a:prstGeom prst="rect">
            <a:avLst/>
          </a:prstGeom>
          <a:noFill/>
        </p:spPr>
        <p:txBody>
          <a:bodyPr wrap="square" rtlCol="0">
            <a:spAutoFit/>
          </a:bodyPr>
          <a:lstStyle/>
          <a:p>
            <a:r>
              <a:rPr lang="en-US" sz="1400" dirty="0">
                <a:latin typeface="Times New Roman" panose="02020603050405020304" pitchFamily="18" charset="0"/>
                <a:cs typeface="Times New Roman" panose="02020603050405020304" pitchFamily="18" charset="0"/>
              </a:rPr>
              <a:t> </a:t>
            </a:r>
            <a:r>
              <a:rPr lang="en-US" sz="1400" dirty="0" smtClean="0">
                <a:latin typeface="Times New Roman" panose="02020603050405020304" pitchFamily="18" charset="0"/>
                <a:cs typeface="Times New Roman" panose="02020603050405020304" pitchFamily="18" charset="0"/>
              </a:rPr>
              <a:t>    Batch Normalization</a:t>
            </a:r>
            <a:endParaRPr lang="en-IN" sz="14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186816387"/>
      </p:ext>
    </p:extLst>
  </p:cSld>
  <p:clrMapOvr>
    <a:masterClrMapping/>
  </p:clrMapOvr>
  <p:timing>
    <p:tnLst>
      <p:par>
        <p:cTn id="1" dur="indefinite" restart="never" nodeType="tmRoot"/>
      </p:par>
    </p:tnLst>
  </p:timing>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cap="small" dirty="0"/>
              <a:t>Batch Normalization</a:t>
            </a:r>
          </a:p>
        </p:txBody>
      </p:sp>
      <p:sp>
        <p:nvSpPr>
          <p:cNvPr id="3" name="Content Placeholder 2"/>
          <p:cNvSpPr>
            <a:spLocks noGrp="1"/>
          </p:cNvSpPr>
          <p:nvPr>
            <p:ph idx="1"/>
          </p:nvPr>
        </p:nvSpPr>
        <p:spPr/>
        <p:txBody>
          <a:bodyPr>
            <a:normAutofit/>
          </a:bodyPr>
          <a:lstStyle/>
          <a:p>
            <a:pPr algn="just"/>
            <a:r>
              <a:rPr lang="en-US" sz="2400" dirty="0"/>
              <a:t>Normalization is a data pre-processing tool used to bring the numerical data to a common scale without distorting its shape</a:t>
            </a:r>
            <a:r>
              <a:rPr lang="en-US" sz="2400" dirty="0" smtClean="0"/>
              <a:t>.</a:t>
            </a:r>
          </a:p>
          <a:p>
            <a:pPr lvl="1" algn="just"/>
            <a:endParaRPr lang="en-US" sz="2000" dirty="0"/>
          </a:p>
          <a:p>
            <a:pPr lvl="1" algn="just"/>
            <a:r>
              <a:rPr lang="en-US" sz="2000" dirty="0" smtClean="0"/>
              <a:t>Decimal Scaling:</a:t>
            </a:r>
          </a:p>
          <a:p>
            <a:pPr lvl="1" algn="just"/>
            <a:endParaRPr lang="en-US" sz="2000" dirty="0"/>
          </a:p>
          <a:p>
            <a:pPr lvl="1" algn="just"/>
            <a:r>
              <a:rPr lang="en-US" sz="2000" dirty="0" smtClean="0"/>
              <a:t>Median:</a:t>
            </a:r>
          </a:p>
          <a:p>
            <a:pPr lvl="1" algn="just"/>
            <a:endParaRPr lang="en-US" sz="2000" dirty="0"/>
          </a:p>
          <a:p>
            <a:pPr lvl="1" algn="just"/>
            <a:r>
              <a:rPr lang="en-US" sz="2000" dirty="0" smtClean="0"/>
              <a:t>Min-Max:</a:t>
            </a:r>
          </a:p>
          <a:p>
            <a:pPr lvl="1" algn="just"/>
            <a:endParaRPr lang="en-US" sz="2000" dirty="0"/>
          </a:p>
          <a:p>
            <a:pPr lvl="1" algn="just"/>
            <a:r>
              <a:rPr lang="en-US" sz="2000" dirty="0" smtClean="0"/>
              <a:t>Vector:</a:t>
            </a:r>
          </a:p>
          <a:p>
            <a:pPr lvl="1" algn="just"/>
            <a:endParaRPr lang="en-US" sz="2000" dirty="0"/>
          </a:p>
          <a:p>
            <a:pPr lvl="1" algn="just"/>
            <a:endParaRPr lang="en-US" sz="2000" dirty="0" smtClean="0"/>
          </a:p>
          <a:p>
            <a:pPr lvl="1" algn="just"/>
            <a:endParaRPr lang="en-US" sz="2000" dirty="0"/>
          </a:p>
          <a:p>
            <a:pPr lvl="1" algn="just"/>
            <a:r>
              <a:rPr lang="en-US" sz="2000" dirty="0" smtClean="0"/>
              <a:t>Z-Score:     </a:t>
            </a:r>
          </a:p>
          <a:p>
            <a:pPr marL="685800" lvl="1" indent="0" algn="just">
              <a:buNone/>
            </a:pPr>
            <a:endParaRPr lang="en-US" dirty="0"/>
          </a:p>
          <a:p>
            <a:endParaRPr lang="en-US" dirty="0"/>
          </a:p>
        </p:txBody>
      </p:sp>
      <p:sp>
        <p:nvSpPr>
          <p:cNvPr id="4" name="Date Placeholder 3"/>
          <p:cNvSpPr>
            <a:spLocks noGrp="1"/>
          </p:cNvSpPr>
          <p:nvPr>
            <p:ph type="dt" sz="half" idx="10"/>
          </p:nvPr>
        </p:nvSpPr>
        <p:spPr/>
        <p:txBody>
          <a:bodyPr/>
          <a:lstStyle/>
          <a:p>
            <a:fld id="{E7067A60-51C7-4095-BFA9-1CE32DCBA06F}" type="datetime1">
              <a:rPr lang="en-US" smtClean="0"/>
              <a:pPr/>
              <a:t>2/9/2026</a:t>
            </a:fld>
            <a:endParaRPr lang="en-US" dirty="0"/>
          </a:p>
        </p:txBody>
      </p:sp>
      <p:sp>
        <p:nvSpPr>
          <p:cNvPr id="6" name="Slide Number Placeholder 5"/>
          <p:cNvSpPr>
            <a:spLocks noGrp="1"/>
          </p:cNvSpPr>
          <p:nvPr>
            <p:ph type="sldNum" sz="quarter" idx="12"/>
          </p:nvPr>
        </p:nvSpPr>
        <p:spPr/>
        <p:txBody>
          <a:bodyPr/>
          <a:lstStyle/>
          <a:p>
            <a:fld id="{A03BBF96-A7A5-4867-9A4A-2F26A3CC4EC3}" type="slidenum">
              <a:rPr lang="en-US" smtClean="0"/>
              <a:pPr/>
              <a:t>50</a:t>
            </a:fld>
            <a:endParaRPr lang="en-US" dirty="0"/>
          </a:p>
        </p:txBody>
      </p:sp>
      <p:sp>
        <p:nvSpPr>
          <p:cNvPr id="7" name="TextBox 6"/>
          <p:cNvSpPr txBox="1"/>
          <p:nvPr/>
        </p:nvSpPr>
        <p:spPr>
          <a:xfrm>
            <a:off x="0" y="0"/>
            <a:ext cx="4572000" cy="369332"/>
          </a:xfrm>
          <a:prstGeom prst="rect">
            <a:avLst/>
          </a:prstGeom>
          <a:noFill/>
        </p:spPr>
        <p:txBody>
          <a:bodyPr wrap="square" rtlCol="0">
            <a:spAutoFit/>
          </a:bodyPr>
          <a:lstStyle/>
          <a:p>
            <a:pPr algn="r"/>
            <a:r>
              <a:rPr lang="en-US" b="1" dirty="0">
                <a:solidFill>
                  <a:schemeClr val="bg1"/>
                </a:solidFill>
              </a:rPr>
              <a:t>Introduction to Deep Neural Network</a:t>
            </a:r>
          </a:p>
        </p:txBody>
      </p:sp>
      <p:sp>
        <p:nvSpPr>
          <p:cNvPr id="8" name="Rectangle 2"/>
          <p:cNvSpPr>
            <a:spLocks noChangeArrowheads="1"/>
          </p:cNvSpPr>
          <p:nvPr/>
        </p:nvSpPr>
        <p:spPr bwMode="auto">
          <a:xfrm>
            <a:off x="0" y="0"/>
            <a:ext cx="91440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sp>
        <p:nvSpPr>
          <p:cNvPr id="9" name="Rectangle 2"/>
          <p:cNvSpPr>
            <a:spLocks noChangeArrowheads="1"/>
          </p:cNvSpPr>
          <p:nvPr/>
        </p:nvSpPr>
        <p:spPr bwMode="auto">
          <a:xfrm>
            <a:off x="0" y="0"/>
            <a:ext cx="91440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sp>
        <p:nvSpPr>
          <p:cNvPr id="11" name="Footer Placeholder 4">
            <a:extLst>
              <a:ext uri="{FF2B5EF4-FFF2-40B4-BE49-F238E27FC236}">
                <a16:creationId xmlns:a16="http://schemas.microsoft.com/office/drawing/2014/main" id="{CBB301ED-B8A4-4772-B559-A9E41E7472BD}"/>
              </a:ext>
            </a:extLst>
          </p:cNvPr>
          <p:cNvSpPr>
            <a:spLocks noGrp="1"/>
          </p:cNvSpPr>
          <p:nvPr>
            <p:ph type="ftr" sz="quarter" idx="11"/>
          </p:nvPr>
        </p:nvSpPr>
        <p:spPr>
          <a:xfrm>
            <a:off x="2286000" y="6629400"/>
            <a:ext cx="4136571" cy="228600"/>
          </a:xfrm>
        </p:spPr>
        <p:txBody>
          <a:bodyPr/>
          <a:lstStyle/>
          <a:p>
            <a:r>
              <a:rPr lang="en-US" dirty="0"/>
              <a:t>Dr. Sibarama Panigrahi, Dept. of CSE, NIT Rourkela</a:t>
            </a:r>
          </a:p>
        </p:txBody>
      </p:sp>
      <p:pic>
        <p:nvPicPr>
          <p:cNvPr id="5" name="Picture 4"/>
          <p:cNvPicPr>
            <a:picLocks noChangeAspect="1"/>
          </p:cNvPicPr>
          <p:nvPr/>
        </p:nvPicPr>
        <p:blipFill>
          <a:blip r:embed="rId2"/>
          <a:stretch>
            <a:fillRect/>
          </a:stretch>
        </p:blipFill>
        <p:spPr>
          <a:xfrm>
            <a:off x="2895600" y="2133600"/>
            <a:ext cx="1095375" cy="600075"/>
          </a:xfrm>
          <a:prstGeom prst="rect">
            <a:avLst/>
          </a:prstGeom>
        </p:spPr>
      </p:pic>
      <p:pic>
        <p:nvPicPr>
          <p:cNvPr id="24" name="Picture 23"/>
          <p:cNvPicPr>
            <a:picLocks noChangeAspect="1"/>
          </p:cNvPicPr>
          <p:nvPr/>
        </p:nvPicPr>
        <p:blipFill>
          <a:blip r:embed="rId3"/>
          <a:stretch>
            <a:fillRect/>
          </a:stretch>
        </p:blipFill>
        <p:spPr>
          <a:xfrm>
            <a:off x="2019300" y="2876549"/>
            <a:ext cx="1752600" cy="676275"/>
          </a:xfrm>
          <a:prstGeom prst="rect">
            <a:avLst/>
          </a:prstGeom>
        </p:spPr>
      </p:pic>
      <p:pic>
        <p:nvPicPr>
          <p:cNvPr id="25" name="Picture 24"/>
          <p:cNvPicPr>
            <a:picLocks noChangeAspect="1"/>
          </p:cNvPicPr>
          <p:nvPr/>
        </p:nvPicPr>
        <p:blipFill>
          <a:blip r:embed="rId4"/>
          <a:stretch>
            <a:fillRect/>
          </a:stretch>
        </p:blipFill>
        <p:spPr>
          <a:xfrm>
            <a:off x="2268310" y="3614735"/>
            <a:ext cx="4543425" cy="676275"/>
          </a:xfrm>
          <a:prstGeom prst="rect">
            <a:avLst/>
          </a:prstGeom>
        </p:spPr>
      </p:pic>
      <p:pic>
        <p:nvPicPr>
          <p:cNvPr id="26" name="Picture 25"/>
          <p:cNvPicPr>
            <a:picLocks noChangeAspect="1"/>
          </p:cNvPicPr>
          <p:nvPr/>
        </p:nvPicPr>
        <p:blipFill>
          <a:blip r:embed="rId5"/>
          <a:stretch>
            <a:fillRect/>
          </a:stretch>
        </p:blipFill>
        <p:spPr>
          <a:xfrm>
            <a:off x="1905000" y="4326729"/>
            <a:ext cx="1704975" cy="1133475"/>
          </a:xfrm>
          <a:prstGeom prst="rect">
            <a:avLst/>
          </a:prstGeom>
        </p:spPr>
      </p:pic>
      <p:pic>
        <p:nvPicPr>
          <p:cNvPr id="27" name="Picture 26"/>
          <p:cNvPicPr>
            <a:picLocks noChangeAspect="1"/>
          </p:cNvPicPr>
          <p:nvPr/>
        </p:nvPicPr>
        <p:blipFill>
          <a:blip r:embed="rId6"/>
          <a:stretch>
            <a:fillRect/>
          </a:stretch>
        </p:blipFill>
        <p:spPr>
          <a:xfrm>
            <a:off x="1930172" y="5819772"/>
            <a:ext cx="1419225" cy="704850"/>
          </a:xfrm>
          <a:prstGeom prst="rect">
            <a:avLst/>
          </a:prstGeom>
        </p:spPr>
      </p:pic>
      <p:sp>
        <p:nvSpPr>
          <p:cNvPr id="15" name="TextBox 14"/>
          <p:cNvSpPr txBox="1"/>
          <p:nvPr/>
        </p:nvSpPr>
        <p:spPr>
          <a:xfrm flipH="1">
            <a:off x="6324599" y="6600824"/>
            <a:ext cx="3048000" cy="307777"/>
          </a:xfrm>
          <a:prstGeom prst="rect">
            <a:avLst/>
          </a:prstGeom>
          <a:noFill/>
        </p:spPr>
        <p:txBody>
          <a:bodyPr wrap="square" rtlCol="0">
            <a:spAutoFit/>
          </a:bodyPr>
          <a:lstStyle/>
          <a:p>
            <a:r>
              <a:rPr lang="en-US" sz="1400" dirty="0" smtClean="0">
                <a:latin typeface="Times New Roman" panose="02020603050405020304" pitchFamily="18" charset="0"/>
                <a:cs typeface="Times New Roman" panose="02020603050405020304" pitchFamily="18" charset="0"/>
              </a:rPr>
              <a:t>Motivation for Batch Normalization</a:t>
            </a:r>
            <a:endParaRPr lang="en-IN" sz="14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261466670"/>
      </p:ext>
    </p:extLst>
  </p:cSld>
  <p:clrMapOvr>
    <a:masterClrMapping/>
  </p:clrMapOvr>
  <p:timing>
    <p:tnLst>
      <p:par>
        <p:cTn id="1" dur="indefinite" restart="never" nodeType="tmRoot"/>
      </p:par>
    </p:tnLst>
  </p:timing>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cap="small" dirty="0"/>
              <a:t>Batch Normalization</a:t>
            </a:r>
          </a:p>
        </p:txBody>
      </p:sp>
      <p:sp>
        <p:nvSpPr>
          <p:cNvPr id="3" name="Content Placeholder 2"/>
          <p:cNvSpPr>
            <a:spLocks noGrp="1"/>
          </p:cNvSpPr>
          <p:nvPr>
            <p:ph idx="1"/>
          </p:nvPr>
        </p:nvSpPr>
        <p:spPr/>
        <p:txBody>
          <a:bodyPr>
            <a:normAutofit/>
          </a:bodyPr>
          <a:lstStyle/>
          <a:p>
            <a:r>
              <a:rPr lang="en-US" dirty="0"/>
              <a:t>Motivation</a:t>
            </a:r>
          </a:p>
        </p:txBody>
      </p:sp>
      <p:sp>
        <p:nvSpPr>
          <p:cNvPr id="4" name="Date Placeholder 3"/>
          <p:cNvSpPr>
            <a:spLocks noGrp="1"/>
          </p:cNvSpPr>
          <p:nvPr>
            <p:ph type="dt" sz="half" idx="10"/>
          </p:nvPr>
        </p:nvSpPr>
        <p:spPr/>
        <p:txBody>
          <a:bodyPr/>
          <a:lstStyle/>
          <a:p>
            <a:fld id="{E7067A60-51C7-4095-BFA9-1CE32DCBA06F}" type="datetime1">
              <a:rPr lang="en-US" smtClean="0"/>
              <a:pPr/>
              <a:t>2/9/2026</a:t>
            </a:fld>
            <a:endParaRPr lang="en-US" dirty="0"/>
          </a:p>
        </p:txBody>
      </p:sp>
      <p:sp>
        <p:nvSpPr>
          <p:cNvPr id="6" name="Slide Number Placeholder 5"/>
          <p:cNvSpPr>
            <a:spLocks noGrp="1"/>
          </p:cNvSpPr>
          <p:nvPr>
            <p:ph type="sldNum" sz="quarter" idx="12"/>
          </p:nvPr>
        </p:nvSpPr>
        <p:spPr/>
        <p:txBody>
          <a:bodyPr/>
          <a:lstStyle/>
          <a:p>
            <a:fld id="{A03BBF96-A7A5-4867-9A4A-2F26A3CC4EC3}" type="slidenum">
              <a:rPr lang="en-US" smtClean="0"/>
              <a:pPr/>
              <a:t>51</a:t>
            </a:fld>
            <a:endParaRPr lang="en-US" dirty="0"/>
          </a:p>
        </p:txBody>
      </p:sp>
      <p:sp>
        <p:nvSpPr>
          <p:cNvPr id="7" name="TextBox 6"/>
          <p:cNvSpPr txBox="1"/>
          <p:nvPr/>
        </p:nvSpPr>
        <p:spPr>
          <a:xfrm>
            <a:off x="0" y="0"/>
            <a:ext cx="4572000" cy="369332"/>
          </a:xfrm>
          <a:prstGeom prst="rect">
            <a:avLst/>
          </a:prstGeom>
          <a:noFill/>
        </p:spPr>
        <p:txBody>
          <a:bodyPr wrap="square" rtlCol="0">
            <a:spAutoFit/>
          </a:bodyPr>
          <a:lstStyle/>
          <a:p>
            <a:pPr algn="r"/>
            <a:r>
              <a:rPr lang="en-US" b="1" dirty="0">
                <a:solidFill>
                  <a:schemeClr val="bg1"/>
                </a:solidFill>
              </a:rPr>
              <a:t>Introduction to Deep Neural Network</a:t>
            </a:r>
          </a:p>
        </p:txBody>
      </p:sp>
      <p:sp>
        <p:nvSpPr>
          <p:cNvPr id="8" name="Rectangle 2"/>
          <p:cNvSpPr>
            <a:spLocks noChangeArrowheads="1"/>
          </p:cNvSpPr>
          <p:nvPr/>
        </p:nvSpPr>
        <p:spPr bwMode="auto">
          <a:xfrm>
            <a:off x="0" y="0"/>
            <a:ext cx="91440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sp>
        <p:nvSpPr>
          <p:cNvPr id="9" name="Rectangle 2"/>
          <p:cNvSpPr>
            <a:spLocks noChangeArrowheads="1"/>
          </p:cNvSpPr>
          <p:nvPr/>
        </p:nvSpPr>
        <p:spPr bwMode="auto">
          <a:xfrm>
            <a:off x="0" y="0"/>
            <a:ext cx="91440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sp>
        <p:nvSpPr>
          <p:cNvPr id="11" name="Footer Placeholder 4">
            <a:extLst>
              <a:ext uri="{FF2B5EF4-FFF2-40B4-BE49-F238E27FC236}">
                <a16:creationId xmlns:a16="http://schemas.microsoft.com/office/drawing/2014/main" id="{CBB301ED-B8A4-4772-B559-A9E41E7472BD}"/>
              </a:ext>
            </a:extLst>
          </p:cNvPr>
          <p:cNvSpPr>
            <a:spLocks noGrp="1"/>
          </p:cNvSpPr>
          <p:nvPr>
            <p:ph type="ftr" sz="quarter" idx="11"/>
          </p:nvPr>
        </p:nvSpPr>
        <p:spPr>
          <a:xfrm>
            <a:off x="2286000" y="6629400"/>
            <a:ext cx="4136571" cy="228600"/>
          </a:xfrm>
        </p:spPr>
        <p:txBody>
          <a:bodyPr/>
          <a:lstStyle/>
          <a:p>
            <a:r>
              <a:rPr lang="en-US" dirty="0"/>
              <a:t>Dr. Sibarama Panigrahi, Dept. of CSE, NIT Rourkela</a:t>
            </a:r>
          </a:p>
        </p:txBody>
      </p:sp>
      <p:pic>
        <p:nvPicPr>
          <p:cNvPr id="5" name="Picture 4"/>
          <p:cNvPicPr>
            <a:picLocks noChangeAspect="1"/>
          </p:cNvPicPr>
          <p:nvPr/>
        </p:nvPicPr>
        <p:blipFill>
          <a:blip r:embed="rId2"/>
          <a:stretch>
            <a:fillRect/>
          </a:stretch>
        </p:blipFill>
        <p:spPr>
          <a:xfrm>
            <a:off x="514350" y="1800225"/>
            <a:ext cx="8115300" cy="3257550"/>
          </a:xfrm>
          <a:prstGeom prst="rect">
            <a:avLst/>
          </a:prstGeom>
        </p:spPr>
      </p:pic>
      <p:sp>
        <p:nvSpPr>
          <p:cNvPr id="12" name="TextBox 11"/>
          <p:cNvSpPr txBox="1"/>
          <p:nvPr/>
        </p:nvSpPr>
        <p:spPr>
          <a:xfrm flipH="1">
            <a:off x="6324599" y="6600824"/>
            <a:ext cx="3048000" cy="307777"/>
          </a:xfrm>
          <a:prstGeom prst="rect">
            <a:avLst/>
          </a:prstGeom>
          <a:noFill/>
        </p:spPr>
        <p:txBody>
          <a:bodyPr wrap="square" rtlCol="0">
            <a:spAutoFit/>
          </a:bodyPr>
          <a:lstStyle/>
          <a:p>
            <a:r>
              <a:rPr lang="en-US" sz="1400" dirty="0" smtClean="0">
                <a:latin typeface="Times New Roman" panose="02020603050405020304" pitchFamily="18" charset="0"/>
                <a:cs typeface="Times New Roman" panose="02020603050405020304" pitchFamily="18" charset="0"/>
              </a:rPr>
              <a:t>Procedure of  Batch Normalization</a:t>
            </a:r>
            <a:endParaRPr lang="en-IN" sz="14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941156663"/>
      </p:ext>
    </p:extLst>
  </p:cSld>
  <p:clrMapOvr>
    <a:masterClrMapping/>
  </p:clrMapOvr>
  <p:timing>
    <p:tnLst>
      <p:par>
        <p:cTn id="1" dur="indefinite" restart="never" nodeType="tmRoot"/>
      </p:par>
    </p:tnLst>
  </p:timing>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cap="small" dirty="0"/>
              <a:t>Batch Normalization</a:t>
            </a:r>
          </a:p>
        </p:txBody>
      </p:sp>
      <mc:AlternateContent xmlns:mc="http://schemas.openxmlformats.org/markup-compatibility/2006" xmlns:a14="http://schemas.microsoft.com/office/drawing/2010/main">
        <mc:Choice Requires="a14">
          <p:sp>
            <p:nvSpPr>
              <p:cNvPr id="3" name="Content Placeholder 2"/>
              <p:cNvSpPr>
                <a:spLocks noGrp="1"/>
              </p:cNvSpPr>
              <p:nvPr>
                <p:ph idx="1"/>
              </p:nvPr>
            </p:nvSpPr>
            <p:spPr/>
            <p:txBody>
              <a:bodyPr>
                <a:normAutofit/>
              </a:bodyPr>
              <a:lstStyle/>
              <a:p>
                <a:endParaRPr lang="en-US" dirty="0" smtClean="0"/>
              </a:p>
              <a:p>
                <a:endParaRPr lang="en-US" dirty="0"/>
              </a:p>
              <a:p>
                <a:endParaRPr lang="en-US" dirty="0" smtClean="0"/>
              </a:p>
              <a:p>
                <a:endParaRPr lang="en-US" dirty="0" smtClean="0"/>
              </a:p>
              <a:p>
                <a:endParaRPr lang="en-US" dirty="0"/>
              </a:p>
              <a:p>
                <a:endParaRPr lang="en-US" dirty="0" smtClean="0"/>
              </a:p>
              <a:p>
                <a:r>
                  <a:rPr lang="en-US" dirty="0" smtClean="0"/>
                  <a:t>Where m: Number of Neurons at h</a:t>
                </a:r>
                <a:r>
                  <a:rPr lang="en-US" baseline="-25000" dirty="0" smtClean="0"/>
                  <a:t>i</a:t>
                </a:r>
              </a:p>
              <a:p>
                <a:endParaRPr lang="en-US" baseline="-25000" dirty="0"/>
              </a:p>
              <a:p>
                <a:endParaRPr lang="en-US" baseline="-25000" dirty="0" smtClean="0"/>
              </a:p>
              <a:p>
                <a:r>
                  <a:rPr lang="en-US" dirty="0" smtClean="0"/>
                  <a:t>Where </a:t>
                </a:r>
                <a14:m>
                  <m:oMath xmlns:m="http://schemas.openxmlformats.org/officeDocument/2006/math">
                    <m:r>
                      <a:rPr lang="en-IN" i="1">
                        <a:latin typeface="Cambria Math" panose="02040503050406030204" pitchFamily="18" charset="0"/>
                      </a:rPr>
                      <m:t>𝛾</m:t>
                    </m:r>
                  </m:oMath>
                </a14:m>
                <a:r>
                  <a:rPr lang="en-US" dirty="0" smtClean="0"/>
                  <a:t> and </a:t>
                </a:r>
                <a14:m>
                  <m:oMath xmlns:m="http://schemas.openxmlformats.org/officeDocument/2006/math">
                    <m:r>
                      <a:rPr lang="en-IN" i="1">
                        <a:latin typeface="Cambria Math" panose="02040503050406030204" pitchFamily="18" charset="0"/>
                      </a:rPr>
                      <m:t>𝛽</m:t>
                    </m:r>
                  </m:oMath>
                </a14:m>
                <a:r>
                  <a:rPr lang="en-IN" dirty="0" smtClean="0"/>
                  <a:t> are hyper parameters.</a:t>
                </a:r>
                <a:endParaRPr lang="en-IN" dirty="0"/>
              </a:p>
              <a:p>
                <a:endParaRPr lang="en-US" dirty="0"/>
              </a:p>
            </p:txBody>
          </p:sp>
        </mc:Choice>
        <mc:Fallback xmlns="">
          <p:sp>
            <p:nvSpPr>
              <p:cNvPr id="3" name="Content Placeholder 2"/>
              <p:cNvSpPr>
                <a:spLocks noGrp="1" noRot="1" noChangeAspect="1" noMove="1" noResize="1" noEditPoints="1" noAdjustHandles="1" noChangeArrowheads="1" noChangeShapeType="1" noTextEdit="1"/>
              </p:cNvSpPr>
              <p:nvPr>
                <p:ph idx="1"/>
              </p:nvPr>
            </p:nvSpPr>
            <p:spPr>
              <a:blipFill rotWithShape="0">
                <a:blip r:embed="rId2"/>
                <a:stretch>
                  <a:fillRect b="-2191"/>
                </a:stretch>
              </a:blipFill>
            </p:spPr>
            <p:txBody>
              <a:bodyPr/>
              <a:lstStyle/>
              <a:p>
                <a:r>
                  <a:rPr lang="en-IN">
                    <a:noFill/>
                  </a:rPr>
                  <a:t> </a:t>
                </a:r>
              </a:p>
            </p:txBody>
          </p:sp>
        </mc:Fallback>
      </mc:AlternateContent>
      <p:sp>
        <p:nvSpPr>
          <p:cNvPr id="4" name="Date Placeholder 3"/>
          <p:cNvSpPr>
            <a:spLocks noGrp="1"/>
          </p:cNvSpPr>
          <p:nvPr>
            <p:ph type="dt" sz="half" idx="10"/>
          </p:nvPr>
        </p:nvSpPr>
        <p:spPr/>
        <p:txBody>
          <a:bodyPr/>
          <a:lstStyle/>
          <a:p>
            <a:fld id="{E7067A60-51C7-4095-BFA9-1CE32DCBA06F}" type="datetime1">
              <a:rPr lang="en-US" smtClean="0"/>
              <a:pPr/>
              <a:t>2/9/2026</a:t>
            </a:fld>
            <a:endParaRPr lang="en-US" dirty="0"/>
          </a:p>
        </p:txBody>
      </p:sp>
      <p:sp>
        <p:nvSpPr>
          <p:cNvPr id="6" name="Slide Number Placeholder 5"/>
          <p:cNvSpPr>
            <a:spLocks noGrp="1"/>
          </p:cNvSpPr>
          <p:nvPr>
            <p:ph type="sldNum" sz="quarter" idx="12"/>
          </p:nvPr>
        </p:nvSpPr>
        <p:spPr/>
        <p:txBody>
          <a:bodyPr/>
          <a:lstStyle/>
          <a:p>
            <a:fld id="{A03BBF96-A7A5-4867-9A4A-2F26A3CC4EC3}" type="slidenum">
              <a:rPr lang="en-US" smtClean="0"/>
              <a:pPr/>
              <a:t>52</a:t>
            </a:fld>
            <a:endParaRPr lang="en-US" dirty="0"/>
          </a:p>
        </p:txBody>
      </p:sp>
      <p:sp>
        <p:nvSpPr>
          <p:cNvPr id="7" name="TextBox 6"/>
          <p:cNvSpPr txBox="1"/>
          <p:nvPr/>
        </p:nvSpPr>
        <p:spPr>
          <a:xfrm>
            <a:off x="0" y="0"/>
            <a:ext cx="4572000" cy="369332"/>
          </a:xfrm>
          <a:prstGeom prst="rect">
            <a:avLst/>
          </a:prstGeom>
          <a:noFill/>
        </p:spPr>
        <p:txBody>
          <a:bodyPr wrap="square" rtlCol="0">
            <a:spAutoFit/>
          </a:bodyPr>
          <a:lstStyle/>
          <a:p>
            <a:pPr algn="r"/>
            <a:r>
              <a:rPr lang="en-US" b="1" dirty="0">
                <a:solidFill>
                  <a:schemeClr val="bg1"/>
                </a:solidFill>
              </a:rPr>
              <a:t>Introduction to Deep Neural Network</a:t>
            </a:r>
          </a:p>
        </p:txBody>
      </p:sp>
      <p:sp>
        <p:nvSpPr>
          <p:cNvPr id="8" name="Rectangle 2"/>
          <p:cNvSpPr>
            <a:spLocks noChangeArrowheads="1"/>
          </p:cNvSpPr>
          <p:nvPr/>
        </p:nvSpPr>
        <p:spPr bwMode="auto">
          <a:xfrm>
            <a:off x="0" y="0"/>
            <a:ext cx="91440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sp>
        <p:nvSpPr>
          <p:cNvPr id="9" name="Rectangle 2"/>
          <p:cNvSpPr>
            <a:spLocks noChangeArrowheads="1"/>
          </p:cNvSpPr>
          <p:nvPr/>
        </p:nvSpPr>
        <p:spPr bwMode="auto">
          <a:xfrm>
            <a:off x="0" y="0"/>
            <a:ext cx="91440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sp>
        <p:nvSpPr>
          <p:cNvPr id="11" name="Footer Placeholder 4">
            <a:extLst>
              <a:ext uri="{FF2B5EF4-FFF2-40B4-BE49-F238E27FC236}">
                <a16:creationId xmlns:a16="http://schemas.microsoft.com/office/drawing/2014/main" id="{CBB301ED-B8A4-4772-B559-A9E41E7472BD}"/>
              </a:ext>
            </a:extLst>
          </p:cNvPr>
          <p:cNvSpPr>
            <a:spLocks noGrp="1"/>
          </p:cNvSpPr>
          <p:nvPr>
            <p:ph type="ftr" sz="quarter" idx="11"/>
          </p:nvPr>
        </p:nvSpPr>
        <p:spPr>
          <a:xfrm>
            <a:off x="2286000" y="6629400"/>
            <a:ext cx="4136571" cy="228600"/>
          </a:xfrm>
        </p:spPr>
        <p:txBody>
          <a:bodyPr/>
          <a:lstStyle/>
          <a:p>
            <a:r>
              <a:rPr lang="en-US" dirty="0"/>
              <a:t>Dr. Sibarama Panigrahi, Dept. of CSE, NIT Rourkela</a:t>
            </a:r>
          </a:p>
        </p:txBody>
      </p:sp>
      <mc:AlternateContent xmlns:mc="http://schemas.openxmlformats.org/markup-compatibility/2006" xmlns:a14="http://schemas.microsoft.com/office/drawing/2010/main">
        <mc:Choice Requires="a14">
          <p:sp>
            <p:nvSpPr>
              <p:cNvPr id="13" name="Rectangle 12"/>
              <p:cNvSpPr/>
              <p:nvPr/>
            </p:nvSpPr>
            <p:spPr>
              <a:xfrm>
                <a:off x="1828800" y="5259708"/>
                <a:ext cx="3288849" cy="564706"/>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sSub>
                        <m:sSubPr>
                          <m:ctrlPr>
                            <a:rPr lang="en-IN" sz="2800" i="1">
                              <a:latin typeface="Cambria Math" panose="02040503050406030204" pitchFamily="18" charset="0"/>
                            </a:rPr>
                          </m:ctrlPr>
                        </m:sSubPr>
                        <m:e>
                          <m:r>
                            <a:rPr lang="en-IN" sz="2800" i="1">
                              <a:latin typeface="Cambria Math" panose="02040503050406030204" pitchFamily="18" charset="0"/>
                            </a:rPr>
                            <m:t>h</m:t>
                          </m:r>
                        </m:e>
                        <m:sub>
                          <m:r>
                            <a:rPr lang="en-IN" sz="2800" i="1">
                              <a:latin typeface="Cambria Math" panose="02040503050406030204" pitchFamily="18" charset="0"/>
                            </a:rPr>
                            <m:t>𝑖</m:t>
                          </m:r>
                        </m:sub>
                      </m:sSub>
                      <m:r>
                        <a:rPr lang="en-IN" sz="2800" i="0">
                          <a:latin typeface="Cambria Math" panose="02040503050406030204" pitchFamily="18" charset="0"/>
                        </a:rPr>
                        <m:t>=</m:t>
                      </m:r>
                      <m:r>
                        <a:rPr lang="en-IN" sz="2800" i="1">
                          <a:latin typeface="Cambria Math" panose="02040503050406030204" pitchFamily="18" charset="0"/>
                        </a:rPr>
                        <m:t>𝛾</m:t>
                      </m:r>
                      <m:r>
                        <a:rPr lang="en-IN" sz="2800" i="0">
                          <a:latin typeface="Cambria Math" panose="02040503050406030204" pitchFamily="18" charset="0"/>
                        </a:rPr>
                        <m:t>.</m:t>
                      </m:r>
                      <m:sSub>
                        <m:sSubPr>
                          <m:ctrlPr>
                            <a:rPr lang="en-IN" sz="2800" i="1">
                              <a:latin typeface="Cambria Math" panose="02040503050406030204" pitchFamily="18" charset="0"/>
                            </a:rPr>
                          </m:ctrlPr>
                        </m:sSubPr>
                        <m:e>
                          <m:r>
                            <a:rPr lang="en-IN" sz="2800" i="1">
                              <a:latin typeface="Cambria Math" panose="02040503050406030204" pitchFamily="18" charset="0"/>
                            </a:rPr>
                            <m:t>h</m:t>
                          </m:r>
                        </m:e>
                        <m:sub>
                          <m:d>
                            <m:dPr>
                              <m:begChr m:val=""/>
                              <m:ctrlPr>
                                <a:rPr lang="en-IN" sz="2800" i="1">
                                  <a:latin typeface="Cambria Math" panose="02040503050406030204" pitchFamily="18" charset="0"/>
                                </a:rPr>
                              </m:ctrlPr>
                            </m:dPr>
                            <m:e>
                              <m:r>
                                <a:rPr lang="en-IN" sz="2800" i="1">
                                  <a:latin typeface="Cambria Math" panose="02040503050406030204" pitchFamily="18" charset="0"/>
                                </a:rPr>
                                <m:t>𝑖</m:t>
                              </m:r>
                              <m:r>
                                <a:rPr lang="en-IN" sz="2800" i="0">
                                  <a:latin typeface="Cambria Math" panose="02040503050406030204" pitchFamily="18" charset="0"/>
                                </a:rPr>
                                <m:t>(</m:t>
                              </m:r>
                              <m:r>
                                <a:rPr lang="en-IN" sz="2800" i="1">
                                  <a:latin typeface="Cambria Math" panose="02040503050406030204" pitchFamily="18" charset="0"/>
                                </a:rPr>
                                <m:t>𝑛𝑜𝑟𝑚</m:t>
                              </m:r>
                            </m:e>
                          </m:d>
                        </m:sub>
                      </m:sSub>
                      <m:r>
                        <a:rPr lang="en-IN" sz="2800" i="0">
                          <a:latin typeface="Cambria Math" panose="02040503050406030204" pitchFamily="18" charset="0"/>
                        </a:rPr>
                        <m:t>+</m:t>
                      </m:r>
                      <m:r>
                        <a:rPr lang="en-IN" sz="2800" i="1">
                          <a:latin typeface="Cambria Math" panose="02040503050406030204" pitchFamily="18" charset="0"/>
                        </a:rPr>
                        <m:t>𝛽</m:t>
                      </m:r>
                    </m:oMath>
                  </m:oMathPara>
                </a14:m>
                <a:endParaRPr lang="en-IN" sz="2800" dirty="0">
                  <a:latin typeface="Times New Roman" panose="02020603050405020304" pitchFamily="18" charset="0"/>
                  <a:cs typeface="Times New Roman" panose="02020603050405020304" pitchFamily="18" charset="0"/>
                </a:endParaRPr>
              </a:p>
            </p:txBody>
          </p:sp>
        </mc:Choice>
        <mc:Fallback xmlns="">
          <p:sp>
            <p:nvSpPr>
              <p:cNvPr id="13" name="Rectangle 12"/>
              <p:cNvSpPr>
                <a:spLocks noRot="1" noChangeAspect="1" noMove="1" noResize="1" noEditPoints="1" noAdjustHandles="1" noChangeArrowheads="1" noChangeShapeType="1" noTextEdit="1"/>
              </p:cNvSpPr>
              <p:nvPr/>
            </p:nvSpPr>
            <p:spPr>
              <a:xfrm>
                <a:off x="1828800" y="5259708"/>
                <a:ext cx="3288849" cy="564706"/>
              </a:xfrm>
              <a:prstGeom prst="rect">
                <a:avLst/>
              </a:prstGeom>
              <a:blipFill rotWithShape="0">
                <a:blip r:embed="rId3"/>
                <a:stretch>
                  <a:fillRect/>
                </a:stretch>
              </a:blipFill>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14" name="Rectangle 13"/>
              <p:cNvSpPr/>
              <p:nvPr/>
            </p:nvSpPr>
            <p:spPr>
              <a:xfrm>
                <a:off x="288804" y="1230080"/>
                <a:ext cx="2165593" cy="1135696"/>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r>
                        <a:rPr lang="en-IN" sz="2800" i="1">
                          <a:latin typeface="Cambria Math" panose="02040503050406030204" pitchFamily="18" charset="0"/>
                        </a:rPr>
                        <m:t>𝜇</m:t>
                      </m:r>
                      <m:r>
                        <a:rPr lang="en-IN" sz="2800" i="0">
                          <a:latin typeface="Cambria Math" panose="02040503050406030204" pitchFamily="18" charset="0"/>
                        </a:rPr>
                        <m:t>=</m:t>
                      </m:r>
                      <m:f>
                        <m:fPr>
                          <m:ctrlPr>
                            <a:rPr lang="en-IN" sz="2800" i="1">
                              <a:latin typeface="Cambria Math" panose="02040503050406030204" pitchFamily="18" charset="0"/>
                            </a:rPr>
                          </m:ctrlPr>
                        </m:fPr>
                        <m:num>
                          <m:r>
                            <a:rPr lang="en-IN" sz="2800" i="0">
                              <a:latin typeface="Cambria Math" panose="02040503050406030204" pitchFamily="18" charset="0"/>
                            </a:rPr>
                            <m:t>1</m:t>
                          </m:r>
                        </m:num>
                        <m:den>
                          <m:r>
                            <a:rPr lang="en-IN" sz="2800" i="1">
                              <a:latin typeface="Cambria Math" panose="02040503050406030204" pitchFamily="18" charset="0"/>
                            </a:rPr>
                            <m:t>𝑚</m:t>
                          </m:r>
                        </m:den>
                      </m:f>
                      <m:nary>
                        <m:naryPr>
                          <m:chr m:val="∑"/>
                          <m:subHide m:val="on"/>
                          <m:supHide m:val="on"/>
                          <m:ctrlPr>
                            <a:rPr lang="en-IN" sz="2800" i="1">
                              <a:latin typeface="Cambria Math" panose="02040503050406030204" pitchFamily="18" charset="0"/>
                            </a:rPr>
                          </m:ctrlPr>
                        </m:naryPr>
                        <m:sub/>
                        <m:sup/>
                        <m:e>
                          <m:sSub>
                            <m:sSubPr>
                              <m:ctrlPr>
                                <a:rPr lang="en-IN" sz="2800" i="1">
                                  <a:latin typeface="Cambria Math" panose="02040503050406030204" pitchFamily="18" charset="0"/>
                                </a:rPr>
                              </m:ctrlPr>
                            </m:sSubPr>
                            <m:e>
                              <m:r>
                                <a:rPr lang="en-IN" sz="2800" i="1">
                                  <a:latin typeface="Cambria Math" panose="02040503050406030204" pitchFamily="18" charset="0"/>
                                </a:rPr>
                                <m:t>h</m:t>
                              </m:r>
                            </m:e>
                            <m:sub>
                              <m:r>
                                <a:rPr lang="en-IN" sz="2800" i="1">
                                  <a:latin typeface="Cambria Math" panose="02040503050406030204" pitchFamily="18" charset="0"/>
                                </a:rPr>
                                <m:t>𝑖</m:t>
                              </m:r>
                            </m:sub>
                          </m:sSub>
                        </m:e>
                      </m:nary>
                    </m:oMath>
                  </m:oMathPara>
                </a14:m>
                <a:endParaRPr lang="en-IN" sz="2800" dirty="0">
                  <a:latin typeface="Times New Roman" panose="02020603050405020304" pitchFamily="18" charset="0"/>
                  <a:cs typeface="Times New Roman" panose="02020603050405020304" pitchFamily="18" charset="0"/>
                </a:endParaRPr>
              </a:p>
            </p:txBody>
          </p:sp>
        </mc:Choice>
        <mc:Fallback xmlns="">
          <p:sp>
            <p:nvSpPr>
              <p:cNvPr id="14" name="Rectangle 13"/>
              <p:cNvSpPr>
                <a:spLocks noRot="1" noChangeAspect="1" noMove="1" noResize="1" noEditPoints="1" noAdjustHandles="1" noChangeArrowheads="1" noChangeShapeType="1" noTextEdit="1"/>
              </p:cNvSpPr>
              <p:nvPr/>
            </p:nvSpPr>
            <p:spPr>
              <a:xfrm>
                <a:off x="288804" y="1230080"/>
                <a:ext cx="2165593" cy="1135696"/>
              </a:xfrm>
              <a:prstGeom prst="rect">
                <a:avLst/>
              </a:prstGeom>
              <a:blipFill rotWithShape="0">
                <a:blip r:embed="rId4"/>
                <a:stretch>
                  <a:fillRect/>
                </a:stretch>
              </a:blipFill>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15" name="Rectangle 14"/>
              <p:cNvSpPr/>
              <p:nvPr/>
            </p:nvSpPr>
            <p:spPr>
              <a:xfrm>
                <a:off x="239441" y="2332577"/>
                <a:ext cx="3483518" cy="1365374"/>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r>
                        <a:rPr lang="en-IN" sz="2800" i="1">
                          <a:latin typeface="Cambria Math" panose="02040503050406030204" pitchFamily="18" charset="0"/>
                        </a:rPr>
                        <m:t>𝜎</m:t>
                      </m:r>
                      <m:r>
                        <a:rPr lang="en-IN" sz="2800" i="0">
                          <a:latin typeface="Cambria Math" panose="02040503050406030204" pitchFamily="18" charset="0"/>
                        </a:rPr>
                        <m:t>=</m:t>
                      </m:r>
                      <m:rad>
                        <m:radPr>
                          <m:degHide m:val="on"/>
                          <m:ctrlPr>
                            <a:rPr lang="en-IN" sz="2800" i="1">
                              <a:latin typeface="Cambria Math" panose="02040503050406030204" pitchFamily="18" charset="0"/>
                            </a:rPr>
                          </m:ctrlPr>
                        </m:radPr>
                        <m:deg/>
                        <m:e>
                          <m:f>
                            <m:fPr>
                              <m:ctrlPr>
                                <a:rPr lang="en-IN" sz="2800" i="1">
                                  <a:latin typeface="Cambria Math" panose="02040503050406030204" pitchFamily="18" charset="0"/>
                                </a:rPr>
                              </m:ctrlPr>
                            </m:fPr>
                            <m:num>
                              <m:r>
                                <a:rPr lang="en-IN" sz="2800" i="0">
                                  <a:latin typeface="Cambria Math" panose="02040503050406030204" pitchFamily="18" charset="0"/>
                                </a:rPr>
                                <m:t>1</m:t>
                              </m:r>
                            </m:num>
                            <m:den>
                              <m:r>
                                <a:rPr lang="en-IN" sz="2800" i="1">
                                  <a:latin typeface="Cambria Math" panose="02040503050406030204" pitchFamily="18" charset="0"/>
                                </a:rPr>
                                <m:t>𝑚</m:t>
                              </m:r>
                            </m:den>
                          </m:f>
                          <m:nary>
                            <m:naryPr>
                              <m:chr m:val="∑"/>
                              <m:subHide m:val="on"/>
                              <m:supHide m:val="on"/>
                              <m:ctrlPr>
                                <a:rPr lang="en-IN" sz="2800" i="1">
                                  <a:latin typeface="Cambria Math" panose="02040503050406030204" pitchFamily="18" charset="0"/>
                                </a:rPr>
                              </m:ctrlPr>
                            </m:naryPr>
                            <m:sub/>
                            <m:sup/>
                            <m:e>
                              <m:sSup>
                                <m:sSupPr>
                                  <m:ctrlPr>
                                    <a:rPr lang="en-IN" sz="2800" i="1">
                                      <a:latin typeface="Cambria Math" panose="02040503050406030204" pitchFamily="18" charset="0"/>
                                    </a:rPr>
                                  </m:ctrlPr>
                                </m:sSupPr>
                                <m:e>
                                  <m:d>
                                    <m:dPr>
                                      <m:ctrlPr>
                                        <a:rPr lang="en-IN" sz="2800" i="1">
                                          <a:latin typeface="Cambria Math" panose="02040503050406030204" pitchFamily="18" charset="0"/>
                                        </a:rPr>
                                      </m:ctrlPr>
                                    </m:dPr>
                                    <m:e>
                                      <m:sSub>
                                        <m:sSubPr>
                                          <m:ctrlPr>
                                            <a:rPr lang="en-IN" sz="2800" i="1">
                                              <a:latin typeface="Cambria Math" panose="02040503050406030204" pitchFamily="18" charset="0"/>
                                            </a:rPr>
                                          </m:ctrlPr>
                                        </m:sSubPr>
                                        <m:e>
                                          <m:r>
                                            <a:rPr lang="en-IN" sz="2800" i="1">
                                              <a:latin typeface="Cambria Math" panose="02040503050406030204" pitchFamily="18" charset="0"/>
                                            </a:rPr>
                                            <m:t>h</m:t>
                                          </m:r>
                                        </m:e>
                                        <m:sub>
                                          <m:r>
                                            <a:rPr lang="en-IN" sz="2800" i="1">
                                              <a:latin typeface="Cambria Math" panose="02040503050406030204" pitchFamily="18" charset="0"/>
                                            </a:rPr>
                                            <m:t>𝑖</m:t>
                                          </m:r>
                                        </m:sub>
                                      </m:sSub>
                                      <m:r>
                                        <a:rPr lang="en-IN" sz="2800" i="0">
                                          <a:latin typeface="Cambria Math" panose="02040503050406030204" pitchFamily="18" charset="0"/>
                                        </a:rPr>
                                        <m:t>−</m:t>
                                      </m:r>
                                      <m:r>
                                        <a:rPr lang="en-IN" sz="2800" i="1">
                                          <a:latin typeface="Cambria Math" panose="02040503050406030204" pitchFamily="18" charset="0"/>
                                        </a:rPr>
                                        <m:t>𝜇</m:t>
                                      </m:r>
                                    </m:e>
                                  </m:d>
                                </m:e>
                                <m:sup>
                                  <m:r>
                                    <a:rPr lang="en-IN" sz="2800" i="0">
                                      <a:latin typeface="Cambria Math" panose="02040503050406030204" pitchFamily="18" charset="0"/>
                                    </a:rPr>
                                    <m:t>2</m:t>
                                  </m:r>
                                </m:sup>
                              </m:sSup>
                            </m:e>
                          </m:nary>
                        </m:e>
                      </m:rad>
                    </m:oMath>
                  </m:oMathPara>
                </a14:m>
                <a:endParaRPr lang="en-IN" sz="2800" dirty="0"/>
              </a:p>
            </p:txBody>
          </p:sp>
        </mc:Choice>
        <mc:Fallback xmlns="">
          <p:sp>
            <p:nvSpPr>
              <p:cNvPr id="15" name="Rectangle 14"/>
              <p:cNvSpPr>
                <a:spLocks noRot="1" noChangeAspect="1" noMove="1" noResize="1" noEditPoints="1" noAdjustHandles="1" noChangeArrowheads="1" noChangeShapeType="1" noTextEdit="1"/>
              </p:cNvSpPr>
              <p:nvPr/>
            </p:nvSpPr>
            <p:spPr>
              <a:xfrm>
                <a:off x="239441" y="2332577"/>
                <a:ext cx="3483518" cy="1365374"/>
              </a:xfrm>
              <a:prstGeom prst="rect">
                <a:avLst/>
              </a:prstGeom>
              <a:blipFill rotWithShape="0">
                <a:blip r:embed="rId5"/>
                <a:stretch>
                  <a:fillRect/>
                </a:stretch>
              </a:blipFill>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29" name="Rectangle 28"/>
              <p:cNvSpPr/>
              <p:nvPr/>
            </p:nvSpPr>
            <p:spPr>
              <a:xfrm>
                <a:off x="244203" y="3631553"/>
                <a:ext cx="2934201" cy="917559"/>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sSub>
                        <m:sSubPr>
                          <m:ctrlPr>
                            <a:rPr lang="en-IN" sz="2800" i="1">
                              <a:latin typeface="Cambria Math" panose="02040503050406030204" pitchFamily="18" charset="0"/>
                            </a:rPr>
                          </m:ctrlPr>
                        </m:sSubPr>
                        <m:e>
                          <m:r>
                            <a:rPr lang="en-IN" sz="2800" i="1">
                              <a:latin typeface="Cambria Math" panose="02040503050406030204" pitchFamily="18" charset="0"/>
                            </a:rPr>
                            <m:t>h</m:t>
                          </m:r>
                        </m:e>
                        <m:sub>
                          <m:r>
                            <a:rPr lang="en-IN" sz="2800" i="1">
                              <a:latin typeface="Cambria Math" panose="02040503050406030204" pitchFamily="18" charset="0"/>
                            </a:rPr>
                            <m:t>𝑖</m:t>
                          </m:r>
                          <m:d>
                            <m:dPr>
                              <m:ctrlPr>
                                <a:rPr lang="en-IN" sz="2800" i="1">
                                  <a:latin typeface="Cambria Math" panose="02040503050406030204" pitchFamily="18" charset="0"/>
                                </a:rPr>
                              </m:ctrlPr>
                            </m:dPr>
                            <m:e>
                              <m:r>
                                <a:rPr lang="en-IN" sz="2800" i="1">
                                  <a:latin typeface="Cambria Math" panose="02040503050406030204" pitchFamily="18" charset="0"/>
                                </a:rPr>
                                <m:t>𝑛𝑜𝑟𝑚</m:t>
                              </m:r>
                            </m:e>
                          </m:d>
                        </m:sub>
                      </m:sSub>
                      <m:r>
                        <a:rPr lang="en-IN" sz="2800" i="0">
                          <a:latin typeface="Cambria Math" panose="02040503050406030204" pitchFamily="18" charset="0"/>
                        </a:rPr>
                        <m:t>=</m:t>
                      </m:r>
                      <m:f>
                        <m:fPr>
                          <m:ctrlPr>
                            <a:rPr lang="en-IN" sz="2800" i="1">
                              <a:latin typeface="Cambria Math" panose="02040503050406030204" pitchFamily="18" charset="0"/>
                            </a:rPr>
                          </m:ctrlPr>
                        </m:fPr>
                        <m:num>
                          <m:sSub>
                            <m:sSubPr>
                              <m:ctrlPr>
                                <a:rPr lang="en-IN" sz="2800" i="1">
                                  <a:latin typeface="Cambria Math" panose="02040503050406030204" pitchFamily="18" charset="0"/>
                                </a:rPr>
                              </m:ctrlPr>
                            </m:sSubPr>
                            <m:e>
                              <m:r>
                                <a:rPr lang="en-IN" sz="2800" i="1">
                                  <a:latin typeface="Cambria Math" panose="02040503050406030204" pitchFamily="18" charset="0"/>
                                </a:rPr>
                                <m:t>h</m:t>
                              </m:r>
                            </m:e>
                            <m:sub>
                              <m:r>
                                <a:rPr lang="en-IN" sz="2800" i="1">
                                  <a:latin typeface="Cambria Math" panose="02040503050406030204" pitchFamily="18" charset="0"/>
                                </a:rPr>
                                <m:t>𝑖</m:t>
                              </m:r>
                            </m:sub>
                          </m:sSub>
                          <m:r>
                            <a:rPr lang="en-IN" sz="2800" i="0">
                              <a:latin typeface="Cambria Math" panose="02040503050406030204" pitchFamily="18" charset="0"/>
                            </a:rPr>
                            <m:t>−</m:t>
                          </m:r>
                          <m:r>
                            <a:rPr lang="en-IN" sz="2800" i="1">
                              <a:latin typeface="Cambria Math" panose="02040503050406030204" pitchFamily="18" charset="0"/>
                            </a:rPr>
                            <m:t>𝜇</m:t>
                          </m:r>
                        </m:num>
                        <m:den>
                          <m:r>
                            <a:rPr lang="en-IN" sz="2800" i="1">
                              <a:latin typeface="Cambria Math" panose="02040503050406030204" pitchFamily="18" charset="0"/>
                            </a:rPr>
                            <m:t>𝜎</m:t>
                          </m:r>
                          <m:r>
                            <a:rPr lang="en-IN" sz="2800" i="0">
                              <a:latin typeface="Cambria Math" panose="02040503050406030204" pitchFamily="18" charset="0"/>
                            </a:rPr>
                            <m:t>+</m:t>
                          </m:r>
                          <m:r>
                            <a:rPr lang="en-IN" sz="2800" i="1">
                              <a:latin typeface="Cambria Math" panose="02040503050406030204" pitchFamily="18" charset="0"/>
                            </a:rPr>
                            <m:t>𝜖</m:t>
                          </m:r>
                        </m:den>
                      </m:f>
                    </m:oMath>
                  </m:oMathPara>
                </a14:m>
                <a:endParaRPr lang="en-IN" sz="2800" dirty="0">
                  <a:latin typeface="Times New Roman" panose="02020603050405020304" pitchFamily="18" charset="0"/>
                  <a:cs typeface="Times New Roman" panose="02020603050405020304" pitchFamily="18" charset="0"/>
                </a:endParaRPr>
              </a:p>
            </p:txBody>
          </p:sp>
        </mc:Choice>
        <mc:Fallback xmlns="">
          <p:sp>
            <p:nvSpPr>
              <p:cNvPr id="29" name="Rectangle 28"/>
              <p:cNvSpPr>
                <a:spLocks noRot="1" noChangeAspect="1" noMove="1" noResize="1" noEditPoints="1" noAdjustHandles="1" noChangeArrowheads="1" noChangeShapeType="1" noTextEdit="1"/>
              </p:cNvSpPr>
              <p:nvPr/>
            </p:nvSpPr>
            <p:spPr>
              <a:xfrm>
                <a:off x="244203" y="3631553"/>
                <a:ext cx="2934201" cy="917559"/>
              </a:xfrm>
              <a:prstGeom prst="rect">
                <a:avLst/>
              </a:prstGeom>
              <a:blipFill rotWithShape="0">
                <a:blip r:embed="rId6"/>
                <a:stretch>
                  <a:fillRect/>
                </a:stretch>
              </a:blipFill>
            </p:spPr>
            <p:txBody>
              <a:bodyPr/>
              <a:lstStyle/>
              <a:p>
                <a:r>
                  <a:rPr lang="en-IN">
                    <a:noFill/>
                  </a:rPr>
                  <a:t> </a:t>
                </a:r>
              </a:p>
            </p:txBody>
          </p:sp>
        </mc:Fallback>
      </mc:AlternateContent>
      <p:sp>
        <p:nvSpPr>
          <p:cNvPr id="16" name="TextBox 15"/>
          <p:cNvSpPr txBox="1"/>
          <p:nvPr/>
        </p:nvSpPr>
        <p:spPr>
          <a:xfrm flipH="1">
            <a:off x="6324599" y="6600824"/>
            <a:ext cx="3048000" cy="307777"/>
          </a:xfrm>
          <a:prstGeom prst="rect">
            <a:avLst/>
          </a:prstGeom>
          <a:noFill/>
        </p:spPr>
        <p:txBody>
          <a:bodyPr wrap="square" rtlCol="0">
            <a:spAutoFit/>
          </a:bodyPr>
          <a:lstStyle/>
          <a:p>
            <a:r>
              <a:rPr lang="en-US" sz="1400" dirty="0" smtClean="0">
                <a:latin typeface="Times New Roman" panose="02020603050405020304" pitchFamily="18" charset="0"/>
                <a:cs typeface="Times New Roman" panose="02020603050405020304" pitchFamily="18" charset="0"/>
              </a:rPr>
              <a:t>Advantages of Batch Normalization</a:t>
            </a:r>
            <a:endParaRPr lang="en-IN" sz="14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345063738"/>
      </p:ext>
    </p:extLst>
  </p:cSld>
  <p:clrMapOvr>
    <a:masterClrMapping/>
  </p:clrMapOvr>
  <p:timing>
    <p:tnLst>
      <p:par>
        <p:cTn id="1" dur="indefinite" restart="never" nodeType="tmRoot"/>
      </p:par>
    </p:tnLst>
  </p:timing>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cap="small" dirty="0"/>
              <a:t>Batch Normalization</a:t>
            </a:r>
          </a:p>
        </p:txBody>
      </p:sp>
      <p:sp>
        <p:nvSpPr>
          <p:cNvPr id="3" name="Content Placeholder 2"/>
          <p:cNvSpPr>
            <a:spLocks noGrp="1"/>
          </p:cNvSpPr>
          <p:nvPr>
            <p:ph idx="1"/>
          </p:nvPr>
        </p:nvSpPr>
        <p:spPr/>
        <p:txBody>
          <a:bodyPr>
            <a:normAutofit/>
          </a:bodyPr>
          <a:lstStyle/>
          <a:p>
            <a:r>
              <a:rPr lang="en-US" dirty="0"/>
              <a:t>Advantages</a:t>
            </a:r>
          </a:p>
          <a:p>
            <a:pPr lvl="1"/>
            <a:r>
              <a:rPr lang="en-US" dirty="0"/>
              <a:t>Faster Convergence</a:t>
            </a:r>
          </a:p>
          <a:p>
            <a:pPr lvl="1"/>
            <a:r>
              <a:rPr lang="en-US" dirty="0"/>
              <a:t>Weak </a:t>
            </a:r>
            <a:r>
              <a:rPr lang="en-US" dirty="0" err="1"/>
              <a:t>Regularizer</a:t>
            </a:r>
            <a:r>
              <a:rPr lang="en-US" dirty="0"/>
              <a:t> (Batch Normalization + dropout)</a:t>
            </a:r>
          </a:p>
          <a:p>
            <a:pPr lvl="1"/>
            <a:r>
              <a:rPr lang="en-US" dirty="0"/>
              <a:t>Avoids internal covariate shift</a:t>
            </a:r>
          </a:p>
          <a:p>
            <a:r>
              <a:rPr lang="en-US" dirty="0">
                <a:hlinkClick r:id="rId2"/>
              </a:rPr>
              <a:t>https://arxiv.org/pdf/1502.03167v3.pdf</a:t>
            </a:r>
            <a:endParaRPr lang="en-US" dirty="0"/>
          </a:p>
          <a:p>
            <a:endParaRPr lang="en-US" dirty="0" smtClean="0"/>
          </a:p>
          <a:p>
            <a:endParaRPr lang="en-US" dirty="0"/>
          </a:p>
          <a:p>
            <a:pPr marL="336550" indent="0">
              <a:buNone/>
            </a:pPr>
            <a:endParaRPr lang="en-US" dirty="0" smtClean="0"/>
          </a:p>
        </p:txBody>
      </p:sp>
      <p:sp>
        <p:nvSpPr>
          <p:cNvPr id="4" name="Date Placeholder 3"/>
          <p:cNvSpPr>
            <a:spLocks noGrp="1"/>
          </p:cNvSpPr>
          <p:nvPr>
            <p:ph type="dt" sz="half" idx="10"/>
          </p:nvPr>
        </p:nvSpPr>
        <p:spPr/>
        <p:txBody>
          <a:bodyPr/>
          <a:lstStyle/>
          <a:p>
            <a:fld id="{E7067A60-51C7-4095-BFA9-1CE32DCBA06F}" type="datetime1">
              <a:rPr lang="en-US" smtClean="0"/>
              <a:pPr/>
              <a:t>2/9/2026</a:t>
            </a:fld>
            <a:endParaRPr lang="en-US" dirty="0"/>
          </a:p>
        </p:txBody>
      </p:sp>
      <p:sp>
        <p:nvSpPr>
          <p:cNvPr id="6" name="Slide Number Placeholder 5"/>
          <p:cNvSpPr>
            <a:spLocks noGrp="1"/>
          </p:cNvSpPr>
          <p:nvPr>
            <p:ph type="sldNum" sz="quarter" idx="12"/>
          </p:nvPr>
        </p:nvSpPr>
        <p:spPr/>
        <p:txBody>
          <a:bodyPr/>
          <a:lstStyle/>
          <a:p>
            <a:fld id="{A03BBF96-A7A5-4867-9A4A-2F26A3CC4EC3}" type="slidenum">
              <a:rPr lang="en-US" smtClean="0"/>
              <a:pPr/>
              <a:t>53</a:t>
            </a:fld>
            <a:endParaRPr lang="en-US" dirty="0"/>
          </a:p>
        </p:txBody>
      </p:sp>
      <p:sp>
        <p:nvSpPr>
          <p:cNvPr id="7" name="TextBox 6"/>
          <p:cNvSpPr txBox="1"/>
          <p:nvPr/>
        </p:nvSpPr>
        <p:spPr>
          <a:xfrm>
            <a:off x="0" y="0"/>
            <a:ext cx="4572000" cy="369332"/>
          </a:xfrm>
          <a:prstGeom prst="rect">
            <a:avLst/>
          </a:prstGeom>
          <a:noFill/>
        </p:spPr>
        <p:txBody>
          <a:bodyPr wrap="square" rtlCol="0">
            <a:spAutoFit/>
          </a:bodyPr>
          <a:lstStyle/>
          <a:p>
            <a:pPr algn="r"/>
            <a:r>
              <a:rPr lang="en-US" b="1" dirty="0">
                <a:solidFill>
                  <a:schemeClr val="bg1"/>
                </a:solidFill>
              </a:rPr>
              <a:t>Introduction to Deep Neural Network</a:t>
            </a:r>
          </a:p>
        </p:txBody>
      </p:sp>
      <p:sp>
        <p:nvSpPr>
          <p:cNvPr id="8" name="Rectangle 2"/>
          <p:cNvSpPr>
            <a:spLocks noChangeArrowheads="1"/>
          </p:cNvSpPr>
          <p:nvPr/>
        </p:nvSpPr>
        <p:spPr bwMode="auto">
          <a:xfrm>
            <a:off x="0" y="0"/>
            <a:ext cx="91440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sp>
        <p:nvSpPr>
          <p:cNvPr id="9" name="Rectangle 2"/>
          <p:cNvSpPr>
            <a:spLocks noChangeArrowheads="1"/>
          </p:cNvSpPr>
          <p:nvPr/>
        </p:nvSpPr>
        <p:spPr bwMode="auto">
          <a:xfrm>
            <a:off x="0" y="0"/>
            <a:ext cx="91440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sp>
        <p:nvSpPr>
          <p:cNvPr id="11" name="Footer Placeholder 4">
            <a:extLst>
              <a:ext uri="{FF2B5EF4-FFF2-40B4-BE49-F238E27FC236}">
                <a16:creationId xmlns:a16="http://schemas.microsoft.com/office/drawing/2014/main" id="{CBB301ED-B8A4-4772-B559-A9E41E7472BD}"/>
              </a:ext>
            </a:extLst>
          </p:cNvPr>
          <p:cNvSpPr>
            <a:spLocks noGrp="1"/>
          </p:cNvSpPr>
          <p:nvPr>
            <p:ph type="ftr" sz="quarter" idx="11"/>
          </p:nvPr>
        </p:nvSpPr>
        <p:spPr>
          <a:xfrm>
            <a:off x="2286000" y="6629400"/>
            <a:ext cx="4136571" cy="228600"/>
          </a:xfrm>
        </p:spPr>
        <p:txBody>
          <a:bodyPr/>
          <a:lstStyle/>
          <a:p>
            <a:r>
              <a:rPr lang="en-US" dirty="0"/>
              <a:t>Dr. Sibarama Panigrahi, Dept. of CSE, NIT Rourkela</a:t>
            </a:r>
          </a:p>
        </p:txBody>
      </p:sp>
      <p:sp>
        <p:nvSpPr>
          <p:cNvPr id="16" name="Rounded Rectangle 15"/>
          <p:cNvSpPr/>
          <p:nvPr/>
        </p:nvSpPr>
        <p:spPr>
          <a:xfrm>
            <a:off x="1143000" y="4495800"/>
            <a:ext cx="990600" cy="1905000"/>
          </a:xfrm>
          <a:prstGeom prst="round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7" name="Rounded Rectangle 16"/>
          <p:cNvSpPr/>
          <p:nvPr/>
        </p:nvSpPr>
        <p:spPr>
          <a:xfrm>
            <a:off x="2514600" y="4495800"/>
            <a:ext cx="990600" cy="1905000"/>
          </a:xfrm>
          <a:prstGeom prst="round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8" name="Rounded Rectangle 17"/>
          <p:cNvSpPr/>
          <p:nvPr/>
        </p:nvSpPr>
        <p:spPr>
          <a:xfrm>
            <a:off x="3886200" y="4495800"/>
            <a:ext cx="1066800" cy="1905000"/>
          </a:xfrm>
          <a:prstGeom prst="roundRect">
            <a:avLst/>
          </a:prstGeom>
          <a:solidFill>
            <a:srgbClr val="C00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b="1" dirty="0" smtClean="0">
                <a:latin typeface="Times New Roman" panose="02020603050405020304" pitchFamily="18" charset="0"/>
                <a:cs typeface="Times New Roman" panose="02020603050405020304" pitchFamily="18" charset="0"/>
              </a:rPr>
              <a:t>Batch </a:t>
            </a:r>
          </a:p>
          <a:p>
            <a:pPr algn="ctr"/>
            <a:r>
              <a:rPr lang="en-US" b="1" dirty="0" smtClean="0">
                <a:latin typeface="Times New Roman" panose="02020603050405020304" pitchFamily="18" charset="0"/>
                <a:cs typeface="Times New Roman" panose="02020603050405020304" pitchFamily="18" charset="0"/>
              </a:rPr>
              <a:t>Normalization</a:t>
            </a:r>
            <a:endParaRPr lang="en-US" b="1" dirty="0">
              <a:latin typeface="Times New Roman" panose="02020603050405020304" pitchFamily="18" charset="0"/>
              <a:cs typeface="Times New Roman" panose="02020603050405020304" pitchFamily="18" charset="0"/>
            </a:endParaRPr>
          </a:p>
        </p:txBody>
      </p:sp>
      <p:sp>
        <p:nvSpPr>
          <p:cNvPr id="19" name="Rounded Rectangle 18"/>
          <p:cNvSpPr/>
          <p:nvPr/>
        </p:nvSpPr>
        <p:spPr>
          <a:xfrm>
            <a:off x="5257800" y="4495800"/>
            <a:ext cx="990600" cy="1905000"/>
          </a:xfrm>
          <a:prstGeom prst="round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0" name="Rounded Rectangle 19"/>
          <p:cNvSpPr/>
          <p:nvPr/>
        </p:nvSpPr>
        <p:spPr>
          <a:xfrm>
            <a:off x="6553200" y="4495800"/>
            <a:ext cx="990600" cy="1905000"/>
          </a:xfrm>
          <a:prstGeom prst="round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1" name="Oval 20"/>
          <p:cNvSpPr/>
          <p:nvPr/>
        </p:nvSpPr>
        <p:spPr>
          <a:xfrm>
            <a:off x="8077200" y="5181600"/>
            <a:ext cx="533400" cy="609600"/>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2" name="Right Arrow 21"/>
          <p:cNvSpPr/>
          <p:nvPr/>
        </p:nvSpPr>
        <p:spPr>
          <a:xfrm>
            <a:off x="2133600" y="5334000"/>
            <a:ext cx="381000" cy="304800"/>
          </a:xfrm>
          <a:prstGeom prst="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3" name="Right Arrow 22"/>
          <p:cNvSpPr/>
          <p:nvPr/>
        </p:nvSpPr>
        <p:spPr>
          <a:xfrm>
            <a:off x="3505200" y="5334000"/>
            <a:ext cx="381000" cy="304800"/>
          </a:xfrm>
          <a:prstGeom prst="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4" name="Right Arrow 23"/>
          <p:cNvSpPr/>
          <p:nvPr/>
        </p:nvSpPr>
        <p:spPr>
          <a:xfrm>
            <a:off x="4953000" y="5334000"/>
            <a:ext cx="304800" cy="304800"/>
          </a:xfrm>
          <a:prstGeom prst="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5" name="Right Arrow 24"/>
          <p:cNvSpPr/>
          <p:nvPr/>
        </p:nvSpPr>
        <p:spPr>
          <a:xfrm>
            <a:off x="6248400" y="5334000"/>
            <a:ext cx="381000" cy="304800"/>
          </a:xfrm>
          <a:prstGeom prst="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6" name="Right Arrow 25"/>
          <p:cNvSpPr/>
          <p:nvPr/>
        </p:nvSpPr>
        <p:spPr>
          <a:xfrm>
            <a:off x="7543800" y="5334000"/>
            <a:ext cx="533400" cy="304800"/>
          </a:xfrm>
          <a:prstGeom prst="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7" name="Oval 26"/>
          <p:cNvSpPr/>
          <p:nvPr/>
        </p:nvSpPr>
        <p:spPr>
          <a:xfrm>
            <a:off x="304800" y="5181600"/>
            <a:ext cx="533400" cy="609600"/>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8" name="Right Arrow 27"/>
          <p:cNvSpPr/>
          <p:nvPr/>
        </p:nvSpPr>
        <p:spPr>
          <a:xfrm>
            <a:off x="838200" y="5334000"/>
            <a:ext cx="381000" cy="304800"/>
          </a:xfrm>
          <a:prstGeom prst="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9" name="TextBox 28"/>
          <p:cNvSpPr txBox="1"/>
          <p:nvPr/>
        </p:nvSpPr>
        <p:spPr>
          <a:xfrm flipH="1">
            <a:off x="6324599" y="6600824"/>
            <a:ext cx="3048000" cy="307777"/>
          </a:xfrm>
          <a:prstGeom prst="rect">
            <a:avLst/>
          </a:prstGeom>
          <a:noFill/>
        </p:spPr>
        <p:txBody>
          <a:bodyPr wrap="square" rtlCol="0">
            <a:spAutoFit/>
          </a:bodyPr>
          <a:lstStyle/>
          <a:p>
            <a:r>
              <a:rPr lang="en-US" sz="1400" dirty="0" smtClean="0">
                <a:latin typeface="Times New Roman" panose="02020603050405020304" pitchFamily="18" charset="0"/>
                <a:cs typeface="Times New Roman" panose="02020603050405020304" pitchFamily="18" charset="0"/>
              </a:rPr>
              <a:t>Optimizers</a:t>
            </a:r>
            <a:endParaRPr lang="en-IN" sz="14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38012950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mph" presetSubtype="0" fill="hold" grpId="0" nodeType="clickEffect">
                                  <p:stCondLst>
                                    <p:cond delay="0"/>
                                  </p:stCondLst>
                                  <p:childTnLst>
                                    <p:animClr clrSpc="hsl" dir="cw">
                                      <p:cBhvr override="childStyle">
                                        <p:cTn id="6" dur="500" fill="hold"/>
                                        <p:tgtEl>
                                          <p:spTgt spid="18"/>
                                        </p:tgtEl>
                                        <p:attrNameLst>
                                          <p:attrName>style.color</p:attrName>
                                        </p:attrNameLst>
                                      </p:cBhvr>
                                      <p:by>
                                        <p:hsl h="-7200000" s="0" l="0"/>
                                      </p:by>
                                    </p:animClr>
                                    <p:animClr clrSpc="hsl" dir="cw">
                                      <p:cBhvr>
                                        <p:cTn id="7" dur="500" fill="hold"/>
                                        <p:tgtEl>
                                          <p:spTgt spid="18"/>
                                        </p:tgtEl>
                                        <p:attrNameLst>
                                          <p:attrName>fillcolor</p:attrName>
                                        </p:attrNameLst>
                                      </p:cBhvr>
                                      <p:by>
                                        <p:hsl h="-7200000" s="0" l="0"/>
                                      </p:by>
                                    </p:animClr>
                                    <p:animClr clrSpc="hsl" dir="cw">
                                      <p:cBhvr>
                                        <p:cTn id="8" dur="500" fill="hold"/>
                                        <p:tgtEl>
                                          <p:spTgt spid="18"/>
                                        </p:tgtEl>
                                        <p:attrNameLst>
                                          <p:attrName>stroke.color</p:attrName>
                                        </p:attrNameLst>
                                      </p:cBhvr>
                                      <p:by>
                                        <p:hsl h="-7200000" s="0" l="0"/>
                                      </p:by>
                                    </p:animClr>
                                    <p:set>
                                      <p:cBhvr>
                                        <p:cTn id="9" dur="500" fill="hold"/>
                                        <p:tgtEl>
                                          <p:spTgt spid="18"/>
                                        </p:tgtEl>
                                        <p:attrNameLst>
                                          <p:attrName>fill.type</p:attrName>
                                        </p:attrNameLst>
                                      </p:cBhvr>
                                      <p:to>
                                        <p:strVal val="solid"/>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8" grpId="0" animBg="1"/>
    </p:bldLst>
  </p:timing>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cap="small" dirty="0"/>
              <a:t>Optimizers</a:t>
            </a:r>
          </a:p>
        </p:txBody>
      </p:sp>
      <p:sp>
        <p:nvSpPr>
          <p:cNvPr id="3" name="Content Placeholder 2"/>
          <p:cNvSpPr>
            <a:spLocks noGrp="1"/>
          </p:cNvSpPr>
          <p:nvPr>
            <p:ph idx="1"/>
          </p:nvPr>
        </p:nvSpPr>
        <p:spPr/>
        <p:txBody>
          <a:bodyPr>
            <a:normAutofit/>
          </a:bodyPr>
          <a:lstStyle/>
          <a:p>
            <a:r>
              <a:rPr lang="en-US" dirty="0"/>
              <a:t>At minima, maxima and saddle point, u have the gradient as Zero.</a:t>
            </a:r>
          </a:p>
          <a:p>
            <a:endParaRPr lang="en-US" dirty="0"/>
          </a:p>
          <a:p>
            <a:endParaRPr lang="en-US" dirty="0"/>
          </a:p>
        </p:txBody>
      </p:sp>
      <p:sp>
        <p:nvSpPr>
          <p:cNvPr id="4" name="Date Placeholder 3"/>
          <p:cNvSpPr>
            <a:spLocks noGrp="1"/>
          </p:cNvSpPr>
          <p:nvPr>
            <p:ph type="dt" sz="half" idx="10"/>
          </p:nvPr>
        </p:nvSpPr>
        <p:spPr/>
        <p:txBody>
          <a:bodyPr/>
          <a:lstStyle/>
          <a:p>
            <a:fld id="{E7067A60-51C7-4095-BFA9-1CE32DCBA06F}" type="datetime1">
              <a:rPr lang="en-US" smtClean="0"/>
              <a:pPr/>
              <a:t>2/9/2026</a:t>
            </a:fld>
            <a:endParaRPr lang="en-US" dirty="0"/>
          </a:p>
        </p:txBody>
      </p:sp>
      <p:sp>
        <p:nvSpPr>
          <p:cNvPr id="6" name="Slide Number Placeholder 5"/>
          <p:cNvSpPr>
            <a:spLocks noGrp="1"/>
          </p:cNvSpPr>
          <p:nvPr>
            <p:ph type="sldNum" sz="quarter" idx="12"/>
          </p:nvPr>
        </p:nvSpPr>
        <p:spPr/>
        <p:txBody>
          <a:bodyPr/>
          <a:lstStyle/>
          <a:p>
            <a:fld id="{A03BBF96-A7A5-4867-9A4A-2F26A3CC4EC3}" type="slidenum">
              <a:rPr lang="en-US" smtClean="0"/>
              <a:pPr/>
              <a:t>54</a:t>
            </a:fld>
            <a:endParaRPr lang="en-US" dirty="0"/>
          </a:p>
        </p:txBody>
      </p:sp>
      <p:sp>
        <p:nvSpPr>
          <p:cNvPr id="7" name="TextBox 6"/>
          <p:cNvSpPr txBox="1"/>
          <p:nvPr/>
        </p:nvSpPr>
        <p:spPr>
          <a:xfrm>
            <a:off x="0" y="0"/>
            <a:ext cx="4572000" cy="369332"/>
          </a:xfrm>
          <a:prstGeom prst="rect">
            <a:avLst/>
          </a:prstGeom>
          <a:noFill/>
        </p:spPr>
        <p:txBody>
          <a:bodyPr wrap="square" rtlCol="0">
            <a:spAutoFit/>
          </a:bodyPr>
          <a:lstStyle/>
          <a:p>
            <a:pPr algn="r"/>
            <a:r>
              <a:rPr lang="en-US" b="1" dirty="0">
                <a:solidFill>
                  <a:schemeClr val="bg1"/>
                </a:solidFill>
              </a:rPr>
              <a:t>Introduction to Deep Neural Network</a:t>
            </a:r>
          </a:p>
        </p:txBody>
      </p:sp>
      <p:sp>
        <p:nvSpPr>
          <p:cNvPr id="8" name="Rectangle 2"/>
          <p:cNvSpPr>
            <a:spLocks noChangeArrowheads="1"/>
          </p:cNvSpPr>
          <p:nvPr/>
        </p:nvSpPr>
        <p:spPr bwMode="auto">
          <a:xfrm>
            <a:off x="0" y="0"/>
            <a:ext cx="91440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sp>
        <p:nvSpPr>
          <p:cNvPr id="9" name="Rectangle 2"/>
          <p:cNvSpPr>
            <a:spLocks noChangeArrowheads="1"/>
          </p:cNvSpPr>
          <p:nvPr/>
        </p:nvSpPr>
        <p:spPr bwMode="auto">
          <a:xfrm>
            <a:off x="0" y="0"/>
            <a:ext cx="91440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sp>
        <p:nvSpPr>
          <p:cNvPr id="11" name="Footer Placeholder 4">
            <a:extLst>
              <a:ext uri="{FF2B5EF4-FFF2-40B4-BE49-F238E27FC236}">
                <a16:creationId xmlns:a16="http://schemas.microsoft.com/office/drawing/2014/main" id="{CBB301ED-B8A4-4772-B559-A9E41E7472BD}"/>
              </a:ext>
            </a:extLst>
          </p:cNvPr>
          <p:cNvSpPr>
            <a:spLocks noGrp="1"/>
          </p:cNvSpPr>
          <p:nvPr>
            <p:ph type="ftr" sz="quarter" idx="11"/>
          </p:nvPr>
        </p:nvSpPr>
        <p:spPr>
          <a:xfrm>
            <a:off x="2286000" y="6629400"/>
            <a:ext cx="4136571" cy="228600"/>
          </a:xfrm>
        </p:spPr>
        <p:txBody>
          <a:bodyPr/>
          <a:lstStyle/>
          <a:p>
            <a:r>
              <a:rPr lang="en-US" dirty="0"/>
              <a:t>Dr. Sibarama Panigrahi, Dept. of CSE, NIT Rourkela</a:t>
            </a:r>
          </a:p>
        </p:txBody>
      </p:sp>
      <p:cxnSp>
        <p:nvCxnSpPr>
          <p:cNvPr id="10" name="Straight Arrow Connector 9"/>
          <p:cNvCxnSpPr/>
          <p:nvPr/>
        </p:nvCxnSpPr>
        <p:spPr>
          <a:xfrm>
            <a:off x="4038600" y="4876799"/>
            <a:ext cx="3886200" cy="1588"/>
          </a:xfrm>
          <a:prstGeom prst="straightConnector1">
            <a:avLst/>
          </a:prstGeom>
          <a:ln w="38100">
            <a:tailEnd type="arrow"/>
          </a:ln>
        </p:spPr>
        <p:style>
          <a:lnRef idx="1">
            <a:schemeClr val="accent1"/>
          </a:lnRef>
          <a:fillRef idx="0">
            <a:schemeClr val="accent1"/>
          </a:fillRef>
          <a:effectRef idx="0">
            <a:schemeClr val="accent1"/>
          </a:effectRef>
          <a:fontRef idx="minor">
            <a:schemeClr val="tx1"/>
          </a:fontRef>
        </p:style>
      </p:cxnSp>
      <p:cxnSp>
        <p:nvCxnSpPr>
          <p:cNvPr id="12" name="Straight Arrow Connector 11"/>
          <p:cNvCxnSpPr/>
          <p:nvPr/>
        </p:nvCxnSpPr>
        <p:spPr>
          <a:xfrm rot="5400000" flipH="1" flipV="1">
            <a:off x="2933700" y="3771899"/>
            <a:ext cx="2209800" cy="1588"/>
          </a:xfrm>
          <a:prstGeom prst="straightConnector1">
            <a:avLst/>
          </a:prstGeom>
          <a:ln w="47625">
            <a:tailEnd type="arrow"/>
          </a:ln>
        </p:spPr>
        <p:style>
          <a:lnRef idx="1">
            <a:schemeClr val="accent1"/>
          </a:lnRef>
          <a:fillRef idx="0">
            <a:schemeClr val="accent1"/>
          </a:fillRef>
          <a:effectRef idx="0">
            <a:schemeClr val="accent1"/>
          </a:effectRef>
          <a:fontRef idx="minor">
            <a:schemeClr val="tx1"/>
          </a:fontRef>
        </p:style>
      </p:cxnSp>
      <p:cxnSp>
        <p:nvCxnSpPr>
          <p:cNvPr id="13" name="Straight Arrow Connector 12"/>
          <p:cNvCxnSpPr/>
          <p:nvPr/>
        </p:nvCxnSpPr>
        <p:spPr>
          <a:xfrm rot="10800000" flipV="1">
            <a:off x="2209800" y="4876799"/>
            <a:ext cx="1828800" cy="1524000"/>
          </a:xfrm>
          <a:prstGeom prst="straightConnector1">
            <a:avLst/>
          </a:prstGeom>
          <a:ln w="47625">
            <a:tailEnd type="arrow"/>
          </a:ln>
        </p:spPr>
        <p:style>
          <a:lnRef idx="1">
            <a:schemeClr val="accent1"/>
          </a:lnRef>
          <a:fillRef idx="0">
            <a:schemeClr val="accent1"/>
          </a:fillRef>
          <a:effectRef idx="0">
            <a:schemeClr val="accent1"/>
          </a:effectRef>
          <a:fontRef idx="minor">
            <a:schemeClr val="tx1"/>
          </a:fontRef>
        </p:style>
      </p:cxnSp>
      <p:cxnSp>
        <p:nvCxnSpPr>
          <p:cNvPr id="14" name="Straight Arrow Connector 13"/>
          <p:cNvCxnSpPr/>
          <p:nvPr/>
        </p:nvCxnSpPr>
        <p:spPr>
          <a:xfrm rot="5400000">
            <a:off x="3657600" y="5257799"/>
            <a:ext cx="762000" cy="1588"/>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cxnSp>
        <p:nvCxnSpPr>
          <p:cNvPr id="15" name="Straight Arrow Connector 14"/>
          <p:cNvCxnSpPr/>
          <p:nvPr/>
        </p:nvCxnSpPr>
        <p:spPr>
          <a:xfrm rot="16200000" flipH="1">
            <a:off x="3810000" y="5105399"/>
            <a:ext cx="685800" cy="228600"/>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cxnSp>
        <p:nvCxnSpPr>
          <p:cNvPr id="16" name="Straight Arrow Connector 15"/>
          <p:cNvCxnSpPr/>
          <p:nvPr/>
        </p:nvCxnSpPr>
        <p:spPr>
          <a:xfrm rot="16200000" flipH="1">
            <a:off x="4038600" y="4876799"/>
            <a:ext cx="457200" cy="457200"/>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cxnSp>
        <p:nvCxnSpPr>
          <p:cNvPr id="17" name="Straight Arrow Connector 16"/>
          <p:cNvCxnSpPr/>
          <p:nvPr/>
        </p:nvCxnSpPr>
        <p:spPr>
          <a:xfrm>
            <a:off x="4038600" y="4876799"/>
            <a:ext cx="685800" cy="228600"/>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sp>
        <p:nvSpPr>
          <p:cNvPr id="18" name="Freeform 17"/>
          <p:cNvSpPr/>
          <p:nvPr/>
        </p:nvSpPr>
        <p:spPr>
          <a:xfrm>
            <a:off x="2402006" y="2820537"/>
            <a:ext cx="5377218" cy="2033516"/>
          </a:xfrm>
          <a:custGeom>
            <a:avLst/>
            <a:gdLst>
              <a:gd name="connsiteX0" fmla="*/ 0 w 5377218"/>
              <a:gd name="connsiteY0" fmla="*/ 1669575 h 2033516"/>
              <a:gd name="connsiteX1" fmla="*/ 232012 w 5377218"/>
              <a:gd name="connsiteY1" fmla="*/ 1055426 h 2033516"/>
              <a:gd name="connsiteX2" fmla="*/ 477672 w 5377218"/>
              <a:gd name="connsiteY2" fmla="*/ 864358 h 2033516"/>
              <a:gd name="connsiteX3" fmla="*/ 723331 w 5377218"/>
              <a:gd name="connsiteY3" fmla="*/ 1232847 h 2033516"/>
              <a:gd name="connsiteX4" fmla="*/ 1037230 w 5377218"/>
              <a:gd name="connsiteY4" fmla="*/ 1860644 h 2033516"/>
              <a:gd name="connsiteX5" fmla="*/ 1255594 w 5377218"/>
              <a:gd name="connsiteY5" fmla="*/ 1533098 h 2033516"/>
              <a:gd name="connsiteX6" fmla="*/ 1460310 w 5377218"/>
              <a:gd name="connsiteY6" fmla="*/ 1096369 h 2033516"/>
              <a:gd name="connsiteX7" fmla="*/ 1746913 w 5377218"/>
              <a:gd name="connsiteY7" fmla="*/ 1601337 h 2033516"/>
              <a:gd name="connsiteX8" fmla="*/ 2169994 w 5377218"/>
              <a:gd name="connsiteY8" fmla="*/ 645993 h 2033516"/>
              <a:gd name="connsiteX9" fmla="*/ 2524836 w 5377218"/>
              <a:gd name="connsiteY9" fmla="*/ 1287438 h 2033516"/>
              <a:gd name="connsiteX10" fmla="*/ 2879678 w 5377218"/>
              <a:gd name="connsiteY10" fmla="*/ 113731 h 2033516"/>
              <a:gd name="connsiteX11" fmla="*/ 3698543 w 5377218"/>
              <a:gd name="connsiteY11" fmla="*/ 1969826 h 2033516"/>
              <a:gd name="connsiteX12" fmla="*/ 3957851 w 5377218"/>
              <a:gd name="connsiteY12" fmla="*/ 495868 h 2033516"/>
              <a:gd name="connsiteX13" fmla="*/ 4517409 w 5377218"/>
              <a:gd name="connsiteY13" fmla="*/ 1451211 h 2033516"/>
              <a:gd name="connsiteX14" fmla="*/ 4763069 w 5377218"/>
              <a:gd name="connsiteY14" fmla="*/ 809766 h 2033516"/>
              <a:gd name="connsiteX15" fmla="*/ 5186149 w 5377218"/>
              <a:gd name="connsiteY15" fmla="*/ 1737814 h 2033516"/>
              <a:gd name="connsiteX16" fmla="*/ 5377218 w 5377218"/>
              <a:gd name="connsiteY16" fmla="*/ 454925 h 2033516"/>
              <a:gd name="connsiteX17" fmla="*/ 5377218 w 5377218"/>
              <a:gd name="connsiteY17" fmla="*/ 454925 h 203351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5377218" h="2033516">
                <a:moveTo>
                  <a:pt x="0" y="1669575"/>
                </a:moveTo>
                <a:cubicBezTo>
                  <a:pt x="76200" y="1429602"/>
                  <a:pt x="152400" y="1189629"/>
                  <a:pt x="232012" y="1055426"/>
                </a:cubicBezTo>
                <a:cubicBezTo>
                  <a:pt x="311624" y="921223"/>
                  <a:pt x="395786" y="834788"/>
                  <a:pt x="477672" y="864358"/>
                </a:cubicBezTo>
                <a:cubicBezTo>
                  <a:pt x="559558" y="893928"/>
                  <a:pt x="630071" y="1066799"/>
                  <a:pt x="723331" y="1232847"/>
                </a:cubicBezTo>
                <a:cubicBezTo>
                  <a:pt x="816591" y="1398895"/>
                  <a:pt x="948519" y="1810602"/>
                  <a:pt x="1037230" y="1860644"/>
                </a:cubicBezTo>
                <a:cubicBezTo>
                  <a:pt x="1125941" y="1910686"/>
                  <a:pt x="1185081" y="1660477"/>
                  <a:pt x="1255594" y="1533098"/>
                </a:cubicBezTo>
                <a:cubicBezTo>
                  <a:pt x="1326107" y="1405719"/>
                  <a:pt x="1378424" y="1084996"/>
                  <a:pt x="1460310" y="1096369"/>
                </a:cubicBezTo>
                <a:cubicBezTo>
                  <a:pt x="1542196" y="1107742"/>
                  <a:pt x="1628632" y="1676400"/>
                  <a:pt x="1746913" y="1601337"/>
                </a:cubicBezTo>
                <a:cubicBezTo>
                  <a:pt x="1865194" y="1526274"/>
                  <a:pt x="2040340" y="698309"/>
                  <a:pt x="2169994" y="645993"/>
                </a:cubicBezTo>
                <a:cubicBezTo>
                  <a:pt x="2299648" y="593677"/>
                  <a:pt x="2406555" y="1376148"/>
                  <a:pt x="2524836" y="1287438"/>
                </a:cubicBezTo>
                <a:cubicBezTo>
                  <a:pt x="2643117" y="1198728"/>
                  <a:pt x="2684060" y="0"/>
                  <a:pt x="2879678" y="113731"/>
                </a:cubicBezTo>
                <a:cubicBezTo>
                  <a:pt x="3075296" y="227462"/>
                  <a:pt x="3518847" y="1906136"/>
                  <a:pt x="3698543" y="1969826"/>
                </a:cubicBezTo>
                <a:cubicBezTo>
                  <a:pt x="3878239" y="2033516"/>
                  <a:pt x="3821373" y="582304"/>
                  <a:pt x="3957851" y="495868"/>
                </a:cubicBezTo>
                <a:cubicBezTo>
                  <a:pt x="4094329" y="409432"/>
                  <a:pt x="4383206" y="1398895"/>
                  <a:pt x="4517409" y="1451211"/>
                </a:cubicBezTo>
                <a:cubicBezTo>
                  <a:pt x="4651612" y="1503527"/>
                  <a:pt x="4651612" y="761999"/>
                  <a:pt x="4763069" y="809766"/>
                </a:cubicBezTo>
                <a:cubicBezTo>
                  <a:pt x="4874526" y="857533"/>
                  <a:pt x="5083791" y="1796954"/>
                  <a:pt x="5186149" y="1737814"/>
                </a:cubicBezTo>
                <a:cubicBezTo>
                  <a:pt x="5288507" y="1678674"/>
                  <a:pt x="5377218" y="454925"/>
                  <a:pt x="5377218" y="454925"/>
                </a:cubicBezTo>
                <a:lnTo>
                  <a:pt x="5377218" y="454925"/>
                </a:lnTo>
              </a:path>
            </a:pathLst>
          </a:custGeom>
          <a:ln w="38100">
            <a:solidFill>
              <a:schemeClr val="accent2">
                <a:lumMod val="75000"/>
              </a:schemeClr>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sp>
        <p:nvSpPr>
          <p:cNvPr id="19" name="Oval 18"/>
          <p:cNvSpPr/>
          <p:nvPr/>
        </p:nvSpPr>
        <p:spPr>
          <a:xfrm>
            <a:off x="2819400" y="3657599"/>
            <a:ext cx="152400" cy="76200"/>
          </a:xfrm>
          <a:prstGeom prst="ellipse">
            <a:avLst/>
          </a:prstGeom>
          <a:solidFill>
            <a:srgbClr val="FF0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0" name="Rectangle 19"/>
          <p:cNvSpPr/>
          <p:nvPr/>
        </p:nvSpPr>
        <p:spPr>
          <a:xfrm>
            <a:off x="5257800" y="4952999"/>
            <a:ext cx="1524000" cy="2286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lumMod val="95000"/>
                    <a:lumOff val="5000"/>
                  </a:schemeClr>
                </a:solidFill>
              </a:rPr>
              <a:t>Weights----</a:t>
            </a:r>
            <a:r>
              <a:rPr lang="en-US" dirty="0">
                <a:solidFill>
                  <a:schemeClr val="tx1">
                    <a:lumMod val="95000"/>
                    <a:lumOff val="5000"/>
                  </a:schemeClr>
                </a:solidFill>
                <a:sym typeface="Wingdings" pitchFamily="2" charset="2"/>
              </a:rPr>
              <a:t></a:t>
            </a:r>
            <a:endParaRPr lang="en-US" dirty="0">
              <a:solidFill>
                <a:schemeClr val="tx1">
                  <a:lumMod val="95000"/>
                  <a:lumOff val="5000"/>
                </a:schemeClr>
              </a:solidFill>
            </a:endParaRPr>
          </a:p>
        </p:txBody>
      </p:sp>
      <p:sp>
        <p:nvSpPr>
          <p:cNvPr id="21" name="Rectangle 20"/>
          <p:cNvSpPr/>
          <p:nvPr/>
        </p:nvSpPr>
        <p:spPr>
          <a:xfrm rot="19285269">
            <a:off x="2362200" y="5340968"/>
            <a:ext cx="1524000" cy="2286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lumMod val="95000"/>
                    <a:lumOff val="5000"/>
                  </a:schemeClr>
                </a:solidFill>
              </a:rPr>
              <a:t>Weights----</a:t>
            </a:r>
            <a:r>
              <a:rPr lang="en-US" dirty="0">
                <a:solidFill>
                  <a:schemeClr val="tx1">
                    <a:lumMod val="95000"/>
                    <a:lumOff val="5000"/>
                  </a:schemeClr>
                </a:solidFill>
                <a:sym typeface="Wingdings" pitchFamily="2" charset="2"/>
              </a:rPr>
              <a:t></a:t>
            </a:r>
            <a:endParaRPr lang="en-US" dirty="0">
              <a:solidFill>
                <a:schemeClr val="tx1">
                  <a:lumMod val="95000"/>
                  <a:lumOff val="5000"/>
                </a:schemeClr>
              </a:solidFill>
            </a:endParaRPr>
          </a:p>
        </p:txBody>
      </p:sp>
      <p:sp>
        <p:nvSpPr>
          <p:cNvPr id="22" name="Rectangle 21"/>
          <p:cNvSpPr/>
          <p:nvPr/>
        </p:nvSpPr>
        <p:spPr>
          <a:xfrm rot="16200000">
            <a:off x="3086100" y="3238499"/>
            <a:ext cx="1524000" cy="2286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lumMod val="95000"/>
                    <a:lumOff val="5000"/>
                  </a:schemeClr>
                </a:solidFill>
              </a:rPr>
              <a:t>Error----</a:t>
            </a:r>
            <a:r>
              <a:rPr lang="en-US" dirty="0">
                <a:solidFill>
                  <a:schemeClr val="tx1">
                    <a:lumMod val="95000"/>
                    <a:lumOff val="5000"/>
                  </a:schemeClr>
                </a:solidFill>
                <a:sym typeface="Wingdings" pitchFamily="2" charset="2"/>
              </a:rPr>
              <a:t></a:t>
            </a:r>
            <a:endParaRPr lang="en-US" dirty="0">
              <a:solidFill>
                <a:schemeClr val="tx1">
                  <a:lumMod val="95000"/>
                  <a:lumOff val="5000"/>
                </a:schemeClr>
              </a:solidFill>
            </a:endParaRPr>
          </a:p>
        </p:txBody>
      </p:sp>
      <p:sp>
        <p:nvSpPr>
          <p:cNvPr id="23" name="TextBox 22"/>
          <p:cNvSpPr txBox="1"/>
          <p:nvPr/>
        </p:nvSpPr>
        <p:spPr>
          <a:xfrm flipH="1">
            <a:off x="6324599" y="6600824"/>
            <a:ext cx="3048000" cy="307777"/>
          </a:xfrm>
          <a:prstGeom prst="rect">
            <a:avLst/>
          </a:prstGeom>
          <a:noFill/>
        </p:spPr>
        <p:txBody>
          <a:bodyPr wrap="square" rtlCol="0">
            <a:spAutoFit/>
          </a:bodyPr>
          <a:lstStyle/>
          <a:p>
            <a:r>
              <a:rPr lang="en-US" sz="1400" dirty="0" smtClean="0">
                <a:latin typeface="Times New Roman" panose="02020603050405020304" pitchFamily="18" charset="0"/>
                <a:cs typeface="Times New Roman" panose="02020603050405020304" pitchFamily="18" charset="0"/>
              </a:rPr>
              <a:t>Convex and Non-Convex Error Fun</a:t>
            </a:r>
            <a:endParaRPr lang="en-IN" sz="14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747202816"/>
      </p:ext>
    </p:extLst>
  </p:cSld>
  <p:clrMapOvr>
    <a:masterClrMapping/>
  </p:clrMapOvr>
  <p:timing>
    <p:tnLst>
      <p:par>
        <p:cTn id="1" dur="indefinite" restart="never" nodeType="tmRoot"/>
      </p:par>
    </p:tnLst>
  </p:timing>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cap="small" dirty="0"/>
              <a:t>Optimizers</a:t>
            </a:r>
          </a:p>
        </p:txBody>
      </p:sp>
      <p:sp>
        <p:nvSpPr>
          <p:cNvPr id="3" name="Content Placeholder 2"/>
          <p:cNvSpPr>
            <a:spLocks noGrp="1"/>
          </p:cNvSpPr>
          <p:nvPr>
            <p:ph idx="1"/>
          </p:nvPr>
        </p:nvSpPr>
        <p:spPr/>
        <p:txBody>
          <a:bodyPr>
            <a:normAutofit/>
          </a:bodyPr>
          <a:lstStyle/>
          <a:p>
            <a:r>
              <a:rPr lang="en-US" sz="2400" dirty="0"/>
              <a:t>Convex function and Non-Convex Function</a:t>
            </a:r>
          </a:p>
          <a:p>
            <a:r>
              <a:rPr lang="en-US" sz="2400" dirty="0"/>
              <a:t>Convex functions have either 1 maxima or minima. (Local minima=global minima)</a:t>
            </a:r>
          </a:p>
          <a:p>
            <a:r>
              <a:rPr lang="en-US" sz="2400" dirty="0"/>
              <a:t>Non-convex functions have more than one minima or maxima</a:t>
            </a:r>
          </a:p>
          <a:p>
            <a:endParaRPr lang="en-US" dirty="0"/>
          </a:p>
          <a:p>
            <a:endParaRPr lang="en-US" dirty="0"/>
          </a:p>
        </p:txBody>
      </p:sp>
      <p:sp>
        <p:nvSpPr>
          <p:cNvPr id="4" name="Date Placeholder 3"/>
          <p:cNvSpPr>
            <a:spLocks noGrp="1"/>
          </p:cNvSpPr>
          <p:nvPr>
            <p:ph type="dt" sz="half" idx="10"/>
          </p:nvPr>
        </p:nvSpPr>
        <p:spPr/>
        <p:txBody>
          <a:bodyPr/>
          <a:lstStyle/>
          <a:p>
            <a:fld id="{E7067A60-51C7-4095-BFA9-1CE32DCBA06F}" type="datetime1">
              <a:rPr lang="en-US" smtClean="0"/>
              <a:pPr/>
              <a:t>2/9/2026</a:t>
            </a:fld>
            <a:endParaRPr lang="en-US" dirty="0"/>
          </a:p>
        </p:txBody>
      </p:sp>
      <p:sp>
        <p:nvSpPr>
          <p:cNvPr id="6" name="Slide Number Placeholder 5"/>
          <p:cNvSpPr>
            <a:spLocks noGrp="1"/>
          </p:cNvSpPr>
          <p:nvPr>
            <p:ph type="sldNum" sz="quarter" idx="12"/>
          </p:nvPr>
        </p:nvSpPr>
        <p:spPr/>
        <p:txBody>
          <a:bodyPr/>
          <a:lstStyle/>
          <a:p>
            <a:fld id="{A03BBF96-A7A5-4867-9A4A-2F26A3CC4EC3}" type="slidenum">
              <a:rPr lang="en-US" smtClean="0"/>
              <a:pPr/>
              <a:t>55</a:t>
            </a:fld>
            <a:endParaRPr lang="en-US" dirty="0"/>
          </a:p>
        </p:txBody>
      </p:sp>
      <p:sp>
        <p:nvSpPr>
          <p:cNvPr id="7" name="TextBox 6"/>
          <p:cNvSpPr txBox="1"/>
          <p:nvPr/>
        </p:nvSpPr>
        <p:spPr>
          <a:xfrm>
            <a:off x="0" y="0"/>
            <a:ext cx="4572000" cy="369332"/>
          </a:xfrm>
          <a:prstGeom prst="rect">
            <a:avLst/>
          </a:prstGeom>
          <a:noFill/>
        </p:spPr>
        <p:txBody>
          <a:bodyPr wrap="square" rtlCol="0">
            <a:spAutoFit/>
          </a:bodyPr>
          <a:lstStyle/>
          <a:p>
            <a:pPr algn="r"/>
            <a:r>
              <a:rPr lang="en-US" b="1" dirty="0">
                <a:solidFill>
                  <a:schemeClr val="bg1"/>
                </a:solidFill>
              </a:rPr>
              <a:t>Introduction to Deep Neural Network</a:t>
            </a:r>
          </a:p>
        </p:txBody>
      </p:sp>
      <p:sp>
        <p:nvSpPr>
          <p:cNvPr id="8" name="Rectangle 2"/>
          <p:cNvSpPr>
            <a:spLocks noChangeArrowheads="1"/>
          </p:cNvSpPr>
          <p:nvPr/>
        </p:nvSpPr>
        <p:spPr bwMode="auto">
          <a:xfrm>
            <a:off x="0" y="0"/>
            <a:ext cx="91440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sp>
        <p:nvSpPr>
          <p:cNvPr id="9" name="Rectangle 2"/>
          <p:cNvSpPr>
            <a:spLocks noChangeArrowheads="1"/>
          </p:cNvSpPr>
          <p:nvPr/>
        </p:nvSpPr>
        <p:spPr bwMode="auto">
          <a:xfrm>
            <a:off x="0" y="0"/>
            <a:ext cx="91440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sp>
        <p:nvSpPr>
          <p:cNvPr id="11" name="Footer Placeholder 4">
            <a:extLst>
              <a:ext uri="{FF2B5EF4-FFF2-40B4-BE49-F238E27FC236}">
                <a16:creationId xmlns:a16="http://schemas.microsoft.com/office/drawing/2014/main" id="{CBB301ED-B8A4-4772-B559-A9E41E7472BD}"/>
              </a:ext>
            </a:extLst>
          </p:cNvPr>
          <p:cNvSpPr>
            <a:spLocks noGrp="1"/>
          </p:cNvSpPr>
          <p:nvPr>
            <p:ph type="ftr" sz="quarter" idx="11"/>
          </p:nvPr>
        </p:nvSpPr>
        <p:spPr>
          <a:xfrm>
            <a:off x="2286000" y="6629400"/>
            <a:ext cx="4136571" cy="228600"/>
          </a:xfrm>
        </p:spPr>
        <p:txBody>
          <a:bodyPr/>
          <a:lstStyle/>
          <a:p>
            <a:r>
              <a:rPr lang="en-US" dirty="0"/>
              <a:t>Dr. Sibarama Panigrahi, Dept. of CSE, NIT Rourkela</a:t>
            </a:r>
          </a:p>
        </p:txBody>
      </p:sp>
      <p:pic>
        <p:nvPicPr>
          <p:cNvPr id="12290" name="Picture 2"/>
          <p:cNvPicPr>
            <a:picLocks noChangeAspect="1" noChangeArrowheads="1"/>
          </p:cNvPicPr>
          <p:nvPr/>
        </p:nvPicPr>
        <p:blipFill>
          <a:blip r:embed="rId2"/>
          <a:srcRect/>
          <a:stretch>
            <a:fillRect/>
          </a:stretch>
        </p:blipFill>
        <p:spPr bwMode="auto">
          <a:xfrm>
            <a:off x="381000" y="3048000"/>
            <a:ext cx="2663632" cy="2648997"/>
          </a:xfrm>
          <a:prstGeom prst="rect">
            <a:avLst/>
          </a:prstGeom>
          <a:noFill/>
          <a:ln w="9525">
            <a:noFill/>
            <a:miter lim="800000"/>
            <a:headEnd/>
            <a:tailEnd/>
          </a:ln>
          <a:effectLst/>
        </p:spPr>
      </p:pic>
      <p:pic>
        <p:nvPicPr>
          <p:cNvPr id="12291" name="Picture 3"/>
          <p:cNvPicPr>
            <a:picLocks noChangeAspect="1" noChangeArrowheads="1"/>
          </p:cNvPicPr>
          <p:nvPr/>
        </p:nvPicPr>
        <p:blipFill>
          <a:blip r:embed="rId3"/>
          <a:srcRect/>
          <a:stretch>
            <a:fillRect/>
          </a:stretch>
        </p:blipFill>
        <p:spPr bwMode="auto">
          <a:xfrm>
            <a:off x="3276600" y="2819399"/>
            <a:ext cx="2971800" cy="3073111"/>
          </a:xfrm>
          <a:prstGeom prst="rect">
            <a:avLst/>
          </a:prstGeom>
          <a:noFill/>
          <a:ln w="9525">
            <a:noFill/>
            <a:miter lim="800000"/>
            <a:headEnd/>
            <a:tailEnd/>
          </a:ln>
          <a:effectLst/>
        </p:spPr>
      </p:pic>
      <p:pic>
        <p:nvPicPr>
          <p:cNvPr id="12292" name="Picture 4"/>
          <p:cNvPicPr>
            <a:picLocks noChangeAspect="1" noChangeArrowheads="1"/>
          </p:cNvPicPr>
          <p:nvPr/>
        </p:nvPicPr>
        <p:blipFill>
          <a:blip r:embed="rId4"/>
          <a:srcRect/>
          <a:stretch>
            <a:fillRect/>
          </a:stretch>
        </p:blipFill>
        <p:spPr bwMode="auto">
          <a:xfrm>
            <a:off x="6324599" y="3124200"/>
            <a:ext cx="2545773" cy="2667000"/>
          </a:xfrm>
          <a:prstGeom prst="rect">
            <a:avLst/>
          </a:prstGeom>
          <a:noFill/>
          <a:ln w="9525">
            <a:noFill/>
            <a:miter lim="800000"/>
            <a:headEnd/>
            <a:tailEnd/>
          </a:ln>
          <a:effectLst/>
        </p:spPr>
      </p:pic>
      <p:sp>
        <p:nvSpPr>
          <p:cNvPr id="13" name="TextBox 12"/>
          <p:cNvSpPr txBox="1"/>
          <p:nvPr/>
        </p:nvSpPr>
        <p:spPr>
          <a:xfrm flipH="1">
            <a:off x="6324599" y="6600824"/>
            <a:ext cx="3048000" cy="307777"/>
          </a:xfrm>
          <a:prstGeom prst="rect">
            <a:avLst/>
          </a:prstGeom>
          <a:noFill/>
        </p:spPr>
        <p:txBody>
          <a:bodyPr wrap="square" rtlCol="0">
            <a:spAutoFit/>
          </a:bodyPr>
          <a:lstStyle/>
          <a:p>
            <a:r>
              <a:rPr lang="en-US" sz="1400" dirty="0" smtClean="0">
                <a:latin typeface="Times New Roman" panose="02020603050405020304" pitchFamily="18" charset="0"/>
                <a:cs typeface="Times New Roman" panose="02020603050405020304" pitchFamily="18" charset="0"/>
              </a:rPr>
              <a:t>Stochastic Gradient Descent</a:t>
            </a:r>
            <a:endParaRPr lang="en-IN" sz="14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377514543"/>
      </p:ext>
    </p:extLst>
  </p:cSld>
  <p:clrMapOvr>
    <a:masterClrMapping/>
  </p:clrMapOvr>
  <p:timing>
    <p:tnLst>
      <p:par>
        <p:cTn id="1" dur="indefinite" restart="never" nodeType="tmRoot"/>
      </p:par>
    </p:tnLst>
  </p:timing>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Stochastic gradient descent (SGD)</a:t>
            </a:r>
          </a:p>
        </p:txBody>
      </p:sp>
      <mc:AlternateContent xmlns:mc="http://schemas.openxmlformats.org/markup-compatibility/2006" xmlns:a14="http://schemas.microsoft.com/office/drawing/2010/main">
        <mc:Choice Requires="a14">
          <p:sp>
            <p:nvSpPr>
              <p:cNvPr id="17" name="Content Placeholder 16"/>
              <p:cNvSpPr>
                <a:spLocks noGrp="1"/>
              </p:cNvSpPr>
              <p:nvPr>
                <p:ph idx="1"/>
              </p:nvPr>
            </p:nvSpPr>
            <p:spPr>
              <a:xfrm>
                <a:off x="4122147" y="2226469"/>
                <a:ext cx="5021853" cy="3263504"/>
              </a:xfrm>
            </p:spPr>
            <p:txBody>
              <a:bodyPr>
                <a:normAutofit fontScale="92500"/>
              </a:bodyPr>
              <a:lstStyle/>
              <a:p>
                <a:r>
                  <a:rPr lang="en-US" dirty="0" smtClean="0"/>
                  <a:t>Initialize </a:t>
                </a:r>
                <a14:m>
                  <m:oMath xmlns:m="http://schemas.openxmlformats.org/officeDocument/2006/math">
                    <m:sSub>
                      <m:sSubPr>
                        <m:ctrlPr>
                          <a:rPr lang="en-US" b="0" i="1" smtClean="0">
                            <a:latin typeface="Cambria Math" panose="02040503050406030204" pitchFamily="18" charset="0"/>
                          </a:rPr>
                        </m:ctrlPr>
                      </m:sSubPr>
                      <m:e>
                        <m:r>
                          <a:rPr lang="en-IN" b="0" i="1" smtClean="0">
                            <a:latin typeface="Cambria Math" panose="02040503050406030204" pitchFamily="18" charset="0"/>
                          </a:rPr>
                          <m:t>𝑊</m:t>
                        </m:r>
                      </m:e>
                      <m:sub>
                        <m:r>
                          <a:rPr lang="en-US" b="0" i="1" smtClean="0">
                            <a:latin typeface="Cambria Math" panose="02040503050406030204" pitchFamily="18" charset="0"/>
                          </a:rPr>
                          <m:t>0</m:t>
                        </m:r>
                      </m:sub>
                    </m:sSub>
                  </m:oMath>
                </a14:m>
                <a:r>
                  <a:rPr lang="en-US" dirty="0"/>
                  <a:t> randomly</a:t>
                </a:r>
              </a:p>
              <a:p>
                <a:r>
                  <a:rPr lang="en-US" dirty="0"/>
                  <a:t>For </a:t>
                </a:r>
                <a:r>
                  <a:rPr lang="en-US" i="1" dirty="0"/>
                  <a:t>t</a:t>
                </a:r>
                <a:r>
                  <a:rPr lang="en-US" dirty="0"/>
                  <a:t> in 0,…, </a:t>
                </a:r>
                <a:r>
                  <a:rPr lang="en-US" i="1" dirty="0" err="1"/>
                  <a:t>T</a:t>
                </a:r>
                <a:r>
                  <a:rPr lang="en-US" baseline="-25000" dirty="0" err="1"/>
                  <a:t>maxiter</a:t>
                </a:r>
                <a:endParaRPr lang="en-US" baseline="-25000" dirty="0"/>
              </a:p>
              <a:p>
                <a:pPr marL="0" indent="0">
                  <a:buNone/>
                </a:pPr>
                <a14:m>
                  <m:oMathPara xmlns:m="http://schemas.openxmlformats.org/officeDocument/2006/math">
                    <m:oMathParaPr>
                      <m:jc m:val="centerGroup"/>
                    </m:oMathParaPr>
                    <m:oMath xmlns:m="http://schemas.openxmlformats.org/officeDocument/2006/math">
                      <m:sSup>
                        <m:sSupPr>
                          <m:ctrlPr>
                            <a:rPr lang="en-US" sz="2600" b="0" i="1" smtClean="0">
                              <a:latin typeface="Cambria Math" panose="02040503050406030204" pitchFamily="18" charset="0"/>
                            </a:rPr>
                          </m:ctrlPr>
                        </m:sSupPr>
                        <m:e>
                          <m:r>
                            <a:rPr lang="en-IN" sz="2600" b="0" i="1" smtClean="0">
                              <a:latin typeface="Cambria Math" panose="02040503050406030204" pitchFamily="18" charset="0"/>
                            </a:rPr>
                            <m:t>𝑊</m:t>
                          </m:r>
                        </m:e>
                        <m:sup>
                          <m:r>
                            <a:rPr lang="en-US" sz="2600" b="0" i="1" smtClean="0">
                              <a:latin typeface="Cambria Math" panose="02040503050406030204" pitchFamily="18" charset="0"/>
                            </a:rPr>
                            <m:t>𝑡</m:t>
                          </m:r>
                          <m:r>
                            <a:rPr lang="en-US" sz="2600" b="0" i="1" smtClean="0">
                              <a:latin typeface="Cambria Math" panose="02040503050406030204" pitchFamily="18" charset="0"/>
                            </a:rPr>
                            <m:t>+1</m:t>
                          </m:r>
                        </m:sup>
                      </m:sSup>
                      <m:r>
                        <a:rPr lang="en-US" sz="2600" b="0" i="1" smtClean="0">
                          <a:latin typeface="Cambria Math" panose="02040503050406030204" pitchFamily="18" charset="0"/>
                        </a:rPr>
                        <m:t>=</m:t>
                      </m:r>
                      <m:sSup>
                        <m:sSupPr>
                          <m:ctrlPr>
                            <a:rPr lang="en-US" sz="2600" b="0" i="1" smtClean="0">
                              <a:latin typeface="Cambria Math" panose="02040503050406030204" pitchFamily="18" charset="0"/>
                            </a:rPr>
                          </m:ctrlPr>
                        </m:sSupPr>
                        <m:e>
                          <m:r>
                            <a:rPr lang="en-IN" sz="2600" b="0" i="1" smtClean="0">
                              <a:latin typeface="Cambria Math" panose="02040503050406030204" pitchFamily="18" charset="0"/>
                            </a:rPr>
                            <m:t>𝑊</m:t>
                          </m:r>
                        </m:e>
                        <m:sup>
                          <m:r>
                            <a:rPr lang="en-US" sz="2600" b="0" i="1" smtClean="0">
                              <a:latin typeface="Cambria Math" panose="02040503050406030204" pitchFamily="18" charset="0"/>
                            </a:rPr>
                            <m:t>𝑡</m:t>
                          </m:r>
                        </m:sup>
                      </m:sSup>
                      <m:r>
                        <a:rPr lang="en-US" sz="2600" b="0" i="1" smtClean="0">
                          <a:latin typeface="Cambria Math" panose="02040503050406030204" pitchFamily="18" charset="0"/>
                        </a:rPr>
                        <m:t>−</m:t>
                      </m:r>
                      <m:sSub>
                        <m:sSubPr>
                          <m:ctrlPr>
                            <a:rPr lang="en-US" sz="2600" b="0" i="1" smtClean="0">
                              <a:latin typeface="Cambria Math" panose="02040503050406030204" pitchFamily="18" charset="0"/>
                            </a:rPr>
                          </m:ctrlPr>
                        </m:sSubPr>
                        <m:e>
                          <m:r>
                            <a:rPr lang="en-US" sz="2600" b="0" i="1" smtClean="0">
                              <a:latin typeface="Cambria Math" panose="02040503050406030204" pitchFamily="18" charset="0"/>
                            </a:rPr>
                            <m:t>𝜂</m:t>
                          </m:r>
                        </m:e>
                        <m:sub>
                          <m:r>
                            <a:rPr lang="en-US" sz="2600" b="0" i="1" smtClean="0">
                              <a:latin typeface="Cambria Math" panose="02040503050406030204" pitchFamily="18" charset="0"/>
                            </a:rPr>
                            <m:t>𝑡</m:t>
                          </m:r>
                        </m:sub>
                      </m:sSub>
                      <m:r>
                        <a:rPr lang="en-US" sz="2600" b="0" i="1" smtClean="0">
                          <a:latin typeface="Cambria Math" panose="02040503050406030204" pitchFamily="18" charset="0"/>
                        </a:rPr>
                        <m:t>⋅</m:t>
                      </m:r>
                      <m:r>
                        <a:rPr lang="en-US" sz="2600">
                          <a:latin typeface="Cambria Math" panose="02040503050406030204" pitchFamily="18" charset="0"/>
                        </a:rPr>
                        <m:t>𝛻</m:t>
                      </m:r>
                      <m:r>
                        <a:rPr lang="en-US" sz="2600" i="1">
                          <a:latin typeface="Cambria Math" panose="02040503050406030204" pitchFamily="18" charset="0"/>
                        </a:rPr>
                        <m:t>𝐿𝑜𝑠𝑠</m:t>
                      </m:r>
                      <m:d>
                        <m:dPr>
                          <m:ctrlPr>
                            <a:rPr lang="en-US" sz="2600" i="1">
                              <a:latin typeface="Cambria Math" panose="02040503050406030204" pitchFamily="18" charset="0"/>
                            </a:rPr>
                          </m:ctrlPr>
                        </m:dPr>
                        <m:e>
                          <m:sSub>
                            <m:sSubPr>
                              <m:ctrlPr>
                                <a:rPr lang="en-US" sz="2600" i="1">
                                  <a:latin typeface="Cambria Math" panose="02040503050406030204" pitchFamily="18" charset="0"/>
                                </a:rPr>
                              </m:ctrlPr>
                            </m:sSubPr>
                            <m:e>
                              <m:r>
                                <a:rPr lang="en-US" sz="2600" i="1">
                                  <a:latin typeface="Cambria Math" panose="02040503050406030204" pitchFamily="18" charset="0"/>
                                </a:rPr>
                                <m:t>𝑓</m:t>
                              </m:r>
                            </m:e>
                            <m:sub>
                              <m:r>
                                <a:rPr lang="en-IN" sz="2600" b="0" i="1" smtClean="0">
                                  <a:latin typeface="Cambria Math" panose="02040503050406030204" pitchFamily="18" charset="0"/>
                                </a:rPr>
                                <m:t>𝑤</m:t>
                              </m:r>
                            </m:sub>
                          </m:sSub>
                          <m:d>
                            <m:dPr>
                              <m:ctrlPr>
                                <a:rPr lang="en-US" sz="2600" i="1">
                                  <a:latin typeface="Cambria Math" panose="02040503050406030204" pitchFamily="18" charset="0"/>
                                </a:rPr>
                              </m:ctrlPr>
                            </m:dPr>
                            <m:e>
                              <m:sSub>
                                <m:sSubPr>
                                  <m:ctrlPr>
                                    <a:rPr lang="en-US" sz="2600" i="1">
                                      <a:latin typeface="Cambria Math" panose="02040503050406030204" pitchFamily="18" charset="0"/>
                                    </a:rPr>
                                  </m:ctrlPr>
                                </m:sSubPr>
                                <m:e>
                                  <m:r>
                                    <a:rPr lang="en-US" sz="2600" i="1">
                                      <a:latin typeface="Cambria Math" panose="02040503050406030204" pitchFamily="18" charset="0"/>
                                    </a:rPr>
                                    <m:t>𝑥</m:t>
                                  </m:r>
                                </m:e>
                                <m:sub>
                                  <m:r>
                                    <a:rPr lang="en-US" sz="2600" i="1">
                                      <a:latin typeface="Cambria Math" panose="02040503050406030204" pitchFamily="18" charset="0"/>
                                    </a:rPr>
                                    <m:t>𝑖</m:t>
                                  </m:r>
                                </m:sub>
                              </m:sSub>
                            </m:e>
                          </m:d>
                          <m:r>
                            <a:rPr lang="en-US" sz="2600" i="1">
                              <a:latin typeface="Cambria Math" panose="02040503050406030204" pitchFamily="18" charset="0"/>
                            </a:rPr>
                            <m:t>, </m:t>
                          </m:r>
                          <m:sSub>
                            <m:sSubPr>
                              <m:ctrlPr>
                                <a:rPr lang="en-US" sz="2600" i="1">
                                  <a:latin typeface="Cambria Math" panose="02040503050406030204" pitchFamily="18" charset="0"/>
                                </a:rPr>
                              </m:ctrlPr>
                            </m:sSubPr>
                            <m:e>
                              <m:r>
                                <a:rPr lang="en-US" sz="2600" i="1">
                                  <a:latin typeface="Cambria Math" panose="02040503050406030204" pitchFamily="18" charset="0"/>
                                </a:rPr>
                                <m:t>𝑦</m:t>
                              </m:r>
                            </m:e>
                            <m:sub>
                              <m:r>
                                <a:rPr lang="en-US" sz="2600" i="1">
                                  <a:latin typeface="Cambria Math" panose="02040503050406030204" pitchFamily="18" charset="0"/>
                                </a:rPr>
                                <m:t>𝑖</m:t>
                              </m:r>
                            </m:sub>
                          </m:sSub>
                        </m:e>
                      </m:d>
                    </m:oMath>
                  </m:oMathPara>
                </a14:m>
                <a:endParaRPr lang="en-US" sz="2600" dirty="0"/>
              </a:p>
              <a:p>
                <a:pPr marL="0" indent="0">
                  <a:buNone/>
                </a:pPr>
                <a:endParaRPr lang="en-US" dirty="0"/>
              </a:p>
              <a:p>
                <a:pPr marL="0" indent="0">
                  <a:buNone/>
                </a:pPr>
                <a:r>
                  <a:rPr lang="en-US" dirty="0"/>
                  <a:t>where index </a:t>
                </a:r>
                <a:r>
                  <a:rPr lang="en-US" i="1" dirty="0" err="1"/>
                  <a:t>i</a:t>
                </a:r>
                <a:r>
                  <a:rPr lang="en-US" dirty="0"/>
                  <a:t> is chosen randomly</a:t>
                </a:r>
              </a:p>
            </p:txBody>
          </p:sp>
        </mc:Choice>
        <mc:Fallback xmlns="">
          <p:sp>
            <p:nvSpPr>
              <p:cNvPr id="17" name="Content Placeholder 16"/>
              <p:cNvSpPr>
                <a:spLocks noGrp="1" noRot="1" noChangeAspect="1" noMove="1" noResize="1" noEditPoints="1" noAdjustHandles="1" noChangeArrowheads="1" noChangeShapeType="1" noTextEdit="1"/>
              </p:cNvSpPr>
              <p:nvPr>
                <p:ph idx="1"/>
              </p:nvPr>
            </p:nvSpPr>
            <p:spPr>
              <a:xfrm>
                <a:off x="4122147" y="2226469"/>
                <a:ext cx="5021853" cy="3263504"/>
              </a:xfrm>
              <a:blipFill rotWithShape="0">
                <a:blip r:embed="rId2"/>
                <a:stretch>
                  <a:fillRect l="-2791" t="-3918"/>
                </a:stretch>
              </a:blipFill>
            </p:spPr>
            <p:txBody>
              <a:bodyPr/>
              <a:lstStyle/>
              <a:p>
                <a:r>
                  <a:rPr lang="en-IN">
                    <a:noFill/>
                  </a:rPr>
                  <a:t> </a:t>
                </a:r>
              </a:p>
            </p:txBody>
          </p:sp>
        </mc:Fallback>
      </mc:AlternateContent>
      <p:sp>
        <p:nvSpPr>
          <p:cNvPr id="8" name="Oval 7"/>
          <p:cNvSpPr/>
          <p:nvPr/>
        </p:nvSpPr>
        <p:spPr>
          <a:xfrm rot="20022333">
            <a:off x="1125941" y="3815453"/>
            <a:ext cx="1213739" cy="479715"/>
          </a:xfrm>
          <a:prstGeom prst="ellipse">
            <a:avLst/>
          </a:prstGeom>
          <a:ln w="38100">
            <a:solidFill>
              <a:schemeClr val="accent1">
                <a:lumMod val="60000"/>
                <a:lumOff val="40000"/>
              </a:schemeClr>
            </a:solidFill>
          </a:ln>
        </p:spPr>
        <p:style>
          <a:lnRef idx="2">
            <a:schemeClr val="accent1"/>
          </a:lnRef>
          <a:fillRef idx="1">
            <a:schemeClr val="lt1"/>
          </a:fillRef>
          <a:effectRef idx="0">
            <a:schemeClr val="accent1"/>
          </a:effectRef>
          <a:fontRef idx="minor">
            <a:schemeClr val="dk1"/>
          </a:fontRef>
        </p:style>
        <p:txBody>
          <a:bodyPr rtlCol="0" anchor="ctr"/>
          <a:lstStyle/>
          <a:p>
            <a:pPr algn="ctr"/>
            <a:endParaRPr lang="en-US" sz="2100" i="1">
              <a:latin typeface="Cambria Math" panose="02040503050406030204" pitchFamily="18" charset="0"/>
            </a:endParaRPr>
          </a:p>
        </p:txBody>
      </p:sp>
      <p:sp>
        <p:nvSpPr>
          <p:cNvPr id="9" name="Oval 8"/>
          <p:cNvSpPr/>
          <p:nvPr/>
        </p:nvSpPr>
        <p:spPr>
          <a:xfrm rot="20022333">
            <a:off x="539934" y="3511032"/>
            <a:ext cx="2517912" cy="1088555"/>
          </a:xfrm>
          <a:prstGeom prst="ellipse">
            <a:avLst/>
          </a:prstGeom>
          <a:noFill/>
          <a:ln w="38100">
            <a:solidFill>
              <a:schemeClr val="accent1">
                <a:lumMod val="60000"/>
                <a:lumOff val="40000"/>
              </a:schemeClr>
            </a:solidFill>
          </a:ln>
        </p:spPr>
        <p:style>
          <a:lnRef idx="2">
            <a:schemeClr val="accent1"/>
          </a:lnRef>
          <a:fillRef idx="1">
            <a:schemeClr val="lt1"/>
          </a:fillRef>
          <a:effectRef idx="0">
            <a:schemeClr val="accent1"/>
          </a:effectRef>
          <a:fontRef idx="minor">
            <a:schemeClr val="dk1"/>
          </a:fontRef>
        </p:style>
        <p:txBody>
          <a:bodyPr rtlCol="0" anchor="ctr"/>
          <a:lstStyle/>
          <a:p>
            <a:pPr algn="ctr"/>
            <a:endParaRPr lang="en-US" sz="2100" i="1">
              <a:latin typeface="Cambria Math" panose="02040503050406030204" pitchFamily="18" charset="0"/>
            </a:endParaRPr>
          </a:p>
        </p:txBody>
      </p:sp>
      <p:sp>
        <p:nvSpPr>
          <p:cNvPr id="10" name="Oval 9"/>
          <p:cNvSpPr/>
          <p:nvPr/>
        </p:nvSpPr>
        <p:spPr>
          <a:xfrm rot="20022333">
            <a:off x="21250" y="3207971"/>
            <a:ext cx="4003154" cy="1832205"/>
          </a:xfrm>
          <a:prstGeom prst="ellipse">
            <a:avLst/>
          </a:prstGeom>
          <a:noFill/>
          <a:ln w="38100">
            <a:solidFill>
              <a:schemeClr val="accent1">
                <a:lumMod val="60000"/>
                <a:lumOff val="40000"/>
              </a:schemeClr>
            </a:solidFill>
          </a:ln>
        </p:spPr>
        <p:style>
          <a:lnRef idx="2">
            <a:schemeClr val="accent1"/>
          </a:lnRef>
          <a:fillRef idx="1">
            <a:schemeClr val="lt1"/>
          </a:fillRef>
          <a:effectRef idx="0">
            <a:schemeClr val="accent1"/>
          </a:effectRef>
          <a:fontRef idx="minor">
            <a:schemeClr val="dk1"/>
          </a:fontRef>
        </p:style>
        <p:txBody>
          <a:bodyPr rtlCol="0" anchor="ctr"/>
          <a:lstStyle/>
          <a:p>
            <a:pPr algn="ctr"/>
            <a:endParaRPr lang="en-US" sz="2100" i="1">
              <a:latin typeface="Cambria Math" panose="02040503050406030204" pitchFamily="18" charset="0"/>
            </a:endParaRPr>
          </a:p>
        </p:txBody>
      </p:sp>
      <mc:AlternateContent xmlns:mc="http://schemas.openxmlformats.org/markup-compatibility/2006" xmlns:a14="http://schemas.microsoft.com/office/drawing/2010/main">
        <mc:Choice Requires="a14">
          <p:sp>
            <p:nvSpPr>
              <p:cNvPr id="11" name="Rectangle 10"/>
              <p:cNvSpPr/>
              <p:nvPr/>
            </p:nvSpPr>
            <p:spPr>
              <a:xfrm>
                <a:off x="3633898" y="3744948"/>
                <a:ext cx="694421" cy="498278"/>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r>
                        <a:rPr lang="en-IN" sz="2700" b="0" i="1" smtClean="0">
                          <a:solidFill>
                            <a:schemeClr val="accent1"/>
                          </a:solidFill>
                          <a:latin typeface="Cambria Math" panose="02040503050406030204" pitchFamily="18" charset="0"/>
                        </a:rPr>
                        <m:t>𝑊</m:t>
                      </m:r>
                      <m:r>
                        <a:rPr lang="en-US" sz="2700" i="1" baseline="-25000">
                          <a:solidFill>
                            <a:schemeClr val="accent1"/>
                          </a:solidFill>
                          <a:latin typeface="Cambria Math" panose="02040503050406030204" pitchFamily="18" charset="0"/>
                        </a:rPr>
                        <m:t>0</m:t>
                      </m:r>
                    </m:oMath>
                  </m:oMathPara>
                </a14:m>
                <a:endParaRPr lang="en-US" sz="2700" baseline="-25000" dirty="0">
                  <a:solidFill>
                    <a:schemeClr val="accent1"/>
                  </a:solidFill>
                </a:endParaRPr>
              </a:p>
            </p:txBody>
          </p:sp>
        </mc:Choice>
        <mc:Fallback xmlns="">
          <p:sp>
            <p:nvSpPr>
              <p:cNvPr id="11" name="Rectangle 10"/>
              <p:cNvSpPr>
                <a:spLocks noRot="1" noChangeAspect="1" noMove="1" noResize="1" noEditPoints="1" noAdjustHandles="1" noChangeArrowheads="1" noChangeShapeType="1" noTextEdit="1"/>
              </p:cNvSpPr>
              <p:nvPr/>
            </p:nvSpPr>
            <p:spPr>
              <a:xfrm>
                <a:off x="3633898" y="3744948"/>
                <a:ext cx="694421" cy="498278"/>
              </a:xfrm>
              <a:prstGeom prst="rect">
                <a:avLst/>
              </a:prstGeom>
              <a:blipFill rotWithShape="0">
                <a:blip r:embed="rId3"/>
                <a:stretch>
                  <a:fillRect/>
                </a:stretch>
              </a:blipFill>
            </p:spPr>
            <p:txBody>
              <a:bodyPr/>
              <a:lstStyle/>
              <a:p>
                <a:r>
                  <a:rPr lang="en-IN">
                    <a:noFill/>
                  </a:rPr>
                  <a:t> </a:t>
                </a:r>
              </a:p>
            </p:txBody>
          </p:sp>
        </mc:Fallback>
      </mc:AlternateContent>
      <p:sp>
        <p:nvSpPr>
          <p:cNvPr id="12" name="Oval 11"/>
          <p:cNvSpPr/>
          <p:nvPr/>
        </p:nvSpPr>
        <p:spPr>
          <a:xfrm>
            <a:off x="3422319" y="3795463"/>
            <a:ext cx="202186" cy="202187"/>
          </a:xfrm>
          <a:prstGeom prst="ellipse">
            <a:avLst/>
          </a:prstGeom>
          <a:solidFill>
            <a:schemeClr val="accent1"/>
          </a:solidFill>
          <a:ln w="38100">
            <a:solidFill>
              <a:schemeClr val="accent1"/>
            </a:solidFill>
          </a:ln>
        </p:spPr>
        <p:style>
          <a:lnRef idx="2">
            <a:schemeClr val="accent1"/>
          </a:lnRef>
          <a:fillRef idx="1">
            <a:schemeClr val="lt1"/>
          </a:fillRef>
          <a:effectRef idx="0">
            <a:schemeClr val="accent1"/>
          </a:effectRef>
          <a:fontRef idx="minor">
            <a:schemeClr val="dk1"/>
          </a:fontRef>
        </p:style>
        <p:txBody>
          <a:bodyPr rtlCol="0" anchor="ctr"/>
          <a:lstStyle/>
          <a:p>
            <a:pPr algn="ctr"/>
            <a:endParaRPr lang="en-US" sz="2100" i="1">
              <a:latin typeface="Cambria Math" panose="02040503050406030204" pitchFamily="18" charset="0"/>
            </a:endParaRPr>
          </a:p>
        </p:txBody>
      </p:sp>
      <p:sp>
        <p:nvSpPr>
          <p:cNvPr id="13" name="Oval 12"/>
          <p:cNvSpPr/>
          <p:nvPr/>
        </p:nvSpPr>
        <p:spPr>
          <a:xfrm>
            <a:off x="1646217" y="3954215"/>
            <a:ext cx="202186" cy="202187"/>
          </a:xfrm>
          <a:prstGeom prst="ellipse">
            <a:avLst/>
          </a:prstGeom>
          <a:solidFill>
            <a:schemeClr val="accent1"/>
          </a:solidFill>
          <a:ln w="38100">
            <a:solidFill>
              <a:schemeClr val="accent1"/>
            </a:solidFill>
          </a:ln>
        </p:spPr>
        <p:style>
          <a:lnRef idx="2">
            <a:schemeClr val="accent1"/>
          </a:lnRef>
          <a:fillRef idx="1">
            <a:schemeClr val="lt1"/>
          </a:fillRef>
          <a:effectRef idx="0">
            <a:schemeClr val="accent1"/>
          </a:effectRef>
          <a:fontRef idx="minor">
            <a:schemeClr val="dk1"/>
          </a:fontRef>
        </p:style>
        <p:txBody>
          <a:bodyPr rtlCol="0" anchor="ctr"/>
          <a:lstStyle/>
          <a:p>
            <a:pPr algn="ctr"/>
            <a:endParaRPr lang="en-US" sz="2100" i="1">
              <a:latin typeface="Cambria Math" panose="02040503050406030204" pitchFamily="18" charset="0"/>
            </a:endParaRPr>
          </a:p>
        </p:txBody>
      </p:sp>
      <mc:AlternateContent xmlns:mc="http://schemas.openxmlformats.org/markup-compatibility/2006" xmlns:a14="http://schemas.microsoft.com/office/drawing/2010/main">
        <mc:Choice Requires="a14">
          <p:sp>
            <p:nvSpPr>
              <p:cNvPr id="14" name="Rectangle 13"/>
              <p:cNvSpPr/>
              <p:nvPr/>
            </p:nvSpPr>
            <p:spPr>
              <a:xfrm>
                <a:off x="91959" y="2920218"/>
                <a:ext cx="1110945" cy="498278"/>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r>
                        <a:rPr lang="en-IN" sz="2700" b="0" i="1" smtClean="0">
                          <a:solidFill>
                            <a:schemeClr val="accent1"/>
                          </a:solidFill>
                          <a:latin typeface="Cambria Math" panose="02040503050406030204" pitchFamily="18" charset="0"/>
                        </a:rPr>
                        <m:t>𝑊</m:t>
                      </m:r>
                      <m:r>
                        <a:rPr lang="en-US" sz="2700" i="1" baseline="-25000">
                          <a:solidFill>
                            <a:schemeClr val="accent1"/>
                          </a:solidFill>
                          <a:latin typeface="Cambria Math" panose="02040503050406030204" pitchFamily="18" charset="0"/>
                        </a:rPr>
                        <m:t>𝑓𝑖𝑛𝑎𝑙</m:t>
                      </m:r>
                    </m:oMath>
                  </m:oMathPara>
                </a14:m>
                <a:endParaRPr lang="en-US" sz="2700" baseline="-25000" dirty="0">
                  <a:solidFill>
                    <a:schemeClr val="accent1"/>
                  </a:solidFill>
                </a:endParaRPr>
              </a:p>
            </p:txBody>
          </p:sp>
        </mc:Choice>
        <mc:Fallback xmlns="">
          <p:sp>
            <p:nvSpPr>
              <p:cNvPr id="14" name="Rectangle 13"/>
              <p:cNvSpPr>
                <a:spLocks noRot="1" noChangeAspect="1" noMove="1" noResize="1" noEditPoints="1" noAdjustHandles="1" noChangeArrowheads="1" noChangeShapeType="1" noTextEdit="1"/>
              </p:cNvSpPr>
              <p:nvPr/>
            </p:nvSpPr>
            <p:spPr>
              <a:xfrm>
                <a:off x="91959" y="2920218"/>
                <a:ext cx="1110945" cy="498278"/>
              </a:xfrm>
              <a:prstGeom prst="rect">
                <a:avLst/>
              </a:prstGeom>
              <a:blipFill rotWithShape="0">
                <a:blip r:embed="rId4"/>
                <a:stretch>
                  <a:fillRect/>
                </a:stretch>
              </a:blipFill>
            </p:spPr>
            <p:txBody>
              <a:bodyPr/>
              <a:lstStyle/>
              <a:p>
                <a:r>
                  <a:rPr lang="en-IN">
                    <a:noFill/>
                  </a:rPr>
                  <a:t> </a:t>
                </a:r>
              </a:p>
            </p:txBody>
          </p:sp>
        </mc:Fallback>
      </mc:AlternateContent>
      <p:cxnSp>
        <p:nvCxnSpPr>
          <p:cNvPr id="16" name="Straight Arrow Connector 15"/>
          <p:cNvCxnSpPr>
            <a:endCxn id="13" idx="1"/>
          </p:cNvCxnSpPr>
          <p:nvPr/>
        </p:nvCxnSpPr>
        <p:spPr>
          <a:xfrm>
            <a:off x="818425" y="3492248"/>
            <a:ext cx="857401" cy="491577"/>
          </a:xfrm>
          <a:prstGeom prst="straightConnector1">
            <a:avLst/>
          </a:prstGeom>
          <a:ln w="38100">
            <a:solidFill>
              <a:schemeClr val="accent1"/>
            </a:solidFill>
            <a:headEnd type="none" w="med" len="med"/>
            <a:tailEnd type="arrow" w="med" len="med"/>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21" name="Rectangle 20"/>
              <p:cNvSpPr/>
              <p:nvPr/>
            </p:nvSpPr>
            <p:spPr>
              <a:xfrm>
                <a:off x="2680944" y="2307001"/>
                <a:ext cx="651973" cy="498278"/>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sSub>
                        <m:sSubPr>
                          <m:ctrlPr>
                            <a:rPr lang="en-US" sz="2700" i="1" smtClean="0">
                              <a:solidFill>
                                <a:schemeClr val="accent1"/>
                              </a:solidFill>
                              <a:latin typeface="Cambria Math" panose="02040503050406030204" pitchFamily="18" charset="0"/>
                            </a:rPr>
                          </m:ctrlPr>
                        </m:sSubPr>
                        <m:e>
                          <m:r>
                            <a:rPr lang="en-IN" sz="2700" b="0" i="1" smtClean="0">
                              <a:solidFill>
                                <a:schemeClr val="accent1"/>
                              </a:solidFill>
                              <a:latin typeface="Cambria Math" panose="02040503050406030204" pitchFamily="18" charset="0"/>
                            </a:rPr>
                            <m:t>𝑊</m:t>
                          </m:r>
                        </m:e>
                        <m:sub>
                          <m:r>
                            <a:rPr lang="en-US" sz="2700" i="1">
                              <a:solidFill>
                                <a:schemeClr val="accent1"/>
                              </a:solidFill>
                              <a:latin typeface="Cambria Math" panose="02040503050406030204" pitchFamily="18" charset="0"/>
                            </a:rPr>
                            <m:t>𝑡</m:t>
                          </m:r>
                        </m:sub>
                      </m:sSub>
                    </m:oMath>
                  </m:oMathPara>
                </a14:m>
                <a:endParaRPr lang="en-US" sz="2700" baseline="-25000" dirty="0">
                  <a:solidFill>
                    <a:schemeClr val="accent1"/>
                  </a:solidFill>
                </a:endParaRPr>
              </a:p>
            </p:txBody>
          </p:sp>
        </mc:Choice>
        <mc:Fallback xmlns="">
          <p:sp>
            <p:nvSpPr>
              <p:cNvPr id="21" name="Rectangle 20"/>
              <p:cNvSpPr>
                <a:spLocks noRot="1" noChangeAspect="1" noMove="1" noResize="1" noEditPoints="1" noAdjustHandles="1" noChangeArrowheads="1" noChangeShapeType="1" noTextEdit="1"/>
              </p:cNvSpPr>
              <p:nvPr/>
            </p:nvSpPr>
            <p:spPr>
              <a:xfrm>
                <a:off x="2680944" y="2307001"/>
                <a:ext cx="651973" cy="498278"/>
              </a:xfrm>
              <a:prstGeom prst="rect">
                <a:avLst/>
              </a:prstGeom>
              <a:blipFill rotWithShape="0">
                <a:blip r:embed="rId5"/>
                <a:stretch>
                  <a:fillRect/>
                </a:stretch>
              </a:blipFill>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22" name="Rectangle 21"/>
              <p:cNvSpPr/>
              <p:nvPr/>
            </p:nvSpPr>
            <p:spPr>
              <a:xfrm>
                <a:off x="1606675" y="2363149"/>
                <a:ext cx="982192" cy="498278"/>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sSub>
                        <m:sSubPr>
                          <m:ctrlPr>
                            <a:rPr lang="en-US" sz="2700" i="1" smtClean="0">
                              <a:solidFill>
                                <a:schemeClr val="accent1"/>
                              </a:solidFill>
                              <a:latin typeface="Cambria Math" panose="02040503050406030204" pitchFamily="18" charset="0"/>
                            </a:rPr>
                          </m:ctrlPr>
                        </m:sSubPr>
                        <m:e>
                          <m:r>
                            <a:rPr lang="en-IN" sz="2700" b="0" i="1" smtClean="0">
                              <a:solidFill>
                                <a:schemeClr val="accent1"/>
                              </a:solidFill>
                              <a:latin typeface="Cambria Math" panose="02040503050406030204" pitchFamily="18" charset="0"/>
                            </a:rPr>
                            <m:t>𝑊</m:t>
                          </m:r>
                        </m:e>
                        <m:sub>
                          <m:r>
                            <a:rPr lang="en-US" sz="2700" i="1">
                              <a:solidFill>
                                <a:schemeClr val="accent1"/>
                              </a:solidFill>
                              <a:latin typeface="Cambria Math" panose="02040503050406030204" pitchFamily="18" charset="0"/>
                            </a:rPr>
                            <m:t>𝑡</m:t>
                          </m:r>
                          <m:r>
                            <a:rPr lang="en-US" sz="2700" i="1">
                              <a:solidFill>
                                <a:schemeClr val="accent1"/>
                              </a:solidFill>
                              <a:latin typeface="Cambria Math" panose="02040503050406030204" pitchFamily="18" charset="0"/>
                            </a:rPr>
                            <m:t>+1</m:t>
                          </m:r>
                        </m:sub>
                      </m:sSub>
                    </m:oMath>
                  </m:oMathPara>
                </a14:m>
                <a:endParaRPr lang="en-US" sz="2700" baseline="-25000" dirty="0">
                  <a:solidFill>
                    <a:schemeClr val="accent1"/>
                  </a:solidFill>
                </a:endParaRPr>
              </a:p>
            </p:txBody>
          </p:sp>
        </mc:Choice>
        <mc:Fallback xmlns="">
          <p:sp>
            <p:nvSpPr>
              <p:cNvPr id="22" name="Rectangle 21"/>
              <p:cNvSpPr>
                <a:spLocks noRot="1" noChangeAspect="1" noMove="1" noResize="1" noEditPoints="1" noAdjustHandles="1" noChangeArrowheads="1" noChangeShapeType="1" noTextEdit="1"/>
              </p:cNvSpPr>
              <p:nvPr/>
            </p:nvSpPr>
            <p:spPr>
              <a:xfrm>
                <a:off x="1606675" y="2363149"/>
                <a:ext cx="982192" cy="498278"/>
              </a:xfrm>
              <a:prstGeom prst="rect">
                <a:avLst/>
              </a:prstGeom>
              <a:blipFill rotWithShape="0">
                <a:blip r:embed="rId6"/>
                <a:stretch>
                  <a:fillRect/>
                </a:stretch>
              </a:blipFill>
            </p:spPr>
            <p:txBody>
              <a:bodyPr/>
              <a:lstStyle/>
              <a:p>
                <a:r>
                  <a:rPr lang="en-IN">
                    <a:noFill/>
                  </a:rPr>
                  <a:t> </a:t>
                </a:r>
              </a:p>
            </p:txBody>
          </p:sp>
        </mc:Fallback>
      </mc:AlternateContent>
      <p:cxnSp>
        <p:nvCxnSpPr>
          <p:cNvPr id="26" name="Straight Arrow Connector 25"/>
          <p:cNvCxnSpPr>
            <a:stCxn id="22" idx="2"/>
            <a:endCxn id="20" idx="0"/>
          </p:cNvCxnSpPr>
          <p:nvPr/>
        </p:nvCxnSpPr>
        <p:spPr>
          <a:xfrm>
            <a:off x="2097771" y="2861427"/>
            <a:ext cx="751069" cy="1204333"/>
          </a:xfrm>
          <a:prstGeom prst="straightConnector1">
            <a:avLst/>
          </a:prstGeom>
          <a:ln w="38100">
            <a:solidFill>
              <a:schemeClr val="accent1"/>
            </a:solidFill>
            <a:headEnd type="none" w="med" len="med"/>
            <a:tailEnd type="arrow" w="med" len="med"/>
          </a:ln>
        </p:spPr>
        <p:style>
          <a:lnRef idx="1">
            <a:schemeClr val="accent1"/>
          </a:lnRef>
          <a:fillRef idx="0">
            <a:schemeClr val="accent1"/>
          </a:fillRef>
          <a:effectRef idx="0">
            <a:schemeClr val="accent1"/>
          </a:effectRef>
          <a:fontRef idx="minor">
            <a:schemeClr val="tx1"/>
          </a:fontRef>
        </p:style>
      </p:cxnSp>
      <p:cxnSp>
        <p:nvCxnSpPr>
          <p:cNvPr id="29" name="Straight Arrow Connector 28"/>
          <p:cNvCxnSpPr>
            <a:stCxn id="21" idx="2"/>
            <a:endCxn id="19" idx="0"/>
          </p:cNvCxnSpPr>
          <p:nvPr/>
        </p:nvCxnSpPr>
        <p:spPr>
          <a:xfrm flipH="1">
            <a:off x="2838744" y="2805279"/>
            <a:ext cx="168187" cy="267727"/>
          </a:xfrm>
          <a:prstGeom prst="straightConnector1">
            <a:avLst/>
          </a:prstGeom>
          <a:ln w="38100">
            <a:solidFill>
              <a:schemeClr val="accent1"/>
            </a:solidFill>
            <a:headEnd type="none" w="med" len="med"/>
            <a:tailEnd type="arrow" w="med" len="med"/>
          </a:ln>
        </p:spPr>
        <p:style>
          <a:lnRef idx="1">
            <a:schemeClr val="accent1"/>
          </a:lnRef>
          <a:fillRef idx="0">
            <a:schemeClr val="accent1"/>
          </a:fillRef>
          <a:effectRef idx="0">
            <a:schemeClr val="accent1"/>
          </a:effectRef>
          <a:fontRef idx="minor">
            <a:schemeClr val="tx1"/>
          </a:fontRef>
        </p:style>
      </p:cxnSp>
      <p:sp>
        <p:nvSpPr>
          <p:cNvPr id="35" name="Left Brace 34"/>
          <p:cNvSpPr/>
          <p:nvPr/>
        </p:nvSpPr>
        <p:spPr>
          <a:xfrm rot="16200000">
            <a:off x="7588027" y="2879179"/>
            <a:ext cx="231628" cy="2141534"/>
          </a:xfrm>
          <a:prstGeom prst="leftBrace">
            <a:avLst/>
          </a:prstGeom>
          <a:ln w="57150">
            <a:solidFill>
              <a:schemeClr val="accent6"/>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sz="1350"/>
          </a:p>
        </p:txBody>
      </p:sp>
      <p:sp>
        <p:nvSpPr>
          <p:cNvPr id="36" name="TextBox 35"/>
          <p:cNvSpPr txBox="1"/>
          <p:nvPr/>
        </p:nvSpPr>
        <p:spPr>
          <a:xfrm>
            <a:off x="6633074" y="4087232"/>
            <a:ext cx="1966757" cy="369332"/>
          </a:xfrm>
          <a:prstGeom prst="rect">
            <a:avLst/>
          </a:prstGeom>
          <a:noFill/>
        </p:spPr>
        <p:txBody>
          <a:bodyPr wrap="none" rtlCol="0">
            <a:spAutoFit/>
          </a:bodyPr>
          <a:lstStyle/>
          <a:p>
            <a:r>
              <a:rPr lang="en-US" dirty="0"/>
              <a:t>Stochastic gradient</a:t>
            </a:r>
          </a:p>
        </p:txBody>
      </p:sp>
      <p:sp>
        <p:nvSpPr>
          <p:cNvPr id="3" name="Freeform: Shape 2"/>
          <p:cNvSpPr/>
          <p:nvPr/>
        </p:nvSpPr>
        <p:spPr>
          <a:xfrm>
            <a:off x="1843939" y="3200779"/>
            <a:ext cx="1571436" cy="1030970"/>
          </a:xfrm>
          <a:custGeom>
            <a:avLst/>
            <a:gdLst>
              <a:gd name="connsiteX0" fmla="*/ 2095248 w 2095248"/>
              <a:gd name="connsiteY0" fmla="*/ 799343 h 1374627"/>
              <a:gd name="connsiteX1" fmla="*/ 1338294 w 2095248"/>
              <a:gd name="connsiteY1" fmla="*/ 0 h 1374627"/>
              <a:gd name="connsiteX2" fmla="*/ 1368573 w 2095248"/>
              <a:gd name="connsiteY2" fmla="*/ 1223237 h 1374627"/>
              <a:gd name="connsiteX3" fmla="*/ 956790 w 2095248"/>
              <a:gd name="connsiteY3" fmla="*/ 1005234 h 1374627"/>
              <a:gd name="connsiteX4" fmla="*/ 248281 w 2095248"/>
              <a:gd name="connsiteY4" fmla="*/ 302781 h 1374627"/>
              <a:gd name="connsiteX5" fmla="*/ 690342 w 2095248"/>
              <a:gd name="connsiteY5" fmla="*/ 1374627 h 1374627"/>
              <a:gd name="connsiteX6" fmla="*/ 205892 w 2095248"/>
              <a:gd name="connsiteY6" fmla="*/ 787231 h 1374627"/>
              <a:gd name="connsiteX7" fmla="*/ 157447 w 2095248"/>
              <a:gd name="connsiteY7" fmla="*/ 1301960 h 1374627"/>
              <a:gd name="connsiteX8" fmla="*/ 0 w 2095248"/>
              <a:gd name="connsiteY8" fmla="*/ 1192959 h 137462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2095248" h="1374627">
                <a:moveTo>
                  <a:pt x="2095248" y="799343"/>
                </a:moveTo>
                <a:lnTo>
                  <a:pt x="1338294" y="0"/>
                </a:lnTo>
                <a:lnTo>
                  <a:pt x="1368573" y="1223237"/>
                </a:lnTo>
                <a:lnTo>
                  <a:pt x="956790" y="1005234"/>
                </a:lnTo>
                <a:lnTo>
                  <a:pt x="248281" y="302781"/>
                </a:lnTo>
                <a:lnTo>
                  <a:pt x="690342" y="1374627"/>
                </a:lnTo>
                <a:lnTo>
                  <a:pt x="205892" y="787231"/>
                </a:lnTo>
                <a:lnTo>
                  <a:pt x="157447" y="1301960"/>
                </a:lnTo>
                <a:lnTo>
                  <a:pt x="0" y="1192959"/>
                </a:lnTo>
              </a:path>
            </a:pathLst>
          </a:custGeom>
          <a:noFill/>
          <a:ln w="76200">
            <a:solidFill>
              <a:schemeClr val="accent6"/>
            </a:solidFill>
          </a:ln>
        </p:spPr>
        <p:style>
          <a:lnRef idx="2">
            <a:schemeClr val="accent1"/>
          </a:lnRef>
          <a:fillRef idx="1">
            <a:schemeClr val="lt1"/>
          </a:fillRef>
          <a:effectRef idx="0">
            <a:schemeClr val="accent1"/>
          </a:effectRef>
          <a:fontRef idx="minor">
            <a:schemeClr val="dk1"/>
          </a:fontRef>
        </p:style>
        <p:txBody>
          <a:bodyPr rtlCol="0" anchor="ctr"/>
          <a:lstStyle/>
          <a:p>
            <a:pPr algn="ctr"/>
            <a:endParaRPr lang="en-US" sz="1350"/>
          </a:p>
        </p:txBody>
      </p:sp>
      <mc:AlternateContent xmlns:mc="http://schemas.openxmlformats.org/markup-compatibility/2006" xmlns:a14="http://schemas.microsoft.com/office/drawing/2010/main">
        <mc:Choice Requires="a14">
          <p:sp>
            <p:nvSpPr>
              <p:cNvPr id="31" name="TextBox 30"/>
              <p:cNvSpPr txBox="1"/>
              <p:nvPr/>
            </p:nvSpPr>
            <p:spPr>
              <a:xfrm>
                <a:off x="1732811" y="5435870"/>
                <a:ext cx="7295598" cy="812530"/>
              </a:xfrm>
              <a:prstGeom prst="rect">
                <a:avLst/>
              </a:prstGeom>
            </p:spPr>
            <p:style>
              <a:lnRef idx="2">
                <a:schemeClr val="accent2">
                  <a:shade val="50000"/>
                </a:schemeClr>
              </a:lnRef>
              <a:fillRef idx="1">
                <a:schemeClr val="accent2"/>
              </a:fillRef>
              <a:effectRef idx="0">
                <a:schemeClr val="accent2"/>
              </a:effectRef>
              <a:fontRef idx="minor">
                <a:schemeClr val="lt1"/>
              </a:fontRef>
            </p:style>
            <p:txBody>
              <a:bodyPr wrap="square" rtlCol="0">
                <a:spAutoFit/>
              </a:bodyPr>
              <a:lstStyle/>
              <a:p>
                <a:pPr marL="257175" indent="-257175">
                  <a:lnSpc>
                    <a:spcPct val="130000"/>
                  </a:lnSpc>
                  <a:buFont typeface="Arial" panose="020B0604020202020204" pitchFamily="34" charset="0"/>
                  <a:buChar char="•"/>
                </a:pPr>
                <a:r>
                  <a:rPr lang="en-US" dirty="0"/>
                  <a:t>computation of </a:t>
                </a:r>
                <a14:m>
                  <m:oMath xmlns:m="http://schemas.openxmlformats.org/officeDocument/2006/math">
                    <m:r>
                      <a:rPr lang="en-US">
                        <a:latin typeface="Cambria Math" panose="02040503050406030204" pitchFamily="18" charset="0"/>
                      </a:rPr>
                      <m:t>𝛻</m:t>
                    </m:r>
                    <m:r>
                      <a:rPr lang="en-US" i="1">
                        <a:latin typeface="Cambria Math" panose="02040503050406030204" pitchFamily="18" charset="0"/>
                      </a:rPr>
                      <m:t>𝐿𝑜𝑠𝑠</m:t>
                    </m:r>
                    <m:d>
                      <m:dPr>
                        <m:ctrlPr>
                          <a:rPr lang="en-US" i="1">
                            <a:latin typeface="Cambria Math" panose="02040503050406030204" pitchFamily="18" charset="0"/>
                          </a:rPr>
                        </m:ctrlPr>
                      </m:dPr>
                      <m:e>
                        <m:r>
                          <a:rPr lang="en-US" i="1">
                            <a:latin typeface="Cambria Math" panose="02040503050406030204" pitchFamily="18" charset="0"/>
                          </a:rPr>
                          <m:t>…</m:t>
                        </m:r>
                      </m:e>
                    </m:d>
                  </m:oMath>
                </a14:m>
                <a:r>
                  <a:rPr lang="en-US" dirty="0"/>
                  <a:t> requires only one training example</a:t>
                </a:r>
              </a:p>
              <a:p>
                <a:pPr marL="257175" indent="-257175">
                  <a:lnSpc>
                    <a:spcPct val="130000"/>
                  </a:lnSpc>
                  <a:buFont typeface="Arial" panose="020B0604020202020204" pitchFamily="34" charset="0"/>
                  <a:buChar char="•"/>
                </a:pPr>
                <a:r>
                  <a:rPr lang="en-US" dirty="0"/>
                  <a:t>Per-iteration comp. cost = O(1)</a:t>
                </a:r>
              </a:p>
            </p:txBody>
          </p:sp>
        </mc:Choice>
        <mc:Fallback xmlns="">
          <p:sp>
            <p:nvSpPr>
              <p:cNvPr id="31" name="TextBox 30"/>
              <p:cNvSpPr txBox="1">
                <a:spLocks noRot="1" noChangeAspect="1" noMove="1" noResize="1" noEditPoints="1" noAdjustHandles="1" noChangeArrowheads="1" noChangeShapeType="1" noTextEdit="1"/>
              </p:cNvSpPr>
              <p:nvPr/>
            </p:nvSpPr>
            <p:spPr>
              <a:xfrm>
                <a:off x="1732811" y="5435870"/>
                <a:ext cx="7295598" cy="812530"/>
              </a:xfrm>
              <a:prstGeom prst="rect">
                <a:avLst/>
              </a:prstGeom>
              <a:blipFill rotWithShape="0">
                <a:blip r:embed="rId7"/>
                <a:stretch>
                  <a:fillRect l="-333" b="-5839"/>
                </a:stretch>
              </a:blipFill>
            </p:spPr>
            <p:txBody>
              <a:bodyPr/>
              <a:lstStyle/>
              <a:p>
                <a:r>
                  <a:rPr lang="en-IN">
                    <a:noFill/>
                  </a:rPr>
                  <a:t> </a:t>
                </a:r>
              </a:p>
            </p:txBody>
          </p:sp>
        </mc:Fallback>
      </mc:AlternateContent>
      <p:sp>
        <p:nvSpPr>
          <p:cNvPr id="19" name="Oval 18"/>
          <p:cNvSpPr/>
          <p:nvPr/>
        </p:nvSpPr>
        <p:spPr>
          <a:xfrm>
            <a:off x="2737651" y="3073006"/>
            <a:ext cx="202186" cy="202187"/>
          </a:xfrm>
          <a:prstGeom prst="ellipse">
            <a:avLst/>
          </a:prstGeom>
          <a:solidFill>
            <a:schemeClr val="accent1"/>
          </a:solidFill>
          <a:ln w="38100">
            <a:solidFill>
              <a:schemeClr val="accent1"/>
            </a:solidFill>
          </a:ln>
        </p:spPr>
        <p:style>
          <a:lnRef idx="2">
            <a:schemeClr val="accent1"/>
          </a:lnRef>
          <a:fillRef idx="1">
            <a:schemeClr val="lt1"/>
          </a:fillRef>
          <a:effectRef idx="0">
            <a:schemeClr val="accent1"/>
          </a:effectRef>
          <a:fontRef idx="minor">
            <a:schemeClr val="dk1"/>
          </a:fontRef>
        </p:style>
        <p:txBody>
          <a:bodyPr rtlCol="0" anchor="ctr"/>
          <a:lstStyle/>
          <a:p>
            <a:pPr algn="ctr"/>
            <a:endParaRPr lang="en-US" sz="2100" i="1">
              <a:latin typeface="Cambria Math" panose="02040503050406030204" pitchFamily="18" charset="0"/>
            </a:endParaRPr>
          </a:p>
        </p:txBody>
      </p:sp>
      <p:sp>
        <p:nvSpPr>
          <p:cNvPr id="20" name="Oval 19"/>
          <p:cNvSpPr/>
          <p:nvPr/>
        </p:nvSpPr>
        <p:spPr>
          <a:xfrm>
            <a:off x="2747747" y="4065760"/>
            <a:ext cx="202186" cy="202187"/>
          </a:xfrm>
          <a:prstGeom prst="ellipse">
            <a:avLst/>
          </a:prstGeom>
          <a:solidFill>
            <a:schemeClr val="accent1"/>
          </a:solidFill>
          <a:ln w="38100">
            <a:solidFill>
              <a:schemeClr val="accent1"/>
            </a:solidFill>
          </a:ln>
        </p:spPr>
        <p:style>
          <a:lnRef idx="2">
            <a:schemeClr val="accent1"/>
          </a:lnRef>
          <a:fillRef idx="1">
            <a:schemeClr val="lt1"/>
          </a:fillRef>
          <a:effectRef idx="0">
            <a:schemeClr val="accent1"/>
          </a:effectRef>
          <a:fontRef idx="minor">
            <a:schemeClr val="dk1"/>
          </a:fontRef>
        </p:style>
        <p:txBody>
          <a:bodyPr rtlCol="0" anchor="ctr"/>
          <a:lstStyle/>
          <a:p>
            <a:pPr algn="ctr"/>
            <a:endParaRPr lang="en-US" sz="2100" i="1">
              <a:latin typeface="Cambria Math" panose="02040503050406030204" pitchFamily="18" charset="0"/>
            </a:endParaRPr>
          </a:p>
        </p:txBody>
      </p:sp>
      <p:sp>
        <p:nvSpPr>
          <p:cNvPr id="23" name="Date Placeholder 3"/>
          <p:cNvSpPr>
            <a:spLocks noGrp="1"/>
          </p:cNvSpPr>
          <p:nvPr>
            <p:ph type="dt" sz="half" idx="10"/>
          </p:nvPr>
        </p:nvSpPr>
        <p:spPr>
          <a:xfrm>
            <a:off x="0" y="6629400"/>
            <a:ext cx="3048000" cy="228600"/>
          </a:xfrm>
        </p:spPr>
        <p:txBody>
          <a:bodyPr/>
          <a:lstStyle/>
          <a:p>
            <a:fld id="{E7067A60-51C7-4095-BFA9-1CE32DCBA06F}" type="datetime1">
              <a:rPr lang="en-US" smtClean="0"/>
              <a:pPr/>
              <a:t>2/9/2026</a:t>
            </a:fld>
            <a:endParaRPr lang="en-US" dirty="0"/>
          </a:p>
        </p:txBody>
      </p:sp>
      <p:sp>
        <p:nvSpPr>
          <p:cNvPr id="24" name="Footer Placeholder 4"/>
          <p:cNvSpPr>
            <a:spLocks noGrp="1"/>
          </p:cNvSpPr>
          <p:nvPr>
            <p:ph type="ftr" sz="quarter" idx="11"/>
          </p:nvPr>
        </p:nvSpPr>
        <p:spPr>
          <a:xfrm>
            <a:off x="2476501" y="6629400"/>
            <a:ext cx="4136571" cy="228600"/>
          </a:xfrm>
        </p:spPr>
        <p:txBody>
          <a:bodyPr/>
          <a:lstStyle/>
          <a:p>
            <a:r>
              <a:rPr lang="en-US" dirty="0"/>
              <a:t>Dr. Sibarama Panigrahi, Dept. of CSE, NIT Rourkela</a:t>
            </a:r>
          </a:p>
        </p:txBody>
      </p:sp>
      <p:sp>
        <p:nvSpPr>
          <p:cNvPr id="25" name="Slide Number Placeholder 5"/>
          <p:cNvSpPr>
            <a:spLocks noGrp="1"/>
          </p:cNvSpPr>
          <p:nvPr>
            <p:ph type="sldNum" sz="quarter" idx="12"/>
          </p:nvPr>
        </p:nvSpPr>
        <p:spPr>
          <a:xfrm>
            <a:off x="6400800" y="6629400"/>
            <a:ext cx="2743200" cy="228600"/>
          </a:xfrm>
        </p:spPr>
        <p:txBody>
          <a:bodyPr/>
          <a:lstStyle/>
          <a:p>
            <a:fld id="{A03BBF96-A7A5-4867-9A4A-2F26A3CC4EC3}" type="slidenum">
              <a:rPr lang="en-US" smtClean="0"/>
              <a:pPr/>
              <a:t>56</a:t>
            </a:fld>
            <a:endParaRPr lang="en-US" dirty="0"/>
          </a:p>
        </p:txBody>
      </p:sp>
      <p:sp>
        <p:nvSpPr>
          <p:cNvPr id="27" name="TextBox 26"/>
          <p:cNvSpPr txBox="1"/>
          <p:nvPr/>
        </p:nvSpPr>
        <p:spPr>
          <a:xfrm>
            <a:off x="0" y="0"/>
            <a:ext cx="4572000" cy="369332"/>
          </a:xfrm>
          <a:prstGeom prst="rect">
            <a:avLst/>
          </a:prstGeom>
          <a:noFill/>
        </p:spPr>
        <p:txBody>
          <a:bodyPr wrap="square" rtlCol="0">
            <a:spAutoFit/>
          </a:bodyPr>
          <a:lstStyle/>
          <a:p>
            <a:pPr algn="r"/>
            <a:r>
              <a:rPr lang="en-US" b="1" dirty="0">
                <a:solidFill>
                  <a:schemeClr val="bg1"/>
                </a:solidFill>
              </a:rPr>
              <a:t>Introduction to Neural Network</a:t>
            </a:r>
          </a:p>
        </p:txBody>
      </p:sp>
      <p:sp>
        <p:nvSpPr>
          <p:cNvPr id="28" name="TextBox 27"/>
          <p:cNvSpPr txBox="1"/>
          <p:nvPr/>
        </p:nvSpPr>
        <p:spPr>
          <a:xfrm flipH="1">
            <a:off x="6400800" y="6600824"/>
            <a:ext cx="2671762" cy="307777"/>
          </a:xfrm>
          <a:prstGeom prst="rect">
            <a:avLst/>
          </a:prstGeom>
          <a:noFill/>
        </p:spPr>
        <p:txBody>
          <a:bodyPr wrap="square" rtlCol="0">
            <a:spAutoFit/>
          </a:bodyPr>
          <a:lstStyle/>
          <a:p>
            <a:r>
              <a:rPr lang="en-US" sz="1400" dirty="0" smtClean="0">
                <a:latin typeface="Times New Roman" panose="02020603050405020304" pitchFamily="18" charset="0"/>
                <a:cs typeface="Times New Roman" panose="02020603050405020304" pitchFamily="18" charset="0"/>
              </a:rPr>
              <a:t>Gradient Descent</a:t>
            </a:r>
            <a:endParaRPr lang="en-IN" sz="1400" dirty="0">
              <a:latin typeface="Times New Roman" panose="02020603050405020304" pitchFamily="18" charset="0"/>
              <a:cs typeface="Times New Roman" panose="02020603050405020304" pitchFamily="18" charset="0"/>
            </a:endParaRPr>
          </a:p>
        </p:txBody>
      </p:sp>
      <p:sp>
        <p:nvSpPr>
          <p:cNvPr id="4" name="Rectangle 3"/>
          <p:cNvSpPr/>
          <p:nvPr/>
        </p:nvSpPr>
        <p:spPr>
          <a:xfrm>
            <a:off x="-355983" y="1102880"/>
            <a:ext cx="9384392" cy="707886"/>
          </a:xfrm>
          <a:prstGeom prst="rect">
            <a:avLst/>
          </a:prstGeom>
        </p:spPr>
        <p:txBody>
          <a:bodyPr wrap="square">
            <a:spAutoFit/>
          </a:bodyPr>
          <a:lstStyle/>
          <a:p>
            <a:pPr lvl="1"/>
            <a:r>
              <a:rPr lang="en-US" sz="2000" dirty="0" smtClean="0">
                <a:latin typeface="Times New Roman" panose="02020603050405020304" pitchFamily="18" charset="0"/>
                <a:cs typeface="Times New Roman" panose="02020603050405020304" pitchFamily="18" charset="0"/>
              </a:rPr>
              <a:t>You </a:t>
            </a:r>
            <a:r>
              <a:rPr lang="en-US" sz="2000" dirty="0">
                <a:latin typeface="Times New Roman" panose="02020603050405020304" pitchFamily="18" charset="0"/>
                <a:cs typeface="Times New Roman" panose="02020603050405020304" pitchFamily="18" charset="0"/>
              </a:rPr>
              <a:t>take one point (Input Vector</a:t>
            </a:r>
            <a:r>
              <a:rPr lang="en-US" sz="2000" dirty="0" smtClean="0">
                <a:latin typeface="Times New Roman" panose="02020603050405020304" pitchFamily="18" charset="0"/>
                <a:cs typeface="Times New Roman" panose="02020603050405020304" pitchFamily="18" charset="0"/>
              </a:rPr>
              <a:t>), Feed Forward it then update the weights by back-propagating the gradient of errors.</a:t>
            </a:r>
            <a:endParaRPr lang="en-US" sz="20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363026778"/>
      </p:ext>
    </p:extLst>
  </p:cSld>
  <p:clrMapOvr>
    <a:masterClrMapping/>
  </p:clrMapOvr>
  <p:timing>
    <p:tnLst>
      <p:par>
        <p:cTn id="1" dur="indefinite" restart="never" nodeType="tmRoot"/>
      </p:par>
    </p:tnLst>
  </p:timing>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Gradient descent</a:t>
            </a:r>
          </a:p>
        </p:txBody>
      </p:sp>
      <mc:AlternateContent xmlns:mc="http://schemas.openxmlformats.org/markup-compatibility/2006" xmlns:a14="http://schemas.microsoft.com/office/drawing/2010/main">
        <mc:Choice Requires="a14">
          <p:sp>
            <p:nvSpPr>
              <p:cNvPr id="17" name="Content Placeholder 16"/>
              <p:cNvSpPr>
                <a:spLocks noGrp="1"/>
              </p:cNvSpPr>
              <p:nvPr>
                <p:ph idx="1"/>
              </p:nvPr>
            </p:nvSpPr>
            <p:spPr>
              <a:xfrm>
                <a:off x="4401715" y="2226469"/>
                <a:ext cx="4113635" cy="3263504"/>
              </a:xfrm>
            </p:spPr>
            <p:txBody>
              <a:bodyPr>
                <a:normAutofit/>
              </a:bodyPr>
              <a:lstStyle/>
              <a:p>
                <a:r>
                  <a:rPr lang="en-US" sz="2400" dirty="0" smtClean="0"/>
                  <a:t>Initialize </a:t>
                </a:r>
                <a14:m>
                  <m:oMath xmlns:m="http://schemas.openxmlformats.org/officeDocument/2006/math">
                    <m:sSub>
                      <m:sSubPr>
                        <m:ctrlPr>
                          <a:rPr lang="en-US" sz="2400" b="0" i="1" smtClean="0">
                            <a:latin typeface="Cambria Math" panose="02040503050406030204" pitchFamily="18" charset="0"/>
                          </a:rPr>
                        </m:ctrlPr>
                      </m:sSubPr>
                      <m:e>
                        <m:r>
                          <a:rPr lang="en-IN" sz="2400" b="0" i="1" smtClean="0">
                            <a:latin typeface="Cambria Math" panose="02040503050406030204" pitchFamily="18" charset="0"/>
                          </a:rPr>
                          <m:t>𝑊</m:t>
                        </m:r>
                      </m:e>
                      <m:sub>
                        <m:r>
                          <a:rPr lang="en-US" sz="2400" b="0" i="1" smtClean="0">
                            <a:latin typeface="Cambria Math" panose="02040503050406030204" pitchFamily="18" charset="0"/>
                          </a:rPr>
                          <m:t>0</m:t>
                        </m:r>
                      </m:sub>
                    </m:sSub>
                  </m:oMath>
                </a14:m>
                <a:r>
                  <a:rPr lang="en-US" sz="2400" dirty="0"/>
                  <a:t> randomly</a:t>
                </a:r>
              </a:p>
              <a:p>
                <a:r>
                  <a:rPr lang="en-US" sz="2400" dirty="0"/>
                  <a:t>For </a:t>
                </a:r>
                <a:r>
                  <a:rPr lang="en-US" sz="2400" i="1" dirty="0"/>
                  <a:t>t</a:t>
                </a:r>
                <a:r>
                  <a:rPr lang="en-US" sz="2400" dirty="0"/>
                  <a:t> in 0,…, </a:t>
                </a:r>
                <a:r>
                  <a:rPr lang="en-US" sz="2400" i="1" dirty="0" err="1"/>
                  <a:t>T</a:t>
                </a:r>
                <a:r>
                  <a:rPr lang="en-US" sz="2400" baseline="-25000" dirty="0" err="1"/>
                  <a:t>maxiter</a:t>
                </a:r>
                <a:endParaRPr lang="en-US" sz="2400" baseline="-25000" dirty="0"/>
              </a:p>
              <a:p>
                <a:pPr marL="0" indent="0">
                  <a:buNone/>
                </a:pPr>
                <a14:m>
                  <m:oMathPara xmlns:m="http://schemas.openxmlformats.org/officeDocument/2006/math">
                    <m:oMathParaPr>
                      <m:jc m:val="centerGroup"/>
                    </m:oMathParaPr>
                    <m:oMath xmlns:m="http://schemas.openxmlformats.org/officeDocument/2006/math">
                      <m:sSup>
                        <m:sSupPr>
                          <m:ctrlPr>
                            <a:rPr lang="en-US" sz="2000" b="0" i="1" smtClean="0">
                              <a:latin typeface="Cambria Math" panose="02040503050406030204" pitchFamily="18" charset="0"/>
                            </a:rPr>
                          </m:ctrlPr>
                        </m:sSupPr>
                        <m:e>
                          <m:r>
                            <a:rPr lang="en-IN" sz="2000" b="0" i="1" smtClean="0">
                              <a:latin typeface="Cambria Math" panose="02040503050406030204" pitchFamily="18" charset="0"/>
                            </a:rPr>
                            <m:t>𝑊</m:t>
                          </m:r>
                        </m:e>
                        <m:sup>
                          <m:r>
                            <a:rPr lang="en-US" sz="2000" b="0" i="1" smtClean="0">
                              <a:latin typeface="Cambria Math" panose="02040503050406030204" pitchFamily="18" charset="0"/>
                            </a:rPr>
                            <m:t>𝑡</m:t>
                          </m:r>
                          <m:r>
                            <a:rPr lang="en-US" sz="2000" b="0" i="1" smtClean="0">
                              <a:latin typeface="Cambria Math" panose="02040503050406030204" pitchFamily="18" charset="0"/>
                            </a:rPr>
                            <m:t>+1</m:t>
                          </m:r>
                        </m:sup>
                      </m:sSup>
                      <m:r>
                        <a:rPr lang="en-US" sz="2000" b="0" i="1" smtClean="0">
                          <a:latin typeface="Cambria Math" panose="02040503050406030204" pitchFamily="18" charset="0"/>
                        </a:rPr>
                        <m:t>=</m:t>
                      </m:r>
                      <m:sSup>
                        <m:sSupPr>
                          <m:ctrlPr>
                            <a:rPr lang="en-US" sz="2000" b="0" i="1" smtClean="0">
                              <a:latin typeface="Cambria Math" panose="02040503050406030204" pitchFamily="18" charset="0"/>
                            </a:rPr>
                          </m:ctrlPr>
                        </m:sSupPr>
                        <m:e>
                          <m:r>
                            <a:rPr lang="en-IN" sz="2000" b="0" i="1" smtClean="0">
                              <a:latin typeface="Cambria Math" panose="02040503050406030204" pitchFamily="18" charset="0"/>
                            </a:rPr>
                            <m:t>𝑊</m:t>
                          </m:r>
                        </m:e>
                        <m:sup>
                          <m:r>
                            <a:rPr lang="en-US" sz="2000" b="0" i="1" smtClean="0">
                              <a:latin typeface="Cambria Math" panose="02040503050406030204" pitchFamily="18" charset="0"/>
                            </a:rPr>
                            <m:t>𝑡</m:t>
                          </m:r>
                        </m:sup>
                      </m:sSup>
                      <m:r>
                        <a:rPr lang="en-US" sz="2000" b="0" i="1" smtClean="0">
                          <a:latin typeface="Cambria Math" panose="02040503050406030204" pitchFamily="18" charset="0"/>
                        </a:rPr>
                        <m:t>−</m:t>
                      </m:r>
                      <m:sSub>
                        <m:sSubPr>
                          <m:ctrlPr>
                            <a:rPr lang="en-US" sz="2000" b="0" i="1" smtClean="0">
                              <a:latin typeface="Cambria Math" panose="02040503050406030204" pitchFamily="18" charset="0"/>
                            </a:rPr>
                          </m:ctrlPr>
                        </m:sSubPr>
                        <m:e>
                          <m:r>
                            <a:rPr lang="en-US" sz="2000" b="0" i="1" smtClean="0">
                              <a:latin typeface="Cambria Math" panose="02040503050406030204" pitchFamily="18" charset="0"/>
                            </a:rPr>
                            <m:t>𝜂</m:t>
                          </m:r>
                        </m:e>
                        <m:sub>
                          <m:r>
                            <a:rPr lang="en-US" sz="2000" b="0" i="1" smtClean="0">
                              <a:latin typeface="Cambria Math" panose="02040503050406030204" pitchFamily="18" charset="0"/>
                            </a:rPr>
                            <m:t>𝑡</m:t>
                          </m:r>
                        </m:sub>
                      </m:sSub>
                      <m:r>
                        <a:rPr lang="en-US" sz="2000" b="0" i="1" smtClean="0">
                          <a:latin typeface="Cambria Math" panose="02040503050406030204" pitchFamily="18" charset="0"/>
                        </a:rPr>
                        <m:t>⋅</m:t>
                      </m:r>
                      <m:r>
                        <a:rPr lang="en-US" sz="2000" b="0" i="0" smtClean="0">
                          <a:latin typeface="Cambria Math" panose="02040503050406030204" pitchFamily="18" charset="0"/>
                        </a:rPr>
                        <m:t>𝛻</m:t>
                      </m:r>
                      <m:r>
                        <a:rPr lang="en-US" sz="2000" b="0" i="1" smtClean="0">
                          <a:latin typeface="Cambria Math" panose="02040503050406030204" pitchFamily="18" charset="0"/>
                        </a:rPr>
                        <m:t>𝐿</m:t>
                      </m:r>
                      <m:d>
                        <m:dPr>
                          <m:ctrlPr>
                            <a:rPr lang="en-US" sz="2000" b="0" i="1" smtClean="0">
                              <a:latin typeface="Cambria Math" panose="02040503050406030204" pitchFamily="18" charset="0"/>
                            </a:rPr>
                          </m:ctrlPr>
                        </m:dPr>
                        <m:e>
                          <m:sSub>
                            <m:sSubPr>
                              <m:ctrlPr>
                                <a:rPr lang="en-US" sz="2400" i="1">
                                  <a:latin typeface="Cambria Math" panose="02040503050406030204" pitchFamily="18" charset="0"/>
                                </a:rPr>
                              </m:ctrlPr>
                            </m:sSubPr>
                            <m:e>
                              <m:r>
                                <a:rPr lang="en-US" sz="2400" i="1">
                                  <a:latin typeface="Cambria Math" panose="02040503050406030204" pitchFamily="18" charset="0"/>
                                </a:rPr>
                                <m:t>𝑓</m:t>
                              </m:r>
                            </m:e>
                            <m:sub>
                              <m:r>
                                <a:rPr lang="en-IN" sz="2400" i="1">
                                  <a:latin typeface="Cambria Math" panose="02040503050406030204" pitchFamily="18" charset="0"/>
                                </a:rPr>
                                <m:t>𝑤</m:t>
                              </m:r>
                            </m:sub>
                          </m:sSub>
                          <m:d>
                            <m:dPr>
                              <m:ctrlPr>
                                <a:rPr lang="en-US" sz="2400" i="1">
                                  <a:latin typeface="Cambria Math" panose="02040503050406030204" pitchFamily="18" charset="0"/>
                                </a:rPr>
                              </m:ctrlPr>
                            </m:dPr>
                            <m:e>
                              <m:sSub>
                                <m:sSubPr>
                                  <m:ctrlPr>
                                    <a:rPr lang="en-US" sz="2400" i="1">
                                      <a:latin typeface="Cambria Math" panose="02040503050406030204" pitchFamily="18" charset="0"/>
                                    </a:rPr>
                                  </m:ctrlPr>
                                </m:sSubPr>
                                <m:e>
                                  <m:r>
                                    <a:rPr lang="en-US" sz="2400" i="1">
                                      <a:latin typeface="Cambria Math" panose="02040503050406030204" pitchFamily="18" charset="0"/>
                                    </a:rPr>
                                    <m:t>𝑥</m:t>
                                  </m:r>
                                </m:e>
                                <m:sub>
                                  <m:r>
                                    <a:rPr lang="en-US" sz="2400" i="1">
                                      <a:latin typeface="Cambria Math" panose="02040503050406030204" pitchFamily="18" charset="0"/>
                                    </a:rPr>
                                    <m:t>𝑖</m:t>
                                  </m:r>
                                </m:sub>
                              </m:sSub>
                            </m:e>
                          </m:d>
                          <m:r>
                            <a:rPr lang="en-US" sz="2400" i="1">
                              <a:latin typeface="Cambria Math" panose="02040503050406030204" pitchFamily="18" charset="0"/>
                            </a:rPr>
                            <m:t>, </m:t>
                          </m:r>
                          <m:sSub>
                            <m:sSubPr>
                              <m:ctrlPr>
                                <a:rPr lang="en-US" sz="2400" i="1">
                                  <a:latin typeface="Cambria Math" panose="02040503050406030204" pitchFamily="18" charset="0"/>
                                </a:rPr>
                              </m:ctrlPr>
                            </m:sSubPr>
                            <m:e>
                              <m:r>
                                <a:rPr lang="en-US" sz="2400" i="1">
                                  <a:latin typeface="Cambria Math" panose="02040503050406030204" pitchFamily="18" charset="0"/>
                                </a:rPr>
                                <m:t>𝑦</m:t>
                              </m:r>
                            </m:e>
                            <m:sub>
                              <m:r>
                                <a:rPr lang="en-US" sz="2400" i="1">
                                  <a:latin typeface="Cambria Math" panose="02040503050406030204" pitchFamily="18" charset="0"/>
                                </a:rPr>
                                <m:t>𝑖</m:t>
                              </m:r>
                            </m:sub>
                          </m:sSub>
                        </m:e>
                      </m:d>
                    </m:oMath>
                  </m:oMathPara>
                </a14:m>
                <a:endParaRPr lang="en-US" sz="2400" dirty="0"/>
              </a:p>
            </p:txBody>
          </p:sp>
        </mc:Choice>
        <mc:Fallback xmlns="">
          <p:sp>
            <p:nvSpPr>
              <p:cNvPr id="17" name="Content Placeholder 16"/>
              <p:cNvSpPr>
                <a:spLocks noGrp="1" noRot="1" noChangeAspect="1" noMove="1" noResize="1" noEditPoints="1" noAdjustHandles="1" noChangeArrowheads="1" noChangeShapeType="1" noTextEdit="1"/>
              </p:cNvSpPr>
              <p:nvPr>
                <p:ph idx="1"/>
              </p:nvPr>
            </p:nvSpPr>
            <p:spPr>
              <a:xfrm>
                <a:off x="4401715" y="2226469"/>
                <a:ext cx="4113635" cy="3263504"/>
              </a:xfrm>
              <a:blipFill rotWithShape="0">
                <a:blip r:embed="rId3"/>
                <a:stretch>
                  <a:fillRect t="-2612"/>
                </a:stretch>
              </a:blipFill>
            </p:spPr>
            <p:txBody>
              <a:bodyPr/>
              <a:lstStyle/>
              <a:p>
                <a:r>
                  <a:rPr lang="en-IN">
                    <a:noFill/>
                  </a:rPr>
                  <a:t> </a:t>
                </a:r>
              </a:p>
            </p:txBody>
          </p:sp>
        </mc:Fallback>
      </mc:AlternateContent>
      <p:sp>
        <p:nvSpPr>
          <p:cNvPr id="8" name="Oval 7"/>
          <p:cNvSpPr/>
          <p:nvPr/>
        </p:nvSpPr>
        <p:spPr>
          <a:xfrm rot="20022333">
            <a:off x="1125941" y="3815453"/>
            <a:ext cx="1213739" cy="479715"/>
          </a:xfrm>
          <a:prstGeom prst="ellipse">
            <a:avLst/>
          </a:prstGeom>
          <a:ln w="38100">
            <a:solidFill>
              <a:schemeClr val="accent1">
                <a:lumMod val="60000"/>
                <a:lumOff val="40000"/>
              </a:schemeClr>
            </a:solidFill>
          </a:ln>
        </p:spPr>
        <p:style>
          <a:lnRef idx="2">
            <a:schemeClr val="accent1"/>
          </a:lnRef>
          <a:fillRef idx="1">
            <a:schemeClr val="lt1"/>
          </a:fillRef>
          <a:effectRef idx="0">
            <a:schemeClr val="accent1"/>
          </a:effectRef>
          <a:fontRef idx="minor">
            <a:schemeClr val="dk1"/>
          </a:fontRef>
        </p:style>
        <p:txBody>
          <a:bodyPr rtlCol="0" anchor="ctr"/>
          <a:lstStyle/>
          <a:p>
            <a:pPr algn="ctr"/>
            <a:endParaRPr lang="en-US" sz="2100" i="1">
              <a:latin typeface="Cambria Math" panose="02040503050406030204" pitchFamily="18" charset="0"/>
            </a:endParaRPr>
          </a:p>
        </p:txBody>
      </p:sp>
      <p:sp>
        <p:nvSpPr>
          <p:cNvPr id="9" name="Oval 8"/>
          <p:cNvSpPr/>
          <p:nvPr/>
        </p:nvSpPr>
        <p:spPr>
          <a:xfrm rot="20022333">
            <a:off x="539934" y="3511032"/>
            <a:ext cx="2517912" cy="1088555"/>
          </a:xfrm>
          <a:prstGeom prst="ellipse">
            <a:avLst/>
          </a:prstGeom>
          <a:noFill/>
          <a:ln w="38100">
            <a:solidFill>
              <a:schemeClr val="accent1">
                <a:lumMod val="60000"/>
                <a:lumOff val="40000"/>
              </a:schemeClr>
            </a:solidFill>
          </a:ln>
        </p:spPr>
        <p:style>
          <a:lnRef idx="2">
            <a:schemeClr val="accent1"/>
          </a:lnRef>
          <a:fillRef idx="1">
            <a:schemeClr val="lt1"/>
          </a:fillRef>
          <a:effectRef idx="0">
            <a:schemeClr val="accent1"/>
          </a:effectRef>
          <a:fontRef idx="minor">
            <a:schemeClr val="dk1"/>
          </a:fontRef>
        </p:style>
        <p:txBody>
          <a:bodyPr rtlCol="0" anchor="ctr"/>
          <a:lstStyle/>
          <a:p>
            <a:pPr algn="ctr"/>
            <a:endParaRPr lang="en-US" sz="2100" i="1">
              <a:latin typeface="Cambria Math" panose="02040503050406030204" pitchFamily="18" charset="0"/>
            </a:endParaRPr>
          </a:p>
        </p:txBody>
      </p:sp>
      <p:sp>
        <p:nvSpPr>
          <p:cNvPr id="10" name="Oval 9"/>
          <p:cNvSpPr/>
          <p:nvPr/>
        </p:nvSpPr>
        <p:spPr>
          <a:xfrm rot="20022333">
            <a:off x="21250" y="3207971"/>
            <a:ext cx="4003154" cy="1832205"/>
          </a:xfrm>
          <a:prstGeom prst="ellipse">
            <a:avLst/>
          </a:prstGeom>
          <a:noFill/>
          <a:ln w="38100">
            <a:solidFill>
              <a:schemeClr val="accent1">
                <a:lumMod val="60000"/>
                <a:lumOff val="40000"/>
              </a:schemeClr>
            </a:solidFill>
          </a:ln>
        </p:spPr>
        <p:style>
          <a:lnRef idx="2">
            <a:schemeClr val="accent1"/>
          </a:lnRef>
          <a:fillRef idx="1">
            <a:schemeClr val="lt1"/>
          </a:fillRef>
          <a:effectRef idx="0">
            <a:schemeClr val="accent1"/>
          </a:effectRef>
          <a:fontRef idx="minor">
            <a:schemeClr val="dk1"/>
          </a:fontRef>
        </p:style>
        <p:txBody>
          <a:bodyPr rtlCol="0" anchor="ctr"/>
          <a:lstStyle/>
          <a:p>
            <a:pPr algn="ctr"/>
            <a:endParaRPr lang="en-US" sz="2100" i="1">
              <a:latin typeface="Cambria Math" panose="02040503050406030204" pitchFamily="18" charset="0"/>
            </a:endParaRPr>
          </a:p>
        </p:txBody>
      </p:sp>
      <mc:AlternateContent xmlns:mc="http://schemas.openxmlformats.org/markup-compatibility/2006" xmlns:a14="http://schemas.microsoft.com/office/drawing/2010/main">
        <mc:Choice Requires="a14">
          <p:sp>
            <p:nvSpPr>
              <p:cNvPr id="11" name="Rectangle 10"/>
              <p:cNvSpPr/>
              <p:nvPr/>
            </p:nvSpPr>
            <p:spPr>
              <a:xfrm>
                <a:off x="3633898" y="3744948"/>
                <a:ext cx="694421" cy="498278"/>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r>
                        <a:rPr lang="en-IN" sz="2700" b="0" i="1" smtClean="0">
                          <a:solidFill>
                            <a:schemeClr val="accent1"/>
                          </a:solidFill>
                          <a:latin typeface="Cambria Math" panose="02040503050406030204" pitchFamily="18" charset="0"/>
                        </a:rPr>
                        <m:t>𝑊</m:t>
                      </m:r>
                      <m:r>
                        <a:rPr lang="en-US" sz="2700" i="1" baseline="-25000">
                          <a:solidFill>
                            <a:schemeClr val="accent1"/>
                          </a:solidFill>
                          <a:latin typeface="Cambria Math" panose="02040503050406030204" pitchFamily="18" charset="0"/>
                        </a:rPr>
                        <m:t>0</m:t>
                      </m:r>
                    </m:oMath>
                  </m:oMathPara>
                </a14:m>
                <a:endParaRPr lang="en-US" sz="2700" baseline="-25000" dirty="0">
                  <a:solidFill>
                    <a:schemeClr val="accent1"/>
                  </a:solidFill>
                </a:endParaRPr>
              </a:p>
            </p:txBody>
          </p:sp>
        </mc:Choice>
        <mc:Fallback xmlns="">
          <p:sp>
            <p:nvSpPr>
              <p:cNvPr id="11" name="Rectangle 10"/>
              <p:cNvSpPr>
                <a:spLocks noRot="1" noChangeAspect="1" noMove="1" noResize="1" noEditPoints="1" noAdjustHandles="1" noChangeArrowheads="1" noChangeShapeType="1" noTextEdit="1"/>
              </p:cNvSpPr>
              <p:nvPr/>
            </p:nvSpPr>
            <p:spPr>
              <a:xfrm>
                <a:off x="3633898" y="3744948"/>
                <a:ext cx="694421" cy="498278"/>
              </a:xfrm>
              <a:prstGeom prst="rect">
                <a:avLst/>
              </a:prstGeom>
              <a:blipFill rotWithShape="0">
                <a:blip r:embed="rId4"/>
                <a:stretch>
                  <a:fillRect/>
                </a:stretch>
              </a:blipFill>
            </p:spPr>
            <p:txBody>
              <a:bodyPr/>
              <a:lstStyle/>
              <a:p>
                <a:r>
                  <a:rPr lang="en-IN">
                    <a:noFill/>
                  </a:rPr>
                  <a:t> </a:t>
                </a:r>
              </a:p>
            </p:txBody>
          </p:sp>
        </mc:Fallback>
      </mc:AlternateContent>
      <p:sp>
        <p:nvSpPr>
          <p:cNvPr id="12" name="Oval 11"/>
          <p:cNvSpPr/>
          <p:nvPr/>
        </p:nvSpPr>
        <p:spPr>
          <a:xfrm>
            <a:off x="3422319" y="3795463"/>
            <a:ext cx="202186" cy="202187"/>
          </a:xfrm>
          <a:prstGeom prst="ellipse">
            <a:avLst/>
          </a:prstGeom>
          <a:solidFill>
            <a:schemeClr val="accent1"/>
          </a:solidFill>
          <a:ln w="38100">
            <a:solidFill>
              <a:schemeClr val="accent1"/>
            </a:solidFill>
          </a:ln>
        </p:spPr>
        <p:style>
          <a:lnRef idx="2">
            <a:schemeClr val="accent1"/>
          </a:lnRef>
          <a:fillRef idx="1">
            <a:schemeClr val="lt1"/>
          </a:fillRef>
          <a:effectRef idx="0">
            <a:schemeClr val="accent1"/>
          </a:effectRef>
          <a:fontRef idx="minor">
            <a:schemeClr val="dk1"/>
          </a:fontRef>
        </p:style>
        <p:txBody>
          <a:bodyPr rtlCol="0" anchor="ctr"/>
          <a:lstStyle/>
          <a:p>
            <a:pPr algn="ctr"/>
            <a:endParaRPr lang="en-US" sz="2100" i="1">
              <a:latin typeface="Cambria Math" panose="02040503050406030204" pitchFamily="18" charset="0"/>
            </a:endParaRPr>
          </a:p>
        </p:txBody>
      </p:sp>
      <p:sp>
        <p:nvSpPr>
          <p:cNvPr id="13" name="Oval 12"/>
          <p:cNvSpPr/>
          <p:nvPr/>
        </p:nvSpPr>
        <p:spPr>
          <a:xfrm>
            <a:off x="1646217" y="3954215"/>
            <a:ext cx="202186" cy="202187"/>
          </a:xfrm>
          <a:prstGeom prst="ellipse">
            <a:avLst/>
          </a:prstGeom>
          <a:solidFill>
            <a:schemeClr val="accent1"/>
          </a:solidFill>
          <a:ln w="38100">
            <a:solidFill>
              <a:schemeClr val="accent1"/>
            </a:solidFill>
          </a:ln>
        </p:spPr>
        <p:style>
          <a:lnRef idx="2">
            <a:schemeClr val="accent1"/>
          </a:lnRef>
          <a:fillRef idx="1">
            <a:schemeClr val="lt1"/>
          </a:fillRef>
          <a:effectRef idx="0">
            <a:schemeClr val="accent1"/>
          </a:effectRef>
          <a:fontRef idx="minor">
            <a:schemeClr val="dk1"/>
          </a:fontRef>
        </p:style>
        <p:txBody>
          <a:bodyPr rtlCol="0" anchor="ctr"/>
          <a:lstStyle/>
          <a:p>
            <a:pPr algn="ctr"/>
            <a:endParaRPr lang="en-US" sz="2100" i="1">
              <a:latin typeface="Cambria Math" panose="02040503050406030204" pitchFamily="18" charset="0"/>
            </a:endParaRPr>
          </a:p>
        </p:txBody>
      </p:sp>
      <mc:AlternateContent xmlns:mc="http://schemas.openxmlformats.org/markup-compatibility/2006" xmlns:a14="http://schemas.microsoft.com/office/drawing/2010/main">
        <mc:Choice Requires="a14">
          <p:sp>
            <p:nvSpPr>
              <p:cNvPr id="14" name="Rectangle 13"/>
              <p:cNvSpPr/>
              <p:nvPr/>
            </p:nvSpPr>
            <p:spPr>
              <a:xfrm>
                <a:off x="91959" y="2920218"/>
                <a:ext cx="1110945" cy="498278"/>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r>
                        <a:rPr lang="en-IN" sz="2700" b="0" i="1" smtClean="0">
                          <a:solidFill>
                            <a:schemeClr val="accent1"/>
                          </a:solidFill>
                          <a:latin typeface="Cambria Math" panose="02040503050406030204" pitchFamily="18" charset="0"/>
                        </a:rPr>
                        <m:t>𝑊</m:t>
                      </m:r>
                      <m:r>
                        <a:rPr lang="en-US" sz="2700" i="1" baseline="-25000">
                          <a:solidFill>
                            <a:schemeClr val="accent1"/>
                          </a:solidFill>
                          <a:latin typeface="Cambria Math" panose="02040503050406030204" pitchFamily="18" charset="0"/>
                        </a:rPr>
                        <m:t>𝑓𝑖𝑛𝑎𝑙</m:t>
                      </m:r>
                    </m:oMath>
                  </m:oMathPara>
                </a14:m>
                <a:endParaRPr lang="en-US" sz="2700" baseline="-25000" dirty="0">
                  <a:solidFill>
                    <a:schemeClr val="accent1"/>
                  </a:solidFill>
                </a:endParaRPr>
              </a:p>
            </p:txBody>
          </p:sp>
        </mc:Choice>
        <mc:Fallback xmlns="">
          <p:sp>
            <p:nvSpPr>
              <p:cNvPr id="14" name="Rectangle 13"/>
              <p:cNvSpPr>
                <a:spLocks noRot="1" noChangeAspect="1" noMove="1" noResize="1" noEditPoints="1" noAdjustHandles="1" noChangeArrowheads="1" noChangeShapeType="1" noTextEdit="1"/>
              </p:cNvSpPr>
              <p:nvPr/>
            </p:nvSpPr>
            <p:spPr>
              <a:xfrm>
                <a:off x="91959" y="2920218"/>
                <a:ext cx="1110945" cy="498278"/>
              </a:xfrm>
              <a:prstGeom prst="rect">
                <a:avLst/>
              </a:prstGeom>
              <a:blipFill rotWithShape="0">
                <a:blip r:embed="rId5"/>
                <a:stretch>
                  <a:fillRect/>
                </a:stretch>
              </a:blipFill>
            </p:spPr>
            <p:txBody>
              <a:bodyPr/>
              <a:lstStyle/>
              <a:p>
                <a:r>
                  <a:rPr lang="en-IN">
                    <a:noFill/>
                  </a:rPr>
                  <a:t> </a:t>
                </a:r>
              </a:p>
            </p:txBody>
          </p:sp>
        </mc:Fallback>
      </mc:AlternateContent>
      <p:sp>
        <p:nvSpPr>
          <p:cNvPr id="15" name="Freeform: Shape 14"/>
          <p:cNvSpPr/>
          <p:nvPr/>
        </p:nvSpPr>
        <p:spPr>
          <a:xfrm rot="8376667">
            <a:off x="2027896" y="3467305"/>
            <a:ext cx="1228357" cy="877897"/>
          </a:xfrm>
          <a:custGeom>
            <a:avLst/>
            <a:gdLst>
              <a:gd name="connsiteX0" fmla="*/ 0 w 932567"/>
              <a:gd name="connsiteY0" fmla="*/ 0 h 538951"/>
              <a:gd name="connsiteX1" fmla="*/ 327004 w 932567"/>
              <a:gd name="connsiteY1" fmla="*/ 357282 h 538951"/>
              <a:gd name="connsiteX2" fmla="*/ 932567 w 932567"/>
              <a:gd name="connsiteY2" fmla="*/ 538951 h 538951"/>
            </a:gdLst>
            <a:ahLst/>
            <a:cxnLst>
              <a:cxn ang="0">
                <a:pos x="connsiteX0" y="connsiteY0"/>
              </a:cxn>
              <a:cxn ang="0">
                <a:pos x="connsiteX1" y="connsiteY1"/>
              </a:cxn>
              <a:cxn ang="0">
                <a:pos x="connsiteX2" y="connsiteY2"/>
              </a:cxn>
            </a:cxnLst>
            <a:rect l="l" t="t" r="r" b="b"/>
            <a:pathLst>
              <a:path w="932567" h="538951">
                <a:moveTo>
                  <a:pt x="0" y="0"/>
                </a:moveTo>
                <a:cubicBezTo>
                  <a:pt x="85788" y="133728"/>
                  <a:pt x="171576" y="267457"/>
                  <a:pt x="327004" y="357282"/>
                </a:cubicBezTo>
                <a:cubicBezTo>
                  <a:pt x="482432" y="447107"/>
                  <a:pt x="707499" y="493029"/>
                  <a:pt x="932567" y="538951"/>
                </a:cubicBezTo>
              </a:path>
            </a:pathLst>
          </a:custGeom>
          <a:noFill/>
          <a:ln w="76200">
            <a:solidFill>
              <a:schemeClr val="accent6"/>
            </a:solidFill>
            <a:headEnd type="none" w="med" len="med"/>
            <a:tailEnd type="arrow" w="med" len="med"/>
          </a:ln>
        </p:spPr>
        <p:style>
          <a:lnRef idx="2">
            <a:schemeClr val="accent1"/>
          </a:lnRef>
          <a:fillRef idx="1">
            <a:schemeClr val="lt1"/>
          </a:fillRef>
          <a:effectRef idx="0">
            <a:schemeClr val="accent1"/>
          </a:effectRef>
          <a:fontRef idx="minor">
            <a:schemeClr val="dk1"/>
          </a:fontRef>
        </p:style>
        <p:txBody>
          <a:bodyPr rtlCol="0" anchor="ctr"/>
          <a:lstStyle/>
          <a:p>
            <a:pPr algn="ctr"/>
            <a:endParaRPr lang="en-US" sz="1350"/>
          </a:p>
        </p:txBody>
      </p:sp>
      <p:cxnSp>
        <p:nvCxnSpPr>
          <p:cNvPr id="16" name="Straight Arrow Connector 15"/>
          <p:cNvCxnSpPr>
            <a:endCxn id="13" idx="1"/>
          </p:cNvCxnSpPr>
          <p:nvPr/>
        </p:nvCxnSpPr>
        <p:spPr>
          <a:xfrm>
            <a:off x="818425" y="3492248"/>
            <a:ext cx="857401" cy="491577"/>
          </a:xfrm>
          <a:prstGeom prst="straightConnector1">
            <a:avLst/>
          </a:prstGeom>
          <a:ln w="38100">
            <a:solidFill>
              <a:schemeClr val="accent1"/>
            </a:solidFill>
            <a:headEnd type="none" w="med" len="med"/>
            <a:tailEnd type="arrow" w="med" len="med"/>
          </a:ln>
        </p:spPr>
        <p:style>
          <a:lnRef idx="1">
            <a:schemeClr val="accent1"/>
          </a:lnRef>
          <a:fillRef idx="0">
            <a:schemeClr val="accent1"/>
          </a:fillRef>
          <a:effectRef idx="0">
            <a:schemeClr val="accent1"/>
          </a:effectRef>
          <a:fontRef idx="minor">
            <a:schemeClr val="tx1"/>
          </a:fontRef>
        </p:style>
      </p:cxnSp>
      <p:sp>
        <p:nvSpPr>
          <p:cNvPr id="19" name="Oval 18"/>
          <p:cNvSpPr/>
          <p:nvPr/>
        </p:nvSpPr>
        <p:spPr>
          <a:xfrm>
            <a:off x="2879420" y="3593276"/>
            <a:ext cx="202186" cy="202187"/>
          </a:xfrm>
          <a:prstGeom prst="ellipse">
            <a:avLst/>
          </a:prstGeom>
          <a:solidFill>
            <a:schemeClr val="accent1"/>
          </a:solidFill>
          <a:ln w="38100">
            <a:solidFill>
              <a:schemeClr val="accent1"/>
            </a:solidFill>
          </a:ln>
        </p:spPr>
        <p:style>
          <a:lnRef idx="2">
            <a:schemeClr val="accent1"/>
          </a:lnRef>
          <a:fillRef idx="1">
            <a:schemeClr val="lt1"/>
          </a:fillRef>
          <a:effectRef idx="0">
            <a:schemeClr val="accent1"/>
          </a:effectRef>
          <a:fontRef idx="minor">
            <a:schemeClr val="dk1"/>
          </a:fontRef>
        </p:style>
        <p:txBody>
          <a:bodyPr rtlCol="0" anchor="ctr"/>
          <a:lstStyle/>
          <a:p>
            <a:pPr algn="ctr"/>
            <a:endParaRPr lang="en-US" sz="2100" i="1">
              <a:latin typeface="Cambria Math" panose="02040503050406030204" pitchFamily="18" charset="0"/>
            </a:endParaRPr>
          </a:p>
        </p:txBody>
      </p:sp>
      <mc:AlternateContent xmlns:mc="http://schemas.openxmlformats.org/markup-compatibility/2006" xmlns:a14="http://schemas.microsoft.com/office/drawing/2010/main">
        <mc:Choice Requires="a14">
          <p:sp>
            <p:nvSpPr>
              <p:cNvPr id="21" name="Rectangle 20"/>
              <p:cNvSpPr/>
              <p:nvPr/>
            </p:nvSpPr>
            <p:spPr>
              <a:xfrm>
                <a:off x="2680944" y="2307001"/>
                <a:ext cx="651973" cy="498278"/>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sSub>
                        <m:sSubPr>
                          <m:ctrlPr>
                            <a:rPr lang="en-US" sz="2700" i="1" smtClean="0">
                              <a:solidFill>
                                <a:schemeClr val="accent1"/>
                              </a:solidFill>
                              <a:latin typeface="Cambria Math" panose="02040503050406030204" pitchFamily="18" charset="0"/>
                            </a:rPr>
                          </m:ctrlPr>
                        </m:sSubPr>
                        <m:e>
                          <m:r>
                            <a:rPr lang="en-IN" sz="2700" b="0" i="1" smtClean="0">
                              <a:solidFill>
                                <a:schemeClr val="accent1"/>
                              </a:solidFill>
                              <a:latin typeface="Cambria Math" panose="02040503050406030204" pitchFamily="18" charset="0"/>
                            </a:rPr>
                            <m:t>𝑊</m:t>
                          </m:r>
                        </m:e>
                        <m:sub>
                          <m:r>
                            <a:rPr lang="en-US" sz="2700" i="1">
                              <a:solidFill>
                                <a:schemeClr val="accent1"/>
                              </a:solidFill>
                              <a:latin typeface="Cambria Math" panose="02040503050406030204" pitchFamily="18" charset="0"/>
                            </a:rPr>
                            <m:t>𝑡</m:t>
                          </m:r>
                        </m:sub>
                      </m:sSub>
                    </m:oMath>
                  </m:oMathPara>
                </a14:m>
                <a:endParaRPr lang="en-US" sz="2700" baseline="-25000" dirty="0">
                  <a:solidFill>
                    <a:schemeClr val="accent1"/>
                  </a:solidFill>
                </a:endParaRPr>
              </a:p>
            </p:txBody>
          </p:sp>
        </mc:Choice>
        <mc:Fallback xmlns="">
          <p:sp>
            <p:nvSpPr>
              <p:cNvPr id="21" name="Rectangle 20"/>
              <p:cNvSpPr>
                <a:spLocks noRot="1" noChangeAspect="1" noMove="1" noResize="1" noEditPoints="1" noAdjustHandles="1" noChangeArrowheads="1" noChangeShapeType="1" noTextEdit="1"/>
              </p:cNvSpPr>
              <p:nvPr/>
            </p:nvSpPr>
            <p:spPr>
              <a:xfrm>
                <a:off x="2680944" y="2307001"/>
                <a:ext cx="651973" cy="498278"/>
              </a:xfrm>
              <a:prstGeom prst="rect">
                <a:avLst/>
              </a:prstGeom>
              <a:blipFill rotWithShape="0">
                <a:blip r:embed="rId6"/>
                <a:stretch>
                  <a:fillRect/>
                </a:stretch>
              </a:blipFill>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22" name="Rectangle 21"/>
              <p:cNvSpPr/>
              <p:nvPr/>
            </p:nvSpPr>
            <p:spPr>
              <a:xfrm>
                <a:off x="1606675" y="2363149"/>
                <a:ext cx="982192" cy="498278"/>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sSub>
                        <m:sSubPr>
                          <m:ctrlPr>
                            <a:rPr lang="en-US" sz="2700" i="1" smtClean="0">
                              <a:solidFill>
                                <a:schemeClr val="accent1"/>
                              </a:solidFill>
                              <a:latin typeface="Cambria Math" panose="02040503050406030204" pitchFamily="18" charset="0"/>
                            </a:rPr>
                          </m:ctrlPr>
                        </m:sSubPr>
                        <m:e>
                          <m:r>
                            <a:rPr lang="en-IN" sz="2700" b="0" i="1" smtClean="0">
                              <a:solidFill>
                                <a:schemeClr val="accent1"/>
                              </a:solidFill>
                              <a:latin typeface="Cambria Math" panose="02040503050406030204" pitchFamily="18" charset="0"/>
                            </a:rPr>
                            <m:t>𝑊</m:t>
                          </m:r>
                        </m:e>
                        <m:sub>
                          <m:r>
                            <a:rPr lang="en-US" sz="2700" i="1">
                              <a:solidFill>
                                <a:schemeClr val="accent1"/>
                              </a:solidFill>
                              <a:latin typeface="Cambria Math" panose="02040503050406030204" pitchFamily="18" charset="0"/>
                            </a:rPr>
                            <m:t>𝑡</m:t>
                          </m:r>
                          <m:r>
                            <a:rPr lang="en-US" sz="2700" i="1">
                              <a:solidFill>
                                <a:schemeClr val="accent1"/>
                              </a:solidFill>
                              <a:latin typeface="Cambria Math" panose="02040503050406030204" pitchFamily="18" charset="0"/>
                            </a:rPr>
                            <m:t>+1</m:t>
                          </m:r>
                        </m:sub>
                      </m:sSub>
                    </m:oMath>
                  </m:oMathPara>
                </a14:m>
                <a:endParaRPr lang="en-US" sz="2700" baseline="-25000" dirty="0">
                  <a:solidFill>
                    <a:schemeClr val="accent1"/>
                  </a:solidFill>
                </a:endParaRPr>
              </a:p>
            </p:txBody>
          </p:sp>
        </mc:Choice>
        <mc:Fallback xmlns="">
          <p:sp>
            <p:nvSpPr>
              <p:cNvPr id="22" name="Rectangle 21"/>
              <p:cNvSpPr>
                <a:spLocks noRot="1" noChangeAspect="1" noMove="1" noResize="1" noEditPoints="1" noAdjustHandles="1" noChangeArrowheads="1" noChangeShapeType="1" noTextEdit="1"/>
              </p:cNvSpPr>
              <p:nvPr/>
            </p:nvSpPr>
            <p:spPr>
              <a:xfrm>
                <a:off x="1606675" y="2363149"/>
                <a:ext cx="982192" cy="498278"/>
              </a:xfrm>
              <a:prstGeom prst="rect">
                <a:avLst/>
              </a:prstGeom>
              <a:blipFill rotWithShape="0">
                <a:blip r:embed="rId7"/>
                <a:stretch>
                  <a:fillRect/>
                </a:stretch>
              </a:blipFill>
            </p:spPr>
            <p:txBody>
              <a:bodyPr/>
              <a:lstStyle/>
              <a:p>
                <a:r>
                  <a:rPr lang="en-IN">
                    <a:noFill/>
                  </a:rPr>
                  <a:t> </a:t>
                </a:r>
              </a:p>
            </p:txBody>
          </p:sp>
        </mc:Fallback>
      </mc:AlternateContent>
      <p:cxnSp>
        <p:nvCxnSpPr>
          <p:cNvPr id="23" name="Straight Arrow Connector 22"/>
          <p:cNvCxnSpPr/>
          <p:nvPr/>
        </p:nvCxnSpPr>
        <p:spPr>
          <a:xfrm flipH="1" flipV="1">
            <a:off x="2050599" y="3523685"/>
            <a:ext cx="857566" cy="143256"/>
          </a:xfrm>
          <a:prstGeom prst="straightConnector1">
            <a:avLst/>
          </a:prstGeom>
          <a:ln w="57150">
            <a:solidFill>
              <a:schemeClr val="accent6"/>
            </a:solidFill>
            <a:prstDash val="sysDot"/>
            <a:headEnd type="none" w="med" len="med"/>
            <a:tailEnd type="arrow" w="med" len="med"/>
          </a:ln>
        </p:spPr>
        <p:style>
          <a:lnRef idx="1">
            <a:schemeClr val="accent1"/>
          </a:lnRef>
          <a:fillRef idx="0">
            <a:schemeClr val="accent1"/>
          </a:fillRef>
          <a:effectRef idx="0">
            <a:schemeClr val="accent1"/>
          </a:effectRef>
          <a:fontRef idx="minor">
            <a:schemeClr val="tx1"/>
          </a:fontRef>
        </p:style>
      </p:cxnSp>
      <p:sp>
        <p:nvSpPr>
          <p:cNvPr id="20" name="Oval 19"/>
          <p:cNvSpPr/>
          <p:nvPr/>
        </p:nvSpPr>
        <p:spPr>
          <a:xfrm>
            <a:off x="2501876" y="3593276"/>
            <a:ext cx="202186" cy="202187"/>
          </a:xfrm>
          <a:prstGeom prst="ellipse">
            <a:avLst/>
          </a:prstGeom>
          <a:solidFill>
            <a:schemeClr val="accent1"/>
          </a:solidFill>
          <a:ln w="38100">
            <a:solidFill>
              <a:schemeClr val="accent1"/>
            </a:solidFill>
          </a:ln>
        </p:spPr>
        <p:style>
          <a:lnRef idx="2">
            <a:schemeClr val="accent1"/>
          </a:lnRef>
          <a:fillRef idx="1">
            <a:schemeClr val="lt1"/>
          </a:fillRef>
          <a:effectRef idx="0">
            <a:schemeClr val="accent1"/>
          </a:effectRef>
          <a:fontRef idx="minor">
            <a:schemeClr val="dk1"/>
          </a:fontRef>
        </p:style>
        <p:txBody>
          <a:bodyPr rtlCol="0" anchor="ctr"/>
          <a:lstStyle/>
          <a:p>
            <a:pPr algn="ctr"/>
            <a:endParaRPr lang="en-US" sz="2100" i="1">
              <a:latin typeface="Cambria Math" panose="02040503050406030204" pitchFamily="18" charset="0"/>
            </a:endParaRPr>
          </a:p>
        </p:txBody>
      </p:sp>
      <p:cxnSp>
        <p:nvCxnSpPr>
          <p:cNvPr id="26" name="Straight Arrow Connector 25"/>
          <p:cNvCxnSpPr>
            <a:stCxn id="22" idx="2"/>
            <a:endCxn id="20" idx="0"/>
          </p:cNvCxnSpPr>
          <p:nvPr/>
        </p:nvCxnSpPr>
        <p:spPr>
          <a:xfrm>
            <a:off x="2097771" y="2861427"/>
            <a:ext cx="505198" cy="731849"/>
          </a:xfrm>
          <a:prstGeom prst="straightConnector1">
            <a:avLst/>
          </a:prstGeom>
          <a:ln w="38100">
            <a:solidFill>
              <a:schemeClr val="accent1"/>
            </a:solidFill>
            <a:headEnd type="none" w="med" len="med"/>
            <a:tailEnd type="arrow" w="med" len="med"/>
          </a:ln>
        </p:spPr>
        <p:style>
          <a:lnRef idx="1">
            <a:schemeClr val="accent1"/>
          </a:lnRef>
          <a:fillRef idx="0">
            <a:schemeClr val="accent1"/>
          </a:fillRef>
          <a:effectRef idx="0">
            <a:schemeClr val="accent1"/>
          </a:effectRef>
          <a:fontRef idx="minor">
            <a:schemeClr val="tx1"/>
          </a:fontRef>
        </p:style>
      </p:cxnSp>
      <p:cxnSp>
        <p:nvCxnSpPr>
          <p:cNvPr id="29" name="Straight Arrow Connector 28"/>
          <p:cNvCxnSpPr>
            <a:stCxn id="21" idx="2"/>
            <a:endCxn id="19" idx="0"/>
          </p:cNvCxnSpPr>
          <p:nvPr/>
        </p:nvCxnSpPr>
        <p:spPr>
          <a:xfrm flipH="1">
            <a:off x="2980513" y="2805279"/>
            <a:ext cx="26418" cy="787997"/>
          </a:xfrm>
          <a:prstGeom prst="straightConnector1">
            <a:avLst/>
          </a:prstGeom>
          <a:ln w="38100">
            <a:solidFill>
              <a:schemeClr val="accent1"/>
            </a:solidFill>
            <a:headEnd type="none" w="med" len="med"/>
            <a:tailEnd type="arrow" w="med" len="med"/>
          </a:ln>
        </p:spPr>
        <p:style>
          <a:lnRef idx="1">
            <a:schemeClr val="accent1"/>
          </a:lnRef>
          <a:fillRef idx="0">
            <a:schemeClr val="accent1"/>
          </a:fillRef>
          <a:effectRef idx="0">
            <a:schemeClr val="accent1"/>
          </a:effectRef>
          <a:fontRef idx="minor">
            <a:schemeClr val="tx1"/>
          </a:fontRef>
        </p:style>
      </p:cxnSp>
      <p:sp>
        <p:nvSpPr>
          <p:cNvPr id="35" name="Left Brace 34"/>
          <p:cNvSpPr/>
          <p:nvPr/>
        </p:nvSpPr>
        <p:spPr>
          <a:xfrm rot="16200000">
            <a:off x="7272042" y="3081016"/>
            <a:ext cx="231628" cy="907311"/>
          </a:xfrm>
          <a:prstGeom prst="leftBrace">
            <a:avLst/>
          </a:prstGeom>
          <a:ln w="57150">
            <a:solidFill>
              <a:schemeClr val="accent6"/>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sz="1350"/>
          </a:p>
        </p:txBody>
      </p:sp>
      <p:sp>
        <p:nvSpPr>
          <p:cNvPr id="36" name="TextBox 35"/>
          <p:cNvSpPr txBox="1"/>
          <p:nvPr/>
        </p:nvSpPr>
        <p:spPr>
          <a:xfrm>
            <a:off x="6324600" y="3650486"/>
            <a:ext cx="2527167" cy="369332"/>
          </a:xfrm>
          <a:prstGeom prst="rect">
            <a:avLst/>
          </a:prstGeom>
          <a:noFill/>
        </p:spPr>
        <p:txBody>
          <a:bodyPr wrap="none" rtlCol="0">
            <a:spAutoFit/>
          </a:bodyPr>
          <a:lstStyle/>
          <a:p>
            <a:r>
              <a:rPr lang="en-US" dirty="0"/>
              <a:t>Gradient of the objective</a:t>
            </a:r>
          </a:p>
        </p:txBody>
      </p:sp>
      <mc:AlternateContent xmlns:mc="http://schemas.openxmlformats.org/markup-compatibility/2006" xmlns:a14="http://schemas.microsoft.com/office/drawing/2010/main">
        <mc:Choice Requires="a14">
          <p:sp>
            <p:nvSpPr>
              <p:cNvPr id="42" name="TextBox 41"/>
              <p:cNvSpPr txBox="1"/>
              <p:nvPr/>
            </p:nvSpPr>
            <p:spPr>
              <a:xfrm>
                <a:off x="1732811" y="5588270"/>
                <a:ext cx="7295598" cy="812530"/>
              </a:xfrm>
              <a:prstGeom prst="rect">
                <a:avLst/>
              </a:prstGeom>
            </p:spPr>
            <p:style>
              <a:lnRef idx="2">
                <a:schemeClr val="accent2">
                  <a:shade val="50000"/>
                </a:schemeClr>
              </a:lnRef>
              <a:fillRef idx="1">
                <a:schemeClr val="accent2"/>
              </a:fillRef>
              <a:effectRef idx="0">
                <a:schemeClr val="accent2"/>
              </a:effectRef>
              <a:fontRef idx="minor">
                <a:schemeClr val="lt1"/>
              </a:fontRef>
            </p:style>
            <p:txBody>
              <a:bodyPr wrap="square" rtlCol="0">
                <a:spAutoFit/>
              </a:bodyPr>
              <a:lstStyle/>
              <a:p>
                <a:pPr marL="257175" indent="-257175">
                  <a:lnSpc>
                    <a:spcPct val="130000"/>
                  </a:lnSpc>
                  <a:buFont typeface="Arial" panose="020B0604020202020204" pitchFamily="34" charset="0"/>
                  <a:buChar char="•"/>
                </a:pPr>
                <a:r>
                  <a:rPr lang="en-US" dirty="0" smtClean="0"/>
                  <a:t>computation of </a:t>
                </a:r>
                <a14:m>
                  <m:oMath xmlns:m="http://schemas.openxmlformats.org/officeDocument/2006/math">
                    <m:r>
                      <a:rPr lang="en-US">
                        <a:latin typeface="Cambria Math" panose="02040503050406030204" pitchFamily="18" charset="0"/>
                      </a:rPr>
                      <m:t>𝛻</m:t>
                    </m:r>
                    <m:r>
                      <a:rPr lang="en-US" i="1">
                        <a:latin typeface="Cambria Math" panose="02040503050406030204" pitchFamily="18" charset="0"/>
                      </a:rPr>
                      <m:t>𝐿</m:t>
                    </m:r>
                    <m:d>
                      <m:dPr>
                        <m:ctrlPr>
                          <a:rPr lang="en-US" i="1">
                            <a:latin typeface="Cambria Math" panose="02040503050406030204" pitchFamily="18" charset="0"/>
                          </a:rPr>
                        </m:ctrlPr>
                      </m:dPr>
                      <m:e>
                        <m:sSup>
                          <m:sSupPr>
                            <m:ctrlPr>
                              <a:rPr lang="en-US" i="1">
                                <a:latin typeface="Cambria Math" panose="02040503050406030204" pitchFamily="18" charset="0"/>
                              </a:rPr>
                            </m:ctrlPr>
                          </m:sSupPr>
                          <m:e>
                            <m:r>
                              <a:rPr lang="en-IN" b="0" i="1" smtClean="0">
                                <a:latin typeface="Cambria Math" panose="02040503050406030204" pitchFamily="18" charset="0"/>
                              </a:rPr>
                              <m:t>𝑊</m:t>
                            </m:r>
                          </m:e>
                          <m:sup>
                            <m:r>
                              <a:rPr lang="en-US" i="1">
                                <a:latin typeface="Cambria Math" panose="02040503050406030204" pitchFamily="18" charset="0"/>
                              </a:rPr>
                              <m:t>𝑡</m:t>
                            </m:r>
                          </m:sup>
                        </m:sSup>
                      </m:e>
                    </m:d>
                  </m:oMath>
                </a14:m>
                <a:r>
                  <a:rPr lang="en-US" dirty="0"/>
                  <a:t> requires a full sweep over the training data</a:t>
                </a:r>
              </a:p>
              <a:p>
                <a:pPr marL="257175" indent="-257175">
                  <a:lnSpc>
                    <a:spcPct val="130000"/>
                  </a:lnSpc>
                  <a:buFont typeface="Arial" panose="020B0604020202020204" pitchFamily="34" charset="0"/>
                  <a:buChar char="•"/>
                </a:pPr>
                <a:r>
                  <a:rPr lang="en-US" dirty="0"/>
                  <a:t>Per-iteration comp. cost = O(n)</a:t>
                </a:r>
              </a:p>
            </p:txBody>
          </p:sp>
        </mc:Choice>
        <mc:Fallback xmlns="">
          <p:sp>
            <p:nvSpPr>
              <p:cNvPr id="42" name="TextBox 41"/>
              <p:cNvSpPr txBox="1">
                <a:spLocks noRot="1" noChangeAspect="1" noMove="1" noResize="1" noEditPoints="1" noAdjustHandles="1" noChangeArrowheads="1" noChangeShapeType="1" noTextEdit="1"/>
              </p:cNvSpPr>
              <p:nvPr/>
            </p:nvSpPr>
            <p:spPr>
              <a:xfrm>
                <a:off x="1732811" y="5588270"/>
                <a:ext cx="7295598" cy="812530"/>
              </a:xfrm>
              <a:prstGeom prst="rect">
                <a:avLst/>
              </a:prstGeom>
              <a:blipFill rotWithShape="0">
                <a:blip r:embed="rId8"/>
                <a:stretch>
                  <a:fillRect l="-333" b="-5839"/>
                </a:stretch>
              </a:blipFill>
            </p:spPr>
            <p:txBody>
              <a:bodyPr/>
              <a:lstStyle/>
              <a:p>
                <a:r>
                  <a:rPr lang="en-IN">
                    <a:noFill/>
                  </a:rPr>
                  <a:t> </a:t>
                </a:r>
              </a:p>
            </p:txBody>
          </p:sp>
        </mc:Fallback>
      </mc:AlternateContent>
      <p:sp>
        <p:nvSpPr>
          <p:cNvPr id="25" name="Date Placeholder 3"/>
          <p:cNvSpPr>
            <a:spLocks noGrp="1"/>
          </p:cNvSpPr>
          <p:nvPr>
            <p:ph type="dt" sz="half" idx="10"/>
          </p:nvPr>
        </p:nvSpPr>
        <p:spPr>
          <a:xfrm>
            <a:off x="0" y="6629400"/>
            <a:ext cx="3048000" cy="228600"/>
          </a:xfrm>
        </p:spPr>
        <p:txBody>
          <a:bodyPr/>
          <a:lstStyle/>
          <a:p>
            <a:fld id="{E7067A60-51C7-4095-BFA9-1CE32DCBA06F}" type="datetime1">
              <a:rPr lang="en-US" smtClean="0"/>
              <a:pPr/>
              <a:t>2/9/2026</a:t>
            </a:fld>
            <a:endParaRPr lang="en-US" dirty="0"/>
          </a:p>
        </p:txBody>
      </p:sp>
      <p:sp>
        <p:nvSpPr>
          <p:cNvPr id="27" name="Footer Placeholder 4"/>
          <p:cNvSpPr>
            <a:spLocks noGrp="1"/>
          </p:cNvSpPr>
          <p:nvPr>
            <p:ph type="ftr" sz="quarter" idx="11"/>
          </p:nvPr>
        </p:nvSpPr>
        <p:spPr>
          <a:xfrm>
            <a:off x="2476501" y="6629400"/>
            <a:ext cx="4136571" cy="228600"/>
          </a:xfrm>
        </p:spPr>
        <p:txBody>
          <a:bodyPr/>
          <a:lstStyle/>
          <a:p>
            <a:pPr algn="l"/>
            <a:r>
              <a:rPr lang="en-US" dirty="0"/>
              <a:t>Dr. Sibarama Panigrahi, Dept. of CSE, NIT Rourkela</a:t>
            </a:r>
          </a:p>
        </p:txBody>
      </p:sp>
      <p:sp>
        <p:nvSpPr>
          <p:cNvPr id="28" name="Slide Number Placeholder 5"/>
          <p:cNvSpPr>
            <a:spLocks noGrp="1"/>
          </p:cNvSpPr>
          <p:nvPr>
            <p:ph type="sldNum" sz="quarter" idx="12"/>
          </p:nvPr>
        </p:nvSpPr>
        <p:spPr>
          <a:xfrm>
            <a:off x="6096000" y="6629400"/>
            <a:ext cx="3048000" cy="228600"/>
          </a:xfrm>
        </p:spPr>
        <p:txBody>
          <a:bodyPr/>
          <a:lstStyle/>
          <a:p>
            <a:fld id="{A03BBF96-A7A5-4867-9A4A-2F26A3CC4EC3}" type="slidenum">
              <a:rPr lang="en-US" smtClean="0"/>
              <a:pPr/>
              <a:t>57</a:t>
            </a:fld>
            <a:endParaRPr lang="en-US" dirty="0"/>
          </a:p>
        </p:txBody>
      </p:sp>
      <p:sp>
        <p:nvSpPr>
          <p:cNvPr id="30" name="TextBox 29"/>
          <p:cNvSpPr txBox="1"/>
          <p:nvPr/>
        </p:nvSpPr>
        <p:spPr>
          <a:xfrm>
            <a:off x="0" y="0"/>
            <a:ext cx="4572000" cy="369332"/>
          </a:xfrm>
          <a:prstGeom prst="rect">
            <a:avLst/>
          </a:prstGeom>
          <a:noFill/>
        </p:spPr>
        <p:txBody>
          <a:bodyPr wrap="square" rtlCol="0">
            <a:spAutoFit/>
          </a:bodyPr>
          <a:lstStyle/>
          <a:p>
            <a:pPr algn="r"/>
            <a:r>
              <a:rPr lang="en-US" b="1" dirty="0">
                <a:solidFill>
                  <a:schemeClr val="bg1"/>
                </a:solidFill>
              </a:rPr>
              <a:t>Introduction to Neural Network</a:t>
            </a:r>
          </a:p>
        </p:txBody>
      </p:sp>
      <p:sp>
        <p:nvSpPr>
          <p:cNvPr id="3" name="Rectangle 2"/>
          <p:cNvSpPr/>
          <p:nvPr/>
        </p:nvSpPr>
        <p:spPr>
          <a:xfrm>
            <a:off x="-333430" y="1009748"/>
            <a:ext cx="9477429" cy="707886"/>
          </a:xfrm>
          <a:prstGeom prst="rect">
            <a:avLst/>
          </a:prstGeom>
        </p:spPr>
        <p:txBody>
          <a:bodyPr wrap="square">
            <a:spAutoFit/>
          </a:bodyPr>
          <a:lstStyle/>
          <a:p>
            <a:pPr lvl="1"/>
            <a:r>
              <a:rPr lang="en-US" sz="2000" dirty="0">
                <a:latin typeface="Times New Roman" panose="02020603050405020304" pitchFamily="18" charset="0"/>
                <a:cs typeface="Times New Roman" panose="02020603050405020304" pitchFamily="18" charset="0"/>
              </a:rPr>
              <a:t>You take </a:t>
            </a:r>
            <a:r>
              <a:rPr lang="en-US" sz="2000" dirty="0" smtClean="0">
                <a:latin typeface="Times New Roman" panose="02020603050405020304" pitchFamily="18" charset="0"/>
                <a:cs typeface="Times New Roman" panose="02020603050405020304" pitchFamily="18" charset="0"/>
              </a:rPr>
              <a:t>all Input Vectors, </a:t>
            </a:r>
            <a:r>
              <a:rPr lang="en-US" sz="2000" dirty="0">
                <a:latin typeface="Times New Roman" panose="02020603050405020304" pitchFamily="18" charset="0"/>
                <a:cs typeface="Times New Roman" panose="02020603050405020304" pitchFamily="18" charset="0"/>
              </a:rPr>
              <a:t>Feed Forward it </a:t>
            </a:r>
            <a:r>
              <a:rPr lang="en-US" sz="2000" dirty="0" smtClean="0">
                <a:latin typeface="Times New Roman" panose="02020603050405020304" pitchFamily="18" charset="0"/>
                <a:cs typeface="Times New Roman" panose="02020603050405020304" pitchFamily="18" charset="0"/>
              </a:rPr>
              <a:t>one by one, compute the error and get the mean error, then </a:t>
            </a:r>
            <a:r>
              <a:rPr lang="en-US" sz="2000" dirty="0">
                <a:latin typeface="Times New Roman" panose="02020603050405020304" pitchFamily="18" charset="0"/>
                <a:cs typeface="Times New Roman" panose="02020603050405020304" pitchFamily="18" charset="0"/>
              </a:rPr>
              <a:t>update the weights by back-propagating the gradient </a:t>
            </a:r>
            <a:r>
              <a:rPr lang="en-US" sz="2000" dirty="0" smtClean="0">
                <a:latin typeface="Times New Roman" panose="02020603050405020304" pitchFamily="18" charset="0"/>
                <a:cs typeface="Times New Roman" panose="02020603050405020304" pitchFamily="18" charset="0"/>
              </a:rPr>
              <a:t>of errors</a:t>
            </a:r>
            <a:r>
              <a:rPr lang="en-US" sz="2000" dirty="0">
                <a:latin typeface="Times New Roman" panose="02020603050405020304" pitchFamily="18" charset="0"/>
                <a:cs typeface="Times New Roman" panose="02020603050405020304" pitchFamily="18" charset="0"/>
              </a:rPr>
              <a:t>.</a:t>
            </a:r>
          </a:p>
        </p:txBody>
      </p:sp>
      <p:sp>
        <p:nvSpPr>
          <p:cNvPr id="31" name="TextBox 30"/>
          <p:cNvSpPr txBox="1"/>
          <p:nvPr/>
        </p:nvSpPr>
        <p:spPr>
          <a:xfrm flipH="1">
            <a:off x="6096000" y="6600824"/>
            <a:ext cx="3124200" cy="307777"/>
          </a:xfrm>
          <a:prstGeom prst="rect">
            <a:avLst/>
          </a:prstGeom>
          <a:noFill/>
        </p:spPr>
        <p:txBody>
          <a:bodyPr wrap="square" rtlCol="0">
            <a:spAutoFit/>
          </a:bodyPr>
          <a:lstStyle/>
          <a:p>
            <a:r>
              <a:rPr lang="en-US" sz="1400" dirty="0" smtClean="0">
                <a:latin typeface="Times New Roman" panose="02020603050405020304" pitchFamily="18" charset="0"/>
                <a:cs typeface="Times New Roman" panose="02020603050405020304" pitchFamily="18" charset="0"/>
              </a:rPr>
              <a:t>Mini-Batch Stochastic Gradient Descent</a:t>
            </a:r>
            <a:endParaRPr lang="en-IN" sz="14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575114685"/>
      </p:ext>
    </p:extLst>
  </p:cSld>
  <p:clrMapOvr>
    <a:masterClrMapping/>
  </p:clrMapOvr>
  <p:timing>
    <p:tnLst>
      <p:par>
        <p:cTn id="1" dur="indefinite" restart="never" nodeType="tmRoot"/>
      </p:par>
    </p:tnLst>
  </p:timing>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Minibatch stochastic gradient descent</a:t>
            </a:r>
          </a:p>
        </p:txBody>
      </p:sp>
      <mc:AlternateContent xmlns:mc="http://schemas.openxmlformats.org/markup-compatibility/2006" xmlns:a14="http://schemas.microsoft.com/office/drawing/2010/main">
        <mc:Choice Requires="a14">
          <p:sp>
            <p:nvSpPr>
              <p:cNvPr id="17" name="Content Placeholder 16"/>
              <p:cNvSpPr>
                <a:spLocks noGrp="1"/>
              </p:cNvSpPr>
              <p:nvPr>
                <p:ph idx="1"/>
              </p:nvPr>
            </p:nvSpPr>
            <p:spPr>
              <a:xfrm>
                <a:off x="4122147" y="2226469"/>
                <a:ext cx="5021853" cy="3263504"/>
              </a:xfrm>
            </p:spPr>
            <p:txBody>
              <a:bodyPr>
                <a:normAutofit/>
              </a:bodyPr>
              <a:lstStyle/>
              <a:p>
                <a:r>
                  <a:rPr lang="en-US" dirty="0" smtClean="0"/>
                  <a:t>Initialize </a:t>
                </a:r>
                <a14:m>
                  <m:oMath xmlns:m="http://schemas.openxmlformats.org/officeDocument/2006/math">
                    <m:sSub>
                      <m:sSubPr>
                        <m:ctrlPr>
                          <a:rPr lang="en-US" b="0" i="1" smtClean="0">
                            <a:latin typeface="Cambria Math" panose="02040503050406030204" pitchFamily="18" charset="0"/>
                          </a:rPr>
                        </m:ctrlPr>
                      </m:sSubPr>
                      <m:e>
                        <m:r>
                          <a:rPr lang="en-IN" b="0" i="1" smtClean="0">
                            <a:latin typeface="Cambria Math" panose="02040503050406030204" pitchFamily="18" charset="0"/>
                          </a:rPr>
                          <m:t>𝑊</m:t>
                        </m:r>
                      </m:e>
                      <m:sub>
                        <m:r>
                          <a:rPr lang="en-US" b="0" i="1" smtClean="0">
                            <a:latin typeface="Cambria Math" panose="02040503050406030204" pitchFamily="18" charset="0"/>
                          </a:rPr>
                          <m:t>0</m:t>
                        </m:r>
                      </m:sub>
                    </m:sSub>
                  </m:oMath>
                </a14:m>
                <a:r>
                  <a:rPr lang="en-US" dirty="0"/>
                  <a:t> randomly</a:t>
                </a:r>
              </a:p>
              <a:p>
                <a:r>
                  <a:rPr lang="en-US" dirty="0"/>
                  <a:t>For </a:t>
                </a:r>
                <a:r>
                  <a:rPr lang="en-US" i="1" dirty="0"/>
                  <a:t>t</a:t>
                </a:r>
                <a:r>
                  <a:rPr lang="en-US" dirty="0"/>
                  <a:t> in 0,…, </a:t>
                </a:r>
                <a:r>
                  <a:rPr lang="en-US" i="1" dirty="0" err="1"/>
                  <a:t>T</a:t>
                </a:r>
                <a:r>
                  <a:rPr lang="en-US" baseline="-25000" dirty="0" err="1"/>
                  <a:t>maxiter</a:t>
                </a:r>
                <a:endParaRPr lang="en-US" baseline="-25000" dirty="0"/>
              </a:p>
              <a:p>
                <a:pPr marL="0" indent="0">
                  <a:buNone/>
                </a:pPr>
                <a14:m>
                  <m:oMathPara xmlns:m="http://schemas.openxmlformats.org/officeDocument/2006/math">
                    <m:oMathParaPr>
                      <m:jc m:val="centerGroup"/>
                    </m:oMathParaPr>
                    <m:oMath xmlns:m="http://schemas.openxmlformats.org/officeDocument/2006/math">
                      <m:sSup>
                        <m:sSupPr>
                          <m:ctrlPr>
                            <a:rPr lang="en-US" b="0" i="1" smtClean="0">
                              <a:latin typeface="Cambria Math" panose="02040503050406030204" pitchFamily="18" charset="0"/>
                            </a:rPr>
                          </m:ctrlPr>
                        </m:sSupPr>
                        <m:e>
                          <m:r>
                            <a:rPr lang="en-IN" b="0" i="1" smtClean="0">
                              <a:latin typeface="Cambria Math" panose="02040503050406030204" pitchFamily="18" charset="0"/>
                            </a:rPr>
                            <m:t>𝑊</m:t>
                          </m:r>
                        </m:e>
                        <m:sup>
                          <m:r>
                            <a:rPr lang="en-US" b="0" i="1" smtClean="0">
                              <a:latin typeface="Cambria Math" panose="02040503050406030204" pitchFamily="18" charset="0"/>
                            </a:rPr>
                            <m:t>𝑡</m:t>
                          </m:r>
                          <m:r>
                            <a:rPr lang="en-US" b="0" i="1" smtClean="0">
                              <a:latin typeface="Cambria Math" panose="02040503050406030204" pitchFamily="18" charset="0"/>
                            </a:rPr>
                            <m:t>+1</m:t>
                          </m:r>
                        </m:sup>
                      </m:sSup>
                      <m:r>
                        <a:rPr lang="en-US" b="0" i="1" smtClean="0">
                          <a:latin typeface="Cambria Math" panose="02040503050406030204" pitchFamily="18" charset="0"/>
                        </a:rPr>
                        <m:t>=</m:t>
                      </m:r>
                      <m:sSup>
                        <m:sSupPr>
                          <m:ctrlPr>
                            <a:rPr lang="en-US" b="0" i="1" smtClean="0">
                              <a:latin typeface="Cambria Math" panose="02040503050406030204" pitchFamily="18" charset="0"/>
                            </a:rPr>
                          </m:ctrlPr>
                        </m:sSupPr>
                        <m:e>
                          <m:r>
                            <a:rPr lang="en-IN" b="0" i="1" smtClean="0">
                              <a:latin typeface="Cambria Math" panose="02040503050406030204" pitchFamily="18" charset="0"/>
                            </a:rPr>
                            <m:t>𝑊</m:t>
                          </m:r>
                        </m:e>
                        <m:sup>
                          <m:r>
                            <a:rPr lang="en-US" b="0" i="1" smtClean="0">
                              <a:latin typeface="Cambria Math" panose="02040503050406030204" pitchFamily="18" charset="0"/>
                            </a:rPr>
                            <m:t>𝑡</m:t>
                          </m:r>
                        </m:sup>
                      </m:sSup>
                      <m:r>
                        <a:rPr lang="en-US" b="0" i="1" smtClean="0">
                          <a:latin typeface="Cambria Math" panose="02040503050406030204" pitchFamily="18" charset="0"/>
                        </a:rPr>
                        <m:t>−</m:t>
                      </m:r>
                      <m:sSub>
                        <m:sSubPr>
                          <m:ctrlPr>
                            <a:rPr lang="en-US" b="0" i="1" smtClean="0">
                              <a:latin typeface="Cambria Math" panose="02040503050406030204" pitchFamily="18" charset="0"/>
                            </a:rPr>
                          </m:ctrlPr>
                        </m:sSubPr>
                        <m:e>
                          <m:r>
                            <a:rPr lang="en-US" b="0" i="1" smtClean="0">
                              <a:latin typeface="Cambria Math" panose="02040503050406030204" pitchFamily="18" charset="0"/>
                            </a:rPr>
                            <m:t>𝜂</m:t>
                          </m:r>
                        </m:e>
                        <m:sub>
                          <m:r>
                            <a:rPr lang="en-US" b="0" i="1" smtClean="0">
                              <a:latin typeface="Cambria Math" panose="02040503050406030204" pitchFamily="18" charset="0"/>
                            </a:rPr>
                            <m:t>𝑡</m:t>
                          </m:r>
                        </m:sub>
                      </m:sSub>
                      <m:r>
                        <a:rPr lang="en-US" b="0" i="1" smtClean="0">
                          <a:latin typeface="Cambria Math" panose="02040503050406030204" pitchFamily="18" charset="0"/>
                        </a:rPr>
                        <m:t>⋅</m:t>
                      </m:r>
                      <m:sSub>
                        <m:sSubPr>
                          <m:ctrlPr>
                            <a:rPr lang="en-US" b="0" i="1" smtClean="0">
                              <a:latin typeface="Cambria Math" panose="02040503050406030204" pitchFamily="18" charset="0"/>
                            </a:rPr>
                          </m:ctrlPr>
                        </m:sSubPr>
                        <m:e>
                          <m:acc>
                            <m:accPr>
                              <m:chr m:val="̃"/>
                              <m:ctrlPr>
                                <a:rPr lang="en-US" b="0" i="1" smtClean="0">
                                  <a:latin typeface="Cambria Math" panose="02040503050406030204" pitchFamily="18" charset="0"/>
                                </a:rPr>
                              </m:ctrlPr>
                            </m:accPr>
                            <m:e>
                              <m:r>
                                <a:rPr lang="en-US" b="0" i="0" smtClean="0">
                                  <a:latin typeface="Cambria Math" panose="02040503050406030204" pitchFamily="18" charset="0"/>
                                </a:rPr>
                                <m:t>𝛻</m:t>
                              </m:r>
                            </m:e>
                          </m:acc>
                        </m:e>
                        <m:sub>
                          <m:r>
                            <a:rPr lang="en-US" b="0" i="1" smtClean="0">
                              <a:latin typeface="Cambria Math" panose="02040503050406030204" pitchFamily="18" charset="0"/>
                            </a:rPr>
                            <m:t>𝐵</m:t>
                          </m:r>
                        </m:sub>
                      </m:sSub>
                      <m:r>
                        <a:rPr lang="en-US" i="1">
                          <a:latin typeface="Cambria Math" panose="02040503050406030204" pitchFamily="18" charset="0"/>
                        </a:rPr>
                        <m:t>𝐿</m:t>
                      </m:r>
                      <m:d>
                        <m:dPr>
                          <m:ctrlPr>
                            <a:rPr lang="en-US" i="1">
                              <a:latin typeface="Cambria Math" panose="02040503050406030204" pitchFamily="18" charset="0"/>
                            </a:rPr>
                          </m:ctrlPr>
                        </m:dPr>
                        <m:e>
                          <m:r>
                            <a:rPr lang="en-IN" b="0" i="1" smtClean="0">
                              <a:latin typeface="Cambria Math" panose="02040503050406030204" pitchFamily="18" charset="0"/>
                            </a:rPr>
                            <m:t>𝑊</m:t>
                          </m:r>
                        </m:e>
                      </m:d>
                    </m:oMath>
                  </m:oMathPara>
                </a14:m>
                <a:endParaRPr lang="en-US" dirty="0"/>
              </a:p>
              <a:p>
                <a:pPr marL="0" indent="0">
                  <a:buNone/>
                </a:pPr>
                <a:endParaRPr lang="en-US" dirty="0"/>
              </a:p>
              <a:p>
                <a:pPr marL="0" indent="0">
                  <a:buNone/>
                </a:pPr>
                <a:r>
                  <a:rPr lang="en-US" sz="2100" dirty="0"/>
                  <a:t>where minibatch </a:t>
                </a:r>
                <a:r>
                  <a:rPr lang="en-US" sz="2100" i="1" dirty="0"/>
                  <a:t>B</a:t>
                </a:r>
                <a:r>
                  <a:rPr lang="en-US" sz="2100" dirty="0"/>
                  <a:t> is chosen randomly</a:t>
                </a:r>
              </a:p>
            </p:txBody>
          </p:sp>
        </mc:Choice>
        <mc:Fallback xmlns="">
          <p:sp>
            <p:nvSpPr>
              <p:cNvPr id="17" name="Content Placeholder 16"/>
              <p:cNvSpPr>
                <a:spLocks noGrp="1" noRot="1" noChangeAspect="1" noMove="1" noResize="1" noEditPoints="1" noAdjustHandles="1" noChangeArrowheads="1" noChangeShapeType="1" noTextEdit="1"/>
              </p:cNvSpPr>
              <p:nvPr>
                <p:ph idx="1"/>
              </p:nvPr>
            </p:nvSpPr>
            <p:spPr>
              <a:xfrm>
                <a:off x="4122147" y="2226469"/>
                <a:ext cx="5021853" cy="3263504"/>
              </a:xfrm>
              <a:blipFill rotWithShape="0">
                <a:blip r:embed="rId2"/>
                <a:stretch>
                  <a:fillRect l="-1456" t="-4104"/>
                </a:stretch>
              </a:blipFill>
            </p:spPr>
            <p:txBody>
              <a:bodyPr/>
              <a:lstStyle/>
              <a:p>
                <a:r>
                  <a:rPr lang="en-IN">
                    <a:noFill/>
                  </a:rPr>
                  <a:t> </a:t>
                </a:r>
              </a:p>
            </p:txBody>
          </p:sp>
        </mc:Fallback>
      </mc:AlternateContent>
      <p:sp>
        <p:nvSpPr>
          <p:cNvPr id="8" name="Oval 7"/>
          <p:cNvSpPr/>
          <p:nvPr/>
        </p:nvSpPr>
        <p:spPr>
          <a:xfrm rot="20022333">
            <a:off x="1125941" y="3815453"/>
            <a:ext cx="1213739" cy="479715"/>
          </a:xfrm>
          <a:prstGeom prst="ellipse">
            <a:avLst/>
          </a:prstGeom>
          <a:ln w="38100">
            <a:solidFill>
              <a:schemeClr val="accent1">
                <a:lumMod val="60000"/>
                <a:lumOff val="40000"/>
              </a:schemeClr>
            </a:solidFill>
          </a:ln>
        </p:spPr>
        <p:style>
          <a:lnRef idx="2">
            <a:schemeClr val="accent1"/>
          </a:lnRef>
          <a:fillRef idx="1">
            <a:schemeClr val="lt1"/>
          </a:fillRef>
          <a:effectRef idx="0">
            <a:schemeClr val="accent1"/>
          </a:effectRef>
          <a:fontRef idx="minor">
            <a:schemeClr val="dk1"/>
          </a:fontRef>
        </p:style>
        <p:txBody>
          <a:bodyPr rtlCol="0" anchor="ctr"/>
          <a:lstStyle/>
          <a:p>
            <a:pPr algn="ctr"/>
            <a:endParaRPr lang="en-US" sz="2100" i="1">
              <a:latin typeface="Cambria Math" panose="02040503050406030204" pitchFamily="18" charset="0"/>
            </a:endParaRPr>
          </a:p>
        </p:txBody>
      </p:sp>
      <p:sp>
        <p:nvSpPr>
          <p:cNvPr id="9" name="Oval 8"/>
          <p:cNvSpPr/>
          <p:nvPr/>
        </p:nvSpPr>
        <p:spPr>
          <a:xfrm rot="20022333">
            <a:off x="539934" y="3511032"/>
            <a:ext cx="2517912" cy="1088555"/>
          </a:xfrm>
          <a:prstGeom prst="ellipse">
            <a:avLst/>
          </a:prstGeom>
          <a:noFill/>
          <a:ln w="38100">
            <a:solidFill>
              <a:schemeClr val="accent1">
                <a:lumMod val="60000"/>
                <a:lumOff val="40000"/>
              </a:schemeClr>
            </a:solidFill>
          </a:ln>
        </p:spPr>
        <p:style>
          <a:lnRef idx="2">
            <a:schemeClr val="accent1"/>
          </a:lnRef>
          <a:fillRef idx="1">
            <a:schemeClr val="lt1"/>
          </a:fillRef>
          <a:effectRef idx="0">
            <a:schemeClr val="accent1"/>
          </a:effectRef>
          <a:fontRef idx="minor">
            <a:schemeClr val="dk1"/>
          </a:fontRef>
        </p:style>
        <p:txBody>
          <a:bodyPr rtlCol="0" anchor="ctr"/>
          <a:lstStyle/>
          <a:p>
            <a:pPr algn="ctr"/>
            <a:endParaRPr lang="en-US" sz="2100" i="1">
              <a:latin typeface="Cambria Math" panose="02040503050406030204" pitchFamily="18" charset="0"/>
            </a:endParaRPr>
          </a:p>
        </p:txBody>
      </p:sp>
      <p:sp>
        <p:nvSpPr>
          <p:cNvPr id="10" name="Oval 9"/>
          <p:cNvSpPr/>
          <p:nvPr/>
        </p:nvSpPr>
        <p:spPr>
          <a:xfrm rot="20022333">
            <a:off x="21250" y="3207971"/>
            <a:ext cx="4003154" cy="1832205"/>
          </a:xfrm>
          <a:prstGeom prst="ellipse">
            <a:avLst/>
          </a:prstGeom>
          <a:noFill/>
          <a:ln w="38100">
            <a:solidFill>
              <a:schemeClr val="accent1">
                <a:lumMod val="60000"/>
                <a:lumOff val="40000"/>
              </a:schemeClr>
            </a:solidFill>
          </a:ln>
        </p:spPr>
        <p:style>
          <a:lnRef idx="2">
            <a:schemeClr val="accent1"/>
          </a:lnRef>
          <a:fillRef idx="1">
            <a:schemeClr val="lt1"/>
          </a:fillRef>
          <a:effectRef idx="0">
            <a:schemeClr val="accent1"/>
          </a:effectRef>
          <a:fontRef idx="minor">
            <a:schemeClr val="dk1"/>
          </a:fontRef>
        </p:style>
        <p:txBody>
          <a:bodyPr rtlCol="0" anchor="ctr"/>
          <a:lstStyle/>
          <a:p>
            <a:pPr algn="ctr"/>
            <a:endParaRPr lang="en-US" sz="2100" i="1">
              <a:latin typeface="Cambria Math" panose="02040503050406030204" pitchFamily="18" charset="0"/>
            </a:endParaRPr>
          </a:p>
        </p:txBody>
      </p:sp>
      <mc:AlternateContent xmlns:mc="http://schemas.openxmlformats.org/markup-compatibility/2006" xmlns:a14="http://schemas.microsoft.com/office/drawing/2010/main">
        <mc:Choice Requires="a14">
          <p:sp>
            <p:nvSpPr>
              <p:cNvPr id="11" name="Rectangle 10"/>
              <p:cNvSpPr/>
              <p:nvPr/>
            </p:nvSpPr>
            <p:spPr>
              <a:xfrm>
                <a:off x="3633898" y="3744948"/>
                <a:ext cx="694421" cy="498278"/>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r>
                        <a:rPr lang="en-IN" sz="2700" b="0" i="1" smtClean="0">
                          <a:solidFill>
                            <a:schemeClr val="accent1"/>
                          </a:solidFill>
                          <a:latin typeface="Cambria Math" panose="02040503050406030204" pitchFamily="18" charset="0"/>
                        </a:rPr>
                        <m:t>𝑊</m:t>
                      </m:r>
                      <m:r>
                        <a:rPr lang="en-US" sz="2700" i="1" baseline="-25000">
                          <a:solidFill>
                            <a:schemeClr val="accent1"/>
                          </a:solidFill>
                          <a:latin typeface="Cambria Math" panose="02040503050406030204" pitchFamily="18" charset="0"/>
                        </a:rPr>
                        <m:t>0</m:t>
                      </m:r>
                    </m:oMath>
                  </m:oMathPara>
                </a14:m>
                <a:endParaRPr lang="en-US" sz="2700" baseline="-25000" dirty="0">
                  <a:solidFill>
                    <a:schemeClr val="accent1"/>
                  </a:solidFill>
                </a:endParaRPr>
              </a:p>
            </p:txBody>
          </p:sp>
        </mc:Choice>
        <mc:Fallback xmlns="">
          <p:sp>
            <p:nvSpPr>
              <p:cNvPr id="11" name="Rectangle 10"/>
              <p:cNvSpPr>
                <a:spLocks noRot="1" noChangeAspect="1" noMove="1" noResize="1" noEditPoints="1" noAdjustHandles="1" noChangeArrowheads="1" noChangeShapeType="1" noTextEdit="1"/>
              </p:cNvSpPr>
              <p:nvPr/>
            </p:nvSpPr>
            <p:spPr>
              <a:xfrm>
                <a:off x="3633898" y="3744948"/>
                <a:ext cx="694421" cy="498278"/>
              </a:xfrm>
              <a:prstGeom prst="rect">
                <a:avLst/>
              </a:prstGeom>
              <a:blipFill rotWithShape="0">
                <a:blip r:embed="rId3"/>
                <a:stretch>
                  <a:fillRect/>
                </a:stretch>
              </a:blipFill>
            </p:spPr>
            <p:txBody>
              <a:bodyPr/>
              <a:lstStyle/>
              <a:p>
                <a:r>
                  <a:rPr lang="en-IN">
                    <a:noFill/>
                  </a:rPr>
                  <a:t> </a:t>
                </a:r>
              </a:p>
            </p:txBody>
          </p:sp>
        </mc:Fallback>
      </mc:AlternateContent>
      <p:sp>
        <p:nvSpPr>
          <p:cNvPr id="12" name="Oval 11"/>
          <p:cNvSpPr/>
          <p:nvPr/>
        </p:nvSpPr>
        <p:spPr>
          <a:xfrm>
            <a:off x="3422319" y="3795463"/>
            <a:ext cx="202186" cy="202187"/>
          </a:xfrm>
          <a:prstGeom prst="ellipse">
            <a:avLst/>
          </a:prstGeom>
          <a:solidFill>
            <a:schemeClr val="accent1"/>
          </a:solidFill>
          <a:ln w="38100">
            <a:solidFill>
              <a:schemeClr val="accent1"/>
            </a:solidFill>
          </a:ln>
        </p:spPr>
        <p:style>
          <a:lnRef idx="2">
            <a:schemeClr val="accent1"/>
          </a:lnRef>
          <a:fillRef idx="1">
            <a:schemeClr val="lt1"/>
          </a:fillRef>
          <a:effectRef idx="0">
            <a:schemeClr val="accent1"/>
          </a:effectRef>
          <a:fontRef idx="minor">
            <a:schemeClr val="dk1"/>
          </a:fontRef>
        </p:style>
        <p:txBody>
          <a:bodyPr rtlCol="0" anchor="ctr"/>
          <a:lstStyle/>
          <a:p>
            <a:pPr algn="ctr"/>
            <a:endParaRPr lang="en-US" sz="2100" i="1">
              <a:latin typeface="Cambria Math" panose="02040503050406030204" pitchFamily="18" charset="0"/>
            </a:endParaRPr>
          </a:p>
        </p:txBody>
      </p:sp>
      <p:sp>
        <p:nvSpPr>
          <p:cNvPr id="13" name="Oval 12"/>
          <p:cNvSpPr/>
          <p:nvPr/>
        </p:nvSpPr>
        <p:spPr>
          <a:xfrm>
            <a:off x="1646217" y="3954215"/>
            <a:ext cx="202186" cy="202187"/>
          </a:xfrm>
          <a:prstGeom prst="ellipse">
            <a:avLst/>
          </a:prstGeom>
          <a:solidFill>
            <a:schemeClr val="accent1"/>
          </a:solidFill>
          <a:ln w="38100">
            <a:solidFill>
              <a:schemeClr val="accent1"/>
            </a:solidFill>
          </a:ln>
        </p:spPr>
        <p:style>
          <a:lnRef idx="2">
            <a:schemeClr val="accent1"/>
          </a:lnRef>
          <a:fillRef idx="1">
            <a:schemeClr val="lt1"/>
          </a:fillRef>
          <a:effectRef idx="0">
            <a:schemeClr val="accent1"/>
          </a:effectRef>
          <a:fontRef idx="minor">
            <a:schemeClr val="dk1"/>
          </a:fontRef>
        </p:style>
        <p:txBody>
          <a:bodyPr rtlCol="0" anchor="ctr"/>
          <a:lstStyle/>
          <a:p>
            <a:pPr algn="ctr"/>
            <a:endParaRPr lang="en-US" sz="2100" i="1">
              <a:latin typeface="Cambria Math" panose="02040503050406030204" pitchFamily="18" charset="0"/>
            </a:endParaRPr>
          </a:p>
        </p:txBody>
      </p:sp>
      <mc:AlternateContent xmlns:mc="http://schemas.openxmlformats.org/markup-compatibility/2006" xmlns:a14="http://schemas.microsoft.com/office/drawing/2010/main">
        <mc:Choice Requires="a14">
          <p:sp>
            <p:nvSpPr>
              <p:cNvPr id="14" name="Rectangle 13"/>
              <p:cNvSpPr/>
              <p:nvPr/>
            </p:nvSpPr>
            <p:spPr>
              <a:xfrm>
                <a:off x="91959" y="2920218"/>
                <a:ext cx="1110945" cy="498278"/>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r>
                        <a:rPr lang="en-IN" sz="2700" b="0" i="1" smtClean="0">
                          <a:solidFill>
                            <a:schemeClr val="accent1"/>
                          </a:solidFill>
                          <a:latin typeface="Cambria Math" panose="02040503050406030204" pitchFamily="18" charset="0"/>
                        </a:rPr>
                        <m:t>𝑊</m:t>
                      </m:r>
                      <m:r>
                        <a:rPr lang="en-US" sz="2700" i="1" baseline="-25000">
                          <a:solidFill>
                            <a:schemeClr val="accent1"/>
                          </a:solidFill>
                          <a:latin typeface="Cambria Math" panose="02040503050406030204" pitchFamily="18" charset="0"/>
                        </a:rPr>
                        <m:t>𝑓𝑖𝑛𝑎𝑙</m:t>
                      </m:r>
                    </m:oMath>
                  </m:oMathPara>
                </a14:m>
                <a:endParaRPr lang="en-US" sz="2700" baseline="-25000" dirty="0">
                  <a:solidFill>
                    <a:schemeClr val="accent1"/>
                  </a:solidFill>
                </a:endParaRPr>
              </a:p>
            </p:txBody>
          </p:sp>
        </mc:Choice>
        <mc:Fallback xmlns="">
          <p:sp>
            <p:nvSpPr>
              <p:cNvPr id="14" name="Rectangle 13"/>
              <p:cNvSpPr>
                <a:spLocks noRot="1" noChangeAspect="1" noMove="1" noResize="1" noEditPoints="1" noAdjustHandles="1" noChangeArrowheads="1" noChangeShapeType="1" noTextEdit="1"/>
              </p:cNvSpPr>
              <p:nvPr/>
            </p:nvSpPr>
            <p:spPr>
              <a:xfrm>
                <a:off x="91959" y="2920218"/>
                <a:ext cx="1110945" cy="498278"/>
              </a:xfrm>
              <a:prstGeom prst="rect">
                <a:avLst/>
              </a:prstGeom>
              <a:blipFill rotWithShape="0">
                <a:blip r:embed="rId4"/>
                <a:stretch>
                  <a:fillRect/>
                </a:stretch>
              </a:blipFill>
            </p:spPr>
            <p:txBody>
              <a:bodyPr/>
              <a:lstStyle/>
              <a:p>
                <a:r>
                  <a:rPr lang="en-IN">
                    <a:noFill/>
                  </a:rPr>
                  <a:t> </a:t>
                </a:r>
              </a:p>
            </p:txBody>
          </p:sp>
        </mc:Fallback>
      </mc:AlternateContent>
      <p:cxnSp>
        <p:nvCxnSpPr>
          <p:cNvPr id="16" name="Straight Arrow Connector 15"/>
          <p:cNvCxnSpPr>
            <a:endCxn id="13" idx="1"/>
          </p:cNvCxnSpPr>
          <p:nvPr/>
        </p:nvCxnSpPr>
        <p:spPr>
          <a:xfrm>
            <a:off x="818425" y="3492248"/>
            <a:ext cx="857401" cy="491577"/>
          </a:xfrm>
          <a:prstGeom prst="straightConnector1">
            <a:avLst/>
          </a:prstGeom>
          <a:ln w="38100">
            <a:solidFill>
              <a:schemeClr val="accent1"/>
            </a:solidFill>
            <a:headEnd type="none" w="med" len="med"/>
            <a:tailEnd type="arrow" w="med" len="med"/>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21" name="Rectangle 20"/>
              <p:cNvSpPr/>
              <p:nvPr/>
            </p:nvSpPr>
            <p:spPr>
              <a:xfrm>
                <a:off x="2680944" y="2307001"/>
                <a:ext cx="651973" cy="498278"/>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sSub>
                        <m:sSubPr>
                          <m:ctrlPr>
                            <a:rPr lang="en-US" sz="2700" i="1" smtClean="0">
                              <a:solidFill>
                                <a:schemeClr val="accent1"/>
                              </a:solidFill>
                              <a:latin typeface="Cambria Math" panose="02040503050406030204" pitchFamily="18" charset="0"/>
                            </a:rPr>
                          </m:ctrlPr>
                        </m:sSubPr>
                        <m:e>
                          <m:r>
                            <a:rPr lang="en-IN" sz="2700" b="0" i="1" smtClean="0">
                              <a:solidFill>
                                <a:schemeClr val="accent1"/>
                              </a:solidFill>
                              <a:latin typeface="Cambria Math" panose="02040503050406030204" pitchFamily="18" charset="0"/>
                            </a:rPr>
                            <m:t>𝑊</m:t>
                          </m:r>
                        </m:e>
                        <m:sub>
                          <m:r>
                            <a:rPr lang="en-US" sz="2700" i="1">
                              <a:solidFill>
                                <a:schemeClr val="accent1"/>
                              </a:solidFill>
                              <a:latin typeface="Cambria Math" panose="02040503050406030204" pitchFamily="18" charset="0"/>
                            </a:rPr>
                            <m:t>𝑡</m:t>
                          </m:r>
                        </m:sub>
                      </m:sSub>
                    </m:oMath>
                  </m:oMathPara>
                </a14:m>
                <a:endParaRPr lang="en-US" sz="2700" baseline="-25000" dirty="0">
                  <a:solidFill>
                    <a:schemeClr val="accent1"/>
                  </a:solidFill>
                </a:endParaRPr>
              </a:p>
            </p:txBody>
          </p:sp>
        </mc:Choice>
        <mc:Fallback xmlns="">
          <p:sp>
            <p:nvSpPr>
              <p:cNvPr id="21" name="Rectangle 20"/>
              <p:cNvSpPr>
                <a:spLocks noRot="1" noChangeAspect="1" noMove="1" noResize="1" noEditPoints="1" noAdjustHandles="1" noChangeArrowheads="1" noChangeShapeType="1" noTextEdit="1"/>
              </p:cNvSpPr>
              <p:nvPr/>
            </p:nvSpPr>
            <p:spPr>
              <a:xfrm>
                <a:off x="2680944" y="2307001"/>
                <a:ext cx="651973" cy="498278"/>
              </a:xfrm>
              <a:prstGeom prst="rect">
                <a:avLst/>
              </a:prstGeom>
              <a:blipFill rotWithShape="0">
                <a:blip r:embed="rId5"/>
                <a:stretch>
                  <a:fillRect/>
                </a:stretch>
              </a:blipFill>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22" name="Rectangle 21"/>
              <p:cNvSpPr/>
              <p:nvPr/>
            </p:nvSpPr>
            <p:spPr>
              <a:xfrm>
                <a:off x="1606675" y="2363149"/>
                <a:ext cx="982192" cy="498278"/>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sSub>
                        <m:sSubPr>
                          <m:ctrlPr>
                            <a:rPr lang="en-US" sz="2700" i="1" smtClean="0">
                              <a:solidFill>
                                <a:schemeClr val="accent1"/>
                              </a:solidFill>
                              <a:latin typeface="Cambria Math" panose="02040503050406030204" pitchFamily="18" charset="0"/>
                            </a:rPr>
                          </m:ctrlPr>
                        </m:sSubPr>
                        <m:e>
                          <m:r>
                            <a:rPr lang="en-IN" sz="2700" b="0" i="1" smtClean="0">
                              <a:solidFill>
                                <a:schemeClr val="accent1"/>
                              </a:solidFill>
                              <a:latin typeface="Cambria Math" panose="02040503050406030204" pitchFamily="18" charset="0"/>
                            </a:rPr>
                            <m:t>𝑊</m:t>
                          </m:r>
                        </m:e>
                        <m:sub>
                          <m:r>
                            <a:rPr lang="en-US" sz="2700" i="1">
                              <a:solidFill>
                                <a:schemeClr val="accent1"/>
                              </a:solidFill>
                              <a:latin typeface="Cambria Math" panose="02040503050406030204" pitchFamily="18" charset="0"/>
                            </a:rPr>
                            <m:t>𝑡</m:t>
                          </m:r>
                          <m:r>
                            <a:rPr lang="en-US" sz="2700" i="1">
                              <a:solidFill>
                                <a:schemeClr val="accent1"/>
                              </a:solidFill>
                              <a:latin typeface="Cambria Math" panose="02040503050406030204" pitchFamily="18" charset="0"/>
                            </a:rPr>
                            <m:t>+1</m:t>
                          </m:r>
                        </m:sub>
                      </m:sSub>
                    </m:oMath>
                  </m:oMathPara>
                </a14:m>
                <a:endParaRPr lang="en-US" sz="2700" baseline="-25000" dirty="0">
                  <a:solidFill>
                    <a:schemeClr val="accent1"/>
                  </a:solidFill>
                </a:endParaRPr>
              </a:p>
            </p:txBody>
          </p:sp>
        </mc:Choice>
        <mc:Fallback xmlns="">
          <p:sp>
            <p:nvSpPr>
              <p:cNvPr id="22" name="Rectangle 21"/>
              <p:cNvSpPr>
                <a:spLocks noRot="1" noChangeAspect="1" noMove="1" noResize="1" noEditPoints="1" noAdjustHandles="1" noChangeArrowheads="1" noChangeShapeType="1" noTextEdit="1"/>
              </p:cNvSpPr>
              <p:nvPr/>
            </p:nvSpPr>
            <p:spPr>
              <a:xfrm>
                <a:off x="1606675" y="2363149"/>
                <a:ext cx="982192" cy="498278"/>
              </a:xfrm>
              <a:prstGeom prst="rect">
                <a:avLst/>
              </a:prstGeom>
              <a:blipFill rotWithShape="0">
                <a:blip r:embed="rId6"/>
                <a:stretch>
                  <a:fillRect/>
                </a:stretch>
              </a:blipFill>
            </p:spPr>
            <p:txBody>
              <a:bodyPr/>
              <a:lstStyle/>
              <a:p>
                <a:r>
                  <a:rPr lang="en-IN">
                    <a:noFill/>
                  </a:rPr>
                  <a:t> </a:t>
                </a:r>
              </a:p>
            </p:txBody>
          </p:sp>
        </mc:Fallback>
      </mc:AlternateContent>
      <p:cxnSp>
        <p:nvCxnSpPr>
          <p:cNvPr id="26" name="Straight Arrow Connector 25"/>
          <p:cNvCxnSpPr>
            <a:stCxn id="22" idx="2"/>
            <a:endCxn id="20" idx="0"/>
          </p:cNvCxnSpPr>
          <p:nvPr/>
        </p:nvCxnSpPr>
        <p:spPr>
          <a:xfrm>
            <a:off x="2097771" y="2861427"/>
            <a:ext cx="723596" cy="745914"/>
          </a:xfrm>
          <a:prstGeom prst="straightConnector1">
            <a:avLst/>
          </a:prstGeom>
          <a:ln w="38100">
            <a:solidFill>
              <a:schemeClr val="accent1"/>
            </a:solidFill>
            <a:headEnd type="none" w="med" len="med"/>
            <a:tailEnd type="arrow" w="med" len="med"/>
          </a:ln>
        </p:spPr>
        <p:style>
          <a:lnRef idx="1">
            <a:schemeClr val="accent1"/>
          </a:lnRef>
          <a:fillRef idx="0">
            <a:schemeClr val="accent1"/>
          </a:fillRef>
          <a:effectRef idx="0">
            <a:schemeClr val="accent1"/>
          </a:effectRef>
          <a:fontRef idx="minor">
            <a:schemeClr val="tx1"/>
          </a:fontRef>
        </p:style>
      </p:cxnSp>
      <p:cxnSp>
        <p:nvCxnSpPr>
          <p:cNvPr id="29" name="Straight Arrow Connector 28"/>
          <p:cNvCxnSpPr>
            <a:stCxn id="21" idx="2"/>
            <a:endCxn id="19" idx="0"/>
          </p:cNvCxnSpPr>
          <p:nvPr/>
        </p:nvCxnSpPr>
        <p:spPr>
          <a:xfrm flipH="1">
            <a:off x="2936312" y="2805279"/>
            <a:ext cx="70619" cy="444578"/>
          </a:xfrm>
          <a:prstGeom prst="straightConnector1">
            <a:avLst/>
          </a:prstGeom>
          <a:ln w="38100">
            <a:solidFill>
              <a:schemeClr val="accent1"/>
            </a:solidFill>
            <a:headEnd type="none" w="med" len="med"/>
            <a:tailEnd type="arrow" w="med" len="med"/>
          </a:ln>
        </p:spPr>
        <p:style>
          <a:lnRef idx="1">
            <a:schemeClr val="accent1"/>
          </a:lnRef>
          <a:fillRef idx="0">
            <a:schemeClr val="accent1"/>
          </a:fillRef>
          <a:effectRef idx="0">
            <a:schemeClr val="accent1"/>
          </a:effectRef>
          <a:fontRef idx="minor">
            <a:schemeClr val="tx1"/>
          </a:fontRef>
        </p:style>
      </p:cxnSp>
      <p:sp>
        <p:nvSpPr>
          <p:cNvPr id="35" name="Left Brace 34"/>
          <p:cNvSpPr/>
          <p:nvPr/>
        </p:nvSpPr>
        <p:spPr>
          <a:xfrm rot="16200000">
            <a:off x="7301898" y="3165308"/>
            <a:ext cx="231628" cy="1569276"/>
          </a:xfrm>
          <a:prstGeom prst="leftBrace">
            <a:avLst/>
          </a:prstGeom>
          <a:ln w="57150">
            <a:solidFill>
              <a:schemeClr val="accent6"/>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sz="1350"/>
          </a:p>
        </p:txBody>
      </p:sp>
      <p:sp>
        <p:nvSpPr>
          <p:cNvPr id="36" name="TextBox 35"/>
          <p:cNvSpPr txBox="1"/>
          <p:nvPr/>
        </p:nvSpPr>
        <p:spPr>
          <a:xfrm>
            <a:off x="6633074" y="4107960"/>
            <a:ext cx="1955407" cy="369332"/>
          </a:xfrm>
          <a:prstGeom prst="rect">
            <a:avLst/>
          </a:prstGeom>
          <a:noFill/>
        </p:spPr>
        <p:txBody>
          <a:bodyPr wrap="none" rtlCol="0">
            <a:spAutoFit/>
          </a:bodyPr>
          <a:lstStyle/>
          <a:p>
            <a:r>
              <a:rPr lang="en-US" dirty="0"/>
              <a:t>minibatch gradient</a:t>
            </a:r>
          </a:p>
        </p:txBody>
      </p:sp>
      <p:sp>
        <p:nvSpPr>
          <p:cNvPr id="3" name="Freeform: Shape 2"/>
          <p:cNvSpPr/>
          <p:nvPr/>
        </p:nvSpPr>
        <p:spPr>
          <a:xfrm>
            <a:off x="1843939" y="3355197"/>
            <a:ext cx="1571436" cy="822052"/>
          </a:xfrm>
          <a:custGeom>
            <a:avLst/>
            <a:gdLst>
              <a:gd name="connsiteX0" fmla="*/ 2095248 w 2095248"/>
              <a:gd name="connsiteY0" fmla="*/ 799343 h 1374627"/>
              <a:gd name="connsiteX1" fmla="*/ 1338294 w 2095248"/>
              <a:gd name="connsiteY1" fmla="*/ 0 h 1374627"/>
              <a:gd name="connsiteX2" fmla="*/ 1368573 w 2095248"/>
              <a:gd name="connsiteY2" fmla="*/ 1223237 h 1374627"/>
              <a:gd name="connsiteX3" fmla="*/ 956790 w 2095248"/>
              <a:gd name="connsiteY3" fmla="*/ 1005234 h 1374627"/>
              <a:gd name="connsiteX4" fmla="*/ 248281 w 2095248"/>
              <a:gd name="connsiteY4" fmla="*/ 302781 h 1374627"/>
              <a:gd name="connsiteX5" fmla="*/ 690342 w 2095248"/>
              <a:gd name="connsiteY5" fmla="*/ 1374627 h 1374627"/>
              <a:gd name="connsiteX6" fmla="*/ 205892 w 2095248"/>
              <a:gd name="connsiteY6" fmla="*/ 787231 h 1374627"/>
              <a:gd name="connsiteX7" fmla="*/ 157447 w 2095248"/>
              <a:gd name="connsiteY7" fmla="*/ 1301960 h 1374627"/>
              <a:gd name="connsiteX8" fmla="*/ 0 w 2095248"/>
              <a:gd name="connsiteY8" fmla="*/ 1192959 h 1374627"/>
              <a:gd name="connsiteX0" fmla="*/ 2095248 w 2095248"/>
              <a:gd name="connsiteY0" fmla="*/ 593452 h 1168736"/>
              <a:gd name="connsiteX1" fmla="*/ 1459406 w 2095248"/>
              <a:gd name="connsiteY1" fmla="*/ 0 h 1168736"/>
              <a:gd name="connsiteX2" fmla="*/ 1368573 w 2095248"/>
              <a:gd name="connsiteY2" fmla="*/ 1017346 h 1168736"/>
              <a:gd name="connsiteX3" fmla="*/ 956790 w 2095248"/>
              <a:gd name="connsiteY3" fmla="*/ 799343 h 1168736"/>
              <a:gd name="connsiteX4" fmla="*/ 248281 w 2095248"/>
              <a:gd name="connsiteY4" fmla="*/ 96890 h 1168736"/>
              <a:gd name="connsiteX5" fmla="*/ 690342 w 2095248"/>
              <a:gd name="connsiteY5" fmla="*/ 1168736 h 1168736"/>
              <a:gd name="connsiteX6" fmla="*/ 205892 w 2095248"/>
              <a:gd name="connsiteY6" fmla="*/ 581340 h 1168736"/>
              <a:gd name="connsiteX7" fmla="*/ 157447 w 2095248"/>
              <a:gd name="connsiteY7" fmla="*/ 1096069 h 1168736"/>
              <a:gd name="connsiteX8" fmla="*/ 0 w 2095248"/>
              <a:gd name="connsiteY8" fmla="*/ 987068 h 1168736"/>
              <a:gd name="connsiteX0" fmla="*/ 2095248 w 2095248"/>
              <a:gd name="connsiteY0" fmla="*/ 593452 h 1168736"/>
              <a:gd name="connsiteX1" fmla="*/ 1459406 w 2095248"/>
              <a:gd name="connsiteY1" fmla="*/ 0 h 1168736"/>
              <a:gd name="connsiteX2" fmla="*/ 1308016 w 2095248"/>
              <a:gd name="connsiteY2" fmla="*/ 666119 h 1168736"/>
              <a:gd name="connsiteX3" fmla="*/ 956790 w 2095248"/>
              <a:gd name="connsiteY3" fmla="*/ 799343 h 1168736"/>
              <a:gd name="connsiteX4" fmla="*/ 248281 w 2095248"/>
              <a:gd name="connsiteY4" fmla="*/ 96890 h 1168736"/>
              <a:gd name="connsiteX5" fmla="*/ 690342 w 2095248"/>
              <a:gd name="connsiteY5" fmla="*/ 1168736 h 1168736"/>
              <a:gd name="connsiteX6" fmla="*/ 205892 w 2095248"/>
              <a:gd name="connsiteY6" fmla="*/ 581340 h 1168736"/>
              <a:gd name="connsiteX7" fmla="*/ 157447 w 2095248"/>
              <a:gd name="connsiteY7" fmla="*/ 1096069 h 1168736"/>
              <a:gd name="connsiteX8" fmla="*/ 0 w 2095248"/>
              <a:gd name="connsiteY8" fmla="*/ 987068 h 1168736"/>
              <a:gd name="connsiteX0" fmla="*/ 2095248 w 2095248"/>
              <a:gd name="connsiteY0" fmla="*/ 593452 h 1168736"/>
              <a:gd name="connsiteX1" fmla="*/ 1459406 w 2095248"/>
              <a:gd name="connsiteY1" fmla="*/ 0 h 1168736"/>
              <a:gd name="connsiteX2" fmla="*/ 1308016 w 2095248"/>
              <a:gd name="connsiteY2" fmla="*/ 666119 h 1168736"/>
              <a:gd name="connsiteX3" fmla="*/ 956790 w 2095248"/>
              <a:gd name="connsiteY3" fmla="*/ 799343 h 1168736"/>
              <a:gd name="connsiteX4" fmla="*/ 599508 w 2095248"/>
              <a:gd name="connsiteY4" fmla="*/ 224058 h 1168736"/>
              <a:gd name="connsiteX5" fmla="*/ 690342 w 2095248"/>
              <a:gd name="connsiteY5" fmla="*/ 1168736 h 1168736"/>
              <a:gd name="connsiteX6" fmla="*/ 205892 w 2095248"/>
              <a:gd name="connsiteY6" fmla="*/ 581340 h 1168736"/>
              <a:gd name="connsiteX7" fmla="*/ 157447 w 2095248"/>
              <a:gd name="connsiteY7" fmla="*/ 1096069 h 1168736"/>
              <a:gd name="connsiteX8" fmla="*/ 0 w 2095248"/>
              <a:gd name="connsiteY8" fmla="*/ 987068 h 1168736"/>
              <a:gd name="connsiteX0" fmla="*/ 2095248 w 2095248"/>
              <a:gd name="connsiteY0" fmla="*/ 593452 h 1096069"/>
              <a:gd name="connsiteX1" fmla="*/ 1459406 w 2095248"/>
              <a:gd name="connsiteY1" fmla="*/ 0 h 1096069"/>
              <a:gd name="connsiteX2" fmla="*/ 1308016 w 2095248"/>
              <a:gd name="connsiteY2" fmla="*/ 666119 h 1096069"/>
              <a:gd name="connsiteX3" fmla="*/ 956790 w 2095248"/>
              <a:gd name="connsiteY3" fmla="*/ 799343 h 1096069"/>
              <a:gd name="connsiteX4" fmla="*/ 599508 w 2095248"/>
              <a:gd name="connsiteY4" fmla="*/ 224058 h 1096069"/>
              <a:gd name="connsiteX5" fmla="*/ 575285 w 2095248"/>
              <a:gd name="connsiteY5" fmla="*/ 926511 h 1096069"/>
              <a:gd name="connsiteX6" fmla="*/ 205892 w 2095248"/>
              <a:gd name="connsiteY6" fmla="*/ 581340 h 1096069"/>
              <a:gd name="connsiteX7" fmla="*/ 157447 w 2095248"/>
              <a:gd name="connsiteY7" fmla="*/ 1096069 h 1096069"/>
              <a:gd name="connsiteX8" fmla="*/ 0 w 2095248"/>
              <a:gd name="connsiteY8" fmla="*/ 987068 h 1096069"/>
              <a:gd name="connsiteX0" fmla="*/ 2095248 w 2095248"/>
              <a:gd name="connsiteY0" fmla="*/ 593452 h 1096069"/>
              <a:gd name="connsiteX1" fmla="*/ 1459406 w 2095248"/>
              <a:gd name="connsiteY1" fmla="*/ 0 h 1096069"/>
              <a:gd name="connsiteX2" fmla="*/ 1308016 w 2095248"/>
              <a:gd name="connsiteY2" fmla="*/ 666119 h 1096069"/>
              <a:gd name="connsiteX3" fmla="*/ 956790 w 2095248"/>
              <a:gd name="connsiteY3" fmla="*/ 799343 h 1096069"/>
              <a:gd name="connsiteX4" fmla="*/ 599508 w 2095248"/>
              <a:gd name="connsiteY4" fmla="*/ 224058 h 1096069"/>
              <a:gd name="connsiteX5" fmla="*/ 575285 w 2095248"/>
              <a:gd name="connsiteY5" fmla="*/ 926511 h 1096069"/>
              <a:gd name="connsiteX6" fmla="*/ 290671 w 2095248"/>
              <a:gd name="connsiteY6" fmla="*/ 672175 h 1096069"/>
              <a:gd name="connsiteX7" fmla="*/ 157447 w 2095248"/>
              <a:gd name="connsiteY7" fmla="*/ 1096069 h 1096069"/>
              <a:gd name="connsiteX8" fmla="*/ 0 w 2095248"/>
              <a:gd name="connsiteY8" fmla="*/ 987068 h 1096069"/>
              <a:gd name="connsiteX0" fmla="*/ 2095248 w 2095248"/>
              <a:gd name="connsiteY0" fmla="*/ 593452 h 1096069"/>
              <a:gd name="connsiteX1" fmla="*/ 1459406 w 2095248"/>
              <a:gd name="connsiteY1" fmla="*/ 0 h 1096069"/>
              <a:gd name="connsiteX2" fmla="*/ 1326183 w 2095248"/>
              <a:gd name="connsiteY2" fmla="*/ 454172 h 1096069"/>
              <a:gd name="connsiteX3" fmla="*/ 956790 w 2095248"/>
              <a:gd name="connsiteY3" fmla="*/ 799343 h 1096069"/>
              <a:gd name="connsiteX4" fmla="*/ 599508 w 2095248"/>
              <a:gd name="connsiteY4" fmla="*/ 224058 h 1096069"/>
              <a:gd name="connsiteX5" fmla="*/ 575285 w 2095248"/>
              <a:gd name="connsiteY5" fmla="*/ 926511 h 1096069"/>
              <a:gd name="connsiteX6" fmla="*/ 290671 w 2095248"/>
              <a:gd name="connsiteY6" fmla="*/ 672175 h 1096069"/>
              <a:gd name="connsiteX7" fmla="*/ 157447 w 2095248"/>
              <a:gd name="connsiteY7" fmla="*/ 1096069 h 1096069"/>
              <a:gd name="connsiteX8" fmla="*/ 0 w 2095248"/>
              <a:gd name="connsiteY8" fmla="*/ 987068 h 1096069"/>
              <a:gd name="connsiteX0" fmla="*/ 2095248 w 2095248"/>
              <a:gd name="connsiteY0" fmla="*/ 593452 h 1096069"/>
              <a:gd name="connsiteX1" fmla="*/ 1459406 w 2095248"/>
              <a:gd name="connsiteY1" fmla="*/ 0 h 1096069"/>
              <a:gd name="connsiteX2" fmla="*/ 1326183 w 2095248"/>
              <a:gd name="connsiteY2" fmla="*/ 454172 h 1096069"/>
              <a:gd name="connsiteX3" fmla="*/ 920456 w 2095248"/>
              <a:gd name="connsiteY3" fmla="*/ 599507 h 1096069"/>
              <a:gd name="connsiteX4" fmla="*/ 599508 w 2095248"/>
              <a:gd name="connsiteY4" fmla="*/ 224058 h 1096069"/>
              <a:gd name="connsiteX5" fmla="*/ 575285 w 2095248"/>
              <a:gd name="connsiteY5" fmla="*/ 926511 h 1096069"/>
              <a:gd name="connsiteX6" fmla="*/ 290671 w 2095248"/>
              <a:gd name="connsiteY6" fmla="*/ 672175 h 1096069"/>
              <a:gd name="connsiteX7" fmla="*/ 157447 w 2095248"/>
              <a:gd name="connsiteY7" fmla="*/ 1096069 h 1096069"/>
              <a:gd name="connsiteX8" fmla="*/ 0 w 2095248"/>
              <a:gd name="connsiteY8" fmla="*/ 987068 h 109606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2095248" h="1096069">
                <a:moveTo>
                  <a:pt x="2095248" y="593452"/>
                </a:moveTo>
                <a:lnTo>
                  <a:pt x="1459406" y="0"/>
                </a:lnTo>
                <a:lnTo>
                  <a:pt x="1326183" y="454172"/>
                </a:lnTo>
                <a:lnTo>
                  <a:pt x="920456" y="599507"/>
                </a:lnTo>
                <a:lnTo>
                  <a:pt x="599508" y="224058"/>
                </a:lnTo>
                <a:lnTo>
                  <a:pt x="575285" y="926511"/>
                </a:lnTo>
                <a:lnTo>
                  <a:pt x="290671" y="672175"/>
                </a:lnTo>
                <a:lnTo>
                  <a:pt x="157447" y="1096069"/>
                </a:lnTo>
                <a:lnTo>
                  <a:pt x="0" y="987068"/>
                </a:lnTo>
              </a:path>
            </a:pathLst>
          </a:custGeom>
          <a:noFill/>
          <a:ln w="76200">
            <a:solidFill>
              <a:schemeClr val="accent6"/>
            </a:solidFill>
          </a:ln>
        </p:spPr>
        <p:style>
          <a:lnRef idx="2">
            <a:schemeClr val="accent1"/>
          </a:lnRef>
          <a:fillRef idx="1">
            <a:schemeClr val="lt1"/>
          </a:fillRef>
          <a:effectRef idx="0">
            <a:schemeClr val="accent1"/>
          </a:effectRef>
          <a:fontRef idx="minor">
            <a:schemeClr val="dk1"/>
          </a:fontRef>
        </p:style>
        <p:txBody>
          <a:bodyPr rtlCol="0" anchor="ctr"/>
          <a:lstStyle/>
          <a:p>
            <a:pPr algn="ctr"/>
            <a:endParaRPr lang="en-US" sz="1350"/>
          </a:p>
        </p:txBody>
      </p:sp>
      <mc:AlternateContent xmlns:mc="http://schemas.openxmlformats.org/markup-compatibility/2006" xmlns:a14="http://schemas.microsoft.com/office/drawing/2010/main">
        <mc:Choice Requires="a14">
          <p:sp>
            <p:nvSpPr>
              <p:cNvPr id="31" name="TextBox 30"/>
              <p:cNvSpPr txBox="1"/>
              <p:nvPr/>
            </p:nvSpPr>
            <p:spPr>
              <a:xfrm>
                <a:off x="1732811" y="5427213"/>
                <a:ext cx="7295598" cy="821187"/>
              </a:xfrm>
              <a:prstGeom prst="rect">
                <a:avLst/>
              </a:prstGeom>
            </p:spPr>
            <p:style>
              <a:lnRef idx="2">
                <a:schemeClr val="accent2">
                  <a:shade val="50000"/>
                </a:schemeClr>
              </a:lnRef>
              <a:fillRef idx="1">
                <a:schemeClr val="accent2"/>
              </a:fillRef>
              <a:effectRef idx="0">
                <a:schemeClr val="accent2"/>
              </a:effectRef>
              <a:fontRef idx="minor">
                <a:schemeClr val="lt1"/>
              </a:fontRef>
            </p:style>
            <p:txBody>
              <a:bodyPr wrap="square" rtlCol="0">
                <a:spAutoFit/>
              </a:bodyPr>
              <a:lstStyle/>
              <a:p>
                <a:pPr marL="257175" indent="-257175">
                  <a:lnSpc>
                    <a:spcPct val="130000"/>
                  </a:lnSpc>
                  <a:buFont typeface="Arial" panose="020B0604020202020204" pitchFamily="34" charset="0"/>
                  <a:buChar char="•"/>
                </a:pPr>
                <a14:m>
                  <m:oMath xmlns:m="http://schemas.openxmlformats.org/officeDocument/2006/math">
                    <m:acc>
                      <m:accPr>
                        <m:chr m:val="̃"/>
                        <m:ctrlPr>
                          <a:rPr lang="en-US" i="1">
                            <a:latin typeface="Cambria Math" panose="02040503050406030204" pitchFamily="18" charset="0"/>
                          </a:rPr>
                        </m:ctrlPr>
                      </m:accPr>
                      <m:e>
                        <m:r>
                          <a:rPr lang="en-US">
                            <a:latin typeface="Cambria Math" panose="02040503050406030204" pitchFamily="18" charset="0"/>
                          </a:rPr>
                          <m:t>𝛻</m:t>
                        </m:r>
                      </m:e>
                    </m:acc>
                    <m:r>
                      <a:rPr lang="en-US" i="1">
                        <a:latin typeface="Cambria Math" panose="02040503050406030204" pitchFamily="18" charset="0"/>
                      </a:rPr>
                      <m:t>𝐿</m:t>
                    </m:r>
                    <m:d>
                      <m:dPr>
                        <m:ctrlPr>
                          <a:rPr lang="en-US" i="1">
                            <a:latin typeface="Cambria Math" panose="02040503050406030204" pitchFamily="18" charset="0"/>
                          </a:rPr>
                        </m:ctrlPr>
                      </m:dPr>
                      <m:e>
                        <m:r>
                          <a:rPr lang="en-US" i="1">
                            <a:latin typeface="Cambria Math" panose="02040503050406030204" pitchFamily="18" charset="0"/>
                          </a:rPr>
                          <m:t>𝜃</m:t>
                        </m:r>
                      </m:e>
                    </m:d>
                    <m:r>
                      <a:rPr lang="en-US" i="1">
                        <a:latin typeface="Cambria Math" panose="02040503050406030204" pitchFamily="18" charset="0"/>
                      </a:rPr>
                      <m:t> </m:t>
                    </m:r>
                  </m:oMath>
                </a14:m>
                <a:r>
                  <a:rPr lang="en-US" dirty="0"/>
                  <a:t>is average gradient over random subset of data of size </a:t>
                </a:r>
                <a:r>
                  <a:rPr lang="en-US" i="1" dirty="0"/>
                  <a:t>B</a:t>
                </a:r>
              </a:p>
              <a:p>
                <a:pPr marL="257175" indent="-257175">
                  <a:lnSpc>
                    <a:spcPct val="130000"/>
                  </a:lnSpc>
                  <a:buFont typeface="Arial" panose="020B0604020202020204" pitchFamily="34" charset="0"/>
                  <a:buChar char="•"/>
                </a:pPr>
                <a:r>
                  <a:rPr lang="en-US" dirty="0"/>
                  <a:t>Per-iteration comp. cost = O(</a:t>
                </a:r>
                <a:r>
                  <a:rPr lang="en-US" i="1" dirty="0"/>
                  <a:t>B</a:t>
                </a:r>
                <a:r>
                  <a:rPr lang="en-US" dirty="0"/>
                  <a:t>)</a:t>
                </a:r>
              </a:p>
            </p:txBody>
          </p:sp>
        </mc:Choice>
        <mc:Fallback xmlns="">
          <p:sp>
            <p:nvSpPr>
              <p:cNvPr id="31" name="TextBox 30"/>
              <p:cNvSpPr txBox="1">
                <a:spLocks noRot="1" noChangeAspect="1" noMove="1" noResize="1" noEditPoints="1" noAdjustHandles="1" noChangeArrowheads="1" noChangeShapeType="1" noTextEdit="1"/>
              </p:cNvSpPr>
              <p:nvPr/>
            </p:nvSpPr>
            <p:spPr>
              <a:xfrm>
                <a:off x="1732811" y="5427213"/>
                <a:ext cx="7295598" cy="821187"/>
              </a:xfrm>
              <a:prstGeom prst="rect">
                <a:avLst/>
              </a:prstGeom>
              <a:blipFill rotWithShape="0">
                <a:blip r:embed="rId7"/>
                <a:stretch>
                  <a:fillRect l="-333" b="-5755"/>
                </a:stretch>
              </a:blipFill>
            </p:spPr>
            <p:txBody>
              <a:bodyPr/>
              <a:lstStyle/>
              <a:p>
                <a:r>
                  <a:rPr lang="en-IN">
                    <a:noFill/>
                  </a:rPr>
                  <a:t> </a:t>
                </a:r>
              </a:p>
            </p:txBody>
          </p:sp>
        </mc:Fallback>
      </mc:AlternateContent>
      <p:sp>
        <p:nvSpPr>
          <p:cNvPr id="19" name="Oval 18"/>
          <p:cNvSpPr/>
          <p:nvPr/>
        </p:nvSpPr>
        <p:spPr>
          <a:xfrm>
            <a:off x="2835219" y="3249857"/>
            <a:ext cx="202186" cy="202187"/>
          </a:xfrm>
          <a:prstGeom prst="ellipse">
            <a:avLst/>
          </a:prstGeom>
          <a:solidFill>
            <a:schemeClr val="accent1"/>
          </a:solidFill>
          <a:ln w="38100">
            <a:solidFill>
              <a:schemeClr val="accent1"/>
            </a:solidFill>
          </a:ln>
        </p:spPr>
        <p:style>
          <a:lnRef idx="2">
            <a:schemeClr val="accent1"/>
          </a:lnRef>
          <a:fillRef idx="1">
            <a:schemeClr val="lt1"/>
          </a:fillRef>
          <a:effectRef idx="0">
            <a:schemeClr val="accent1"/>
          </a:effectRef>
          <a:fontRef idx="minor">
            <a:schemeClr val="dk1"/>
          </a:fontRef>
        </p:style>
        <p:txBody>
          <a:bodyPr rtlCol="0" anchor="ctr"/>
          <a:lstStyle/>
          <a:p>
            <a:pPr algn="ctr"/>
            <a:endParaRPr lang="en-US" sz="2100" i="1">
              <a:latin typeface="Cambria Math" panose="02040503050406030204" pitchFamily="18" charset="0"/>
            </a:endParaRPr>
          </a:p>
        </p:txBody>
      </p:sp>
      <p:sp>
        <p:nvSpPr>
          <p:cNvPr id="20" name="Oval 19"/>
          <p:cNvSpPr/>
          <p:nvPr/>
        </p:nvSpPr>
        <p:spPr>
          <a:xfrm>
            <a:off x="2720274" y="3607341"/>
            <a:ext cx="202186" cy="202187"/>
          </a:xfrm>
          <a:prstGeom prst="ellipse">
            <a:avLst/>
          </a:prstGeom>
          <a:solidFill>
            <a:schemeClr val="accent1"/>
          </a:solidFill>
          <a:ln w="38100">
            <a:solidFill>
              <a:schemeClr val="accent1"/>
            </a:solidFill>
          </a:ln>
        </p:spPr>
        <p:style>
          <a:lnRef idx="2">
            <a:schemeClr val="accent1"/>
          </a:lnRef>
          <a:fillRef idx="1">
            <a:schemeClr val="lt1"/>
          </a:fillRef>
          <a:effectRef idx="0">
            <a:schemeClr val="accent1"/>
          </a:effectRef>
          <a:fontRef idx="minor">
            <a:schemeClr val="dk1"/>
          </a:fontRef>
        </p:style>
        <p:txBody>
          <a:bodyPr rtlCol="0" anchor="ctr"/>
          <a:lstStyle/>
          <a:p>
            <a:pPr algn="ctr"/>
            <a:endParaRPr lang="en-US" sz="2100" i="1">
              <a:latin typeface="Cambria Math" panose="02040503050406030204" pitchFamily="18" charset="0"/>
            </a:endParaRPr>
          </a:p>
        </p:txBody>
      </p:sp>
      <p:sp>
        <p:nvSpPr>
          <p:cNvPr id="23" name="Date Placeholder 3"/>
          <p:cNvSpPr>
            <a:spLocks noGrp="1"/>
          </p:cNvSpPr>
          <p:nvPr>
            <p:ph type="dt" sz="half" idx="10"/>
          </p:nvPr>
        </p:nvSpPr>
        <p:spPr>
          <a:xfrm>
            <a:off x="0" y="6629400"/>
            <a:ext cx="3048000" cy="228600"/>
          </a:xfrm>
        </p:spPr>
        <p:txBody>
          <a:bodyPr/>
          <a:lstStyle/>
          <a:p>
            <a:fld id="{E7067A60-51C7-4095-BFA9-1CE32DCBA06F}" type="datetime1">
              <a:rPr lang="en-US" smtClean="0"/>
              <a:pPr/>
              <a:t>2/9/2026</a:t>
            </a:fld>
            <a:endParaRPr lang="en-US" dirty="0"/>
          </a:p>
        </p:txBody>
      </p:sp>
      <p:sp>
        <p:nvSpPr>
          <p:cNvPr id="24" name="Footer Placeholder 4"/>
          <p:cNvSpPr>
            <a:spLocks noGrp="1"/>
          </p:cNvSpPr>
          <p:nvPr>
            <p:ph type="ftr" sz="quarter" idx="11"/>
          </p:nvPr>
        </p:nvSpPr>
        <p:spPr>
          <a:xfrm>
            <a:off x="2476501" y="6629400"/>
            <a:ext cx="4136571" cy="228600"/>
          </a:xfrm>
        </p:spPr>
        <p:txBody>
          <a:bodyPr/>
          <a:lstStyle/>
          <a:p>
            <a:pPr algn="l"/>
            <a:r>
              <a:rPr lang="en-US" dirty="0"/>
              <a:t>Dr. Sibarama Panigrahi, Dept. of CSE, NIT Rourkela</a:t>
            </a:r>
          </a:p>
        </p:txBody>
      </p:sp>
      <p:sp>
        <p:nvSpPr>
          <p:cNvPr id="25" name="Slide Number Placeholder 5"/>
          <p:cNvSpPr>
            <a:spLocks noGrp="1"/>
          </p:cNvSpPr>
          <p:nvPr>
            <p:ph type="sldNum" sz="quarter" idx="12"/>
          </p:nvPr>
        </p:nvSpPr>
        <p:spPr>
          <a:xfrm>
            <a:off x="6096000" y="6629400"/>
            <a:ext cx="3048000" cy="228600"/>
          </a:xfrm>
        </p:spPr>
        <p:txBody>
          <a:bodyPr/>
          <a:lstStyle/>
          <a:p>
            <a:fld id="{A03BBF96-A7A5-4867-9A4A-2F26A3CC4EC3}" type="slidenum">
              <a:rPr lang="en-US" smtClean="0"/>
              <a:pPr/>
              <a:t>58</a:t>
            </a:fld>
            <a:endParaRPr lang="en-US" dirty="0"/>
          </a:p>
        </p:txBody>
      </p:sp>
      <p:sp>
        <p:nvSpPr>
          <p:cNvPr id="27" name="TextBox 26"/>
          <p:cNvSpPr txBox="1"/>
          <p:nvPr/>
        </p:nvSpPr>
        <p:spPr>
          <a:xfrm>
            <a:off x="0" y="0"/>
            <a:ext cx="4572000" cy="369332"/>
          </a:xfrm>
          <a:prstGeom prst="rect">
            <a:avLst/>
          </a:prstGeom>
          <a:noFill/>
        </p:spPr>
        <p:txBody>
          <a:bodyPr wrap="square" rtlCol="0">
            <a:spAutoFit/>
          </a:bodyPr>
          <a:lstStyle/>
          <a:p>
            <a:pPr algn="r"/>
            <a:r>
              <a:rPr lang="en-US" b="1" dirty="0">
                <a:solidFill>
                  <a:schemeClr val="bg1"/>
                </a:solidFill>
              </a:rPr>
              <a:t>Introduction to Neural Network</a:t>
            </a:r>
          </a:p>
        </p:txBody>
      </p:sp>
      <p:sp>
        <p:nvSpPr>
          <p:cNvPr id="28" name="Rectangle 27"/>
          <p:cNvSpPr/>
          <p:nvPr/>
        </p:nvSpPr>
        <p:spPr>
          <a:xfrm>
            <a:off x="-333430" y="1009748"/>
            <a:ext cx="9477429" cy="1015663"/>
          </a:xfrm>
          <a:prstGeom prst="rect">
            <a:avLst/>
          </a:prstGeom>
        </p:spPr>
        <p:txBody>
          <a:bodyPr wrap="square">
            <a:spAutoFit/>
          </a:bodyPr>
          <a:lstStyle/>
          <a:p>
            <a:pPr lvl="1" algn="just"/>
            <a:r>
              <a:rPr lang="en-US" sz="2000" dirty="0">
                <a:latin typeface="Times New Roman" panose="02020603050405020304" pitchFamily="18" charset="0"/>
                <a:cs typeface="Times New Roman" panose="02020603050405020304" pitchFamily="18" charset="0"/>
              </a:rPr>
              <a:t>You take </a:t>
            </a:r>
            <a:r>
              <a:rPr lang="en-US" sz="2000" dirty="0" smtClean="0">
                <a:latin typeface="Times New Roman" panose="02020603050405020304" pitchFamily="18" charset="0"/>
                <a:cs typeface="Times New Roman" panose="02020603050405020304" pitchFamily="18" charset="0"/>
              </a:rPr>
              <a:t>a subset of Input Vectors (more than one), </a:t>
            </a:r>
            <a:r>
              <a:rPr lang="en-US" sz="2000" dirty="0">
                <a:latin typeface="Times New Roman" panose="02020603050405020304" pitchFamily="18" charset="0"/>
                <a:cs typeface="Times New Roman" panose="02020603050405020304" pitchFamily="18" charset="0"/>
              </a:rPr>
              <a:t>Feed Forward it </a:t>
            </a:r>
            <a:r>
              <a:rPr lang="en-US" sz="2000" dirty="0" smtClean="0">
                <a:latin typeface="Times New Roman" panose="02020603050405020304" pitchFamily="18" charset="0"/>
                <a:cs typeface="Times New Roman" panose="02020603050405020304" pitchFamily="18" charset="0"/>
              </a:rPr>
              <a:t>one by one, compute the error and get the mean error, then </a:t>
            </a:r>
            <a:r>
              <a:rPr lang="en-US" sz="2000" dirty="0">
                <a:latin typeface="Times New Roman" panose="02020603050405020304" pitchFamily="18" charset="0"/>
                <a:cs typeface="Times New Roman" panose="02020603050405020304" pitchFamily="18" charset="0"/>
              </a:rPr>
              <a:t>update the weights by back-propagating the gradient </a:t>
            </a:r>
            <a:r>
              <a:rPr lang="en-US" sz="2000" dirty="0" smtClean="0">
                <a:latin typeface="Times New Roman" panose="02020603050405020304" pitchFamily="18" charset="0"/>
                <a:cs typeface="Times New Roman" panose="02020603050405020304" pitchFamily="18" charset="0"/>
              </a:rPr>
              <a:t>of errors</a:t>
            </a:r>
            <a:r>
              <a:rPr lang="en-US" sz="2000" dirty="0">
                <a:latin typeface="Times New Roman" panose="02020603050405020304" pitchFamily="18" charset="0"/>
                <a:cs typeface="Times New Roman" panose="02020603050405020304" pitchFamily="18" charset="0"/>
              </a:rPr>
              <a:t>.</a:t>
            </a:r>
          </a:p>
        </p:txBody>
      </p:sp>
      <p:sp>
        <p:nvSpPr>
          <p:cNvPr id="30" name="TextBox 29"/>
          <p:cNvSpPr txBox="1"/>
          <p:nvPr/>
        </p:nvSpPr>
        <p:spPr>
          <a:xfrm flipH="1">
            <a:off x="6096000" y="6600824"/>
            <a:ext cx="3124200" cy="307777"/>
          </a:xfrm>
          <a:prstGeom prst="rect">
            <a:avLst/>
          </a:prstGeom>
          <a:noFill/>
        </p:spPr>
        <p:txBody>
          <a:bodyPr wrap="square" rtlCol="0">
            <a:spAutoFit/>
          </a:bodyPr>
          <a:lstStyle/>
          <a:p>
            <a:r>
              <a:rPr lang="en-US" sz="1400" dirty="0" smtClean="0">
                <a:latin typeface="Times New Roman" panose="02020603050405020304" pitchFamily="18" charset="0"/>
                <a:cs typeface="Times New Roman" panose="02020603050405020304" pitchFamily="18" charset="0"/>
              </a:rPr>
              <a:t>What actually doing in Training ANN</a:t>
            </a:r>
            <a:endParaRPr lang="en-IN" sz="14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16112436"/>
      </p:ext>
    </p:extLst>
  </p:cSld>
  <p:clrMapOvr>
    <a:masterClrMapping/>
  </p:clrMapOvr>
  <p:timing>
    <p:tnLst>
      <p:par>
        <p:cTn id="1" dur="indefinite" restart="never" nodeType="tmRoot"/>
      </p:par>
    </p:tnLst>
  </p:timing>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cap="small" dirty="0"/>
              <a:t>Stochastic Gradient with Momentum</a:t>
            </a:r>
          </a:p>
        </p:txBody>
      </p:sp>
      <p:sp>
        <p:nvSpPr>
          <p:cNvPr id="3" name="Content Placeholder 2"/>
          <p:cNvSpPr>
            <a:spLocks noGrp="1"/>
          </p:cNvSpPr>
          <p:nvPr>
            <p:ph idx="1"/>
          </p:nvPr>
        </p:nvSpPr>
        <p:spPr/>
        <p:txBody>
          <a:bodyPr>
            <a:normAutofit/>
          </a:bodyPr>
          <a:lstStyle/>
          <a:p>
            <a:pPr algn="just"/>
            <a:r>
              <a:rPr lang="en-US" sz="2800" dirty="0"/>
              <a:t>The </a:t>
            </a:r>
            <a:r>
              <a:rPr lang="en-US" sz="2800" b="1" dirty="0">
                <a:solidFill>
                  <a:srgbClr val="2312FA"/>
                </a:solidFill>
              </a:rPr>
              <a:t>rate of convergence </a:t>
            </a:r>
            <a:r>
              <a:rPr lang="en-US" sz="2800" dirty="0"/>
              <a:t>of </a:t>
            </a:r>
            <a:r>
              <a:rPr lang="en-US" sz="2800" b="1" dirty="0"/>
              <a:t>Stochastic Gradient </a:t>
            </a:r>
            <a:r>
              <a:rPr lang="en-US" sz="2800" dirty="0"/>
              <a:t>can be </a:t>
            </a:r>
            <a:r>
              <a:rPr lang="en-US" sz="2800" dirty="0">
                <a:solidFill>
                  <a:srgbClr val="2312FA"/>
                </a:solidFill>
              </a:rPr>
              <a:t>improved</a:t>
            </a:r>
            <a:r>
              <a:rPr lang="en-US" sz="2800" dirty="0"/>
              <a:t> by </a:t>
            </a:r>
            <a:r>
              <a:rPr lang="en-US" sz="2800" i="1" dirty="0"/>
              <a:t>adding a momentum </a:t>
            </a:r>
            <a:r>
              <a:rPr lang="en-US" sz="2800" dirty="0"/>
              <a:t>to the Gradient expression.</a:t>
            </a:r>
          </a:p>
          <a:p>
            <a:r>
              <a:rPr lang="en-US" sz="2800" dirty="0"/>
              <a:t>This can be </a:t>
            </a:r>
            <a:r>
              <a:rPr lang="en-US" sz="2800" b="1" i="1" dirty="0">
                <a:solidFill>
                  <a:srgbClr val="C00000"/>
                </a:solidFill>
              </a:rPr>
              <a:t>achieved by adding a fraction of previous weight change to the current weight </a:t>
            </a:r>
            <a:r>
              <a:rPr lang="en-US" sz="2800" b="1" i="1" dirty="0" smtClean="0">
                <a:solidFill>
                  <a:srgbClr val="C00000"/>
                </a:solidFill>
              </a:rPr>
              <a:t>change</a:t>
            </a:r>
            <a:r>
              <a:rPr lang="en-US" sz="2800" dirty="0" smtClean="0"/>
              <a:t>. </a:t>
            </a:r>
            <a:endParaRPr lang="en-US" sz="2800" dirty="0"/>
          </a:p>
          <a:p>
            <a:endParaRPr lang="en-US" dirty="0"/>
          </a:p>
          <a:p>
            <a:endParaRPr lang="en-US" dirty="0"/>
          </a:p>
          <a:p>
            <a:endParaRPr lang="en-US" dirty="0"/>
          </a:p>
          <a:p>
            <a:pPr>
              <a:buNone/>
            </a:pPr>
            <a:endParaRPr lang="en-US" dirty="0"/>
          </a:p>
          <a:p>
            <a:endParaRPr lang="en-US" dirty="0"/>
          </a:p>
        </p:txBody>
      </p:sp>
      <p:sp>
        <p:nvSpPr>
          <p:cNvPr id="4" name="Date Placeholder 3"/>
          <p:cNvSpPr>
            <a:spLocks noGrp="1"/>
          </p:cNvSpPr>
          <p:nvPr>
            <p:ph type="dt" sz="half" idx="10"/>
          </p:nvPr>
        </p:nvSpPr>
        <p:spPr/>
        <p:txBody>
          <a:bodyPr/>
          <a:lstStyle/>
          <a:p>
            <a:fld id="{E7067A60-51C7-4095-BFA9-1CE32DCBA06F}" type="datetime1">
              <a:rPr lang="en-US" smtClean="0"/>
              <a:pPr/>
              <a:t>2/9/2026</a:t>
            </a:fld>
            <a:endParaRPr lang="en-US" dirty="0"/>
          </a:p>
        </p:txBody>
      </p:sp>
      <p:sp>
        <p:nvSpPr>
          <p:cNvPr id="6" name="Slide Number Placeholder 5"/>
          <p:cNvSpPr>
            <a:spLocks noGrp="1"/>
          </p:cNvSpPr>
          <p:nvPr>
            <p:ph type="sldNum" sz="quarter" idx="12"/>
          </p:nvPr>
        </p:nvSpPr>
        <p:spPr/>
        <p:txBody>
          <a:bodyPr/>
          <a:lstStyle/>
          <a:p>
            <a:fld id="{A03BBF96-A7A5-4867-9A4A-2F26A3CC4EC3}" type="slidenum">
              <a:rPr lang="en-US" smtClean="0"/>
              <a:pPr/>
              <a:t>59</a:t>
            </a:fld>
            <a:endParaRPr lang="en-US" dirty="0"/>
          </a:p>
        </p:txBody>
      </p:sp>
      <p:sp>
        <p:nvSpPr>
          <p:cNvPr id="7" name="TextBox 6"/>
          <p:cNvSpPr txBox="1"/>
          <p:nvPr/>
        </p:nvSpPr>
        <p:spPr>
          <a:xfrm>
            <a:off x="0" y="0"/>
            <a:ext cx="4572000" cy="369332"/>
          </a:xfrm>
          <a:prstGeom prst="rect">
            <a:avLst/>
          </a:prstGeom>
          <a:noFill/>
        </p:spPr>
        <p:txBody>
          <a:bodyPr wrap="square" rtlCol="0">
            <a:spAutoFit/>
          </a:bodyPr>
          <a:lstStyle/>
          <a:p>
            <a:pPr algn="r"/>
            <a:r>
              <a:rPr lang="en-US" b="1" dirty="0">
                <a:solidFill>
                  <a:schemeClr val="bg1"/>
                </a:solidFill>
              </a:rPr>
              <a:t>Introduction to Deep Neural Network</a:t>
            </a:r>
          </a:p>
        </p:txBody>
      </p:sp>
      <p:sp>
        <p:nvSpPr>
          <p:cNvPr id="8" name="Rectangle 2"/>
          <p:cNvSpPr>
            <a:spLocks noChangeArrowheads="1"/>
          </p:cNvSpPr>
          <p:nvPr/>
        </p:nvSpPr>
        <p:spPr bwMode="auto">
          <a:xfrm>
            <a:off x="0" y="0"/>
            <a:ext cx="91440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sp>
        <p:nvSpPr>
          <p:cNvPr id="9" name="Rectangle 2"/>
          <p:cNvSpPr>
            <a:spLocks noChangeArrowheads="1"/>
          </p:cNvSpPr>
          <p:nvPr/>
        </p:nvSpPr>
        <p:spPr bwMode="auto">
          <a:xfrm>
            <a:off x="0" y="0"/>
            <a:ext cx="91440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sp>
        <p:nvSpPr>
          <p:cNvPr id="11" name="Footer Placeholder 4">
            <a:extLst>
              <a:ext uri="{FF2B5EF4-FFF2-40B4-BE49-F238E27FC236}">
                <a16:creationId xmlns:a16="http://schemas.microsoft.com/office/drawing/2014/main" id="{CBB301ED-B8A4-4772-B559-A9E41E7472BD}"/>
              </a:ext>
            </a:extLst>
          </p:cNvPr>
          <p:cNvSpPr>
            <a:spLocks noGrp="1"/>
          </p:cNvSpPr>
          <p:nvPr>
            <p:ph type="ftr" sz="quarter" idx="11"/>
          </p:nvPr>
        </p:nvSpPr>
        <p:spPr>
          <a:xfrm>
            <a:off x="2286000" y="6629400"/>
            <a:ext cx="4136571" cy="228600"/>
          </a:xfrm>
        </p:spPr>
        <p:txBody>
          <a:bodyPr/>
          <a:lstStyle/>
          <a:p>
            <a:r>
              <a:rPr lang="en-US" dirty="0"/>
              <a:t>Dr. Sibarama Panigrahi, Dept. of CSE, NIT Rourkela</a:t>
            </a:r>
          </a:p>
        </p:txBody>
      </p:sp>
      <p:sp>
        <p:nvSpPr>
          <p:cNvPr id="24578" name="Rectangle 2"/>
          <p:cNvSpPr>
            <a:spLocks noChangeArrowheads="1"/>
          </p:cNvSpPr>
          <p:nvPr/>
        </p:nvSpPr>
        <p:spPr bwMode="auto">
          <a:xfrm>
            <a:off x="0" y="0"/>
            <a:ext cx="9144000" cy="45720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en-US"/>
          </a:p>
        </p:txBody>
      </p:sp>
      <p:sp>
        <p:nvSpPr>
          <p:cNvPr id="24579" name="Rectangle 3"/>
          <p:cNvSpPr>
            <a:spLocks noChangeArrowheads="1"/>
          </p:cNvSpPr>
          <p:nvPr/>
        </p:nvSpPr>
        <p:spPr bwMode="auto">
          <a:xfrm>
            <a:off x="0" y="1076325"/>
            <a:ext cx="9144000" cy="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pPr marL="0" marR="0" lvl="0" indent="0" algn="l" defTabSz="914400" rtl="0" eaLnBrk="1" fontAlgn="base" latinLnBrk="0" hangingPunct="1">
              <a:lnSpc>
                <a:spcPct val="100000"/>
              </a:lnSpc>
              <a:spcBef>
                <a:spcPct val="0"/>
              </a:spcBef>
              <a:spcAft>
                <a:spcPct val="0"/>
              </a:spcAft>
              <a:buClrTx/>
              <a:buSzTx/>
              <a:buFontTx/>
              <a:buNone/>
              <a:tabLst/>
            </a:pPr>
            <a:endParaRPr kumimoji="0" lang="en-US" sz="1800" b="0" i="0" u="none" strike="noStrike" cap="none" normalizeH="0" baseline="0">
              <a:ln>
                <a:noFill/>
              </a:ln>
              <a:solidFill>
                <a:schemeClr val="tx1"/>
              </a:solidFill>
              <a:effectLst/>
              <a:latin typeface="Arial" pitchFamily="34" charset="0"/>
              <a:cs typeface="Arial" pitchFamily="34" charset="0"/>
            </a:endParaRPr>
          </a:p>
        </p:txBody>
      </p:sp>
      <p:sp>
        <p:nvSpPr>
          <p:cNvPr id="24581" name="Rectangle 5"/>
          <p:cNvSpPr>
            <a:spLocks noChangeArrowheads="1"/>
          </p:cNvSpPr>
          <p:nvPr/>
        </p:nvSpPr>
        <p:spPr bwMode="auto">
          <a:xfrm>
            <a:off x="0" y="0"/>
            <a:ext cx="9144000" cy="45720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en-US"/>
          </a:p>
        </p:txBody>
      </p:sp>
      <p:pic>
        <p:nvPicPr>
          <p:cNvPr id="24580" name="Picture 4"/>
          <p:cNvPicPr>
            <a:picLocks noChangeAspect="1" noChangeArrowheads="1"/>
          </p:cNvPicPr>
          <p:nvPr/>
        </p:nvPicPr>
        <p:blipFill>
          <a:blip r:embed="rId2">
            <a:clrChange>
              <a:clrFrom>
                <a:srgbClr val="FFFFFF"/>
              </a:clrFrom>
              <a:clrTo>
                <a:srgbClr val="FFFFFF">
                  <a:alpha val="0"/>
                </a:srgbClr>
              </a:clrTo>
            </a:clrChange>
          </a:blip>
          <a:srcRect/>
          <a:stretch>
            <a:fillRect/>
          </a:stretch>
        </p:blipFill>
        <p:spPr bwMode="auto">
          <a:xfrm>
            <a:off x="1137472" y="3962400"/>
            <a:ext cx="6433625" cy="1066800"/>
          </a:xfrm>
          <a:prstGeom prst="rect">
            <a:avLst/>
          </a:prstGeom>
          <a:noFill/>
        </p:spPr>
      </p:pic>
      <p:sp>
        <p:nvSpPr>
          <p:cNvPr id="24582" name="Rectangle 6"/>
          <p:cNvSpPr>
            <a:spLocks noChangeArrowheads="1"/>
          </p:cNvSpPr>
          <p:nvPr/>
        </p:nvSpPr>
        <p:spPr bwMode="auto">
          <a:xfrm>
            <a:off x="0" y="1076325"/>
            <a:ext cx="9144000" cy="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pPr marL="0" marR="0" lvl="0" indent="0" algn="l" defTabSz="914400" rtl="0" eaLnBrk="1" fontAlgn="base" latinLnBrk="0" hangingPunct="1">
              <a:lnSpc>
                <a:spcPct val="100000"/>
              </a:lnSpc>
              <a:spcBef>
                <a:spcPct val="0"/>
              </a:spcBef>
              <a:spcAft>
                <a:spcPct val="0"/>
              </a:spcAft>
              <a:buClrTx/>
              <a:buSzTx/>
              <a:buFontTx/>
              <a:buNone/>
              <a:tabLst/>
            </a:pPr>
            <a:endParaRPr kumimoji="0" lang="en-US" sz="1800" b="0" i="0" u="none" strike="noStrike" cap="none" normalizeH="0" baseline="0">
              <a:ln>
                <a:noFill/>
              </a:ln>
              <a:solidFill>
                <a:schemeClr val="tx1"/>
              </a:solidFill>
              <a:effectLst/>
              <a:latin typeface="Arial" pitchFamily="34" charset="0"/>
              <a:cs typeface="Arial" pitchFamily="34" charset="0"/>
            </a:endParaRPr>
          </a:p>
        </p:txBody>
      </p:sp>
      <p:pic>
        <p:nvPicPr>
          <p:cNvPr id="5" name="Picture 4"/>
          <p:cNvPicPr>
            <a:picLocks noChangeAspect="1"/>
          </p:cNvPicPr>
          <p:nvPr/>
        </p:nvPicPr>
        <p:blipFill>
          <a:blip r:embed="rId3"/>
          <a:stretch>
            <a:fillRect/>
          </a:stretch>
        </p:blipFill>
        <p:spPr>
          <a:xfrm>
            <a:off x="4168544" y="4366757"/>
            <a:ext cx="332016" cy="276680"/>
          </a:xfrm>
          <a:prstGeom prst="rect">
            <a:avLst/>
          </a:prstGeom>
        </p:spPr>
      </p:pic>
      <p:sp>
        <p:nvSpPr>
          <p:cNvPr id="10" name="Rectangular Callout 9"/>
          <p:cNvSpPr/>
          <p:nvPr/>
        </p:nvSpPr>
        <p:spPr>
          <a:xfrm>
            <a:off x="2286000" y="5486400"/>
            <a:ext cx="1447800" cy="685800"/>
          </a:xfrm>
          <a:prstGeom prst="wedgeRectCallout">
            <a:avLst>
              <a:gd name="adj1" fmla="val 110417"/>
              <a:gd name="adj2" fmla="val -172917"/>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N" b="1" dirty="0" smtClean="0">
                <a:solidFill>
                  <a:schemeClr val="tx1"/>
                </a:solidFill>
              </a:rPr>
              <a:t>Momentum</a:t>
            </a:r>
            <a:endParaRPr lang="en-IN" b="1" dirty="0">
              <a:solidFill>
                <a:schemeClr val="tx1"/>
              </a:solidFill>
            </a:endParaRPr>
          </a:p>
        </p:txBody>
      </p:sp>
      <p:sp>
        <p:nvSpPr>
          <p:cNvPr id="18" name="Rectangular Callout 17"/>
          <p:cNvSpPr/>
          <p:nvPr/>
        </p:nvSpPr>
        <p:spPr>
          <a:xfrm>
            <a:off x="4500560" y="5529262"/>
            <a:ext cx="1447800" cy="685800"/>
          </a:xfrm>
          <a:prstGeom prst="wedgeRectCallout">
            <a:avLst>
              <a:gd name="adj1" fmla="val 110417"/>
              <a:gd name="adj2" fmla="val -172917"/>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N" b="1" dirty="0" smtClean="0">
                <a:solidFill>
                  <a:schemeClr val="tx1"/>
                </a:solidFill>
              </a:rPr>
              <a:t>Learning </a:t>
            </a:r>
          </a:p>
          <a:p>
            <a:pPr algn="ctr"/>
            <a:r>
              <a:rPr lang="en-IN" b="1" dirty="0" smtClean="0">
                <a:solidFill>
                  <a:schemeClr val="tx1"/>
                </a:solidFill>
              </a:rPr>
              <a:t>Rate</a:t>
            </a:r>
            <a:endParaRPr lang="en-IN" b="1" dirty="0">
              <a:solidFill>
                <a:schemeClr val="tx1"/>
              </a:solidFill>
            </a:endParaRPr>
          </a:p>
        </p:txBody>
      </p:sp>
      <p:pic>
        <p:nvPicPr>
          <p:cNvPr id="19" name="Picture 4"/>
          <p:cNvPicPr>
            <a:picLocks noChangeAspect="1" noChangeArrowheads="1"/>
          </p:cNvPicPr>
          <p:nvPr/>
        </p:nvPicPr>
        <p:blipFill>
          <a:blip r:embed="rId4"/>
          <a:srcRect/>
          <a:stretch>
            <a:fillRect/>
          </a:stretch>
        </p:blipFill>
        <p:spPr bwMode="auto">
          <a:xfrm>
            <a:off x="1132709" y="3342819"/>
            <a:ext cx="3827975" cy="848181"/>
          </a:xfrm>
          <a:prstGeom prst="rect">
            <a:avLst/>
          </a:prstGeom>
          <a:noFill/>
          <a:ln w="9525">
            <a:noFill/>
            <a:miter lim="800000"/>
            <a:headEnd/>
            <a:tailEnd/>
          </a:ln>
          <a:effectLst/>
        </p:spPr>
      </p:pic>
      <p:sp>
        <p:nvSpPr>
          <p:cNvPr id="20" name="TextBox 19"/>
          <p:cNvSpPr txBox="1"/>
          <p:nvPr/>
        </p:nvSpPr>
        <p:spPr>
          <a:xfrm flipH="1">
            <a:off x="6324599" y="6600824"/>
            <a:ext cx="3048000" cy="307777"/>
          </a:xfrm>
          <a:prstGeom prst="rect">
            <a:avLst/>
          </a:prstGeom>
          <a:noFill/>
        </p:spPr>
        <p:txBody>
          <a:bodyPr wrap="square" rtlCol="0">
            <a:spAutoFit/>
          </a:bodyPr>
          <a:lstStyle/>
          <a:p>
            <a:r>
              <a:rPr lang="en-US" sz="1400" dirty="0" err="1" smtClean="0">
                <a:latin typeface="Times New Roman" panose="02020603050405020304" pitchFamily="18" charset="0"/>
                <a:cs typeface="Times New Roman" panose="02020603050405020304" pitchFamily="18" charset="0"/>
              </a:rPr>
              <a:t>Nastrove</a:t>
            </a:r>
            <a:r>
              <a:rPr lang="en-US" sz="1400" dirty="0" smtClean="0">
                <a:latin typeface="Times New Roman" panose="02020603050405020304" pitchFamily="18" charset="0"/>
                <a:cs typeface="Times New Roman" panose="02020603050405020304" pitchFamily="18" charset="0"/>
              </a:rPr>
              <a:t> Accelerated Gradient</a:t>
            </a:r>
            <a:endParaRPr lang="en-IN" sz="14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69608143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nodeType="clickEffect">
                                  <p:stCondLst>
                                    <p:cond delay="0"/>
                                  </p:stCondLst>
                                  <p:childTnLst>
                                    <p:set>
                                      <p:cBhvr>
                                        <p:cTn id="6" dur="1" fill="hold">
                                          <p:stCondLst>
                                            <p:cond delay="0"/>
                                          </p:stCondLst>
                                        </p:cTn>
                                        <p:tgtEl>
                                          <p:spTgt spid="24580"/>
                                        </p:tgtEl>
                                        <p:attrNameLst>
                                          <p:attrName>style.visibility</p:attrName>
                                        </p:attrNameLst>
                                      </p:cBhvr>
                                      <p:to>
                                        <p:strVal val="visible"/>
                                      </p:to>
                                    </p:set>
                                    <p:animEffect transition="in" filter="wipe(left)">
                                      <p:cBhvr>
                                        <p:cTn id="7" dur="500"/>
                                        <p:tgtEl>
                                          <p:spTgt spid="24580"/>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1" fill="hold" grpId="0" nodeType="clickEffect">
                                  <p:stCondLst>
                                    <p:cond delay="0"/>
                                  </p:stCondLst>
                                  <p:childTnLst>
                                    <p:set>
                                      <p:cBhvr>
                                        <p:cTn id="11" dur="1" fill="hold">
                                          <p:stCondLst>
                                            <p:cond delay="0"/>
                                          </p:stCondLst>
                                        </p:cTn>
                                        <p:tgtEl>
                                          <p:spTgt spid="10"/>
                                        </p:tgtEl>
                                        <p:attrNameLst>
                                          <p:attrName>style.visibility</p:attrName>
                                        </p:attrNameLst>
                                      </p:cBhvr>
                                      <p:to>
                                        <p:strVal val="visible"/>
                                      </p:to>
                                    </p:set>
                                    <p:animEffect transition="in" filter="wipe(up)">
                                      <p:cBhvr>
                                        <p:cTn id="12" dur="500"/>
                                        <p:tgtEl>
                                          <p:spTgt spid="10"/>
                                        </p:tgtEl>
                                      </p:cBhvr>
                                    </p:animEffect>
                                  </p:childTnLst>
                                </p:cTn>
                              </p:par>
                              <p:par>
                                <p:cTn id="13" presetID="22" presetClass="entr" presetSubtype="1" fill="hold" grpId="0" nodeType="withEffect">
                                  <p:stCondLst>
                                    <p:cond delay="0"/>
                                  </p:stCondLst>
                                  <p:childTnLst>
                                    <p:set>
                                      <p:cBhvr>
                                        <p:cTn id="14" dur="1" fill="hold">
                                          <p:stCondLst>
                                            <p:cond delay="0"/>
                                          </p:stCondLst>
                                        </p:cTn>
                                        <p:tgtEl>
                                          <p:spTgt spid="18"/>
                                        </p:tgtEl>
                                        <p:attrNameLst>
                                          <p:attrName>style.visibility</p:attrName>
                                        </p:attrNameLst>
                                      </p:cBhvr>
                                      <p:to>
                                        <p:strVal val="visible"/>
                                      </p:to>
                                    </p:set>
                                    <p:animEffect transition="in" filter="wipe(up)">
                                      <p:cBhvr>
                                        <p:cTn id="15" dur="500"/>
                                        <p:tgtEl>
                                          <p:spTgt spid="1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 grpId="0" animBg="1"/>
      <p:bldP spid="18" grpId="0" animBg="1"/>
    </p:bldLst>
  </p:timing>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dirty="0" err="1" smtClean="0"/>
              <a:t>Nestrov</a:t>
            </a:r>
            <a:r>
              <a:rPr lang="en-IN" dirty="0" smtClean="0"/>
              <a:t> Accelerated Gradient (NAG)</a:t>
            </a:r>
            <a:endParaRPr lang="en-IN" dirty="0"/>
          </a:p>
        </p:txBody>
      </p:sp>
      <p:sp>
        <p:nvSpPr>
          <p:cNvPr id="3" name="Content Placeholder 2"/>
          <p:cNvSpPr>
            <a:spLocks noGrp="1"/>
          </p:cNvSpPr>
          <p:nvPr>
            <p:ph idx="1"/>
          </p:nvPr>
        </p:nvSpPr>
        <p:spPr/>
        <p:txBody>
          <a:bodyPr/>
          <a:lstStyle/>
          <a:p>
            <a:r>
              <a:rPr lang="en-IN" dirty="0" smtClean="0"/>
              <a:t>SGD + Momentum</a:t>
            </a:r>
            <a:endParaRPr lang="en-IN" dirty="0"/>
          </a:p>
        </p:txBody>
      </p:sp>
      <p:sp>
        <p:nvSpPr>
          <p:cNvPr id="4" name="Date Placeholder 3"/>
          <p:cNvSpPr>
            <a:spLocks noGrp="1"/>
          </p:cNvSpPr>
          <p:nvPr>
            <p:ph type="dt" sz="half" idx="10"/>
          </p:nvPr>
        </p:nvSpPr>
        <p:spPr/>
        <p:txBody>
          <a:bodyPr/>
          <a:lstStyle/>
          <a:p>
            <a:fld id="{E7067A60-51C7-4095-BFA9-1CE32DCBA06F}" type="datetime1">
              <a:rPr lang="en-US" smtClean="0"/>
              <a:pPr/>
              <a:t>2/9/2026</a:t>
            </a:fld>
            <a:endParaRPr lang="en-US" dirty="0"/>
          </a:p>
        </p:txBody>
      </p:sp>
      <p:sp>
        <p:nvSpPr>
          <p:cNvPr id="5" name="Footer Placeholder 4"/>
          <p:cNvSpPr>
            <a:spLocks noGrp="1"/>
          </p:cNvSpPr>
          <p:nvPr>
            <p:ph type="ftr" sz="quarter" idx="11"/>
          </p:nvPr>
        </p:nvSpPr>
        <p:spPr/>
        <p:txBody>
          <a:bodyPr/>
          <a:lstStyle/>
          <a:p>
            <a:pPr algn="l"/>
            <a:r>
              <a:rPr lang="en-US" dirty="0"/>
              <a:t>Dr. Sibarama Panigrahi, Dept. of CSE, NIT Rourkela</a:t>
            </a:r>
          </a:p>
        </p:txBody>
      </p:sp>
      <p:sp>
        <p:nvSpPr>
          <p:cNvPr id="6" name="Slide Number Placeholder 5"/>
          <p:cNvSpPr>
            <a:spLocks noGrp="1"/>
          </p:cNvSpPr>
          <p:nvPr>
            <p:ph type="sldNum" sz="quarter" idx="12"/>
          </p:nvPr>
        </p:nvSpPr>
        <p:spPr/>
        <p:txBody>
          <a:bodyPr/>
          <a:lstStyle/>
          <a:p>
            <a:fld id="{A03BBF96-A7A5-4867-9A4A-2F26A3CC4EC3}" type="slidenum">
              <a:rPr lang="en-US" smtClean="0"/>
              <a:pPr/>
              <a:t>60</a:t>
            </a:fld>
            <a:endParaRPr lang="en-US" dirty="0"/>
          </a:p>
        </p:txBody>
      </p:sp>
      <p:sp>
        <p:nvSpPr>
          <p:cNvPr id="7" name="TextBox 6"/>
          <p:cNvSpPr txBox="1"/>
          <p:nvPr/>
        </p:nvSpPr>
        <p:spPr>
          <a:xfrm>
            <a:off x="0" y="0"/>
            <a:ext cx="4572000" cy="369332"/>
          </a:xfrm>
          <a:prstGeom prst="rect">
            <a:avLst/>
          </a:prstGeom>
          <a:noFill/>
        </p:spPr>
        <p:txBody>
          <a:bodyPr wrap="square" rtlCol="0">
            <a:spAutoFit/>
          </a:bodyPr>
          <a:lstStyle/>
          <a:p>
            <a:pPr algn="r"/>
            <a:r>
              <a:rPr lang="en-US" b="1" dirty="0">
                <a:solidFill>
                  <a:schemeClr val="bg1"/>
                </a:solidFill>
              </a:rPr>
              <a:t>Introduction to Deep Neural Network</a:t>
            </a:r>
          </a:p>
        </p:txBody>
      </p:sp>
      <p:pic>
        <p:nvPicPr>
          <p:cNvPr id="8" name="Picture 4"/>
          <p:cNvPicPr>
            <a:picLocks noChangeAspect="1" noChangeArrowheads="1"/>
          </p:cNvPicPr>
          <p:nvPr/>
        </p:nvPicPr>
        <p:blipFill>
          <a:blip r:embed="rId2">
            <a:clrChange>
              <a:clrFrom>
                <a:srgbClr val="FFFFFF"/>
              </a:clrFrom>
              <a:clrTo>
                <a:srgbClr val="FFFFFF">
                  <a:alpha val="0"/>
                </a:srgbClr>
              </a:clrTo>
            </a:clrChange>
          </a:blip>
          <a:srcRect/>
          <a:stretch>
            <a:fillRect/>
          </a:stretch>
        </p:blipFill>
        <p:spPr bwMode="auto">
          <a:xfrm>
            <a:off x="1137472" y="1600200"/>
            <a:ext cx="6433625" cy="1066800"/>
          </a:xfrm>
          <a:prstGeom prst="rect">
            <a:avLst/>
          </a:prstGeom>
          <a:noFill/>
        </p:spPr>
      </p:pic>
      <p:pic>
        <p:nvPicPr>
          <p:cNvPr id="9" name="Picture 8"/>
          <p:cNvPicPr>
            <a:picLocks noChangeAspect="1"/>
          </p:cNvPicPr>
          <p:nvPr/>
        </p:nvPicPr>
        <p:blipFill>
          <a:blip r:embed="rId3"/>
          <a:stretch>
            <a:fillRect/>
          </a:stretch>
        </p:blipFill>
        <p:spPr>
          <a:xfrm>
            <a:off x="4168544" y="2004557"/>
            <a:ext cx="332016" cy="276680"/>
          </a:xfrm>
          <a:prstGeom prst="rect">
            <a:avLst/>
          </a:prstGeom>
        </p:spPr>
      </p:pic>
      <p:cxnSp>
        <p:nvCxnSpPr>
          <p:cNvPr id="11" name="Straight Arrow Connector 10"/>
          <p:cNvCxnSpPr/>
          <p:nvPr/>
        </p:nvCxnSpPr>
        <p:spPr>
          <a:xfrm>
            <a:off x="1137472" y="4572000"/>
            <a:ext cx="2062928" cy="0"/>
          </a:xfrm>
          <a:prstGeom prst="straightConnector1">
            <a:avLst/>
          </a:prstGeom>
          <a:ln w="254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12" name="Straight Arrow Connector 11"/>
          <p:cNvCxnSpPr/>
          <p:nvPr/>
        </p:nvCxnSpPr>
        <p:spPr>
          <a:xfrm flipV="1">
            <a:off x="1137472" y="3048000"/>
            <a:ext cx="1910528" cy="1504950"/>
          </a:xfrm>
          <a:prstGeom prst="straightConnector1">
            <a:avLst/>
          </a:prstGeom>
          <a:ln w="254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14" name="Straight Arrow Connector 13"/>
          <p:cNvCxnSpPr/>
          <p:nvPr/>
        </p:nvCxnSpPr>
        <p:spPr>
          <a:xfrm flipV="1">
            <a:off x="1137472" y="3505200"/>
            <a:ext cx="2824928" cy="1047750"/>
          </a:xfrm>
          <a:prstGeom prst="straightConnector1">
            <a:avLst/>
          </a:prstGeom>
          <a:ln w="25400">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16" name="TextBox 15"/>
          <p:cNvSpPr txBox="1"/>
          <p:nvPr/>
        </p:nvSpPr>
        <p:spPr>
          <a:xfrm>
            <a:off x="1445036" y="4539733"/>
            <a:ext cx="1447800" cy="369332"/>
          </a:xfrm>
          <a:prstGeom prst="rect">
            <a:avLst/>
          </a:prstGeom>
          <a:noFill/>
        </p:spPr>
        <p:txBody>
          <a:bodyPr wrap="square" rtlCol="0">
            <a:spAutoFit/>
          </a:bodyPr>
          <a:lstStyle/>
          <a:p>
            <a:r>
              <a:rPr lang="en-IN" b="1" dirty="0" smtClean="0">
                <a:latin typeface="Times New Roman" panose="02020603050405020304" pitchFamily="18" charset="0"/>
                <a:cs typeface="Times New Roman" panose="02020603050405020304" pitchFamily="18" charset="0"/>
              </a:rPr>
              <a:t>Gradient</a:t>
            </a:r>
            <a:endParaRPr lang="en-IN" b="1" dirty="0">
              <a:latin typeface="Times New Roman" panose="02020603050405020304" pitchFamily="18" charset="0"/>
              <a:cs typeface="Times New Roman" panose="02020603050405020304" pitchFamily="18" charset="0"/>
            </a:endParaRPr>
          </a:p>
        </p:txBody>
      </p:sp>
      <p:sp>
        <p:nvSpPr>
          <p:cNvPr id="17" name="TextBox 16"/>
          <p:cNvSpPr txBox="1"/>
          <p:nvPr/>
        </p:nvSpPr>
        <p:spPr>
          <a:xfrm rot="19299551">
            <a:off x="1333500" y="3382446"/>
            <a:ext cx="1447800" cy="369332"/>
          </a:xfrm>
          <a:prstGeom prst="rect">
            <a:avLst/>
          </a:prstGeom>
          <a:noFill/>
        </p:spPr>
        <p:txBody>
          <a:bodyPr wrap="square" rtlCol="0">
            <a:spAutoFit/>
          </a:bodyPr>
          <a:lstStyle/>
          <a:p>
            <a:r>
              <a:rPr lang="en-IN" b="1" dirty="0" smtClean="0">
                <a:latin typeface="Times New Roman" panose="02020603050405020304" pitchFamily="18" charset="0"/>
                <a:cs typeface="Times New Roman" panose="02020603050405020304" pitchFamily="18" charset="0"/>
              </a:rPr>
              <a:t>Momentum</a:t>
            </a:r>
            <a:endParaRPr lang="en-IN" b="1" dirty="0">
              <a:latin typeface="Times New Roman" panose="02020603050405020304" pitchFamily="18" charset="0"/>
              <a:cs typeface="Times New Roman" panose="02020603050405020304" pitchFamily="18" charset="0"/>
            </a:endParaRPr>
          </a:p>
        </p:txBody>
      </p:sp>
      <p:sp>
        <p:nvSpPr>
          <p:cNvPr id="18" name="TextBox 17"/>
          <p:cNvSpPr txBox="1"/>
          <p:nvPr/>
        </p:nvSpPr>
        <p:spPr>
          <a:xfrm rot="20179587">
            <a:off x="1748517" y="3423232"/>
            <a:ext cx="2532661" cy="369332"/>
          </a:xfrm>
          <a:prstGeom prst="rect">
            <a:avLst/>
          </a:prstGeom>
          <a:noFill/>
        </p:spPr>
        <p:txBody>
          <a:bodyPr wrap="square" rtlCol="0">
            <a:spAutoFit/>
          </a:bodyPr>
          <a:lstStyle/>
          <a:p>
            <a:r>
              <a:rPr lang="en-IN" b="1" dirty="0" err="1" smtClean="0">
                <a:latin typeface="Times New Roman" panose="02020603050405020304" pitchFamily="18" charset="0"/>
                <a:cs typeface="Times New Roman" panose="02020603050405020304" pitchFamily="18" charset="0"/>
              </a:rPr>
              <a:t>Gradient+Momentum</a:t>
            </a:r>
            <a:endParaRPr lang="en-IN" b="1" dirty="0">
              <a:latin typeface="Times New Roman" panose="02020603050405020304" pitchFamily="18" charset="0"/>
              <a:cs typeface="Times New Roman" panose="02020603050405020304" pitchFamily="18" charset="0"/>
            </a:endParaRPr>
          </a:p>
        </p:txBody>
      </p:sp>
      <p:sp>
        <p:nvSpPr>
          <p:cNvPr id="19" name="TextBox 18"/>
          <p:cNvSpPr txBox="1"/>
          <p:nvPr/>
        </p:nvSpPr>
        <p:spPr>
          <a:xfrm flipH="1">
            <a:off x="6096000" y="6600824"/>
            <a:ext cx="3048000" cy="307777"/>
          </a:xfrm>
          <a:prstGeom prst="rect">
            <a:avLst/>
          </a:prstGeom>
          <a:noFill/>
        </p:spPr>
        <p:txBody>
          <a:bodyPr wrap="square" rtlCol="0">
            <a:spAutoFit/>
          </a:bodyPr>
          <a:lstStyle/>
          <a:p>
            <a:r>
              <a:rPr lang="en-US" sz="1400" dirty="0" smtClean="0">
                <a:latin typeface="Times New Roman" panose="02020603050405020304" pitchFamily="18" charset="0"/>
                <a:cs typeface="Times New Roman" panose="02020603050405020304" pitchFamily="18" charset="0"/>
              </a:rPr>
              <a:t>What we r doing in NAG?</a:t>
            </a:r>
            <a:endParaRPr lang="en-IN" sz="14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963171531"/>
      </p:ext>
    </p:extLst>
  </p:cSld>
  <p:clrMapOvr>
    <a:masterClrMapping/>
  </p:clrMapOvr>
  <p:timing>
    <p:tnLst>
      <p:par>
        <p:cTn id="1" dur="indefinite" restart="never" nodeType="tmRoot"/>
      </p:par>
    </p:tnLst>
  </p:timing>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dirty="0" err="1" smtClean="0"/>
              <a:t>Nestrov</a:t>
            </a:r>
            <a:r>
              <a:rPr lang="en-IN" dirty="0" smtClean="0"/>
              <a:t> Accelerated Gradient (NAG)</a:t>
            </a:r>
            <a:endParaRPr lang="en-IN" dirty="0"/>
          </a:p>
        </p:txBody>
      </p:sp>
      <p:sp>
        <p:nvSpPr>
          <p:cNvPr id="3" name="Content Placeholder 2"/>
          <p:cNvSpPr>
            <a:spLocks noGrp="1"/>
          </p:cNvSpPr>
          <p:nvPr>
            <p:ph idx="1"/>
          </p:nvPr>
        </p:nvSpPr>
        <p:spPr/>
        <p:txBody>
          <a:bodyPr/>
          <a:lstStyle/>
          <a:p>
            <a:r>
              <a:rPr lang="en-IN" dirty="0" smtClean="0"/>
              <a:t>NAG</a:t>
            </a:r>
            <a:endParaRPr lang="en-IN" dirty="0"/>
          </a:p>
        </p:txBody>
      </p:sp>
      <p:sp>
        <p:nvSpPr>
          <p:cNvPr id="4" name="Date Placeholder 3"/>
          <p:cNvSpPr>
            <a:spLocks noGrp="1"/>
          </p:cNvSpPr>
          <p:nvPr>
            <p:ph type="dt" sz="half" idx="10"/>
          </p:nvPr>
        </p:nvSpPr>
        <p:spPr/>
        <p:txBody>
          <a:bodyPr/>
          <a:lstStyle/>
          <a:p>
            <a:fld id="{E7067A60-51C7-4095-BFA9-1CE32DCBA06F}" type="datetime1">
              <a:rPr lang="en-US" smtClean="0"/>
              <a:pPr/>
              <a:t>2/9/2026</a:t>
            </a:fld>
            <a:endParaRPr lang="en-US" dirty="0"/>
          </a:p>
        </p:txBody>
      </p:sp>
      <p:sp>
        <p:nvSpPr>
          <p:cNvPr id="5" name="Footer Placeholder 4"/>
          <p:cNvSpPr>
            <a:spLocks noGrp="1"/>
          </p:cNvSpPr>
          <p:nvPr>
            <p:ph type="ftr" sz="quarter" idx="11"/>
          </p:nvPr>
        </p:nvSpPr>
        <p:spPr/>
        <p:txBody>
          <a:bodyPr/>
          <a:lstStyle/>
          <a:p>
            <a:pPr algn="l"/>
            <a:r>
              <a:rPr lang="en-US" dirty="0"/>
              <a:t>Dr. Sibarama Panigrahi, Dept. of CSE, NIT Rourkela</a:t>
            </a:r>
          </a:p>
        </p:txBody>
      </p:sp>
      <p:sp>
        <p:nvSpPr>
          <p:cNvPr id="6" name="Slide Number Placeholder 5"/>
          <p:cNvSpPr>
            <a:spLocks noGrp="1"/>
          </p:cNvSpPr>
          <p:nvPr>
            <p:ph type="sldNum" sz="quarter" idx="12"/>
          </p:nvPr>
        </p:nvSpPr>
        <p:spPr/>
        <p:txBody>
          <a:bodyPr/>
          <a:lstStyle/>
          <a:p>
            <a:fld id="{A03BBF96-A7A5-4867-9A4A-2F26A3CC4EC3}" type="slidenum">
              <a:rPr lang="en-US" smtClean="0"/>
              <a:pPr/>
              <a:t>61</a:t>
            </a:fld>
            <a:endParaRPr lang="en-US" dirty="0"/>
          </a:p>
        </p:txBody>
      </p:sp>
      <p:sp>
        <p:nvSpPr>
          <p:cNvPr id="7" name="TextBox 6"/>
          <p:cNvSpPr txBox="1"/>
          <p:nvPr/>
        </p:nvSpPr>
        <p:spPr>
          <a:xfrm>
            <a:off x="0" y="0"/>
            <a:ext cx="4572000" cy="369332"/>
          </a:xfrm>
          <a:prstGeom prst="rect">
            <a:avLst/>
          </a:prstGeom>
          <a:noFill/>
        </p:spPr>
        <p:txBody>
          <a:bodyPr wrap="square" rtlCol="0">
            <a:spAutoFit/>
          </a:bodyPr>
          <a:lstStyle/>
          <a:p>
            <a:pPr algn="r"/>
            <a:r>
              <a:rPr lang="en-US" b="1" dirty="0">
                <a:solidFill>
                  <a:schemeClr val="bg1"/>
                </a:solidFill>
              </a:rPr>
              <a:t>Introduction to Deep Neural Network</a:t>
            </a:r>
          </a:p>
        </p:txBody>
      </p:sp>
      <p:cxnSp>
        <p:nvCxnSpPr>
          <p:cNvPr id="11" name="Straight Arrow Connector 10"/>
          <p:cNvCxnSpPr/>
          <p:nvPr/>
        </p:nvCxnSpPr>
        <p:spPr>
          <a:xfrm flipV="1">
            <a:off x="1137472" y="3505200"/>
            <a:ext cx="2748728" cy="1066800"/>
          </a:xfrm>
          <a:prstGeom prst="straightConnector1">
            <a:avLst/>
          </a:prstGeom>
          <a:ln w="254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12" name="Straight Arrow Connector 11"/>
          <p:cNvCxnSpPr/>
          <p:nvPr/>
        </p:nvCxnSpPr>
        <p:spPr>
          <a:xfrm flipV="1">
            <a:off x="1137472" y="3048000"/>
            <a:ext cx="1910528" cy="1504950"/>
          </a:xfrm>
          <a:prstGeom prst="straightConnector1">
            <a:avLst/>
          </a:prstGeom>
          <a:ln w="254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14" name="Straight Arrow Connector 13"/>
          <p:cNvCxnSpPr/>
          <p:nvPr/>
        </p:nvCxnSpPr>
        <p:spPr>
          <a:xfrm>
            <a:off x="3048000" y="3048000"/>
            <a:ext cx="914400" cy="457200"/>
          </a:xfrm>
          <a:prstGeom prst="straightConnector1">
            <a:avLst/>
          </a:prstGeom>
          <a:ln w="25400">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16" name="TextBox 15"/>
          <p:cNvSpPr txBox="1"/>
          <p:nvPr/>
        </p:nvSpPr>
        <p:spPr>
          <a:xfrm rot="1846308">
            <a:off x="3052760" y="2923007"/>
            <a:ext cx="1447800" cy="369332"/>
          </a:xfrm>
          <a:prstGeom prst="rect">
            <a:avLst/>
          </a:prstGeom>
          <a:noFill/>
        </p:spPr>
        <p:txBody>
          <a:bodyPr wrap="square" rtlCol="0">
            <a:spAutoFit/>
          </a:bodyPr>
          <a:lstStyle/>
          <a:p>
            <a:r>
              <a:rPr lang="en-IN" b="1" dirty="0" smtClean="0">
                <a:latin typeface="Times New Roman" panose="02020603050405020304" pitchFamily="18" charset="0"/>
                <a:cs typeface="Times New Roman" panose="02020603050405020304" pitchFamily="18" charset="0"/>
              </a:rPr>
              <a:t>Gradient</a:t>
            </a:r>
            <a:endParaRPr lang="en-IN" b="1" dirty="0">
              <a:latin typeface="Times New Roman" panose="02020603050405020304" pitchFamily="18" charset="0"/>
              <a:cs typeface="Times New Roman" panose="02020603050405020304" pitchFamily="18" charset="0"/>
            </a:endParaRPr>
          </a:p>
        </p:txBody>
      </p:sp>
      <p:sp>
        <p:nvSpPr>
          <p:cNvPr id="17" name="TextBox 16"/>
          <p:cNvSpPr txBox="1"/>
          <p:nvPr/>
        </p:nvSpPr>
        <p:spPr>
          <a:xfrm rot="19299551">
            <a:off x="1333500" y="3382446"/>
            <a:ext cx="1447800" cy="369332"/>
          </a:xfrm>
          <a:prstGeom prst="rect">
            <a:avLst/>
          </a:prstGeom>
          <a:noFill/>
        </p:spPr>
        <p:txBody>
          <a:bodyPr wrap="square" rtlCol="0">
            <a:spAutoFit/>
          </a:bodyPr>
          <a:lstStyle/>
          <a:p>
            <a:r>
              <a:rPr lang="en-IN" b="1" dirty="0" smtClean="0">
                <a:latin typeface="Times New Roman" panose="02020603050405020304" pitchFamily="18" charset="0"/>
                <a:cs typeface="Times New Roman" panose="02020603050405020304" pitchFamily="18" charset="0"/>
              </a:rPr>
              <a:t>Momentum</a:t>
            </a:r>
            <a:endParaRPr lang="en-IN" b="1" dirty="0">
              <a:latin typeface="Times New Roman" panose="02020603050405020304" pitchFamily="18" charset="0"/>
              <a:cs typeface="Times New Roman" panose="02020603050405020304" pitchFamily="18" charset="0"/>
            </a:endParaRPr>
          </a:p>
        </p:txBody>
      </p:sp>
      <p:sp>
        <p:nvSpPr>
          <p:cNvPr id="18" name="TextBox 17"/>
          <p:cNvSpPr txBox="1"/>
          <p:nvPr/>
        </p:nvSpPr>
        <p:spPr>
          <a:xfrm rot="20179587">
            <a:off x="1415384" y="3633544"/>
            <a:ext cx="2532661" cy="369332"/>
          </a:xfrm>
          <a:prstGeom prst="rect">
            <a:avLst/>
          </a:prstGeom>
          <a:noFill/>
        </p:spPr>
        <p:txBody>
          <a:bodyPr wrap="square" rtlCol="0">
            <a:spAutoFit/>
          </a:bodyPr>
          <a:lstStyle/>
          <a:p>
            <a:r>
              <a:rPr lang="en-IN" b="1" dirty="0" err="1" smtClean="0">
                <a:latin typeface="Times New Roman" panose="02020603050405020304" pitchFamily="18" charset="0"/>
                <a:cs typeface="Times New Roman" panose="02020603050405020304" pitchFamily="18" charset="0"/>
              </a:rPr>
              <a:t>Gradient+Momentum</a:t>
            </a:r>
            <a:endParaRPr lang="en-IN" b="1" dirty="0">
              <a:latin typeface="Times New Roman" panose="02020603050405020304" pitchFamily="18" charset="0"/>
              <a:cs typeface="Times New Roman" panose="02020603050405020304" pitchFamily="18" charset="0"/>
            </a:endParaRPr>
          </a:p>
        </p:txBody>
      </p:sp>
      <p:sp>
        <p:nvSpPr>
          <p:cNvPr id="15" name="TextBox 14"/>
          <p:cNvSpPr txBox="1"/>
          <p:nvPr/>
        </p:nvSpPr>
        <p:spPr>
          <a:xfrm flipH="1">
            <a:off x="6096000" y="6600825"/>
            <a:ext cx="3276599" cy="307777"/>
          </a:xfrm>
          <a:prstGeom prst="rect">
            <a:avLst/>
          </a:prstGeom>
          <a:noFill/>
        </p:spPr>
        <p:txBody>
          <a:bodyPr wrap="square" rtlCol="0">
            <a:spAutoFit/>
          </a:bodyPr>
          <a:lstStyle/>
          <a:p>
            <a:r>
              <a:rPr lang="en-US" sz="1400" dirty="0" smtClean="0">
                <a:latin typeface="Times New Roman" panose="02020603050405020304" pitchFamily="18" charset="0"/>
                <a:cs typeface="Times New Roman" panose="02020603050405020304" pitchFamily="18" charset="0"/>
              </a:rPr>
              <a:t>Visual Illustration of Advantage of NAG</a:t>
            </a:r>
            <a:endParaRPr lang="en-IN" sz="14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87194675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4" fill="hold" grpId="0" nodeType="clickEffect">
                                  <p:stCondLst>
                                    <p:cond delay="0"/>
                                  </p:stCondLst>
                                  <p:childTnLst>
                                    <p:set>
                                      <p:cBhvr>
                                        <p:cTn id="6" dur="1" fill="hold">
                                          <p:stCondLst>
                                            <p:cond delay="0"/>
                                          </p:stCondLst>
                                        </p:cTn>
                                        <p:tgtEl>
                                          <p:spTgt spid="18"/>
                                        </p:tgtEl>
                                        <p:attrNameLst>
                                          <p:attrName>style.visibility</p:attrName>
                                        </p:attrNameLst>
                                      </p:cBhvr>
                                      <p:to>
                                        <p:strVal val="visible"/>
                                      </p:to>
                                    </p:set>
                                    <p:animEffect transition="in" filter="wipe(down)">
                                      <p:cBhvr>
                                        <p:cTn id="7" dur="500"/>
                                        <p:tgtEl>
                                          <p:spTgt spid="18"/>
                                        </p:tgtEl>
                                      </p:cBhvr>
                                    </p:animEffect>
                                  </p:childTnLst>
                                </p:cTn>
                              </p:par>
                              <p:par>
                                <p:cTn id="8" presetID="22" presetClass="entr" presetSubtype="4" fill="hold" nodeType="withEffect">
                                  <p:stCondLst>
                                    <p:cond delay="0"/>
                                  </p:stCondLst>
                                  <p:childTnLst>
                                    <p:set>
                                      <p:cBhvr>
                                        <p:cTn id="9" dur="1" fill="hold">
                                          <p:stCondLst>
                                            <p:cond delay="0"/>
                                          </p:stCondLst>
                                        </p:cTn>
                                        <p:tgtEl>
                                          <p:spTgt spid="11"/>
                                        </p:tgtEl>
                                        <p:attrNameLst>
                                          <p:attrName>style.visibility</p:attrName>
                                        </p:attrNameLst>
                                      </p:cBhvr>
                                      <p:to>
                                        <p:strVal val="visible"/>
                                      </p:to>
                                    </p:set>
                                    <p:animEffect transition="in" filter="wipe(down)">
                                      <p:cBhvr>
                                        <p:cTn id="10" dur="500"/>
                                        <p:tgtEl>
                                          <p:spTgt spid="1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8" grpId="0"/>
    </p:bldLst>
  </p:timing>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dirty="0" err="1" smtClean="0"/>
              <a:t>Nestrov</a:t>
            </a:r>
            <a:r>
              <a:rPr lang="en-IN" dirty="0" smtClean="0"/>
              <a:t> Accelerated Gradient (NAG)</a:t>
            </a:r>
            <a:endParaRPr lang="en-IN" dirty="0"/>
          </a:p>
        </p:txBody>
      </p:sp>
      <p:sp>
        <p:nvSpPr>
          <p:cNvPr id="3" name="Content Placeholder 2"/>
          <p:cNvSpPr>
            <a:spLocks noGrp="1"/>
          </p:cNvSpPr>
          <p:nvPr>
            <p:ph idx="1"/>
          </p:nvPr>
        </p:nvSpPr>
        <p:spPr/>
        <p:txBody>
          <a:bodyPr/>
          <a:lstStyle/>
          <a:p>
            <a:pPr marL="336550" indent="0">
              <a:buNone/>
            </a:pPr>
            <a:endParaRPr lang="en-IN" dirty="0" smtClean="0"/>
          </a:p>
          <a:p>
            <a:pPr marL="336550" indent="0">
              <a:buNone/>
            </a:pPr>
            <a:endParaRPr lang="en-IN" dirty="0"/>
          </a:p>
        </p:txBody>
      </p:sp>
      <p:sp>
        <p:nvSpPr>
          <p:cNvPr id="4" name="Date Placeholder 3"/>
          <p:cNvSpPr>
            <a:spLocks noGrp="1"/>
          </p:cNvSpPr>
          <p:nvPr>
            <p:ph type="dt" sz="half" idx="10"/>
          </p:nvPr>
        </p:nvSpPr>
        <p:spPr/>
        <p:txBody>
          <a:bodyPr/>
          <a:lstStyle/>
          <a:p>
            <a:fld id="{E7067A60-51C7-4095-BFA9-1CE32DCBA06F}" type="datetime1">
              <a:rPr lang="en-US" smtClean="0"/>
              <a:pPr/>
              <a:t>2/9/2026</a:t>
            </a:fld>
            <a:endParaRPr lang="en-US" dirty="0"/>
          </a:p>
        </p:txBody>
      </p:sp>
      <p:sp>
        <p:nvSpPr>
          <p:cNvPr id="5" name="Footer Placeholder 4"/>
          <p:cNvSpPr>
            <a:spLocks noGrp="1"/>
          </p:cNvSpPr>
          <p:nvPr>
            <p:ph type="ftr" sz="quarter" idx="11"/>
          </p:nvPr>
        </p:nvSpPr>
        <p:spPr/>
        <p:txBody>
          <a:bodyPr/>
          <a:lstStyle/>
          <a:p>
            <a:pPr algn="l"/>
            <a:r>
              <a:rPr lang="en-US" dirty="0"/>
              <a:t>Dr. Sibarama Panigrahi, Dept. of CSE, NIT Rourkela</a:t>
            </a:r>
          </a:p>
        </p:txBody>
      </p:sp>
      <p:sp>
        <p:nvSpPr>
          <p:cNvPr id="6" name="Slide Number Placeholder 5"/>
          <p:cNvSpPr>
            <a:spLocks noGrp="1"/>
          </p:cNvSpPr>
          <p:nvPr>
            <p:ph type="sldNum" sz="quarter" idx="12"/>
          </p:nvPr>
        </p:nvSpPr>
        <p:spPr/>
        <p:txBody>
          <a:bodyPr/>
          <a:lstStyle/>
          <a:p>
            <a:fld id="{A03BBF96-A7A5-4867-9A4A-2F26A3CC4EC3}" type="slidenum">
              <a:rPr lang="en-US" smtClean="0"/>
              <a:pPr/>
              <a:t>62</a:t>
            </a:fld>
            <a:endParaRPr lang="en-US" dirty="0"/>
          </a:p>
        </p:txBody>
      </p:sp>
      <p:sp>
        <p:nvSpPr>
          <p:cNvPr id="7" name="TextBox 6"/>
          <p:cNvSpPr txBox="1"/>
          <p:nvPr/>
        </p:nvSpPr>
        <p:spPr>
          <a:xfrm>
            <a:off x="0" y="0"/>
            <a:ext cx="4572000" cy="369332"/>
          </a:xfrm>
          <a:prstGeom prst="rect">
            <a:avLst/>
          </a:prstGeom>
          <a:noFill/>
        </p:spPr>
        <p:txBody>
          <a:bodyPr wrap="square" rtlCol="0">
            <a:spAutoFit/>
          </a:bodyPr>
          <a:lstStyle/>
          <a:p>
            <a:pPr algn="r"/>
            <a:r>
              <a:rPr lang="en-US" b="1" dirty="0">
                <a:solidFill>
                  <a:schemeClr val="bg1"/>
                </a:solidFill>
              </a:rPr>
              <a:t>Introduction to Deep Neural Network</a:t>
            </a:r>
          </a:p>
        </p:txBody>
      </p:sp>
      <p:pic>
        <p:nvPicPr>
          <p:cNvPr id="8" name="Picture 7"/>
          <p:cNvPicPr>
            <a:picLocks noChangeAspect="1"/>
          </p:cNvPicPr>
          <p:nvPr/>
        </p:nvPicPr>
        <p:blipFill>
          <a:blip r:embed="rId2"/>
          <a:stretch>
            <a:fillRect/>
          </a:stretch>
        </p:blipFill>
        <p:spPr>
          <a:xfrm>
            <a:off x="1066800" y="1447800"/>
            <a:ext cx="7401072" cy="3352800"/>
          </a:xfrm>
          <a:prstGeom prst="rect">
            <a:avLst/>
          </a:prstGeom>
        </p:spPr>
      </p:pic>
      <p:sp>
        <p:nvSpPr>
          <p:cNvPr id="9" name="TextBox 8"/>
          <p:cNvSpPr txBox="1"/>
          <p:nvPr/>
        </p:nvSpPr>
        <p:spPr>
          <a:xfrm flipH="1">
            <a:off x="6096000" y="6593085"/>
            <a:ext cx="3048000" cy="307777"/>
          </a:xfrm>
          <a:prstGeom prst="rect">
            <a:avLst/>
          </a:prstGeom>
          <a:noFill/>
        </p:spPr>
        <p:txBody>
          <a:bodyPr wrap="square" rtlCol="0">
            <a:spAutoFit/>
          </a:bodyPr>
          <a:lstStyle/>
          <a:p>
            <a:r>
              <a:rPr lang="en-US" sz="1400" dirty="0" err="1" smtClean="0">
                <a:latin typeface="Times New Roman" panose="02020603050405020304" pitchFamily="18" charset="0"/>
                <a:cs typeface="Times New Roman" panose="02020603050405020304" pitchFamily="18" charset="0"/>
              </a:rPr>
              <a:t>AdaGrad</a:t>
            </a:r>
            <a:endParaRPr lang="en-IN" sz="14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889179968"/>
      </p:ext>
    </p:extLst>
  </p:cSld>
  <p:clrMapOvr>
    <a:masterClrMapping/>
  </p:clrMapOvr>
  <p:timing>
    <p:tnLst>
      <p:par>
        <p:cTn id="1" dur="indefinite" restart="never" nodeType="tmRoot"/>
      </p:par>
    </p:tnLst>
  </p:timing>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cap="small" dirty="0"/>
              <a:t>Adaptive Gradient(</a:t>
            </a:r>
            <a:r>
              <a:rPr lang="en-US" cap="small" dirty="0" err="1"/>
              <a:t>AdaGrad</a:t>
            </a:r>
            <a:r>
              <a:rPr lang="en-US" cap="small" dirty="0"/>
              <a:t>)</a:t>
            </a:r>
          </a:p>
        </p:txBody>
      </p:sp>
      <p:sp>
        <p:nvSpPr>
          <p:cNvPr id="3" name="Content Placeholder 2"/>
          <p:cNvSpPr>
            <a:spLocks noGrp="1"/>
          </p:cNvSpPr>
          <p:nvPr>
            <p:ph idx="1"/>
          </p:nvPr>
        </p:nvSpPr>
        <p:spPr/>
        <p:txBody>
          <a:bodyPr>
            <a:normAutofit/>
          </a:bodyPr>
          <a:lstStyle/>
          <a:p>
            <a:r>
              <a:rPr lang="en-US" dirty="0" smtClean="0"/>
              <a:t>In SGD, </a:t>
            </a:r>
            <a:r>
              <a:rPr lang="en-US" dirty="0" err="1" smtClean="0"/>
              <a:t>SGD+Momentum</a:t>
            </a:r>
            <a:r>
              <a:rPr lang="en-US" dirty="0" smtClean="0"/>
              <a:t> and NAG, the learning rate is same for each weight.</a:t>
            </a:r>
          </a:p>
          <a:p>
            <a:pPr marL="336550" indent="0">
              <a:buNone/>
            </a:pPr>
            <a:endParaRPr lang="en-US" dirty="0" smtClean="0"/>
          </a:p>
          <a:p>
            <a:r>
              <a:rPr lang="en-US" dirty="0" smtClean="0"/>
              <a:t>However, in </a:t>
            </a:r>
            <a:r>
              <a:rPr lang="en-US" dirty="0" err="1" smtClean="0"/>
              <a:t>Adagrad</a:t>
            </a:r>
            <a:r>
              <a:rPr lang="en-US" dirty="0" smtClean="0"/>
              <a:t> you have different learning rate for different weights.</a:t>
            </a:r>
          </a:p>
          <a:p>
            <a:endParaRPr lang="en-US" dirty="0" smtClean="0"/>
          </a:p>
          <a:p>
            <a:r>
              <a:rPr lang="en-US" dirty="0" smtClean="0"/>
              <a:t>Why</a:t>
            </a:r>
          </a:p>
          <a:p>
            <a:pPr lvl="1"/>
            <a:r>
              <a:rPr lang="en-US" dirty="0" smtClean="0"/>
              <a:t>Sparse Feature</a:t>
            </a:r>
          </a:p>
          <a:p>
            <a:pPr lvl="1"/>
            <a:r>
              <a:rPr lang="en-US" dirty="0" smtClean="0"/>
              <a:t>Dense Feature </a:t>
            </a:r>
            <a:endParaRPr lang="en-US" dirty="0"/>
          </a:p>
          <a:p>
            <a:endParaRPr lang="en-US" dirty="0"/>
          </a:p>
          <a:p>
            <a:endParaRPr lang="en-US" dirty="0"/>
          </a:p>
        </p:txBody>
      </p:sp>
      <p:sp>
        <p:nvSpPr>
          <p:cNvPr id="4" name="Date Placeholder 3"/>
          <p:cNvSpPr>
            <a:spLocks noGrp="1"/>
          </p:cNvSpPr>
          <p:nvPr>
            <p:ph type="dt" sz="half" idx="10"/>
          </p:nvPr>
        </p:nvSpPr>
        <p:spPr/>
        <p:txBody>
          <a:bodyPr/>
          <a:lstStyle/>
          <a:p>
            <a:fld id="{E7067A60-51C7-4095-BFA9-1CE32DCBA06F}" type="datetime1">
              <a:rPr lang="en-US" smtClean="0"/>
              <a:pPr/>
              <a:t>2/9/2026</a:t>
            </a:fld>
            <a:endParaRPr lang="en-US" dirty="0"/>
          </a:p>
        </p:txBody>
      </p:sp>
      <p:sp>
        <p:nvSpPr>
          <p:cNvPr id="6" name="Slide Number Placeholder 5"/>
          <p:cNvSpPr>
            <a:spLocks noGrp="1"/>
          </p:cNvSpPr>
          <p:nvPr>
            <p:ph type="sldNum" sz="quarter" idx="12"/>
          </p:nvPr>
        </p:nvSpPr>
        <p:spPr/>
        <p:txBody>
          <a:bodyPr/>
          <a:lstStyle/>
          <a:p>
            <a:fld id="{A03BBF96-A7A5-4867-9A4A-2F26A3CC4EC3}" type="slidenum">
              <a:rPr lang="en-US" smtClean="0"/>
              <a:pPr/>
              <a:t>63</a:t>
            </a:fld>
            <a:endParaRPr lang="en-US" dirty="0"/>
          </a:p>
        </p:txBody>
      </p:sp>
      <p:sp>
        <p:nvSpPr>
          <p:cNvPr id="7" name="TextBox 6"/>
          <p:cNvSpPr txBox="1"/>
          <p:nvPr/>
        </p:nvSpPr>
        <p:spPr>
          <a:xfrm>
            <a:off x="0" y="0"/>
            <a:ext cx="4572000" cy="369332"/>
          </a:xfrm>
          <a:prstGeom prst="rect">
            <a:avLst/>
          </a:prstGeom>
          <a:noFill/>
        </p:spPr>
        <p:txBody>
          <a:bodyPr wrap="square" rtlCol="0">
            <a:spAutoFit/>
          </a:bodyPr>
          <a:lstStyle/>
          <a:p>
            <a:pPr algn="r"/>
            <a:r>
              <a:rPr lang="en-US" b="1" dirty="0">
                <a:solidFill>
                  <a:schemeClr val="bg1"/>
                </a:solidFill>
              </a:rPr>
              <a:t>Introduction to Deep Neural Network</a:t>
            </a:r>
          </a:p>
        </p:txBody>
      </p:sp>
      <p:sp>
        <p:nvSpPr>
          <p:cNvPr id="8" name="Rectangle 2"/>
          <p:cNvSpPr>
            <a:spLocks noChangeArrowheads="1"/>
          </p:cNvSpPr>
          <p:nvPr/>
        </p:nvSpPr>
        <p:spPr bwMode="auto">
          <a:xfrm>
            <a:off x="0" y="0"/>
            <a:ext cx="91440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sp>
        <p:nvSpPr>
          <p:cNvPr id="9" name="Rectangle 2"/>
          <p:cNvSpPr>
            <a:spLocks noChangeArrowheads="1"/>
          </p:cNvSpPr>
          <p:nvPr/>
        </p:nvSpPr>
        <p:spPr bwMode="auto">
          <a:xfrm>
            <a:off x="0" y="0"/>
            <a:ext cx="91440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sp>
        <p:nvSpPr>
          <p:cNvPr id="11" name="Footer Placeholder 4">
            <a:extLst>
              <a:ext uri="{FF2B5EF4-FFF2-40B4-BE49-F238E27FC236}">
                <a16:creationId xmlns:a16="http://schemas.microsoft.com/office/drawing/2014/main" id="{CBB301ED-B8A4-4772-B559-A9E41E7472BD}"/>
              </a:ext>
            </a:extLst>
          </p:cNvPr>
          <p:cNvSpPr>
            <a:spLocks noGrp="1"/>
          </p:cNvSpPr>
          <p:nvPr>
            <p:ph type="ftr" sz="quarter" idx="11"/>
          </p:nvPr>
        </p:nvSpPr>
        <p:spPr>
          <a:xfrm>
            <a:off x="2286000" y="6629400"/>
            <a:ext cx="4136571" cy="228600"/>
          </a:xfrm>
        </p:spPr>
        <p:txBody>
          <a:bodyPr/>
          <a:lstStyle/>
          <a:p>
            <a:r>
              <a:rPr lang="en-US" dirty="0"/>
              <a:t>Dr. Sibarama Panigrahi, Dept. of CSE, NIT Rourkela</a:t>
            </a:r>
          </a:p>
        </p:txBody>
      </p:sp>
      <p:sp>
        <p:nvSpPr>
          <p:cNvPr id="23554" name="Rectangle 2"/>
          <p:cNvSpPr>
            <a:spLocks noChangeArrowheads="1"/>
          </p:cNvSpPr>
          <p:nvPr/>
        </p:nvSpPr>
        <p:spPr bwMode="auto">
          <a:xfrm>
            <a:off x="0" y="0"/>
            <a:ext cx="9144000" cy="45720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en-US"/>
          </a:p>
        </p:txBody>
      </p:sp>
      <p:sp>
        <p:nvSpPr>
          <p:cNvPr id="23555" name="Rectangle 3"/>
          <p:cNvSpPr>
            <a:spLocks noChangeArrowheads="1"/>
          </p:cNvSpPr>
          <p:nvPr/>
        </p:nvSpPr>
        <p:spPr bwMode="auto">
          <a:xfrm>
            <a:off x="0" y="1152525"/>
            <a:ext cx="9144000" cy="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pPr marL="0" marR="0" lvl="0" indent="0" algn="l" defTabSz="914400" rtl="0" eaLnBrk="1" fontAlgn="base" latinLnBrk="0" hangingPunct="1">
              <a:lnSpc>
                <a:spcPct val="100000"/>
              </a:lnSpc>
              <a:spcBef>
                <a:spcPct val="0"/>
              </a:spcBef>
              <a:spcAft>
                <a:spcPct val="0"/>
              </a:spcAft>
              <a:buClrTx/>
              <a:buSzTx/>
              <a:buFontTx/>
              <a:buNone/>
              <a:tabLst/>
            </a:pPr>
            <a:endParaRPr kumimoji="0" lang="en-US" sz="1800" b="0" i="0" u="none" strike="noStrike" cap="none" normalizeH="0" baseline="0">
              <a:ln>
                <a:noFill/>
              </a:ln>
              <a:solidFill>
                <a:schemeClr val="tx1"/>
              </a:solidFill>
              <a:effectLst/>
              <a:latin typeface="Arial" pitchFamily="34" charset="0"/>
              <a:cs typeface="Arial" pitchFamily="34" charset="0"/>
            </a:endParaRPr>
          </a:p>
        </p:txBody>
      </p:sp>
      <p:sp>
        <p:nvSpPr>
          <p:cNvPr id="12" name="TextBox 11"/>
          <p:cNvSpPr txBox="1"/>
          <p:nvPr/>
        </p:nvSpPr>
        <p:spPr>
          <a:xfrm flipH="1">
            <a:off x="6324599" y="6600824"/>
            <a:ext cx="3048000" cy="307777"/>
          </a:xfrm>
          <a:prstGeom prst="rect">
            <a:avLst/>
          </a:prstGeom>
          <a:noFill/>
        </p:spPr>
        <p:txBody>
          <a:bodyPr wrap="square" rtlCol="0">
            <a:spAutoFit/>
          </a:bodyPr>
          <a:lstStyle/>
          <a:p>
            <a:r>
              <a:rPr lang="en-US" sz="1400" dirty="0" smtClean="0">
                <a:latin typeface="Times New Roman" panose="02020603050405020304" pitchFamily="18" charset="0"/>
                <a:cs typeface="Times New Roman" panose="02020603050405020304" pitchFamily="18" charset="0"/>
              </a:rPr>
              <a:t>Mathematical formulation of </a:t>
            </a:r>
            <a:r>
              <a:rPr lang="en-US" sz="1400" dirty="0" err="1" smtClean="0">
                <a:latin typeface="Times New Roman" panose="02020603050405020304" pitchFamily="18" charset="0"/>
                <a:cs typeface="Times New Roman" panose="02020603050405020304" pitchFamily="18" charset="0"/>
              </a:rPr>
              <a:t>AdaGrad</a:t>
            </a:r>
            <a:endParaRPr lang="en-IN" sz="14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380564408"/>
      </p:ext>
    </p:extLst>
  </p:cSld>
  <p:clrMapOvr>
    <a:masterClrMapping/>
  </p:clrMapOvr>
  <p:timing>
    <p:tnLst>
      <p:par>
        <p:cTn id="1" dur="indefinite" restart="never" nodeType="tmRoot"/>
      </p:par>
    </p:tnLst>
  </p:timing>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cap="small" dirty="0"/>
              <a:t>Adaptive Gradient(</a:t>
            </a:r>
            <a:r>
              <a:rPr lang="en-US" cap="small" dirty="0" err="1"/>
              <a:t>AdaGrad</a:t>
            </a:r>
            <a:r>
              <a:rPr lang="en-US" cap="small" dirty="0"/>
              <a:t>)</a:t>
            </a:r>
          </a:p>
        </p:txBody>
      </p:sp>
      <p:sp>
        <p:nvSpPr>
          <p:cNvPr id="3" name="Content Placeholder 2"/>
          <p:cNvSpPr>
            <a:spLocks noGrp="1"/>
          </p:cNvSpPr>
          <p:nvPr>
            <p:ph idx="1"/>
          </p:nvPr>
        </p:nvSpPr>
        <p:spPr/>
        <p:txBody>
          <a:bodyPr>
            <a:normAutofit/>
          </a:bodyPr>
          <a:lstStyle/>
          <a:p>
            <a:r>
              <a:rPr lang="en-US" dirty="0" smtClean="0"/>
              <a:t>SGD</a:t>
            </a:r>
          </a:p>
          <a:p>
            <a:endParaRPr lang="en-US" dirty="0"/>
          </a:p>
          <a:p>
            <a:endParaRPr lang="en-US" dirty="0" smtClean="0"/>
          </a:p>
          <a:p>
            <a:r>
              <a:rPr lang="en-US" dirty="0" err="1" smtClean="0"/>
              <a:t>Adagrad</a:t>
            </a:r>
            <a:endParaRPr lang="en-US" dirty="0" smtClean="0"/>
          </a:p>
          <a:p>
            <a:endParaRPr lang="en-US" dirty="0"/>
          </a:p>
          <a:p>
            <a:endParaRPr lang="en-US" dirty="0" smtClean="0"/>
          </a:p>
          <a:p>
            <a:endParaRPr lang="en-US" dirty="0"/>
          </a:p>
          <a:p>
            <a:endParaRPr lang="en-US" dirty="0" smtClean="0"/>
          </a:p>
          <a:p>
            <a:r>
              <a:rPr lang="en-US" dirty="0" smtClean="0"/>
              <a:t>As iteration increases the learning rate decreases.</a:t>
            </a:r>
            <a:endParaRPr lang="en-US" dirty="0"/>
          </a:p>
          <a:p>
            <a:endParaRPr lang="en-US" dirty="0"/>
          </a:p>
          <a:p>
            <a:endParaRPr lang="en-US" dirty="0"/>
          </a:p>
          <a:p>
            <a:endParaRPr lang="en-US" dirty="0"/>
          </a:p>
        </p:txBody>
      </p:sp>
      <p:sp>
        <p:nvSpPr>
          <p:cNvPr id="4" name="Date Placeholder 3"/>
          <p:cNvSpPr>
            <a:spLocks noGrp="1"/>
          </p:cNvSpPr>
          <p:nvPr>
            <p:ph type="dt" sz="half" idx="10"/>
          </p:nvPr>
        </p:nvSpPr>
        <p:spPr/>
        <p:txBody>
          <a:bodyPr/>
          <a:lstStyle/>
          <a:p>
            <a:fld id="{E7067A60-51C7-4095-BFA9-1CE32DCBA06F}" type="datetime1">
              <a:rPr lang="en-US" smtClean="0"/>
              <a:pPr/>
              <a:t>2/9/2026</a:t>
            </a:fld>
            <a:endParaRPr lang="en-US" dirty="0"/>
          </a:p>
        </p:txBody>
      </p:sp>
      <p:sp>
        <p:nvSpPr>
          <p:cNvPr id="6" name="Slide Number Placeholder 5"/>
          <p:cNvSpPr>
            <a:spLocks noGrp="1"/>
          </p:cNvSpPr>
          <p:nvPr>
            <p:ph type="sldNum" sz="quarter" idx="12"/>
          </p:nvPr>
        </p:nvSpPr>
        <p:spPr/>
        <p:txBody>
          <a:bodyPr/>
          <a:lstStyle/>
          <a:p>
            <a:fld id="{A03BBF96-A7A5-4867-9A4A-2F26A3CC4EC3}" type="slidenum">
              <a:rPr lang="en-US" smtClean="0"/>
              <a:pPr/>
              <a:t>64</a:t>
            </a:fld>
            <a:endParaRPr lang="en-US" dirty="0"/>
          </a:p>
        </p:txBody>
      </p:sp>
      <p:sp>
        <p:nvSpPr>
          <p:cNvPr id="7" name="TextBox 6"/>
          <p:cNvSpPr txBox="1"/>
          <p:nvPr/>
        </p:nvSpPr>
        <p:spPr>
          <a:xfrm>
            <a:off x="0" y="0"/>
            <a:ext cx="4572000" cy="369332"/>
          </a:xfrm>
          <a:prstGeom prst="rect">
            <a:avLst/>
          </a:prstGeom>
          <a:noFill/>
        </p:spPr>
        <p:txBody>
          <a:bodyPr wrap="square" rtlCol="0">
            <a:spAutoFit/>
          </a:bodyPr>
          <a:lstStyle/>
          <a:p>
            <a:pPr algn="r"/>
            <a:r>
              <a:rPr lang="en-US" b="1" dirty="0">
                <a:solidFill>
                  <a:schemeClr val="bg1"/>
                </a:solidFill>
              </a:rPr>
              <a:t>Introduction to Deep Neural Network</a:t>
            </a:r>
          </a:p>
        </p:txBody>
      </p:sp>
      <p:sp>
        <p:nvSpPr>
          <p:cNvPr id="8" name="Rectangle 2"/>
          <p:cNvSpPr>
            <a:spLocks noChangeArrowheads="1"/>
          </p:cNvSpPr>
          <p:nvPr/>
        </p:nvSpPr>
        <p:spPr bwMode="auto">
          <a:xfrm>
            <a:off x="0" y="0"/>
            <a:ext cx="91440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sp>
        <p:nvSpPr>
          <p:cNvPr id="9" name="Rectangle 2"/>
          <p:cNvSpPr>
            <a:spLocks noChangeArrowheads="1"/>
          </p:cNvSpPr>
          <p:nvPr/>
        </p:nvSpPr>
        <p:spPr bwMode="auto">
          <a:xfrm>
            <a:off x="0" y="0"/>
            <a:ext cx="91440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sp>
        <p:nvSpPr>
          <p:cNvPr id="11" name="Footer Placeholder 4">
            <a:extLst>
              <a:ext uri="{FF2B5EF4-FFF2-40B4-BE49-F238E27FC236}">
                <a16:creationId xmlns:a16="http://schemas.microsoft.com/office/drawing/2014/main" id="{CBB301ED-B8A4-4772-B559-A9E41E7472BD}"/>
              </a:ext>
            </a:extLst>
          </p:cNvPr>
          <p:cNvSpPr>
            <a:spLocks noGrp="1"/>
          </p:cNvSpPr>
          <p:nvPr>
            <p:ph type="ftr" sz="quarter" idx="11"/>
          </p:nvPr>
        </p:nvSpPr>
        <p:spPr>
          <a:xfrm>
            <a:off x="2286000" y="6629400"/>
            <a:ext cx="4136571" cy="228600"/>
          </a:xfrm>
        </p:spPr>
        <p:txBody>
          <a:bodyPr/>
          <a:lstStyle/>
          <a:p>
            <a:r>
              <a:rPr lang="en-US" dirty="0"/>
              <a:t>Dr. Sibarama Panigrahi, Dept. of CSE, NIT Rourkela</a:t>
            </a:r>
          </a:p>
        </p:txBody>
      </p:sp>
      <p:pic>
        <p:nvPicPr>
          <p:cNvPr id="10" name="Picture 4"/>
          <p:cNvPicPr>
            <a:picLocks noChangeAspect="1" noChangeArrowheads="1"/>
          </p:cNvPicPr>
          <p:nvPr/>
        </p:nvPicPr>
        <p:blipFill>
          <a:blip r:embed="rId2"/>
          <a:srcRect/>
          <a:stretch>
            <a:fillRect/>
          </a:stretch>
        </p:blipFill>
        <p:spPr bwMode="auto">
          <a:xfrm>
            <a:off x="1066800" y="1664493"/>
            <a:ext cx="4814637" cy="1066800"/>
          </a:xfrm>
          <a:prstGeom prst="rect">
            <a:avLst/>
          </a:prstGeom>
          <a:noFill/>
          <a:ln w="9525">
            <a:noFill/>
            <a:miter lim="800000"/>
            <a:headEnd/>
            <a:tailEnd/>
          </a:ln>
          <a:effectLst/>
        </p:spPr>
      </p:pic>
      <p:sp>
        <p:nvSpPr>
          <p:cNvPr id="23554" name="Rectangle 2"/>
          <p:cNvSpPr>
            <a:spLocks noChangeArrowheads="1"/>
          </p:cNvSpPr>
          <p:nvPr/>
        </p:nvSpPr>
        <p:spPr bwMode="auto">
          <a:xfrm>
            <a:off x="0" y="0"/>
            <a:ext cx="9144000" cy="45720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en-US"/>
          </a:p>
        </p:txBody>
      </p:sp>
      <p:pic>
        <p:nvPicPr>
          <p:cNvPr id="23553" name="Picture 1"/>
          <p:cNvPicPr>
            <a:picLocks noChangeAspect="1" noChangeArrowheads="1"/>
          </p:cNvPicPr>
          <p:nvPr/>
        </p:nvPicPr>
        <p:blipFill>
          <a:blip r:embed="rId3">
            <a:clrChange>
              <a:clrFrom>
                <a:srgbClr val="FFFFFF"/>
              </a:clrFrom>
              <a:clrTo>
                <a:srgbClr val="FFFFFF">
                  <a:alpha val="0"/>
                </a:srgbClr>
              </a:clrTo>
            </a:clrChange>
          </a:blip>
          <a:srcRect/>
          <a:stretch>
            <a:fillRect/>
          </a:stretch>
        </p:blipFill>
        <p:spPr bwMode="auto">
          <a:xfrm>
            <a:off x="1066800" y="3352800"/>
            <a:ext cx="5589740" cy="1143000"/>
          </a:xfrm>
          <a:prstGeom prst="rect">
            <a:avLst/>
          </a:prstGeom>
          <a:noFill/>
        </p:spPr>
      </p:pic>
      <p:sp>
        <p:nvSpPr>
          <p:cNvPr id="23555" name="Rectangle 3"/>
          <p:cNvSpPr>
            <a:spLocks noChangeArrowheads="1"/>
          </p:cNvSpPr>
          <p:nvPr/>
        </p:nvSpPr>
        <p:spPr bwMode="auto">
          <a:xfrm>
            <a:off x="0" y="1152525"/>
            <a:ext cx="9144000" cy="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pPr marL="0" marR="0" lvl="0" indent="0" algn="l" defTabSz="914400" rtl="0" eaLnBrk="1" fontAlgn="base" latinLnBrk="0" hangingPunct="1">
              <a:lnSpc>
                <a:spcPct val="100000"/>
              </a:lnSpc>
              <a:spcBef>
                <a:spcPct val="0"/>
              </a:spcBef>
              <a:spcAft>
                <a:spcPct val="0"/>
              </a:spcAft>
              <a:buClrTx/>
              <a:buSzTx/>
              <a:buFontTx/>
              <a:buNone/>
              <a:tabLst/>
            </a:pPr>
            <a:endParaRPr kumimoji="0" lang="en-US" sz="1800" b="0" i="0" u="none" strike="noStrike" cap="none" normalizeH="0" baseline="0">
              <a:ln>
                <a:noFill/>
              </a:ln>
              <a:solidFill>
                <a:schemeClr val="tx1"/>
              </a:solidFill>
              <a:effectLst/>
              <a:latin typeface="Arial" pitchFamily="34" charset="0"/>
              <a:cs typeface="Arial" pitchFamily="34" charset="0"/>
            </a:endParaRPr>
          </a:p>
        </p:txBody>
      </p:sp>
      <mc:AlternateContent xmlns:mc="http://schemas.openxmlformats.org/markup-compatibility/2006" xmlns:a14="http://schemas.microsoft.com/office/drawing/2010/main">
        <mc:Choice Requires="a14">
          <p:sp>
            <p:nvSpPr>
              <p:cNvPr id="5" name="Rectangle 4"/>
              <p:cNvSpPr/>
              <p:nvPr/>
            </p:nvSpPr>
            <p:spPr>
              <a:xfrm>
                <a:off x="798349" y="4419600"/>
                <a:ext cx="3230628" cy="1302729"/>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sSub>
                        <m:sSubPr>
                          <m:ctrlPr>
                            <a:rPr lang="en-IN" sz="2800" i="1" smtClean="0">
                              <a:latin typeface="Cambria Math" panose="02040503050406030204" pitchFamily="18" charset="0"/>
                            </a:rPr>
                          </m:ctrlPr>
                        </m:sSubPr>
                        <m:e>
                          <m:r>
                            <a:rPr lang="en-IN" sz="2800" i="1">
                              <a:latin typeface="Cambria Math" panose="02040503050406030204" pitchFamily="18" charset="0"/>
                            </a:rPr>
                            <m:t>𝛼</m:t>
                          </m:r>
                        </m:e>
                        <m:sub>
                          <m:r>
                            <a:rPr lang="en-IN" sz="2800" i="1">
                              <a:latin typeface="Cambria Math" panose="02040503050406030204" pitchFamily="18" charset="0"/>
                            </a:rPr>
                            <m:t>𝑡</m:t>
                          </m:r>
                          <m:r>
                            <a:rPr lang="en-IN" sz="2800" i="0">
                              <a:latin typeface="Cambria Math" panose="02040503050406030204" pitchFamily="18" charset="0"/>
                            </a:rPr>
                            <m:t>−1</m:t>
                          </m:r>
                        </m:sub>
                      </m:sSub>
                      <m:r>
                        <a:rPr lang="en-IN" sz="2800" i="0">
                          <a:latin typeface="Cambria Math" panose="02040503050406030204" pitchFamily="18" charset="0"/>
                        </a:rPr>
                        <m:t>=</m:t>
                      </m:r>
                      <m:nary>
                        <m:naryPr>
                          <m:chr m:val="∑"/>
                          <m:limLoc m:val="undOvr"/>
                          <m:ctrlPr>
                            <a:rPr lang="en-IN" sz="2800" i="1">
                              <a:latin typeface="Cambria Math" panose="02040503050406030204" pitchFamily="18" charset="0"/>
                            </a:rPr>
                          </m:ctrlPr>
                        </m:naryPr>
                        <m:sub>
                          <m:r>
                            <a:rPr lang="en-IN" sz="2800" i="1">
                              <a:latin typeface="Cambria Math" panose="02040503050406030204" pitchFamily="18" charset="0"/>
                            </a:rPr>
                            <m:t>𝑖</m:t>
                          </m:r>
                          <m:r>
                            <a:rPr lang="en-IN" sz="2800" i="0">
                              <a:latin typeface="Cambria Math" panose="02040503050406030204" pitchFamily="18" charset="0"/>
                            </a:rPr>
                            <m:t>=1</m:t>
                          </m:r>
                        </m:sub>
                        <m:sup>
                          <m:r>
                            <a:rPr lang="en-IN" sz="2800" i="1">
                              <a:latin typeface="Cambria Math" panose="02040503050406030204" pitchFamily="18" charset="0"/>
                            </a:rPr>
                            <m:t>𝑡</m:t>
                          </m:r>
                          <m:r>
                            <a:rPr lang="en-IN" sz="2800" i="0">
                              <a:latin typeface="Cambria Math" panose="02040503050406030204" pitchFamily="18" charset="0"/>
                            </a:rPr>
                            <m:t>−1</m:t>
                          </m:r>
                        </m:sup>
                        <m:e>
                          <m:sSup>
                            <m:sSupPr>
                              <m:ctrlPr>
                                <a:rPr lang="en-IN" sz="2800" i="1" smtClean="0">
                                  <a:latin typeface="Cambria Math" panose="02040503050406030204" pitchFamily="18" charset="0"/>
                                </a:rPr>
                              </m:ctrlPr>
                            </m:sSupPr>
                            <m:e>
                              <m:sSub>
                                <m:sSubPr>
                                  <m:ctrlPr>
                                    <a:rPr lang="en-IN" sz="2800" i="1">
                                      <a:latin typeface="Cambria Math" panose="02040503050406030204" pitchFamily="18" charset="0"/>
                                    </a:rPr>
                                  </m:ctrlPr>
                                </m:sSubPr>
                                <m:e>
                                  <m:d>
                                    <m:dPr>
                                      <m:ctrlPr>
                                        <a:rPr lang="en-IN" sz="2800" i="1">
                                          <a:latin typeface="Cambria Math" panose="02040503050406030204" pitchFamily="18" charset="0"/>
                                        </a:rPr>
                                      </m:ctrlPr>
                                    </m:dPr>
                                    <m:e>
                                      <m:f>
                                        <m:fPr>
                                          <m:ctrlPr>
                                            <a:rPr lang="en-IN" sz="2800" i="1">
                                              <a:latin typeface="Cambria Math" panose="02040503050406030204" pitchFamily="18" charset="0"/>
                                            </a:rPr>
                                          </m:ctrlPr>
                                        </m:fPr>
                                        <m:num>
                                          <m:r>
                                            <a:rPr lang="en-IN" sz="2800" i="1">
                                              <a:latin typeface="Cambria Math" panose="02040503050406030204" pitchFamily="18" charset="0"/>
                                            </a:rPr>
                                            <m:t>𝑑𝐿</m:t>
                                          </m:r>
                                        </m:num>
                                        <m:den>
                                          <m:r>
                                            <a:rPr lang="en-IN" sz="2800" i="1">
                                              <a:latin typeface="Cambria Math" panose="02040503050406030204" pitchFamily="18" charset="0"/>
                                            </a:rPr>
                                            <m:t>𝑑𝑤</m:t>
                                          </m:r>
                                        </m:den>
                                      </m:f>
                                    </m:e>
                                  </m:d>
                                </m:e>
                                <m:sub>
                                  <m:r>
                                    <a:rPr lang="en-IN" sz="2800" i="1">
                                      <a:latin typeface="Cambria Math" panose="02040503050406030204" pitchFamily="18" charset="0"/>
                                    </a:rPr>
                                    <m:t>𝑖</m:t>
                                  </m:r>
                                </m:sub>
                              </m:sSub>
                            </m:e>
                            <m:sup>
                              <m:r>
                                <a:rPr lang="en-IN" sz="2800" b="0" i="1" smtClean="0">
                                  <a:latin typeface="Cambria Math" panose="02040503050406030204" pitchFamily="18" charset="0"/>
                                </a:rPr>
                                <m:t>2</m:t>
                              </m:r>
                            </m:sup>
                          </m:sSup>
                        </m:e>
                      </m:nary>
                    </m:oMath>
                  </m:oMathPara>
                </a14:m>
                <a:endParaRPr lang="en-IN" sz="2800" dirty="0"/>
              </a:p>
            </p:txBody>
          </p:sp>
        </mc:Choice>
        <mc:Fallback xmlns="">
          <p:sp>
            <p:nvSpPr>
              <p:cNvPr id="5" name="Rectangle 4"/>
              <p:cNvSpPr>
                <a:spLocks noRot="1" noChangeAspect="1" noMove="1" noResize="1" noEditPoints="1" noAdjustHandles="1" noChangeArrowheads="1" noChangeShapeType="1" noTextEdit="1"/>
              </p:cNvSpPr>
              <p:nvPr/>
            </p:nvSpPr>
            <p:spPr>
              <a:xfrm>
                <a:off x="798349" y="4419600"/>
                <a:ext cx="3230628" cy="1302729"/>
              </a:xfrm>
              <a:prstGeom prst="rect">
                <a:avLst/>
              </a:prstGeom>
              <a:blipFill rotWithShape="0">
                <a:blip r:embed="rId4"/>
                <a:stretch>
                  <a:fillRect/>
                </a:stretch>
              </a:blipFill>
            </p:spPr>
            <p:txBody>
              <a:bodyPr/>
              <a:lstStyle/>
              <a:p>
                <a:r>
                  <a:rPr lang="en-IN">
                    <a:noFill/>
                  </a:rPr>
                  <a:t> </a:t>
                </a:r>
              </a:p>
            </p:txBody>
          </p:sp>
        </mc:Fallback>
      </mc:AlternateContent>
      <p:sp>
        <p:nvSpPr>
          <p:cNvPr id="15" name="TextBox 14"/>
          <p:cNvSpPr txBox="1"/>
          <p:nvPr/>
        </p:nvSpPr>
        <p:spPr>
          <a:xfrm flipH="1">
            <a:off x="6172200" y="6600824"/>
            <a:ext cx="3048000" cy="307777"/>
          </a:xfrm>
          <a:prstGeom prst="rect">
            <a:avLst/>
          </a:prstGeom>
          <a:noFill/>
        </p:spPr>
        <p:txBody>
          <a:bodyPr wrap="square" rtlCol="0">
            <a:spAutoFit/>
          </a:bodyPr>
          <a:lstStyle/>
          <a:p>
            <a:r>
              <a:rPr lang="en-US" sz="1400" dirty="0" smtClean="0">
                <a:latin typeface="Times New Roman" panose="02020603050405020304" pitchFamily="18" charset="0"/>
                <a:cs typeface="Times New Roman" panose="02020603050405020304" pitchFamily="18" charset="0"/>
              </a:rPr>
              <a:t>Visual </a:t>
            </a:r>
            <a:r>
              <a:rPr lang="en-US" sz="1400" dirty="0" err="1" smtClean="0">
                <a:latin typeface="Times New Roman" panose="02020603050405020304" pitchFamily="18" charset="0"/>
                <a:cs typeface="Times New Roman" panose="02020603050405020304" pitchFamily="18" charset="0"/>
              </a:rPr>
              <a:t>Illustn</a:t>
            </a:r>
            <a:r>
              <a:rPr lang="en-US" sz="1400" dirty="0" smtClean="0">
                <a:latin typeface="Times New Roman" panose="02020603050405020304" pitchFamily="18" charset="0"/>
                <a:cs typeface="Times New Roman" panose="02020603050405020304" pitchFamily="18" charset="0"/>
              </a:rPr>
              <a:t> of why </a:t>
            </a:r>
            <a:r>
              <a:rPr lang="en-US" sz="1400" dirty="0" err="1" smtClean="0">
                <a:latin typeface="Times New Roman" panose="02020603050405020304" pitchFamily="18" charset="0"/>
                <a:cs typeface="Times New Roman" panose="02020603050405020304" pitchFamily="18" charset="0"/>
              </a:rPr>
              <a:t>AdaGrad</a:t>
            </a:r>
            <a:r>
              <a:rPr lang="en-US" sz="1400" dirty="0" smtClean="0">
                <a:latin typeface="Times New Roman" panose="02020603050405020304" pitchFamily="18" charset="0"/>
                <a:cs typeface="Times New Roman" panose="02020603050405020304" pitchFamily="18" charset="0"/>
              </a:rPr>
              <a:t> is Better</a:t>
            </a:r>
            <a:endParaRPr lang="en-IN" sz="14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213789208"/>
      </p:ext>
    </p:extLst>
  </p:cSld>
  <p:clrMapOvr>
    <a:masterClrMapping/>
  </p:clrMapOvr>
  <p:timing>
    <p:tnLst>
      <p:par>
        <p:cTn id="1" dur="indefinite" restart="never" nodeType="tmRoot"/>
      </p:par>
    </p:tnLst>
  </p:timing>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cap="small" dirty="0"/>
              <a:t>Adaptive Gradient(</a:t>
            </a:r>
            <a:r>
              <a:rPr lang="en-US" cap="small" dirty="0" err="1"/>
              <a:t>AdaGrad</a:t>
            </a:r>
            <a:r>
              <a:rPr lang="en-US" cap="small" dirty="0"/>
              <a:t>)</a:t>
            </a:r>
          </a:p>
        </p:txBody>
      </p:sp>
      <p:sp>
        <p:nvSpPr>
          <p:cNvPr id="3" name="Content Placeholder 2"/>
          <p:cNvSpPr>
            <a:spLocks noGrp="1"/>
          </p:cNvSpPr>
          <p:nvPr>
            <p:ph idx="1"/>
          </p:nvPr>
        </p:nvSpPr>
        <p:spPr/>
        <p:txBody>
          <a:bodyPr>
            <a:normAutofit/>
          </a:bodyPr>
          <a:lstStyle/>
          <a:p>
            <a:endParaRPr lang="en-US" dirty="0"/>
          </a:p>
          <a:p>
            <a:endParaRPr lang="en-US" dirty="0"/>
          </a:p>
          <a:p>
            <a:endParaRPr lang="en-US" dirty="0"/>
          </a:p>
        </p:txBody>
      </p:sp>
      <p:sp>
        <p:nvSpPr>
          <p:cNvPr id="4" name="Date Placeholder 3"/>
          <p:cNvSpPr>
            <a:spLocks noGrp="1"/>
          </p:cNvSpPr>
          <p:nvPr>
            <p:ph type="dt" sz="half" idx="10"/>
          </p:nvPr>
        </p:nvSpPr>
        <p:spPr/>
        <p:txBody>
          <a:bodyPr/>
          <a:lstStyle/>
          <a:p>
            <a:fld id="{E7067A60-51C7-4095-BFA9-1CE32DCBA06F}" type="datetime1">
              <a:rPr lang="en-US" smtClean="0"/>
              <a:pPr/>
              <a:t>2/9/2026</a:t>
            </a:fld>
            <a:endParaRPr lang="en-US" dirty="0"/>
          </a:p>
        </p:txBody>
      </p:sp>
      <p:sp>
        <p:nvSpPr>
          <p:cNvPr id="6" name="Slide Number Placeholder 5"/>
          <p:cNvSpPr>
            <a:spLocks noGrp="1"/>
          </p:cNvSpPr>
          <p:nvPr>
            <p:ph type="sldNum" sz="quarter" idx="12"/>
          </p:nvPr>
        </p:nvSpPr>
        <p:spPr/>
        <p:txBody>
          <a:bodyPr/>
          <a:lstStyle/>
          <a:p>
            <a:fld id="{A03BBF96-A7A5-4867-9A4A-2F26A3CC4EC3}" type="slidenum">
              <a:rPr lang="en-US" smtClean="0"/>
              <a:pPr/>
              <a:t>65</a:t>
            </a:fld>
            <a:endParaRPr lang="en-US" dirty="0"/>
          </a:p>
        </p:txBody>
      </p:sp>
      <p:sp>
        <p:nvSpPr>
          <p:cNvPr id="7" name="TextBox 6"/>
          <p:cNvSpPr txBox="1"/>
          <p:nvPr/>
        </p:nvSpPr>
        <p:spPr>
          <a:xfrm>
            <a:off x="0" y="0"/>
            <a:ext cx="4572000" cy="369332"/>
          </a:xfrm>
          <a:prstGeom prst="rect">
            <a:avLst/>
          </a:prstGeom>
          <a:noFill/>
        </p:spPr>
        <p:txBody>
          <a:bodyPr wrap="square" rtlCol="0">
            <a:spAutoFit/>
          </a:bodyPr>
          <a:lstStyle/>
          <a:p>
            <a:pPr algn="r"/>
            <a:r>
              <a:rPr lang="en-US" b="1" dirty="0">
                <a:solidFill>
                  <a:schemeClr val="bg1"/>
                </a:solidFill>
              </a:rPr>
              <a:t>Introduction to Neural Network</a:t>
            </a:r>
          </a:p>
        </p:txBody>
      </p:sp>
      <p:sp>
        <p:nvSpPr>
          <p:cNvPr id="8" name="Rectangle 2"/>
          <p:cNvSpPr>
            <a:spLocks noChangeArrowheads="1"/>
          </p:cNvSpPr>
          <p:nvPr/>
        </p:nvSpPr>
        <p:spPr bwMode="auto">
          <a:xfrm>
            <a:off x="0" y="0"/>
            <a:ext cx="91440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sp>
        <p:nvSpPr>
          <p:cNvPr id="9" name="Rectangle 2"/>
          <p:cNvSpPr>
            <a:spLocks noChangeArrowheads="1"/>
          </p:cNvSpPr>
          <p:nvPr/>
        </p:nvSpPr>
        <p:spPr bwMode="auto">
          <a:xfrm>
            <a:off x="0" y="0"/>
            <a:ext cx="91440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sp>
        <p:nvSpPr>
          <p:cNvPr id="11" name="Footer Placeholder 4">
            <a:extLst>
              <a:ext uri="{FF2B5EF4-FFF2-40B4-BE49-F238E27FC236}">
                <a16:creationId xmlns:a16="http://schemas.microsoft.com/office/drawing/2014/main" id="{CBB301ED-B8A4-4772-B559-A9E41E7472BD}"/>
              </a:ext>
            </a:extLst>
          </p:cNvPr>
          <p:cNvSpPr>
            <a:spLocks noGrp="1"/>
          </p:cNvSpPr>
          <p:nvPr>
            <p:ph type="ftr" sz="quarter" idx="11"/>
          </p:nvPr>
        </p:nvSpPr>
        <p:spPr>
          <a:xfrm>
            <a:off x="2286000" y="6629400"/>
            <a:ext cx="4136571" cy="228600"/>
          </a:xfrm>
        </p:spPr>
        <p:txBody>
          <a:bodyPr/>
          <a:lstStyle/>
          <a:p>
            <a:r>
              <a:rPr lang="en-US" dirty="0"/>
              <a:t>Dr. Sibarama Panigrahi, Dept. of CSE, NIT Rourkela</a:t>
            </a:r>
          </a:p>
        </p:txBody>
      </p:sp>
      <p:cxnSp>
        <p:nvCxnSpPr>
          <p:cNvPr id="10" name="Straight Arrow Connector 9"/>
          <p:cNvCxnSpPr/>
          <p:nvPr/>
        </p:nvCxnSpPr>
        <p:spPr>
          <a:xfrm>
            <a:off x="4038600" y="3962400"/>
            <a:ext cx="3886200" cy="1588"/>
          </a:xfrm>
          <a:prstGeom prst="straightConnector1">
            <a:avLst/>
          </a:prstGeom>
          <a:ln w="38100">
            <a:tailEnd type="arrow"/>
          </a:ln>
        </p:spPr>
        <p:style>
          <a:lnRef idx="1">
            <a:schemeClr val="accent1"/>
          </a:lnRef>
          <a:fillRef idx="0">
            <a:schemeClr val="accent1"/>
          </a:fillRef>
          <a:effectRef idx="0">
            <a:schemeClr val="accent1"/>
          </a:effectRef>
          <a:fontRef idx="minor">
            <a:schemeClr val="tx1"/>
          </a:fontRef>
        </p:style>
      </p:cxnSp>
      <p:cxnSp>
        <p:nvCxnSpPr>
          <p:cNvPr id="12" name="Straight Arrow Connector 11"/>
          <p:cNvCxnSpPr/>
          <p:nvPr/>
        </p:nvCxnSpPr>
        <p:spPr>
          <a:xfrm rot="5400000" flipH="1" flipV="1">
            <a:off x="2933700" y="2857500"/>
            <a:ext cx="2209800" cy="1588"/>
          </a:xfrm>
          <a:prstGeom prst="straightConnector1">
            <a:avLst/>
          </a:prstGeom>
          <a:ln w="47625">
            <a:tailEnd type="arrow"/>
          </a:ln>
        </p:spPr>
        <p:style>
          <a:lnRef idx="1">
            <a:schemeClr val="accent1"/>
          </a:lnRef>
          <a:fillRef idx="0">
            <a:schemeClr val="accent1"/>
          </a:fillRef>
          <a:effectRef idx="0">
            <a:schemeClr val="accent1"/>
          </a:effectRef>
          <a:fontRef idx="minor">
            <a:schemeClr val="tx1"/>
          </a:fontRef>
        </p:style>
      </p:cxnSp>
      <p:cxnSp>
        <p:nvCxnSpPr>
          <p:cNvPr id="13" name="Straight Arrow Connector 12"/>
          <p:cNvCxnSpPr/>
          <p:nvPr/>
        </p:nvCxnSpPr>
        <p:spPr>
          <a:xfrm rot="10800000" flipV="1">
            <a:off x="2209800" y="3962400"/>
            <a:ext cx="1828800" cy="1524000"/>
          </a:xfrm>
          <a:prstGeom prst="straightConnector1">
            <a:avLst/>
          </a:prstGeom>
          <a:ln w="47625">
            <a:tailEnd type="arrow"/>
          </a:ln>
        </p:spPr>
        <p:style>
          <a:lnRef idx="1">
            <a:schemeClr val="accent1"/>
          </a:lnRef>
          <a:fillRef idx="0">
            <a:schemeClr val="accent1"/>
          </a:fillRef>
          <a:effectRef idx="0">
            <a:schemeClr val="accent1"/>
          </a:effectRef>
          <a:fontRef idx="minor">
            <a:schemeClr val="tx1"/>
          </a:fontRef>
        </p:style>
      </p:cxnSp>
      <p:cxnSp>
        <p:nvCxnSpPr>
          <p:cNvPr id="14" name="Straight Arrow Connector 13"/>
          <p:cNvCxnSpPr/>
          <p:nvPr/>
        </p:nvCxnSpPr>
        <p:spPr>
          <a:xfrm rot="5400000">
            <a:off x="3657600" y="4343400"/>
            <a:ext cx="762000" cy="1588"/>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cxnSp>
        <p:nvCxnSpPr>
          <p:cNvPr id="15" name="Straight Arrow Connector 14"/>
          <p:cNvCxnSpPr/>
          <p:nvPr/>
        </p:nvCxnSpPr>
        <p:spPr>
          <a:xfrm rot="16200000" flipH="1">
            <a:off x="3810000" y="4191000"/>
            <a:ext cx="685800" cy="228600"/>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cxnSp>
        <p:nvCxnSpPr>
          <p:cNvPr id="16" name="Straight Arrow Connector 15"/>
          <p:cNvCxnSpPr/>
          <p:nvPr/>
        </p:nvCxnSpPr>
        <p:spPr>
          <a:xfrm rot="16200000" flipH="1">
            <a:off x="4038600" y="3962400"/>
            <a:ext cx="457200" cy="457200"/>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cxnSp>
        <p:nvCxnSpPr>
          <p:cNvPr id="17" name="Straight Arrow Connector 16"/>
          <p:cNvCxnSpPr/>
          <p:nvPr/>
        </p:nvCxnSpPr>
        <p:spPr>
          <a:xfrm>
            <a:off x="4038600" y="3962400"/>
            <a:ext cx="685800" cy="228600"/>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sp>
        <p:nvSpPr>
          <p:cNvPr id="18" name="Freeform 17"/>
          <p:cNvSpPr/>
          <p:nvPr/>
        </p:nvSpPr>
        <p:spPr>
          <a:xfrm>
            <a:off x="2402006" y="1906138"/>
            <a:ext cx="5377218" cy="2033516"/>
          </a:xfrm>
          <a:custGeom>
            <a:avLst/>
            <a:gdLst>
              <a:gd name="connsiteX0" fmla="*/ 0 w 5377218"/>
              <a:gd name="connsiteY0" fmla="*/ 1669575 h 2033516"/>
              <a:gd name="connsiteX1" fmla="*/ 232012 w 5377218"/>
              <a:gd name="connsiteY1" fmla="*/ 1055426 h 2033516"/>
              <a:gd name="connsiteX2" fmla="*/ 477672 w 5377218"/>
              <a:gd name="connsiteY2" fmla="*/ 864358 h 2033516"/>
              <a:gd name="connsiteX3" fmla="*/ 723331 w 5377218"/>
              <a:gd name="connsiteY3" fmla="*/ 1232847 h 2033516"/>
              <a:gd name="connsiteX4" fmla="*/ 1037230 w 5377218"/>
              <a:gd name="connsiteY4" fmla="*/ 1860644 h 2033516"/>
              <a:gd name="connsiteX5" fmla="*/ 1255594 w 5377218"/>
              <a:gd name="connsiteY5" fmla="*/ 1533098 h 2033516"/>
              <a:gd name="connsiteX6" fmla="*/ 1460310 w 5377218"/>
              <a:gd name="connsiteY6" fmla="*/ 1096369 h 2033516"/>
              <a:gd name="connsiteX7" fmla="*/ 1746913 w 5377218"/>
              <a:gd name="connsiteY7" fmla="*/ 1601337 h 2033516"/>
              <a:gd name="connsiteX8" fmla="*/ 2169994 w 5377218"/>
              <a:gd name="connsiteY8" fmla="*/ 645993 h 2033516"/>
              <a:gd name="connsiteX9" fmla="*/ 2524836 w 5377218"/>
              <a:gd name="connsiteY9" fmla="*/ 1287438 h 2033516"/>
              <a:gd name="connsiteX10" fmla="*/ 2879678 w 5377218"/>
              <a:gd name="connsiteY10" fmla="*/ 113731 h 2033516"/>
              <a:gd name="connsiteX11" fmla="*/ 3698543 w 5377218"/>
              <a:gd name="connsiteY11" fmla="*/ 1969826 h 2033516"/>
              <a:gd name="connsiteX12" fmla="*/ 3957851 w 5377218"/>
              <a:gd name="connsiteY12" fmla="*/ 495868 h 2033516"/>
              <a:gd name="connsiteX13" fmla="*/ 4517409 w 5377218"/>
              <a:gd name="connsiteY13" fmla="*/ 1451211 h 2033516"/>
              <a:gd name="connsiteX14" fmla="*/ 4763069 w 5377218"/>
              <a:gd name="connsiteY14" fmla="*/ 809766 h 2033516"/>
              <a:gd name="connsiteX15" fmla="*/ 5186149 w 5377218"/>
              <a:gd name="connsiteY15" fmla="*/ 1737814 h 2033516"/>
              <a:gd name="connsiteX16" fmla="*/ 5377218 w 5377218"/>
              <a:gd name="connsiteY16" fmla="*/ 454925 h 2033516"/>
              <a:gd name="connsiteX17" fmla="*/ 5377218 w 5377218"/>
              <a:gd name="connsiteY17" fmla="*/ 454925 h 203351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5377218" h="2033516">
                <a:moveTo>
                  <a:pt x="0" y="1669575"/>
                </a:moveTo>
                <a:cubicBezTo>
                  <a:pt x="76200" y="1429602"/>
                  <a:pt x="152400" y="1189629"/>
                  <a:pt x="232012" y="1055426"/>
                </a:cubicBezTo>
                <a:cubicBezTo>
                  <a:pt x="311624" y="921223"/>
                  <a:pt x="395786" y="834788"/>
                  <a:pt x="477672" y="864358"/>
                </a:cubicBezTo>
                <a:cubicBezTo>
                  <a:pt x="559558" y="893928"/>
                  <a:pt x="630071" y="1066799"/>
                  <a:pt x="723331" y="1232847"/>
                </a:cubicBezTo>
                <a:cubicBezTo>
                  <a:pt x="816591" y="1398895"/>
                  <a:pt x="948519" y="1810602"/>
                  <a:pt x="1037230" y="1860644"/>
                </a:cubicBezTo>
                <a:cubicBezTo>
                  <a:pt x="1125941" y="1910686"/>
                  <a:pt x="1185081" y="1660477"/>
                  <a:pt x="1255594" y="1533098"/>
                </a:cubicBezTo>
                <a:cubicBezTo>
                  <a:pt x="1326107" y="1405719"/>
                  <a:pt x="1378424" y="1084996"/>
                  <a:pt x="1460310" y="1096369"/>
                </a:cubicBezTo>
                <a:cubicBezTo>
                  <a:pt x="1542196" y="1107742"/>
                  <a:pt x="1628632" y="1676400"/>
                  <a:pt x="1746913" y="1601337"/>
                </a:cubicBezTo>
                <a:cubicBezTo>
                  <a:pt x="1865194" y="1526274"/>
                  <a:pt x="2040340" y="698309"/>
                  <a:pt x="2169994" y="645993"/>
                </a:cubicBezTo>
                <a:cubicBezTo>
                  <a:pt x="2299648" y="593677"/>
                  <a:pt x="2406555" y="1376148"/>
                  <a:pt x="2524836" y="1287438"/>
                </a:cubicBezTo>
                <a:cubicBezTo>
                  <a:pt x="2643117" y="1198728"/>
                  <a:pt x="2684060" y="0"/>
                  <a:pt x="2879678" y="113731"/>
                </a:cubicBezTo>
                <a:cubicBezTo>
                  <a:pt x="3075296" y="227462"/>
                  <a:pt x="3518847" y="1906136"/>
                  <a:pt x="3698543" y="1969826"/>
                </a:cubicBezTo>
                <a:cubicBezTo>
                  <a:pt x="3878239" y="2033516"/>
                  <a:pt x="3821373" y="582304"/>
                  <a:pt x="3957851" y="495868"/>
                </a:cubicBezTo>
                <a:cubicBezTo>
                  <a:pt x="4094329" y="409432"/>
                  <a:pt x="4383206" y="1398895"/>
                  <a:pt x="4517409" y="1451211"/>
                </a:cubicBezTo>
                <a:cubicBezTo>
                  <a:pt x="4651612" y="1503527"/>
                  <a:pt x="4651612" y="761999"/>
                  <a:pt x="4763069" y="809766"/>
                </a:cubicBezTo>
                <a:cubicBezTo>
                  <a:pt x="4874526" y="857533"/>
                  <a:pt x="5083791" y="1796954"/>
                  <a:pt x="5186149" y="1737814"/>
                </a:cubicBezTo>
                <a:cubicBezTo>
                  <a:pt x="5288507" y="1678674"/>
                  <a:pt x="5377218" y="454925"/>
                  <a:pt x="5377218" y="454925"/>
                </a:cubicBezTo>
                <a:lnTo>
                  <a:pt x="5377218" y="454925"/>
                </a:lnTo>
              </a:path>
            </a:pathLst>
          </a:custGeom>
          <a:ln w="38100">
            <a:solidFill>
              <a:schemeClr val="accent2">
                <a:lumMod val="75000"/>
              </a:schemeClr>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sp>
        <p:nvSpPr>
          <p:cNvPr id="19" name="Oval 18"/>
          <p:cNvSpPr/>
          <p:nvPr/>
        </p:nvSpPr>
        <p:spPr>
          <a:xfrm>
            <a:off x="2819400" y="2743200"/>
            <a:ext cx="152400" cy="76200"/>
          </a:xfrm>
          <a:prstGeom prst="ellipse">
            <a:avLst/>
          </a:prstGeom>
          <a:solidFill>
            <a:srgbClr val="FF0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0" name="Rectangle 19"/>
          <p:cNvSpPr/>
          <p:nvPr/>
        </p:nvSpPr>
        <p:spPr>
          <a:xfrm>
            <a:off x="5257800" y="4038600"/>
            <a:ext cx="1524000" cy="2286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lumMod val="95000"/>
                    <a:lumOff val="5000"/>
                  </a:schemeClr>
                </a:solidFill>
              </a:rPr>
              <a:t>Weights----</a:t>
            </a:r>
            <a:r>
              <a:rPr lang="en-US" dirty="0">
                <a:solidFill>
                  <a:schemeClr val="tx1">
                    <a:lumMod val="95000"/>
                    <a:lumOff val="5000"/>
                  </a:schemeClr>
                </a:solidFill>
                <a:sym typeface="Wingdings" pitchFamily="2" charset="2"/>
              </a:rPr>
              <a:t></a:t>
            </a:r>
            <a:endParaRPr lang="en-US" dirty="0">
              <a:solidFill>
                <a:schemeClr val="tx1">
                  <a:lumMod val="95000"/>
                  <a:lumOff val="5000"/>
                </a:schemeClr>
              </a:solidFill>
            </a:endParaRPr>
          </a:p>
        </p:txBody>
      </p:sp>
      <p:sp>
        <p:nvSpPr>
          <p:cNvPr id="21" name="Rectangle 20"/>
          <p:cNvSpPr/>
          <p:nvPr/>
        </p:nvSpPr>
        <p:spPr>
          <a:xfrm rot="19285269">
            <a:off x="2362200" y="4426569"/>
            <a:ext cx="1524000" cy="2286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lumMod val="95000"/>
                    <a:lumOff val="5000"/>
                  </a:schemeClr>
                </a:solidFill>
              </a:rPr>
              <a:t>Weights----</a:t>
            </a:r>
            <a:r>
              <a:rPr lang="en-US" dirty="0">
                <a:solidFill>
                  <a:schemeClr val="tx1">
                    <a:lumMod val="95000"/>
                    <a:lumOff val="5000"/>
                  </a:schemeClr>
                </a:solidFill>
                <a:sym typeface="Wingdings" pitchFamily="2" charset="2"/>
              </a:rPr>
              <a:t></a:t>
            </a:r>
            <a:endParaRPr lang="en-US" dirty="0">
              <a:solidFill>
                <a:schemeClr val="tx1">
                  <a:lumMod val="95000"/>
                  <a:lumOff val="5000"/>
                </a:schemeClr>
              </a:solidFill>
            </a:endParaRPr>
          </a:p>
        </p:txBody>
      </p:sp>
      <p:sp>
        <p:nvSpPr>
          <p:cNvPr id="22" name="Rectangle 21"/>
          <p:cNvSpPr/>
          <p:nvPr/>
        </p:nvSpPr>
        <p:spPr>
          <a:xfrm rot="16200000">
            <a:off x="3086100" y="2324100"/>
            <a:ext cx="1524000" cy="2286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lumMod val="95000"/>
                    <a:lumOff val="5000"/>
                  </a:schemeClr>
                </a:solidFill>
              </a:rPr>
              <a:t>Error----</a:t>
            </a:r>
            <a:r>
              <a:rPr lang="en-US" dirty="0">
                <a:solidFill>
                  <a:schemeClr val="tx1">
                    <a:lumMod val="95000"/>
                    <a:lumOff val="5000"/>
                  </a:schemeClr>
                </a:solidFill>
                <a:sym typeface="Wingdings" pitchFamily="2" charset="2"/>
              </a:rPr>
              <a:t></a:t>
            </a:r>
            <a:endParaRPr lang="en-US" dirty="0">
              <a:solidFill>
                <a:schemeClr val="tx1">
                  <a:lumMod val="95000"/>
                  <a:lumOff val="5000"/>
                </a:schemeClr>
              </a:solidFill>
            </a:endParaRPr>
          </a:p>
        </p:txBody>
      </p:sp>
      <p:sp>
        <p:nvSpPr>
          <p:cNvPr id="23" name="Oval 22"/>
          <p:cNvSpPr/>
          <p:nvPr/>
        </p:nvSpPr>
        <p:spPr>
          <a:xfrm>
            <a:off x="5638800" y="2895600"/>
            <a:ext cx="152400" cy="76200"/>
          </a:xfrm>
          <a:prstGeom prst="ellipse">
            <a:avLst/>
          </a:prstGeom>
          <a:solidFill>
            <a:srgbClr val="FF0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4" name="TextBox 23"/>
          <p:cNvSpPr txBox="1"/>
          <p:nvPr/>
        </p:nvSpPr>
        <p:spPr>
          <a:xfrm flipH="1">
            <a:off x="6172200" y="6600824"/>
            <a:ext cx="3048000" cy="307777"/>
          </a:xfrm>
          <a:prstGeom prst="rect">
            <a:avLst/>
          </a:prstGeom>
          <a:noFill/>
        </p:spPr>
        <p:txBody>
          <a:bodyPr wrap="square" rtlCol="0">
            <a:spAutoFit/>
          </a:bodyPr>
          <a:lstStyle/>
          <a:p>
            <a:r>
              <a:rPr lang="en-US" sz="1400" dirty="0" smtClean="0">
                <a:latin typeface="Times New Roman" panose="02020603050405020304" pitchFamily="18" charset="0"/>
                <a:cs typeface="Times New Roman" panose="02020603050405020304" pitchFamily="18" charset="0"/>
              </a:rPr>
              <a:t>       Pros &amp; Cons of </a:t>
            </a:r>
            <a:r>
              <a:rPr lang="en-US" sz="1400" dirty="0" err="1" smtClean="0">
                <a:latin typeface="Times New Roman" panose="02020603050405020304" pitchFamily="18" charset="0"/>
                <a:cs typeface="Times New Roman" panose="02020603050405020304" pitchFamily="18" charset="0"/>
              </a:rPr>
              <a:t>AdaGrad</a:t>
            </a:r>
            <a:endParaRPr lang="en-IN" sz="14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417795066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0" presetClass="path" presetSubtype="0" accel="50000" decel="50000" fill="hold" grpId="0" nodeType="clickEffect">
                                  <p:stCondLst>
                                    <p:cond delay="0"/>
                                  </p:stCondLst>
                                  <p:childTnLst>
                                    <p:animMotion origin="layout" path="M 0 0 C 0.01337 -0.00277 0.02691 -0.00555 0.02986 0 C 0.03281 0.00555 0.01563 0.02752 0.01788 0.03377 C 0.02014 0.04001 0.0408 0.03169 0.04323 0.03793 C 0.04566 0.04417 0.0316 0.05782 0.03281 0.07169 C 0.03403 0.08557 0.04601 0.10916 0.0507 0.12142 C 0.05538 0.13367 0.05955 0.14131 0.06129 0.14524 " pathEditMode="relative" ptsTypes="aaaaaaA">
                                      <p:cBhvr>
                                        <p:cTn id="6" dur="5000" fill="hold"/>
                                        <p:tgtEl>
                                          <p:spTgt spid="19"/>
                                        </p:tgtEl>
                                        <p:attrNameLst>
                                          <p:attrName>ppt_x</p:attrName>
                                          <p:attrName>ppt_y</p:attrName>
                                        </p:attrNameLst>
                                      </p:cBhvr>
                                    </p:animMotion>
                                  </p:childTnLst>
                                </p:cTn>
                              </p:par>
                            </p:childTnLst>
                          </p:cTn>
                        </p:par>
                      </p:childTnLst>
                    </p:cTn>
                  </p:par>
                  <p:par>
                    <p:cTn id="7" fill="hold">
                      <p:stCondLst>
                        <p:cond delay="indefinite"/>
                      </p:stCondLst>
                      <p:childTnLst>
                        <p:par>
                          <p:cTn id="8" fill="hold">
                            <p:stCondLst>
                              <p:cond delay="0"/>
                            </p:stCondLst>
                            <p:childTnLst>
                              <p:par>
                                <p:cTn id="9" presetID="1" presetClass="exit" presetSubtype="0" fill="hold" grpId="1" nodeType="clickEffect">
                                  <p:stCondLst>
                                    <p:cond delay="0"/>
                                  </p:stCondLst>
                                  <p:childTnLst>
                                    <p:set>
                                      <p:cBhvr>
                                        <p:cTn id="10" dur="1" fill="hold">
                                          <p:stCondLst>
                                            <p:cond delay="0"/>
                                          </p:stCondLst>
                                        </p:cTn>
                                        <p:tgtEl>
                                          <p:spTgt spid="19"/>
                                        </p:tgtEl>
                                        <p:attrNameLst>
                                          <p:attrName>style.visibility</p:attrName>
                                        </p:attrNameLst>
                                      </p:cBhvr>
                                      <p:to>
                                        <p:strVal val="hidden"/>
                                      </p:to>
                                    </p:set>
                                  </p:childTnLst>
                                </p:cTn>
                              </p:par>
                            </p:childTnLst>
                          </p:cTn>
                        </p:par>
                      </p:childTnLst>
                    </p:cTn>
                  </p:par>
                  <p:par>
                    <p:cTn id="11" fill="hold">
                      <p:stCondLst>
                        <p:cond delay="indefinite"/>
                      </p:stCondLst>
                      <p:childTnLst>
                        <p:par>
                          <p:cTn id="12" fill="hold">
                            <p:stCondLst>
                              <p:cond delay="0"/>
                            </p:stCondLst>
                            <p:childTnLst>
                              <p:par>
                                <p:cTn id="13" presetID="0" presetClass="path" presetSubtype="0" accel="50000" decel="50000" fill="hold" grpId="0" nodeType="clickEffect">
                                  <p:stCondLst>
                                    <p:cond delay="0"/>
                                  </p:stCondLst>
                                  <p:childTnLst>
                                    <p:animMotion origin="layout" path="M 0 0 L 0 0 C 0.00468 -0.00069 0.00937 -0.00116 0.01406 -0.00208 C 0.01562 -0.00255 0.01701 -0.00417 0.01857 -0.00417 C 0.02135 -0.00417 0.02378 -0.00278 0.02656 -0.00208 C 0.02829 0.00718 0.0309 0.01713 0.02656 0.02708 C 0.02482 0.03079 0.02031 0.02986 0.01718 0.03125 L 0.01232 0.03333 C 0.01128 0.03542 0.01076 0.03796 0.0092 0.03958 C 0.00538 0.04375 0.00277 0.03912 0.00607 0.04375 L 0.00781 0.04375 C 0.01197 0.04167 0.01597 0.03912 0.02031 0.0375 C 0.02274 0.03634 0.02586 0.03333 0.02795 0.03542 C 0.03072 0.03796 0.03107 0.04792 0.03107 0.04792 C 0.03072 0.05208 0.03107 0.05648 0.02968 0.06042 C 0.02881 0.0625 0.02621 0.06273 0.02482 0.06458 C 0.02361 0.0662 0.02309 0.06898 0.0217 0.07083 C 0.01666 0.07755 0.01718 0.07176 0.01718 0.07708 L 0.01718 0.07708 C 0.02065 0.07361 0.02413 0.06944 0.02795 0.06667 C 0.0309 0.06458 0.03732 0.0625 0.03732 0.0625 C 0.0375 0.0625 0.04947 0.06435 0.05156 0.06667 C 0.05295 0.06806 0.05468 0.07292 0.05468 0.07292 L 0.05468 0.07292 C 0.0519 0.07106 0.04131 0.0625 0.03593 0.0625 C 0.03263 0.0625 0.02968 0.06389 0.02656 0.06458 C 0.02152 0.07431 0.02395 0.06829 0.02031 0.08333 C 0.01822 0.09097 0.01718 0.08843 0.0217 0.09167 L 0.0217 0.08542 C 0.03645 0.07801 0.03229 0.07731 0.04843 0.08125 C 0.04947 0.08148 0.05052 0.08264 0.05156 0.08333 L 0.05156 0.08333 C 0.04149 0.08032 0.03836 0.07662 0.02968 0.08125 C 0.02777 0.08194 0.02656 0.08403 0.02482 0.08542 C 0.02291 0.09306 0.02413 0.08958 0.0217 0.09583 L 0.0217 0.09583 C 0.02656 0.0831 0.02517 0.07986 0.03281 0.075 C 0.0342 0.07384 0.03593 0.07361 0.03732 0.07292 C 0.04635 0.07477 0.04635 0.07176 0.04982 0.08125 C 0.05017 0.08171 0.04982 0.08264 0.04982 0.08333 L 0.04982 0.08333 C 0.04288 0.07523 0.04045 0.06574 0.03107 0.07292 C 0.02951 0.07407 0.02899 0.07708 0.02795 0.07917 C 0.0276 0.08125 0.0276 0.0838 0.02656 0.08542 C 0.02534 0.08681 0.0217 0.0875 0.0217 0.0875 " pathEditMode="relative" ptsTypes="AAAAAAAAAAAAAAAAAAAAAAAAAAAAAAAAAAAAAAAAAAAAA">
                                      <p:cBhvr>
                                        <p:cTn id="14" dur="4000" fill="hold"/>
                                        <p:tgtEl>
                                          <p:spTgt spid="23"/>
                                        </p:tgtEl>
                                        <p:attrNameLst>
                                          <p:attrName>ppt_x</p:attrName>
                                          <p:attrName>ppt_y</p:attrName>
                                        </p:attrNameLst>
                                      </p:cBhvr>
                                    </p:animMotion>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9" grpId="0" animBg="1"/>
      <p:bldP spid="19" grpId="1" animBg="1"/>
      <p:bldP spid="23" grpId="0" animBg="1"/>
    </p:bldLst>
  </p:timing>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cap="small" dirty="0"/>
              <a:t>Adaptive Gradient(</a:t>
            </a:r>
            <a:r>
              <a:rPr lang="en-US" cap="small" dirty="0" err="1"/>
              <a:t>AdaGrad</a:t>
            </a:r>
            <a:r>
              <a:rPr lang="en-US" cap="small" dirty="0"/>
              <a:t>)</a:t>
            </a:r>
          </a:p>
        </p:txBody>
      </p:sp>
      <p:sp>
        <p:nvSpPr>
          <p:cNvPr id="3" name="Content Placeholder 2"/>
          <p:cNvSpPr>
            <a:spLocks noGrp="1"/>
          </p:cNvSpPr>
          <p:nvPr>
            <p:ph idx="1"/>
          </p:nvPr>
        </p:nvSpPr>
        <p:spPr/>
        <p:txBody>
          <a:bodyPr>
            <a:normAutofit/>
          </a:bodyPr>
          <a:lstStyle/>
          <a:p>
            <a:r>
              <a:rPr lang="en-US" dirty="0" smtClean="0"/>
              <a:t>Advantages</a:t>
            </a:r>
          </a:p>
          <a:p>
            <a:pPr lvl="1"/>
            <a:r>
              <a:rPr lang="en-US" dirty="0"/>
              <a:t>No need of manual tuning</a:t>
            </a:r>
          </a:p>
          <a:p>
            <a:pPr lvl="1"/>
            <a:r>
              <a:rPr lang="en-US" dirty="0"/>
              <a:t>Works well for both Sparse and Dense Feature</a:t>
            </a:r>
          </a:p>
          <a:p>
            <a:r>
              <a:rPr lang="en-US" dirty="0" smtClean="0"/>
              <a:t>Disadvantages</a:t>
            </a:r>
            <a:endParaRPr lang="en-US" dirty="0"/>
          </a:p>
          <a:p>
            <a:pPr lvl="1"/>
            <a:r>
              <a:rPr lang="en-US" dirty="0" smtClean="0"/>
              <a:t>As iteration increases, the learning rate will get low, which will result in Slow Convergence.</a:t>
            </a:r>
          </a:p>
          <a:p>
            <a:pPr lvl="1"/>
            <a:r>
              <a:rPr lang="en-US" dirty="0"/>
              <a:t>Computationally </a:t>
            </a:r>
            <a:r>
              <a:rPr lang="en-US" dirty="0" smtClean="0"/>
              <a:t>expensive.</a:t>
            </a:r>
            <a:endParaRPr lang="en-US" dirty="0"/>
          </a:p>
          <a:p>
            <a:pPr lvl="1"/>
            <a:endParaRPr lang="en-US" dirty="0"/>
          </a:p>
        </p:txBody>
      </p:sp>
      <p:sp>
        <p:nvSpPr>
          <p:cNvPr id="4" name="Date Placeholder 3"/>
          <p:cNvSpPr>
            <a:spLocks noGrp="1"/>
          </p:cNvSpPr>
          <p:nvPr>
            <p:ph type="dt" sz="half" idx="10"/>
          </p:nvPr>
        </p:nvSpPr>
        <p:spPr/>
        <p:txBody>
          <a:bodyPr/>
          <a:lstStyle/>
          <a:p>
            <a:fld id="{E7067A60-51C7-4095-BFA9-1CE32DCBA06F}" type="datetime1">
              <a:rPr lang="en-US" smtClean="0"/>
              <a:pPr/>
              <a:t>2/9/2026</a:t>
            </a:fld>
            <a:endParaRPr lang="en-US" dirty="0"/>
          </a:p>
        </p:txBody>
      </p:sp>
      <p:sp>
        <p:nvSpPr>
          <p:cNvPr id="6" name="Slide Number Placeholder 5"/>
          <p:cNvSpPr>
            <a:spLocks noGrp="1"/>
          </p:cNvSpPr>
          <p:nvPr>
            <p:ph type="sldNum" sz="quarter" idx="12"/>
          </p:nvPr>
        </p:nvSpPr>
        <p:spPr/>
        <p:txBody>
          <a:bodyPr/>
          <a:lstStyle/>
          <a:p>
            <a:fld id="{A03BBF96-A7A5-4867-9A4A-2F26A3CC4EC3}" type="slidenum">
              <a:rPr lang="en-US" smtClean="0"/>
              <a:pPr/>
              <a:t>66</a:t>
            </a:fld>
            <a:endParaRPr lang="en-US" dirty="0"/>
          </a:p>
        </p:txBody>
      </p:sp>
      <p:sp>
        <p:nvSpPr>
          <p:cNvPr id="7" name="TextBox 6"/>
          <p:cNvSpPr txBox="1"/>
          <p:nvPr/>
        </p:nvSpPr>
        <p:spPr>
          <a:xfrm>
            <a:off x="0" y="0"/>
            <a:ext cx="4572000" cy="369332"/>
          </a:xfrm>
          <a:prstGeom prst="rect">
            <a:avLst/>
          </a:prstGeom>
          <a:noFill/>
        </p:spPr>
        <p:txBody>
          <a:bodyPr wrap="square" rtlCol="0">
            <a:spAutoFit/>
          </a:bodyPr>
          <a:lstStyle/>
          <a:p>
            <a:pPr algn="r"/>
            <a:r>
              <a:rPr lang="en-US" b="1" dirty="0">
                <a:solidFill>
                  <a:schemeClr val="bg1"/>
                </a:solidFill>
              </a:rPr>
              <a:t>Introduction to Deep Neural Network</a:t>
            </a:r>
          </a:p>
        </p:txBody>
      </p:sp>
      <p:sp>
        <p:nvSpPr>
          <p:cNvPr id="8" name="Rectangle 2"/>
          <p:cNvSpPr>
            <a:spLocks noChangeArrowheads="1"/>
          </p:cNvSpPr>
          <p:nvPr/>
        </p:nvSpPr>
        <p:spPr bwMode="auto">
          <a:xfrm>
            <a:off x="0" y="0"/>
            <a:ext cx="91440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sp>
        <p:nvSpPr>
          <p:cNvPr id="9" name="Rectangle 2"/>
          <p:cNvSpPr>
            <a:spLocks noChangeArrowheads="1"/>
          </p:cNvSpPr>
          <p:nvPr/>
        </p:nvSpPr>
        <p:spPr bwMode="auto">
          <a:xfrm>
            <a:off x="0" y="0"/>
            <a:ext cx="91440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sp>
        <p:nvSpPr>
          <p:cNvPr id="11" name="Footer Placeholder 4">
            <a:extLst>
              <a:ext uri="{FF2B5EF4-FFF2-40B4-BE49-F238E27FC236}">
                <a16:creationId xmlns:a16="http://schemas.microsoft.com/office/drawing/2014/main" id="{CBB301ED-B8A4-4772-B559-A9E41E7472BD}"/>
              </a:ext>
            </a:extLst>
          </p:cNvPr>
          <p:cNvSpPr>
            <a:spLocks noGrp="1"/>
          </p:cNvSpPr>
          <p:nvPr>
            <p:ph type="ftr" sz="quarter" idx="11"/>
          </p:nvPr>
        </p:nvSpPr>
        <p:spPr>
          <a:xfrm>
            <a:off x="2286000" y="6629400"/>
            <a:ext cx="4136571" cy="228600"/>
          </a:xfrm>
        </p:spPr>
        <p:txBody>
          <a:bodyPr/>
          <a:lstStyle/>
          <a:p>
            <a:r>
              <a:rPr lang="en-US" dirty="0"/>
              <a:t>Dr. Sibarama Panigrahi, Dept. of CSE, NIT Rourkela</a:t>
            </a:r>
          </a:p>
        </p:txBody>
      </p:sp>
      <p:sp>
        <p:nvSpPr>
          <p:cNvPr id="10" name="TextBox 9"/>
          <p:cNvSpPr txBox="1"/>
          <p:nvPr/>
        </p:nvSpPr>
        <p:spPr>
          <a:xfrm flipH="1">
            <a:off x="6172200" y="6600824"/>
            <a:ext cx="3048000" cy="307777"/>
          </a:xfrm>
          <a:prstGeom prst="rect">
            <a:avLst/>
          </a:prstGeom>
          <a:noFill/>
        </p:spPr>
        <p:txBody>
          <a:bodyPr wrap="square" rtlCol="0">
            <a:spAutoFit/>
          </a:bodyPr>
          <a:lstStyle/>
          <a:p>
            <a:r>
              <a:rPr lang="en-US" sz="1400" dirty="0" smtClean="0">
                <a:latin typeface="Times New Roman" panose="02020603050405020304" pitchFamily="18" charset="0"/>
                <a:cs typeface="Times New Roman" panose="02020603050405020304" pitchFamily="18" charset="0"/>
              </a:rPr>
              <a:t>      </a:t>
            </a:r>
            <a:r>
              <a:rPr lang="en-US" sz="1400" dirty="0" err="1" smtClean="0">
                <a:latin typeface="Times New Roman" panose="02020603050405020304" pitchFamily="18" charset="0"/>
                <a:cs typeface="Times New Roman" panose="02020603050405020304" pitchFamily="18" charset="0"/>
              </a:rPr>
              <a:t>AdaDelta</a:t>
            </a:r>
            <a:r>
              <a:rPr lang="en-US" sz="1400" dirty="0" smtClean="0">
                <a:latin typeface="Times New Roman" panose="02020603050405020304" pitchFamily="18" charset="0"/>
                <a:cs typeface="Times New Roman" panose="02020603050405020304" pitchFamily="18" charset="0"/>
              </a:rPr>
              <a:t> to overcome slow </a:t>
            </a:r>
            <a:r>
              <a:rPr lang="en-US" sz="1400" dirty="0" err="1" smtClean="0">
                <a:latin typeface="Times New Roman" panose="02020603050405020304" pitchFamily="18" charset="0"/>
                <a:cs typeface="Times New Roman" panose="02020603050405020304" pitchFamily="18" charset="0"/>
              </a:rPr>
              <a:t>Conveg</a:t>
            </a:r>
            <a:endParaRPr lang="en-IN" sz="14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291674559"/>
      </p:ext>
    </p:extLst>
  </p:cSld>
  <p:clrMapOvr>
    <a:masterClrMapping/>
  </p:clrMapOvr>
  <p:timing>
    <p:tnLst>
      <p:par>
        <p:cTn id="1" dur="indefinite" restart="never" nodeType="tmRoot"/>
      </p:par>
    </p:tnLst>
  </p:timing>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cap="small" dirty="0" err="1" smtClean="0"/>
              <a:t>AdaDelta</a:t>
            </a:r>
            <a:endParaRPr lang="en-US" cap="small" dirty="0"/>
          </a:p>
        </p:txBody>
      </p:sp>
      <mc:AlternateContent xmlns:mc="http://schemas.openxmlformats.org/markup-compatibility/2006" xmlns:a14="http://schemas.microsoft.com/office/drawing/2010/main">
        <mc:Choice Requires="a14">
          <p:sp>
            <p:nvSpPr>
              <p:cNvPr id="3" name="Content Placeholder 2"/>
              <p:cNvSpPr>
                <a:spLocks noGrp="1"/>
              </p:cNvSpPr>
              <p:nvPr>
                <p:ph idx="1"/>
              </p:nvPr>
            </p:nvSpPr>
            <p:spPr/>
            <p:txBody>
              <a:bodyPr>
                <a:normAutofit/>
              </a:bodyPr>
              <a:lstStyle/>
              <a:p>
                <a:endParaRPr lang="en-US" dirty="0" smtClean="0"/>
              </a:p>
              <a:p>
                <a:endParaRPr lang="en-US" dirty="0"/>
              </a:p>
              <a:p>
                <a:endParaRPr lang="en-US" dirty="0" smtClean="0"/>
              </a:p>
              <a:p>
                <a14:m>
                  <m:oMath xmlns:m="http://schemas.openxmlformats.org/officeDocument/2006/math">
                    <m:sSub>
                      <m:sSubPr>
                        <m:ctrlPr>
                          <a:rPr lang="en-IN" i="1">
                            <a:latin typeface="Cambria Math" panose="02040503050406030204" pitchFamily="18" charset="0"/>
                          </a:rPr>
                        </m:ctrlPr>
                      </m:sSubPr>
                      <m:e>
                        <m:r>
                          <a:rPr lang="en-IN" i="1">
                            <a:latin typeface="Cambria Math" panose="02040503050406030204" pitchFamily="18" charset="0"/>
                          </a:rPr>
                          <m:t>𝐸</m:t>
                        </m:r>
                        <m:r>
                          <a:rPr lang="en-IN" b="0" i="1" smtClean="0">
                            <a:latin typeface="Cambria Math" panose="02040503050406030204" pitchFamily="18" charset="0"/>
                          </a:rPr>
                          <m:t>𝐷𝐴</m:t>
                        </m:r>
                      </m:e>
                      <m:sub>
                        <m:r>
                          <a:rPr lang="en-IN" i="1">
                            <a:latin typeface="Cambria Math" panose="02040503050406030204" pitchFamily="18" charset="0"/>
                          </a:rPr>
                          <m:t>𝑡</m:t>
                        </m:r>
                        <m:r>
                          <a:rPr lang="en-IN">
                            <a:latin typeface="Cambria Math" panose="02040503050406030204" pitchFamily="18" charset="0"/>
                          </a:rPr>
                          <m:t>−1</m:t>
                        </m:r>
                      </m:sub>
                    </m:sSub>
                  </m:oMath>
                </a14:m>
                <a:r>
                  <a:rPr lang="en-US" dirty="0" smtClean="0"/>
                  <a:t>= </a:t>
                </a:r>
                <a14:m>
                  <m:oMath xmlns:m="http://schemas.openxmlformats.org/officeDocument/2006/math">
                    <m:r>
                      <a:rPr lang="en-IN" i="1">
                        <a:latin typeface="Cambria Math" panose="02040503050406030204" pitchFamily="18" charset="0"/>
                      </a:rPr>
                      <m:t>𝛾</m:t>
                    </m:r>
                    <m:r>
                      <a:rPr lang="en-IN" i="1">
                        <a:latin typeface="Cambria Math" panose="02040503050406030204" pitchFamily="18" charset="0"/>
                      </a:rPr>
                      <m:t> </m:t>
                    </m:r>
                  </m:oMath>
                </a14:m>
                <a:r>
                  <a:rPr lang="en-US" dirty="0" smtClean="0"/>
                  <a:t>* </a:t>
                </a:r>
                <a14:m>
                  <m:oMath xmlns:m="http://schemas.openxmlformats.org/officeDocument/2006/math">
                    <m:sSub>
                      <m:sSubPr>
                        <m:ctrlPr>
                          <a:rPr lang="en-IN" i="1">
                            <a:latin typeface="Cambria Math" panose="02040503050406030204" pitchFamily="18" charset="0"/>
                          </a:rPr>
                        </m:ctrlPr>
                      </m:sSubPr>
                      <m:e>
                        <m:r>
                          <a:rPr lang="en-IN" i="1">
                            <a:latin typeface="Cambria Math" panose="02040503050406030204" pitchFamily="18" charset="0"/>
                          </a:rPr>
                          <m:t>𝐸𝐷𝐴</m:t>
                        </m:r>
                      </m:e>
                      <m:sub>
                        <m:r>
                          <a:rPr lang="en-IN" i="1">
                            <a:latin typeface="Cambria Math" panose="02040503050406030204" pitchFamily="18" charset="0"/>
                          </a:rPr>
                          <m:t>𝑡</m:t>
                        </m:r>
                        <m:r>
                          <a:rPr lang="en-IN">
                            <a:latin typeface="Cambria Math" panose="02040503050406030204" pitchFamily="18" charset="0"/>
                          </a:rPr>
                          <m:t>−1</m:t>
                        </m:r>
                      </m:sub>
                    </m:sSub>
                    <m:r>
                      <a:rPr lang="en-IN" b="0" i="0" smtClean="0">
                        <a:latin typeface="Cambria Math" panose="02040503050406030204" pitchFamily="18" charset="0"/>
                      </a:rPr>
                      <m:t>+</m:t>
                    </m:r>
                    <m:d>
                      <m:dPr>
                        <m:ctrlPr>
                          <a:rPr lang="en-IN" b="0" i="1" smtClean="0">
                            <a:latin typeface="Cambria Math" panose="02040503050406030204" pitchFamily="18" charset="0"/>
                          </a:rPr>
                        </m:ctrlPr>
                      </m:dPr>
                      <m:e>
                        <m:r>
                          <a:rPr lang="en-IN" b="0" i="0" smtClean="0">
                            <a:latin typeface="Cambria Math" panose="02040503050406030204" pitchFamily="18" charset="0"/>
                          </a:rPr>
                          <m:t>1−</m:t>
                        </m:r>
                        <m:r>
                          <a:rPr lang="en-IN" i="1">
                            <a:latin typeface="Cambria Math" panose="02040503050406030204" pitchFamily="18" charset="0"/>
                          </a:rPr>
                          <m:t>𝛾</m:t>
                        </m:r>
                      </m:e>
                    </m:d>
                    <m:sSup>
                      <m:sSupPr>
                        <m:ctrlPr>
                          <a:rPr lang="en-IN" b="0" i="1" smtClean="0">
                            <a:latin typeface="Cambria Math" panose="02040503050406030204" pitchFamily="18" charset="0"/>
                          </a:rPr>
                        </m:ctrlPr>
                      </m:sSupPr>
                      <m:e>
                        <m:sSub>
                          <m:sSubPr>
                            <m:ctrlPr>
                              <a:rPr lang="en-IN" i="1">
                                <a:latin typeface="Cambria Math" panose="02040503050406030204" pitchFamily="18" charset="0"/>
                              </a:rPr>
                            </m:ctrlPr>
                          </m:sSubPr>
                          <m:e>
                            <m:d>
                              <m:dPr>
                                <m:ctrlPr>
                                  <a:rPr lang="en-IN" i="1">
                                    <a:latin typeface="Cambria Math" panose="02040503050406030204" pitchFamily="18" charset="0"/>
                                  </a:rPr>
                                </m:ctrlPr>
                              </m:dPr>
                              <m:e>
                                <m:f>
                                  <m:fPr>
                                    <m:ctrlPr>
                                      <a:rPr lang="en-IN" i="1">
                                        <a:latin typeface="Cambria Math" panose="02040503050406030204" pitchFamily="18" charset="0"/>
                                      </a:rPr>
                                    </m:ctrlPr>
                                  </m:fPr>
                                  <m:num>
                                    <m:r>
                                      <a:rPr lang="en-IN" i="1">
                                        <a:latin typeface="Cambria Math" panose="02040503050406030204" pitchFamily="18" charset="0"/>
                                      </a:rPr>
                                      <m:t>𝑑𝐿</m:t>
                                    </m:r>
                                  </m:num>
                                  <m:den>
                                    <m:r>
                                      <a:rPr lang="en-IN" i="1">
                                        <a:latin typeface="Cambria Math" panose="02040503050406030204" pitchFamily="18" charset="0"/>
                                      </a:rPr>
                                      <m:t>𝑑𝑤</m:t>
                                    </m:r>
                                  </m:den>
                                </m:f>
                              </m:e>
                            </m:d>
                          </m:e>
                          <m:sub>
                            <m:r>
                              <a:rPr lang="en-IN" i="1">
                                <a:latin typeface="Cambria Math" panose="02040503050406030204" pitchFamily="18" charset="0"/>
                              </a:rPr>
                              <m:t>𝑡</m:t>
                            </m:r>
                            <m:r>
                              <a:rPr lang="en-IN" i="1">
                                <a:latin typeface="Cambria Math" panose="02040503050406030204" pitchFamily="18" charset="0"/>
                              </a:rPr>
                              <m:t>−2</m:t>
                            </m:r>
                          </m:sub>
                        </m:sSub>
                      </m:e>
                      <m:sup>
                        <m:r>
                          <a:rPr lang="en-IN" b="0" i="1" smtClean="0">
                            <a:latin typeface="Cambria Math" panose="02040503050406030204" pitchFamily="18" charset="0"/>
                          </a:rPr>
                          <m:t>2</m:t>
                        </m:r>
                      </m:sup>
                    </m:sSup>
                  </m:oMath>
                </a14:m>
                <a:endParaRPr lang="en-IN" baseline="30000" dirty="0" smtClean="0"/>
              </a:p>
              <a:p>
                <a:endParaRPr lang="en-US" dirty="0" smtClean="0"/>
              </a:p>
              <a:p>
                <a:pPr algn="just"/>
                <a:r>
                  <a:rPr lang="en-US" dirty="0" smtClean="0"/>
                  <a:t>Avoids the Problem of slow convergence of </a:t>
                </a:r>
                <a:r>
                  <a:rPr lang="en-US" dirty="0" err="1" smtClean="0"/>
                  <a:t>AdaGrad</a:t>
                </a:r>
                <a:endParaRPr lang="en-US" dirty="0" smtClean="0"/>
              </a:p>
            </p:txBody>
          </p:sp>
        </mc:Choice>
        <mc:Fallback xmlns="">
          <p:sp>
            <p:nvSpPr>
              <p:cNvPr id="3" name="Content Placeholder 2"/>
              <p:cNvSpPr>
                <a:spLocks noGrp="1" noRot="1" noChangeAspect="1" noMove="1" noResize="1" noEditPoints="1" noAdjustHandles="1" noChangeArrowheads="1" noChangeShapeType="1" noTextEdit="1"/>
              </p:cNvSpPr>
              <p:nvPr>
                <p:ph idx="1"/>
              </p:nvPr>
            </p:nvSpPr>
            <p:spPr>
              <a:blipFill rotWithShape="0">
                <a:blip r:embed="rId2"/>
                <a:stretch>
                  <a:fillRect r="-1667"/>
                </a:stretch>
              </a:blipFill>
            </p:spPr>
            <p:txBody>
              <a:bodyPr/>
              <a:lstStyle/>
              <a:p>
                <a:r>
                  <a:rPr lang="en-IN">
                    <a:noFill/>
                  </a:rPr>
                  <a:t> </a:t>
                </a:r>
              </a:p>
            </p:txBody>
          </p:sp>
        </mc:Fallback>
      </mc:AlternateContent>
      <p:sp>
        <p:nvSpPr>
          <p:cNvPr id="4" name="Date Placeholder 3"/>
          <p:cNvSpPr>
            <a:spLocks noGrp="1"/>
          </p:cNvSpPr>
          <p:nvPr>
            <p:ph type="dt" sz="half" idx="10"/>
          </p:nvPr>
        </p:nvSpPr>
        <p:spPr/>
        <p:txBody>
          <a:bodyPr/>
          <a:lstStyle/>
          <a:p>
            <a:fld id="{E7067A60-51C7-4095-BFA9-1CE32DCBA06F}" type="datetime1">
              <a:rPr lang="en-US" smtClean="0"/>
              <a:pPr/>
              <a:t>2/9/2026</a:t>
            </a:fld>
            <a:endParaRPr lang="en-US" dirty="0"/>
          </a:p>
        </p:txBody>
      </p:sp>
      <p:sp>
        <p:nvSpPr>
          <p:cNvPr id="6" name="Slide Number Placeholder 5"/>
          <p:cNvSpPr>
            <a:spLocks noGrp="1"/>
          </p:cNvSpPr>
          <p:nvPr>
            <p:ph type="sldNum" sz="quarter" idx="12"/>
          </p:nvPr>
        </p:nvSpPr>
        <p:spPr/>
        <p:txBody>
          <a:bodyPr/>
          <a:lstStyle/>
          <a:p>
            <a:fld id="{A03BBF96-A7A5-4867-9A4A-2F26A3CC4EC3}" type="slidenum">
              <a:rPr lang="en-US" smtClean="0"/>
              <a:pPr/>
              <a:t>67</a:t>
            </a:fld>
            <a:endParaRPr lang="en-US" dirty="0"/>
          </a:p>
        </p:txBody>
      </p:sp>
      <p:sp>
        <p:nvSpPr>
          <p:cNvPr id="7" name="TextBox 6"/>
          <p:cNvSpPr txBox="1"/>
          <p:nvPr/>
        </p:nvSpPr>
        <p:spPr>
          <a:xfrm>
            <a:off x="0" y="0"/>
            <a:ext cx="4572000" cy="369332"/>
          </a:xfrm>
          <a:prstGeom prst="rect">
            <a:avLst/>
          </a:prstGeom>
          <a:noFill/>
        </p:spPr>
        <p:txBody>
          <a:bodyPr wrap="square" rtlCol="0">
            <a:spAutoFit/>
          </a:bodyPr>
          <a:lstStyle/>
          <a:p>
            <a:pPr algn="r"/>
            <a:r>
              <a:rPr lang="en-US" b="1" dirty="0">
                <a:solidFill>
                  <a:schemeClr val="bg1"/>
                </a:solidFill>
              </a:rPr>
              <a:t>Introduction to Deep Neural Network</a:t>
            </a:r>
          </a:p>
        </p:txBody>
      </p:sp>
      <p:sp>
        <p:nvSpPr>
          <p:cNvPr id="8" name="Rectangle 2"/>
          <p:cNvSpPr>
            <a:spLocks noChangeArrowheads="1"/>
          </p:cNvSpPr>
          <p:nvPr/>
        </p:nvSpPr>
        <p:spPr bwMode="auto">
          <a:xfrm>
            <a:off x="0" y="0"/>
            <a:ext cx="91440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sp>
        <p:nvSpPr>
          <p:cNvPr id="9" name="Rectangle 2"/>
          <p:cNvSpPr>
            <a:spLocks noChangeArrowheads="1"/>
          </p:cNvSpPr>
          <p:nvPr/>
        </p:nvSpPr>
        <p:spPr bwMode="auto">
          <a:xfrm>
            <a:off x="0" y="0"/>
            <a:ext cx="91440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sp>
        <p:nvSpPr>
          <p:cNvPr id="11" name="Footer Placeholder 4">
            <a:extLst>
              <a:ext uri="{FF2B5EF4-FFF2-40B4-BE49-F238E27FC236}">
                <a16:creationId xmlns:a16="http://schemas.microsoft.com/office/drawing/2014/main" id="{CBB301ED-B8A4-4772-B559-A9E41E7472BD}"/>
              </a:ext>
            </a:extLst>
          </p:cNvPr>
          <p:cNvSpPr>
            <a:spLocks noGrp="1"/>
          </p:cNvSpPr>
          <p:nvPr>
            <p:ph type="ftr" sz="quarter" idx="11"/>
          </p:nvPr>
        </p:nvSpPr>
        <p:spPr>
          <a:xfrm>
            <a:off x="2286000" y="6629400"/>
            <a:ext cx="4136571" cy="228600"/>
          </a:xfrm>
        </p:spPr>
        <p:txBody>
          <a:bodyPr/>
          <a:lstStyle/>
          <a:p>
            <a:r>
              <a:rPr lang="en-US" dirty="0"/>
              <a:t>Dr. Sibarama Panigrahi, Dept. of CSE, NIT Rourkela</a:t>
            </a:r>
          </a:p>
        </p:txBody>
      </p:sp>
      <mc:AlternateContent xmlns:mc="http://schemas.openxmlformats.org/markup-compatibility/2006" xmlns:a14="http://schemas.microsoft.com/office/drawing/2010/main">
        <mc:Choice Requires="a14">
          <p:sp>
            <p:nvSpPr>
              <p:cNvPr id="10" name="Rectangle 9"/>
              <p:cNvSpPr/>
              <p:nvPr/>
            </p:nvSpPr>
            <p:spPr>
              <a:xfrm>
                <a:off x="609600" y="1295400"/>
                <a:ext cx="6839116" cy="1010982"/>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sSubSup>
                        <m:sSubSupPr>
                          <m:ctrlPr>
                            <a:rPr lang="en-IN" sz="2800" i="1">
                              <a:latin typeface="Cambria Math" panose="02040503050406030204" pitchFamily="18" charset="0"/>
                            </a:rPr>
                          </m:ctrlPr>
                        </m:sSubSupPr>
                        <m:e>
                          <m:r>
                            <a:rPr lang="en-IN" sz="2800" i="1">
                              <a:latin typeface="Cambria Math" panose="02040503050406030204" pitchFamily="18" charset="0"/>
                            </a:rPr>
                            <m:t>𝜂</m:t>
                          </m:r>
                        </m:e>
                        <m:sub>
                          <m:r>
                            <a:rPr lang="en-IN" sz="2800" i="1">
                              <a:latin typeface="Cambria Math" panose="02040503050406030204" pitchFamily="18" charset="0"/>
                            </a:rPr>
                            <m:t>𝑡</m:t>
                          </m:r>
                        </m:sub>
                        <m:sup>
                          <m:r>
                            <a:rPr lang="en-IN" sz="2800" i="0">
                              <a:latin typeface="Cambria Math" panose="02040503050406030204" pitchFamily="18" charset="0"/>
                            </a:rPr>
                            <m:t>′</m:t>
                          </m:r>
                        </m:sup>
                      </m:sSubSup>
                      <m:r>
                        <a:rPr lang="en-IN" sz="2800" i="0">
                          <a:latin typeface="Cambria Math" panose="02040503050406030204" pitchFamily="18" charset="0"/>
                        </a:rPr>
                        <m:t>=</m:t>
                      </m:r>
                      <m:f>
                        <m:fPr>
                          <m:ctrlPr>
                            <a:rPr lang="en-IN" sz="2800" i="1">
                              <a:latin typeface="Cambria Math" panose="02040503050406030204" pitchFamily="18" charset="0"/>
                            </a:rPr>
                          </m:ctrlPr>
                        </m:fPr>
                        <m:num>
                          <m:r>
                            <a:rPr lang="en-IN" sz="2800" i="1">
                              <a:latin typeface="Cambria Math" panose="02040503050406030204" pitchFamily="18" charset="0"/>
                            </a:rPr>
                            <m:t>𝜂</m:t>
                          </m:r>
                        </m:num>
                        <m:den>
                          <m:rad>
                            <m:radPr>
                              <m:degHide m:val="on"/>
                              <m:ctrlPr>
                                <a:rPr lang="en-IN" sz="2800" i="1">
                                  <a:latin typeface="Cambria Math" panose="02040503050406030204" pitchFamily="18" charset="0"/>
                                </a:rPr>
                              </m:ctrlPr>
                            </m:radPr>
                            <m:deg/>
                            <m:e>
                              <m:sSub>
                                <m:sSubPr>
                                  <m:ctrlPr>
                                    <a:rPr lang="en-IN" sz="2800" i="1">
                                      <a:latin typeface="Cambria Math" panose="02040503050406030204" pitchFamily="18" charset="0"/>
                                    </a:rPr>
                                  </m:ctrlPr>
                                </m:sSubPr>
                                <m:e>
                                  <m:r>
                                    <a:rPr lang="en-IN" sz="2800" i="1">
                                      <a:latin typeface="Cambria Math" panose="02040503050406030204" pitchFamily="18" charset="0"/>
                                    </a:rPr>
                                    <m:t>𝐸𝑥𝑝𝑜𝑛𝑒𝑛𝑡𝑖𝑎𝑙𝑙𝑦</m:t>
                                  </m:r>
                                  <m:r>
                                    <a:rPr lang="en-IN" sz="2800" i="0">
                                      <a:latin typeface="Cambria Math" panose="02040503050406030204" pitchFamily="18" charset="0"/>
                                    </a:rPr>
                                    <m:t> </m:t>
                                  </m:r>
                                  <m:r>
                                    <a:rPr lang="en-IN" sz="2800" i="1">
                                      <a:latin typeface="Cambria Math" panose="02040503050406030204" pitchFamily="18" charset="0"/>
                                    </a:rPr>
                                    <m:t>𝐷𝑒𝑐𝑎𝑦𝑖𝑛𝑔</m:t>
                                  </m:r>
                                  <m:d>
                                    <m:dPr>
                                      <m:ctrlPr>
                                        <a:rPr lang="en-IN" sz="2800" i="1">
                                          <a:latin typeface="Cambria Math" panose="02040503050406030204" pitchFamily="18" charset="0"/>
                                        </a:rPr>
                                      </m:ctrlPr>
                                    </m:dPr>
                                    <m:e>
                                      <m:r>
                                        <a:rPr lang="en-IN" sz="2800" i="1">
                                          <a:latin typeface="Cambria Math" panose="02040503050406030204" pitchFamily="18" charset="0"/>
                                        </a:rPr>
                                        <m:t>𝛼</m:t>
                                      </m:r>
                                    </m:e>
                                  </m:d>
                                </m:e>
                                <m:sub>
                                  <m:r>
                                    <a:rPr lang="en-IN" sz="2800" i="1">
                                      <a:latin typeface="Cambria Math" panose="02040503050406030204" pitchFamily="18" charset="0"/>
                                    </a:rPr>
                                    <m:t>𝑡</m:t>
                                  </m:r>
                                  <m:r>
                                    <a:rPr lang="en-IN" sz="2800" i="0">
                                      <a:latin typeface="Cambria Math" panose="02040503050406030204" pitchFamily="18" charset="0"/>
                                    </a:rPr>
                                    <m:t>−1</m:t>
                                  </m:r>
                                </m:sub>
                              </m:sSub>
                              <m:r>
                                <a:rPr lang="en-IN" sz="2800" i="0">
                                  <a:latin typeface="Cambria Math" panose="02040503050406030204" pitchFamily="18" charset="0"/>
                                </a:rPr>
                                <m:t>+</m:t>
                              </m:r>
                              <m:r>
                                <a:rPr lang="en-IN" sz="2800" i="1">
                                  <a:latin typeface="Cambria Math" panose="02040503050406030204" pitchFamily="18" charset="0"/>
                                </a:rPr>
                                <m:t>𝜖</m:t>
                              </m:r>
                            </m:e>
                          </m:rad>
                        </m:den>
                      </m:f>
                    </m:oMath>
                  </m:oMathPara>
                </a14:m>
                <a:endParaRPr lang="en-IN" sz="2800" dirty="0"/>
              </a:p>
            </p:txBody>
          </p:sp>
        </mc:Choice>
        <mc:Fallback xmlns="">
          <p:sp>
            <p:nvSpPr>
              <p:cNvPr id="10" name="Rectangle 9"/>
              <p:cNvSpPr>
                <a:spLocks noRot="1" noChangeAspect="1" noMove="1" noResize="1" noEditPoints="1" noAdjustHandles="1" noChangeArrowheads="1" noChangeShapeType="1" noTextEdit="1"/>
              </p:cNvSpPr>
              <p:nvPr/>
            </p:nvSpPr>
            <p:spPr>
              <a:xfrm>
                <a:off x="609600" y="1295400"/>
                <a:ext cx="6839116" cy="1010982"/>
              </a:xfrm>
              <a:prstGeom prst="rect">
                <a:avLst/>
              </a:prstGeom>
              <a:blipFill rotWithShape="0">
                <a:blip r:embed="rId3"/>
                <a:stretch>
                  <a:fillRect/>
                </a:stretch>
              </a:blipFill>
            </p:spPr>
            <p:txBody>
              <a:bodyPr/>
              <a:lstStyle/>
              <a:p>
                <a:r>
                  <a:rPr lang="en-IN">
                    <a:noFill/>
                  </a:rPr>
                  <a:t> </a:t>
                </a:r>
              </a:p>
            </p:txBody>
          </p:sp>
        </mc:Fallback>
      </mc:AlternateContent>
      <p:sp>
        <p:nvSpPr>
          <p:cNvPr id="12" name="TextBox 11"/>
          <p:cNvSpPr txBox="1"/>
          <p:nvPr/>
        </p:nvSpPr>
        <p:spPr>
          <a:xfrm flipH="1">
            <a:off x="6095999" y="6600825"/>
            <a:ext cx="3124199" cy="307777"/>
          </a:xfrm>
          <a:prstGeom prst="rect">
            <a:avLst/>
          </a:prstGeom>
          <a:noFill/>
        </p:spPr>
        <p:txBody>
          <a:bodyPr wrap="square" rtlCol="0">
            <a:spAutoFit/>
          </a:bodyPr>
          <a:lstStyle/>
          <a:p>
            <a:r>
              <a:rPr lang="en-US" sz="1400" dirty="0" smtClean="0">
                <a:latin typeface="Times New Roman" panose="02020603050405020304" pitchFamily="18" charset="0"/>
                <a:cs typeface="Times New Roman" panose="02020603050405020304" pitchFamily="18" charset="0"/>
              </a:rPr>
              <a:t>Further improve </a:t>
            </a:r>
            <a:r>
              <a:rPr lang="en-US" sz="1400" dirty="0" err="1" smtClean="0">
                <a:latin typeface="Times New Roman" panose="02020603050405020304" pitchFamily="18" charset="0"/>
                <a:cs typeface="Times New Roman" panose="02020603050405020304" pitchFamily="18" charset="0"/>
              </a:rPr>
              <a:t>Convgence</a:t>
            </a:r>
            <a:r>
              <a:rPr lang="en-US" sz="1400" dirty="0" smtClean="0">
                <a:latin typeface="Times New Roman" panose="02020603050405020304" pitchFamily="18" charset="0"/>
                <a:cs typeface="Times New Roman" panose="02020603050405020304" pitchFamily="18" charset="0"/>
              </a:rPr>
              <a:t>  </a:t>
            </a:r>
            <a:r>
              <a:rPr lang="en-US" sz="1400" dirty="0" err="1" smtClean="0">
                <a:latin typeface="Times New Roman" panose="02020603050405020304" pitchFamily="18" charset="0"/>
                <a:cs typeface="Times New Roman" panose="02020603050405020304" pitchFamily="18" charset="0"/>
              </a:rPr>
              <a:t>RMSProp</a:t>
            </a:r>
            <a:endParaRPr lang="en-IN" sz="14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028720251"/>
      </p:ext>
    </p:extLst>
  </p:cSld>
  <p:clrMapOvr>
    <a:masterClrMapping/>
  </p:clrMapOvr>
  <p:timing>
    <p:tnLst>
      <p:par>
        <p:cTn id="1" dur="indefinite" restart="never" nodeType="tmRoot"/>
      </p:par>
    </p:tnLst>
  </p:timing>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dirty="0"/>
              <a:t>Root Mean Square Propagation (</a:t>
            </a:r>
            <a:r>
              <a:rPr lang="en-IN" dirty="0" err="1" smtClean="0"/>
              <a:t>RMSProp</a:t>
            </a:r>
            <a:r>
              <a:rPr lang="en-IN" dirty="0" smtClean="0"/>
              <a:t>)</a:t>
            </a:r>
            <a:endParaRPr lang="en-IN" dirty="0"/>
          </a:p>
        </p:txBody>
      </p:sp>
      <p:sp>
        <p:nvSpPr>
          <p:cNvPr id="3" name="Content Placeholder 2"/>
          <p:cNvSpPr>
            <a:spLocks noGrp="1"/>
          </p:cNvSpPr>
          <p:nvPr>
            <p:ph idx="1"/>
          </p:nvPr>
        </p:nvSpPr>
        <p:spPr/>
        <p:txBody>
          <a:bodyPr/>
          <a:lstStyle/>
          <a:p>
            <a:r>
              <a:rPr lang="en-IN" dirty="0" smtClean="0"/>
              <a:t>It is same to </a:t>
            </a:r>
            <a:r>
              <a:rPr lang="en-IN" dirty="0" err="1" smtClean="0"/>
              <a:t>AdaDelta</a:t>
            </a:r>
            <a:r>
              <a:rPr lang="en-IN" dirty="0"/>
              <a:t> </a:t>
            </a:r>
            <a:r>
              <a:rPr lang="en-IN" dirty="0" smtClean="0"/>
              <a:t>however, it discards the history from extreme past while computing the exponentially decaying average.</a:t>
            </a:r>
          </a:p>
          <a:p>
            <a:endParaRPr lang="en-IN" dirty="0"/>
          </a:p>
          <a:p>
            <a:r>
              <a:rPr lang="en-IN" dirty="0" smtClean="0"/>
              <a:t>Converges faster once it finds a locally convex bowl as its error function.</a:t>
            </a:r>
          </a:p>
          <a:p>
            <a:endParaRPr lang="en-IN" dirty="0"/>
          </a:p>
          <a:p>
            <a:r>
              <a:rPr lang="en-IN" dirty="0" smtClean="0"/>
              <a:t>Faster convergence than </a:t>
            </a:r>
            <a:r>
              <a:rPr lang="en-IN" dirty="0" err="1" smtClean="0"/>
              <a:t>AdaDelta</a:t>
            </a:r>
            <a:r>
              <a:rPr lang="en-IN" dirty="0" smtClean="0"/>
              <a:t>.</a:t>
            </a:r>
            <a:endParaRPr lang="en-IN" dirty="0"/>
          </a:p>
        </p:txBody>
      </p:sp>
      <p:sp>
        <p:nvSpPr>
          <p:cNvPr id="4" name="Date Placeholder 3"/>
          <p:cNvSpPr>
            <a:spLocks noGrp="1"/>
          </p:cNvSpPr>
          <p:nvPr>
            <p:ph type="dt" sz="half" idx="10"/>
          </p:nvPr>
        </p:nvSpPr>
        <p:spPr/>
        <p:txBody>
          <a:bodyPr/>
          <a:lstStyle/>
          <a:p>
            <a:fld id="{E7067A60-51C7-4095-BFA9-1CE32DCBA06F}" type="datetime1">
              <a:rPr lang="en-US" smtClean="0"/>
              <a:pPr/>
              <a:t>2/9/2026</a:t>
            </a:fld>
            <a:endParaRPr lang="en-US" dirty="0"/>
          </a:p>
        </p:txBody>
      </p:sp>
      <p:sp>
        <p:nvSpPr>
          <p:cNvPr id="5" name="Footer Placeholder 4"/>
          <p:cNvSpPr>
            <a:spLocks noGrp="1"/>
          </p:cNvSpPr>
          <p:nvPr>
            <p:ph type="ftr" sz="quarter" idx="11"/>
          </p:nvPr>
        </p:nvSpPr>
        <p:spPr/>
        <p:txBody>
          <a:bodyPr/>
          <a:lstStyle/>
          <a:p>
            <a:pPr algn="l"/>
            <a:r>
              <a:rPr lang="en-US" dirty="0"/>
              <a:t>Dr. Sibarama Panigrahi, Dept. of CSE, NIT Rourkela</a:t>
            </a:r>
          </a:p>
        </p:txBody>
      </p:sp>
      <p:sp>
        <p:nvSpPr>
          <p:cNvPr id="6" name="Slide Number Placeholder 5"/>
          <p:cNvSpPr>
            <a:spLocks noGrp="1"/>
          </p:cNvSpPr>
          <p:nvPr>
            <p:ph type="sldNum" sz="quarter" idx="12"/>
          </p:nvPr>
        </p:nvSpPr>
        <p:spPr/>
        <p:txBody>
          <a:bodyPr/>
          <a:lstStyle/>
          <a:p>
            <a:fld id="{A03BBF96-A7A5-4867-9A4A-2F26A3CC4EC3}" type="slidenum">
              <a:rPr lang="en-US" smtClean="0"/>
              <a:pPr/>
              <a:t>68</a:t>
            </a:fld>
            <a:endParaRPr lang="en-US" dirty="0"/>
          </a:p>
        </p:txBody>
      </p:sp>
      <p:sp>
        <p:nvSpPr>
          <p:cNvPr id="7" name="TextBox 6"/>
          <p:cNvSpPr txBox="1"/>
          <p:nvPr/>
        </p:nvSpPr>
        <p:spPr>
          <a:xfrm>
            <a:off x="0" y="0"/>
            <a:ext cx="4572000" cy="369332"/>
          </a:xfrm>
          <a:prstGeom prst="rect">
            <a:avLst/>
          </a:prstGeom>
          <a:noFill/>
        </p:spPr>
        <p:txBody>
          <a:bodyPr wrap="square" rtlCol="0">
            <a:spAutoFit/>
          </a:bodyPr>
          <a:lstStyle/>
          <a:p>
            <a:pPr algn="r"/>
            <a:r>
              <a:rPr lang="en-US" b="1" dirty="0">
                <a:solidFill>
                  <a:schemeClr val="bg1"/>
                </a:solidFill>
              </a:rPr>
              <a:t>Introduction to Deep Neural Network</a:t>
            </a:r>
          </a:p>
        </p:txBody>
      </p:sp>
      <p:sp>
        <p:nvSpPr>
          <p:cNvPr id="8" name="TextBox 7"/>
          <p:cNvSpPr txBox="1"/>
          <p:nvPr/>
        </p:nvSpPr>
        <p:spPr>
          <a:xfrm flipH="1">
            <a:off x="6172200" y="6600824"/>
            <a:ext cx="3048000" cy="307777"/>
          </a:xfrm>
          <a:prstGeom prst="rect">
            <a:avLst/>
          </a:prstGeom>
          <a:noFill/>
        </p:spPr>
        <p:txBody>
          <a:bodyPr wrap="square" rtlCol="0">
            <a:spAutoFit/>
          </a:bodyPr>
          <a:lstStyle/>
          <a:p>
            <a:r>
              <a:rPr lang="en-US" sz="1400" dirty="0" smtClean="0">
                <a:latin typeface="Times New Roman" panose="02020603050405020304" pitchFamily="18" charset="0"/>
                <a:cs typeface="Times New Roman" panose="02020603050405020304" pitchFamily="18" charset="0"/>
              </a:rPr>
              <a:t>ADAM</a:t>
            </a:r>
            <a:endParaRPr lang="en-IN" sz="14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422465218"/>
      </p:ext>
    </p:extLst>
  </p:cSld>
  <p:clrMapOvr>
    <a:masterClrMapping/>
  </p:clrMapOvr>
  <p:timing>
    <p:tnLst>
      <p:par>
        <p:cTn id="1" dur="indefinite" restart="never" nodeType="tmRoot"/>
      </p:par>
    </p:tnLst>
  </p:timing>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cap="small" dirty="0"/>
              <a:t>Adam(Adaptive Momentum Estimation)</a:t>
            </a:r>
          </a:p>
        </p:txBody>
      </p:sp>
      <p:sp>
        <p:nvSpPr>
          <p:cNvPr id="3" name="Content Placeholder 2"/>
          <p:cNvSpPr>
            <a:spLocks noGrp="1"/>
          </p:cNvSpPr>
          <p:nvPr>
            <p:ph idx="1"/>
          </p:nvPr>
        </p:nvSpPr>
        <p:spPr/>
        <p:txBody>
          <a:bodyPr>
            <a:normAutofit/>
          </a:bodyPr>
          <a:lstStyle/>
          <a:p>
            <a:r>
              <a:rPr lang="en-US" dirty="0">
                <a:hlinkClick r:id="rId2"/>
              </a:rPr>
              <a:t>https://arxiv.org/pdf/1412.6980.pdf</a:t>
            </a:r>
            <a:endParaRPr lang="en-US" dirty="0"/>
          </a:p>
          <a:p>
            <a:r>
              <a:rPr lang="en-US" dirty="0"/>
              <a:t>Momentum is </a:t>
            </a:r>
            <a:r>
              <a:rPr lang="en-US" dirty="0" smtClean="0"/>
              <a:t>adaptive</a:t>
            </a:r>
          </a:p>
          <a:p>
            <a:endParaRPr lang="en-US" dirty="0"/>
          </a:p>
          <a:p>
            <a:endParaRPr lang="en-US" dirty="0"/>
          </a:p>
        </p:txBody>
      </p:sp>
      <p:sp>
        <p:nvSpPr>
          <p:cNvPr id="4" name="Date Placeholder 3"/>
          <p:cNvSpPr>
            <a:spLocks noGrp="1"/>
          </p:cNvSpPr>
          <p:nvPr>
            <p:ph type="dt" sz="half" idx="10"/>
          </p:nvPr>
        </p:nvSpPr>
        <p:spPr/>
        <p:txBody>
          <a:bodyPr/>
          <a:lstStyle/>
          <a:p>
            <a:fld id="{E7067A60-51C7-4095-BFA9-1CE32DCBA06F}" type="datetime1">
              <a:rPr lang="en-US" smtClean="0"/>
              <a:pPr/>
              <a:t>2/9/2026</a:t>
            </a:fld>
            <a:endParaRPr lang="en-US" dirty="0"/>
          </a:p>
        </p:txBody>
      </p:sp>
      <p:sp>
        <p:nvSpPr>
          <p:cNvPr id="6" name="Slide Number Placeholder 5"/>
          <p:cNvSpPr>
            <a:spLocks noGrp="1"/>
          </p:cNvSpPr>
          <p:nvPr>
            <p:ph type="sldNum" sz="quarter" idx="12"/>
          </p:nvPr>
        </p:nvSpPr>
        <p:spPr/>
        <p:txBody>
          <a:bodyPr/>
          <a:lstStyle/>
          <a:p>
            <a:fld id="{A03BBF96-A7A5-4867-9A4A-2F26A3CC4EC3}" type="slidenum">
              <a:rPr lang="en-US" smtClean="0"/>
              <a:pPr/>
              <a:t>69</a:t>
            </a:fld>
            <a:endParaRPr lang="en-US" dirty="0"/>
          </a:p>
        </p:txBody>
      </p:sp>
      <p:sp>
        <p:nvSpPr>
          <p:cNvPr id="7" name="TextBox 6"/>
          <p:cNvSpPr txBox="1"/>
          <p:nvPr/>
        </p:nvSpPr>
        <p:spPr>
          <a:xfrm>
            <a:off x="0" y="0"/>
            <a:ext cx="4572000" cy="369332"/>
          </a:xfrm>
          <a:prstGeom prst="rect">
            <a:avLst/>
          </a:prstGeom>
          <a:noFill/>
        </p:spPr>
        <p:txBody>
          <a:bodyPr wrap="square" rtlCol="0">
            <a:spAutoFit/>
          </a:bodyPr>
          <a:lstStyle/>
          <a:p>
            <a:pPr algn="r"/>
            <a:r>
              <a:rPr lang="en-US" b="1" dirty="0">
                <a:solidFill>
                  <a:schemeClr val="bg1"/>
                </a:solidFill>
              </a:rPr>
              <a:t>Introduction to Deep Neural Network</a:t>
            </a:r>
          </a:p>
        </p:txBody>
      </p:sp>
      <p:sp>
        <p:nvSpPr>
          <p:cNvPr id="8" name="Rectangle 2"/>
          <p:cNvSpPr>
            <a:spLocks noChangeArrowheads="1"/>
          </p:cNvSpPr>
          <p:nvPr/>
        </p:nvSpPr>
        <p:spPr bwMode="auto">
          <a:xfrm>
            <a:off x="0" y="0"/>
            <a:ext cx="91440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sp>
        <p:nvSpPr>
          <p:cNvPr id="9" name="Rectangle 2"/>
          <p:cNvSpPr>
            <a:spLocks noChangeArrowheads="1"/>
          </p:cNvSpPr>
          <p:nvPr/>
        </p:nvSpPr>
        <p:spPr bwMode="auto">
          <a:xfrm>
            <a:off x="0" y="0"/>
            <a:ext cx="91440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sp>
        <p:nvSpPr>
          <p:cNvPr id="11" name="Footer Placeholder 4">
            <a:extLst>
              <a:ext uri="{FF2B5EF4-FFF2-40B4-BE49-F238E27FC236}">
                <a16:creationId xmlns:a16="http://schemas.microsoft.com/office/drawing/2014/main" id="{CBB301ED-B8A4-4772-B559-A9E41E7472BD}"/>
              </a:ext>
            </a:extLst>
          </p:cNvPr>
          <p:cNvSpPr>
            <a:spLocks noGrp="1"/>
          </p:cNvSpPr>
          <p:nvPr>
            <p:ph type="ftr" sz="quarter" idx="11"/>
          </p:nvPr>
        </p:nvSpPr>
        <p:spPr>
          <a:xfrm>
            <a:off x="2286000" y="6629400"/>
            <a:ext cx="4136571" cy="228600"/>
          </a:xfrm>
        </p:spPr>
        <p:txBody>
          <a:bodyPr/>
          <a:lstStyle/>
          <a:p>
            <a:r>
              <a:rPr lang="en-US" dirty="0"/>
              <a:t>Dr. Sibarama Panigrahi, Dept. of CSE, NIT Rourkela</a:t>
            </a:r>
          </a:p>
        </p:txBody>
      </p:sp>
      <p:sp>
        <p:nvSpPr>
          <p:cNvPr id="21506" name="Rectangle 2"/>
          <p:cNvSpPr>
            <a:spLocks noChangeArrowheads="1"/>
          </p:cNvSpPr>
          <p:nvPr/>
        </p:nvSpPr>
        <p:spPr bwMode="auto">
          <a:xfrm>
            <a:off x="0" y="0"/>
            <a:ext cx="9144000" cy="45720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en-US"/>
          </a:p>
        </p:txBody>
      </p:sp>
      <p:sp>
        <p:nvSpPr>
          <p:cNvPr id="21507" name="Rectangle 3"/>
          <p:cNvSpPr>
            <a:spLocks noChangeArrowheads="1"/>
          </p:cNvSpPr>
          <p:nvPr/>
        </p:nvSpPr>
        <p:spPr bwMode="auto">
          <a:xfrm>
            <a:off x="0" y="800100"/>
            <a:ext cx="9144000" cy="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pPr marL="0" marR="0" lvl="0" indent="0" algn="l" defTabSz="914400" rtl="0" eaLnBrk="1" fontAlgn="base" latinLnBrk="0" hangingPunct="1">
              <a:lnSpc>
                <a:spcPct val="100000"/>
              </a:lnSpc>
              <a:spcBef>
                <a:spcPct val="0"/>
              </a:spcBef>
              <a:spcAft>
                <a:spcPct val="0"/>
              </a:spcAft>
              <a:buClrTx/>
              <a:buSzTx/>
              <a:buFontTx/>
              <a:buNone/>
              <a:tabLst/>
            </a:pPr>
            <a:endParaRPr kumimoji="0" lang="en-US" sz="1800" b="0" i="0" u="none" strike="noStrike" cap="none" normalizeH="0" baseline="0">
              <a:ln>
                <a:noFill/>
              </a:ln>
              <a:solidFill>
                <a:schemeClr val="tx1"/>
              </a:solidFill>
              <a:effectLst/>
              <a:latin typeface="Arial" pitchFamily="34" charset="0"/>
              <a:cs typeface="Arial" pitchFamily="34" charset="0"/>
            </a:endParaRPr>
          </a:p>
        </p:txBody>
      </p:sp>
      <p:pic>
        <p:nvPicPr>
          <p:cNvPr id="5" name="Picture 4"/>
          <p:cNvPicPr>
            <a:picLocks noChangeAspect="1"/>
          </p:cNvPicPr>
          <p:nvPr/>
        </p:nvPicPr>
        <p:blipFill>
          <a:blip r:embed="rId3"/>
          <a:stretch>
            <a:fillRect/>
          </a:stretch>
        </p:blipFill>
        <p:spPr>
          <a:xfrm>
            <a:off x="609600" y="2286000"/>
            <a:ext cx="7315200" cy="4133201"/>
          </a:xfrm>
          <a:prstGeom prst="rect">
            <a:avLst/>
          </a:prstGeom>
        </p:spPr>
      </p:pic>
      <p:sp>
        <p:nvSpPr>
          <p:cNvPr id="13" name="TextBox 12"/>
          <p:cNvSpPr txBox="1"/>
          <p:nvPr/>
        </p:nvSpPr>
        <p:spPr>
          <a:xfrm flipH="1">
            <a:off x="6172200" y="6600824"/>
            <a:ext cx="3048000" cy="307777"/>
          </a:xfrm>
          <a:prstGeom prst="rect">
            <a:avLst/>
          </a:prstGeom>
          <a:noFill/>
        </p:spPr>
        <p:txBody>
          <a:bodyPr wrap="square" rtlCol="0">
            <a:spAutoFit/>
          </a:bodyPr>
          <a:lstStyle/>
          <a:p>
            <a:r>
              <a:rPr lang="en-US" sz="1400" dirty="0" smtClean="0">
                <a:latin typeface="Times New Roman" panose="02020603050405020304" pitchFamily="18" charset="0"/>
                <a:cs typeface="Times New Roman" panose="02020603050405020304" pitchFamily="18" charset="0"/>
              </a:rPr>
              <a:t>      Choice of Optimizer</a:t>
            </a:r>
            <a:endParaRPr lang="en-IN" sz="14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398336085"/>
      </p:ext>
    </p:extLst>
  </p:cSld>
  <p:clrMapOvr>
    <a:masterClrMapping/>
  </p:clrMapOvr>
  <p:timing>
    <p:tnLst>
      <p:par>
        <p:cTn id="1" dur="indefinite" restart="never" nodeType="tmRoot"/>
      </p:par>
    </p:tnLst>
  </p:timing>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cap="small" dirty="0" smtClean="0"/>
              <a:t>Which Optimizer To Use</a:t>
            </a:r>
            <a:endParaRPr lang="en-US" cap="small" dirty="0"/>
          </a:p>
        </p:txBody>
      </p:sp>
      <p:sp>
        <p:nvSpPr>
          <p:cNvPr id="3" name="Content Placeholder 2"/>
          <p:cNvSpPr>
            <a:spLocks noGrp="1"/>
          </p:cNvSpPr>
          <p:nvPr>
            <p:ph idx="1"/>
          </p:nvPr>
        </p:nvSpPr>
        <p:spPr/>
        <p:txBody>
          <a:bodyPr>
            <a:normAutofit/>
          </a:bodyPr>
          <a:lstStyle/>
          <a:p>
            <a:r>
              <a:rPr lang="en-US" sz="2400" dirty="0" err="1" smtClean="0"/>
              <a:t>MiniBatch</a:t>
            </a:r>
            <a:r>
              <a:rPr lang="en-US" sz="2400" dirty="0" smtClean="0"/>
              <a:t>-SGD:::::::: </a:t>
            </a:r>
            <a:r>
              <a:rPr lang="en-US" sz="2400" dirty="0"/>
              <a:t>Small/Shallow </a:t>
            </a:r>
            <a:r>
              <a:rPr lang="en-US" sz="2400" dirty="0" smtClean="0"/>
              <a:t>ANN</a:t>
            </a:r>
          </a:p>
          <a:p>
            <a:r>
              <a:rPr lang="en-US" sz="2400" dirty="0" smtClean="0"/>
              <a:t>Momentum &amp; NAG::: Works well in most cases but Slower</a:t>
            </a:r>
            <a:endParaRPr lang="en-US" sz="2400" dirty="0"/>
          </a:p>
          <a:p>
            <a:r>
              <a:rPr lang="en-US" sz="2400" dirty="0" err="1"/>
              <a:t>AdaGrad</a:t>
            </a:r>
            <a:r>
              <a:rPr lang="en-US" sz="2400" dirty="0" smtClean="0"/>
              <a:t>::::::::::::::::::: </a:t>
            </a:r>
            <a:r>
              <a:rPr lang="en-US" sz="2400" dirty="0"/>
              <a:t>Sparse </a:t>
            </a:r>
            <a:r>
              <a:rPr lang="en-US" sz="2400" dirty="0" smtClean="0"/>
              <a:t>Features</a:t>
            </a:r>
          </a:p>
          <a:p>
            <a:r>
              <a:rPr lang="en-US" sz="2400" dirty="0" err="1" smtClean="0"/>
              <a:t>AdaDelta</a:t>
            </a:r>
            <a:r>
              <a:rPr lang="en-US" sz="2400" dirty="0" smtClean="0"/>
              <a:t> &amp; </a:t>
            </a:r>
            <a:r>
              <a:rPr lang="en-US" sz="2400" dirty="0" err="1" smtClean="0"/>
              <a:t>RMSProp</a:t>
            </a:r>
            <a:r>
              <a:rPr lang="en-US" sz="2400" dirty="0" smtClean="0"/>
              <a:t>: Preferred Over </a:t>
            </a:r>
            <a:r>
              <a:rPr lang="en-US" sz="2400" dirty="0" err="1" smtClean="0"/>
              <a:t>AdaGrad</a:t>
            </a:r>
            <a:endParaRPr lang="en-US" sz="2400" dirty="0"/>
          </a:p>
          <a:p>
            <a:r>
              <a:rPr lang="en-US" sz="2400" dirty="0"/>
              <a:t>Adam</a:t>
            </a:r>
            <a:r>
              <a:rPr lang="en-US" sz="2400" dirty="0" smtClean="0"/>
              <a:t>::::::::::::::::::::::: Most </a:t>
            </a:r>
            <a:r>
              <a:rPr lang="en-US" sz="2400" dirty="0"/>
              <a:t>Favorite </a:t>
            </a:r>
          </a:p>
          <a:p>
            <a:endParaRPr lang="en-US" dirty="0"/>
          </a:p>
        </p:txBody>
      </p:sp>
      <p:sp>
        <p:nvSpPr>
          <p:cNvPr id="4" name="Date Placeholder 3"/>
          <p:cNvSpPr>
            <a:spLocks noGrp="1"/>
          </p:cNvSpPr>
          <p:nvPr>
            <p:ph type="dt" sz="half" idx="10"/>
          </p:nvPr>
        </p:nvSpPr>
        <p:spPr/>
        <p:txBody>
          <a:bodyPr/>
          <a:lstStyle/>
          <a:p>
            <a:fld id="{E7067A60-51C7-4095-BFA9-1CE32DCBA06F}" type="datetime1">
              <a:rPr lang="en-US" smtClean="0"/>
              <a:pPr/>
              <a:t>2/9/2026</a:t>
            </a:fld>
            <a:endParaRPr lang="en-US" dirty="0"/>
          </a:p>
        </p:txBody>
      </p:sp>
      <p:sp>
        <p:nvSpPr>
          <p:cNvPr id="6" name="Slide Number Placeholder 5"/>
          <p:cNvSpPr>
            <a:spLocks noGrp="1"/>
          </p:cNvSpPr>
          <p:nvPr>
            <p:ph type="sldNum" sz="quarter" idx="12"/>
          </p:nvPr>
        </p:nvSpPr>
        <p:spPr/>
        <p:txBody>
          <a:bodyPr/>
          <a:lstStyle/>
          <a:p>
            <a:fld id="{A03BBF96-A7A5-4867-9A4A-2F26A3CC4EC3}" type="slidenum">
              <a:rPr lang="en-US" smtClean="0"/>
              <a:pPr/>
              <a:t>70</a:t>
            </a:fld>
            <a:endParaRPr lang="en-US" dirty="0"/>
          </a:p>
        </p:txBody>
      </p:sp>
      <p:sp>
        <p:nvSpPr>
          <p:cNvPr id="7" name="TextBox 6"/>
          <p:cNvSpPr txBox="1"/>
          <p:nvPr/>
        </p:nvSpPr>
        <p:spPr>
          <a:xfrm>
            <a:off x="0" y="0"/>
            <a:ext cx="4572000" cy="369332"/>
          </a:xfrm>
          <a:prstGeom prst="rect">
            <a:avLst/>
          </a:prstGeom>
          <a:noFill/>
        </p:spPr>
        <p:txBody>
          <a:bodyPr wrap="square" rtlCol="0">
            <a:spAutoFit/>
          </a:bodyPr>
          <a:lstStyle/>
          <a:p>
            <a:pPr algn="r"/>
            <a:r>
              <a:rPr lang="en-US" b="1" dirty="0">
                <a:solidFill>
                  <a:schemeClr val="bg1"/>
                </a:solidFill>
              </a:rPr>
              <a:t>Introduction to Deep Neural Network</a:t>
            </a:r>
          </a:p>
        </p:txBody>
      </p:sp>
      <p:sp>
        <p:nvSpPr>
          <p:cNvPr id="8" name="Rectangle 2"/>
          <p:cNvSpPr>
            <a:spLocks noChangeArrowheads="1"/>
          </p:cNvSpPr>
          <p:nvPr/>
        </p:nvSpPr>
        <p:spPr bwMode="auto">
          <a:xfrm>
            <a:off x="0" y="0"/>
            <a:ext cx="91440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sp>
        <p:nvSpPr>
          <p:cNvPr id="9" name="Rectangle 2"/>
          <p:cNvSpPr>
            <a:spLocks noChangeArrowheads="1"/>
          </p:cNvSpPr>
          <p:nvPr/>
        </p:nvSpPr>
        <p:spPr bwMode="auto">
          <a:xfrm>
            <a:off x="0" y="0"/>
            <a:ext cx="91440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sp>
        <p:nvSpPr>
          <p:cNvPr id="11" name="Footer Placeholder 4">
            <a:extLst>
              <a:ext uri="{FF2B5EF4-FFF2-40B4-BE49-F238E27FC236}">
                <a16:creationId xmlns:a16="http://schemas.microsoft.com/office/drawing/2014/main" id="{CBB301ED-B8A4-4772-B559-A9E41E7472BD}"/>
              </a:ext>
            </a:extLst>
          </p:cNvPr>
          <p:cNvSpPr>
            <a:spLocks noGrp="1"/>
          </p:cNvSpPr>
          <p:nvPr>
            <p:ph type="ftr" sz="quarter" idx="11"/>
          </p:nvPr>
        </p:nvSpPr>
        <p:spPr>
          <a:xfrm>
            <a:off x="2286000" y="6629400"/>
            <a:ext cx="4136571" cy="228600"/>
          </a:xfrm>
        </p:spPr>
        <p:txBody>
          <a:bodyPr/>
          <a:lstStyle/>
          <a:p>
            <a:r>
              <a:rPr lang="en-US" dirty="0"/>
              <a:t>Dr. Sibarama Panigrahi, Dept. of CSE, NIT Rourkela</a:t>
            </a:r>
          </a:p>
        </p:txBody>
      </p:sp>
      <p:sp>
        <p:nvSpPr>
          <p:cNvPr id="10" name="TextBox 9"/>
          <p:cNvSpPr txBox="1"/>
          <p:nvPr/>
        </p:nvSpPr>
        <p:spPr>
          <a:xfrm flipH="1">
            <a:off x="6422570" y="6600825"/>
            <a:ext cx="2797629" cy="307777"/>
          </a:xfrm>
          <a:prstGeom prst="rect">
            <a:avLst/>
          </a:prstGeom>
          <a:noFill/>
        </p:spPr>
        <p:txBody>
          <a:bodyPr wrap="square" rtlCol="0">
            <a:spAutoFit/>
          </a:bodyPr>
          <a:lstStyle/>
          <a:p>
            <a:r>
              <a:rPr lang="en-US" sz="1400" dirty="0" smtClean="0">
                <a:latin typeface="Times New Roman" panose="02020603050405020304" pitchFamily="18" charset="0"/>
                <a:cs typeface="Times New Roman" panose="02020603050405020304" pitchFamily="18" charset="0"/>
              </a:rPr>
              <a:t>How to Train Deep Neural Network</a:t>
            </a:r>
            <a:endParaRPr lang="en-IN" sz="14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367224224"/>
      </p:ext>
    </p:extLst>
  </p:cSld>
  <p:clrMapOvr>
    <a:masterClrMapping/>
  </p:clrMapOvr>
  <p:timing>
    <p:tnLst>
      <p:par>
        <p:cTn id="1" dur="indefinite" restart="never" nodeType="tmRoot"/>
      </p:par>
    </p:tnLst>
  </p:timing>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dirty="0" smtClean="0"/>
              <a:t>How to Train a Deep Neural Network?</a:t>
            </a:r>
            <a:endParaRPr lang="en-IN" dirty="0"/>
          </a:p>
        </p:txBody>
      </p:sp>
      <p:sp>
        <p:nvSpPr>
          <p:cNvPr id="3" name="Content Placeholder 2"/>
          <p:cNvSpPr>
            <a:spLocks noGrp="1"/>
          </p:cNvSpPr>
          <p:nvPr>
            <p:ph idx="1"/>
          </p:nvPr>
        </p:nvSpPr>
        <p:spPr>
          <a:xfrm>
            <a:off x="0" y="1066800"/>
            <a:ext cx="9144000" cy="4572000"/>
          </a:xfrm>
        </p:spPr>
        <p:txBody>
          <a:bodyPr>
            <a:normAutofit fontScale="85000" lnSpcReduction="20000"/>
          </a:bodyPr>
          <a:lstStyle/>
          <a:p>
            <a:pPr marL="850900" indent="-514350">
              <a:buFont typeface="+mj-lt"/>
              <a:buAutoNum type="arabicPeriod"/>
            </a:pPr>
            <a:r>
              <a:rPr lang="en-IN" sz="2600" b="1" dirty="0" smtClean="0"/>
              <a:t>Pre-processing:</a:t>
            </a:r>
            <a:r>
              <a:rPr lang="en-IN" sz="2600" dirty="0" smtClean="0"/>
              <a:t> Data </a:t>
            </a:r>
            <a:r>
              <a:rPr lang="en-IN" sz="2600" dirty="0" err="1" smtClean="0"/>
              <a:t>Narmalization</a:t>
            </a:r>
            <a:endParaRPr lang="en-IN" sz="2600" dirty="0" smtClean="0"/>
          </a:p>
          <a:p>
            <a:pPr marL="850900" indent="-514350">
              <a:buFont typeface="+mj-lt"/>
              <a:buAutoNum type="arabicPeriod"/>
            </a:pPr>
            <a:r>
              <a:rPr lang="en-IN" sz="2600" b="1" dirty="0" smtClean="0"/>
              <a:t>Weight Initialization</a:t>
            </a:r>
          </a:p>
          <a:p>
            <a:pPr marL="1143000" lvl="1" indent="-514350"/>
            <a:r>
              <a:rPr lang="en-IN" sz="2600" dirty="0" smtClean="0"/>
              <a:t>Xavier &amp; </a:t>
            </a:r>
            <a:r>
              <a:rPr lang="en-IN" sz="2600" dirty="0" err="1" smtClean="0"/>
              <a:t>Glorot</a:t>
            </a:r>
            <a:r>
              <a:rPr lang="en-IN" sz="2600" dirty="0" smtClean="0"/>
              <a:t> (For Sigmoid)</a:t>
            </a:r>
          </a:p>
          <a:p>
            <a:pPr marL="1143000" lvl="1" indent="-514350"/>
            <a:r>
              <a:rPr lang="en-IN" sz="2600" dirty="0" smtClean="0"/>
              <a:t>He Initializer (For </a:t>
            </a:r>
            <a:r>
              <a:rPr lang="en-IN" sz="2600" dirty="0" err="1" smtClean="0"/>
              <a:t>ReLU</a:t>
            </a:r>
            <a:r>
              <a:rPr lang="en-IN" sz="2600" dirty="0" smtClean="0"/>
              <a:t>)</a:t>
            </a:r>
          </a:p>
          <a:p>
            <a:pPr marL="850900" indent="-514350">
              <a:buFont typeface="+mj-lt"/>
              <a:buAutoNum type="arabicPeriod"/>
            </a:pPr>
            <a:r>
              <a:rPr lang="en-IN" sz="2600" b="1" dirty="0" smtClean="0"/>
              <a:t>Choose the Activation Function </a:t>
            </a:r>
            <a:r>
              <a:rPr lang="en-IN" sz="2600" dirty="0" smtClean="0"/>
              <a:t>(</a:t>
            </a:r>
            <a:r>
              <a:rPr lang="en-IN" sz="2600" dirty="0" err="1" smtClean="0"/>
              <a:t>ReLU</a:t>
            </a:r>
            <a:r>
              <a:rPr lang="en-IN" sz="2600" dirty="0" smtClean="0"/>
              <a:t>-Most Favourite)</a:t>
            </a:r>
          </a:p>
          <a:p>
            <a:pPr marL="850900" indent="-514350">
              <a:buFont typeface="+mj-lt"/>
              <a:buAutoNum type="arabicPeriod"/>
            </a:pPr>
            <a:r>
              <a:rPr lang="en-IN" sz="2600" b="1" dirty="0" smtClean="0"/>
              <a:t>Batch Normalization </a:t>
            </a:r>
            <a:r>
              <a:rPr lang="en-IN" sz="2600" dirty="0" smtClean="0"/>
              <a:t>(Especially for later layers close to O/P Layer)</a:t>
            </a:r>
          </a:p>
          <a:p>
            <a:pPr marL="850900" indent="-514350">
              <a:buFont typeface="+mj-lt"/>
              <a:buAutoNum type="arabicPeriod"/>
            </a:pPr>
            <a:r>
              <a:rPr lang="en-IN" sz="2600" b="1" dirty="0" smtClean="0"/>
              <a:t>Use Dropout</a:t>
            </a:r>
          </a:p>
          <a:p>
            <a:pPr marL="850900" indent="-514350">
              <a:buFont typeface="+mj-lt"/>
              <a:buAutoNum type="arabicPeriod"/>
            </a:pPr>
            <a:r>
              <a:rPr lang="en-IN" sz="2600" b="1" dirty="0" smtClean="0"/>
              <a:t>Choose the Optimizer </a:t>
            </a:r>
            <a:r>
              <a:rPr lang="en-IN" sz="2600" dirty="0" smtClean="0"/>
              <a:t>(Favourite- Adam)</a:t>
            </a:r>
          </a:p>
          <a:p>
            <a:pPr marL="850900" indent="-514350">
              <a:buFont typeface="+mj-lt"/>
              <a:buAutoNum type="arabicPeriod"/>
            </a:pPr>
            <a:r>
              <a:rPr lang="en-IN" sz="2600" b="1" dirty="0" smtClean="0"/>
              <a:t>Hyper-parameters:</a:t>
            </a:r>
            <a:r>
              <a:rPr lang="en-IN" sz="2600" dirty="0" smtClean="0"/>
              <a:t> Architecture(# Layers, # Neurons), etc…</a:t>
            </a:r>
          </a:p>
          <a:p>
            <a:pPr marL="850900" indent="-514350">
              <a:buFont typeface="+mj-lt"/>
              <a:buAutoNum type="arabicPeriod"/>
            </a:pPr>
            <a:r>
              <a:rPr lang="en-IN" sz="2600" b="1" dirty="0" smtClean="0"/>
              <a:t>Loss Function</a:t>
            </a:r>
          </a:p>
          <a:p>
            <a:pPr marL="1143000" lvl="1" indent="-514350"/>
            <a:r>
              <a:rPr lang="en-IN" sz="2600" dirty="0" smtClean="0"/>
              <a:t>2-Class Classification : Log Loss</a:t>
            </a:r>
          </a:p>
          <a:p>
            <a:pPr marL="1143000" lvl="1" indent="-514350"/>
            <a:r>
              <a:rPr lang="en-IN" sz="2600" dirty="0" smtClean="0"/>
              <a:t>Multi-Class Classification: Multi-Class Log Loss</a:t>
            </a:r>
          </a:p>
          <a:p>
            <a:pPr marL="1143000" lvl="1" indent="-514350"/>
            <a:r>
              <a:rPr lang="en-IN" sz="2600" dirty="0" smtClean="0"/>
              <a:t>Regression: Squared Loss</a:t>
            </a:r>
          </a:p>
          <a:p>
            <a:pPr marL="850900" indent="-514350">
              <a:buFont typeface="+mj-lt"/>
              <a:buAutoNum type="arabicPeriod"/>
            </a:pPr>
            <a:endParaRPr lang="en-IN" dirty="0" smtClean="0"/>
          </a:p>
          <a:p>
            <a:pPr marL="850900" indent="-514350">
              <a:buFont typeface="+mj-lt"/>
              <a:buAutoNum type="arabicPeriod"/>
            </a:pPr>
            <a:endParaRPr lang="en-IN" dirty="0"/>
          </a:p>
        </p:txBody>
      </p:sp>
      <p:sp>
        <p:nvSpPr>
          <p:cNvPr id="4" name="Date Placeholder 3"/>
          <p:cNvSpPr>
            <a:spLocks noGrp="1"/>
          </p:cNvSpPr>
          <p:nvPr>
            <p:ph type="dt" sz="half" idx="10"/>
          </p:nvPr>
        </p:nvSpPr>
        <p:spPr/>
        <p:txBody>
          <a:bodyPr/>
          <a:lstStyle/>
          <a:p>
            <a:fld id="{E7067A60-51C7-4095-BFA9-1CE32DCBA06F}" type="datetime1">
              <a:rPr lang="en-US" smtClean="0"/>
              <a:pPr/>
              <a:t>2/9/2026</a:t>
            </a:fld>
            <a:endParaRPr lang="en-US" dirty="0"/>
          </a:p>
        </p:txBody>
      </p:sp>
      <p:sp>
        <p:nvSpPr>
          <p:cNvPr id="5" name="Footer Placeholder 4"/>
          <p:cNvSpPr>
            <a:spLocks noGrp="1"/>
          </p:cNvSpPr>
          <p:nvPr>
            <p:ph type="ftr" sz="quarter" idx="11"/>
          </p:nvPr>
        </p:nvSpPr>
        <p:spPr/>
        <p:txBody>
          <a:bodyPr/>
          <a:lstStyle/>
          <a:p>
            <a:pPr algn="l"/>
            <a:r>
              <a:rPr lang="en-US" dirty="0"/>
              <a:t>Dr. Sibarama Panigrahi, Dept. of CSE, NIT Rourkela</a:t>
            </a:r>
          </a:p>
        </p:txBody>
      </p:sp>
      <p:sp>
        <p:nvSpPr>
          <p:cNvPr id="6" name="Slide Number Placeholder 5"/>
          <p:cNvSpPr>
            <a:spLocks noGrp="1"/>
          </p:cNvSpPr>
          <p:nvPr>
            <p:ph type="sldNum" sz="quarter" idx="12"/>
          </p:nvPr>
        </p:nvSpPr>
        <p:spPr/>
        <p:txBody>
          <a:bodyPr/>
          <a:lstStyle/>
          <a:p>
            <a:fld id="{A03BBF96-A7A5-4867-9A4A-2F26A3CC4EC3}" type="slidenum">
              <a:rPr lang="en-US" smtClean="0"/>
              <a:pPr/>
              <a:t>71</a:t>
            </a:fld>
            <a:endParaRPr lang="en-US" dirty="0"/>
          </a:p>
        </p:txBody>
      </p:sp>
      <p:sp>
        <p:nvSpPr>
          <p:cNvPr id="7" name="TextBox 6"/>
          <p:cNvSpPr txBox="1"/>
          <p:nvPr/>
        </p:nvSpPr>
        <p:spPr>
          <a:xfrm>
            <a:off x="0" y="0"/>
            <a:ext cx="4572000" cy="369332"/>
          </a:xfrm>
          <a:prstGeom prst="rect">
            <a:avLst/>
          </a:prstGeom>
          <a:noFill/>
        </p:spPr>
        <p:txBody>
          <a:bodyPr wrap="square" rtlCol="0">
            <a:spAutoFit/>
          </a:bodyPr>
          <a:lstStyle/>
          <a:p>
            <a:pPr algn="r"/>
            <a:r>
              <a:rPr lang="en-US" b="1" dirty="0">
                <a:solidFill>
                  <a:schemeClr val="bg1"/>
                </a:solidFill>
              </a:rPr>
              <a:t>Introduction to Deep Neural Network</a:t>
            </a:r>
          </a:p>
        </p:txBody>
      </p:sp>
      <p:sp>
        <p:nvSpPr>
          <p:cNvPr id="8" name="TextBox 7"/>
          <p:cNvSpPr txBox="1"/>
          <p:nvPr/>
        </p:nvSpPr>
        <p:spPr>
          <a:xfrm flipH="1">
            <a:off x="5943600" y="6600824"/>
            <a:ext cx="3276600" cy="307777"/>
          </a:xfrm>
          <a:prstGeom prst="rect">
            <a:avLst/>
          </a:prstGeom>
          <a:noFill/>
        </p:spPr>
        <p:txBody>
          <a:bodyPr wrap="square" rtlCol="0">
            <a:spAutoFit/>
          </a:bodyPr>
          <a:lstStyle/>
          <a:p>
            <a:r>
              <a:rPr lang="en-US" sz="1400" dirty="0" smtClean="0">
                <a:latin typeface="Times New Roman" panose="02020603050405020304" pitchFamily="18" charset="0"/>
                <a:cs typeface="Times New Roman" panose="02020603050405020304" pitchFamily="18" charset="0"/>
              </a:rPr>
              <a:t>   Google </a:t>
            </a:r>
            <a:r>
              <a:rPr lang="en-US" sz="1400" dirty="0" err="1" smtClean="0">
                <a:latin typeface="Times New Roman" panose="02020603050405020304" pitchFamily="18" charset="0"/>
                <a:cs typeface="Times New Roman" panose="02020603050405020304" pitchFamily="18" charset="0"/>
              </a:rPr>
              <a:t>Colab</a:t>
            </a:r>
            <a:endParaRPr lang="en-IN" sz="14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742922848"/>
      </p:ext>
    </p:extLst>
  </p:cSld>
  <p:clrMapOvr>
    <a:masterClrMapping/>
  </p:clrMapOvr>
  <p:timing>
    <p:tnLst>
      <p:par>
        <p:cTn id="1" dur="indefinite" restart="never" nodeType="tmRoot"/>
      </p:par>
    </p:tnLst>
  </p:timing>
</p:sld>
</file>

<file path=ppt/slides/slide7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dirty="0" smtClean="0"/>
              <a:t>Google </a:t>
            </a:r>
            <a:r>
              <a:rPr lang="en-IN" dirty="0" err="1" smtClean="0"/>
              <a:t>Colab</a:t>
            </a:r>
            <a:endParaRPr lang="en-IN" dirty="0"/>
          </a:p>
        </p:txBody>
      </p:sp>
      <p:sp>
        <p:nvSpPr>
          <p:cNvPr id="3" name="Content Placeholder 2"/>
          <p:cNvSpPr>
            <a:spLocks noGrp="1"/>
          </p:cNvSpPr>
          <p:nvPr>
            <p:ph idx="1"/>
          </p:nvPr>
        </p:nvSpPr>
        <p:spPr/>
        <p:txBody>
          <a:bodyPr/>
          <a:lstStyle/>
          <a:p>
            <a:pPr marL="336550" indent="0">
              <a:buNone/>
            </a:pPr>
            <a:r>
              <a:rPr lang="en-IN" dirty="0" smtClean="0">
                <a:hlinkClick r:id="rId2"/>
              </a:rPr>
              <a:t>colab.research.google.com</a:t>
            </a:r>
            <a:r>
              <a:rPr lang="en-IN" dirty="0" smtClean="0"/>
              <a:t> </a:t>
            </a:r>
          </a:p>
          <a:p>
            <a:endParaRPr lang="en-IN" dirty="0"/>
          </a:p>
        </p:txBody>
      </p:sp>
      <p:sp>
        <p:nvSpPr>
          <p:cNvPr id="4" name="Date Placeholder 3"/>
          <p:cNvSpPr>
            <a:spLocks noGrp="1"/>
          </p:cNvSpPr>
          <p:nvPr>
            <p:ph type="dt" sz="half" idx="10"/>
          </p:nvPr>
        </p:nvSpPr>
        <p:spPr/>
        <p:txBody>
          <a:bodyPr/>
          <a:lstStyle/>
          <a:p>
            <a:fld id="{E7067A60-51C7-4095-BFA9-1CE32DCBA06F}" type="datetime1">
              <a:rPr lang="en-US" smtClean="0"/>
              <a:pPr/>
              <a:t>2/9/2026</a:t>
            </a:fld>
            <a:endParaRPr lang="en-US" dirty="0"/>
          </a:p>
        </p:txBody>
      </p:sp>
      <p:sp>
        <p:nvSpPr>
          <p:cNvPr id="5" name="Footer Placeholder 4"/>
          <p:cNvSpPr>
            <a:spLocks noGrp="1"/>
          </p:cNvSpPr>
          <p:nvPr>
            <p:ph type="ftr" sz="quarter" idx="11"/>
          </p:nvPr>
        </p:nvSpPr>
        <p:spPr/>
        <p:txBody>
          <a:bodyPr/>
          <a:lstStyle/>
          <a:p>
            <a:pPr algn="l"/>
            <a:r>
              <a:rPr lang="en-US" dirty="0"/>
              <a:t>Dr. Sibarama Panigrahi, Dept. of CSE, NIT Rourkela</a:t>
            </a:r>
          </a:p>
        </p:txBody>
      </p:sp>
      <p:sp>
        <p:nvSpPr>
          <p:cNvPr id="6" name="Slide Number Placeholder 5"/>
          <p:cNvSpPr>
            <a:spLocks noGrp="1"/>
          </p:cNvSpPr>
          <p:nvPr>
            <p:ph type="sldNum" sz="quarter" idx="12"/>
          </p:nvPr>
        </p:nvSpPr>
        <p:spPr/>
        <p:txBody>
          <a:bodyPr/>
          <a:lstStyle/>
          <a:p>
            <a:fld id="{A03BBF96-A7A5-4867-9A4A-2F26A3CC4EC3}" type="slidenum">
              <a:rPr lang="en-US" smtClean="0"/>
              <a:pPr/>
              <a:t>72</a:t>
            </a:fld>
            <a:endParaRPr lang="en-US" dirty="0"/>
          </a:p>
        </p:txBody>
      </p:sp>
      <p:sp>
        <p:nvSpPr>
          <p:cNvPr id="7" name="TextBox 6"/>
          <p:cNvSpPr txBox="1"/>
          <p:nvPr/>
        </p:nvSpPr>
        <p:spPr>
          <a:xfrm>
            <a:off x="0" y="0"/>
            <a:ext cx="4572000" cy="369332"/>
          </a:xfrm>
          <a:prstGeom prst="rect">
            <a:avLst/>
          </a:prstGeom>
          <a:noFill/>
        </p:spPr>
        <p:txBody>
          <a:bodyPr wrap="square" rtlCol="0">
            <a:spAutoFit/>
          </a:bodyPr>
          <a:lstStyle/>
          <a:p>
            <a:pPr algn="r"/>
            <a:r>
              <a:rPr lang="en-US" b="1" dirty="0">
                <a:solidFill>
                  <a:schemeClr val="bg1"/>
                </a:solidFill>
              </a:rPr>
              <a:t>Introduction to Deep Neural Network</a:t>
            </a:r>
          </a:p>
        </p:txBody>
      </p:sp>
      <p:sp>
        <p:nvSpPr>
          <p:cNvPr id="8" name="TextBox 7"/>
          <p:cNvSpPr txBox="1"/>
          <p:nvPr/>
        </p:nvSpPr>
        <p:spPr>
          <a:xfrm flipH="1">
            <a:off x="6172200" y="6600824"/>
            <a:ext cx="3048000" cy="307777"/>
          </a:xfrm>
          <a:prstGeom prst="rect">
            <a:avLst/>
          </a:prstGeom>
          <a:noFill/>
        </p:spPr>
        <p:txBody>
          <a:bodyPr wrap="square" rtlCol="0">
            <a:spAutoFit/>
          </a:bodyPr>
          <a:lstStyle/>
          <a:p>
            <a:r>
              <a:rPr lang="en-US" sz="1400" dirty="0" smtClean="0">
                <a:latin typeface="Times New Roman" panose="02020603050405020304" pitchFamily="18" charset="0"/>
                <a:cs typeface="Times New Roman" panose="02020603050405020304" pitchFamily="18" charset="0"/>
              </a:rPr>
              <a:t>Playground for </a:t>
            </a:r>
            <a:r>
              <a:rPr lang="en-US" sz="1400" dirty="0" err="1" smtClean="0">
                <a:latin typeface="Times New Roman" panose="02020603050405020304" pitchFamily="18" charset="0"/>
                <a:cs typeface="Times New Roman" panose="02020603050405020304" pitchFamily="18" charset="0"/>
              </a:rPr>
              <a:t>Tensorflow</a:t>
            </a:r>
            <a:endParaRPr lang="en-IN" sz="14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331077713"/>
      </p:ext>
    </p:extLst>
  </p:cSld>
  <p:clrMapOvr>
    <a:masterClrMapping/>
  </p:clrMapOvr>
  <p:timing>
    <p:tnLst>
      <p:par>
        <p:cTn id="1" dur="indefinite" restart="never" nodeType="tmRoot"/>
      </p:par>
    </p:tnLst>
  </p:timing>
</p:sld>
</file>

<file path=ppt/slides/slide7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cap="small" dirty="0"/>
              <a:t>Decision surfaces: Playground</a:t>
            </a:r>
          </a:p>
        </p:txBody>
      </p:sp>
      <p:sp>
        <p:nvSpPr>
          <p:cNvPr id="3" name="Content Placeholder 2"/>
          <p:cNvSpPr>
            <a:spLocks noGrp="1"/>
          </p:cNvSpPr>
          <p:nvPr>
            <p:ph idx="1"/>
          </p:nvPr>
        </p:nvSpPr>
        <p:spPr/>
        <p:txBody>
          <a:bodyPr>
            <a:normAutofit/>
          </a:bodyPr>
          <a:lstStyle/>
          <a:p>
            <a:r>
              <a:rPr lang="en-US" dirty="0">
                <a:hlinkClick r:id="rId2"/>
              </a:rPr>
              <a:t>http://playground.tensorflow.org/</a:t>
            </a:r>
            <a:endParaRPr lang="en-US" dirty="0"/>
          </a:p>
          <a:p>
            <a:endParaRPr lang="en-US" dirty="0"/>
          </a:p>
          <a:p>
            <a:endParaRPr lang="en-US" dirty="0"/>
          </a:p>
        </p:txBody>
      </p:sp>
      <p:sp>
        <p:nvSpPr>
          <p:cNvPr id="4" name="Date Placeholder 3"/>
          <p:cNvSpPr>
            <a:spLocks noGrp="1"/>
          </p:cNvSpPr>
          <p:nvPr>
            <p:ph type="dt" sz="half" idx="10"/>
          </p:nvPr>
        </p:nvSpPr>
        <p:spPr/>
        <p:txBody>
          <a:bodyPr/>
          <a:lstStyle/>
          <a:p>
            <a:fld id="{E7067A60-51C7-4095-BFA9-1CE32DCBA06F}" type="datetime1">
              <a:rPr lang="en-US" smtClean="0"/>
              <a:pPr/>
              <a:t>2/9/2026</a:t>
            </a:fld>
            <a:endParaRPr lang="en-US" dirty="0"/>
          </a:p>
        </p:txBody>
      </p:sp>
      <p:sp>
        <p:nvSpPr>
          <p:cNvPr id="6" name="Slide Number Placeholder 5"/>
          <p:cNvSpPr>
            <a:spLocks noGrp="1"/>
          </p:cNvSpPr>
          <p:nvPr>
            <p:ph type="sldNum" sz="quarter" idx="12"/>
          </p:nvPr>
        </p:nvSpPr>
        <p:spPr/>
        <p:txBody>
          <a:bodyPr/>
          <a:lstStyle/>
          <a:p>
            <a:fld id="{A03BBF96-A7A5-4867-9A4A-2F26A3CC4EC3}" type="slidenum">
              <a:rPr lang="en-US" smtClean="0"/>
              <a:pPr/>
              <a:t>73</a:t>
            </a:fld>
            <a:endParaRPr lang="en-US" dirty="0"/>
          </a:p>
        </p:txBody>
      </p:sp>
      <p:sp>
        <p:nvSpPr>
          <p:cNvPr id="7" name="TextBox 6"/>
          <p:cNvSpPr txBox="1"/>
          <p:nvPr/>
        </p:nvSpPr>
        <p:spPr>
          <a:xfrm>
            <a:off x="0" y="0"/>
            <a:ext cx="4572000" cy="369332"/>
          </a:xfrm>
          <a:prstGeom prst="rect">
            <a:avLst/>
          </a:prstGeom>
          <a:noFill/>
        </p:spPr>
        <p:txBody>
          <a:bodyPr wrap="square" rtlCol="0">
            <a:spAutoFit/>
          </a:bodyPr>
          <a:lstStyle/>
          <a:p>
            <a:pPr algn="r"/>
            <a:r>
              <a:rPr lang="en-US" b="1" dirty="0">
                <a:solidFill>
                  <a:schemeClr val="bg1"/>
                </a:solidFill>
              </a:rPr>
              <a:t>Introduction to Deep Neural Network</a:t>
            </a:r>
          </a:p>
        </p:txBody>
      </p:sp>
      <p:sp>
        <p:nvSpPr>
          <p:cNvPr id="8" name="Rectangle 2"/>
          <p:cNvSpPr>
            <a:spLocks noChangeArrowheads="1"/>
          </p:cNvSpPr>
          <p:nvPr/>
        </p:nvSpPr>
        <p:spPr bwMode="auto">
          <a:xfrm>
            <a:off x="0" y="0"/>
            <a:ext cx="91440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sp>
        <p:nvSpPr>
          <p:cNvPr id="9" name="Rectangle 2"/>
          <p:cNvSpPr>
            <a:spLocks noChangeArrowheads="1"/>
          </p:cNvSpPr>
          <p:nvPr/>
        </p:nvSpPr>
        <p:spPr bwMode="auto">
          <a:xfrm>
            <a:off x="0" y="0"/>
            <a:ext cx="91440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sp>
        <p:nvSpPr>
          <p:cNvPr id="11" name="Footer Placeholder 4">
            <a:extLst>
              <a:ext uri="{FF2B5EF4-FFF2-40B4-BE49-F238E27FC236}">
                <a16:creationId xmlns:a16="http://schemas.microsoft.com/office/drawing/2014/main" id="{CBB301ED-B8A4-4772-B559-A9E41E7472BD}"/>
              </a:ext>
            </a:extLst>
          </p:cNvPr>
          <p:cNvSpPr>
            <a:spLocks noGrp="1"/>
          </p:cNvSpPr>
          <p:nvPr>
            <p:ph type="ftr" sz="quarter" idx="11"/>
          </p:nvPr>
        </p:nvSpPr>
        <p:spPr>
          <a:xfrm>
            <a:off x="2286000" y="6629400"/>
            <a:ext cx="4136571" cy="228600"/>
          </a:xfrm>
        </p:spPr>
        <p:txBody>
          <a:bodyPr/>
          <a:lstStyle/>
          <a:p>
            <a:pPr algn="l"/>
            <a:r>
              <a:rPr lang="en-US" dirty="0"/>
              <a:t>Dr. Sibarama Panigrahi, Dept. of CSE, NIT Rourkela</a:t>
            </a:r>
          </a:p>
        </p:txBody>
      </p:sp>
      <p:sp>
        <p:nvSpPr>
          <p:cNvPr id="10" name="TextBox 9"/>
          <p:cNvSpPr txBox="1"/>
          <p:nvPr/>
        </p:nvSpPr>
        <p:spPr>
          <a:xfrm flipH="1">
            <a:off x="6172200" y="6600824"/>
            <a:ext cx="3048000" cy="307777"/>
          </a:xfrm>
          <a:prstGeom prst="rect">
            <a:avLst/>
          </a:prstGeom>
          <a:noFill/>
        </p:spPr>
        <p:txBody>
          <a:bodyPr wrap="square" rtlCol="0">
            <a:spAutoFit/>
          </a:bodyPr>
          <a:lstStyle/>
          <a:p>
            <a:r>
              <a:rPr lang="en-US" sz="1400" dirty="0" smtClean="0">
                <a:latin typeface="Times New Roman" panose="02020603050405020304" pitchFamily="18" charset="0"/>
                <a:cs typeface="Times New Roman" panose="02020603050405020304" pitchFamily="18" charset="0"/>
              </a:rPr>
              <a:t>     Big Question</a:t>
            </a:r>
            <a:endParaRPr lang="en-IN" sz="14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4233300250"/>
      </p:ext>
    </p:extLst>
  </p:cSld>
  <p:clrMapOvr>
    <a:masterClrMapping/>
  </p:clrMapOvr>
  <p:timing>
    <p:tnLst>
      <p:par>
        <p:cTn id="1" dur="indefinite" restart="never" nodeType="tmRoot"/>
      </p:par>
    </p:tnLst>
  </p:timing>
</p:sld>
</file>

<file path=ppt/slides/slide7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cap="small" dirty="0" smtClean="0"/>
              <a:t>Big Questions?</a:t>
            </a:r>
            <a:endParaRPr lang="en-US" cap="small" dirty="0"/>
          </a:p>
        </p:txBody>
      </p:sp>
      <p:sp>
        <p:nvSpPr>
          <p:cNvPr id="3" name="Content Placeholder 2"/>
          <p:cNvSpPr>
            <a:spLocks noGrp="1"/>
          </p:cNvSpPr>
          <p:nvPr>
            <p:ph idx="1"/>
          </p:nvPr>
        </p:nvSpPr>
        <p:spPr/>
        <p:txBody>
          <a:bodyPr>
            <a:normAutofit fontScale="92500" lnSpcReduction="10000"/>
          </a:bodyPr>
          <a:lstStyle/>
          <a:p>
            <a:pPr marL="438150" lvl="2" indent="-342900" algn="just"/>
            <a:r>
              <a:rPr lang="en-US" b="1" dirty="0" smtClean="0"/>
              <a:t>How many Inputs?</a:t>
            </a:r>
          </a:p>
          <a:p>
            <a:pPr marL="95250" lvl="2" indent="0" algn="just">
              <a:buNone/>
            </a:pPr>
            <a:endParaRPr lang="en-US" b="1" dirty="0" smtClean="0"/>
          </a:p>
          <a:p>
            <a:pPr marL="438150" lvl="2" indent="-342900" algn="just"/>
            <a:r>
              <a:rPr lang="en-US" b="1" dirty="0" smtClean="0">
                <a:solidFill>
                  <a:srgbClr val="2312FA"/>
                </a:solidFill>
              </a:rPr>
              <a:t>How many Layers?</a:t>
            </a:r>
          </a:p>
          <a:p>
            <a:pPr marL="95250" lvl="2" indent="0" algn="just">
              <a:buNone/>
            </a:pPr>
            <a:endParaRPr lang="en-US" b="1" dirty="0">
              <a:solidFill>
                <a:srgbClr val="2312FA"/>
              </a:solidFill>
            </a:endParaRPr>
          </a:p>
          <a:p>
            <a:pPr marL="438150" lvl="2" indent="-342900" algn="just"/>
            <a:r>
              <a:rPr lang="en-US" b="1" dirty="0" smtClean="0"/>
              <a:t>How many neurons in each layer?</a:t>
            </a:r>
          </a:p>
          <a:p>
            <a:pPr marL="95250" lvl="2" indent="0" algn="just">
              <a:buNone/>
            </a:pPr>
            <a:endParaRPr lang="en-US" b="1" dirty="0"/>
          </a:p>
          <a:p>
            <a:pPr marL="438150" lvl="2" indent="-342900" algn="just"/>
            <a:r>
              <a:rPr lang="en-US" b="1" dirty="0" smtClean="0">
                <a:solidFill>
                  <a:srgbClr val="2312FA"/>
                </a:solidFill>
              </a:rPr>
              <a:t>Which Activation Function?</a:t>
            </a:r>
          </a:p>
          <a:p>
            <a:pPr marL="95250" lvl="2" indent="0" algn="just">
              <a:buNone/>
            </a:pPr>
            <a:endParaRPr lang="en-US" b="1" dirty="0">
              <a:solidFill>
                <a:srgbClr val="2312FA"/>
              </a:solidFill>
            </a:endParaRPr>
          </a:p>
          <a:p>
            <a:pPr marL="438150" lvl="2" indent="-342900" algn="just"/>
            <a:r>
              <a:rPr lang="en-US" b="1" dirty="0" smtClean="0"/>
              <a:t>Which Kernel Initializer?</a:t>
            </a:r>
          </a:p>
          <a:p>
            <a:pPr marL="95250" lvl="2" indent="0" algn="just">
              <a:buNone/>
            </a:pPr>
            <a:endParaRPr lang="en-US" b="1" dirty="0"/>
          </a:p>
          <a:p>
            <a:pPr marL="438150" lvl="2" indent="-342900" algn="just"/>
            <a:r>
              <a:rPr lang="en-US" b="1" dirty="0" smtClean="0">
                <a:solidFill>
                  <a:srgbClr val="2312FA"/>
                </a:solidFill>
              </a:rPr>
              <a:t>Which Optimizer?</a:t>
            </a:r>
          </a:p>
          <a:p>
            <a:pPr marL="95250" lvl="2" indent="0" algn="just">
              <a:buNone/>
            </a:pPr>
            <a:endParaRPr lang="en-US" b="1" dirty="0">
              <a:solidFill>
                <a:srgbClr val="2312FA"/>
              </a:solidFill>
            </a:endParaRPr>
          </a:p>
          <a:p>
            <a:pPr marL="438150" lvl="2" indent="-342900" algn="just"/>
            <a:r>
              <a:rPr lang="en-US" b="1" dirty="0" smtClean="0"/>
              <a:t>What is the Batch Size?</a:t>
            </a:r>
          </a:p>
          <a:p>
            <a:pPr marL="95250" lvl="2" indent="0" algn="just">
              <a:buNone/>
            </a:pPr>
            <a:endParaRPr lang="en-US" b="1" dirty="0"/>
          </a:p>
          <a:p>
            <a:pPr marL="438150" lvl="2" indent="-342900" algn="just"/>
            <a:r>
              <a:rPr lang="en-US" b="1" dirty="0" smtClean="0">
                <a:solidFill>
                  <a:srgbClr val="2312FA"/>
                </a:solidFill>
              </a:rPr>
              <a:t>What is the Learning Rate?</a:t>
            </a:r>
          </a:p>
          <a:p>
            <a:pPr marL="95250" lvl="2" indent="0" algn="just">
              <a:buNone/>
            </a:pPr>
            <a:endParaRPr lang="en-US" b="1" dirty="0" smtClean="0">
              <a:solidFill>
                <a:srgbClr val="2312FA"/>
              </a:solidFill>
            </a:endParaRPr>
          </a:p>
          <a:p>
            <a:pPr lvl="1"/>
            <a:endParaRPr lang="en-US" dirty="0"/>
          </a:p>
          <a:p>
            <a:endParaRPr lang="en-US" dirty="0"/>
          </a:p>
          <a:p>
            <a:endParaRPr lang="en-US" dirty="0"/>
          </a:p>
        </p:txBody>
      </p:sp>
      <p:sp>
        <p:nvSpPr>
          <p:cNvPr id="4" name="Date Placeholder 3"/>
          <p:cNvSpPr>
            <a:spLocks noGrp="1"/>
          </p:cNvSpPr>
          <p:nvPr>
            <p:ph type="dt" sz="half" idx="10"/>
          </p:nvPr>
        </p:nvSpPr>
        <p:spPr/>
        <p:txBody>
          <a:bodyPr/>
          <a:lstStyle/>
          <a:p>
            <a:fld id="{E7067A60-51C7-4095-BFA9-1CE32DCBA06F}" type="datetime1">
              <a:rPr lang="en-US" smtClean="0"/>
              <a:pPr/>
              <a:t>2/9/2026</a:t>
            </a:fld>
            <a:endParaRPr lang="en-US" dirty="0"/>
          </a:p>
        </p:txBody>
      </p:sp>
      <p:sp>
        <p:nvSpPr>
          <p:cNvPr id="6" name="Slide Number Placeholder 5"/>
          <p:cNvSpPr>
            <a:spLocks noGrp="1"/>
          </p:cNvSpPr>
          <p:nvPr>
            <p:ph type="sldNum" sz="quarter" idx="12"/>
          </p:nvPr>
        </p:nvSpPr>
        <p:spPr/>
        <p:txBody>
          <a:bodyPr/>
          <a:lstStyle/>
          <a:p>
            <a:r>
              <a:rPr lang="en-US" dirty="0" smtClean="0"/>
              <a:t>Solution</a:t>
            </a:r>
            <a:endParaRPr lang="en-US" dirty="0"/>
          </a:p>
        </p:txBody>
      </p:sp>
      <p:sp>
        <p:nvSpPr>
          <p:cNvPr id="7" name="TextBox 6"/>
          <p:cNvSpPr txBox="1"/>
          <p:nvPr/>
        </p:nvSpPr>
        <p:spPr>
          <a:xfrm>
            <a:off x="0" y="0"/>
            <a:ext cx="4572000" cy="369332"/>
          </a:xfrm>
          <a:prstGeom prst="rect">
            <a:avLst/>
          </a:prstGeom>
          <a:noFill/>
        </p:spPr>
        <p:txBody>
          <a:bodyPr wrap="square" rtlCol="0">
            <a:spAutoFit/>
          </a:bodyPr>
          <a:lstStyle/>
          <a:p>
            <a:pPr algn="r"/>
            <a:r>
              <a:rPr lang="en-US" b="1" dirty="0">
                <a:solidFill>
                  <a:schemeClr val="bg1"/>
                </a:solidFill>
              </a:rPr>
              <a:t>Introduction to Deep Neural Network</a:t>
            </a:r>
          </a:p>
        </p:txBody>
      </p:sp>
      <p:sp>
        <p:nvSpPr>
          <p:cNvPr id="8" name="Rectangle 2"/>
          <p:cNvSpPr>
            <a:spLocks noChangeArrowheads="1"/>
          </p:cNvSpPr>
          <p:nvPr/>
        </p:nvSpPr>
        <p:spPr bwMode="auto">
          <a:xfrm>
            <a:off x="0" y="0"/>
            <a:ext cx="91440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sp>
        <p:nvSpPr>
          <p:cNvPr id="9" name="Rectangle 2"/>
          <p:cNvSpPr>
            <a:spLocks noChangeArrowheads="1"/>
          </p:cNvSpPr>
          <p:nvPr/>
        </p:nvSpPr>
        <p:spPr bwMode="auto">
          <a:xfrm>
            <a:off x="0" y="0"/>
            <a:ext cx="91440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sp>
        <p:nvSpPr>
          <p:cNvPr id="11" name="Footer Placeholder 4">
            <a:extLst>
              <a:ext uri="{FF2B5EF4-FFF2-40B4-BE49-F238E27FC236}">
                <a16:creationId xmlns:a16="http://schemas.microsoft.com/office/drawing/2014/main" id="{CBB301ED-B8A4-4772-B559-A9E41E7472BD}"/>
              </a:ext>
            </a:extLst>
          </p:cNvPr>
          <p:cNvSpPr>
            <a:spLocks noGrp="1"/>
          </p:cNvSpPr>
          <p:nvPr>
            <p:ph type="ftr" sz="quarter" idx="11"/>
          </p:nvPr>
        </p:nvSpPr>
        <p:spPr>
          <a:xfrm>
            <a:off x="2286000" y="6629400"/>
            <a:ext cx="4136571" cy="228600"/>
          </a:xfrm>
        </p:spPr>
        <p:txBody>
          <a:bodyPr/>
          <a:lstStyle/>
          <a:p>
            <a:pPr algn="l"/>
            <a:r>
              <a:rPr lang="en-US" dirty="0"/>
              <a:t>Dr. Sibarama Panigrahi, Dept. of CSE, NIT Rourkela</a:t>
            </a:r>
          </a:p>
        </p:txBody>
      </p:sp>
    </p:spTree>
    <p:extLst>
      <p:ext uri="{BB962C8B-B14F-4D97-AF65-F5344CB8AC3E}">
        <p14:creationId xmlns:p14="http://schemas.microsoft.com/office/powerpoint/2010/main" val="829420216"/>
      </p:ext>
    </p:extLst>
  </p:cSld>
  <p:clrMapOvr>
    <a:masterClrMapping/>
  </p:clrMapOvr>
  <p:timing>
    <p:tnLst>
      <p:par>
        <p:cTn id="1" dur="indefinite" restart="never" nodeType="tmRoot"/>
      </p:par>
    </p:tnLst>
  </p:timing>
</p:sld>
</file>

<file path=ppt/slides/slide7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cap="small" dirty="0" smtClean="0"/>
              <a:t>Solution</a:t>
            </a:r>
            <a:endParaRPr lang="en-US" cap="small" dirty="0"/>
          </a:p>
        </p:txBody>
      </p:sp>
      <p:sp>
        <p:nvSpPr>
          <p:cNvPr id="3" name="Content Placeholder 2"/>
          <p:cNvSpPr>
            <a:spLocks noGrp="1"/>
          </p:cNvSpPr>
          <p:nvPr>
            <p:ph idx="1"/>
          </p:nvPr>
        </p:nvSpPr>
        <p:spPr/>
        <p:txBody>
          <a:bodyPr>
            <a:normAutofit/>
          </a:bodyPr>
          <a:lstStyle/>
          <a:p>
            <a:r>
              <a:rPr lang="en-US" dirty="0" smtClean="0"/>
              <a:t>Grid Search</a:t>
            </a:r>
          </a:p>
          <a:p>
            <a:r>
              <a:rPr lang="en-US" dirty="0" smtClean="0"/>
              <a:t>Bayesian Optimization</a:t>
            </a:r>
          </a:p>
          <a:p>
            <a:r>
              <a:rPr lang="en-US" dirty="0" smtClean="0"/>
              <a:t>Swarm and Evolutionary Algorithms</a:t>
            </a:r>
          </a:p>
          <a:p>
            <a:endParaRPr lang="en-US" dirty="0"/>
          </a:p>
          <a:p>
            <a:endParaRPr lang="en-US" dirty="0"/>
          </a:p>
        </p:txBody>
      </p:sp>
      <p:sp>
        <p:nvSpPr>
          <p:cNvPr id="4" name="Date Placeholder 3"/>
          <p:cNvSpPr>
            <a:spLocks noGrp="1"/>
          </p:cNvSpPr>
          <p:nvPr>
            <p:ph type="dt" sz="half" idx="10"/>
          </p:nvPr>
        </p:nvSpPr>
        <p:spPr/>
        <p:txBody>
          <a:bodyPr/>
          <a:lstStyle/>
          <a:p>
            <a:fld id="{E7067A60-51C7-4095-BFA9-1CE32DCBA06F}" type="datetime1">
              <a:rPr lang="en-US" smtClean="0"/>
              <a:pPr/>
              <a:t>2/9/2026</a:t>
            </a:fld>
            <a:endParaRPr lang="en-US" dirty="0"/>
          </a:p>
        </p:txBody>
      </p:sp>
      <p:sp>
        <p:nvSpPr>
          <p:cNvPr id="6" name="Slide Number Placeholder 5"/>
          <p:cNvSpPr>
            <a:spLocks noGrp="1"/>
          </p:cNvSpPr>
          <p:nvPr>
            <p:ph type="sldNum" sz="quarter" idx="12"/>
          </p:nvPr>
        </p:nvSpPr>
        <p:spPr/>
        <p:txBody>
          <a:bodyPr/>
          <a:lstStyle/>
          <a:p>
            <a:fld id="{A03BBF96-A7A5-4867-9A4A-2F26A3CC4EC3}" type="slidenum">
              <a:rPr lang="en-US" smtClean="0"/>
              <a:pPr/>
              <a:t>75</a:t>
            </a:fld>
            <a:endParaRPr lang="en-US" dirty="0"/>
          </a:p>
        </p:txBody>
      </p:sp>
      <p:sp>
        <p:nvSpPr>
          <p:cNvPr id="7" name="TextBox 6"/>
          <p:cNvSpPr txBox="1"/>
          <p:nvPr/>
        </p:nvSpPr>
        <p:spPr>
          <a:xfrm>
            <a:off x="0" y="0"/>
            <a:ext cx="4572000" cy="369332"/>
          </a:xfrm>
          <a:prstGeom prst="rect">
            <a:avLst/>
          </a:prstGeom>
          <a:noFill/>
        </p:spPr>
        <p:txBody>
          <a:bodyPr wrap="square" rtlCol="0">
            <a:spAutoFit/>
          </a:bodyPr>
          <a:lstStyle/>
          <a:p>
            <a:pPr algn="r"/>
            <a:r>
              <a:rPr lang="en-US" b="1" dirty="0">
                <a:solidFill>
                  <a:schemeClr val="bg1"/>
                </a:solidFill>
              </a:rPr>
              <a:t>Introduction to Deep Neural Network</a:t>
            </a:r>
          </a:p>
        </p:txBody>
      </p:sp>
      <p:sp>
        <p:nvSpPr>
          <p:cNvPr id="8" name="Rectangle 2"/>
          <p:cNvSpPr>
            <a:spLocks noChangeArrowheads="1"/>
          </p:cNvSpPr>
          <p:nvPr/>
        </p:nvSpPr>
        <p:spPr bwMode="auto">
          <a:xfrm>
            <a:off x="0" y="0"/>
            <a:ext cx="91440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sp>
        <p:nvSpPr>
          <p:cNvPr id="9" name="Rectangle 2"/>
          <p:cNvSpPr>
            <a:spLocks noChangeArrowheads="1"/>
          </p:cNvSpPr>
          <p:nvPr/>
        </p:nvSpPr>
        <p:spPr bwMode="auto">
          <a:xfrm>
            <a:off x="0" y="0"/>
            <a:ext cx="91440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sp>
        <p:nvSpPr>
          <p:cNvPr id="11" name="Footer Placeholder 4">
            <a:extLst>
              <a:ext uri="{FF2B5EF4-FFF2-40B4-BE49-F238E27FC236}">
                <a16:creationId xmlns:a16="http://schemas.microsoft.com/office/drawing/2014/main" id="{CBB301ED-B8A4-4772-B559-A9E41E7472BD}"/>
              </a:ext>
            </a:extLst>
          </p:cNvPr>
          <p:cNvSpPr>
            <a:spLocks noGrp="1"/>
          </p:cNvSpPr>
          <p:nvPr>
            <p:ph type="ftr" sz="quarter" idx="11"/>
          </p:nvPr>
        </p:nvSpPr>
        <p:spPr>
          <a:xfrm>
            <a:off x="2286000" y="6629400"/>
            <a:ext cx="4136571" cy="228600"/>
          </a:xfrm>
        </p:spPr>
        <p:txBody>
          <a:bodyPr/>
          <a:lstStyle/>
          <a:p>
            <a:pPr algn="l"/>
            <a:r>
              <a:rPr lang="en-US" dirty="0"/>
              <a:t>Dr. Sibarama Panigrahi, Dept. of CSE, NIT Rourkela</a:t>
            </a:r>
          </a:p>
        </p:txBody>
      </p:sp>
      <p:sp>
        <p:nvSpPr>
          <p:cNvPr id="10" name="TextBox 9"/>
          <p:cNvSpPr txBox="1"/>
          <p:nvPr/>
        </p:nvSpPr>
        <p:spPr>
          <a:xfrm flipH="1">
            <a:off x="6172200" y="6600824"/>
            <a:ext cx="3048000" cy="307777"/>
          </a:xfrm>
          <a:prstGeom prst="rect">
            <a:avLst/>
          </a:prstGeom>
          <a:noFill/>
        </p:spPr>
        <p:txBody>
          <a:bodyPr wrap="square" rtlCol="0">
            <a:spAutoFit/>
          </a:bodyPr>
          <a:lstStyle/>
          <a:p>
            <a:r>
              <a:rPr lang="en-US" sz="1400" dirty="0">
                <a:latin typeface="Times New Roman" panose="02020603050405020304" pitchFamily="18" charset="0"/>
                <a:cs typeface="Times New Roman" panose="02020603050405020304" pitchFamily="18" charset="0"/>
              </a:rPr>
              <a:t> </a:t>
            </a:r>
            <a:r>
              <a:rPr lang="en-US" sz="1400" dirty="0" smtClean="0">
                <a:latin typeface="Times New Roman" panose="02020603050405020304" pitchFamily="18" charset="0"/>
                <a:cs typeface="Times New Roman" panose="02020603050405020304" pitchFamily="18" charset="0"/>
              </a:rPr>
              <a:t>    Swarm &amp; Evolutionary </a:t>
            </a:r>
            <a:r>
              <a:rPr lang="en-US" sz="1400" dirty="0" err="1" smtClean="0">
                <a:latin typeface="Times New Roman" panose="02020603050405020304" pitchFamily="18" charset="0"/>
                <a:cs typeface="Times New Roman" panose="02020603050405020304" pitchFamily="18" charset="0"/>
              </a:rPr>
              <a:t>Soln</a:t>
            </a:r>
            <a:r>
              <a:rPr lang="en-US" sz="1400" dirty="0" smtClean="0">
                <a:latin typeface="Times New Roman" panose="02020603050405020304" pitchFamily="18" charset="0"/>
                <a:cs typeface="Times New Roman" panose="02020603050405020304" pitchFamily="18" charset="0"/>
              </a:rPr>
              <a:t>…</a:t>
            </a:r>
            <a:endParaRPr lang="en-IN" sz="14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911077385"/>
      </p:ext>
    </p:extLst>
  </p:cSld>
  <p:clrMapOvr>
    <a:masterClrMapping/>
  </p:clrMapOvr>
  <p:timing>
    <p:tnLst>
      <p:par>
        <p:cTn id="1" dur="indefinite" restart="never" nodeType="tmRoot"/>
      </p:par>
    </p:tnLst>
  </p:timing>
</p:sld>
</file>

<file path=ppt/slides/slide7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b="1" cap="small" dirty="0"/>
              <a:t>Possible Solutions</a:t>
            </a:r>
          </a:p>
        </p:txBody>
      </p:sp>
      <p:sp>
        <p:nvSpPr>
          <p:cNvPr id="3" name="Content Placeholder 2"/>
          <p:cNvSpPr>
            <a:spLocks noGrp="1"/>
          </p:cNvSpPr>
          <p:nvPr>
            <p:ph idx="1"/>
          </p:nvPr>
        </p:nvSpPr>
        <p:spPr/>
        <p:txBody>
          <a:bodyPr>
            <a:normAutofit/>
          </a:bodyPr>
          <a:lstStyle/>
          <a:p>
            <a:pPr marL="438150" lvl="2" indent="-342900" algn="just"/>
            <a:r>
              <a:rPr lang="en-US" sz="2800" b="1" dirty="0"/>
              <a:t>Grid Search</a:t>
            </a:r>
          </a:p>
          <a:p>
            <a:pPr marL="720725" lvl="3" indent="-342900" algn="just"/>
            <a:r>
              <a:rPr lang="en-IN" dirty="0"/>
              <a:t>Inappropriate to handle continuous valued hyper-parameters like learning rate, dropout rate, etc.</a:t>
            </a:r>
            <a:r>
              <a:rPr lang="en-US" b="1" dirty="0"/>
              <a:t> </a:t>
            </a:r>
          </a:p>
          <a:p>
            <a:pPr marL="720725" lvl="3" indent="-342900" algn="just"/>
            <a:r>
              <a:rPr lang="en-IN" dirty="0"/>
              <a:t>Suffers from dimensionality issues when the number of hyper-parameters to tune becomes large.</a:t>
            </a:r>
            <a:endParaRPr lang="en-US" b="1" dirty="0"/>
          </a:p>
          <a:p>
            <a:pPr marL="438150" lvl="2" indent="-342900" algn="just"/>
            <a:r>
              <a:rPr lang="en-US" sz="2800" b="1" dirty="0">
                <a:solidFill>
                  <a:srgbClr val="2312FA"/>
                </a:solidFill>
              </a:rPr>
              <a:t>Bayesian Optimization</a:t>
            </a:r>
          </a:p>
          <a:p>
            <a:pPr marL="720725" lvl="3" indent="-342900" algn="just"/>
            <a:r>
              <a:rPr lang="en-IN" dirty="0"/>
              <a:t>Inappropriate to handle discrete valued hyper-parameters like activation function, kernel initializer, batch size, number of neurons in each layer, etc.</a:t>
            </a:r>
          </a:p>
          <a:p>
            <a:pPr marL="720725" lvl="3" indent="-342900" algn="just"/>
            <a:r>
              <a:rPr lang="en-IN" dirty="0"/>
              <a:t>Suffers from dimensionality issues when the number of hyper-parameters to tune becomes large.</a:t>
            </a:r>
            <a:r>
              <a:rPr lang="en-US" dirty="0"/>
              <a:t> </a:t>
            </a:r>
          </a:p>
          <a:p>
            <a:pPr marL="438150" lvl="2" indent="-342900" algn="just"/>
            <a:r>
              <a:rPr lang="en-US" sz="2800" b="1" dirty="0"/>
              <a:t>Swarm and Evolutionary Algorithms</a:t>
            </a:r>
          </a:p>
          <a:p>
            <a:pPr marL="720725" lvl="3" indent="-342900" algn="just"/>
            <a:r>
              <a:rPr lang="en-US" dirty="0"/>
              <a:t>Can handle both continuous valued and discrete valued hyper-parameters.</a:t>
            </a:r>
          </a:p>
          <a:p>
            <a:pPr marL="720725" lvl="3" indent="-342900" algn="just"/>
            <a:r>
              <a:rPr lang="en-US" dirty="0"/>
              <a:t>Scalable.</a:t>
            </a:r>
          </a:p>
          <a:p>
            <a:pPr marL="95250" lvl="2" indent="0" algn="just">
              <a:buNone/>
            </a:pPr>
            <a:endParaRPr lang="en-US" b="1" dirty="0"/>
          </a:p>
          <a:p>
            <a:pPr marL="95250" lvl="2" indent="0" algn="just">
              <a:buNone/>
            </a:pPr>
            <a:endParaRPr lang="en-US" b="1" dirty="0">
              <a:solidFill>
                <a:srgbClr val="2312FA"/>
              </a:solidFill>
            </a:endParaRPr>
          </a:p>
          <a:p>
            <a:pPr lvl="1"/>
            <a:endParaRPr lang="en-US" dirty="0"/>
          </a:p>
          <a:p>
            <a:endParaRPr lang="en-US" dirty="0"/>
          </a:p>
          <a:p>
            <a:endParaRPr lang="en-US" dirty="0"/>
          </a:p>
        </p:txBody>
      </p:sp>
      <p:sp>
        <p:nvSpPr>
          <p:cNvPr id="4" name="Date Placeholder 3"/>
          <p:cNvSpPr>
            <a:spLocks noGrp="1"/>
          </p:cNvSpPr>
          <p:nvPr>
            <p:ph type="dt" sz="half" idx="10"/>
          </p:nvPr>
        </p:nvSpPr>
        <p:spPr/>
        <p:txBody>
          <a:bodyPr/>
          <a:lstStyle/>
          <a:p>
            <a:fld id="{E7067A60-51C7-4095-BFA9-1CE32DCBA06F}" type="datetime1">
              <a:rPr lang="en-US" smtClean="0"/>
              <a:pPr/>
              <a:t>2/9/2026</a:t>
            </a:fld>
            <a:endParaRPr lang="en-US" dirty="0"/>
          </a:p>
        </p:txBody>
      </p:sp>
      <p:sp>
        <p:nvSpPr>
          <p:cNvPr id="6" name="Slide Number Placeholder 5"/>
          <p:cNvSpPr>
            <a:spLocks noGrp="1"/>
          </p:cNvSpPr>
          <p:nvPr>
            <p:ph type="sldNum" sz="quarter" idx="12"/>
          </p:nvPr>
        </p:nvSpPr>
        <p:spPr/>
        <p:txBody>
          <a:bodyPr/>
          <a:lstStyle/>
          <a:p>
            <a:fld id="{A03BBF96-A7A5-4867-9A4A-2F26A3CC4EC3}" type="slidenum">
              <a:rPr lang="en-US" smtClean="0"/>
              <a:pPr/>
              <a:t>76</a:t>
            </a:fld>
            <a:endParaRPr lang="en-US" dirty="0"/>
          </a:p>
        </p:txBody>
      </p:sp>
      <p:sp>
        <p:nvSpPr>
          <p:cNvPr id="7" name="TextBox 6"/>
          <p:cNvSpPr txBox="1"/>
          <p:nvPr/>
        </p:nvSpPr>
        <p:spPr>
          <a:xfrm>
            <a:off x="0" y="0"/>
            <a:ext cx="4572000" cy="369332"/>
          </a:xfrm>
          <a:prstGeom prst="rect">
            <a:avLst/>
          </a:prstGeom>
          <a:noFill/>
        </p:spPr>
        <p:txBody>
          <a:bodyPr wrap="square" rtlCol="0">
            <a:spAutoFit/>
          </a:bodyPr>
          <a:lstStyle/>
          <a:p>
            <a:pPr algn="r"/>
            <a:r>
              <a:rPr lang="en-US" b="1" dirty="0">
                <a:solidFill>
                  <a:schemeClr val="bg1"/>
                </a:solidFill>
              </a:rPr>
              <a:t>Introduction to Deep Neural Network</a:t>
            </a:r>
          </a:p>
        </p:txBody>
      </p:sp>
      <p:sp>
        <p:nvSpPr>
          <p:cNvPr id="8" name="Rectangle 2"/>
          <p:cNvSpPr>
            <a:spLocks noChangeArrowheads="1"/>
          </p:cNvSpPr>
          <p:nvPr/>
        </p:nvSpPr>
        <p:spPr bwMode="auto">
          <a:xfrm>
            <a:off x="0" y="0"/>
            <a:ext cx="91440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sp>
        <p:nvSpPr>
          <p:cNvPr id="9" name="Rectangle 2"/>
          <p:cNvSpPr>
            <a:spLocks noChangeArrowheads="1"/>
          </p:cNvSpPr>
          <p:nvPr/>
        </p:nvSpPr>
        <p:spPr bwMode="auto">
          <a:xfrm>
            <a:off x="0" y="0"/>
            <a:ext cx="91440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sp>
        <p:nvSpPr>
          <p:cNvPr id="11" name="Footer Placeholder 4">
            <a:extLst>
              <a:ext uri="{FF2B5EF4-FFF2-40B4-BE49-F238E27FC236}">
                <a16:creationId xmlns:a16="http://schemas.microsoft.com/office/drawing/2014/main" id="{CBB301ED-B8A4-4772-B559-A9E41E7472BD}"/>
              </a:ext>
            </a:extLst>
          </p:cNvPr>
          <p:cNvSpPr>
            <a:spLocks noGrp="1"/>
          </p:cNvSpPr>
          <p:nvPr>
            <p:ph type="ftr" sz="quarter" idx="11"/>
          </p:nvPr>
        </p:nvSpPr>
        <p:spPr>
          <a:xfrm>
            <a:off x="2286000" y="6629400"/>
            <a:ext cx="4136571" cy="228600"/>
          </a:xfrm>
        </p:spPr>
        <p:txBody>
          <a:bodyPr/>
          <a:lstStyle/>
          <a:p>
            <a:r>
              <a:rPr lang="en-US" dirty="0"/>
              <a:t>Dr. Sibarama Panigrahi, Dept. of CSE, NITR</a:t>
            </a:r>
          </a:p>
        </p:txBody>
      </p:sp>
      <p:sp>
        <p:nvSpPr>
          <p:cNvPr id="10" name="TextBox 9"/>
          <p:cNvSpPr txBox="1"/>
          <p:nvPr/>
        </p:nvSpPr>
        <p:spPr>
          <a:xfrm flipH="1">
            <a:off x="6422571" y="6600824"/>
            <a:ext cx="2797629" cy="307777"/>
          </a:xfrm>
          <a:prstGeom prst="rect">
            <a:avLst/>
          </a:prstGeom>
          <a:noFill/>
        </p:spPr>
        <p:txBody>
          <a:bodyPr wrap="square" rtlCol="0">
            <a:spAutoFit/>
          </a:bodyPr>
          <a:lstStyle/>
          <a:p>
            <a:r>
              <a:rPr lang="en-US" sz="1400" dirty="0" err="1">
                <a:latin typeface="Times New Roman" panose="02020603050405020304" pitchFamily="18" charset="0"/>
                <a:cs typeface="Times New Roman" panose="02020603050405020304" pitchFamily="18" charset="0"/>
              </a:rPr>
              <a:t>e.g</a:t>
            </a:r>
            <a:r>
              <a:rPr lang="en-US" sz="1400" dirty="0">
                <a:latin typeface="Times New Roman" panose="02020603050405020304" pitchFamily="18" charset="0"/>
                <a:cs typeface="Times New Roman" panose="02020603050405020304" pitchFamily="18" charset="0"/>
              </a:rPr>
              <a:t> on Swarm &amp; </a:t>
            </a:r>
            <a:r>
              <a:rPr lang="en-US" sz="1400" dirty="0" err="1">
                <a:latin typeface="Times New Roman" panose="02020603050405020304" pitchFamily="18" charset="0"/>
                <a:cs typeface="Times New Roman" panose="02020603050405020304" pitchFamily="18" charset="0"/>
              </a:rPr>
              <a:t>Evo</a:t>
            </a:r>
            <a:r>
              <a:rPr lang="en-US" sz="1400" dirty="0">
                <a:latin typeface="Times New Roman" panose="02020603050405020304" pitchFamily="18" charset="0"/>
                <a:cs typeface="Times New Roman" panose="02020603050405020304" pitchFamily="18" charset="0"/>
              </a:rPr>
              <a:t>. </a:t>
            </a:r>
            <a:r>
              <a:rPr lang="en-US" sz="1400" dirty="0" err="1">
                <a:latin typeface="Times New Roman" panose="02020603050405020304" pitchFamily="18" charset="0"/>
                <a:cs typeface="Times New Roman" panose="02020603050405020304" pitchFamily="18" charset="0"/>
              </a:rPr>
              <a:t>Algo</a:t>
            </a:r>
            <a:r>
              <a:rPr lang="en-US" sz="1400" dirty="0">
                <a:latin typeface="Times New Roman" panose="02020603050405020304" pitchFamily="18" charset="0"/>
                <a:cs typeface="Times New Roman" panose="02020603050405020304" pitchFamily="18" charset="0"/>
              </a:rPr>
              <a:t> Opt DL</a:t>
            </a:r>
            <a:endParaRPr lang="en-IN" sz="14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237540921"/>
      </p:ext>
    </p:extLst>
  </p:cSld>
  <p:clrMapOvr>
    <a:masterClrMapping/>
  </p:clrMapOvr>
</p:sld>
</file>

<file path=ppt/slides/slide7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b="1" cap="small" dirty="0"/>
              <a:t>Possible Solutions…</a:t>
            </a:r>
          </a:p>
        </p:txBody>
      </p:sp>
      <p:sp>
        <p:nvSpPr>
          <p:cNvPr id="3" name="Content Placeholder 2"/>
          <p:cNvSpPr>
            <a:spLocks noGrp="1"/>
          </p:cNvSpPr>
          <p:nvPr>
            <p:ph idx="1"/>
          </p:nvPr>
        </p:nvSpPr>
        <p:spPr/>
        <p:txBody>
          <a:bodyPr>
            <a:normAutofit/>
          </a:bodyPr>
          <a:lstStyle/>
          <a:p>
            <a:pPr marL="438150" lvl="2" indent="-342900" algn="just"/>
            <a:r>
              <a:rPr lang="en-US" sz="2800" b="1" dirty="0"/>
              <a:t>Grid Search</a:t>
            </a:r>
          </a:p>
          <a:p>
            <a:pPr marL="95250" lvl="2" indent="0" algn="just">
              <a:buNone/>
            </a:pPr>
            <a:endParaRPr lang="en-US" sz="2800" b="1" dirty="0"/>
          </a:p>
          <a:p>
            <a:pPr marL="438150" lvl="2" indent="-342900" algn="just"/>
            <a:r>
              <a:rPr lang="en-US" sz="2800" b="1" dirty="0">
                <a:solidFill>
                  <a:srgbClr val="2312FA"/>
                </a:solidFill>
              </a:rPr>
              <a:t>Bayesian Optimization</a:t>
            </a:r>
          </a:p>
          <a:p>
            <a:pPr marL="95250" lvl="2" indent="0" algn="just">
              <a:buNone/>
            </a:pPr>
            <a:endParaRPr lang="en-US" sz="2800" b="1" dirty="0">
              <a:solidFill>
                <a:srgbClr val="2312FA"/>
              </a:solidFill>
            </a:endParaRPr>
          </a:p>
          <a:p>
            <a:pPr marL="438150" lvl="2" indent="-342900" algn="just"/>
            <a:r>
              <a:rPr lang="en-US" sz="2800" b="1" dirty="0"/>
              <a:t>Swarm and Evolutionary Algorithms</a:t>
            </a:r>
          </a:p>
          <a:p>
            <a:pPr marL="95250" lvl="2" indent="0" algn="just">
              <a:buNone/>
            </a:pPr>
            <a:endParaRPr lang="en-US" b="1" dirty="0"/>
          </a:p>
          <a:p>
            <a:pPr marL="95250" lvl="2" indent="0" algn="just">
              <a:buNone/>
            </a:pPr>
            <a:endParaRPr lang="en-US" b="1" dirty="0">
              <a:solidFill>
                <a:srgbClr val="2312FA"/>
              </a:solidFill>
            </a:endParaRPr>
          </a:p>
          <a:p>
            <a:pPr lvl="1"/>
            <a:endParaRPr lang="en-US" dirty="0"/>
          </a:p>
          <a:p>
            <a:endParaRPr lang="en-US" dirty="0"/>
          </a:p>
          <a:p>
            <a:endParaRPr lang="en-US" dirty="0"/>
          </a:p>
        </p:txBody>
      </p:sp>
      <p:sp>
        <p:nvSpPr>
          <p:cNvPr id="4" name="Date Placeholder 3"/>
          <p:cNvSpPr>
            <a:spLocks noGrp="1"/>
          </p:cNvSpPr>
          <p:nvPr>
            <p:ph type="dt" sz="half" idx="10"/>
          </p:nvPr>
        </p:nvSpPr>
        <p:spPr/>
        <p:txBody>
          <a:bodyPr/>
          <a:lstStyle/>
          <a:p>
            <a:fld id="{E7067A60-51C7-4095-BFA9-1CE32DCBA06F}" type="datetime1">
              <a:rPr lang="en-US" smtClean="0"/>
              <a:pPr/>
              <a:t>2/9/2026</a:t>
            </a:fld>
            <a:endParaRPr lang="en-US" dirty="0"/>
          </a:p>
        </p:txBody>
      </p:sp>
      <p:sp>
        <p:nvSpPr>
          <p:cNvPr id="6" name="Slide Number Placeholder 5"/>
          <p:cNvSpPr>
            <a:spLocks noGrp="1"/>
          </p:cNvSpPr>
          <p:nvPr>
            <p:ph type="sldNum" sz="quarter" idx="12"/>
          </p:nvPr>
        </p:nvSpPr>
        <p:spPr/>
        <p:txBody>
          <a:bodyPr/>
          <a:lstStyle/>
          <a:p>
            <a:fld id="{A03BBF96-A7A5-4867-9A4A-2F26A3CC4EC3}" type="slidenum">
              <a:rPr lang="en-US" smtClean="0"/>
              <a:pPr/>
              <a:t>77</a:t>
            </a:fld>
            <a:endParaRPr lang="en-US" dirty="0"/>
          </a:p>
        </p:txBody>
      </p:sp>
      <p:sp>
        <p:nvSpPr>
          <p:cNvPr id="7" name="TextBox 6"/>
          <p:cNvSpPr txBox="1"/>
          <p:nvPr/>
        </p:nvSpPr>
        <p:spPr>
          <a:xfrm>
            <a:off x="0" y="0"/>
            <a:ext cx="4572000" cy="369332"/>
          </a:xfrm>
          <a:prstGeom prst="rect">
            <a:avLst/>
          </a:prstGeom>
          <a:noFill/>
        </p:spPr>
        <p:txBody>
          <a:bodyPr wrap="square" rtlCol="0">
            <a:spAutoFit/>
          </a:bodyPr>
          <a:lstStyle/>
          <a:p>
            <a:pPr algn="r"/>
            <a:r>
              <a:rPr lang="en-US" b="1" dirty="0">
                <a:solidFill>
                  <a:schemeClr val="bg1"/>
                </a:solidFill>
              </a:rPr>
              <a:t>Time Series Forecasting</a:t>
            </a:r>
          </a:p>
        </p:txBody>
      </p:sp>
      <p:sp>
        <p:nvSpPr>
          <p:cNvPr id="8" name="Rectangle 2"/>
          <p:cNvSpPr>
            <a:spLocks noChangeArrowheads="1"/>
          </p:cNvSpPr>
          <p:nvPr/>
        </p:nvSpPr>
        <p:spPr bwMode="auto">
          <a:xfrm>
            <a:off x="0" y="0"/>
            <a:ext cx="91440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sp>
        <p:nvSpPr>
          <p:cNvPr id="9" name="Rectangle 2"/>
          <p:cNvSpPr>
            <a:spLocks noChangeArrowheads="1"/>
          </p:cNvSpPr>
          <p:nvPr/>
        </p:nvSpPr>
        <p:spPr bwMode="auto">
          <a:xfrm>
            <a:off x="0" y="0"/>
            <a:ext cx="91440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sp>
        <p:nvSpPr>
          <p:cNvPr id="11" name="Footer Placeholder 4">
            <a:extLst>
              <a:ext uri="{FF2B5EF4-FFF2-40B4-BE49-F238E27FC236}">
                <a16:creationId xmlns:a16="http://schemas.microsoft.com/office/drawing/2014/main" id="{CBB301ED-B8A4-4772-B559-A9E41E7472BD}"/>
              </a:ext>
            </a:extLst>
          </p:cNvPr>
          <p:cNvSpPr>
            <a:spLocks noGrp="1"/>
          </p:cNvSpPr>
          <p:nvPr>
            <p:ph type="ftr" sz="quarter" idx="11"/>
          </p:nvPr>
        </p:nvSpPr>
        <p:spPr>
          <a:xfrm>
            <a:off x="2286000" y="6629400"/>
            <a:ext cx="4136571" cy="228600"/>
          </a:xfrm>
        </p:spPr>
        <p:txBody>
          <a:bodyPr/>
          <a:lstStyle/>
          <a:p>
            <a:r>
              <a:rPr lang="en-US" dirty="0"/>
              <a:t>Dr. Sibarama Panigrahi, Dept. of CSE&amp;A, SUIIT</a:t>
            </a:r>
          </a:p>
        </p:txBody>
      </p:sp>
      <p:pic>
        <p:nvPicPr>
          <p:cNvPr id="5" name="Picture 4"/>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0" y="0"/>
            <a:ext cx="9220200" cy="6858000"/>
          </a:xfrm>
          <a:prstGeom prst="rect">
            <a:avLst/>
          </a:prstGeom>
        </p:spPr>
      </p:pic>
    </p:spTree>
    <p:extLst>
      <p:ext uri="{BB962C8B-B14F-4D97-AF65-F5344CB8AC3E}">
        <p14:creationId xmlns:p14="http://schemas.microsoft.com/office/powerpoint/2010/main" val="585124228"/>
      </p:ext>
    </p:extLst>
  </p:cSld>
  <p:clrMapOvr>
    <a:masterClrMapping/>
  </p:clrMapOvr>
</p:sld>
</file>

<file path=ppt/slides/slide7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sz="2400" b="1" cap="small" dirty="0"/>
              <a:t>Swarm and Evolutionary Algorithm Optimized DL Models</a:t>
            </a:r>
          </a:p>
        </p:txBody>
      </p:sp>
      <p:sp>
        <p:nvSpPr>
          <p:cNvPr id="3" name="Content Placeholder 2"/>
          <p:cNvSpPr>
            <a:spLocks noGrp="1"/>
          </p:cNvSpPr>
          <p:nvPr>
            <p:ph idx="1"/>
          </p:nvPr>
        </p:nvSpPr>
        <p:spPr/>
        <p:txBody>
          <a:bodyPr>
            <a:normAutofit/>
          </a:bodyPr>
          <a:lstStyle/>
          <a:p>
            <a:pPr marL="95250" lvl="2" indent="0" algn="just">
              <a:buNone/>
            </a:pPr>
            <a:endParaRPr lang="en-US" b="1" dirty="0"/>
          </a:p>
          <a:p>
            <a:pPr marL="95250" lvl="2" indent="0" algn="just">
              <a:buNone/>
            </a:pPr>
            <a:endParaRPr lang="en-US" b="1" dirty="0">
              <a:solidFill>
                <a:srgbClr val="2312FA"/>
              </a:solidFill>
            </a:endParaRPr>
          </a:p>
          <a:p>
            <a:pPr lvl="1"/>
            <a:endParaRPr lang="en-US" dirty="0"/>
          </a:p>
          <a:p>
            <a:endParaRPr lang="en-US" dirty="0"/>
          </a:p>
          <a:p>
            <a:endParaRPr lang="en-US" dirty="0"/>
          </a:p>
        </p:txBody>
      </p:sp>
      <p:sp>
        <p:nvSpPr>
          <p:cNvPr id="4" name="Date Placeholder 3"/>
          <p:cNvSpPr>
            <a:spLocks noGrp="1"/>
          </p:cNvSpPr>
          <p:nvPr>
            <p:ph type="dt" sz="half" idx="10"/>
          </p:nvPr>
        </p:nvSpPr>
        <p:spPr/>
        <p:txBody>
          <a:bodyPr/>
          <a:lstStyle/>
          <a:p>
            <a:fld id="{E7067A60-51C7-4095-BFA9-1CE32DCBA06F}" type="datetime1">
              <a:rPr lang="en-US" smtClean="0"/>
              <a:pPr/>
              <a:t>2/9/2026</a:t>
            </a:fld>
            <a:endParaRPr lang="en-US" dirty="0"/>
          </a:p>
        </p:txBody>
      </p:sp>
      <p:sp>
        <p:nvSpPr>
          <p:cNvPr id="6" name="Slide Number Placeholder 5"/>
          <p:cNvSpPr>
            <a:spLocks noGrp="1"/>
          </p:cNvSpPr>
          <p:nvPr>
            <p:ph type="sldNum" sz="quarter" idx="12"/>
          </p:nvPr>
        </p:nvSpPr>
        <p:spPr/>
        <p:txBody>
          <a:bodyPr/>
          <a:lstStyle/>
          <a:p>
            <a:fld id="{A03BBF96-A7A5-4867-9A4A-2F26A3CC4EC3}" type="slidenum">
              <a:rPr lang="en-US" smtClean="0"/>
              <a:pPr/>
              <a:t>78</a:t>
            </a:fld>
            <a:endParaRPr lang="en-US" dirty="0"/>
          </a:p>
        </p:txBody>
      </p:sp>
      <p:sp>
        <p:nvSpPr>
          <p:cNvPr id="7" name="TextBox 6"/>
          <p:cNvSpPr txBox="1"/>
          <p:nvPr/>
        </p:nvSpPr>
        <p:spPr>
          <a:xfrm>
            <a:off x="0" y="0"/>
            <a:ext cx="4572000" cy="369332"/>
          </a:xfrm>
          <a:prstGeom prst="rect">
            <a:avLst/>
          </a:prstGeom>
          <a:noFill/>
        </p:spPr>
        <p:txBody>
          <a:bodyPr wrap="square" rtlCol="0">
            <a:spAutoFit/>
          </a:bodyPr>
          <a:lstStyle/>
          <a:p>
            <a:pPr algn="r"/>
            <a:r>
              <a:rPr lang="en-US" b="1" dirty="0">
                <a:solidFill>
                  <a:schemeClr val="bg1"/>
                </a:solidFill>
              </a:rPr>
              <a:t>Introduction to Deep Neural Network</a:t>
            </a:r>
          </a:p>
        </p:txBody>
      </p:sp>
      <p:sp>
        <p:nvSpPr>
          <p:cNvPr id="8" name="Rectangle 2"/>
          <p:cNvSpPr>
            <a:spLocks noChangeArrowheads="1"/>
          </p:cNvSpPr>
          <p:nvPr/>
        </p:nvSpPr>
        <p:spPr bwMode="auto">
          <a:xfrm>
            <a:off x="0" y="0"/>
            <a:ext cx="91440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sp>
        <p:nvSpPr>
          <p:cNvPr id="9" name="Rectangle 2"/>
          <p:cNvSpPr>
            <a:spLocks noChangeArrowheads="1"/>
          </p:cNvSpPr>
          <p:nvPr/>
        </p:nvSpPr>
        <p:spPr bwMode="auto">
          <a:xfrm>
            <a:off x="0" y="0"/>
            <a:ext cx="91440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sp>
        <p:nvSpPr>
          <p:cNvPr id="11" name="Footer Placeholder 4">
            <a:extLst>
              <a:ext uri="{FF2B5EF4-FFF2-40B4-BE49-F238E27FC236}">
                <a16:creationId xmlns:a16="http://schemas.microsoft.com/office/drawing/2014/main" id="{CBB301ED-B8A4-4772-B559-A9E41E7472BD}"/>
              </a:ext>
            </a:extLst>
          </p:cNvPr>
          <p:cNvSpPr>
            <a:spLocks noGrp="1"/>
          </p:cNvSpPr>
          <p:nvPr>
            <p:ph type="ftr" sz="quarter" idx="11"/>
          </p:nvPr>
        </p:nvSpPr>
        <p:spPr>
          <a:xfrm>
            <a:off x="2286000" y="6629400"/>
            <a:ext cx="4136571" cy="228600"/>
          </a:xfrm>
        </p:spPr>
        <p:txBody>
          <a:bodyPr/>
          <a:lstStyle/>
          <a:p>
            <a:r>
              <a:rPr lang="en-US" dirty="0"/>
              <a:t>Dr. Sibarama Panigrahi, Dept. of CSE, NITR</a:t>
            </a:r>
          </a:p>
        </p:txBody>
      </p:sp>
      <mc:AlternateContent xmlns:mc="http://schemas.openxmlformats.org/markup-compatibility/2006" xmlns:a14="http://schemas.microsoft.com/office/drawing/2010/main">
        <mc:Choice Requires="a14">
          <p:graphicFrame>
            <p:nvGraphicFramePr>
              <p:cNvPr id="5" name="Table 4"/>
              <p:cNvGraphicFramePr>
                <a:graphicFrameLocks noGrp="1"/>
              </p:cNvGraphicFramePr>
              <p:nvPr>
                <p:extLst/>
              </p:nvPr>
            </p:nvGraphicFramePr>
            <p:xfrm>
              <a:off x="152400" y="990602"/>
              <a:ext cx="8991600" cy="5597291"/>
            </p:xfrm>
            <a:graphic>
              <a:graphicData uri="http://schemas.openxmlformats.org/drawingml/2006/table">
                <a:tbl>
                  <a:tblPr firstRow="1" firstCol="1" bandRow="1">
                    <a:tableStyleId>{5C22544A-7EE6-4342-B048-85BDC9FD1C3A}</a:tableStyleId>
                  </a:tblPr>
                  <a:tblGrid>
                    <a:gridCol w="860065">
                      <a:extLst>
                        <a:ext uri="{9D8B030D-6E8A-4147-A177-3AD203B41FA5}">
                          <a16:colId xmlns:a16="http://schemas.microsoft.com/office/drawing/2014/main" val="20000"/>
                        </a:ext>
                      </a:extLst>
                    </a:gridCol>
                    <a:gridCol w="896893">
                      <a:extLst>
                        <a:ext uri="{9D8B030D-6E8A-4147-A177-3AD203B41FA5}">
                          <a16:colId xmlns:a16="http://schemas.microsoft.com/office/drawing/2014/main" val="20001"/>
                        </a:ext>
                      </a:extLst>
                    </a:gridCol>
                    <a:gridCol w="3742304">
                      <a:extLst>
                        <a:ext uri="{9D8B030D-6E8A-4147-A177-3AD203B41FA5}">
                          <a16:colId xmlns:a16="http://schemas.microsoft.com/office/drawing/2014/main" val="20002"/>
                        </a:ext>
                      </a:extLst>
                    </a:gridCol>
                    <a:gridCol w="1068516">
                      <a:extLst>
                        <a:ext uri="{9D8B030D-6E8A-4147-A177-3AD203B41FA5}">
                          <a16:colId xmlns:a16="http://schemas.microsoft.com/office/drawing/2014/main" val="20003"/>
                        </a:ext>
                      </a:extLst>
                    </a:gridCol>
                    <a:gridCol w="1179386">
                      <a:extLst>
                        <a:ext uri="{9D8B030D-6E8A-4147-A177-3AD203B41FA5}">
                          <a16:colId xmlns:a16="http://schemas.microsoft.com/office/drawing/2014/main" val="20004"/>
                        </a:ext>
                      </a:extLst>
                    </a:gridCol>
                    <a:gridCol w="1244436">
                      <a:extLst>
                        <a:ext uri="{9D8B030D-6E8A-4147-A177-3AD203B41FA5}">
                          <a16:colId xmlns:a16="http://schemas.microsoft.com/office/drawing/2014/main" val="20005"/>
                        </a:ext>
                      </a:extLst>
                    </a:gridCol>
                  </a:tblGrid>
                  <a:tr h="637702">
                    <a:tc>
                      <a:txBody>
                        <a:bodyPr/>
                        <a:lstStyle/>
                        <a:p>
                          <a:pPr algn="just">
                            <a:lnSpc>
                              <a:spcPct val="107000"/>
                            </a:lnSpc>
                            <a:spcBef>
                              <a:spcPts val="600"/>
                            </a:spcBef>
                            <a:spcAft>
                              <a:spcPts val="600"/>
                            </a:spcAft>
                          </a:pPr>
                          <a:r>
                            <a:rPr lang="en-IN" sz="1200" dirty="0">
                              <a:effectLst/>
                              <a:latin typeface="Times New Roman" panose="02020603050405020304" pitchFamily="18" charset="0"/>
                              <a:cs typeface="Times New Roman" panose="02020603050405020304" pitchFamily="18" charset="0"/>
                            </a:rPr>
                            <a:t>Reference</a:t>
                          </a:r>
                          <a:endParaRPr lang="en-IN" sz="1200" dirty="0">
                            <a:effectLst/>
                            <a:latin typeface="Times New Roman" panose="02020603050405020304" pitchFamily="18" charset="0"/>
                            <a:ea typeface="Calibri"/>
                            <a:cs typeface="Times New Roman" panose="02020603050405020304" pitchFamily="18" charset="0"/>
                          </a:endParaRPr>
                        </a:p>
                      </a:txBody>
                      <a:tcPr marL="62345" marR="62345" marT="0" marB="0"/>
                    </a:tc>
                    <a:tc>
                      <a:txBody>
                        <a:bodyPr/>
                        <a:lstStyle/>
                        <a:p>
                          <a:pPr algn="just">
                            <a:lnSpc>
                              <a:spcPct val="107000"/>
                            </a:lnSpc>
                            <a:spcBef>
                              <a:spcPts val="600"/>
                            </a:spcBef>
                            <a:spcAft>
                              <a:spcPts val="600"/>
                            </a:spcAft>
                          </a:pPr>
                          <a:r>
                            <a:rPr lang="en-IN" sz="1200" dirty="0">
                              <a:effectLst/>
                              <a:latin typeface="Times New Roman" panose="02020603050405020304" pitchFamily="18" charset="0"/>
                              <a:cs typeface="Times New Roman" panose="02020603050405020304" pitchFamily="18" charset="0"/>
                            </a:rPr>
                            <a:t>Deep Learning Model</a:t>
                          </a:r>
                          <a:endParaRPr lang="en-IN" sz="1200" dirty="0">
                            <a:effectLst/>
                            <a:latin typeface="Times New Roman" panose="02020603050405020304" pitchFamily="18" charset="0"/>
                            <a:ea typeface="Calibri"/>
                            <a:cs typeface="Times New Roman" panose="02020603050405020304" pitchFamily="18" charset="0"/>
                          </a:endParaRPr>
                        </a:p>
                      </a:txBody>
                      <a:tcPr marL="62345" marR="62345" marT="0" marB="0"/>
                    </a:tc>
                    <a:tc>
                      <a:txBody>
                        <a:bodyPr/>
                        <a:lstStyle/>
                        <a:p>
                          <a:pPr algn="just">
                            <a:lnSpc>
                              <a:spcPct val="107000"/>
                            </a:lnSpc>
                            <a:spcBef>
                              <a:spcPts val="600"/>
                            </a:spcBef>
                            <a:spcAft>
                              <a:spcPts val="600"/>
                            </a:spcAft>
                          </a:pPr>
                          <a:r>
                            <a:rPr lang="en-IN" sz="1200" dirty="0">
                              <a:effectLst/>
                              <a:latin typeface="Times New Roman" panose="02020603050405020304" pitchFamily="18" charset="0"/>
                              <a:cs typeface="Times New Roman" panose="02020603050405020304" pitchFamily="18" charset="0"/>
                            </a:rPr>
                            <a:t>Hyper-Parameters </a:t>
                          </a:r>
                          <a:endParaRPr lang="en-IN" sz="1200" dirty="0">
                            <a:effectLst/>
                            <a:latin typeface="Times New Roman" panose="02020603050405020304" pitchFamily="18" charset="0"/>
                            <a:ea typeface="Calibri"/>
                            <a:cs typeface="Times New Roman" panose="02020603050405020304" pitchFamily="18" charset="0"/>
                          </a:endParaRPr>
                        </a:p>
                      </a:txBody>
                      <a:tcPr marL="62345" marR="62345" marT="0" marB="0"/>
                    </a:tc>
                    <a:tc>
                      <a:txBody>
                        <a:bodyPr/>
                        <a:lstStyle/>
                        <a:p>
                          <a:pPr algn="just">
                            <a:lnSpc>
                              <a:spcPct val="107000"/>
                            </a:lnSpc>
                            <a:spcBef>
                              <a:spcPts val="600"/>
                            </a:spcBef>
                            <a:spcAft>
                              <a:spcPts val="600"/>
                            </a:spcAft>
                          </a:pPr>
                          <a:r>
                            <a:rPr lang="en-IN" sz="1200">
                              <a:effectLst/>
                              <a:latin typeface="Times New Roman" panose="02020603050405020304" pitchFamily="18" charset="0"/>
                              <a:cs typeface="Times New Roman" panose="02020603050405020304" pitchFamily="18" charset="0"/>
                            </a:rPr>
                            <a:t>Optimization Technique</a:t>
                          </a:r>
                          <a:endParaRPr lang="en-IN" sz="1200">
                            <a:effectLst/>
                            <a:latin typeface="Times New Roman" panose="02020603050405020304" pitchFamily="18" charset="0"/>
                            <a:ea typeface="Calibri"/>
                            <a:cs typeface="Times New Roman" panose="02020603050405020304" pitchFamily="18" charset="0"/>
                          </a:endParaRPr>
                        </a:p>
                      </a:txBody>
                      <a:tcPr marL="62345" marR="62345" marT="0" marB="0"/>
                    </a:tc>
                    <a:tc>
                      <a:txBody>
                        <a:bodyPr/>
                        <a:lstStyle/>
                        <a:p>
                          <a:pPr algn="just">
                            <a:lnSpc>
                              <a:spcPct val="107000"/>
                            </a:lnSpc>
                            <a:spcBef>
                              <a:spcPts val="600"/>
                            </a:spcBef>
                            <a:spcAft>
                              <a:spcPts val="600"/>
                            </a:spcAft>
                          </a:pPr>
                          <a:r>
                            <a:rPr lang="en-IN" sz="1200">
                              <a:effectLst/>
                              <a:latin typeface="Times New Roman" panose="02020603050405020304" pitchFamily="18" charset="0"/>
                              <a:cs typeface="Times New Roman" panose="02020603050405020304" pitchFamily="18" charset="0"/>
                            </a:rPr>
                            <a:t>Encoding Scheme</a:t>
                          </a:r>
                          <a:endParaRPr lang="en-IN" sz="1200">
                            <a:effectLst/>
                            <a:latin typeface="Times New Roman" panose="02020603050405020304" pitchFamily="18" charset="0"/>
                            <a:ea typeface="Calibri"/>
                            <a:cs typeface="Times New Roman" panose="02020603050405020304" pitchFamily="18" charset="0"/>
                          </a:endParaRPr>
                        </a:p>
                      </a:txBody>
                      <a:tcPr marL="62345" marR="62345" marT="0" marB="0"/>
                    </a:tc>
                    <a:tc>
                      <a:txBody>
                        <a:bodyPr/>
                        <a:lstStyle/>
                        <a:p>
                          <a:pPr algn="just">
                            <a:lnSpc>
                              <a:spcPct val="107000"/>
                            </a:lnSpc>
                            <a:spcBef>
                              <a:spcPts val="600"/>
                            </a:spcBef>
                            <a:spcAft>
                              <a:spcPts val="600"/>
                            </a:spcAft>
                          </a:pPr>
                          <a:r>
                            <a:rPr lang="en-IN" sz="1200">
                              <a:effectLst/>
                              <a:latin typeface="Times New Roman" panose="02020603050405020304" pitchFamily="18" charset="0"/>
                              <a:cs typeface="Times New Roman" panose="02020603050405020304" pitchFamily="18" charset="0"/>
                            </a:rPr>
                            <a:t>Application</a:t>
                          </a:r>
                          <a:endParaRPr lang="en-IN" sz="1200">
                            <a:effectLst/>
                            <a:latin typeface="Times New Roman" panose="02020603050405020304" pitchFamily="18" charset="0"/>
                            <a:ea typeface="Calibri"/>
                            <a:cs typeface="Times New Roman" panose="02020603050405020304" pitchFamily="18" charset="0"/>
                          </a:endParaRPr>
                        </a:p>
                      </a:txBody>
                      <a:tcPr marL="62345" marR="62345" marT="0" marB="0"/>
                    </a:tc>
                    <a:extLst>
                      <a:ext uri="{0D108BD9-81ED-4DB2-BD59-A6C34878D82A}">
                        <a16:rowId xmlns:a16="http://schemas.microsoft.com/office/drawing/2014/main" val="10000"/>
                      </a:ext>
                    </a:extLst>
                  </a:tr>
                  <a:tr h="1251051">
                    <a:tc>
                      <a:txBody>
                        <a:bodyPr/>
                        <a:lstStyle/>
                        <a:p>
                          <a:pPr marL="0" lvl="0" indent="0" algn="just">
                            <a:lnSpc>
                              <a:spcPct val="107000"/>
                            </a:lnSpc>
                            <a:spcBef>
                              <a:spcPts val="600"/>
                            </a:spcBef>
                            <a:spcAft>
                              <a:spcPts val="600"/>
                            </a:spcAft>
                            <a:buFont typeface="+mj-lt"/>
                            <a:buNone/>
                          </a:pPr>
                          <a:r>
                            <a:rPr lang="en-IN" sz="1200" dirty="0">
                              <a:effectLst/>
                              <a:latin typeface="Times New Roman" panose="02020603050405020304" pitchFamily="18" charset="0"/>
                              <a:cs typeface="Times New Roman" panose="02020603050405020304" pitchFamily="18" charset="0"/>
                            </a:rPr>
                            <a:t>[1] </a:t>
                          </a:r>
                          <a:endParaRPr lang="en-IN" sz="1200" dirty="0">
                            <a:effectLst/>
                            <a:latin typeface="Times New Roman" panose="02020603050405020304" pitchFamily="18" charset="0"/>
                            <a:ea typeface="Calibri"/>
                            <a:cs typeface="Times New Roman" panose="02020603050405020304" pitchFamily="18" charset="0"/>
                          </a:endParaRPr>
                        </a:p>
                      </a:txBody>
                      <a:tcPr marL="62345" marR="62345" marT="0" marB="0"/>
                    </a:tc>
                    <a:tc>
                      <a:txBody>
                        <a:bodyPr/>
                        <a:lstStyle/>
                        <a:p>
                          <a:pPr algn="just">
                            <a:lnSpc>
                              <a:spcPct val="107000"/>
                            </a:lnSpc>
                            <a:spcBef>
                              <a:spcPts val="600"/>
                            </a:spcBef>
                            <a:spcAft>
                              <a:spcPts val="600"/>
                            </a:spcAft>
                          </a:pPr>
                          <a:r>
                            <a:rPr lang="en-IN" sz="1200">
                              <a:effectLst/>
                              <a:latin typeface="Times New Roman" panose="02020603050405020304" pitchFamily="18" charset="0"/>
                              <a:cs typeface="Times New Roman" panose="02020603050405020304" pitchFamily="18" charset="0"/>
                            </a:rPr>
                            <a:t>CNN</a:t>
                          </a:r>
                          <a:endParaRPr lang="en-IN" sz="1200">
                            <a:effectLst/>
                            <a:latin typeface="Times New Roman" panose="02020603050405020304" pitchFamily="18" charset="0"/>
                            <a:ea typeface="Calibri"/>
                            <a:cs typeface="Times New Roman" panose="02020603050405020304" pitchFamily="18" charset="0"/>
                          </a:endParaRPr>
                        </a:p>
                      </a:txBody>
                      <a:tcPr marL="62345" marR="62345" marT="0" marB="0"/>
                    </a:tc>
                    <a:tc>
                      <a:txBody>
                        <a:bodyPr/>
                        <a:lstStyle/>
                        <a:p>
                          <a:pPr algn="just">
                            <a:lnSpc>
                              <a:spcPct val="107000"/>
                            </a:lnSpc>
                            <a:spcBef>
                              <a:spcPts val="600"/>
                            </a:spcBef>
                            <a:spcAft>
                              <a:spcPts val="600"/>
                            </a:spcAft>
                          </a:pPr>
                          <a:r>
                            <a:rPr lang="en-IN" sz="1200" dirty="0">
                              <a:effectLst/>
                              <a:latin typeface="Times New Roman" panose="02020603050405020304" pitchFamily="18" charset="0"/>
                              <a:cs typeface="Times New Roman" panose="02020603050405020304" pitchFamily="18" charset="0"/>
                            </a:rPr>
                            <a:t>Dropout rate, Number of epochs, Number of filters, Number of outputs of each layer, Optimizer, Batch Size, Steps taken between pooling, , Size of Pooling, Layer type, Activation function, Initialization function, Rows and columns of the kernel, including bias, Behaviour of operator at the border.</a:t>
                          </a:r>
                          <a:endParaRPr lang="en-IN" sz="1200" dirty="0">
                            <a:effectLst/>
                            <a:latin typeface="Times New Roman" panose="02020603050405020304" pitchFamily="18" charset="0"/>
                            <a:ea typeface="Calibri"/>
                            <a:cs typeface="Times New Roman" panose="02020603050405020304" pitchFamily="18" charset="0"/>
                          </a:endParaRPr>
                        </a:p>
                      </a:txBody>
                      <a:tcPr marL="62345" marR="62345" marT="0" marB="0"/>
                    </a:tc>
                    <a:tc>
                      <a:txBody>
                        <a:bodyPr/>
                        <a:lstStyle/>
                        <a:p>
                          <a:pPr algn="just">
                            <a:lnSpc>
                              <a:spcPct val="107000"/>
                            </a:lnSpc>
                            <a:spcBef>
                              <a:spcPts val="600"/>
                            </a:spcBef>
                            <a:spcAft>
                              <a:spcPts val="600"/>
                            </a:spcAft>
                          </a:pPr>
                          <a:r>
                            <a:rPr lang="en-IN" sz="1200" dirty="0">
                              <a:effectLst/>
                              <a:latin typeface="Times New Roman" panose="02020603050405020304" pitchFamily="18" charset="0"/>
                              <a:cs typeface="Times New Roman" panose="02020603050405020304" pitchFamily="18" charset="0"/>
                            </a:rPr>
                            <a:t>Evolutionary Algorithm (EA)</a:t>
                          </a:r>
                          <a:endParaRPr lang="en-IN" sz="1200" dirty="0">
                            <a:effectLst/>
                            <a:latin typeface="Times New Roman" panose="02020603050405020304" pitchFamily="18" charset="0"/>
                            <a:ea typeface="Calibri"/>
                            <a:cs typeface="Times New Roman" panose="02020603050405020304" pitchFamily="18" charset="0"/>
                          </a:endParaRPr>
                        </a:p>
                      </a:txBody>
                      <a:tcPr marL="62345" marR="62345" marT="0" marB="0"/>
                    </a:tc>
                    <a:tc>
                      <a:txBody>
                        <a:bodyPr/>
                        <a:lstStyle/>
                        <a:p>
                          <a:pPr>
                            <a:lnSpc>
                              <a:spcPct val="107000"/>
                            </a:lnSpc>
                            <a:spcBef>
                              <a:spcPts val="600"/>
                            </a:spcBef>
                            <a:spcAft>
                              <a:spcPts val="600"/>
                            </a:spcAft>
                          </a:pPr>
                          <a:r>
                            <a:rPr lang="en-IN" sz="1200" dirty="0">
                              <a:effectLst/>
                              <a:latin typeface="Times New Roman" panose="02020603050405020304" pitchFamily="18" charset="0"/>
                              <a:cs typeface="Times New Roman" panose="02020603050405020304" pitchFamily="18" charset="0"/>
                            </a:rPr>
                            <a:t>Variable-length real encoding</a:t>
                          </a:r>
                          <a:endParaRPr lang="en-IN" sz="1200" dirty="0">
                            <a:effectLst/>
                            <a:latin typeface="Times New Roman" panose="02020603050405020304" pitchFamily="18" charset="0"/>
                            <a:ea typeface="Calibri"/>
                            <a:cs typeface="Times New Roman" panose="02020603050405020304" pitchFamily="18" charset="0"/>
                          </a:endParaRPr>
                        </a:p>
                      </a:txBody>
                      <a:tcPr marL="62345" marR="62345" marT="0" marB="0"/>
                    </a:tc>
                    <a:tc>
                      <a:txBody>
                        <a:bodyPr/>
                        <a:lstStyle/>
                        <a:p>
                          <a:pPr>
                            <a:lnSpc>
                              <a:spcPct val="107000"/>
                            </a:lnSpc>
                            <a:spcBef>
                              <a:spcPts val="600"/>
                            </a:spcBef>
                            <a:spcAft>
                              <a:spcPts val="600"/>
                            </a:spcAft>
                          </a:pPr>
                          <a:r>
                            <a:rPr lang="en-IN" sz="1200">
                              <a:effectLst/>
                              <a:latin typeface="Times New Roman" panose="02020603050405020304" pitchFamily="18" charset="0"/>
                              <a:cs typeface="Times New Roman" panose="02020603050405020304" pitchFamily="18" charset="0"/>
                            </a:rPr>
                            <a:t>Image Classification</a:t>
                          </a:r>
                          <a:endParaRPr lang="en-IN" sz="1200">
                            <a:effectLst/>
                            <a:latin typeface="Times New Roman" panose="02020603050405020304" pitchFamily="18" charset="0"/>
                            <a:ea typeface="Calibri"/>
                            <a:cs typeface="Times New Roman" panose="02020603050405020304" pitchFamily="18" charset="0"/>
                          </a:endParaRPr>
                        </a:p>
                      </a:txBody>
                      <a:tcPr marL="62345" marR="62345" marT="0" marB="0"/>
                    </a:tc>
                    <a:extLst>
                      <a:ext uri="{0D108BD9-81ED-4DB2-BD59-A6C34878D82A}">
                        <a16:rowId xmlns:a16="http://schemas.microsoft.com/office/drawing/2014/main" val="10001"/>
                      </a:ext>
                    </a:extLst>
                  </a:tr>
                  <a:tr h="564311">
                    <a:tc>
                      <a:txBody>
                        <a:bodyPr/>
                        <a:lstStyle/>
                        <a:p>
                          <a:pPr marL="0" lvl="0" indent="0" algn="just">
                            <a:lnSpc>
                              <a:spcPct val="107000"/>
                            </a:lnSpc>
                            <a:spcBef>
                              <a:spcPts val="600"/>
                            </a:spcBef>
                            <a:spcAft>
                              <a:spcPts val="600"/>
                            </a:spcAft>
                            <a:buFont typeface="+mj-lt"/>
                            <a:buNone/>
                          </a:pPr>
                          <a:r>
                            <a:rPr lang="en-IN" sz="1200" dirty="0">
                              <a:effectLst/>
                              <a:latin typeface="Times New Roman" panose="02020603050405020304" pitchFamily="18" charset="0"/>
                              <a:cs typeface="Times New Roman" panose="02020603050405020304" pitchFamily="18" charset="0"/>
                            </a:rPr>
                            <a:t>[2] </a:t>
                          </a:r>
                          <a:endParaRPr lang="en-IN" sz="1200" dirty="0">
                            <a:effectLst/>
                            <a:latin typeface="Times New Roman" panose="02020603050405020304" pitchFamily="18" charset="0"/>
                            <a:ea typeface="Calibri"/>
                            <a:cs typeface="Times New Roman" panose="02020603050405020304" pitchFamily="18" charset="0"/>
                          </a:endParaRPr>
                        </a:p>
                      </a:txBody>
                      <a:tcPr marL="62345" marR="62345" marT="0" marB="0"/>
                    </a:tc>
                    <a:tc>
                      <a:txBody>
                        <a:bodyPr/>
                        <a:lstStyle/>
                        <a:p>
                          <a:pPr algn="just">
                            <a:lnSpc>
                              <a:spcPct val="107000"/>
                            </a:lnSpc>
                            <a:spcBef>
                              <a:spcPts val="600"/>
                            </a:spcBef>
                            <a:spcAft>
                              <a:spcPts val="600"/>
                            </a:spcAft>
                          </a:pPr>
                          <a:r>
                            <a:rPr lang="en-IN" sz="1200">
                              <a:effectLst/>
                              <a:latin typeface="Times New Roman" panose="02020603050405020304" pitchFamily="18" charset="0"/>
                              <a:cs typeface="Times New Roman" panose="02020603050405020304" pitchFamily="18" charset="0"/>
                            </a:rPr>
                            <a:t>CNN</a:t>
                          </a:r>
                          <a:endParaRPr lang="en-IN" sz="1200">
                            <a:effectLst/>
                            <a:latin typeface="Times New Roman" panose="02020603050405020304" pitchFamily="18" charset="0"/>
                            <a:ea typeface="Calibri"/>
                            <a:cs typeface="Times New Roman" panose="02020603050405020304" pitchFamily="18" charset="0"/>
                          </a:endParaRPr>
                        </a:p>
                      </a:txBody>
                      <a:tcPr marL="62345" marR="62345" marT="0" marB="0"/>
                    </a:tc>
                    <a:tc>
                      <a:txBody>
                        <a:bodyPr/>
                        <a:lstStyle/>
                        <a:p>
                          <a:pPr algn="just">
                            <a:lnSpc>
                              <a:spcPct val="107000"/>
                            </a:lnSpc>
                            <a:spcBef>
                              <a:spcPts val="600"/>
                            </a:spcBef>
                            <a:spcAft>
                              <a:spcPts val="600"/>
                            </a:spcAft>
                          </a:pPr>
                          <a:r>
                            <a:rPr lang="en-IN" sz="1200" dirty="0">
                              <a:effectLst/>
                              <a:latin typeface="Times New Roman" panose="02020603050405020304" pitchFamily="18" charset="0"/>
                              <a:cs typeface="Times New Roman" panose="02020603050405020304" pitchFamily="18" charset="0"/>
                            </a:rPr>
                            <a:t>Number of epochs, Contraction Expansion coefficient, measure times, Batch Size.</a:t>
                          </a:r>
                          <a:endParaRPr lang="en-IN" sz="1200" dirty="0">
                            <a:effectLst/>
                            <a:latin typeface="Times New Roman" panose="02020603050405020304" pitchFamily="18" charset="0"/>
                            <a:ea typeface="Calibri"/>
                            <a:cs typeface="Times New Roman" panose="02020603050405020304" pitchFamily="18" charset="0"/>
                          </a:endParaRPr>
                        </a:p>
                      </a:txBody>
                      <a:tcPr marL="62345" marR="62345" marT="0" marB="0"/>
                    </a:tc>
                    <a:tc>
                      <a:txBody>
                        <a:bodyPr/>
                        <a:lstStyle/>
                        <a:p>
                          <a:pPr algn="just">
                            <a:lnSpc>
                              <a:spcPct val="107000"/>
                            </a:lnSpc>
                            <a:spcBef>
                              <a:spcPts val="600"/>
                            </a:spcBef>
                            <a:spcAft>
                              <a:spcPts val="600"/>
                            </a:spcAft>
                          </a:pPr>
                          <a:r>
                            <a:rPr lang="en-IN" sz="1200" dirty="0">
                              <a:effectLst/>
                              <a:latin typeface="Times New Roman" panose="02020603050405020304" pitchFamily="18" charset="0"/>
                              <a:cs typeface="Times New Roman" panose="02020603050405020304" pitchFamily="18" charset="0"/>
                            </a:rPr>
                            <a:t>Particle Swarm Optimization (PSO)</a:t>
                          </a:r>
                          <a:endParaRPr lang="en-IN" sz="1200" dirty="0">
                            <a:effectLst/>
                            <a:latin typeface="Times New Roman" panose="02020603050405020304" pitchFamily="18" charset="0"/>
                            <a:ea typeface="Calibri"/>
                            <a:cs typeface="Times New Roman" panose="02020603050405020304" pitchFamily="18" charset="0"/>
                          </a:endParaRPr>
                        </a:p>
                      </a:txBody>
                      <a:tcPr marL="62345" marR="62345" marT="0" marB="0"/>
                    </a:tc>
                    <a:tc>
                      <a:txBody>
                        <a:bodyPr/>
                        <a:lstStyle/>
                        <a:p>
                          <a:pPr>
                            <a:lnSpc>
                              <a:spcPct val="107000"/>
                            </a:lnSpc>
                            <a:spcBef>
                              <a:spcPts val="600"/>
                            </a:spcBef>
                            <a:spcAft>
                              <a:spcPts val="600"/>
                            </a:spcAft>
                          </a:pPr>
                          <a:r>
                            <a:rPr lang="en-IN" sz="1200" dirty="0">
                              <a:effectLst/>
                              <a:latin typeface="Times New Roman" panose="02020603050405020304" pitchFamily="18" charset="0"/>
                              <a:cs typeface="Times New Roman" panose="02020603050405020304" pitchFamily="18" charset="0"/>
                            </a:rPr>
                            <a:t>Fixed-length binary encoding</a:t>
                          </a:r>
                          <a:endParaRPr lang="en-IN" sz="1200" dirty="0">
                            <a:effectLst/>
                            <a:latin typeface="Times New Roman" panose="02020603050405020304" pitchFamily="18" charset="0"/>
                            <a:ea typeface="Calibri"/>
                            <a:cs typeface="Times New Roman" panose="02020603050405020304" pitchFamily="18" charset="0"/>
                          </a:endParaRPr>
                        </a:p>
                      </a:txBody>
                      <a:tcPr marL="62345" marR="62345" marT="0" marB="0"/>
                    </a:tc>
                    <a:tc>
                      <a:txBody>
                        <a:bodyPr/>
                        <a:lstStyle/>
                        <a:p>
                          <a:pPr>
                            <a:lnSpc>
                              <a:spcPct val="107000"/>
                            </a:lnSpc>
                            <a:spcBef>
                              <a:spcPts val="600"/>
                            </a:spcBef>
                            <a:spcAft>
                              <a:spcPts val="600"/>
                            </a:spcAft>
                          </a:pPr>
                          <a:r>
                            <a:rPr lang="en-IN" sz="1200">
                              <a:effectLst/>
                              <a:latin typeface="Times New Roman" panose="02020603050405020304" pitchFamily="18" charset="0"/>
                              <a:cs typeface="Times New Roman" panose="02020603050405020304" pitchFamily="18" charset="0"/>
                            </a:rPr>
                            <a:t>Image Classification</a:t>
                          </a:r>
                          <a:endParaRPr lang="en-IN" sz="1200">
                            <a:effectLst/>
                            <a:latin typeface="Times New Roman" panose="02020603050405020304" pitchFamily="18" charset="0"/>
                            <a:ea typeface="Calibri"/>
                            <a:cs typeface="Times New Roman" panose="02020603050405020304" pitchFamily="18" charset="0"/>
                          </a:endParaRPr>
                        </a:p>
                      </a:txBody>
                      <a:tcPr marL="62345" marR="62345" marT="0" marB="0"/>
                    </a:tc>
                    <a:extLst>
                      <a:ext uri="{0D108BD9-81ED-4DB2-BD59-A6C34878D82A}">
                        <a16:rowId xmlns:a16="http://schemas.microsoft.com/office/drawing/2014/main" val="10002"/>
                      </a:ext>
                    </a:extLst>
                  </a:tr>
                  <a:tr h="500419">
                    <a:tc>
                      <a:txBody>
                        <a:bodyPr/>
                        <a:lstStyle/>
                        <a:p>
                          <a:pPr marL="0" lvl="0" indent="0" algn="just">
                            <a:lnSpc>
                              <a:spcPct val="107000"/>
                            </a:lnSpc>
                            <a:spcBef>
                              <a:spcPts val="600"/>
                            </a:spcBef>
                            <a:spcAft>
                              <a:spcPts val="600"/>
                            </a:spcAft>
                            <a:buFont typeface="+mj-lt"/>
                            <a:buNone/>
                          </a:pPr>
                          <a:r>
                            <a:rPr lang="en-IN" sz="1200" dirty="0">
                              <a:effectLst/>
                              <a:latin typeface="Times New Roman" panose="02020603050405020304" pitchFamily="18" charset="0"/>
                              <a:cs typeface="Times New Roman" panose="02020603050405020304" pitchFamily="18" charset="0"/>
                            </a:rPr>
                            <a:t>[3] </a:t>
                          </a:r>
                          <a:endParaRPr lang="en-IN" sz="1200" dirty="0">
                            <a:effectLst/>
                            <a:latin typeface="Times New Roman" panose="02020603050405020304" pitchFamily="18" charset="0"/>
                            <a:ea typeface="Calibri"/>
                            <a:cs typeface="Times New Roman" panose="02020603050405020304" pitchFamily="18" charset="0"/>
                          </a:endParaRPr>
                        </a:p>
                      </a:txBody>
                      <a:tcPr marL="62345" marR="62345" marT="0" marB="0"/>
                    </a:tc>
                    <a:tc>
                      <a:txBody>
                        <a:bodyPr/>
                        <a:lstStyle/>
                        <a:p>
                          <a:pPr algn="just">
                            <a:lnSpc>
                              <a:spcPct val="107000"/>
                            </a:lnSpc>
                            <a:spcBef>
                              <a:spcPts val="600"/>
                            </a:spcBef>
                            <a:spcAft>
                              <a:spcPts val="600"/>
                            </a:spcAft>
                          </a:pPr>
                          <a:r>
                            <a:rPr lang="en-IN" sz="1200">
                              <a:effectLst/>
                              <a:latin typeface="Times New Roman" panose="02020603050405020304" pitchFamily="18" charset="0"/>
                              <a:cs typeface="Times New Roman" panose="02020603050405020304" pitchFamily="18" charset="0"/>
                            </a:rPr>
                            <a:t>CNN</a:t>
                          </a:r>
                          <a:endParaRPr lang="en-IN" sz="1200">
                            <a:effectLst/>
                            <a:latin typeface="Times New Roman" panose="02020603050405020304" pitchFamily="18" charset="0"/>
                            <a:ea typeface="Calibri"/>
                            <a:cs typeface="Times New Roman" panose="02020603050405020304" pitchFamily="18" charset="0"/>
                          </a:endParaRPr>
                        </a:p>
                      </a:txBody>
                      <a:tcPr marL="62345" marR="62345" marT="0" marB="0"/>
                    </a:tc>
                    <a:tc>
                      <a:txBody>
                        <a:bodyPr/>
                        <a:lstStyle/>
                        <a:p>
                          <a:pPr algn="just">
                            <a:lnSpc>
                              <a:spcPct val="107000"/>
                            </a:lnSpc>
                            <a:spcBef>
                              <a:spcPts val="600"/>
                            </a:spcBef>
                            <a:spcAft>
                              <a:spcPts val="600"/>
                            </a:spcAft>
                          </a:pPr>
                          <a:r>
                            <a:rPr lang="en-IN" sz="1200" dirty="0">
                              <a:effectLst/>
                              <a:latin typeface="Times New Roman" panose="02020603050405020304" pitchFamily="18" charset="0"/>
                              <a:cs typeface="Times New Roman" panose="02020603050405020304" pitchFamily="18" charset="0"/>
                            </a:rPr>
                            <a:t>Dropout rate, Kernel Size, No. of epochs, Batch Normalisation.</a:t>
                          </a:r>
                          <a:endParaRPr lang="en-IN" sz="1200" dirty="0">
                            <a:effectLst/>
                            <a:latin typeface="Times New Roman" panose="02020603050405020304" pitchFamily="18" charset="0"/>
                            <a:ea typeface="Calibri"/>
                            <a:cs typeface="Times New Roman" panose="02020603050405020304" pitchFamily="18" charset="0"/>
                          </a:endParaRPr>
                        </a:p>
                      </a:txBody>
                      <a:tcPr marL="62345" marR="62345" marT="0" marB="0"/>
                    </a:tc>
                    <a:tc>
                      <a:txBody>
                        <a:bodyPr/>
                        <a:lstStyle/>
                        <a:p>
                          <a:pPr algn="just">
                            <a:lnSpc>
                              <a:spcPct val="107000"/>
                            </a:lnSpc>
                            <a:spcBef>
                              <a:spcPts val="600"/>
                            </a:spcBef>
                            <a:spcAft>
                              <a:spcPts val="600"/>
                            </a:spcAft>
                          </a:pPr>
                          <a:r>
                            <a:rPr lang="en-IN" sz="1200" dirty="0">
                              <a:effectLst/>
                              <a:latin typeface="Times New Roman" panose="02020603050405020304" pitchFamily="18" charset="0"/>
                              <a:cs typeface="Times New Roman" panose="02020603050405020304" pitchFamily="18" charset="0"/>
                            </a:rPr>
                            <a:t>PSO</a:t>
                          </a:r>
                          <a:endParaRPr lang="en-IN" sz="1200" dirty="0">
                            <a:effectLst/>
                            <a:latin typeface="Times New Roman" panose="02020603050405020304" pitchFamily="18" charset="0"/>
                            <a:ea typeface="Calibri"/>
                            <a:cs typeface="Times New Roman" panose="02020603050405020304" pitchFamily="18" charset="0"/>
                          </a:endParaRPr>
                        </a:p>
                      </a:txBody>
                      <a:tcPr marL="62345" marR="62345" marT="0" marB="0"/>
                    </a:tc>
                    <a:tc>
                      <a:txBody>
                        <a:bodyPr/>
                        <a:lstStyle/>
                        <a:p>
                          <a:pPr>
                            <a:lnSpc>
                              <a:spcPct val="107000"/>
                            </a:lnSpc>
                            <a:spcBef>
                              <a:spcPts val="600"/>
                            </a:spcBef>
                            <a:spcAft>
                              <a:spcPts val="600"/>
                            </a:spcAft>
                          </a:pPr>
                          <a:r>
                            <a:rPr lang="en-IN" sz="1200" dirty="0">
                              <a:effectLst/>
                              <a:latin typeface="Times New Roman" panose="02020603050405020304" pitchFamily="18" charset="0"/>
                              <a:cs typeface="Times New Roman" panose="02020603050405020304" pitchFamily="18" charset="0"/>
                            </a:rPr>
                            <a:t>Variable-length real encoding </a:t>
                          </a:r>
                          <a:endParaRPr lang="en-IN" sz="1200" dirty="0">
                            <a:effectLst/>
                            <a:latin typeface="Times New Roman" panose="02020603050405020304" pitchFamily="18" charset="0"/>
                            <a:ea typeface="Calibri"/>
                            <a:cs typeface="Times New Roman" panose="02020603050405020304" pitchFamily="18" charset="0"/>
                          </a:endParaRPr>
                        </a:p>
                      </a:txBody>
                      <a:tcPr marL="62345" marR="62345" marT="0" marB="0"/>
                    </a:tc>
                    <a:tc>
                      <a:txBody>
                        <a:bodyPr/>
                        <a:lstStyle/>
                        <a:p>
                          <a:pPr>
                            <a:lnSpc>
                              <a:spcPct val="107000"/>
                            </a:lnSpc>
                            <a:spcBef>
                              <a:spcPts val="600"/>
                            </a:spcBef>
                            <a:spcAft>
                              <a:spcPts val="600"/>
                            </a:spcAft>
                          </a:pPr>
                          <a:r>
                            <a:rPr lang="en-IN" sz="1200">
                              <a:effectLst/>
                              <a:latin typeface="Times New Roman" panose="02020603050405020304" pitchFamily="18" charset="0"/>
                              <a:cs typeface="Times New Roman" panose="02020603050405020304" pitchFamily="18" charset="0"/>
                            </a:rPr>
                            <a:t>Image Classification</a:t>
                          </a:r>
                          <a:endParaRPr lang="en-IN" sz="1200">
                            <a:effectLst/>
                            <a:latin typeface="Times New Roman" panose="02020603050405020304" pitchFamily="18" charset="0"/>
                            <a:ea typeface="Calibri"/>
                            <a:cs typeface="Times New Roman" panose="02020603050405020304" pitchFamily="18" charset="0"/>
                          </a:endParaRPr>
                        </a:p>
                      </a:txBody>
                      <a:tcPr marL="62345" marR="62345" marT="0" marB="0"/>
                    </a:tc>
                    <a:extLst>
                      <a:ext uri="{0D108BD9-81ED-4DB2-BD59-A6C34878D82A}">
                        <a16:rowId xmlns:a16="http://schemas.microsoft.com/office/drawing/2014/main" val="10003"/>
                      </a:ext>
                    </a:extLst>
                  </a:tr>
                  <a:tr h="750630">
                    <a:tc>
                      <a:txBody>
                        <a:bodyPr/>
                        <a:lstStyle/>
                        <a:p>
                          <a:pPr marL="0" lvl="0" indent="0" algn="just">
                            <a:lnSpc>
                              <a:spcPct val="107000"/>
                            </a:lnSpc>
                            <a:spcBef>
                              <a:spcPts val="600"/>
                            </a:spcBef>
                            <a:spcAft>
                              <a:spcPts val="600"/>
                            </a:spcAft>
                            <a:buFont typeface="+mj-lt"/>
                            <a:buNone/>
                          </a:pPr>
                          <a:r>
                            <a:rPr lang="en-IN" sz="1200" dirty="0">
                              <a:effectLst/>
                              <a:latin typeface="Times New Roman" panose="02020603050405020304" pitchFamily="18" charset="0"/>
                              <a:cs typeface="Times New Roman" panose="02020603050405020304" pitchFamily="18" charset="0"/>
                            </a:rPr>
                            <a:t>[4] </a:t>
                          </a:r>
                          <a:endParaRPr lang="en-IN" sz="1200" dirty="0">
                            <a:effectLst/>
                            <a:latin typeface="Times New Roman" panose="02020603050405020304" pitchFamily="18" charset="0"/>
                            <a:ea typeface="Calibri"/>
                            <a:cs typeface="Times New Roman" panose="02020603050405020304" pitchFamily="18" charset="0"/>
                          </a:endParaRPr>
                        </a:p>
                      </a:txBody>
                      <a:tcPr marL="62345" marR="62345" marT="0" marB="0"/>
                    </a:tc>
                    <a:tc>
                      <a:txBody>
                        <a:bodyPr/>
                        <a:lstStyle/>
                        <a:p>
                          <a:pPr algn="just">
                            <a:lnSpc>
                              <a:spcPct val="107000"/>
                            </a:lnSpc>
                            <a:spcBef>
                              <a:spcPts val="600"/>
                            </a:spcBef>
                            <a:spcAft>
                              <a:spcPts val="600"/>
                            </a:spcAft>
                          </a:pPr>
                          <a:r>
                            <a:rPr lang="en-IN" sz="1200">
                              <a:effectLst/>
                              <a:latin typeface="Times New Roman" panose="02020603050405020304" pitchFamily="18" charset="0"/>
                              <a:cs typeface="Times New Roman" panose="02020603050405020304" pitchFamily="18" charset="0"/>
                            </a:rPr>
                            <a:t>DNN, LSTM-RNN, DBN</a:t>
                          </a:r>
                          <a:endParaRPr lang="en-IN" sz="1200">
                            <a:effectLst/>
                            <a:latin typeface="Times New Roman" panose="02020603050405020304" pitchFamily="18" charset="0"/>
                            <a:ea typeface="Calibri"/>
                            <a:cs typeface="Times New Roman" panose="02020603050405020304" pitchFamily="18" charset="0"/>
                          </a:endParaRPr>
                        </a:p>
                      </a:txBody>
                      <a:tcPr marL="62345" marR="62345" marT="0" marB="0"/>
                    </a:tc>
                    <a:tc>
                      <a:txBody>
                        <a:bodyPr/>
                        <a:lstStyle/>
                        <a:p>
                          <a:pPr algn="just">
                            <a:lnSpc>
                              <a:spcPct val="107000"/>
                            </a:lnSpc>
                            <a:spcBef>
                              <a:spcPts val="600"/>
                            </a:spcBef>
                            <a:spcAft>
                              <a:spcPts val="600"/>
                            </a:spcAft>
                          </a:pPr>
                          <a:r>
                            <a:rPr lang="en-IN" sz="1200" dirty="0">
                              <a:effectLst/>
                              <a:latin typeface="Times New Roman" panose="02020603050405020304" pitchFamily="18" charset="0"/>
                              <a:cs typeface="Times New Roman" panose="02020603050405020304" pitchFamily="18" charset="0"/>
                            </a:rPr>
                            <a:t>Batch Size, Learning Rate, Type of Layer, Initialization function, Optimizer, Number of epochs, Dropout rate, Decay rate, Momentum. </a:t>
                          </a:r>
                          <a:endParaRPr lang="en-IN" sz="1200" dirty="0">
                            <a:effectLst/>
                            <a:latin typeface="Times New Roman" panose="02020603050405020304" pitchFamily="18" charset="0"/>
                            <a:ea typeface="Calibri"/>
                            <a:cs typeface="Times New Roman" panose="02020603050405020304" pitchFamily="18" charset="0"/>
                          </a:endParaRPr>
                        </a:p>
                      </a:txBody>
                      <a:tcPr marL="62345" marR="62345" marT="0" marB="0"/>
                    </a:tc>
                    <a:tc>
                      <a:txBody>
                        <a:bodyPr/>
                        <a:lstStyle/>
                        <a:p>
                          <a:pPr algn="just">
                            <a:lnSpc>
                              <a:spcPct val="107000"/>
                            </a:lnSpc>
                            <a:spcBef>
                              <a:spcPts val="600"/>
                            </a:spcBef>
                            <a:spcAft>
                              <a:spcPts val="600"/>
                            </a:spcAft>
                          </a:pPr>
                          <a:r>
                            <a:rPr lang="en-IN" sz="1200" dirty="0">
                              <a:effectLst/>
                              <a:latin typeface="Times New Roman" panose="02020603050405020304" pitchFamily="18" charset="0"/>
                              <a:cs typeface="Times New Roman" panose="02020603050405020304" pitchFamily="18" charset="0"/>
                            </a:rPr>
                            <a:t>PSO</a:t>
                          </a:r>
                          <a:endParaRPr lang="en-IN" sz="1200" dirty="0">
                            <a:effectLst/>
                            <a:latin typeface="Times New Roman" panose="02020603050405020304" pitchFamily="18" charset="0"/>
                            <a:ea typeface="Calibri"/>
                            <a:cs typeface="Times New Roman" panose="02020603050405020304" pitchFamily="18" charset="0"/>
                          </a:endParaRPr>
                        </a:p>
                      </a:txBody>
                      <a:tcPr marL="62345" marR="62345" marT="0" marB="0"/>
                    </a:tc>
                    <a:tc>
                      <a:txBody>
                        <a:bodyPr/>
                        <a:lstStyle/>
                        <a:p>
                          <a:pPr>
                            <a:lnSpc>
                              <a:spcPct val="107000"/>
                            </a:lnSpc>
                            <a:spcBef>
                              <a:spcPts val="600"/>
                            </a:spcBef>
                            <a:spcAft>
                              <a:spcPts val="600"/>
                            </a:spcAft>
                          </a:pPr>
                          <a:r>
                            <a:rPr lang="en-IN" sz="1200" dirty="0">
                              <a:effectLst/>
                              <a:latin typeface="Times New Roman" panose="02020603050405020304" pitchFamily="18" charset="0"/>
                              <a:cs typeface="Times New Roman" panose="02020603050405020304" pitchFamily="18" charset="0"/>
                            </a:rPr>
                            <a:t>Fixed-length binary encoding</a:t>
                          </a:r>
                          <a:endParaRPr lang="en-IN" sz="1200" dirty="0">
                            <a:effectLst/>
                            <a:latin typeface="Times New Roman" panose="02020603050405020304" pitchFamily="18" charset="0"/>
                            <a:ea typeface="Calibri"/>
                            <a:cs typeface="Times New Roman" panose="02020603050405020304" pitchFamily="18" charset="0"/>
                          </a:endParaRPr>
                        </a:p>
                      </a:txBody>
                      <a:tcPr marL="62345" marR="62345" marT="0" marB="0"/>
                    </a:tc>
                    <a:tc>
                      <a:txBody>
                        <a:bodyPr/>
                        <a:lstStyle/>
                        <a:p>
                          <a:pPr>
                            <a:lnSpc>
                              <a:spcPct val="107000"/>
                            </a:lnSpc>
                            <a:spcBef>
                              <a:spcPts val="600"/>
                            </a:spcBef>
                            <a:spcAft>
                              <a:spcPts val="600"/>
                            </a:spcAft>
                          </a:pPr>
                          <a:r>
                            <a:rPr lang="en-IN" sz="1200">
                              <a:effectLst/>
                              <a:latin typeface="Times New Roman" panose="02020603050405020304" pitchFamily="18" charset="0"/>
                              <a:cs typeface="Times New Roman" panose="02020603050405020304" pitchFamily="18" charset="0"/>
                            </a:rPr>
                            <a:t>Network Intrusion Detection</a:t>
                          </a:r>
                          <a:endParaRPr lang="en-IN" sz="1200">
                            <a:effectLst/>
                            <a:latin typeface="Times New Roman" panose="02020603050405020304" pitchFamily="18" charset="0"/>
                            <a:ea typeface="Calibri"/>
                            <a:cs typeface="Times New Roman" panose="02020603050405020304" pitchFamily="18" charset="0"/>
                          </a:endParaRPr>
                        </a:p>
                      </a:txBody>
                      <a:tcPr marL="62345" marR="62345" marT="0" marB="0"/>
                    </a:tc>
                    <a:extLst>
                      <a:ext uri="{0D108BD9-81ED-4DB2-BD59-A6C34878D82A}">
                        <a16:rowId xmlns:a16="http://schemas.microsoft.com/office/drawing/2014/main" val="10004"/>
                      </a:ext>
                    </a:extLst>
                  </a:tr>
                  <a:tr h="580120">
                    <a:tc>
                      <a:txBody>
                        <a:bodyPr/>
                        <a:lstStyle/>
                        <a:p>
                          <a:pPr marL="0" lvl="0" indent="0" algn="just">
                            <a:lnSpc>
                              <a:spcPct val="107000"/>
                            </a:lnSpc>
                            <a:spcBef>
                              <a:spcPts val="600"/>
                            </a:spcBef>
                            <a:spcAft>
                              <a:spcPts val="600"/>
                            </a:spcAft>
                            <a:buFont typeface="+mj-lt"/>
                            <a:buNone/>
                          </a:pPr>
                          <a:r>
                            <a:rPr lang="en-IN" sz="1200" dirty="0">
                              <a:effectLst/>
                              <a:latin typeface="Times New Roman" panose="02020603050405020304" pitchFamily="18" charset="0"/>
                              <a:cs typeface="Times New Roman" panose="02020603050405020304" pitchFamily="18" charset="0"/>
                            </a:rPr>
                            <a:t>[5] </a:t>
                          </a:r>
                          <a:endParaRPr lang="en-IN" sz="1200" dirty="0">
                            <a:effectLst/>
                            <a:latin typeface="Times New Roman" panose="02020603050405020304" pitchFamily="18" charset="0"/>
                            <a:ea typeface="Calibri"/>
                            <a:cs typeface="Times New Roman" panose="02020603050405020304" pitchFamily="18" charset="0"/>
                          </a:endParaRPr>
                        </a:p>
                      </a:txBody>
                      <a:tcPr marL="62345" marR="62345" marT="0" marB="0"/>
                    </a:tc>
                    <a:tc>
                      <a:txBody>
                        <a:bodyPr/>
                        <a:lstStyle/>
                        <a:p>
                          <a:pPr algn="just">
                            <a:lnSpc>
                              <a:spcPct val="107000"/>
                            </a:lnSpc>
                            <a:spcBef>
                              <a:spcPts val="600"/>
                            </a:spcBef>
                            <a:spcAft>
                              <a:spcPts val="600"/>
                            </a:spcAft>
                          </a:pPr>
                          <a:r>
                            <a:rPr lang="en-IN" sz="1200">
                              <a:effectLst/>
                              <a:latin typeface="Times New Roman" panose="02020603050405020304" pitchFamily="18" charset="0"/>
                              <a:cs typeface="Times New Roman" panose="02020603050405020304" pitchFamily="18" charset="0"/>
                            </a:rPr>
                            <a:t>CNN</a:t>
                          </a:r>
                          <a:endParaRPr lang="en-IN" sz="1200">
                            <a:effectLst/>
                            <a:latin typeface="Times New Roman" panose="02020603050405020304" pitchFamily="18" charset="0"/>
                            <a:ea typeface="Calibri"/>
                            <a:cs typeface="Times New Roman" panose="02020603050405020304" pitchFamily="18" charset="0"/>
                          </a:endParaRPr>
                        </a:p>
                      </a:txBody>
                      <a:tcPr marL="62345" marR="62345" marT="0" marB="0"/>
                    </a:tc>
                    <a:tc>
                      <a:txBody>
                        <a:bodyPr/>
                        <a:lstStyle/>
                        <a:p>
                          <a:pPr algn="just">
                            <a:lnSpc>
                              <a:spcPct val="107000"/>
                            </a:lnSpc>
                            <a:spcBef>
                              <a:spcPts val="600"/>
                            </a:spcBef>
                            <a:spcAft>
                              <a:spcPts val="600"/>
                            </a:spcAft>
                          </a:pPr>
                          <a:r>
                            <a:rPr lang="en-IN" sz="1200">
                              <a:effectLst/>
                              <a:latin typeface="Times New Roman" panose="02020603050405020304" pitchFamily="18" charset="0"/>
                              <a:cs typeface="Times New Roman" panose="02020603050405020304" pitchFamily="18" charset="0"/>
                            </a:rPr>
                            <a:t>Dropout rate, Activation function, Kernel Initializer, Learning Rate, Batch Size.</a:t>
                          </a:r>
                          <a:endParaRPr lang="en-IN" sz="1200">
                            <a:effectLst/>
                            <a:latin typeface="Times New Roman" panose="02020603050405020304" pitchFamily="18" charset="0"/>
                            <a:ea typeface="Calibri"/>
                            <a:cs typeface="Times New Roman" panose="02020603050405020304" pitchFamily="18" charset="0"/>
                          </a:endParaRPr>
                        </a:p>
                      </a:txBody>
                      <a:tcPr marL="62345" marR="62345" marT="0" marB="0"/>
                    </a:tc>
                    <a:tc>
                      <a:txBody>
                        <a:bodyPr/>
                        <a:lstStyle/>
                        <a:p>
                          <a:pPr algn="just">
                            <a:lnSpc>
                              <a:spcPct val="107000"/>
                            </a:lnSpc>
                            <a:spcBef>
                              <a:spcPts val="600"/>
                            </a:spcBef>
                            <a:spcAft>
                              <a:spcPts val="600"/>
                            </a:spcAft>
                          </a:pPr>
                          <a:r>
                            <a:rPr lang="en-IN" sz="1200" dirty="0">
                              <a:effectLst/>
                              <a:latin typeface="Times New Roman" panose="02020603050405020304" pitchFamily="18" charset="0"/>
                              <a:cs typeface="Times New Roman" panose="02020603050405020304" pitchFamily="18" charset="0"/>
                            </a:rPr>
                            <a:t>PSO</a:t>
                          </a:r>
                          <a:endParaRPr lang="en-IN" sz="1200" dirty="0">
                            <a:effectLst/>
                            <a:latin typeface="Times New Roman" panose="02020603050405020304" pitchFamily="18" charset="0"/>
                            <a:ea typeface="Calibri"/>
                            <a:cs typeface="Times New Roman" panose="02020603050405020304" pitchFamily="18" charset="0"/>
                          </a:endParaRPr>
                        </a:p>
                      </a:txBody>
                      <a:tcPr marL="62345" marR="62345" marT="0" marB="0"/>
                    </a:tc>
                    <a:tc>
                      <a:txBody>
                        <a:bodyPr/>
                        <a:lstStyle/>
                        <a:p>
                          <a:pPr>
                            <a:lnSpc>
                              <a:spcPct val="107000"/>
                            </a:lnSpc>
                            <a:spcBef>
                              <a:spcPts val="600"/>
                            </a:spcBef>
                            <a:spcAft>
                              <a:spcPts val="600"/>
                            </a:spcAft>
                          </a:pPr>
                          <a:r>
                            <a:rPr lang="en-IN" sz="1200" dirty="0">
                              <a:effectLst/>
                              <a:latin typeface="Times New Roman" panose="02020603050405020304" pitchFamily="18" charset="0"/>
                              <a:cs typeface="Times New Roman" panose="02020603050405020304" pitchFamily="18" charset="0"/>
                            </a:rPr>
                            <a:t>Fixed-length hybrid binary encoding</a:t>
                          </a:r>
                          <a:endParaRPr lang="en-IN" sz="1200" dirty="0">
                            <a:effectLst/>
                            <a:latin typeface="Times New Roman" panose="02020603050405020304" pitchFamily="18" charset="0"/>
                            <a:ea typeface="Calibri"/>
                            <a:cs typeface="Times New Roman" panose="02020603050405020304" pitchFamily="18" charset="0"/>
                          </a:endParaRPr>
                        </a:p>
                      </a:txBody>
                      <a:tcPr marL="62345" marR="62345" marT="0" marB="0"/>
                    </a:tc>
                    <a:tc>
                      <a:txBody>
                        <a:bodyPr/>
                        <a:lstStyle/>
                        <a:p>
                          <a:pPr>
                            <a:lnSpc>
                              <a:spcPct val="107000"/>
                            </a:lnSpc>
                            <a:spcBef>
                              <a:spcPts val="600"/>
                            </a:spcBef>
                            <a:spcAft>
                              <a:spcPts val="600"/>
                            </a:spcAft>
                          </a:pPr>
                          <a:r>
                            <a:rPr lang="en-IN" sz="1200" dirty="0">
                              <a:effectLst/>
                              <a:latin typeface="Times New Roman" panose="02020603050405020304" pitchFamily="18" charset="0"/>
                              <a:cs typeface="Times New Roman" panose="02020603050405020304" pitchFamily="18" charset="0"/>
                            </a:rPr>
                            <a:t>Image Classification</a:t>
                          </a:r>
                          <a:endParaRPr lang="en-IN" sz="1200" dirty="0">
                            <a:effectLst/>
                            <a:latin typeface="Times New Roman" panose="02020603050405020304" pitchFamily="18" charset="0"/>
                            <a:ea typeface="Calibri"/>
                            <a:cs typeface="Times New Roman" panose="02020603050405020304" pitchFamily="18" charset="0"/>
                          </a:endParaRPr>
                        </a:p>
                      </a:txBody>
                      <a:tcPr marL="62345" marR="62345" marT="0" marB="0"/>
                    </a:tc>
                    <a:extLst>
                      <a:ext uri="{0D108BD9-81ED-4DB2-BD59-A6C34878D82A}">
                        <a16:rowId xmlns:a16="http://schemas.microsoft.com/office/drawing/2014/main" val="10005"/>
                      </a:ext>
                    </a:extLst>
                  </a:tr>
                  <a:tr h="500419">
                    <a:tc>
                      <a:txBody>
                        <a:bodyPr/>
                        <a:lstStyle/>
                        <a:p>
                          <a:pPr marL="0" lvl="0" indent="0" algn="just">
                            <a:lnSpc>
                              <a:spcPct val="107000"/>
                            </a:lnSpc>
                            <a:spcBef>
                              <a:spcPts val="600"/>
                            </a:spcBef>
                            <a:spcAft>
                              <a:spcPts val="600"/>
                            </a:spcAft>
                            <a:buFont typeface="+mj-lt"/>
                            <a:buNone/>
                          </a:pPr>
                          <a:r>
                            <a:rPr lang="en-IN" sz="1200" dirty="0">
                              <a:effectLst/>
                              <a:latin typeface="Times New Roman" panose="02020603050405020304" pitchFamily="18" charset="0"/>
                              <a:cs typeface="Times New Roman" panose="02020603050405020304" pitchFamily="18" charset="0"/>
                            </a:rPr>
                            <a:t>[6] </a:t>
                          </a:r>
                          <a:endParaRPr lang="en-IN" sz="1200" dirty="0">
                            <a:effectLst/>
                            <a:latin typeface="Times New Roman" panose="02020603050405020304" pitchFamily="18" charset="0"/>
                            <a:ea typeface="Calibri"/>
                            <a:cs typeface="Times New Roman" panose="02020603050405020304" pitchFamily="18" charset="0"/>
                          </a:endParaRPr>
                        </a:p>
                      </a:txBody>
                      <a:tcPr marL="62345" marR="62345" marT="0" marB="0"/>
                    </a:tc>
                    <a:tc>
                      <a:txBody>
                        <a:bodyPr/>
                        <a:lstStyle/>
                        <a:p>
                          <a:pPr algn="just">
                            <a:lnSpc>
                              <a:spcPct val="107000"/>
                            </a:lnSpc>
                            <a:spcBef>
                              <a:spcPts val="600"/>
                            </a:spcBef>
                            <a:spcAft>
                              <a:spcPts val="600"/>
                            </a:spcAft>
                          </a:pPr>
                          <a:r>
                            <a:rPr lang="en-IN" sz="1200">
                              <a:effectLst/>
                              <a:latin typeface="Times New Roman" panose="02020603050405020304" pitchFamily="18" charset="0"/>
                              <a:cs typeface="Times New Roman" panose="02020603050405020304" pitchFamily="18" charset="0"/>
                            </a:rPr>
                            <a:t>CNN</a:t>
                          </a:r>
                          <a:endParaRPr lang="en-IN" sz="1200">
                            <a:effectLst/>
                            <a:latin typeface="Times New Roman" panose="02020603050405020304" pitchFamily="18" charset="0"/>
                            <a:ea typeface="Calibri"/>
                            <a:cs typeface="Times New Roman" panose="02020603050405020304" pitchFamily="18" charset="0"/>
                          </a:endParaRPr>
                        </a:p>
                      </a:txBody>
                      <a:tcPr marL="62345" marR="62345" marT="0" marB="0"/>
                    </a:tc>
                    <a:tc>
                      <a:txBody>
                        <a:bodyPr/>
                        <a:lstStyle/>
                        <a:p>
                          <a:pPr algn="just">
                            <a:lnSpc>
                              <a:spcPct val="107000"/>
                            </a:lnSpc>
                            <a:spcBef>
                              <a:spcPts val="600"/>
                            </a:spcBef>
                            <a:spcAft>
                              <a:spcPts val="600"/>
                            </a:spcAft>
                          </a:pPr>
                          <a:r>
                            <a:rPr lang="en-IN" sz="1200">
                              <a:effectLst/>
                              <a:latin typeface="Times New Roman" panose="02020603050405020304" pitchFamily="18" charset="0"/>
                              <a:cs typeface="Times New Roman" panose="02020603050405020304" pitchFamily="18" charset="0"/>
                            </a:rPr>
                            <a:t>Size of the mini-batch, dropout rate.</a:t>
                          </a:r>
                          <a:endParaRPr lang="en-IN" sz="1200">
                            <a:effectLst/>
                            <a:latin typeface="Times New Roman" panose="02020603050405020304" pitchFamily="18" charset="0"/>
                            <a:ea typeface="Calibri"/>
                            <a:cs typeface="Times New Roman" panose="02020603050405020304" pitchFamily="18" charset="0"/>
                          </a:endParaRPr>
                        </a:p>
                      </a:txBody>
                      <a:tcPr marL="62345" marR="62345" marT="0" marB="0"/>
                    </a:tc>
                    <a:tc>
                      <a:txBody>
                        <a:bodyPr/>
                        <a:lstStyle/>
                        <a:p>
                          <a:pPr algn="just">
                            <a:lnSpc>
                              <a:spcPct val="107000"/>
                            </a:lnSpc>
                            <a:spcBef>
                              <a:spcPts val="600"/>
                            </a:spcBef>
                            <a:spcAft>
                              <a:spcPts val="600"/>
                            </a:spcAft>
                          </a:pPr>
                          <a:r>
                            <a:rPr lang="en-IN" sz="1200">
                              <a:effectLst/>
                              <a:latin typeface="Times New Roman" panose="02020603050405020304" pitchFamily="18" charset="0"/>
                              <a:cs typeface="Times New Roman" panose="02020603050405020304" pitchFamily="18" charset="0"/>
                            </a:rPr>
                            <a:t>PSO</a:t>
                          </a:r>
                          <a:endParaRPr lang="en-IN" sz="1200">
                            <a:effectLst/>
                            <a:latin typeface="Times New Roman" panose="02020603050405020304" pitchFamily="18" charset="0"/>
                            <a:ea typeface="Calibri"/>
                            <a:cs typeface="Times New Roman" panose="02020603050405020304" pitchFamily="18" charset="0"/>
                          </a:endParaRPr>
                        </a:p>
                      </a:txBody>
                      <a:tcPr marL="62345" marR="62345" marT="0" marB="0"/>
                    </a:tc>
                    <a:tc>
                      <a:txBody>
                        <a:bodyPr/>
                        <a:lstStyle/>
                        <a:p>
                          <a:pPr>
                            <a:lnSpc>
                              <a:spcPct val="107000"/>
                            </a:lnSpc>
                            <a:spcBef>
                              <a:spcPts val="600"/>
                            </a:spcBef>
                            <a:spcAft>
                              <a:spcPts val="600"/>
                            </a:spcAft>
                          </a:pPr>
                          <a:r>
                            <a:rPr lang="en-IN" sz="1200" dirty="0">
                              <a:effectLst/>
                              <a:latin typeface="Times New Roman" panose="02020603050405020304" pitchFamily="18" charset="0"/>
                              <a:cs typeface="Times New Roman" panose="02020603050405020304" pitchFamily="18" charset="0"/>
                            </a:rPr>
                            <a:t>Fixed-length real encoding</a:t>
                          </a:r>
                          <a:endParaRPr lang="en-IN" sz="1200" dirty="0">
                            <a:effectLst/>
                            <a:latin typeface="Times New Roman" panose="02020603050405020304" pitchFamily="18" charset="0"/>
                            <a:ea typeface="Calibri"/>
                            <a:cs typeface="Times New Roman" panose="02020603050405020304" pitchFamily="18" charset="0"/>
                          </a:endParaRPr>
                        </a:p>
                      </a:txBody>
                      <a:tcPr marL="62345" marR="62345" marT="0" marB="0"/>
                    </a:tc>
                    <a:tc>
                      <a:txBody>
                        <a:bodyPr/>
                        <a:lstStyle/>
                        <a:p>
                          <a:pPr>
                            <a:lnSpc>
                              <a:spcPct val="107000"/>
                            </a:lnSpc>
                            <a:spcBef>
                              <a:spcPts val="600"/>
                            </a:spcBef>
                            <a:spcAft>
                              <a:spcPts val="600"/>
                            </a:spcAft>
                          </a:pPr>
                          <a:r>
                            <a:rPr lang="en-IN" sz="1200" dirty="0">
                              <a:effectLst/>
                              <a:latin typeface="Times New Roman" panose="02020603050405020304" pitchFamily="18" charset="0"/>
                              <a:cs typeface="Times New Roman" panose="02020603050405020304" pitchFamily="18" charset="0"/>
                            </a:rPr>
                            <a:t>Image Classification</a:t>
                          </a:r>
                          <a:endParaRPr lang="en-IN" sz="1200" dirty="0">
                            <a:effectLst/>
                            <a:latin typeface="Times New Roman" panose="02020603050405020304" pitchFamily="18" charset="0"/>
                            <a:ea typeface="Calibri"/>
                            <a:cs typeface="Times New Roman" panose="02020603050405020304" pitchFamily="18" charset="0"/>
                          </a:endParaRPr>
                        </a:p>
                      </a:txBody>
                      <a:tcPr marL="62345" marR="62345" marT="0" marB="0"/>
                    </a:tc>
                    <a:extLst>
                      <a:ext uri="{0D108BD9-81ED-4DB2-BD59-A6C34878D82A}">
                        <a16:rowId xmlns:a16="http://schemas.microsoft.com/office/drawing/2014/main" val="10006"/>
                      </a:ext>
                    </a:extLst>
                  </a:tr>
                  <a:tr h="777944">
                    <a:tc>
                      <a:txBody>
                        <a:bodyPr/>
                        <a:lstStyle/>
                        <a:p>
                          <a:pPr marL="0" lvl="0" indent="0" algn="just">
                            <a:lnSpc>
                              <a:spcPct val="107000"/>
                            </a:lnSpc>
                            <a:spcBef>
                              <a:spcPts val="600"/>
                            </a:spcBef>
                            <a:spcAft>
                              <a:spcPts val="600"/>
                            </a:spcAft>
                            <a:buFont typeface="+mj-lt"/>
                            <a:buNone/>
                          </a:pPr>
                          <a:r>
                            <a:rPr lang="en-IN" sz="1200" dirty="0">
                              <a:effectLst/>
                              <a:latin typeface="Times New Roman" panose="02020603050405020304" pitchFamily="18" charset="0"/>
                              <a:cs typeface="Times New Roman" panose="02020603050405020304" pitchFamily="18" charset="0"/>
                            </a:rPr>
                            <a:t>[7] </a:t>
                          </a:r>
                          <a:endParaRPr lang="en-IN" sz="1200" dirty="0">
                            <a:effectLst/>
                            <a:latin typeface="Times New Roman" panose="02020603050405020304" pitchFamily="18" charset="0"/>
                            <a:ea typeface="Calibri"/>
                            <a:cs typeface="Times New Roman" panose="02020603050405020304" pitchFamily="18" charset="0"/>
                          </a:endParaRPr>
                        </a:p>
                      </a:txBody>
                      <a:tcPr marL="62345" marR="62345" marT="0" marB="0"/>
                    </a:tc>
                    <a:tc>
                      <a:txBody>
                        <a:bodyPr/>
                        <a:lstStyle/>
                        <a:p>
                          <a:pPr algn="just">
                            <a:lnSpc>
                              <a:spcPct val="107000"/>
                            </a:lnSpc>
                            <a:spcBef>
                              <a:spcPts val="600"/>
                            </a:spcBef>
                            <a:spcAft>
                              <a:spcPts val="600"/>
                            </a:spcAft>
                          </a:pPr>
                          <a:r>
                            <a:rPr lang="en-IN" sz="1200">
                              <a:effectLst/>
                              <a:latin typeface="Times New Roman" panose="02020603050405020304" pitchFamily="18" charset="0"/>
                              <a:cs typeface="Times New Roman" panose="02020603050405020304" pitchFamily="18" charset="0"/>
                            </a:rPr>
                            <a:t>CNN</a:t>
                          </a:r>
                          <a:endParaRPr lang="en-IN" sz="1200">
                            <a:effectLst/>
                            <a:latin typeface="Times New Roman" panose="02020603050405020304" pitchFamily="18" charset="0"/>
                            <a:ea typeface="Calibri"/>
                            <a:cs typeface="Times New Roman" panose="02020603050405020304" pitchFamily="18" charset="0"/>
                          </a:endParaRPr>
                        </a:p>
                      </a:txBody>
                      <a:tcPr marL="62345" marR="62345" marT="0" marB="0"/>
                    </a:tc>
                    <a:tc>
                      <a:txBody>
                        <a:bodyPr/>
                        <a:lstStyle/>
                        <a:p>
                          <a:pPr algn="just">
                            <a:lnSpc>
                              <a:spcPct val="107000"/>
                            </a:lnSpc>
                            <a:spcBef>
                              <a:spcPts val="600"/>
                            </a:spcBef>
                            <a:spcAft>
                              <a:spcPts val="600"/>
                            </a:spcAft>
                          </a:pPr>
                          <a:r>
                            <a:rPr lang="en-IN" sz="1200">
                              <a:effectLst/>
                              <a:latin typeface="Times New Roman" panose="02020603050405020304" pitchFamily="18" charset="0"/>
                              <a:cs typeface="Times New Roman" panose="02020603050405020304" pitchFamily="18" charset="0"/>
                            </a:rPr>
                            <a:t>Dropout rate, Dropout rate for </a:t>
                          </a:r>
                          <a14:m>
                            <m:oMath xmlns:m="http://schemas.openxmlformats.org/officeDocument/2006/math">
                              <m:r>
                                <a:rPr lang="en-IN" sz="1200">
                                  <a:effectLst/>
                                  <a:latin typeface="Cambria Math"/>
                                </a:rPr>
                                <m:t>𝑙𝑡h</m:t>
                              </m:r>
                            </m:oMath>
                          </a14:m>
                          <a:r>
                            <a:rPr lang="en-IN" sz="1200">
                              <a:effectLst/>
                              <a:latin typeface="Times New Roman" panose="02020603050405020304" pitchFamily="18" charset="0"/>
                              <a:cs typeface="Times New Roman" panose="02020603050405020304" pitchFamily="18" charset="0"/>
                            </a:rPr>
                            <a:t> block, Number of units in the dense layers, Momentum, Batch size, Number of epochs, Number of filters, Learning rate, Weight decay.</a:t>
                          </a:r>
                          <a:endParaRPr lang="en-IN" sz="1200">
                            <a:effectLst/>
                            <a:latin typeface="Times New Roman" panose="02020603050405020304" pitchFamily="18" charset="0"/>
                            <a:ea typeface="Calibri"/>
                            <a:cs typeface="Times New Roman" panose="02020603050405020304" pitchFamily="18" charset="0"/>
                          </a:endParaRPr>
                        </a:p>
                      </a:txBody>
                      <a:tcPr marL="62345" marR="62345" marT="0" marB="0"/>
                    </a:tc>
                    <a:tc>
                      <a:txBody>
                        <a:bodyPr/>
                        <a:lstStyle/>
                        <a:p>
                          <a:pPr algn="just">
                            <a:lnSpc>
                              <a:spcPct val="107000"/>
                            </a:lnSpc>
                            <a:spcBef>
                              <a:spcPts val="600"/>
                            </a:spcBef>
                            <a:spcAft>
                              <a:spcPts val="600"/>
                            </a:spcAft>
                          </a:pPr>
                          <a:r>
                            <a:rPr lang="en-IN" sz="1200" dirty="0">
                              <a:effectLst/>
                              <a:latin typeface="Times New Roman" panose="02020603050405020304" pitchFamily="18" charset="0"/>
                              <a:cs typeface="Times New Roman" panose="02020603050405020304" pitchFamily="18" charset="0"/>
                            </a:rPr>
                            <a:t>Fractal Decomposition Algorithm (FDA)</a:t>
                          </a:r>
                          <a:endParaRPr lang="en-IN" sz="1200" dirty="0">
                            <a:effectLst/>
                            <a:latin typeface="Times New Roman" panose="02020603050405020304" pitchFamily="18" charset="0"/>
                            <a:ea typeface="Calibri"/>
                            <a:cs typeface="Times New Roman" panose="02020603050405020304" pitchFamily="18" charset="0"/>
                          </a:endParaRPr>
                        </a:p>
                      </a:txBody>
                      <a:tcPr marL="62345" marR="62345" marT="0" marB="0"/>
                    </a:tc>
                    <a:tc>
                      <a:txBody>
                        <a:bodyPr/>
                        <a:lstStyle/>
                        <a:p>
                          <a:pPr>
                            <a:lnSpc>
                              <a:spcPct val="107000"/>
                            </a:lnSpc>
                            <a:spcBef>
                              <a:spcPts val="600"/>
                            </a:spcBef>
                            <a:spcAft>
                              <a:spcPts val="600"/>
                            </a:spcAft>
                          </a:pPr>
                          <a:r>
                            <a:rPr lang="en-IN" sz="1200" dirty="0">
                              <a:effectLst/>
                              <a:latin typeface="Times New Roman" panose="02020603050405020304" pitchFamily="18" charset="0"/>
                              <a:cs typeface="Times New Roman" panose="02020603050405020304" pitchFamily="18" charset="0"/>
                            </a:rPr>
                            <a:t>Fixed-length real encoding</a:t>
                          </a:r>
                          <a:endParaRPr lang="en-IN" sz="1200" dirty="0">
                            <a:effectLst/>
                            <a:latin typeface="Times New Roman" panose="02020603050405020304" pitchFamily="18" charset="0"/>
                            <a:ea typeface="Calibri"/>
                            <a:cs typeface="Times New Roman" panose="02020603050405020304" pitchFamily="18" charset="0"/>
                          </a:endParaRPr>
                        </a:p>
                      </a:txBody>
                      <a:tcPr marL="62345" marR="62345" marT="0" marB="0"/>
                    </a:tc>
                    <a:tc>
                      <a:txBody>
                        <a:bodyPr/>
                        <a:lstStyle/>
                        <a:p>
                          <a:pPr>
                            <a:lnSpc>
                              <a:spcPct val="107000"/>
                            </a:lnSpc>
                            <a:spcBef>
                              <a:spcPts val="600"/>
                            </a:spcBef>
                            <a:spcAft>
                              <a:spcPts val="600"/>
                            </a:spcAft>
                          </a:pPr>
                          <a:r>
                            <a:rPr lang="en-IN" sz="1200" dirty="0">
                              <a:effectLst/>
                              <a:latin typeface="Times New Roman" panose="02020603050405020304" pitchFamily="18" charset="0"/>
                              <a:cs typeface="Times New Roman" panose="02020603050405020304" pitchFamily="18" charset="0"/>
                            </a:rPr>
                            <a:t>Image Classification</a:t>
                          </a:r>
                          <a:endParaRPr lang="en-IN" sz="1200" dirty="0">
                            <a:effectLst/>
                            <a:latin typeface="Times New Roman" panose="02020603050405020304" pitchFamily="18" charset="0"/>
                            <a:ea typeface="Calibri"/>
                            <a:cs typeface="Times New Roman" panose="02020603050405020304" pitchFamily="18" charset="0"/>
                          </a:endParaRPr>
                        </a:p>
                      </a:txBody>
                      <a:tcPr marL="62345" marR="62345" marT="0" marB="0"/>
                    </a:tc>
                    <a:extLst>
                      <a:ext uri="{0D108BD9-81ED-4DB2-BD59-A6C34878D82A}">
                        <a16:rowId xmlns:a16="http://schemas.microsoft.com/office/drawing/2014/main" val="10007"/>
                      </a:ext>
                    </a:extLst>
                  </a:tr>
                </a:tbl>
              </a:graphicData>
            </a:graphic>
          </p:graphicFrame>
        </mc:Choice>
        <mc:Fallback xmlns="">
          <p:graphicFrame>
            <p:nvGraphicFramePr>
              <p:cNvPr id="5" name="Table 4"/>
              <p:cNvGraphicFramePr>
                <a:graphicFrameLocks noGrp="1"/>
              </p:cNvGraphicFramePr>
              <p:nvPr>
                <p:extLst>
                  <p:ext uri="{D42A27DB-BD31-4B8C-83A1-F6EECF244321}">
                    <p14:modId xmlns:p14="http://schemas.microsoft.com/office/powerpoint/2010/main" val="3166058537"/>
                  </p:ext>
                </p:extLst>
              </p:nvPr>
            </p:nvGraphicFramePr>
            <p:xfrm>
              <a:off x="152400" y="990602"/>
              <a:ext cx="8991600" cy="5572198"/>
            </p:xfrm>
            <a:graphic>
              <a:graphicData uri="http://schemas.openxmlformats.org/drawingml/2006/table">
                <a:tbl>
                  <a:tblPr firstRow="1" firstCol="1" bandRow="1">
                    <a:tableStyleId>{5C22544A-7EE6-4342-B048-85BDC9FD1C3A}</a:tableStyleId>
                  </a:tblPr>
                  <a:tblGrid>
                    <a:gridCol w="860065"/>
                    <a:gridCol w="896893"/>
                    <a:gridCol w="3742304"/>
                    <a:gridCol w="1068516"/>
                    <a:gridCol w="1179386"/>
                    <a:gridCol w="1244436"/>
                  </a:tblGrid>
                  <a:tr h="637702">
                    <a:tc>
                      <a:txBody>
                        <a:bodyPr/>
                        <a:lstStyle/>
                        <a:p>
                          <a:pPr algn="just">
                            <a:lnSpc>
                              <a:spcPct val="107000"/>
                            </a:lnSpc>
                            <a:spcBef>
                              <a:spcPts val="600"/>
                            </a:spcBef>
                            <a:spcAft>
                              <a:spcPts val="600"/>
                            </a:spcAft>
                          </a:pPr>
                          <a:r>
                            <a:rPr lang="en-IN" sz="1200" dirty="0">
                              <a:effectLst/>
                              <a:latin typeface="Times New Roman" panose="02020603050405020304" pitchFamily="18" charset="0"/>
                              <a:cs typeface="Times New Roman" panose="02020603050405020304" pitchFamily="18" charset="0"/>
                            </a:rPr>
                            <a:t>Reference</a:t>
                          </a:r>
                          <a:endParaRPr lang="en-IN" sz="1200" dirty="0">
                            <a:effectLst/>
                            <a:latin typeface="Times New Roman" panose="02020603050405020304" pitchFamily="18" charset="0"/>
                            <a:ea typeface="Calibri"/>
                            <a:cs typeface="Times New Roman" panose="02020603050405020304" pitchFamily="18" charset="0"/>
                          </a:endParaRPr>
                        </a:p>
                      </a:txBody>
                      <a:tcPr marL="62345" marR="62345" marT="0" marB="0"/>
                    </a:tc>
                    <a:tc>
                      <a:txBody>
                        <a:bodyPr/>
                        <a:lstStyle/>
                        <a:p>
                          <a:pPr algn="just">
                            <a:lnSpc>
                              <a:spcPct val="107000"/>
                            </a:lnSpc>
                            <a:spcBef>
                              <a:spcPts val="600"/>
                            </a:spcBef>
                            <a:spcAft>
                              <a:spcPts val="600"/>
                            </a:spcAft>
                          </a:pPr>
                          <a:r>
                            <a:rPr lang="en-IN" sz="1200" dirty="0">
                              <a:effectLst/>
                              <a:latin typeface="Times New Roman" panose="02020603050405020304" pitchFamily="18" charset="0"/>
                              <a:cs typeface="Times New Roman" panose="02020603050405020304" pitchFamily="18" charset="0"/>
                            </a:rPr>
                            <a:t>Deep Learning Model</a:t>
                          </a:r>
                          <a:endParaRPr lang="en-IN" sz="1200" dirty="0">
                            <a:effectLst/>
                            <a:latin typeface="Times New Roman" panose="02020603050405020304" pitchFamily="18" charset="0"/>
                            <a:ea typeface="Calibri"/>
                            <a:cs typeface="Times New Roman" panose="02020603050405020304" pitchFamily="18" charset="0"/>
                          </a:endParaRPr>
                        </a:p>
                      </a:txBody>
                      <a:tcPr marL="62345" marR="62345" marT="0" marB="0"/>
                    </a:tc>
                    <a:tc>
                      <a:txBody>
                        <a:bodyPr/>
                        <a:lstStyle/>
                        <a:p>
                          <a:pPr algn="just">
                            <a:lnSpc>
                              <a:spcPct val="107000"/>
                            </a:lnSpc>
                            <a:spcBef>
                              <a:spcPts val="600"/>
                            </a:spcBef>
                            <a:spcAft>
                              <a:spcPts val="600"/>
                            </a:spcAft>
                          </a:pPr>
                          <a:r>
                            <a:rPr lang="en-IN" sz="1200" dirty="0">
                              <a:effectLst/>
                              <a:latin typeface="Times New Roman" panose="02020603050405020304" pitchFamily="18" charset="0"/>
                              <a:cs typeface="Times New Roman" panose="02020603050405020304" pitchFamily="18" charset="0"/>
                            </a:rPr>
                            <a:t>Hyper-Parameters </a:t>
                          </a:r>
                          <a:endParaRPr lang="en-IN" sz="1200" dirty="0">
                            <a:effectLst/>
                            <a:latin typeface="Times New Roman" panose="02020603050405020304" pitchFamily="18" charset="0"/>
                            <a:ea typeface="Calibri"/>
                            <a:cs typeface="Times New Roman" panose="02020603050405020304" pitchFamily="18" charset="0"/>
                          </a:endParaRPr>
                        </a:p>
                      </a:txBody>
                      <a:tcPr marL="62345" marR="62345" marT="0" marB="0"/>
                    </a:tc>
                    <a:tc>
                      <a:txBody>
                        <a:bodyPr/>
                        <a:lstStyle/>
                        <a:p>
                          <a:pPr algn="just">
                            <a:lnSpc>
                              <a:spcPct val="107000"/>
                            </a:lnSpc>
                            <a:spcBef>
                              <a:spcPts val="600"/>
                            </a:spcBef>
                            <a:spcAft>
                              <a:spcPts val="600"/>
                            </a:spcAft>
                          </a:pPr>
                          <a:r>
                            <a:rPr lang="en-IN" sz="1200">
                              <a:effectLst/>
                              <a:latin typeface="Times New Roman" panose="02020603050405020304" pitchFamily="18" charset="0"/>
                              <a:cs typeface="Times New Roman" panose="02020603050405020304" pitchFamily="18" charset="0"/>
                            </a:rPr>
                            <a:t>Optimization Technique</a:t>
                          </a:r>
                          <a:endParaRPr lang="en-IN" sz="1200">
                            <a:effectLst/>
                            <a:latin typeface="Times New Roman" panose="02020603050405020304" pitchFamily="18" charset="0"/>
                            <a:ea typeface="Calibri"/>
                            <a:cs typeface="Times New Roman" panose="02020603050405020304" pitchFamily="18" charset="0"/>
                          </a:endParaRPr>
                        </a:p>
                      </a:txBody>
                      <a:tcPr marL="62345" marR="62345" marT="0" marB="0"/>
                    </a:tc>
                    <a:tc>
                      <a:txBody>
                        <a:bodyPr/>
                        <a:lstStyle/>
                        <a:p>
                          <a:pPr algn="just">
                            <a:lnSpc>
                              <a:spcPct val="107000"/>
                            </a:lnSpc>
                            <a:spcBef>
                              <a:spcPts val="600"/>
                            </a:spcBef>
                            <a:spcAft>
                              <a:spcPts val="600"/>
                            </a:spcAft>
                          </a:pPr>
                          <a:r>
                            <a:rPr lang="en-IN" sz="1200">
                              <a:effectLst/>
                              <a:latin typeface="Times New Roman" panose="02020603050405020304" pitchFamily="18" charset="0"/>
                              <a:cs typeface="Times New Roman" panose="02020603050405020304" pitchFamily="18" charset="0"/>
                            </a:rPr>
                            <a:t>Encoding Scheme</a:t>
                          </a:r>
                          <a:endParaRPr lang="en-IN" sz="1200">
                            <a:effectLst/>
                            <a:latin typeface="Times New Roman" panose="02020603050405020304" pitchFamily="18" charset="0"/>
                            <a:ea typeface="Calibri"/>
                            <a:cs typeface="Times New Roman" panose="02020603050405020304" pitchFamily="18" charset="0"/>
                          </a:endParaRPr>
                        </a:p>
                      </a:txBody>
                      <a:tcPr marL="62345" marR="62345" marT="0" marB="0"/>
                    </a:tc>
                    <a:tc>
                      <a:txBody>
                        <a:bodyPr/>
                        <a:lstStyle/>
                        <a:p>
                          <a:pPr algn="just">
                            <a:lnSpc>
                              <a:spcPct val="107000"/>
                            </a:lnSpc>
                            <a:spcBef>
                              <a:spcPts val="600"/>
                            </a:spcBef>
                            <a:spcAft>
                              <a:spcPts val="600"/>
                            </a:spcAft>
                          </a:pPr>
                          <a:r>
                            <a:rPr lang="en-IN" sz="1200">
                              <a:effectLst/>
                              <a:latin typeface="Times New Roman" panose="02020603050405020304" pitchFamily="18" charset="0"/>
                              <a:cs typeface="Times New Roman" panose="02020603050405020304" pitchFamily="18" charset="0"/>
                            </a:rPr>
                            <a:t>Application</a:t>
                          </a:r>
                          <a:endParaRPr lang="en-IN" sz="1200">
                            <a:effectLst/>
                            <a:latin typeface="Times New Roman" panose="02020603050405020304" pitchFamily="18" charset="0"/>
                            <a:ea typeface="Calibri"/>
                            <a:cs typeface="Times New Roman" panose="02020603050405020304" pitchFamily="18" charset="0"/>
                          </a:endParaRPr>
                        </a:p>
                      </a:txBody>
                      <a:tcPr marL="62345" marR="62345" marT="0" marB="0"/>
                    </a:tc>
                  </a:tr>
                  <a:tr h="1251051">
                    <a:tc>
                      <a:txBody>
                        <a:bodyPr/>
                        <a:lstStyle/>
                        <a:p>
                          <a:pPr marL="0" lvl="0" indent="0" algn="just">
                            <a:lnSpc>
                              <a:spcPct val="107000"/>
                            </a:lnSpc>
                            <a:spcBef>
                              <a:spcPts val="600"/>
                            </a:spcBef>
                            <a:spcAft>
                              <a:spcPts val="600"/>
                            </a:spcAft>
                            <a:buFont typeface="+mj-lt"/>
                            <a:buNone/>
                          </a:pPr>
                          <a:r>
                            <a:rPr lang="en-IN" sz="1200" dirty="0" smtClean="0">
                              <a:effectLst/>
                              <a:latin typeface="Times New Roman" panose="02020603050405020304" pitchFamily="18" charset="0"/>
                              <a:cs typeface="Times New Roman" panose="02020603050405020304" pitchFamily="18" charset="0"/>
                            </a:rPr>
                            <a:t>[1]</a:t>
                          </a:r>
                          <a:r>
                            <a:rPr lang="en-IN" sz="1200" dirty="0">
                              <a:effectLst/>
                              <a:latin typeface="Times New Roman" panose="02020603050405020304" pitchFamily="18" charset="0"/>
                              <a:cs typeface="Times New Roman" panose="02020603050405020304" pitchFamily="18" charset="0"/>
                            </a:rPr>
                            <a:t> </a:t>
                          </a:r>
                          <a:endParaRPr lang="en-IN" sz="1200" dirty="0">
                            <a:effectLst/>
                            <a:latin typeface="Times New Roman" panose="02020603050405020304" pitchFamily="18" charset="0"/>
                            <a:ea typeface="Calibri"/>
                            <a:cs typeface="Times New Roman" panose="02020603050405020304" pitchFamily="18" charset="0"/>
                          </a:endParaRPr>
                        </a:p>
                      </a:txBody>
                      <a:tcPr marL="62345" marR="62345" marT="0" marB="0"/>
                    </a:tc>
                    <a:tc>
                      <a:txBody>
                        <a:bodyPr/>
                        <a:lstStyle/>
                        <a:p>
                          <a:pPr algn="just">
                            <a:lnSpc>
                              <a:spcPct val="107000"/>
                            </a:lnSpc>
                            <a:spcBef>
                              <a:spcPts val="600"/>
                            </a:spcBef>
                            <a:spcAft>
                              <a:spcPts val="600"/>
                            </a:spcAft>
                          </a:pPr>
                          <a:r>
                            <a:rPr lang="en-IN" sz="1200">
                              <a:effectLst/>
                              <a:latin typeface="Times New Roman" panose="02020603050405020304" pitchFamily="18" charset="0"/>
                              <a:cs typeface="Times New Roman" panose="02020603050405020304" pitchFamily="18" charset="0"/>
                            </a:rPr>
                            <a:t>CNN</a:t>
                          </a:r>
                          <a:endParaRPr lang="en-IN" sz="1200">
                            <a:effectLst/>
                            <a:latin typeface="Times New Roman" panose="02020603050405020304" pitchFamily="18" charset="0"/>
                            <a:ea typeface="Calibri"/>
                            <a:cs typeface="Times New Roman" panose="02020603050405020304" pitchFamily="18" charset="0"/>
                          </a:endParaRPr>
                        </a:p>
                      </a:txBody>
                      <a:tcPr marL="62345" marR="62345" marT="0" marB="0"/>
                    </a:tc>
                    <a:tc>
                      <a:txBody>
                        <a:bodyPr/>
                        <a:lstStyle/>
                        <a:p>
                          <a:pPr algn="just">
                            <a:lnSpc>
                              <a:spcPct val="107000"/>
                            </a:lnSpc>
                            <a:spcBef>
                              <a:spcPts val="600"/>
                            </a:spcBef>
                            <a:spcAft>
                              <a:spcPts val="600"/>
                            </a:spcAft>
                          </a:pPr>
                          <a:r>
                            <a:rPr lang="en-IN" sz="1200" dirty="0">
                              <a:effectLst/>
                              <a:latin typeface="Times New Roman" panose="02020603050405020304" pitchFamily="18" charset="0"/>
                              <a:cs typeface="Times New Roman" panose="02020603050405020304" pitchFamily="18" charset="0"/>
                            </a:rPr>
                            <a:t>Dropout rate, Number of epochs, Number of filters, Number of outputs of each layer, Optimizer, Batch Size, Steps taken between pooling, , Size of Pooling, Layer type, Activation function, Initialization function, Rows and columns of the kernel, including bias, Behaviour of operator at the border.</a:t>
                          </a:r>
                          <a:endParaRPr lang="en-IN" sz="1200" dirty="0">
                            <a:effectLst/>
                            <a:latin typeface="Times New Roman" panose="02020603050405020304" pitchFamily="18" charset="0"/>
                            <a:ea typeface="Calibri"/>
                            <a:cs typeface="Times New Roman" panose="02020603050405020304" pitchFamily="18" charset="0"/>
                          </a:endParaRPr>
                        </a:p>
                      </a:txBody>
                      <a:tcPr marL="62345" marR="62345" marT="0" marB="0"/>
                    </a:tc>
                    <a:tc>
                      <a:txBody>
                        <a:bodyPr/>
                        <a:lstStyle/>
                        <a:p>
                          <a:pPr algn="just">
                            <a:lnSpc>
                              <a:spcPct val="107000"/>
                            </a:lnSpc>
                            <a:spcBef>
                              <a:spcPts val="600"/>
                            </a:spcBef>
                            <a:spcAft>
                              <a:spcPts val="600"/>
                            </a:spcAft>
                          </a:pPr>
                          <a:r>
                            <a:rPr lang="en-IN" sz="1200" dirty="0" smtClean="0">
                              <a:effectLst/>
                              <a:latin typeface="Times New Roman" panose="02020603050405020304" pitchFamily="18" charset="0"/>
                              <a:cs typeface="Times New Roman" panose="02020603050405020304" pitchFamily="18" charset="0"/>
                            </a:rPr>
                            <a:t>Evolutionary Algorithm (EA)</a:t>
                          </a:r>
                          <a:endParaRPr lang="en-IN" sz="1200" dirty="0">
                            <a:effectLst/>
                            <a:latin typeface="Times New Roman" panose="02020603050405020304" pitchFamily="18" charset="0"/>
                            <a:ea typeface="Calibri"/>
                            <a:cs typeface="Times New Roman" panose="02020603050405020304" pitchFamily="18" charset="0"/>
                          </a:endParaRPr>
                        </a:p>
                      </a:txBody>
                      <a:tcPr marL="62345" marR="62345" marT="0" marB="0"/>
                    </a:tc>
                    <a:tc>
                      <a:txBody>
                        <a:bodyPr/>
                        <a:lstStyle/>
                        <a:p>
                          <a:pPr>
                            <a:lnSpc>
                              <a:spcPct val="107000"/>
                            </a:lnSpc>
                            <a:spcBef>
                              <a:spcPts val="600"/>
                            </a:spcBef>
                            <a:spcAft>
                              <a:spcPts val="600"/>
                            </a:spcAft>
                          </a:pPr>
                          <a:r>
                            <a:rPr lang="en-IN" sz="1200" dirty="0">
                              <a:effectLst/>
                              <a:latin typeface="Times New Roman" panose="02020603050405020304" pitchFamily="18" charset="0"/>
                              <a:cs typeface="Times New Roman" panose="02020603050405020304" pitchFamily="18" charset="0"/>
                            </a:rPr>
                            <a:t>Variable-length real encoding</a:t>
                          </a:r>
                          <a:endParaRPr lang="en-IN" sz="1200" dirty="0">
                            <a:effectLst/>
                            <a:latin typeface="Times New Roman" panose="02020603050405020304" pitchFamily="18" charset="0"/>
                            <a:ea typeface="Calibri"/>
                            <a:cs typeface="Times New Roman" panose="02020603050405020304" pitchFamily="18" charset="0"/>
                          </a:endParaRPr>
                        </a:p>
                      </a:txBody>
                      <a:tcPr marL="62345" marR="62345" marT="0" marB="0"/>
                    </a:tc>
                    <a:tc>
                      <a:txBody>
                        <a:bodyPr/>
                        <a:lstStyle/>
                        <a:p>
                          <a:pPr>
                            <a:lnSpc>
                              <a:spcPct val="107000"/>
                            </a:lnSpc>
                            <a:spcBef>
                              <a:spcPts val="600"/>
                            </a:spcBef>
                            <a:spcAft>
                              <a:spcPts val="600"/>
                            </a:spcAft>
                          </a:pPr>
                          <a:r>
                            <a:rPr lang="en-IN" sz="1200">
                              <a:effectLst/>
                              <a:latin typeface="Times New Roman" panose="02020603050405020304" pitchFamily="18" charset="0"/>
                              <a:cs typeface="Times New Roman" panose="02020603050405020304" pitchFamily="18" charset="0"/>
                            </a:rPr>
                            <a:t>Image Classification</a:t>
                          </a:r>
                          <a:endParaRPr lang="en-IN" sz="1200">
                            <a:effectLst/>
                            <a:latin typeface="Times New Roman" panose="02020603050405020304" pitchFamily="18" charset="0"/>
                            <a:ea typeface="Calibri"/>
                            <a:cs typeface="Times New Roman" panose="02020603050405020304" pitchFamily="18" charset="0"/>
                          </a:endParaRPr>
                        </a:p>
                      </a:txBody>
                      <a:tcPr marL="62345" marR="62345" marT="0" marB="0"/>
                    </a:tc>
                  </a:tr>
                  <a:tr h="573913">
                    <a:tc>
                      <a:txBody>
                        <a:bodyPr/>
                        <a:lstStyle/>
                        <a:p>
                          <a:pPr marL="0" lvl="0" indent="0" algn="just">
                            <a:lnSpc>
                              <a:spcPct val="107000"/>
                            </a:lnSpc>
                            <a:spcBef>
                              <a:spcPts val="600"/>
                            </a:spcBef>
                            <a:spcAft>
                              <a:spcPts val="600"/>
                            </a:spcAft>
                            <a:buFont typeface="+mj-lt"/>
                            <a:buNone/>
                          </a:pPr>
                          <a:r>
                            <a:rPr lang="en-IN" sz="1200" dirty="0" smtClean="0">
                              <a:effectLst/>
                              <a:latin typeface="Times New Roman" panose="02020603050405020304" pitchFamily="18" charset="0"/>
                              <a:cs typeface="Times New Roman" panose="02020603050405020304" pitchFamily="18" charset="0"/>
                            </a:rPr>
                            <a:t>[2]</a:t>
                          </a:r>
                          <a:r>
                            <a:rPr lang="en-IN" sz="1200" dirty="0">
                              <a:effectLst/>
                              <a:latin typeface="Times New Roman" panose="02020603050405020304" pitchFamily="18" charset="0"/>
                              <a:cs typeface="Times New Roman" panose="02020603050405020304" pitchFamily="18" charset="0"/>
                            </a:rPr>
                            <a:t> </a:t>
                          </a:r>
                          <a:endParaRPr lang="en-IN" sz="1200" dirty="0">
                            <a:effectLst/>
                            <a:latin typeface="Times New Roman" panose="02020603050405020304" pitchFamily="18" charset="0"/>
                            <a:ea typeface="Calibri"/>
                            <a:cs typeface="Times New Roman" panose="02020603050405020304" pitchFamily="18" charset="0"/>
                          </a:endParaRPr>
                        </a:p>
                      </a:txBody>
                      <a:tcPr marL="62345" marR="62345" marT="0" marB="0"/>
                    </a:tc>
                    <a:tc>
                      <a:txBody>
                        <a:bodyPr/>
                        <a:lstStyle/>
                        <a:p>
                          <a:pPr algn="just">
                            <a:lnSpc>
                              <a:spcPct val="107000"/>
                            </a:lnSpc>
                            <a:spcBef>
                              <a:spcPts val="600"/>
                            </a:spcBef>
                            <a:spcAft>
                              <a:spcPts val="600"/>
                            </a:spcAft>
                          </a:pPr>
                          <a:r>
                            <a:rPr lang="en-IN" sz="1200">
                              <a:effectLst/>
                              <a:latin typeface="Times New Roman" panose="02020603050405020304" pitchFamily="18" charset="0"/>
                              <a:cs typeface="Times New Roman" panose="02020603050405020304" pitchFamily="18" charset="0"/>
                            </a:rPr>
                            <a:t>CNN</a:t>
                          </a:r>
                          <a:endParaRPr lang="en-IN" sz="1200">
                            <a:effectLst/>
                            <a:latin typeface="Times New Roman" panose="02020603050405020304" pitchFamily="18" charset="0"/>
                            <a:ea typeface="Calibri"/>
                            <a:cs typeface="Times New Roman" panose="02020603050405020304" pitchFamily="18" charset="0"/>
                          </a:endParaRPr>
                        </a:p>
                      </a:txBody>
                      <a:tcPr marL="62345" marR="62345" marT="0" marB="0"/>
                    </a:tc>
                    <a:tc>
                      <a:txBody>
                        <a:bodyPr/>
                        <a:lstStyle/>
                        <a:p>
                          <a:pPr algn="just">
                            <a:lnSpc>
                              <a:spcPct val="107000"/>
                            </a:lnSpc>
                            <a:spcBef>
                              <a:spcPts val="600"/>
                            </a:spcBef>
                            <a:spcAft>
                              <a:spcPts val="600"/>
                            </a:spcAft>
                          </a:pPr>
                          <a:r>
                            <a:rPr lang="en-IN" sz="1200" dirty="0">
                              <a:effectLst/>
                              <a:latin typeface="Times New Roman" panose="02020603050405020304" pitchFamily="18" charset="0"/>
                              <a:cs typeface="Times New Roman" panose="02020603050405020304" pitchFamily="18" charset="0"/>
                            </a:rPr>
                            <a:t>Number of epochs, Contraction Expansion coefficient, measure times, Batch Size.</a:t>
                          </a:r>
                          <a:endParaRPr lang="en-IN" sz="1200" dirty="0">
                            <a:effectLst/>
                            <a:latin typeface="Times New Roman" panose="02020603050405020304" pitchFamily="18" charset="0"/>
                            <a:ea typeface="Calibri"/>
                            <a:cs typeface="Times New Roman" panose="02020603050405020304" pitchFamily="18" charset="0"/>
                          </a:endParaRPr>
                        </a:p>
                      </a:txBody>
                      <a:tcPr marL="62345" marR="62345" marT="0" marB="0"/>
                    </a:tc>
                    <a:tc>
                      <a:txBody>
                        <a:bodyPr/>
                        <a:lstStyle/>
                        <a:p>
                          <a:pPr algn="just">
                            <a:lnSpc>
                              <a:spcPct val="107000"/>
                            </a:lnSpc>
                            <a:spcBef>
                              <a:spcPts val="600"/>
                            </a:spcBef>
                            <a:spcAft>
                              <a:spcPts val="600"/>
                            </a:spcAft>
                          </a:pPr>
                          <a:r>
                            <a:rPr lang="en-IN" sz="1200" dirty="0" smtClean="0">
                              <a:effectLst/>
                              <a:latin typeface="Times New Roman" panose="02020603050405020304" pitchFamily="18" charset="0"/>
                              <a:cs typeface="Times New Roman" panose="02020603050405020304" pitchFamily="18" charset="0"/>
                            </a:rPr>
                            <a:t>Particle Swarm Optimization (PSO)</a:t>
                          </a:r>
                          <a:endParaRPr lang="en-IN" sz="1200" dirty="0">
                            <a:effectLst/>
                            <a:latin typeface="Times New Roman" panose="02020603050405020304" pitchFamily="18" charset="0"/>
                            <a:ea typeface="Calibri"/>
                            <a:cs typeface="Times New Roman" panose="02020603050405020304" pitchFamily="18" charset="0"/>
                          </a:endParaRPr>
                        </a:p>
                      </a:txBody>
                      <a:tcPr marL="62345" marR="62345" marT="0" marB="0"/>
                    </a:tc>
                    <a:tc>
                      <a:txBody>
                        <a:bodyPr/>
                        <a:lstStyle/>
                        <a:p>
                          <a:pPr>
                            <a:lnSpc>
                              <a:spcPct val="107000"/>
                            </a:lnSpc>
                            <a:spcBef>
                              <a:spcPts val="600"/>
                            </a:spcBef>
                            <a:spcAft>
                              <a:spcPts val="600"/>
                            </a:spcAft>
                          </a:pPr>
                          <a:r>
                            <a:rPr lang="en-IN" sz="1200" dirty="0">
                              <a:effectLst/>
                              <a:latin typeface="Times New Roman" panose="02020603050405020304" pitchFamily="18" charset="0"/>
                              <a:cs typeface="Times New Roman" panose="02020603050405020304" pitchFamily="18" charset="0"/>
                            </a:rPr>
                            <a:t>Fixed-length binary encoding</a:t>
                          </a:r>
                          <a:endParaRPr lang="en-IN" sz="1200" dirty="0">
                            <a:effectLst/>
                            <a:latin typeface="Times New Roman" panose="02020603050405020304" pitchFamily="18" charset="0"/>
                            <a:ea typeface="Calibri"/>
                            <a:cs typeface="Times New Roman" panose="02020603050405020304" pitchFamily="18" charset="0"/>
                          </a:endParaRPr>
                        </a:p>
                      </a:txBody>
                      <a:tcPr marL="62345" marR="62345" marT="0" marB="0"/>
                    </a:tc>
                    <a:tc>
                      <a:txBody>
                        <a:bodyPr/>
                        <a:lstStyle/>
                        <a:p>
                          <a:pPr>
                            <a:lnSpc>
                              <a:spcPct val="107000"/>
                            </a:lnSpc>
                            <a:spcBef>
                              <a:spcPts val="600"/>
                            </a:spcBef>
                            <a:spcAft>
                              <a:spcPts val="600"/>
                            </a:spcAft>
                          </a:pPr>
                          <a:r>
                            <a:rPr lang="en-IN" sz="1200">
                              <a:effectLst/>
                              <a:latin typeface="Times New Roman" panose="02020603050405020304" pitchFamily="18" charset="0"/>
                              <a:cs typeface="Times New Roman" panose="02020603050405020304" pitchFamily="18" charset="0"/>
                            </a:rPr>
                            <a:t>Image Classification</a:t>
                          </a:r>
                          <a:endParaRPr lang="en-IN" sz="1200">
                            <a:effectLst/>
                            <a:latin typeface="Times New Roman" panose="02020603050405020304" pitchFamily="18" charset="0"/>
                            <a:ea typeface="Calibri"/>
                            <a:cs typeface="Times New Roman" panose="02020603050405020304" pitchFamily="18" charset="0"/>
                          </a:endParaRPr>
                        </a:p>
                      </a:txBody>
                      <a:tcPr marL="62345" marR="62345" marT="0" marB="0"/>
                    </a:tc>
                  </a:tr>
                  <a:tr h="500419">
                    <a:tc>
                      <a:txBody>
                        <a:bodyPr/>
                        <a:lstStyle/>
                        <a:p>
                          <a:pPr marL="0" lvl="0" indent="0" algn="just">
                            <a:lnSpc>
                              <a:spcPct val="107000"/>
                            </a:lnSpc>
                            <a:spcBef>
                              <a:spcPts val="600"/>
                            </a:spcBef>
                            <a:spcAft>
                              <a:spcPts val="600"/>
                            </a:spcAft>
                            <a:buFont typeface="+mj-lt"/>
                            <a:buNone/>
                          </a:pPr>
                          <a:r>
                            <a:rPr lang="en-IN" sz="1200" dirty="0" smtClean="0">
                              <a:effectLst/>
                              <a:latin typeface="Times New Roman" panose="02020603050405020304" pitchFamily="18" charset="0"/>
                              <a:cs typeface="Times New Roman" panose="02020603050405020304" pitchFamily="18" charset="0"/>
                            </a:rPr>
                            <a:t>[3]</a:t>
                          </a:r>
                          <a:r>
                            <a:rPr lang="en-IN" sz="1200" dirty="0">
                              <a:effectLst/>
                              <a:latin typeface="Times New Roman" panose="02020603050405020304" pitchFamily="18" charset="0"/>
                              <a:cs typeface="Times New Roman" panose="02020603050405020304" pitchFamily="18" charset="0"/>
                            </a:rPr>
                            <a:t> </a:t>
                          </a:r>
                          <a:endParaRPr lang="en-IN" sz="1200" dirty="0">
                            <a:effectLst/>
                            <a:latin typeface="Times New Roman" panose="02020603050405020304" pitchFamily="18" charset="0"/>
                            <a:ea typeface="Calibri"/>
                            <a:cs typeface="Times New Roman" panose="02020603050405020304" pitchFamily="18" charset="0"/>
                          </a:endParaRPr>
                        </a:p>
                      </a:txBody>
                      <a:tcPr marL="62345" marR="62345" marT="0" marB="0"/>
                    </a:tc>
                    <a:tc>
                      <a:txBody>
                        <a:bodyPr/>
                        <a:lstStyle/>
                        <a:p>
                          <a:pPr algn="just">
                            <a:lnSpc>
                              <a:spcPct val="107000"/>
                            </a:lnSpc>
                            <a:spcBef>
                              <a:spcPts val="600"/>
                            </a:spcBef>
                            <a:spcAft>
                              <a:spcPts val="600"/>
                            </a:spcAft>
                          </a:pPr>
                          <a:r>
                            <a:rPr lang="en-IN" sz="1200">
                              <a:effectLst/>
                              <a:latin typeface="Times New Roman" panose="02020603050405020304" pitchFamily="18" charset="0"/>
                              <a:cs typeface="Times New Roman" panose="02020603050405020304" pitchFamily="18" charset="0"/>
                            </a:rPr>
                            <a:t>CNN</a:t>
                          </a:r>
                          <a:endParaRPr lang="en-IN" sz="1200">
                            <a:effectLst/>
                            <a:latin typeface="Times New Roman" panose="02020603050405020304" pitchFamily="18" charset="0"/>
                            <a:ea typeface="Calibri"/>
                            <a:cs typeface="Times New Roman" panose="02020603050405020304" pitchFamily="18" charset="0"/>
                          </a:endParaRPr>
                        </a:p>
                      </a:txBody>
                      <a:tcPr marL="62345" marR="62345" marT="0" marB="0"/>
                    </a:tc>
                    <a:tc>
                      <a:txBody>
                        <a:bodyPr/>
                        <a:lstStyle/>
                        <a:p>
                          <a:pPr algn="just">
                            <a:lnSpc>
                              <a:spcPct val="107000"/>
                            </a:lnSpc>
                            <a:spcBef>
                              <a:spcPts val="600"/>
                            </a:spcBef>
                            <a:spcAft>
                              <a:spcPts val="600"/>
                            </a:spcAft>
                          </a:pPr>
                          <a:r>
                            <a:rPr lang="en-IN" sz="1200" dirty="0">
                              <a:effectLst/>
                              <a:latin typeface="Times New Roman" panose="02020603050405020304" pitchFamily="18" charset="0"/>
                              <a:cs typeface="Times New Roman" panose="02020603050405020304" pitchFamily="18" charset="0"/>
                            </a:rPr>
                            <a:t>Dropout rate, Kernel Size, No. of epochs, Batch Normalisation.</a:t>
                          </a:r>
                          <a:endParaRPr lang="en-IN" sz="1200" dirty="0">
                            <a:effectLst/>
                            <a:latin typeface="Times New Roman" panose="02020603050405020304" pitchFamily="18" charset="0"/>
                            <a:ea typeface="Calibri"/>
                            <a:cs typeface="Times New Roman" panose="02020603050405020304" pitchFamily="18" charset="0"/>
                          </a:endParaRPr>
                        </a:p>
                      </a:txBody>
                      <a:tcPr marL="62345" marR="62345" marT="0" marB="0"/>
                    </a:tc>
                    <a:tc>
                      <a:txBody>
                        <a:bodyPr/>
                        <a:lstStyle/>
                        <a:p>
                          <a:pPr algn="just">
                            <a:lnSpc>
                              <a:spcPct val="107000"/>
                            </a:lnSpc>
                            <a:spcBef>
                              <a:spcPts val="600"/>
                            </a:spcBef>
                            <a:spcAft>
                              <a:spcPts val="600"/>
                            </a:spcAft>
                          </a:pPr>
                          <a:r>
                            <a:rPr lang="en-IN" sz="1200" dirty="0">
                              <a:effectLst/>
                              <a:latin typeface="Times New Roman" panose="02020603050405020304" pitchFamily="18" charset="0"/>
                              <a:cs typeface="Times New Roman" panose="02020603050405020304" pitchFamily="18" charset="0"/>
                            </a:rPr>
                            <a:t>PSO</a:t>
                          </a:r>
                          <a:endParaRPr lang="en-IN" sz="1200" dirty="0">
                            <a:effectLst/>
                            <a:latin typeface="Times New Roman" panose="02020603050405020304" pitchFamily="18" charset="0"/>
                            <a:ea typeface="Calibri"/>
                            <a:cs typeface="Times New Roman" panose="02020603050405020304" pitchFamily="18" charset="0"/>
                          </a:endParaRPr>
                        </a:p>
                      </a:txBody>
                      <a:tcPr marL="62345" marR="62345" marT="0" marB="0"/>
                    </a:tc>
                    <a:tc>
                      <a:txBody>
                        <a:bodyPr/>
                        <a:lstStyle/>
                        <a:p>
                          <a:pPr>
                            <a:lnSpc>
                              <a:spcPct val="107000"/>
                            </a:lnSpc>
                            <a:spcBef>
                              <a:spcPts val="600"/>
                            </a:spcBef>
                            <a:spcAft>
                              <a:spcPts val="600"/>
                            </a:spcAft>
                          </a:pPr>
                          <a:r>
                            <a:rPr lang="en-IN" sz="1200" dirty="0">
                              <a:effectLst/>
                              <a:latin typeface="Times New Roman" panose="02020603050405020304" pitchFamily="18" charset="0"/>
                              <a:cs typeface="Times New Roman" panose="02020603050405020304" pitchFamily="18" charset="0"/>
                            </a:rPr>
                            <a:t>Variable-length real encoding </a:t>
                          </a:r>
                          <a:endParaRPr lang="en-IN" sz="1200" dirty="0">
                            <a:effectLst/>
                            <a:latin typeface="Times New Roman" panose="02020603050405020304" pitchFamily="18" charset="0"/>
                            <a:ea typeface="Calibri"/>
                            <a:cs typeface="Times New Roman" panose="02020603050405020304" pitchFamily="18" charset="0"/>
                          </a:endParaRPr>
                        </a:p>
                      </a:txBody>
                      <a:tcPr marL="62345" marR="62345" marT="0" marB="0"/>
                    </a:tc>
                    <a:tc>
                      <a:txBody>
                        <a:bodyPr/>
                        <a:lstStyle/>
                        <a:p>
                          <a:pPr>
                            <a:lnSpc>
                              <a:spcPct val="107000"/>
                            </a:lnSpc>
                            <a:spcBef>
                              <a:spcPts val="600"/>
                            </a:spcBef>
                            <a:spcAft>
                              <a:spcPts val="600"/>
                            </a:spcAft>
                          </a:pPr>
                          <a:r>
                            <a:rPr lang="en-IN" sz="1200">
                              <a:effectLst/>
                              <a:latin typeface="Times New Roman" panose="02020603050405020304" pitchFamily="18" charset="0"/>
                              <a:cs typeface="Times New Roman" panose="02020603050405020304" pitchFamily="18" charset="0"/>
                            </a:rPr>
                            <a:t>Image Classification</a:t>
                          </a:r>
                          <a:endParaRPr lang="en-IN" sz="1200">
                            <a:effectLst/>
                            <a:latin typeface="Times New Roman" panose="02020603050405020304" pitchFamily="18" charset="0"/>
                            <a:ea typeface="Calibri"/>
                            <a:cs typeface="Times New Roman" panose="02020603050405020304" pitchFamily="18" charset="0"/>
                          </a:endParaRPr>
                        </a:p>
                      </a:txBody>
                      <a:tcPr marL="62345" marR="62345" marT="0" marB="0"/>
                    </a:tc>
                  </a:tr>
                  <a:tr h="750630">
                    <a:tc>
                      <a:txBody>
                        <a:bodyPr/>
                        <a:lstStyle/>
                        <a:p>
                          <a:pPr marL="0" lvl="0" indent="0" algn="just">
                            <a:lnSpc>
                              <a:spcPct val="107000"/>
                            </a:lnSpc>
                            <a:spcBef>
                              <a:spcPts val="600"/>
                            </a:spcBef>
                            <a:spcAft>
                              <a:spcPts val="600"/>
                            </a:spcAft>
                            <a:buFont typeface="+mj-lt"/>
                            <a:buNone/>
                          </a:pPr>
                          <a:r>
                            <a:rPr lang="en-IN" sz="1200" dirty="0" smtClean="0">
                              <a:effectLst/>
                              <a:latin typeface="Times New Roman" panose="02020603050405020304" pitchFamily="18" charset="0"/>
                              <a:cs typeface="Times New Roman" panose="02020603050405020304" pitchFamily="18" charset="0"/>
                            </a:rPr>
                            <a:t>[4]</a:t>
                          </a:r>
                          <a:r>
                            <a:rPr lang="en-IN" sz="1200" dirty="0">
                              <a:effectLst/>
                              <a:latin typeface="Times New Roman" panose="02020603050405020304" pitchFamily="18" charset="0"/>
                              <a:cs typeface="Times New Roman" panose="02020603050405020304" pitchFamily="18" charset="0"/>
                            </a:rPr>
                            <a:t> </a:t>
                          </a:r>
                          <a:endParaRPr lang="en-IN" sz="1200" dirty="0">
                            <a:effectLst/>
                            <a:latin typeface="Times New Roman" panose="02020603050405020304" pitchFamily="18" charset="0"/>
                            <a:ea typeface="Calibri"/>
                            <a:cs typeface="Times New Roman" panose="02020603050405020304" pitchFamily="18" charset="0"/>
                          </a:endParaRPr>
                        </a:p>
                      </a:txBody>
                      <a:tcPr marL="62345" marR="62345" marT="0" marB="0"/>
                    </a:tc>
                    <a:tc>
                      <a:txBody>
                        <a:bodyPr/>
                        <a:lstStyle/>
                        <a:p>
                          <a:pPr algn="just">
                            <a:lnSpc>
                              <a:spcPct val="107000"/>
                            </a:lnSpc>
                            <a:spcBef>
                              <a:spcPts val="600"/>
                            </a:spcBef>
                            <a:spcAft>
                              <a:spcPts val="600"/>
                            </a:spcAft>
                          </a:pPr>
                          <a:r>
                            <a:rPr lang="en-IN" sz="1200">
                              <a:effectLst/>
                              <a:latin typeface="Times New Roman" panose="02020603050405020304" pitchFamily="18" charset="0"/>
                              <a:cs typeface="Times New Roman" panose="02020603050405020304" pitchFamily="18" charset="0"/>
                            </a:rPr>
                            <a:t>DNN, LSTM-RNN, DBN</a:t>
                          </a:r>
                          <a:endParaRPr lang="en-IN" sz="1200">
                            <a:effectLst/>
                            <a:latin typeface="Times New Roman" panose="02020603050405020304" pitchFamily="18" charset="0"/>
                            <a:ea typeface="Calibri"/>
                            <a:cs typeface="Times New Roman" panose="02020603050405020304" pitchFamily="18" charset="0"/>
                          </a:endParaRPr>
                        </a:p>
                      </a:txBody>
                      <a:tcPr marL="62345" marR="62345" marT="0" marB="0"/>
                    </a:tc>
                    <a:tc>
                      <a:txBody>
                        <a:bodyPr/>
                        <a:lstStyle/>
                        <a:p>
                          <a:pPr algn="just">
                            <a:lnSpc>
                              <a:spcPct val="107000"/>
                            </a:lnSpc>
                            <a:spcBef>
                              <a:spcPts val="600"/>
                            </a:spcBef>
                            <a:spcAft>
                              <a:spcPts val="600"/>
                            </a:spcAft>
                          </a:pPr>
                          <a:r>
                            <a:rPr lang="en-IN" sz="1200" dirty="0">
                              <a:effectLst/>
                              <a:latin typeface="Times New Roman" panose="02020603050405020304" pitchFamily="18" charset="0"/>
                              <a:cs typeface="Times New Roman" panose="02020603050405020304" pitchFamily="18" charset="0"/>
                            </a:rPr>
                            <a:t>Batch Size, Learning Rate, Type of Layer, Initialization function, Optimizer, Number of epochs, Dropout rate, Decay rate, Momentum. </a:t>
                          </a:r>
                          <a:endParaRPr lang="en-IN" sz="1200" dirty="0">
                            <a:effectLst/>
                            <a:latin typeface="Times New Roman" panose="02020603050405020304" pitchFamily="18" charset="0"/>
                            <a:ea typeface="Calibri"/>
                            <a:cs typeface="Times New Roman" panose="02020603050405020304" pitchFamily="18" charset="0"/>
                          </a:endParaRPr>
                        </a:p>
                      </a:txBody>
                      <a:tcPr marL="62345" marR="62345" marT="0" marB="0"/>
                    </a:tc>
                    <a:tc>
                      <a:txBody>
                        <a:bodyPr/>
                        <a:lstStyle/>
                        <a:p>
                          <a:pPr algn="just">
                            <a:lnSpc>
                              <a:spcPct val="107000"/>
                            </a:lnSpc>
                            <a:spcBef>
                              <a:spcPts val="600"/>
                            </a:spcBef>
                            <a:spcAft>
                              <a:spcPts val="600"/>
                            </a:spcAft>
                          </a:pPr>
                          <a:r>
                            <a:rPr lang="en-IN" sz="1200" dirty="0">
                              <a:effectLst/>
                              <a:latin typeface="Times New Roman" panose="02020603050405020304" pitchFamily="18" charset="0"/>
                              <a:cs typeface="Times New Roman" panose="02020603050405020304" pitchFamily="18" charset="0"/>
                            </a:rPr>
                            <a:t>PSO</a:t>
                          </a:r>
                          <a:endParaRPr lang="en-IN" sz="1200" dirty="0">
                            <a:effectLst/>
                            <a:latin typeface="Times New Roman" panose="02020603050405020304" pitchFamily="18" charset="0"/>
                            <a:ea typeface="Calibri"/>
                            <a:cs typeface="Times New Roman" panose="02020603050405020304" pitchFamily="18" charset="0"/>
                          </a:endParaRPr>
                        </a:p>
                      </a:txBody>
                      <a:tcPr marL="62345" marR="62345" marT="0" marB="0"/>
                    </a:tc>
                    <a:tc>
                      <a:txBody>
                        <a:bodyPr/>
                        <a:lstStyle/>
                        <a:p>
                          <a:pPr>
                            <a:lnSpc>
                              <a:spcPct val="107000"/>
                            </a:lnSpc>
                            <a:spcBef>
                              <a:spcPts val="600"/>
                            </a:spcBef>
                            <a:spcAft>
                              <a:spcPts val="600"/>
                            </a:spcAft>
                          </a:pPr>
                          <a:r>
                            <a:rPr lang="en-IN" sz="1200" dirty="0">
                              <a:effectLst/>
                              <a:latin typeface="Times New Roman" panose="02020603050405020304" pitchFamily="18" charset="0"/>
                              <a:cs typeface="Times New Roman" panose="02020603050405020304" pitchFamily="18" charset="0"/>
                            </a:rPr>
                            <a:t>Fixed-length binary encoding</a:t>
                          </a:r>
                          <a:endParaRPr lang="en-IN" sz="1200" dirty="0">
                            <a:effectLst/>
                            <a:latin typeface="Times New Roman" panose="02020603050405020304" pitchFamily="18" charset="0"/>
                            <a:ea typeface="Calibri"/>
                            <a:cs typeface="Times New Roman" panose="02020603050405020304" pitchFamily="18" charset="0"/>
                          </a:endParaRPr>
                        </a:p>
                      </a:txBody>
                      <a:tcPr marL="62345" marR="62345" marT="0" marB="0"/>
                    </a:tc>
                    <a:tc>
                      <a:txBody>
                        <a:bodyPr/>
                        <a:lstStyle/>
                        <a:p>
                          <a:pPr>
                            <a:lnSpc>
                              <a:spcPct val="107000"/>
                            </a:lnSpc>
                            <a:spcBef>
                              <a:spcPts val="600"/>
                            </a:spcBef>
                            <a:spcAft>
                              <a:spcPts val="600"/>
                            </a:spcAft>
                          </a:pPr>
                          <a:r>
                            <a:rPr lang="en-IN" sz="1200">
                              <a:effectLst/>
                              <a:latin typeface="Times New Roman" panose="02020603050405020304" pitchFamily="18" charset="0"/>
                              <a:cs typeface="Times New Roman" panose="02020603050405020304" pitchFamily="18" charset="0"/>
                            </a:rPr>
                            <a:t>Network Intrusion Detection</a:t>
                          </a:r>
                          <a:endParaRPr lang="en-IN" sz="1200">
                            <a:effectLst/>
                            <a:latin typeface="Times New Roman" panose="02020603050405020304" pitchFamily="18" charset="0"/>
                            <a:ea typeface="Calibri"/>
                            <a:cs typeface="Times New Roman" panose="02020603050405020304" pitchFamily="18" charset="0"/>
                          </a:endParaRPr>
                        </a:p>
                      </a:txBody>
                      <a:tcPr marL="62345" marR="62345" marT="0" marB="0"/>
                    </a:tc>
                  </a:tr>
                  <a:tr h="580120">
                    <a:tc>
                      <a:txBody>
                        <a:bodyPr/>
                        <a:lstStyle/>
                        <a:p>
                          <a:pPr marL="0" lvl="0" indent="0" algn="just">
                            <a:lnSpc>
                              <a:spcPct val="107000"/>
                            </a:lnSpc>
                            <a:spcBef>
                              <a:spcPts val="600"/>
                            </a:spcBef>
                            <a:spcAft>
                              <a:spcPts val="600"/>
                            </a:spcAft>
                            <a:buFont typeface="+mj-lt"/>
                            <a:buNone/>
                          </a:pPr>
                          <a:r>
                            <a:rPr lang="en-IN" sz="1200" dirty="0" smtClean="0">
                              <a:effectLst/>
                              <a:latin typeface="Times New Roman" panose="02020603050405020304" pitchFamily="18" charset="0"/>
                              <a:cs typeface="Times New Roman" panose="02020603050405020304" pitchFamily="18" charset="0"/>
                            </a:rPr>
                            <a:t>[5]</a:t>
                          </a:r>
                          <a:r>
                            <a:rPr lang="en-IN" sz="1200" dirty="0">
                              <a:effectLst/>
                              <a:latin typeface="Times New Roman" panose="02020603050405020304" pitchFamily="18" charset="0"/>
                              <a:cs typeface="Times New Roman" panose="02020603050405020304" pitchFamily="18" charset="0"/>
                            </a:rPr>
                            <a:t> </a:t>
                          </a:r>
                          <a:endParaRPr lang="en-IN" sz="1200" dirty="0">
                            <a:effectLst/>
                            <a:latin typeface="Times New Roman" panose="02020603050405020304" pitchFamily="18" charset="0"/>
                            <a:ea typeface="Calibri"/>
                            <a:cs typeface="Times New Roman" panose="02020603050405020304" pitchFamily="18" charset="0"/>
                          </a:endParaRPr>
                        </a:p>
                      </a:txBody>
                      <a:tcPr marL="62345" marR="62345" marT="0" marB="0"/>
                    </a:tc>
                    <a:tc>
                      <a:txBody>
                        <a:bodyPr/>
                        <a:lstStyle/>
                        <a:p>
                          <a:pPr algn="just">
                            <a:lnSpc>
                              <a:spcPct val="107000"/>
                            </a:lnSpc>
                            <a:spcBef>
                              <a:spcPts val="600"/>
                            </a:spcBef>
                            <a:spcAft>
                              <a:spcPts val="600"/>
                            </a:spcAft>
                          </a:pPr>
                          <a:r>
                            <a:rPr lang="en-IN" sz="1200">
                              <a:effectLst/>
                              <a:latin typeface="Times New Roman" panose="02020603050405020304" pitchFamily="18" charset="0"/>
                              <a:cs typeface="Times New Roman" panose="02020603050405020304" pitchFamily="18" charset="0"/>
                            </a:rPr>
                            <a:t>CNN</a:t>
                          </a:r>
                          <a:endParaRPr lang="en-IN" sz="1200">
                            <a:effectLst/>
                            <a:latin typeface="Times New Roman" panose="02020603050405020304" pitchFamily="18" charset="0"/>
                            <a:ea typeface="Calibri"/>
                            <a:cs typeface="Times New Roman" panose="02020603050405020304" pitchFamily="18" charset="0"/>
                          </a:endParaRPr>
                        </a:p>
                      </a:txBody>
                      <a:tcPr marL="62345" marR="62345" marT="0" marB="0"/>
                    </a:tc>
                    <a:tc>
                      <a:txBody>
                        <a:bodyPr/>
                        <a:lstStyle/>
                        <a:p>
                          <a:pPr algn="just">
                            <a:lnSpc>
                              <a:spcPct val="107000"/>
                            </a:lnSpc>
                            <a:spcBef>
                              <a:spcPts val="600"/>
                            </a:spcBef>
                            <a:spcAft>
                              <a:spcPts val="600"/>
                            </a:spcAft>
                          </a:pPr>
                          <a:r>
                            <a:rPr lang="en-IN" sz="1200">
                              <a:effectLst/>
                              <a:latin typeface="Times New Roman" panose="02020603050405020304" pitchFamily="18" charset="0"/>
                              <a:cs typeface="Times New Roman" panose="02020603050405020304" pitchFamily="18" charset="0"/>
                            </a:rPr>
                            <a:t>Dropout rate, Activation function, Kernel Initializer, Learning Rate, Batch Size.</a:t>
                          </a:r>
                          <a:endParaRPr lang="en-IN" sz="1200">
                            <a:effectLst/>
                            <a:latin typeface="Times New Roman" panose="02020603050405020304" pitchFamily="18" charset="0"/>
                            <a:ea typeface="Calibri"/>
                            <a:cs typeface="Times New Roman" panose="02020603050405020304" pitchFamily="18" charset="0"/>
                          </a:endParaRPr>
                        </a:p>
                      </a:txBody>
                      <a:tcPr marL="62345" marR="62345" marT="0" marB="0"/>
                    </a:tc>
                    <a:tc>
                      <a:txBody>
                        <a:bodyPr/>
                        <a:lstStyle/>
                        <a:p>
                          <a:pPr algn="just">
                            <a:lnSpc>
                              <a:spcPct val="107000"/>
                            </a:lnSpc>
                            <a:spcBef>
                              <a:spcPts val="600"/>
                            </a:spcBef>
                            <a:spcAft>
                              <a:spcPts val="600"/>
                            </a:spcAft>
                          </a:pPr>
                          <a:r>
                            <a:rPr lang="en-IN" sz="1200" dirty="0">
                              <a:effectLst/>
                              <a:latin typeface="Times New Roman" panose="02020603050405020304" pitchFamily="18" charset="0"/>
                              <a:cs typeface="Times New Roman" panose="02020603050405020304" pitchFamily="18" charset="0"/>
                            </a:rPr>
                            <a:t>PSO</a:t>
                          </a:r>
                          <a:endParaRPr lang="en-IN" sz="1200" dirty="0">
                            <a:effectLst/>
                            <a:latin typeface="Times New Roman" panose="02020603050405020304" pitchFamily="18" charset="0"/>
                            <a:ea typeface="Calibri"/>
                            <a:cs typeface="Times New Roman" panose="02020603050405020304" pitchFamily="18" charset="0"/>
                          </a:endParaRPr>
                        </a:p>
                      </a:txBody>
                      <a:tcPr marL="62345" marR="62345" marT="0" marB="0"/>
                    </a:tc>
                    <a:tc>
                      <a:txBody>
                        <a:bodyPr/>
                        <a:lstStyle/>
                        <a:p>
                          <a:pPr>
                            <a:lnSpc>
                              <a:spcPct val="107000"/>
                            </a:lnSpc>
                            <a:spcBef>
                              <a:spcPts val="600"/>
                            </a:spcBef>
                            <a:spcAft>
                              <a:spcPts val="600"/>
                            </a:spcAft>
                          </a:pPr>
                          <a:r>
                            <a:rPr lang="en-IN" sz="1200" dirty="0">
                              <a:effectLst/>
                              <a:latin typeface="Times New Roman" panose="02020603050405020304" pitchFamily="18" charset="0"/>
                              <a:cs typeface="Times New Roman" panose="02020603050405020304" pitchFamily="18" charset="0"/>
                            </a:rPr>
                            <a:t>Fixed-length hybrid binary encoding</a:t>
                          </a:r>
                          <a:endParaRPr lang="en-IN" sz="1200" dirty="0">
                            <a:effectLst/>
                            <a:latin typeface="Times New Roman" panose="02020603050405020304" pitchFamily="18" charset="0"/>
                            <a:ea typeface="Calibri"/>
                            <a:cs typeface="Times New Roman" panose="02020603050405020304" pitchFamily="18" charset="0"/>
                          </a:endParaRPr>
                        </a:p>
                      </a:txBody>
                      <a:tcPr marL="62345" marR="62345" marT="0" marB="0"/>
                    </a:tc>
                    <a:tc>
                      <a:txBody>
                        <a:bodyPr/>
                        <a:lstStyle/>
                        <a:p>
                          <a:pPr>
                            <a:lnSpc>
                              <a:spcPct val="107000"/>
                            </a:lnSpc>
                            <a:spcBef>
                              <a:spcPts val="600"/>
                            </a:spcBef>
                            <a:spcAft>
                              <a:spcPts val="600"/>
                            </a:spcAft>
                          </a:pPr>
                          <a:r>
                            <a:rPr lang="en-IN" sz="1200" dirty="0">
                              <a:effectLst/>
                              <a:latin typeface="Times New Roman" panose="02020603050405020304" pitchFamily="18" charset="0"/>
                              <a:cs typeface="Times New Roman" panose="02020603050405020304" pitchFamily="18" charset="0"/>
                            </a:rPr>
                            <a:t>Image Classification</a:t>
                          </a:r>
                          <a:endParaRPr lang="en-IN" sz="1200" dirty="0">
                            <a:effectLst/>
                            <a:latin typeface="Times New Roman" panose="02020603050405020304" pitchFamily="18" charset="0"/>
                            <a:ea typeface="Calibri"/>
                            <a:cs typeface="Times New Roman" panose="02020603050405020304" pitchFamily="18" charset="0"/>
                          </a:endParaRPr>
                        </a:p>
                      </a:txBody>
                      <a:tcPr marL="62345" marR="62345" marT="0" marB="0"/>
                    </a:tc>
                  </a:tr>
                  <a:tr h="500419">
                    <a:tc>
                      <a:txBody>
                        <a:bodyPr/>
                        <a:lstStyle/>
                        <a:p>
                          <a:pPr marL="0" lvl="0" indent="0" algn="just">
                            <a:lnSpc>
                              <a:spcPct val="107000"/>
                            </a:lnSpc>
                            <a:spcBef>
                              <a:spcPts val="600"/>
                            </a:spcBef>
                            <a:spcAft>
                              <a:spcPts val="600"/>
                            </a:spcAft>
                            <a:buFont typeface="+mj-lt"/>
                            <a:buNone/>
                          </a:pPr>
                          <a:r>
                            <a:rPr lang="en-IN" sz="1200" dirty="0" smtClean="0">
                              <a:effectLst/>
                              <a:latin typeface="Times New Roman" panose="02020603050405020304" pitchFamily="18" charset="0"/>
                              <a:cs typeface="Times New Roman" panose="02020603050405020304" pitchFamily="18" charset="0"/>
                            </a:rPr>
                            <a:t>[6]</a:t>
                          </a:r>
                          <a:r>
                            <a:rPr lang="en-IN" sz="1200" dirty="0">
                              <a:effectLst/>
                              <a:latin typeface="Times New Roman" panose="02020603050405020304" pitchFamily="18" charset="0"/>
                              <a:cs typeface="Times New Roman" panose="02020603050405020304" pitchFamily="18" charset="0"/>
                            </a:rPr>
                            <a:t> </a:t>
                          </a:r>
                          <a:endParaRPr lang="en-IN" sz="1200" dirty="0">
                            <a:effectLst/>
                            <a:latin typeface="Times New Roman" panose="02020603050405020304" pitchFamily="18" charset="0"/>
                            <a:ea typeface="Calibri"/>
                            <a:cs typeface="Times New Roman" panose="02020603050405020304" pitchFamily="18" charset="0"/>
                          </a:endParaRPr>
                        </a:p>
                      </a:txBody>
                      <a:tcPr marL="62345" marR="62345" marT="0" marB="0"/>
                    </a:tc>
                    <a:tc>
                      <a:txBody>
                        <a:bodyPr/>
                        <a:lstStyle/>
                        <a:p>
                          <a:pPr algn="just">
                            <a:lnSpc>
                              <a:spcPct val="107000"/>
                            </a:lnSpc>
                            <a:spcBef>
                              <a:spcPts val="600"/>
                            </a:spcBef>
                            <a:spcAft>
                              <a:spcPts val="600"/>
                            </a:spcAft>
                          </a:pPr>
                          <a:r>
                            <a:rPr lang="en-IN" sz="1200">
                              <a:effectLst/>
                              <a:latin typeface="Times New Roman" panose="02020603050405020304" pitchFamily="18" charset="0"/>
                              <a:cs typeface="Times New Roman" panose="02020603050405020304" pitchFamily="18" charset="0"/>
                            </a:rPr>
                            <a:t>CNN</a:t>
                          </a:r>
                          <a:endParaRPr lang="en-IN" sz="1200">
                            <a:effectLst/>
                            <a:latin typeface="Times New Roman" panose="02020603050405020304" pitchFamily="18" charset="0"/>
                            <a:ea typeface="Calibri"/>
                            <a:cs typeface="Times New Roman" panose="02020603050405020304" pitchFamily="18" charset="0"/>
                          </a:endParaRPr>
                        </a:p>
                      </a:txBody>
                      <a:tcPr marL="62345" marR="62345" marT="0" marB="0"/>
                    </a:tc>
                    <a:tc>
                      <a:txBody>
                        <a:bodyPr/>
                        <a:lstStyle/>
                        <a:p>
                          <a:pPr algn="just">
                            <a:lnSpc>
                              <a:spcPct val="107000"/>
                            </a:lnSpc>
                            <a:spcBef>
                              <a:spcPts val="600"/>
                            </a:spcBef>
                            <a:spcAft>
                              <a:spcPts val="600"/>
                            </a:spcAft>
                          </a:pPr>
                          <a:r>
                            <a:rPr lang="en-IN" sz="1200">
                              <a:effectLst/>
                              <a:latin typeface="Times New Roman" panose="02020603050405020304" pitchFamily="18" charset="0"/>
                              <a:cs typeface="Times New Roman" panose="02020603050405020304" pitchFamily="18" charset="0"/>
                            </a:rPr>
                            <a:t>Size of the mini-batch, dropout rate.</a:t>
                          </a:r>
                          <a:endParaRPr lang="en-IN" sz="1200">
                            <a:effectLst/>
                            <a:latin typeface="Times New Roman" panose="02020603050405020304" pitchFamily="18" charset="0"/>
                            <a:ea typeface="Calibri"/>
                            <a:cs typeface="Times New Roman" panose="02020603050405020304" pitchFamily="18" charset="0"/>
                          </a:endParaRPr>
                        </a:p>
                      </a:txBody>
                      <a:tcPr marL="62345" marR="62345" marT="0" marB="0"/>
                    </a:tc>
                    <a:tc>
                      <a:txBody>
                        <a:bodyPr/>
                        <a:lstStyle/>
                        <a:p>
                          <a:pPr algn="just">
                            <a:lnSpc>
                              <a:spcPct val="107000"/>
                            </a:lnSpc>
                            <a:spcBef>
                              <a:spcPts val="600"/>
                            </a:spcBef>
                            <a:spcAft>
                              <a:spcPts val="600"/>
                            </a:spcAft>
                          </a:pPr>
                          <a:r>
                            <a:rPr lang="en-IN" sz="1200">
                              <a:effectLst/>
                              <a:latin typeface="Times New Roman" panose="02020603050405020304" pitchFamily="18" charset="0"/>
                              <a:cs typeface="Times New Roman" panose="02020603050405020304" pitchFamily="18" charset="0"/>
                            </a:rPr>
                            <a:t>PSO</a:t>
                          </a:r>
                          <a:endParaRPr lang="en-IN" sz="1200">
                            <a:effectLst/>
                            <a:latin typeface="Times New Roman" panose="02020603050405020304" pitchFamily="18" charset="0"/>
                            <a:ea typeface="Calibri"/>
                            <a:cs typeface="Times New Roman" panose="02020603050405020304" pitchFamily="18" charset="0"/>
                          </a:endParaRPr>
                        </a:p>
                      </a:txBody>
                      <a:tcPr marL="62345" marR="62345" marT="0" marB="0"/>
                    </a:tc>
                    <a:tc>
                      <a:txBody>
                        <a:bodyPr/>
                        <a:lstStyle/>
                        <a:p>
                          <a:pPr>
                            <a:lnSpc>
                              <a:spcPct val="107000"/>
                            </a:lnSpc>
                            <a:spcBef>
                              <a:spcPts val="600"/>
                            </a:spcBef>
                            <a:spcAft>
                              <a:spcPts val="600"/>
                            </a:spcAft>
                          </a:pPr>
                          <a:r>
                            <a:rPr lang="en-IN" sz="1200" dirty="0">
                              <a:effectLst/>
                              <a:latin typeface="Times New Roman" panose="02020603050405020304" pitchFamily="18" charset="0"/>
                              <a:cs typeface="Times New Roman" panose="02020603050405020304" pitchFamily="18" charset="0"/>
                            </a:rPr>
                            <a:t>Fixed-length real encoding</a:t>
                          </a:r>
                          <a:endParaRPr lang="en-IN" sz="1200" dirty="0">
                            <a:effectLst/>
                            <a:latin typeface="Times New Roman" panose="02020603050405020304" pitchFamily="18" charset="0"/>
                            <a:ea typeface="Calibri"/>
                            <a:cs typeface="Times New Roman" panose="02020603050405020304" pitchFamily="18" charset="0"/>
                          </a:endParaRPr>
                        </a:p>
                      </a:txBody>
                      <a:tcPr marL="62345" marR="62345" marT="0" marB="0"/>
                    </a:tc>
                    <a:tc>
                      <a:txBody>
                        <a:bodyPr/>
                        <a:lstStyle/>
                        <a:p>
                          <a:pPr>
                            <a:lnSpc>
                              <a:spcPct val="107000"/>
                            </a:lnSpc>
                            <a:spcBef>
                              <a:spcPts val="600"/>
                            </a:spcBef>
                            <a:spcAft>
                              <a:spcPts val="600"/>
                            </a:spcAft>
                          </a:pPr>
                          <a:r>
                            <a:rPr lang="en-IN" sz="1200" dirty="0">
                              <a:effectLst/>
                              <a:latin typeface="Times New Roman" panose="02020603050405020304" pitchFamily="18" charset="0"/>
                              <a:cs typeface="Times New Roman" panose="02020603050405020304" pitchFamily="18" charset="0"/>
                            </a:rPr>
                            <a:t>Image Classification</a:t>
                          </a:r>
                          <a:endParaRPr lang="en-IN" sz="1200" dirty="0">
                            <a:effectLst/>
                            <a:latin typeface="Times New Roman" panose="02020603050405020304" pitchFamily="18" charset="0"/>
                            <a:ea typeface="Calibri"/>
                            <a:cs typeface="Times New Roman" panose="02020603050405020304" pitchFamily="18" charset="0"/>
                          </a:endParaRPr>
                        </a:p>
                      </a:txBody>
                      <a:tcPr marL="62345" marR="62345" marT="0" marB="0"/>
                    </a:tc>
                  </a:tr>
                  <a:tr h="777944">
                    <a:tc>
                      <a:txBody>
                        <a:bodyPr/>
                        <a:lstStyle/>
                        <a:p>
                          <a:pPr marL="0" lvl="0" indent="0" algn="just">
                            <a:lnSpc>
                              <a:spcPct val="107000"/>
                            </a:lnSpc>
                            <a:spcBef>
                              <a:spcPts val="600"/>
                            </a:spcBef>
                            <a:spcAft>
                              <a:spcPts val="600"/>
                            </a:spcAft>
                            <a:buFont typeface="+mj-lt"/>
                            <a:buNone/>
                          </a:pPr>
                          <a:r>
                            <a:rPr lang="en-IN" sz="1200" dirty="0" smtClean="0">
                              <a:effectLst/>
                              <a:latin typeface="Times New Roman" panose="02020603050405020304" pitchFamily="18" charset="0"/>
                              <a:cs typeface="Times New Roman" panose="02020603050405020304" pitchFamily="18" charset="0"/>
                            </a:rPr>
                            <a:t>[7]</a:t>
                          </a:r>
                          <a:r>
                            <a:rPr lang="en-IN" sz="1200" dirty="0">
                              <a:effectLst/>
                              <a:latin typeface="Times New Roman" panose="02020603050405020304" pitchFamily="18" charset="0"/>
                              <a:cs typeface="Times New Roman" panose="02020603050405020304" pitchFamily="18" charset="0"/>
                            </a:rPr>
                            <a:t> </a:t>
                          </a:r>
                          <a:endParaRPr lang="en-IN" sz="1200" dirty="0">
                            <a:effectLst/>
                            <a:latin typeface="Times New Roman" panose="02020603050405020304" pitchFamily="18" charset="0"/>
                            <a:ea typeface="Calibri"/>
                            <a:cs typeface="Times New Roman" panose="02020603050405020304" pitchFamily="18" charset="0"/>
                          </a:endParaRPr>
                        </a:p>
                      </a:txBody>
                      <a:tcPr marL="62345" marR="62345" marT="0" marB="0"/>
                    </a:tc>
                    <a:tc>
                      <a:txBody>
                        <a:bodyPr/>
                        <a:lstStyle/>
                        <a:p>
                          <a:pPr algn="just">
                            <a:lnSpc>
                              <a:spcPct val="107000"/>
                            </a:lnSpc>
                            <a:spcBef>
                              <a:spcPts val="600"/>
                            </a:spcBef>
                            <a:spcAft>
                              <a:spcPts val="600"/>
                            </a:spcAft>
                          </a:pPr>
                          <a:r>
                            <a:rPr lang="en-IN" sz="1200">
                              <a:effectLst/>
                              <a:latin typeface="Times New Roman" panose="02020603050405020304" pitchFamily="18" charset="0"/>
                              <a:cs typeface="Times New Roman" panose="02020603050405020304" pitchFamily="18" charset="0"/>
                            </a:rPr>
                            <a:t>CNN</a:t>
                          </a:r>
                          <a:endParaRPr lang="en-IN" sz="1200">
                            <a:effectLst/>
                            <a:latin typeface="Times New Roman" panose="02020603050405020304" pitchFamily="18" charset="0"/>
                            <a:ea typeface="Calibri"/>
                            <a:cs typeface="Times New Roman" panose="02020603050405020304" pitchFamily="18" charset="0"/>
                          </a:endParaRPr>
                        </a:p>
                      </a:txBody>
                      <a:tcPr marL="62345" marR="62345" marT="0" marB="0"/>
                    </a:tc>
                    <a:tc>
                      <a:txBody>
                        <a:bodyPr/>
                        <a:lstStyle/>
                        <a:p>
                          <a:endParaRPr lang="en-US"/>
                        </a:p>
                      </a:txBody>
                      <a:tcPr marL="62345" marR="62345" marT="0" marB="0">
                        <a:blipFill rotWithShape="1">
                          <a:blip r:embed="rId2"/>
                          <a:stretch>
                            <a:fillRect l="-46906" t="-620313" r="-93322" b="-10156"/>
                          </a:stretch>
                        </a:blipFill>
                      </a:tcPr>
                    </a:tc>
                    <a:tc>
                      <a:txBody>
                        <a:bodyPr/>
                        <a:lstStyle/>
                        <a:p>
                          <a:pPr algn="just">
                            <a:lnSpc>
                              <a:spcPct val="107000"/>
                            </a:lnSpc>
                            <a:spcBef>
                              <a:spcPts val="600"/>
                            </a:spcBef>
                            <a:spcAft>
                              <a:spcPts val="600"/>
                            </a:spcAft>
                          </a:pPr>
                          <a:r>
                            <a:rPr lang="en-IN" sz="1200" dirty="0" smtClean="0">
                              <a:effectLst/>
                              <a:latin typeface="Times New Roman" panose="02020603050405020304" pitchFamily="18" charset="0"/>
                              <a:cs typeface="Times New Roman" panose="02020603050405020304" pitchFamily="18" charset="0"/>
                            </a:rPr>
                            <a:t>Fractal Decomposition Algorithm (FDA)</a:t>
                          </a:r>
                          <a:endParaRPr lang="en-IN" sz="1200" dirty="0">
                            <a:effectLst/>
                            <a:latin typeface="Times New Roman" panose="02020603050405020304" pitchFamily="18" charset="0"/>
                            <a:ea typeface="Calibri"/>
                            <a:cs typeface="Times New Roman" panose="02020603050405020304" pitchFamily="18" charset="0"/>
                          </a:endParaRPr>
                        </a:p>
                      </a:txBody>
                      <a:tcPr marL="62345" marR="62345" marT="0" marB="0"/>
                    </a:tc>
                    <a:tc>
                      <a:txBody>
                        <a:bodyPr/>
                        <a:lstStyle/>
                        <a:p>
                          <a:pPr>
                            <a:lnSpc>
                              <a:spcPct val="107000"/>
                            </a:lnSpc>
                            <a:spcBef>
                              <a:spcPts val="600"/>
                            </a:spcBef>
                            <a:spcAft>
                              <a:spcPts val="600"/>
                            </a:spcAft>
                          </a:pPr>
                          <a:r>
                            <a:rPr lang="en-IN" sz="1200" dirty="0">
                              <a:effectLst/>
                              <a:latin typeface="Times New Roman" panose="02020603050405020304" pitchFamily="18" charset="0"/>
                              <a:cs typeface="Times New Roman" panose="02020603050405020304" pitchFamily="18" charset="0"/>
                            </a:rPr>
                            <a:t>Fixed-length real encoding</a:t>
                          </a:r>
                          <a:endParaRPr lang="en-IN" sz="1200" dirty="0">
                            <a:effectLst/>
                            <a:latin typeface="Times New Roman" panose="02020603050405020304" pitchFamily="18" charset="0"/>
                            <a:ea typeface="Calibri"/>
                            <a:cs typeface="Times New Roman" panose="02020603050405020304" pitchFamily="18" charset="0"/>
                          </a:endParaRPr>
                        </a:p>
                      </a:txBody>
                      <a:tcPr marL="62345" marR="62345" marT="0" marB="0"/>
                    </a:tc>
                    <a:tc>
                      <a:txBody>
                        <a:bodyPr/>
                        <a:lstStyle/>
                        <a:p>
                          <a:pPr>
                            <a:lnSpc>
                              <a:spcPct val="107000"/>
                            </a:lnSpc>
                            <a:spcBef>
                              <a:spcPts val="600"/>
                            </a:spcBef>
                            <a:spcAft>
                              <a:spcPts val="600"/>
                            </a:spcAft>
                          </a:pPr>
                          <a:r>
                            <a:rPr lang="en-IN" sz="1200" dirty="0">
                              <a:effectLst/>
                              <a:latin typeface="Times New Roman" panose="02020603050405020304" pitchFamily="18" charset="0"/>
                              <a:cs typeface="Times New Roman" panose="02020603050405020304" pitchFamily="18" charset="0"/>
                            </a:rPr>
                            <a:t>Image Classification</a:t>
                          </a:r>
                          <a:endParaRPr lang="en-IN" sz="1200" dirty="0">
                            <a:effectLst/>
                            <a:latin typeface="Times New Roman" panose="02020603050405020304" pitchFamily="18" charset="0"/>
                            <a:ea typeface="Calibri"/>
                            <a:cs typeface="Times New Roman" panose="02020603050405020304" pitchFamily="18" charset="0"/>
                          </a:endParaRPr>
                        </a:p>
                      </a:txBody>
                      <a:tcPr marL="62345" marR="62345" marT="0" marB="0"/>
                    </a:tc>
                  </a:tr>
                </a:tbl>
              </a:graphicData>
            </a:graphic>
          </p:graphicFrame>
        </mc:Fallback>
      </mc:AlternateContent>
    </p:spTree>
    <p:extLst>
      <p:ext uri="{BB962C8B-B14F-4D97-AF65-F5344CB8AC3E}">
        <p14:creationId xmlns:p14="http://schemas.microsoft.com/office/powerpoint/2010/main" val="607654024"/>
      </p:ext>
    </p:extLst>
  </p:cSld>
  <p:clrMapOvr>
    <a:masterClrMapping/>
  </p:clrMapOvr>
</p:sld>
</file>

<file path=ppt/slides/slide7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sz="2400" b="1" cap="small" dirty="0"/>
              <a:t>Swarm and Evolutionary Algorithm Optimized DL Models</a:t>
            </a:r>
          </a:p>
        </p:txBody>
      </p:sp>
      <p:sp>
        <p:nvSpPr>
          <p:cNvPr id="3" name="Content Placeholder 2"/>
          <p:cNvSpPr>
            <a:spLocks noGrp="1"/>
          </p:cNvSpPr>
          <p:nvPr>
            <p:ph idx="1"/>
          </p:nvPr>
        </p:nvSpPr>
        <p:spPr/>
        <p:txBody>
          <a:bodyPr>
            <a:normAutofit/>
          </a:bodyPr>
          <a:lstStyle/>
          <a:p>
            <a:pPr marL="95250" lvl="2" indent="0" algn="just">
              <a:buNone/>
            </a:pPr>
            <a:endParaRPr lang="en-US" b="1" dirty="0"/>
          </a:p>
          <a:p>
            <a:pPr marL="95250" lvl="2" indent="0" algn="just">
              <a:buNone/>
            </a:pPr>
            <a:endParaRPr lang="en-US" b="1" dirty="0">
              <a:solidFill>
                <a:srgbClr val="2312FA"/>
              </a:solidFill>
            </a:endParaRPr>
          </a:p>
          <a:p>
            <a:pPr lvl="1"/>
            <a:endParaRPr lang="en-US" dirty="0"/>
          </a:p>
          <a:p>
            <a:endParaRPr lang="en-US" dirty="0"/>
          </a:p>
          <a:p>
            <a:endParaRPr lang="en-US" dirty="0"/>
          </a:p>
        </p:txBody>
      </p:sp>
      <p:sp>
        <p:nvSpPr>
          <p:cNvPr id="4" name="Date Placeholder 3"/>
          <p:cNvSpPr>
            <a:spLocks noGrp="1"/>
          </p:cNvSpPr>
          <p:nvPr>
            <p:ph type="dt" sz="half" idx="10"/>
          </p:nvPr>
        </p:nvSpPr>
        <p:spPr/>
        <p:txBody>
          <a:bodyPr/>
          <a:lstStyle/>
          <a:p>
            <a:fld id="{E7067A60-51C7-4095-BFA9-1CE32DCBA06F}" type="datetime1">
              <a:rPr lang="en-US" smtClean="0"/>
              <a:pPr/>
              <a:t>2/9/2026</a:t>
            </a:fld>
            <a:endParaRPr lang="en-US" dirty="0"/>
          </a:p>
        </p:txBody>
      </p:sp>
      <p:sp>
        <p:nvSpPr>
          <p:cNvPr id="6" name="Slide Number Placeholder 5"/>
          <p:cNvSpPr>
            <a:spLocks noGrp="1"/>
          </p:cNvSpPr>
          <p:nvPr>
            <p:ph type="sldNum" sz="quarter" idx="12"/>
          </p:nvPr>
        </p:nvSpPr>
        <p:spPr/>
        <p:txBody>
          <a:bodyPr/>
          <a:lstStyle/>
          <a:p>
            <a:fld id="{A03BBF96-A7A5-4867-9A4A-2F26A3CC4EC3}" type="slidenum">
              <a:rPr lang="en-US" smtClean="0"/>
              <a:pPr/>
              <a:t>79</a:t>
            </a:fld>
            <a:endParaRPr lang="en-US" dirty="0"/>
          </a:p>
        </p:txBody>
      </p:sp>
      <p:sp>
        <p:nvSpPr>
          <p:cNvPr id="7" name="TextBox 6"/>
          <p:cNvSpPr txBox="1"/>
          <p:nvPr/>
        </p:nvSpPr>
        <p:spPr>
          <a:xfrm>
            <a:off x="0" y="0"/>
            <a:ext cx="4572000" cy="369332"/>
          </a:xfrm>
          <a:prstGeom prst="rect">
            <a:avLst/>
          </a:prstGeom>
          <a:noFill/>
        </p:spPr>
        <p:txBody>
          <a:bodyPr wrap="square" rtlCol="0">
            <a:spAutoFit/>
          </a:bodyPr>
          <a:lstStyle/>
          <a:p>
            <a:pPr algn="r"/>
            <a:r>
              <a:rPr lang="en-US" b="1" dirty="0">
                <a:solidFill>
                  <a:schemeClr val="bg1"/>
                </a:solidFill>
              </a:rPr>
              <a:t>Introduction to Deep Neural Network</a:t>
            </a:r>
          </a:p>
        </p:txBody>
      </p:sp>
      <p:sp>
        <p:nvSpPr>
          <p:cNvPr id="8" name="Rectangle 2"/>
          <p:cNvSpPr>
            <a:spLocks noChangeArrowheads="1"/>
          </p:cNvSpPr>
          <p:nvPr/>
        </p:nvSpPr>
        <p:spPr bwMode="auto">
          <a:xfrm>
            <a:off x="0" y="0"/>
            <a:ext cx="91440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sp>
        <p:nvSpPr>
          <p:cNvPr id="9" name="Rectangle 2"/>
          <p:cNvSpPr>
            <a:spLocks noChangeArrowheads="1"/>
          </p:cNvSpPr>
          <p:nvPr/>
        </p:nvSpPr>
        <p:spPr bwMode="auto">
          <a:xfrm>
            <a:off x="0" y="0"/>
            <a:ext cx="91440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sp>
        <p:nvSpPr>
          <p:cNvPr id="11" name="Footer Placeholder 4">
            <a:extLst>
              <a:ext uri="{FF2B5EF4-FFF2-40B4-BE49-F238E27FC236}">
                <a16:creationId xmlns:a16="http://schemas.microsoft.com/office/drawing/2014/main" id="{CBB301ED-B8A4-4772-B559-A9E41E7472BD}"/>
              </a:ext>
            </a:extLst>
          </p:cNvPr>
          <p:cNvSpPr>
            <a:spLocks noGrp="1"/>
          </p:cNvSpPr>
          <p:nvPr>
            <p:ph type="ftr" sz="quarter" idx="11"/>
          </p:nvPr>
        </p:nvSpPr>
        <p:spPr>
          <a:xfrm>
            <a:off x="2286000" y="6629400"/>
            <a:ext cx="4136571" cy="228600"/>
          </a:xfrm>
        </p:spPr>
        <p:txBody>
          <a:bodyPr/>
          <a:lstStyle/>
          <a:p>
            <a:r>
              <a:rPr lang="en-US" dirty="0"/>
              <a:t>Dr. Sibarama Panigrahi, Dept. of CSE, NITR</a:t>
            </a:r>
          </a:p>
        </p:txBody>
      </p:sp>
      <p:graphicFrame>
        <p:nvGraphicFramePr>
          <p:cNvPr id="5" name="Table 4"/>
          <p:cNvGraphicFramePr>
            <a:graphicFrameLocks noGrp="1"/>
          </p:cNvGraphicFramePr>
          <p:nvPr>
            <p:extLst/>
          </p:nvPr>
        </p:nvGraphicFramePr>
        <p:xfrm>
          <a:off x="152400" y="990601"/>
          <a:ext cx="8991601" cy="5702888"/>
        </p:xfrm>
        <a:graphic>
          <a:graphicData uri="http://schemas.openxmlformats.org/drawingml/2006/table">
            <a:tbl>
              <a:tblPr firstRow="1" firstCol="1" bandRow="1">
                <a:tableStyleId>{5C22544A-7EE6-4342-B048-85BDC9FD1C3A}</a:tableStyleId>
              </a:tblPr>
              <a:tblGrid>
                <a:gridCol w="860065">
                  <a:extLst>
                    <a:ext uri="{9D8B030D-6E8A-4147-A177-3AD203B41FA5}">
                      <a16:colId xmlns:a16="http://schemas.microsoft.com/office/drawing/2014/main" val="20000"/>
                    </a:ext>
                  </a:extLst>
                </a:gridCol>
                <a:gridCol w="896894">
                  <a:extLst>
                    <a:ext uri="{9D8B030D-6E8A-4147-A177-3AD203B41FA5}">
                      <a16:colId xmlns:a16="http://schemas.microsoft.com/office/drawing/2014/main" val="20001"/>
                    </a:ext>
                  </a:extLst>
                </a:gridCol>
                <a:gridCol w="3742304">
                  <a:extLst>
                    <a:ext uri="{9D8B030D-6E8A-4147-A177-3AD203B41FA5}">
                      <a16:colId xmlns:a16="http://schemas.microsoft.com/office/drawing/2014/main" val="20002"/>
                    </a:ext>
                  </a:extLst>
                </a:gridCol>
                <a:gridCol w="1224892">
                  <a:extLst>
                    <a:ext uri="{9D8B030D-6E8A-4147-A177-3AD203B41FA5}">
                      <a16:colId xmlns:a16="http://schemas.microsoft.com/office/drawing/2014/main" val="20003"/>
                    </a:ext>
                  </a:extLst>
                </a:gridCol>
                <a:gridCol w="1200645">
                  <a:extLst>
                    <a:ext uri="{9D8B030D-6E8A-4147-A177-3AD203B41FA5}">
                      <a16:colId xmlns:a16="http://schemas.microsoft.com/office/drawing/2014/main" val="20004"/>
                    </a:ext>
                  </a:extLst>
                </a:gridCol>
                <a:gridCol w="1066801">
                  <a:extLst>
                    <a:ext uri="{9D8B030D-6E8A-4147-A177-3AD203B41FA5}">
                      <a16:colId xmlns:a16="http://schemas.microsoft.com/office/drawing/2014/main" val="20005"/>
                    </a:ext>
                  </a:extLst>
                </a:gridCol>
              </a:tblGrid>
              <a:tr h="569373">
                <a:tc>
                  <a:txBody>
                    <a:bodyPr/>
                    <a:lstStyle/>
                    <a:p>
                      <a:pPr algn="just">
                        <a:lnSpc>
                          <a:spcPct val="107000"/>
                        </a:lnSpc>
                        <a:spcBef>
                          <a:spcPts val="600"/>
                        </a:spcBef>
                        <a:spcAft>
                          <a:spcPts val="600"/>
                        </a:spcAft>
                      </a:pPr>
                      <a:r>
                        <a:rPr lang="en-IN" sz="1200" dirty="0">
                          <a:effectLst/>
                          <a:latin typeface="Times New Roman" panose="02020603050405020304" pitchFamily="18" charset="0"/>
                          <a:cs typeface="Times New Roman" panose="02020603050405020304" pitchFamily="18" charset="0"/>
                        </a:rPr>
                        <a:t>Reference</a:t>
                      </a:r>
                      <a:endParaRPr lang="en-IN" sz="1200" dirty="0">
                        <a:effectLst/>
                        <a:latin typeface="Times New Roman" panose="02020603050405020304" pitchFamily="18" charset="0"/>
                        <a:ea typeface="Calibri"/>
                        <a:cs typeface="Times New Roman" panose="02020603050405020304" pitchFamily="18" charset="0"/>
                      </a:endParaRPr>
                    </a:p>
                  </a:txBody>
                  <a:tcPr marL="62345" marR="62345" marT="0" marB="0"/>
                </a:tc>
                <a:tc>
                  <a:txBody>
                    <a:bodyPr/>
                    <a:lstStyle/>
                    <a:p>
                      <a:pPr algn="just">
                        <a:lnSpc>
                          <a:spcPct val="107000"/>
                        </a:lnSpc>
                        <a:spcBef>
                          <a:spcPts val="600"/>
                        </a:spcBef>
                        <a:spcAft>
                          <a:spcPts val="600"/>
                        </a:spcAft>
                      </a:pPr>
                      <a:r>
                        <a:rPr lang="en-IN" sz="1200" dirty="0">
                          <a:effectLst/>
                          <a:latin typeface="Times New Roman" panose="02020603050405020304" pitchFamily="18" charset="0"/>
                          <a:cs typeface="Times New Roman" panose="02020603050405020304" pitchFamily="18" charset="0"/>
                        </a:rPr>
                        <a:t>Deep Learning Model</a:t>
                      </a:r>
                      <a:endParaRPr lang="en-IN" sz="1200" dirty="0">
                        <a:effectLst/>
                        <a:latin typeface="Times New Roman" panose="02020603050405020304" pitchFamily="18" charset="0"/>
                        <a:ea typeface="Calibri"/>
                        <a:cs typeface="Times New Roman" panose="02020603050405020304" pitchFamily="18" charset="0"/>
                      </a:endParaRPr>
                    </a:p>
                  </a:txBody>
                  <a:tcPr marL="62345" marR="62345" marT="0" marB="0"/>
                </a:tc>
                <a:tc>
                  <a:txBody>
                    <a:bodyPr/>
                    <a:lstStyle/>
                    <a:p>
                      <a:pPr algn="just">
                        <a:lnSpc>
                          <a:spcPct val="107000"/>
                        </a:lnSpc>
                        <a:spcBef>
                          <a:spcPts val="600"/>
                        </a:spcBef>
                        <a:spcAft>
                          <a:spcPts val="600"/>
                        </a:spcAft>
                      </a:pPr>
                      <a:r>
                        <a:rPr lang="en-IN" sz="1200" dirty="0">
                          <a:effectLst/>
                          <a:latin typeface="Times New Roman" panose="02020603050405020304" pitchFamily="18" charset="0"/>
                          <a:cs typeface="Times New Roman" panose="02020603050405020304" pitchFamily="18" charset="0"/>
                        </a:rPr>
                        <a:t>Hyper-Parameters </a:t>
                      </a:r>
                      <a:endParaRPr lang="en-IN" sz="1200" dirty="0">
                        <a:effectLst/>
                        <a:latin typeface="Times New Roman" panose="02020603050405020304" pitchFamily="18" charset="0"/>
                        <a:ea typeface="Calibri"/>
                        <a:cs typeface="Times New Roman" panose="02020603050405020304" pitchFamily="18" charset="0"/>
                      </a:endParaRPr>
                    </a:p>
                  </a:txBody>
                  <a:tcPr marL="62345" marR="62345" marT="0" marB="0"/>
                </a:tc>
                <a:tc>
                  <a:txBody>
                    <a:bodyPr/>
                    <a:lstStyle/>
                    <a:p>
                      <a:pPr algn="just">
                        <a:lnSpc>
                          <a:spcPct val="107000"/>
                        </a:lnSpc>
                        <a:spcBef>
                          <a:spcPts val="600"/>
                        </a:spcBef>
                        <a:spcAft>
                          <a:spcPts val="600"/>
                        </a:spcAft>
                      </a:pPr>
                      <a:r>
                        <a:rPr lang="en-IN" sz="1200">
                          <a:effectLst/>
                          <a:latin typeface="Times New Roman" panose="02020603050405020304" pitchFamily="18" charset="0"/>
                          <a:cs typeface="Times New Roman" panose="02020603050405020304" pitchFamily="18" charset="0"/>
                        </a:rPr>
                        <a:t>Optimization Technique</a:t>
                      </a:r>
                      <a:endParaRPr lang="en-IN" sz="1200">
                        <a:effectLst/>
                        <a:latin typeface="Times New Roman" panose="02020603050405020304" pitchFamily="18" charset="0"/>
                        <a:ea typeface="Calibri"/>
                        <a:cs typeface="Times New Roman" panose="02020603050405020304" pitchFamily="18" charset="0"/>
                      </a:endParaRPr>
                    </a:p>
                  </a:txBody>
                  <a:tcPr marL="62345" marR="62345" marT="0" marB="0"/>
                </a:tc>
                <a:tc>
                  <a:txBody>
                    <a:bodyPr/>
                    <a:lstStyle/>
                    <a:p>
                      <a:pPr algn="just">
                        <a:lnSpc>
                          <a:spcPct val="107000"/>
                        </a:lnSpc>
                        <a:spcBef>
                          <a:spcPts val="600"/>
                        </a:spcBef>
                        <a:spcAft>
                          <a:spcPts val="600"/>
                        </a:spcAft>
                      </a:pPr>
                      <a:r>
                        <a:rPr lang="en-IN" sz="1200">
                          <a:effectLst/>
                          <a:latin typeface="Times New Roman" panose="02020603050405020304" pitchFamily="18" charset="0"/>
                          <a:cs typeface="Times New Roman" panose="02020603050405020304" pitchFamily="18" charset="0"/>
                        </a:rPr>
                        <a:t>Encoding Scheme</a:t>
                      </a:r>
                      <a:endParaRPr lang="en-IN" sz="1200">
                        <a:effectLst/>
                        <a:latin typeface="Times New Roman" panose="02020603050405020304" pitchFamily="18" charset="0"/>
                        <a:ea typeface="Calibri"/>
                        <a:cs typeface="Times New Roman" panose="02020603050405020304" pitchFamily="18" charset="0"/>
                      </a:endParaRPr>
                    </a:p>
                  </a:txBody>
                  <a:tcPr marL="62345" marR="62345" marT="0" marB="0"/>
                </a:tc>
                <a:tc>
                  <a:txBody>
                    <a:bodyPr/>
                    <a:lstStyle/>
                    <a:p>
                      <a:pPr algn="just">
                        <a:lnSpc>
                          <a:spcPct val="107000"/>
                        </a:lnSpc>
                        <a:spcBef>
                          <a:spcPts val="600"/>
                        </a:spcBef>
                        <a:spcAft>
                          <a:spcPts val="600"/>
                        </a:spcAft>
                      </a:pPr>
                      <a:r>
                        <a:rPr lang="en-IN" sz="1200">
                          <a:effectLst/>
                          <a:latin typeface="Times New Roman" panose="02020603050405020304" pitchFamily="18" charset="0"/>
                          <a:cs typeface="Times New Roman" panose="02020603050405020304" pitchFamily="18" charset="0"/>
                        </a:rPr>
                        <a:t>Application</a:t>
                      </a:r>
                      <a:endParaRPr lang="en-IN" sz="1200">
                        <a:effectLst/>
                        <a:latin typeface="Times New Roman" panose="02020603050405020304" pitchFamily="18" charset="0"/>
                        <a:ea typeface="Calibri"/>
                        <a:cs typeface="Times New Roman" panose="02020603050405020304" pitchFamily="18" charset="0"/>
                      </a:endParaRPr>
                    </a:p>
                  </a:txBody>
                  <a:tcPr marL="62345" marR="62345" marT="0" marB="0"/>
                </a:tc>
                <a:extLst>
                  <a:ext uri="{0D108BD9-81ED-4DB2-BD59-A6C34878D82A}">
                    <a16:rowId xmlns:a16="http://schemas.microsoft.com/office/drawing/2014/main" val="10000"/>
                  </a:ext>
                </a:extLst>
              </a:tr>
              <a:tr h="393422">
                <a:tc>
                  <a:txBody>
                    <a:bodyPr/>
                    <a:lstStyle/>
                    <a:p>
                      <a:pPr marL="0" lvl="0" indent="0" algn="just">
                        <a:lnSpc>
                          <a:spcPct val="107000"/>
                        </a:lnSpc>
                        <a:spcBef>
                          <a:spcPts val="600"/>
                        </a:spcBef>
                        <a:spcAft>
                          <a:spcPts val="600"/>
                        </a:spcAft>
                        <a:buFont typeface="+mj-lt"/>
                        <a:buNone/>
                      </a:pPr>
                      <a:r>
                        <a:rPr lang="en-IN" sz="1200" dirty="0">
                          <a:effectLst/>
                          <a:latin typeface="Times New Roman" panose="02020603050405020304" pitchFamily="18" charset="0"/>
                          <a:cs typeface="Times New Roman" panose="02020603050405020304" pitchFamily="18" charset="0"/>
                        </a:rPr>
                        <a:t>[8] </a:t>
                      </a:r>
                      <a:endParaRPr lang="en-IN" sz="1200" dirty="0">
                        <a:effectLst/>
                        <a:latin typeface="Times New Roman" panose="02020603050405020304" pitchFamily="18" charset="0"/>
                        <a:ea typeface="Calibri"/>
                        <a:cs typeface="Times New Roman" panose="02020603050405020304" pitchFamily="18" charset="0"/>
                      </a:endParaRPr>
                    </a:p>
                  </a:txBody>
                  <a:tcPr marL="62345" marR="62345" marT="0" marB="0"/>
                </a:tc>
                <a:tc>
                  <a:txBody>
                    <a:bodyPr/>
                    <a:lstStyle/>
                    <a:p>
                      <a:pPr algn="just">
                        <a:lnSpc>
                          <a:spcPct val="107000"/>
                        </a:lnSpc>
                        <a:spcBef>
                          <a:spcPts val="600"/>
                        </a:spcBef>
                        <a:spcAft>
                          <a:spcPts val="600"/>
                        </a:spcAft>
                      </a:pPr>
                      <a:r>
                        <a:rPr lang="en-IN" sz="1200">
                          <a:effectLst/>
                          <a:latin typeface="Times New Roman" panose="02020603050405020304" pitchFamily="18" charset="0"/>
                          <a:ea typeface="Calibri"/>
                          <a:cs typeface="Times New Roman" panose="02020603050405020304" pitchFamily="18" charset="0"/>
                        </a:rPr>
                        <a:t>CNN</a:t>
                      </a:r>
                    </a:p>
                  </a:txBody>
                  <a:tcPr marL="68580" marR="68580" marT="0" marB="0"/>
                </a:tc>
                <a:tc>
                  <a:txBody>
                    <a:bodyPr/>
                    <a:lstStyle/>
                    <a:p>
                      <a:pPr algn="just">
                        <a:lnSpc>
                          <a:spcPct val="107000"/>
                        </a:lnSpc>
                        <a:spcBef>
                          <a:spcPts val="600"/>
                        </a:spcBef>
                        <a:spcAft>
                          <a:spcPts val="600"/>
                        </a:spcAft>
                      </a:pPr>
                      <a:r>
                        <a:rPr lang="en-IN" sz="1200" dirty="0">
                          <a:effectLst/>
                          <a:latin typeface="Times New Roman" panose="02020603050405020304" pitchFamily="18" charset="0"/>
                          <a:ea typeface="Calibri"/>
                          <a:cs typeface="Times New Roman" panose="02020603050405020304" pitchFamily="18" charset="0"/>
                        </a:rPr>
                        <a:t>Learning Rate, Channels, Weight decay, </a:t>
                      </a:r>
                      <a:r>
                        <a:rPr lang="en-IN" sz="1200" dirty="0" err="1">
                          <a:effectLst/>
                          <a:latin typeface="Times New Roman" panose="02020603050405020304" pitchFamily="18" charset="0"/>
                          <a:ea typeface="Calibri"/>
                          <a:cs typeface="Times New Roman" panose="02020603050405020304" pitchFamily="18" charset="0"/>
                        </a:rPr>
                        <a:t>Nesterov</a:t>
                      </a:r>
                      <a:r>
                        <a:rPr lang="en-IN" sz="1200" dirty="0">
                          <a:effectLst/>
                          <a:latin typeface="Times New Roman" panose="02020603050405020304" pitchFamily="18" charset="0"/>
                          <a:ea typeface="Calibri"/>
                          <a:cs typeface="Times New Roman" panose="02020603050405020304" pitchFamily="18" charset="0"/>
                        </a:rPr>
                        <a:t>, Momentum, Optimizer, Batch Size, Number of epochs.</a:t>
                      </a:r>
                    </a:p>
                  </a:txBody>
                  <a:tcPr marL="68580" marR="68580" marT="0" marB="0"/>
                </a:tc>
                <a:tc>
                  <a:txBody>
                    <a:bodyPr/>
                    <a:lstStyle/>
                    <a:p>
                      <a:pPr algn="just">
                        <a:lnSpc>
                          <a:spcPct val="107000"/>
                        </a:lnSpc>
                        <a:spcBef>
                          <a:spcPts val="600"/>
                        </a:spcBef>
                        <a:spcAft>
                          <a:spcPts val="600"/>
                        </a:spcAft>
                      </a:pPr>
                      <a:r>
                        <a:rPr lang="en-IN" sz="1200">
                          <a:effectLst/>
                          <a:latin typeface="Times New Roman" panose="02020603050405020304" pitchFamily="18" charset="0"/>
                          <a:ea typeface="Calibri"/>
                          <a:cs typeface="Times New Roman" panose="02020603050405020304" pitchFamily="18" charset="0"/>
                        </a:rPr>
                        <a:t>EA</a:t>
                      </a:r>
                    </a:p>
                  </a:txBody>
                  <a:tcPr marL="68580" marR="68580" marT="0" marB="0"/>
                </a:tc>
                <a:tc>
                  <a:txBody>
                    <a:bodyPr/>
                    <a:lstStyle/>
                    <a:p>
                      <a:pPr algn="just">
                        <a:lnSpc>
                          <a:spcPct val="107000"/>
                        </a:lnSpc>
                        <a:spcBef>
                          <a:spcPts val="600"/>
                        </a:spcBef>
                        <a:spcAft>
                          <a:spcPts val="600"/>
                        </a:spcAft>
                      </a:pPr>
                      <a:r>
                        <a:rPr lang="en-IN" sz="1200">
                          <a:effectLst/>
                          <a:latin typeface="Times New Roman" panose="02020603050405020304" pitchFamily="18" charset="0"/>
                          <a:ea typeface="Calibri"/>
                          <a:cs typeface="Times New Roman" panose="02020603050405020304" pitchFamily="18" charset="0"/>
                        </a:rPr>
                        <a:t>Fixed-length real encoding</a:t>
                      </a:r>
                    </a:p>
                  </a:txBody>
                  <a:tcPr marL="68580" marR="68580" marT="0" marB="0"/>
                </a:tc>
                <a:tc>
                  <a:txBody>
                    <a:bodyPr/>
                    <a:lstStyle/>
                    <a:p>
                      <a:pPr algn="just">
                        <a:lnSpc>
                          <a:spcPct val="107000"/>
                        </a:lnSpc>
                        <a:spcBef>
                          <a:spcPts val="600"/>
                        </a:spcBef>
                        <a:spcAft>
                          <a:spcPts val="600"/>
                        </a:spcAft>
                      </a:pPr>
                      <a:r>
                        <a:rPr lang="en-IN" sz="1200">
                          <a:effectLst/>
                          <a:latin typeface="Times New Roman" panose="02020603050405020304" pitchFamily="18" charset="0"/>
                          <a:ea typeface="Calibri"/>
                          <a:cs typeface="Times New Roman" panose="02020603050405020304" pitchFamily="18" charset="0"/>
                        </a:rPr>
                        <a:t>Image Classification</a:t>
                      </a:r>
                    </a:p>
                  </a:txBody>
                  <a:tcPr marL="68580" marR="68580" marT="0" marB="0"/>
                </a:tc>
                <a:extLst>
                  <a:ext uri="{0D108BD9-81ED-4DB2-BD59-A6C34878D82A}">
                    <a16:rowId xmlns:a16="http://schemas.microsoft.com/office/drawing/2014/main" val="10001"/>
                  </a:ext>
                </a:extLst>
              </a:tr>
              <a:tr h="759363">
                <a:tc>
                  <a:txBody>
                    <a:bodyPr/>
                    <a:lstStyle/>
                    <a:p>
                      <a:pPr marL="0" lvl="0" indent="0" algn="just">
                        <a:lnSpc>
                          <a:spcPct val="107000"/>
                        </a:lnSpc>
                        <a:spcBef>
                          <a:spcPts val="600"/>
                        </a:spcBef>
                        <a:spcAft>
                          <a:spcPts val="600"/>
                        </a:spcAft>
                        <a:buFont typeface="+mj-lt"/>
                        <a:buNone/>
                      </a:pPr>
                      <a:r>
                        <a:rPr lang="en-IN" sz="1200" dirty="0">
                          <a:effectLst/>
                          <a:latin typeface="Times New Roman" panose="02020603050405020304" pitchFamily="18" charset="0"/>
                          <a:cs typeface="Times New Roman" panose="02020603050405020304" pitchFamily="18" charset="0"/>
                        </a:rPr>
                        <a:t>[9] </a:t>
                      </a:r>
                      <a:endParaRPr lang="en-IN" sz="1200" dirty="0">
                        <a:effectLst/>
                        <a:latin typeface="Times New Roman" panose="02020603050405020304" pitchFamily="18" charset="0"/>
                        <a:ea typeface="Calibri"/>
                        <a:cs typeface="Times New Roman" panose="02020603050405020304" pitchFamily="18" charset="0"/>
                      </a:endParaRPr>
                    </a:p>
                  </a:txBody>
                  <a:tcPr marL="62345" marR="62345" marT="0" marB="0"/>
                </a:tc>
                <a:tc>
                  <a:txBody>
                    <a:bodyPr/>
                    <a:lstStyle/>
                    <a:p>
                      <a:pPr algn="just">
                        <a:lnSpc>
                          <a:spcPct val="107000"/>
                        </a:lnSpc>
                        <a:spcBef>
                          <a:spcPts val="600"/>
                        </a:spcBef>
                        <a:spcAft>
                          <a:spcPts val="600"/>
                        </a:spcAft>
                      </a:pPr>
                      <a:r>
                        <a:rPr lang="en-IN" sz="1200">
                          <a:effectLst/>
                          <a:latin typeface="Times New Roman" panose="02020603050405020304" pitchFamily="18" charset="0"/>
                          <a:ea typeface="Calibri"/>
                          <a:cs typeface="Times New Roman" panose="02020603050405020304" pitchFamily="18" charset="0"/>
                        </a:rPr>
                        <a:t>RNN</a:t>
                      </a:r>
                    </a:p>
                  </a:txBody>
                  <a:tcPr marL="68580" marR="68580" marT="0" marB="0"/>
                </a:tc>
                <a:tc>
                  <a:txBody>
                    <a:bodyPr/>
                    <a:lstStyle/>
                    <a:p>
                      <a:pPr algn="just">
                        <a:lnSpc>
                          <a:spcPct val="107000"/>
                        </a:lnSpc>
                        <a:spcBef>
                          <a:spcPts val="600"/>
                        </a:spcBef>
                        <a:spcAft>
                          <a:spcPts val="600"/>
                        </a:spcAft>
                      </a:pPr>
                      <a:r>
                        <a:rPr lang="en-IN" sz="1200" dirty="0">
                          <a:effectLst/>
                          <a:latin typeface="Times New Roman" panose="02020603050405020304" pitchFamily="18" charset="0"/>
                          <a:ea typeface="Calibri"/>
                          <a:cs typeface="Times New Roman" panose="02020603050405020304" pitchFamily="18" charset="0"/>
                        </a:rPr>
                        <a:t>Activation function, Net input function, Learning Methods, Model of neuron, Number of neurons in output layer.</a:t>
                      </a:r>
                    </a:p>
                  </a:txBody>
                  <a:tcPr marL="68580" marR="68580" marT="0" marB="0"/>
                </a:tc>
                <a:tc>
                  <a:txBody>
                    <a:bodyPr/>
                    <a:lstStyle/>
                    <a:p>
                      <a:pPr>
                        <a:lnSpc>
                          <a:spcPct val="107000"/>
                        </a:lnSpc>
                        <a:spcBef>
                          <a:spcPts val="600"/>
                        </a:spcBef>
                        <a:spcAft>
                          <a:spcPts val="600"/>
                        </a:spcAft>
                      </a:pPr>
                      <a:r>
                        <a:rPr lang="en-IN" sz="1200" dirty="0">
                          <a:effectLst/>
                          <a:latin typeface="Times New Roman" panose="02020603050405020304" pitchFamily="18" charset="0"/>
                          <a:ea typeface="Calibri"/>
                          <a:cs typeface="Times New Roman" panose="02020603050405020304" pitchFamily="18" charset="0"/>
                        </a:rPr>
                        <a:t>Genetic Algorithm (GA) + Gradient Descent Method</a:t>
                      </a:r>
                    </a:p>
                  </a:txBody>
                  <a:tcPr marL="68580" marR="68580" marT="0" marB="0"/>
                </a:tc>
                <a:tc>
                  <a:txBody>
                    <a:bodyPr/>
                    <a:lstStyle/>
                    <a:p>
                      <a:pPr algn="just">
                        <a:lnSpc>
                          <a:spcPct val="107000"/>
                        </a:lnSpc>
                        <a:spcBef>
                          <a:spcPts val="600"/>
                        </a:spcBef>
                        <a:spcAft>
                          <a:spcPts val="600"/>
                        </a:spcAft>
                      </a:pPr>
                      <a:r>
                        <a:rPr lang="en-IN" sz="1200">
                          <a:effectLst/>
                          <a:latin typeface="Times New Roman" panose="02020603050405020304" pitchFamily="18" charset="0"/>
                          <a:ea typeface="Calibri"/>
                          <a:cs typeface="Times New Roman" panose="02020603050405020304" pitchFamily="18" charset="0"/>
                        </a:rPr>
                        <a:t>Fixed-length real encoding</a:t>
                      </a:r>
                    </a:p>
                  </a:txBody>
                  <a:tcPr marL="68580" marR="68580" marT="0" marB="0"/>
                </a:tc>
                <a:tc>
                  <a:txBody>
                    <a:bodyPr/>
                    <a:lstStyle/>
                    <a:p>
                      <a:pPr>
                        <a:lnSpc>
                          <a:spcPct val="107000"/>
                        </a:lnSpc>
                        <a:spcBef>
                          <a:spcPts val="600"/>
                        </a:spcBef>
                        <a:spcAft>
                          <a:spcPts val="600"/>
                        </a:spcAft>
                      </a:pPr>
                      <a:r>
                        <a:rPr lang="en-IN" sz="1200">
                          <a:effectLst/>
                          <a:latin typeface="Times New Roman" panose="02020603050405020304" pitchFamily="18" charset="0"/>
                          <a:ea typeface="Calibri"/>
                          <a:cs typeface="Times New Roman" panose="02020603050405020304" pitchFamily="18" charset="0"/>
                        </a:rPr>
                        <a:t>Nuclear Reactor</a:t>
                      </a:r>
                    </a:p>
                  </a:txBody>
                  <a:tcPr marL="68580" marR="68580" marT="0" marB="0"/>
                </a:tc>
                <a:extLst>
                  <a:ext uri="{0D108BD9-81ED-4DB2-BD59-A6C34878D82A}">
                    <a16:rowId xmlns:a16="http://schemas.microsoft.com/office/drawing/2014/main" val="10002"/>
                  </a:ext>
                </a:extLst>
              </a:tr>
              <a:tr h="759363">
                <a:tc>
                  <a:txBody>
                    <a:bodyPr/>
                    <a:lstStyle/>
                    <a:p>
                      <a:pPr marL="0" lvl="0" indent="0" algn="just">
                        <a:lnSpc>
                          <a:spcPct val="107000"/>
                        </a:lnSpc>
                        <a:spcBef>
                          <a:spcPts val="600"/>
                        </a:spcBef>
                        <a:spcAft>
                          <a:spcPts val="600"/>
                        </a:spcAft>
                        <a:buFont typeface="+mj-lt"/>
                        <a:buNone/>
                      </a:pPr>
                      <a:r>
                        <a:rPr lang="en-IN" sz="1200" dirty="0">
                          <a:effectLst/>
                          <a:latin typeface="Times New Roman" panose="02020603050405020304" pitchFamily="18" charset="0"/>
                          <a:cs typeface="Times New Roman" panose="02020603050405020304" pitchFamily="18" charset="0"/>
                        </a:rPr>
                        <a:t>[10] </a:t>
                      </a:r>
                      <a:endParaRPr lang="en-IN" sz="1200" dirty="0">
                        <a:effectLst/>
                        <a:latin typeface="Times New Roman" panose="02020603050405020304" pitchFamily="18" charset="0"/>
                        <a:ea typeface="Calibri"/>
                        <a:cs typeface="Times New Roman" panose="02020603050405020304" pitchFamily="18" charset="0"/>
                      </a:endParaRPr>
                    </a:p>
                  </a:txBody>
                  <a:tcPr marL="62345" marR="62345" marT="0" marB="0"/>
                </a:tc>
                <a:tc>
                  <a:txBody>
                    <a:bodyPr/>
                    <a:lstStyle/>
                    <a:p>
                      <a:pPr algn="just">
                        <a:lnSpc>
                          <a:spcPct val="107000"/>
                        </a:lnSpc>
                        <a:spcBef>
                          <a:spcPts val="600"/>
                        </a:spcBef>
                        <a:spcAft>
                          <a:spcPts val="600"/>
                        </a:spcAft>
                      </a:pPr>
                      <a:r>
                        <a:rPr lang="en-IN" sz="1200">
                          <a:effectLst/>
                          <a:latin typeface="Times New Roman" panose="02020603050405020304" pitchFamily="18" charset="0"/>
                          <a:ea typeface="Calibri"/>
                          <a:cs typeface="Times New Roman" panose="02020603050405020304" pitchFamily="18" charset="0"/>
                        </a:rPr>
                        <a:t>CNN</a:t>
                      </a:r>
                    </a:p>
                  </a:txBody>
                  <a:tcPr marL="68580" marR="68580" marT="0" marB="0"/>
                </a:tc>
                <a:tc>
                  <a:txBody>
                    <a:bodyPr/>
                    <a:lstStyle/>
                    <a:p>
                      <a:pPr algn="just">
                        <a:lnSpc>
                          <a:spcPct val="107000"/>
                        </a:lnSpc>
                        <a:spcBef>
                          <a:spcPts val="600"/>
                        </a:spcBef>
                        <a:spcAft>
                          <a:spcPts val="600"/>
                        </a:spcAft>
                      </a:pPr>
                      <a:r>
                        <a:rPr lang="en-IN" sz="1200" dirty="0">
                          <a:effectLst/>
                          <a:latin typeface="Times New Roman" panose="02020603050405020304" pitchFamily="18" charset="0"/>
                          <a:ea typeface="Calibri"/>
                          <a:cs typeface="Times New Roman" panose="02020603050405020304" pitchFamily="18" charset="0"/>
                        </a:rPr>
                        <a:t>Batch size, number of epochs, optimizer type, momentum rate, learning rate, dropout rate, activation function type, Number of convolutional layers, Number of filters, Convolution filter size, </a:t>
                      </a:r>
                      <a:r>
                        <a:rPr lang="en-IN" sz="1200" dirty="0" err="1">
                          <a:effectLst/>
                          <a:latin typeface="Times New Roman" panose="02020603050405020304" pitchFamily="18" charset="0"/>
                          <a:ea typeface="Calibri"/>
                          <a:cs typeface="Times New Roman" panose="02020603050405020304" pitchFamily="18" charset="0"/>
                        </a:rPr>
                        <a:t>maxpooling</a:t>
                      </a:r>
                      <a:r>
                        <a:rPr lang="en-IN" sz="1200" dirty="0">
                          <a:effectLst/>
                          <a:latin typeface="Times New Roman" panose="02020603050405020304" pitchFamily="18" charset="0"/>
                          <a:ea typeface="Calibri"/>
                          <a:cs typeface="Times New Roman" panose="02020603050405020304" pitchFamily="18" charset="0"/>
                        </a:rPr>
                        <a:t> size.</a:t>
                      </a:r>
                    </a:p>
                  </a:txBody>
                  <a:tcPr marL="68580" marR="68580" marT="0" marB="0"/>
                </a:tc>
                <a:tc>
                  <a:txBody>
                    <a:bodyPr/>
                    <a:lstStyle/>
                    <a:p>
                      <a:pPr>
                        <a:lnSpc>
                          <a:spcPct val="107000"/>
                        </a:lnSpc>
                        <a:spcBef>
                          <a:spcPts val="600"/>
                        </a:spcBef>
                        <a:spcAft>
                          <a:spcPts val="600"/>
                        </a:spcAft>
                      </a:pPr>
                      <a:r>
                        <a:rPr lang="en-IN" sz="1200" dirty="0">
                          <a:effectLst/>
                          <a:latin typeface="Times New Roman" panose="02020603050405020304" pitchFamily="18" charset="0"/>
                          <a:ea typeface="Calibri"/>
                          <a:cs typeface="Times New Roman" panose="02020603050405020304" pitchFamily="18" charset="0"/>
                        </a:rPr>
                        <a:t>Cat Swarm Optimization (CSO)</a:t>
                      </a:r>
                    </a:p>
                  </a:txBody>
                  <a:tcPr marL="68580" marR="68580" marT="0" marB="0"/>
                </a:tc>
                <a:tc>
                  <a:txBody>
                    <a:bodyPr/>
                    <a:lstStyle/>
                    <a:p>
                      <a:pPr algn="just">
                        <a:lnSpc>
                          <a:spcPct val="107000"/>
                        </a:lnSpc>
                        <a:spcBef>
                          <a:spcPts val="600"/>
                        </a:spcBef>
                        <a:spcAft>
                          <a:spcPts val="600"/>
                        </a:spcAft>
                      </a:pPr>
                      <a:r>
                        <a:rPr lang="en-IN" sz="1200">
                          <a:effectLst/>
                          <a:latin typeface="Times New Roman" panose="02020603050405020304" pitchFamily="18" charset="0"/>
                          <a:ea typeface="Calibri"/>
                          <a:cs typeface="Times New Roman" panose="02020603050405020304" pitchFamily="18" charset="0"/>
                        </a:rPr>
                        <a:t>Variable-length real encoding</a:t>
                      </a:r>
                    </a:p>
                  </a:txBody>
                  <a:tcPr marL="68580" marR="68580" marT="0" marB="0"/>
                </a:tc>
                <a:tc>
                  <a:txBody>
                    <a:bodyPr/>
                    <a:lstStyle/>
                    <a:p>
                      <a:pPr algn="just">
                        <a:lnSpc>
                          <a:spcPct val="107000"/>
                        </a:lnSpc>
                        <a:spcBef>
                          <a:spcPts val="600"/>
                        </a:spcBef>
                        <a:spcAft>
                          <a:spcPts val="600"/>
                        </a:spcAft>
                      </a:pPr>
                      <a:r>
                        <a:rPr lang="en-IN" sz="1200">
                          <a:effectLst/>
                          <a:latin typeface="Times New Roman" panose="02020603050405020304" pitchFamily="18" charset="0"/>
                          <a:ea typeface="Calibri"/>
                          <a:cs typeface="Times New Roman" panose="02020603050405020304" pitchFamily="18" charset="0"/>
                        </a:rPr>
                        <a:t>Image Classification</a:t>
                      </a:r>
                    </a:p>
                  </a:txBody>
                  <a:tcPr marL="68580" marR="68580" marT="0" marB="0"/>
                </a:tc>
                <a:extLst>
                  <a:ext uri="{0D108BD9-81ED-4DB2-BD59-A6C34878D82A}">
                    <a16:rowId xmlns:a16="http://schemas.microsoft.com/office/drawing/2014/main" val="10003"/>
                  </a:ext>
                </a:extLst>
              </a:tr>
              <a:tr h="416791">
                <a:tc>
                  <a:txBody>
                    <a:bodyPr/>
                    <a:lstStyle/>
                    <a:p>
                      <a:pPr marL="0" lvl="0" indent="0" algn="just">
                        <a:lnSpc>
                          <a:spcPct val="107000"/>
                        </a:lnSpc>
                        <a:spcBef>
                          <a:spcPts val="600"/>
                        </a:spcBef>
                        <a:spcAft>
                          <a:spcPts val="600"/>
                        </a:spcAft>
                        <a:buFont typeface="+mj-lt"/>
                        <a:buNone/>
                      </a:pPr>
                      <a:r>
                        <a:rPr lang="en-IN" sz="1200" dirty="0">
                          <a:effectLst/>
                          <a:latin typeface="Times New Roman" panose="02020603050405020304" pitchFamily="18" charset="0"/>
                          <a:cs typeface="Times New Roman" panose="02020603050405020304" pitchFamily="18" charset="0"/>
                        </a:rPr>
                        <a:t>[11] </a:t>
                      </a:r>
                      <a:endParaRPr lang="en-IN" sz="1200" dirty="0">
                        <a:effectLst/>
                        <a:latin typeface="Times New Roman" panose="02020603050405020304" pitchFamily="18" charset="0"/>
                        <a:ea typeface="Calibri"/>
                        <a:cs typeface="Times New Roman" panose="02020603050405020304" pitchFamily="18" charset="0"/>
                      </a:endParaRPr>
                    </a:p>
                  </a:txBody>
                  <a:tcPr marL="62345" marR="62345" marT="0" marB="0"/>
                </a:tc>
                <a:tc>
                  <a:txBody>
                    <a:bodyPr/>
                    <a:lstStyle/>
                    <a:p>
                      <a:pPr algn="just">
                        <a:lnSpc>
                          <a:spcPct val="107000"/>
                        </a:lnSpc>
                        <a:spcBef>
                          <a:spcPts val="600"/>
                        </a:spcBef>
                        <a:spcAft>
                          <a:spcPts val="600"/>
                        </a:spcAft>
                      </a:pPr>
                      <a:r>
                        <a:rPr lang="en-IN" sz="1200">
                          <a:effectLst/>
                          <a:latin typeface="Times New Roman" panose="02020603050405020304" pitchFamily="18" charset="0"/>
                          <a:ea typeface="Calibri"/>
                          <a:cs typeface="Times New Roman" panose="02020603050405020304" pitchFamily="18" charset="0"/>
                        </a:rPr>
                        <a:t>CNN</a:t>
                      </a:r>
                    </a:p>
                  </a:txBody>
                  <a:tcPr marL="68580" marR="68580" marT="0" marB="0"/>
                </a:tc>
                <a:tc>
                  <a:txBody>
                    <a:bodyPr/>
                    <a:lstStyle/>
                    <a:p>
                      <a:pPr algn="just">
                        <a:lnSpc>
                          <a:spcPct val="107000"/>
                        </a:lnSpc>
                        <a:spcBef>
                          <a:spcPts val="600"/>
                        </a:spcBef>
                        <a:spcAft>
                          <a:spcPts val="600"/>
                        </a:spcAft>
                      </a:pPr>
                      <a:r>
                        <a:rPr lang="en-IN" sz="1200" dirty="0">
                          <a:effectLst/>
                          <a:latin typeface="Times New Roman" panose="02020603050405020304" pitchFamily="18" charset="0"/>
                          <a:ea typeface="Calibri"/>
                          <a:cs typeface="Times New Roman" panose="02020603050405020304" pitchFamily="18" charset="0"/>
                        </a:rPr>
                        <a:t>Number of neurons in each convolutional layer, Number of convolutional layers.</a:t>
                      </a:r>
                    </a:p>
                  </a:txBody>
                  <a:tcPr marL="68580" marR="68580" marT="0" marB="0"/>
                </a:tc>
                <a:tc>
                  <a:txBody>
                    <a:bodyPr/>
                    <a:lstStyle/>
                    <a:p>
                      <a:pPr algn="just">
                        <a:lnSpc>
                          <a:spcPct val="107000"/>
                        </a:lnSpc>
                        <a:spcBef>
                          <a:spcPts val="600"/>
                        </a:spcBef>
                        <a:spcAft>
                          <a:spcPts val="600"/>
                        </a:spcAft>
                      </a:pPr>
                      <a:r>
                        <a:rPr lang="en-IN" sz="1200">
                          <a:effectLst/>
                          <a:latin typeface="Times New Roman" panose="02020603050405020304" pitchFamily="18" charset="0"/>
                          <a:ea typeface="Calibri"/>
                          <a:cs typeface="Times New Roman" panose="02020603050405020304" pitchFamily="18" charset="0"/>
                        </a:rPr>
                        <a:t>PSO</a:t>
                      </a:r>
                    </a:p>
                  </a:txBody>
                  <a:tcPr marL="68580" marR="68580" marT="0" marB="0"/>
                </a:tc>
                <a:tc>
                  <a:txBody>
                    <a:bodyPr/>
                    <a:lstStyle/>
                    <a:p>
                      <a:pPr algn="just">
                        <a:lnSpc>
                          <a:spcPct val="107000"/>
                        </a:lnSpc>
                        <a:spcBef>
                          <a:spcPts val="600"/>
                        </a:spcBef>
                        <a:spcAft>
                          <a:spcPts val="600"/>
                        </a:spcAft>
                      </a:pPr>
                      <a:r>
                        <a:rPr lang="en-IN" sz="1200">
                          <a:effectLst/>
                          <a:latin typeface="Times New Roman" panose="02020603050405020304" pitchFamily="18" charset="0"/>
                          <a:ea typeface="Calibri"/>
                          <a:cs typeface="Times New Roman" panose="02020603050405020304" pitchFamily="18" charset="0"/>
                        </a:rPr>
                        <a:t>Fixed-length binary encoding</a:t>
                      </a:r>
                    </a:p>
                  </a:txBody>
                  <a:tcPr marL="68580" marR="68580" marT="0" marB="0"/>
                </a:tc>
                <a:tc>
                  <a:txBody>
                    <a:bodyPr/>
                    <a:lstStyle/>
                    <a:p>
                      <a:pPr algn="just">
                        <a:lnSpc>
                          <a:spcPct val="107000"/>
                        </a:lnSpc>
                        <a:spcBef>
                          <a:spcPts val="600"/>
                        </a:spcBef>
                        <a:spcAft>
                          <a:spcPts val="600"/>
                        </a:spcAft>
                      </a:pPr>
                      <a:r>
                        <a:rPr lang="en-IN" sz="1200" dirty="0">
                          <a:effectLst/>
                          <a:latin typeface="Times New Roman" panose="02020603050405020304" pitchFamily="18" charset="0"/>
                          <a:ea typeface="Calibri"/>
                          <a:cs typeface="Times New Roman" panose="02020603050405020304" pitchFamily="18" charset="0"/>
                        </a:rPr>
                        <a:t>Image Classification</a:t>
                      </a:r>
                    </a:p>
                  </a:txBody>
                  <a:tcPr marL="68580" marR="68580" marT="0" marB="0"/>
                </a:tc>
                <a:extLst>
                  <a:ext uri="{0D108BD9-81ED-4DB2-BD59-A6C34878D82A}">
                    <a16:rowId xmlns:a16="http://schemas.microsoft.com/office/drawing/2014/main" val="10004"/>
                  </a:ext>
                </a:extLst>
              </a:tr>
              <a:tr h="759363">
                <a:tc>
                  <a:txBody>
                    <a:bodyPr/>
                    <a:lstStyle/>
                    <a:p>
                      <a:pPr marL="0" lvl="0" indent="0" algn="just">
                        <a:lnSpc>
                          <a:spcPct val="107000"/>
                        </a:lnSpc>
                        <a:spcBef>
                          <a:spcPts val="600"/>
                        </a:spcBef>
                        <a:spcAft>
                          <a:spcPts val="600"/>
                        </a:spcAft>
                        <a:buFont typeface="+mj-lt"/>
                        <a:buNone/>
                      </a:pPr>
                      <a:r>
                        <a:rPr lang="en-IN" sz="1200" dirty="0">
                          <a:effectLst/>
                          <a:latin typeface="Times New Roman" panose="02020603050405020304" pitchFamily="18" charset="0"/>
                          <a:cs typeface="Times New Roman" panose="02020603050405020304" pitchFamily="18" charset="0"/>
                        </a:rPr>
                        <a:t>[12] </a:t>
                      </a:r>
                      <a:endParaRPr lang="en-IN" sz="1200" dirty="0">
                        <a:effectLst/>
                        <a:latin typeface="Times New Roman" panose="02020603050405020304" pitchFamily="18" charset="0"/>
                        <a:ea typeface="Calibri"/>
                        <a:cs typeface="Times New Roman" panose="02020603050405020304" pitchFamily="18" charset="0"/>
                      </a:endParaRPr>
                    </a:p>
                  </a:txBody>
                  <a:tcPr marL="62345" marR="62345" marT="0" marB="0"/>
                </a:tc>
                <a:tc>
                  <a:txBody>
                    <a:bodyPr/>
                    <a:lstStyle/>
                    <a:p>
                      <a:pPr algn="just">
                        <a:lnSpc>
                          <a:spcPct val="107000"/>
                        </a:lnSpc>
                        <a:spcBef>
                          <a:spcPts val="600"/>
                        </a:spcBef>
                        <a:spcAft>
                          <a:spcPts val="600"/>
                        </a:spcAft>
                      </a:pPr>
                      <a:r>
                        <a:rPr lang="en-IN" sz="1200">
                          <a:effectLst/>
                          <a:latin typeface="Times New Roman" panose="02020603050405020304" pitchFamily="18" charset="0"/>
                          <a:ea typeface="Calibri"/>
                          <a:cs typeface="Times New Roman" panose="02020603050405020304" pitchFamily="18" charset="0"/>
                        </a:rPr>
                        <a:t>CNN</a:t>
                      </a:r>
                    </a:p>
                  </a:txBody>
                  <a:tcPr marL="68580" marR="68580" marT="0" marB="0"/>
                </a:tc>
                <a:tc>
                  <a:txBody>
                    <a:bodyPr/>
                    <a:lstStyle/>
                    <a:p>
                      <a:pPr algn="just">
                        <a:lnSpc>
                          <a:spcPct val="107000"/>
                        </a:lnSpc>
                        <a:spcBef>
                          <a:spcPts val="600"/>
                        </a:spcBef>
                        <a:spcAft>
                          <a:spcPts val="600"/>
                        </a:spcAft>
                      </a:pPr>
                      <a:r>
                        <a:rPr lang="en-IN" sz="1200" dirty="0">
                          <a:effectLst/>
                          <a:latin typeface="Times New Roman" panose="02020603050405020304" pitchFamily="18" charset="0"/>
                          <a:ea typeface="Calibri"/>
                          <a:cs typeface="Times New Roman" panose="02020603050405020304" pitchFamily="18" charset="0"/>
                        </a:rPr>
                        <a:t>Number of neurons in an Fully Connected layer, Pool type, Pool stride size, Pool kernel size, Convolution kernel size, Convolutional stride size, Length of CNN, number of feature maps.</a:t>
                      </a:r>
                    </a:p>
                  </a:txBody>
                  <a:tcPr marL="68580" marR="68580" marT="0" marB="0"/>
                </a:tc>
                <a:tc>
                  <a:txBody>
                    <a:bodyPr/>
                    <a:lstStyle/>
                    <a:p>
                      <a:pPr>
                        <a:lnSpc>
                          <a:spcPct val="107000"/>
                        </a:lnSpc>
                        <a:spcBef>
                          <a:spcPts val="600"/>
                        </a:spcBef>
                        <a:spcAft>
                          <a:spcPts val="600"/>
                        </a:spcAft>
                      </a:pPr>
                      <a:r>
                        <a:rPr lang="en-IN" sz="1200" dirty="0">
                          <a:effectLst/>
                          <a:latin typeface="Times New Roman" panose="02020603050405020304" pitchFamily="18" charset="0"/>
                          <a:ea typeface="Calibri"/>
                          <a:cs typeface="Times New Roman" panose="02020603050405020304" pitchFamily="18" charset="0"/>
                        </a:rPr>
                        <a:t>Differential Evolution (DE)</a:t>
                      </a:r>
                    </a:p>
                  </a:txBody>
                  <a:tcPr marL="68580" marR="68580" marT="0" marB="0"/>
                </a:tc>
                <a:tc>
                  <a:txBody>
                    <a:bodyPr/>
                    <a:lstStyle/>
                    <a:p>
                      <a:pPr algn="just">
                        <a:lnSpc>
                          <a:spcPct val="107000"/>
                        </a:lnSpc>
                        <a:spcBef>
                          <a:spcPts val="600"/>
                        </a:spcBef>
                        <a:spcAft>
                          <a:spcPts val="600"/>
                        </a:spcAft>
                      </a:pPr>
                      <a:r>
                        <a:rPr lang="en-IN" sz="1200">
                          <a:effectLst/>
                          <a:latin typeface="Times New Roman" panose="02020603050405020304" pitchFamily="18" charset="0"/>
                          <a:ea typeface="Calibri"/>
                          <a:cs typeface="Times New Roman" panose="02020603050405020304" pitchFamily="18" charset="0"/>
                        </a:rPr>
                        <a:t>Variable-length real encoding</a:t>
                      </a:r>
                    </a:p>
                  </a:txBody>
                  <a:tcPr marL="68580" marR="68580" marT="0" marB="0"/>
                </a:tc>
                <a:tc>
                  <a:txBody>
                    <a:bodyPr/>
                    <a:lstStyle/>
                    <a:p>
                      <a:pPr algn="just">
                        <a:lnSpc>
                          <a:spcPct val="107000"/>
                        </a:lnSpc>
                        <a:spcBef>
                          <a:spcPts val="600"/>
                        </a:spcBef>
                        <a:spcAft>
                          <a:spcPts val="600"/>
                        </a:spcAft>
                      </a:pPr>
                      <a:r>
                        <a:rPr lang="en-IN" sz="1200">
                          <a:effectLst/>
                          <a:latin typeface="Times New Roman" panose="02020603050405020304" pitchFamily="18" charset="0"/>
                          <a:ea typeface="Calibri"/>
                          <a:cs typeface="Times New Roman" panose="02020603050405020304" pitchFamily="18" charset="0"/>
                        </a:rPr>
                        <a:t>Image Classification</a:t>
                      </a:r>
                    </a:p>
                  </a:txBody>
                  <a:tcPr marL="68580" marR="68580" marT="0" marB="0"/>
                </a:tc>
                <a:extLst>
                  <a:ext uri="{0D108BD9-81ED-4DB2-BD59-A6C34878D82A}">
                    <a16:rowId xmlns:a16="http://schemas.microsoft.com/office/drawing/2014/main" val="10005"/>
                  </a:ext>
                </a:extLst>
              </a:tr>
              <a:tr h="1145561">
                <a:tc>
                  <a:txBody>
                    <a:bodyPr/>
                    <a:lstStyle/>
                    <a:p>
                      <a:pPr marL="0" lvl="0" indent="0" algn="just">
                        <a:lnSpc>
                          <a:spcPct val="107000"/>
                        </a:lnSpc>
                        <a:spcBef>
                          <a:spcPts val="600"/>
                        </a:spcBef>
                        <a:spcAft>
                          <a:spcPts val="600"/>
                        </a:spcAft>
                        <a:buFont typeface="+mj-lt"/>
                        <a:buNone/>
                      </a:pPr>
                      <a:r>
                        <a:rPr lang="en-IN" sz="1200" dirty="0">
                          <a:effectLst/>
                          <a:latin typeface="Times New Roman" panose="02020603050405020304" pitchFamily="18" charset="0"/>
                          <a:cs typeface="Times New Roman" panose="02020603050405020304" pitchFamily="18" charset="0"/>
                        </a:rPr>
                        <a:t>[13] </a:t>
                      </a:r>
                      <a:endParaRPr lang="en-IN" sz="1200" dirty="0">
                        <a:effectLst/>
                        <a:latin typeface="Times New Roman" panose="02020603050405020304" pitchFamily="18" charset="0"/>
                        <a:ea typeface="Calibri"/>
                        <a:cs typeface="Times New Roman" panose="02020603050405020304" pitchFamily="18" charset="0"/>
                      </a:endParaRPr>
                    </a:p>
                  </a:txBody>
                  <a:tcPr marL="62345" marR="62345" marT="0" marB="0"/>
                </a:tc>
                <a:tc>
                  <a:txBody>
                    <a:bodyPr/>
                    <a:lstStyle/>
                    <a:p>
                      <a:pPr algn="just">
                        <a:lnSpc>
                          <a:spcPct val="107000"/>
                        </a:lnSpc>
                        <a:spcBef>
                          <a:spcPts val="600"/>
                        </a:spcBef>
                        <a:spcAft>
                          <a:spcPts val="600"/>
                        </a:spcAft>
                      </a:pPr>
                      <a:r>
                        <a:rPr lang="en-IN" sz="1200">
                          <a:effectLst/>
                          <a:latin typeface="Times New Roman" panose="02020603050405020304" pitchFamily="18" charset="0"/>
                          <a:ea typeface="Calibri"/>
                          <a:cs typeface="Times New Roman" panose="02020603050405020304" pitchFamily="18" charset="0"/>
                        </a:rPr>
                        <a:t>CNN</a:t>
                      </a:r>
                    </a:p>
                  </a:txBody>
                  <a:tcPr marL="68580" marR="68580" marT="0" marB="0"/>
                </a:tc>
                <a:tc>
                  <a:txBody>
                    <a:bodyPr/>
                    <a:lstStyle/>
                    <a:p>
                      <a:pPr algn="just">
                        <a:lnSpc>
                          <a:spcPct val="107000"/>
                        </a:lnSpc>
                        <a:spcBef>
                          <a:spcPts val="600"/>
                        </a:spcBef>
                        <a:spcAft>
                          <a:spcPts val="600"/>
                        </a:spcAft>
                      </a:pPr>
                      <a:r>
                        <a:rPr lang="en-IN" sz="1200" dirty="0">
                          <a:effectLst/>
                          <a:latin typeface="Times New Roman" panose="02020603050405020304" pitchFamily="18" charset="0"/>
                          <a:ea typeface="Calibri"/>
                          <a:cs typeface="Times New Roman" panose="02020603050405020304" pitchFamily="18" charset="0"/>
                        </a:rPr>
                        <a:t>Number of blocks, Number of nodes, Number of filters, Filter size, Pooling, Dropout, short connection, Batch normalization, Type of layer, Activation function, Dropout, Optimizer, Learning rate, Batch size, Initialization, Number of convolution layers, Activation function.</a:t>
                      </a:r>
                    </a:p>
                  </a:txBody>
                  <a:tcPr marL="68580" marR="68580" marT="0" marB="0"/>
                </a:tc>
                <a:tc>
                  <a:txBody>
                    <a:bodyPr/>
                    <a:lstStyle/>
                    <a:p>
                      <a:pPr algn="just">
                        <a:lnSpc>
                          <a:spcPct val="107000"/>
                        </a:lnSpc>
                        <a:spcAft>
                          <a:spcPts val="0"/>
                        </a:spcAft>
                      </a:pPr>
                      <a:r>
                        <a:rPr lang="en-IN" sz="1200">
                          <a:effectLst/>
                          <a:latin typeface="Times New Roman" panose="02020603050405020304" pitchFamily="18" charset="0"/>
                          <a:ea typeface="Calibri"/>
                          <a:cs typeface="Times New Roman" panose="02020603050405020304" pitchFamily="18" charset="0"/>
                        </a:rPr>
                        <a:t>GA</a:t>
                      </a:r>
                    </a:p>
                  </a:txBody>
                  <a:tcPr marL="68580" marR="68580" marT="0" marB="0"/>
                </a:tc>
                <a:tc>
                  <a:txBody>
                    <a:bodyPr/>
                    <a:lstStyle/>
                    <a:p>
                      <a:pPr algn="just">
                        <a:lnSpc>
                          <a:spcPct val="107000"/>
                        </a:lnSpc>
                        <a:spcBef>
                          <a:spcPts val="600"/>
                        </a:spcBef>
                        <a:spcAft>
                          <a:spcPts val="600"/>
                        </a:spcAft>
                      </a:pPr>
                      <a:r>
                        <a:rPr lang="en-IN" sz="1200">
                          <a:effectLst/>
                          <a:latin typeface="Times New Roman" panose="02020603050405020304" pitchFamily="18" charset="0"/>
                          <a:ea typeface="Calibri"/>
                          <a:cs typeface="Times New Roman" panose="02020603050405020304" pitchFamily="18" charset="0"/>
                        </a:rPr>
                        <a:t>Fixed-length</a:t>
                      </a:r>
                    </a:p>
                    <a:p>
                      <a:pPr algn="just">
                        <a:lnSpc>
                          <a:spcPct val="107000"/>
                        </a:lnSpc>
                        <a:spcBef>
                          <a:spcPts val="600"/>
                        </a:spcBef>
                        <a:spcAft>
                          <a:spcPts val="600"/>
                        </a:spcAft>
                      </a:pPr>
                      <a:r>
                        <a:rPr lang="en-IN" sz="1200">
                          <a:effectLst/>
                          <a:latin typeface="Times New Roman" panose="02020603050405020304" pitchFamily="18" charset="0"/>
                          <a:ea typeface="Calibri"/>
                          <a:cs typeface="Times New Roman" panose="02020603050405020304" pitchFamily="18" charset="0"/>
                        </a:rPr>
                        <a:t>Block-Based encoding</a:t>
                      </a:r>
                    </a:p>
                  </a:txBody>
                  <a:tcPr marL="68580" marR="68580" marT="0" marB="0"/>
                </a:tc>
                <a:tc>
                  <a:txBody>
                    <a:bodyPr/>
                    <a:lstStyle/>
                    <a:p>
                      <a:pPr algn="just">
                        <a:lnSpc>
                          <a:spcPct val="107000"/>
                        </a:lnSpc>
                        <a:spcBef>
                          <a:spcPts val="600"/>
                        </a:spcBef>
                        <a:spcAft>
                          <a:spcPts val="600"/>
                        </a:spcAft>
                      </a:pPr>
                      <a:r>
                        <a:rPr lang="en-IN" sz="1200">
                          <a:effectLst/>
                          <a:latin typeface="Times New Roman" panose="02020603050405020304" pitchFamily="18" charset="0"/>
                          <a:ea typeface="Calibri"/>
                          <a:cs typeface="Times New Roman" panose="02020603050405020304" pitchFamily="18" charset="0"/>
                        </a:rPr>
                        <a:t>Image Classification</a:t>
                      </a:r>
                    </a:p>
                  </a:txBody>
                  <a:tcPr marL="68580" marR="68580" marT="0" marB="0"/>
                </a:tc>
                <a:extLst>
                  <a:ext uri="{0D108BD9-81ED-4DB2-BD59-A6C34878D82A}">
                    <a16:rowId xmlns:a16="http://schemas.microsoft.com/office/drawing/2014/main" val="10006"/>
                  </a:ext>
                </a:extLst>
              </a:tr>
              <a:tr h="759363">
                <a:tc>
                  <a:txBody>
                    <a:bodyPr/>
                    <a:lstStyle/>
                    <a:p>
                      <a:pPr marL="0" lvl="0" indent="0" algn="just">
                        <a:lnSpc>
                          <a:spcPct val="107000"/>
                        </a:lnSpc>
                        <a:spcBef>
                          <a:spcPts val="600"/>
                        </a:spcBef>
                        <a:spcAft>
                          <a:spcPts val="600"/>
                        </a:spcAft>
                        <a:buFont typeface="+mj-lt"/>
                        <a:buNone/>
                      </a:pPr>
                      <a:r>
                        <a:rPr lang="en-IN" sz="1200" dirty="0">
                          <a:effectLst/>
                          <a:latin typeface="Times New Roman" panose="02020603050405020304" pitchFamily="18" charset="0"/>
                          <a:cs typeface="Times New Roman" panose="02020603050405020304" pitchFamily="18" charset="0"/>
                        </a:rPr>
                        <a:t>[14] </a:t>
                      </a:r>
                      <a:endParaRPr lang="en-IN" sz="1200" dirty="0">
                        <a:effectLst/>
                        <a:latin typeface="Times New Roman" panose="02020603050405020304" pitchFamily="18" charset="0"/>
                        <a:ea typeface="Calibri"/>
                        <a:cs typeface="Times New Roman" panose="02020603050405020304" pitchFamily="18" charset="0"/>
                      </a:endParaRPr>
                    </a:p>
                  </a:txBody>
                  <a:tcPr marL="62345" marR="62345" marT="0" marB="0"/>
                </a:tc>
                <a:tc>
                  <a:txBody>
                    <a:bodyPr/>
                    <a:lstStyle/>
                    <a:p>
                      <a:pPr algn="just">
                        <a:lnSpc>
                          <a:spcPct val="107000"/>
                        </a:lnSpc>
                        <a:spcBef>
                          <a:spcPts val="600"/>
                        </a:spcBef>
                        <a:spcAft>
                          <a:spcPts val="600"/>
                        </a:spcAft>
                      </a:pPr>
                      <a:r>
                        <a:rPr lang="en-IN" sz="1200">
                          <a:effectLst/>
                          <a:latin typeface="Times New Roman" panose="02020603050405020304" pitchFamily="18" charset="0"/>
                          <a:ea typeface="Calibri"/>
                          <a:cs typeface="Times New Roman" panose="02020603050405020304" pitchFamily="18" charset="0"/>
                        </a:rPr>
                        <a:t>CNN</a:t>
                      </a:r>
                    </a:p>
                  </a:txBody>
                  <a:tcPr marL="68580" marR="68580" marT="0" marB="0"/>
                </a:tc>
                <a:tc>
                  <a:txBody>
                    <a:bodyPr/>
                    <a:lstStyle/>
                    <a:p>
                      <a:pPr algn="just">
                        <a:lnSpc>
                          <a:spcPct val="107000"/>
                        </a:lnSpc>
                        <a:spcBef>
                          <a:spcPts val="600"/>
                        </a:spcBef>
                        <a:spcAft>
                          <a:spcPts val="600"/>
                        </a:spcAft>
                      </a:pPr>
                      <a:r>
                        <a:rPr lang="en-IN" sz="1200" dirty="0">
                          <a:effectLst/>
                          <a:latin typeface="Times New Roman" panose="02020603050405020304" pitchFamily="18" charset="0"/>
                          <a:ea typeface="Calibri"/>
                          <a:cs typeface="Times New Roman" panose="02020603050405020304" pitchFamily="18" charset="0"/>
                        </a:rPr>
                        <a:t>Dropout rate, Weight initialization method, Activation function, Kernel Initializer, Position of BN, BN Control parameter, No. of Hidden Nodes, No. of convolutional kernel</a:t>
                      </a:r>
                    </a:p>
                  </a:txBody>
                  <a:tcPr marL="68580" marR="68580" marT="0" marB="0"/>
                </a:tc>
                <a:tc>
                  <a:txBody>
                    <a:bodyPr/>
                    <a:lstStyle/>
                    <a:p>
                      <a:pPr algn="just">
                        <a:lnSpc>
                          <a:spcPct val="107000"/>
                        </a:lnSpc>
                        <a:spcBef>
                          <a:spcPts val="600"/>
                        </a:spcBef>
                        <a:spcAft>
                          <a:spcPts val="600"/>
                        </a:spcAft>
                      </a:pPr>
                      <a:r>
                        <a:rPr lang="en-IN" sz="1200">
                          <a:effectLst/>
                          <a:latin typeface="Times New Roman" panose="02020603050405020304" pitchFamily="18" charset="0"/>
                          <a:ea typeface="Calibri"/>
                          <a:cs typeface="Times New Roman" panose="02020603050405020304" pitchFamily="18" charset="0"/>
                        </a:rPr>
                        <a:t>GA</a:t>
                      </a:r>
                    </a:p>
                  </a:txBody>
                  <a:tcPr marL="68580" marR="68580" marT="0" marB="0"/>
                </a:tc>
                <a:tc>
                  <a:txBody>
                    <a:bodyPr/>
                    <a:lstStyle/>
                    <a:p>
                      <a:pPr algn="just">
                        <a:lnSpc>
                          <a:spcPct val="107000"/>
                        </a:lnSpc>
                        <a:spcBef>
                          <a:spcPts val="600"/>
                        </a:spcBef>
                        <a:spcAft>
                          <a:spcPts val="600"/>
                        </a:spcAft>
                      </a:pPr>
                      <a:r>
                        <a:rPr lang="en-IN" sz="1200">
                          <a:effectLst/>
                          <a:latin typeface="Times New Roman" panose="02020603050405020304" pitchFamily="18" charset="0"/>
                          <a:ea typeface="Calibri"/>
                          <a:cs typeface="Times New Roman" panose="02020603050405020304" pitchFamily="18" charset="0"/>
                        </a:rPr>
                        <a:t>Variable-length Block-Based encoding</a:t>
                      </a:r>
                    </a:p>
                  </a:txBody>
                  <a:tcPr marL="68580" marR="68580" marT="0" marB="0"/>
                </a:tc>
                <a:tc>
                  <a:txBody>
                    <a:bodyPr/>
                    <a:lstStyle/>
                    <a:p>
                      <a:pPr algn="just">
                        <a:lnSpc>
                          <a:spcPct val="107000"/>
                        </a:lnSpc>
                        <a:spcBef>
                          <a:spcPts val="600"/>
                        </a:spcBef>
                        <a:spcAft>
                          <a:spcPts val="600"/>
                        </a:spcAft>
                      </a:pPr>
                      <a:r>
                        <a:rPr lang="en-IN" sz="1200" dirty="0">
                          <a:effectLst/>
                          <a:latin typeface="Times New Roman" panose="02020603050405020304" pitchFamily="18" charset="0"/>
                          <a:ea typeface="Calibri"/>
                          <a:cs typeface="Times New Roman" panose="02020603050405020304" pitchFamily="18" charset="0"/>
                        </a:rPr>
                        <a:t>Image Classification</a:t>
                      </a:r>
                    </a:p>
                  </a:txBody>
                  <a:tcPr marL="68580" marR="68580" marT="0" marB="0"/>
                </a:tc>
                <a:extLst>
                  <a:ext uri="{0D108BD9-81ED-4DB2-BD59-A6C34878D82A}">
                    <a16:rowId xmlns:a16="http://schemas.microsoft.com/office/drawing/2014/main" val="10007"/>
                  </a:ext>
                </a:extLst>
              </a:tr>
            </a:tbl>
          </a:graphicData>
        </a:graphic>
      </p:graphicFrame>
    </p:spTree>
    <p:extLst>
      <p:ext uri="{BB962C8B-B14F-4D97-AF65-F5344CB8AC3E}">
        <p14:creationId xmlns:p14="http://schemas.microsoft.com/office/powerpoint/2010/main" val="1514721965"/>
      </p:ext>
    </p:extLst>
  </p:cSld>
  <p:clrMapOvr>
    <a:masterClrMapping/>
  </p:clrMapOvr>
</p:sld>
</file>

<file path=ppt/slides/slide8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sz="2400" b="1" cap="small" dirty="0"/>
              <a:t>Swarm and Evolutionary Algorithm Optimized DL Models</a:t>
            </a:r>
          </a:p>
        </p:txBody>
      </p:sp>
      <p:sp>
        <p:nvSpPr>
          <p:cNvPr id="3" name="Content Placeholder 2"/>
          <p:cNvSpPr>
            <a:spLocks noGrp="1"/>
          </p:cNvSpPr>
          <p:nvPr>
            <p:ph idx="1"/>
          </p:nvPr>
        </p:nvSpPr>
        <p:spPr/>
        <p:txBody>
          <a:bodyPr>
            <a:normAutofit/>
          </a:bodyPr>
          <a:lstStyle/>
          <a:p>
            <a:pPr marL="95250" lvl="2" indent="0" algn="just">
              <a:buNone/>
            </a:pPr>
            <a:endParaRPr lang="en-US" b="1" dirty="0"/>
          </a:p>
          <a:p>
            <a:pPr marL="95250" lvl="2" indent="0" algn="just">
              <a:buNone/>
            </a:pPr>
            <a:endParaRPr lang="en-US" b="1" dirty="0">
              <a:solidFill>
                <a:srgbClr val="2312FA"/>
              </a:solidFill>
            </a:endParaRPr>
          </a:p>
          <a:p>
            <a:pPr lvl="1"/>
            <a:endParaRPr lang="en-US" dirty="0"/>
          </a:p>
          <a:p>
            <a:endParaRPr lang="en-US" dirty="0"/>
          </a:p>
          <a:p>
            <a:endParaRPr lang="en-US" dirty="0"/>
          </a:p>
        </p:txBody>
      </p:sp>
      <p:sp>
        <p:nvSpPr>
          <p:cNvPr id="4" name="Date Placeholder 3"/>
          <p:cNvSpPr>
            <a:spLocks noGrp="1"/>
          </p:cNvSpPr>
          <p:nvPr>
            <p:ph type="dt" sz="half" idx="10"/>
          </p:nvPr>
        </p:nvSpPr>
        <p:spPr/>
        <p:txBody>
          <a:bodyPr/>
          <a:lstStyle/>
          <a:p>
            <a:fld id="{E7067A60-51C7-4095-BFA9-1CE32DCBA06F}" type="datetime1">
              <a:rPr lang="en-US" smtClean="0"/>
              <a:pPr/>
              <a:t>2/9/2026</a:t>
            </a:fld>
            <a:endParaRPr lang="en-US" dirty="0"/>
          </a:p>
        </p:txBody>
      </p:sp>
      <p:sp>
        <p:nvSpPr>
          <p:cNvPr id="6" name="Slide Number Placeholder 5"/>
          <p:cNvSpPr>
            <a:spLocks noGrp="1"/>
          </p:cNvSpPr>
          <p:nvPr>
            <p:ph type="sldNum" sz="quarter" idx="12"/>
          </p:nvPr>
        </p:nvSpPr>
        <p:spPr/>
        <p:txBody>
          <a:bodyPr/>
          <a:lstStyle/>
          <a:p>
            <a:fld id="{A03BBF96-A7A5-4867-9A4A-2F26A3CC4EC3}" type="slidenum">
              <a:rPr lang="en-US" smtClean="0"/>
              <a:pPr/>
              <a:t>80</a:t>
            </a:fld>
            <a:endParaRPr lang="en-US" dirty="0"/>
          </a:p>
        </p:txBody>
      </p:sp>
      <p:sp>
        <p:nvSpPr>
          <p:cNvPr id="7" name="TextBox 6"/>
          <p:cNvSpPr txBox="1"/>
          <p:nvPr/>
        </p:nvSpPr>
        <p:spPr>
          <a:xfrm>
            <a:off x="0" y="0"/>
            <a:ext cx="4572000" cy="369332"/>
          </a:xfrm>
          <a:prstGeom prst="rect">
            <a:avLst/>
          </a:prstGeom>
          <a:noFill/>
        </p:spPr>
        <p:txBody>
          <a:bodyPr wrap="square" rtlCol="0">
            <a:spAutoFit/>
          </a:bodyPr>
          <a:lstStyle/>
          <a:p>
            <a:pPr algn="r"/>
            <a:r>
              <a:rPr lang="en-US" b="1" dirty="0">
                <a:solidFill>
                  <a:schemeClr val="bg1"/>
                </a:solidFill>
              </a:rPr>
              <a:t>Introduction to Deep Neural Network</a:t>
            </a:r>
          </a:p>
        </p:txBody>
      </p:sp>
      <p:sp>
        <p:nvSpPr>
          <p:cNvPr id="8" name="Rectangle 2"/>
          <p:cNvSpPr>
            <a:spLocks noChangeArrowheads="1"/>
          </p:cNvSpPr>
          <p:nvPr/>
        </p:nvSpPr>
        <p:spPr bwMode="auto">
          <a:xfrm>
            <a:off x="0" y="0"/>
            <a:ext cx="91440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sp>
        <p:nvSpPr>
          <p:cNvPr id="9" name="Rectangle 2"/>
          <p:cNvSpPr>
            <a:spLocks noChangeArrowheads="1"/>
          </p:cNvSpPr>
          <p:nvPr/>
        </p:nvSpPr>
        <p:spPr bwMode="auto">
          <a:xfrm>
            <a:off x="0" y="0"/>
            <a:ext cx="91440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sp>
        <p:nvSpPr>
          <p:cNvPr id="11" name="Footer Placeholder 4">
            <a:extLst>
              <a:ext uri="{FF2B5EF4-FFF2-40B4-BE49-F238E27FC236}">
                <a16:creationId xmlns:a16="http://schemas.microsoft.com/office/drawing/2014/main" id="{CBB301ED-B8A4-4772-B559-A9E41E7472BD}"/>
              </a:ext>
            </a:extLst>
          </p:cNvPr>
          <p:cNvSpPr>
            <a:spLocks noGrp="1"/>
          </p:cNvSpPr>
          <p:nvPr>
            <p:ph type="ftr" sz="quarter" idx="11"/>
          </p:nvPr>
        </p:nvSpPr>
        <p:spPr>
          <a:xfrm>
            <a:off x="2286000" y="6629400"/>
            <a:ext cx="4136571" cy="228600"/>
          </a:xfrm>
        </p:spPr>
        <p:txBody>
          <a:bodyPr/>
          <a:lstStyle/>
          <a:p>
            <a:r>
              <a:rPr lang="en-US" dirty="0"/>
              <a:t>Dr. Sibarama Panigrahi, Dept. of CSE, NITR</a:t>
            </a:r>
          </a:p>
        </p:txBody>
      </p:sp>
      <p:graphicFrame>
        <p:nvGraphicFramePr>
          <p:cNvPr id="12" name="Table 11"/>
          <p:cNvGraphicFramePr>
            <a:graphicFrameLocks noGrp="1"/>
          </p:cNvGraphicFramePr>
          <p:nvPr>
            <p:extLst/>
          </p:nvPr>
        </p:nvGraphicFramePr>
        <p:xfrm>
          <a:off x="152400" y="990601"/>
          <a:ext cx="8991601" cy="5674814"/>
        </p:xfrm>
        <a:graphic>
          <a:graphicData uri="http://schemas.openxmlformats.org/drawingml/2006/table">
            <a:tbl>
              <a:tblPr firstRow="1" firstCol="1" bandRow="1">
                <a:tableStyleId>{5C22544A-7EE6-4342-B048-85BDC9FD1C3A}</a:tableStyleId>
              </a:tblPr>
              <a:tblGrid>
                <a:gridCol w="860065">
                  <a:extLst>
                    <a:ext uri="{9D8B030D-6E8A-4147-A177-3AD203B41FA5}">
                      <a16:colId xmlns:a16="http://schemas.microsoft.com/office/drawing/2014/main" val="20000"/>
                    </a:ext>
                  </a:extLst>
                </a:gridCol>
                <a:gridCol w="896894">
                  <a:extLst>
                    <a:ext uri="{9D8B030D-6E8A-4147-A177-3AD203B41FA5}">
                      <a16:colId xmlns:a16="http://schemas.microsoft.com/office/drawing/2014/main" val="20001"/>
                    </a:ext>
                  </a:extLst>
                </a:gridCol>
                <a:gridCol w="3742304">
                  <a:extLst>
                    <a:ext uri="{9D8B030D-6E8A-4147-A177-3AD203B41FA5}">
                      <a16:colId xmlns:a16="http://schemas.microsoft.com/office/drawing/2014/main" val="20002"/>
                    </a:ext>
                  </a:extLst>
                </a:gridCol>
                <a:gridCol w="1224892">
                  <a:extLst>
                    <a:ext uri="{9D8B030D-6E8A-4147-A177-3AD203B41FA5}">
                      <a16:colId xmlns:a16="http://schemas.microsoft.com/office/drawing/2014/main" val="20003"/>
                    </a:ext>
                  </a:extLst>
                </a:gridCol>
                <a:gridCol w="1200645">
                  <a:extLst>
                    <a:ext uri="{9D8B030D-6E8A-4147-A177-3AD203B41FA5}">
                      <a16:colId xmlns:a16="http://schemas.microsoft.com/office/drawing/2014/main" val="20004"/>
                    </a:ext>
                  </a:extLst>
                </a:gridCol>
                <a:gridCol w="1066801">
                  <a:extLst>
                    <a:ext uri="{9D8B030D-6E8A-4147-A177-3AD203B41FA5}">
                      <a16:colId xmlns:a16="http://schemas.microsoft.com/office/drawing/2014/main" val="20005"/>
                    </a:ext>
                  </a:extLst>
                </a:gridCol>
              </a:tblGrid>
              <a:tr h="563364">
                <a:tc>
                  <a:txBody>
                    <a:bodyPr/>
                    <a:lstStyle/>
                    <a:p>
                      <a:pPr algn="just">
                        <a:lnSpc>
                          <a:spcPct val="107000"/>
                        </a:lnSpc>
                        <a:spcBef>
                          <a:spcPts val="600"/>
                        </a:spcBef>
                        <a:spcAft>
                          <a:spcPts val="600"/>
                        </a:spcAft>
                      </a:pPr>
                      <a:r>
                        <a:rPr lang="en-IN" sz="1200" dirty="0">
                          <a:effectLst/>
                          <a:latin typeface="Times New Roman" panose="02020603050405020304" pitchFamily="18" charset="0"/>
                          <a:cs typeface="Times New Roman" panose="02020603050405020304" pitchFamily="18" charset="0"/>
                        </a:rPr>
                        <a:t>Reference</a:t>
                      </a:r>
                      <a:endParaRPr lang="en-IN" sz="1200" dirty="0">
                        <a:effectLst/>
                        <a:latin typeface="Times New Roman" panose="02020603050405020304" pitchFamily="18" charset="0"/>
                        <a:ea typeface="Calibri"/>
                        <a:cs typeface="Times New Roman" panose="02020603050405020304" pitchFamily="18" charset="0"/>
                      </a:endParaRPr>
                    </a:p>
                  </a:txBody>
                  <a:tcPr marL="62345" marR="62345" marT="0" marB="0"/>
                </a:tc>
                <a:tc>
                  <a:txBody>
                    <a:bodyPr/>
                    <a:lstStyle/>
                    <a:p>
                      <a:pPr algn="just">
                        <a:lnSpc>
                          <a:spcPct val="107000"/>
                        </a:lnSpc>
                        <a:spcBef>
                          <a:spcPts val="600"/>
                        </a:spcBef>
                        <a:spcAft>
                          <a:spcPts val="600"/>
                        </a:spcAft>
                      </a:pPr>
                      <a:r>
                        <a:rPr lang="en-IN" sz="1200" dirty="0">
                          <a:effectLst/>
                          <a:latin typeface="Times New Roman" panose="02020603050405020304" pitchFamily="18" charset="0"/>
                          <a:cs typeface="Times New Roman" panose="02020603050405020304" pitchFamily="18" charset="0"/>
                        </a:rPr>
                        <a:t>Deep Learning Model</a:t>
                      </a:r>
                      <a:endParaRPr lang="en-IN" sz="1200" dirty="0">
                        <a:effectLst/>
                        <a:latin typeface="Times New Roman" panose="02020603050405020304" pitchFamily="18" charset="0"/>
                        <a:ea typeface="Calibri"/>
                        <a:cs typeface="Times New Roman" panose="02020603050405020304" pitchFamily="18" charset="0"/>
                      </a:endParaRPr>
                    </a:p>
                  </a:txBody>
                  <a:tcPr marL="62345" marR="62345" marT="0" marB="0"/>
                </a:tc>
                <a:tc>
                  <a:txBody>
                    <a:bodyPr/>
                    <a:lstStyle/>
                    <a:p>
                      <a:pPr algn="just">
                        <a:lnSpc>
                          <a:spcPct val="107000"/>
                        </a:lnSpc>
                        <a:spcBef>
                          <a:spcPts val="600"/>
                        </a:spcBef>
                        <a:spcAft>
                          <a:spcPts val="600"/>
                        </a:spcAft>
                      </a:pPr>
                      <a:r>
                        <a:rPr lang="en-IN" sz="1200" dirty="0">
                          <a:effectLst/>
                          <a:latin typeface="Times New Roman" panose="02020603050405020304" pitchFamily="18" charset="0"/>
                          <a:cs typeface="Times New Roman" panose="02020603050405020304" pitchFamily="18" charset="0"/>
                        </a:rPr>
                        <a:t>Hyper-Parameters </a:t>
                      </a:r>
                      <a:endParaRPr lang="en-IN" sz="1200" dirty="0">
                        <a:effectLst/>
                        <a:latin typeface="Times New Roman" panose="02020603050405020304" pitchFamily="18" charset="0"/>
                        <a:ea typeface="Calibri"/>
                        <a:cs typeface="Times New Roman" panose="02020603050405020304" pitchFamily="18" charset="0"/>
                      </a:endParaRPr>
                    </a:p>
                  </a:txBody>
                  <a:tcPr marL="62345" marR="62345" marT="0" marB="0"/>
                </a:tc>
                <a:tc>
                  <a:txBody>
                    <a:bodyPr/>
                    <a:lstStyle/>
                    <a:p>
                      <a:pPr algn="just">
                        <a:lnSpc>
                          <a:spcPct val="107000"/>
                        </a:lnSpc>
                        <a:spcBef>
                          <a:spcPts val="600"/>
                        </a:spcBef>
                        <a:spcAft>
                          <a:spcPts val="600"/>
                        </a:spcAft>
                      </a:pPr>
                      <a:r>
                        <a:rPr lang="en-IN" sz="1200">
                          <a:effectLst/>
                          <a:latin typeface="Times New Roman" panose="02020603050405020304" pitchFamily="18" charset="0"/>
                          <a:cs typeface="Times New Roman" panose="02020603050405020304" pitchFamily="18" charset="0"/>
                        </a:rPr>
                        <a:t>Optimization Technique</a:t>
                      </a:r>
                      <a:endParaRPr lang="en-IN" sz="1200">
                        <a:effectLst/>
                        <a:latin typeface="Times New Roman" panose="02020603050405020304" pitchFamily="18" charset="0"/>
                        <a:ea typeface="Calibri"/>
                        <a:cs typeface="Times New Roman" panose="02020603050405020304" pitchFamily="18" charset="0"/>
                      </a:endParaRPr>
                    </a:p>
                  </a:txBody>
                  <a:tcPr marL="62345" marR="62345" marT="0" marB="0"/>
                </a:tc>
                <a:tc>
                  <a:txBody>
                    <a:bodyPr/>
                    <a:lstStyle/>
                    <a:p>
                      <a:pPr algn="just">
                        <a:lnSpc>
                          <a:spcPct val="107000"/>
                        </a:lnSpc>
                        <a:spcBef>
                          <a:spcPts val="600"/>
                        </a:spcBef>
                        <a:spcAft>
                          <a:spcPts val="600"/>
                        </a:spcAft>
                      </a:pPr>
                      <a:r>
                        <a:rPr lang="en-IN" sz="1200">
                          <a:effectLst/>
                          <a:latin typeface="Times New Roman" panose="02020603050405020304" pitchFamily="18" charset="0"/>
                          <a:cs typeface="Times New Roman" panose="02020603050405020304" pitchFamily="18" charset="0"/>
                        </a:rPr>
                        <a:t>Encoding Scheme</a:t>
                      </a:r>
                      <a:endParaRPr lang="en-IN" sz="1200">
                        <a:effectLst/>
                        <a:latin typeface="Times New Roman" panose="02020603050405020304" pitchFamily="18" charset="0"/>
                        <a:ea typeface="Calibri"/>
                        <a:cs typeface="Times New Roman" panose="02020603050405020304" pitchFamily="18" charset="0"/>
                      </a:endParaRPr>
                    </a:p>
                  </a:txBody>
                  <a:tcPr marL="62345" marR="62345" marT="0" marB="0"/>
                </a:tc>
                <a:tc>
                  <a:txBody>
                    <a:bodyPr/>
                    <a:lstStyle/>
                    <a:p>
                      <a:pPr algn="just">
                        <a:lnSpc>
                          <a:spcPct val="107000"/>
                        </a:lnSpc>
                        <a:spcBef>
                          <a:spcPts val="600"/>
                        </a:spcBef>
                        <a:spcAft>
                          <a:spcPts val="600"/>
                        </a:spcAft>
                      </a:pPr>
                      <a:r>
                        <a:rPr lang="en-IN" sz="1200">
                          <a:effectLst/>
                          <a:latin typeface="Times New Roman" panose="02020603050405020304" pitchFamily="18" charset="0"/>
                          <a:cs typeface="Times New Roman" panose="02020603050405020304" pitchFamily="18" charset="0"/>
                        </a:rPr>
                        <a:t>Application</a:t>
                      </a:r>
                      <a:endParaRPr lang="en-IN" sz="1200">
                        <a:effectLst/>
                        <a:latin typeface="Times New Roman" panose="02020603050405020304" pitchFamily="18" charset="0"/>
                        <a:ea typeface="Calibri"/>
                        <a:cs typeface="Times New Roman" panose="02020603050405020304" pitchFamily="18" charset="0"/>
                      </a:endParaRPr>
                    </a:p>
                  </a:txBody>
                  <a:tcPr marL="62345" marR="62345" marT="0" marB="0"/>
                </a:tc>
                <a:extLst>
                  <a:ext uri="{0D108BD9-81ED-4DB2-BD59-A6C34878D82A}">
                    <a16:rowId xmlns:a16="http://schemas.microsoft.com/office/drawing/2014/main" val="10000"/>
                  </a:ext>
                </a:extLst>
              </a:tr>
              <a:tr h="755474">
                <a:tc>
                  <a:txBody>
                    <a:bodyPr/>
                    <a:lstStyle/>
                    <a:p>
                      <a:pPr marL="0" lvl="0" indent="0" algn="just">
                        <a:lnSpc>
                          <a:spcPct val="107000"/>
                        </a:lnSpc>
                        <a:spcBef>
                          <a:spcPts val="600"/>
                        </a:spcBef>
                        <a:spcAft>
                          <a:spcPts val="600"/>
                        </a:spcAft>
                        <a:buFont typeface="+mj-lt"/>
                        <a:buNone/>
                      </a:pPr>
                      <a:r>
                        <a:rPr lang="en-IN" sz="1200" dirty="0">
                          <a:effectLst/>
                          <a:latin typeface="Times New Roman" panose="02020603050405020304" pitchFamily="18" charset="0"/>
                          <a:cs typeface="Times New Roman" panose="02020603050405020304" pitchFamily="18" charset="0"/>
                        </a:rPr>
                        <a:t>[15] </a:t>
                      </a:r>
                      <a:endParaRPr lang="en-IN" sz="1200" dirty="0">
                        <a:effectLst/>
                        <a:latin typeface="Times New Roman" panose="02020603050405020304" pitchFamily="18" charset="0"/>
                        <a:ea typeface="Calibri"/>
                        <a:cs typeface="Times New Roman" panose="02020603050405020304" pitchFamily="18" charset="0"/>
                      </a:endParaRPr>
                    </a:p>
                  </a:txBody>
                  <a:tcPr marL="62345" marR="62345" marT="0" marB="0"/>
                </a:tc>
                <a:tc>
                  <a:txBody>
                    <a:bodyPr/>
                    <a:lstStyle/>
                    <a:p>
                      <a:pPr algn="just">
                        <a:lnSpc>
                          <a:spcPct val="107000"/>
                        </a:lnSpc>
                        <a:spcBef>
                          <a:spcPts val="600"/>
                        </a:spcBef>
                        <a:spcAft>
                          <a:spcPts val="600"/>
                        </a:spcAft>
                      </a:pPr>
                      <a:r>
                        <a:rPr lang="en-IN" sz="1200">
                          <a:effectLst/>
                          <a:latin typeface="Times New Roman" panose="02020603050405020304" pitchFamily="18" charset="0"/>
                          <a:ea typeface="Calibri"/>
                          <a:cs typeface="Times New Roman" panose="02020603050405020304" pitchFamily="18" charset="0"/>
                        </a:rPr>
                        <a:t>BiLSTM</a:t>
                      </a:r>
                    </a:p>
                  </a:txBody>
                  <a:tcPr marL="68580" marR="68580" marT="0" marB="0"/>
                </a:tc>
                <a:tc>
                  <a:txBody>
                    <a:bodyPr/>
                    <a:lstStyle/>
                    <a:p>
                      <a:pPr>
                        <a:lnSpc>
                          <a:spcPct val="107000"/>
                        </a:lnSpc>
                        <a:spcBef>
                          <a:spcPts val="600"/>
                        </a:spcBef>
                        <a:spcAft>
                          <a:spcPts val="600"/>
                        </a:spcAft>
                      </a:pPr>
                      <a:r>
                        <a:rPr lang="en-IN" sz="1200">
                          <a:effectLst/>
                          <a:latin typeface="Times New Roman" panose="02020603050405020304" pitchFamily="18" charset="0"/>
                          <a:ea typeface="Calibri"/>
                          <a:cs typeface="Times New Roman" panose="02020603050405020304" pitchFamily="18" charset="0"/>
                        </a:rPr>
                        <a:t>No. of epochs of BP, learning rate, Number of iterations, maximum epochs of BiLSTM, Number of hidden neurons.</a:t>
                      </a:r>
                    </a:p>
                  </a:txBody>
                  <a:tcPr marL="68580" marR="68580" marT="0" marB="0"/>
                </a:tc>
                <a:tc>
                  <a:txBody>
                    <a:bodyPr/>
                    <a:lstStyle/>
                    <a:p>
                      <a:pPr algn="just">
                        <a:lnSpc>
                          <a:spcPct val="107000"/>
                        </a:lnSpc>
                        <a:spcBef>
                          <a:spcPts val="600"/>
                        </a:spcBef>
                        <a:spcAft>
                          <a:spcPts val="600"/>
                        </a:spcAft>
                      </a:pPr>
                      <a:r>
                        <a:rPr lang="en-IN" sz="1200" dirty="0">
                          <a:effectLst/>
                          <a:latin typeface="Times New Roman" panose="02020603050405020304" pitchFamily="18" charset="0"/>
                          <a:ea typeface="Calibri"/>
                          <a:cs typeface="Times New Roman" panose="02020603050405020304" pitchFamily="18" charset="0"/>
                        </a:rPr>
                        <a:t>Improved Sine Cosine Algorithm (ISCA)</a:t>
                      </a:r>
                    </a:p>
                  </a:txBody>
                  <a:tcPr marL="68580" marR="68580" marT="0" marB="0"/>
                </a:tc>
                <a:tc>
                  <a:txBody>
                    <a:bodyPr/>
                    <a:lstStyle/>
                    <a:p>
                      <a:pPr algn="just">
                        <a:lnSpc>
                          <a:spcPct val="107000"/>
                        </a:lnSpc>
                        <a:spcBef>
                          <a:spcPts val="600"/>
                        </a:spcBef>
                        <a:spcAft>
                          <a:spcPts val="600"/>
                        </a:spcAft>
                      </a:pPr>
                      <a:r>
                        <a:rPr lang="en-IN" sz="1200">
                          <a:effectLst/>
                          <a:latin typeface="Times New Roman" panose="02020603050405020304" pitchFamily="18" charset="0"/>
                          <a:ea typeface="Calibri"/>
                          <a:cs typeface="Times New Roman" panose="02020603050405020304" pitchFamily="18" charset="0"/>
                        </a:rPr>
                        <a:t>Fixed-length real encoding</a:t>
                      </a:r>
                    </a:p>
                  </a:txBody>
                  <a:tcPr marL="68580" marR="68580" marT="0" marB="0"/>
                </a:tc>
                <a:tc>
                  <a:txBody>
                    <a:bodyPr/>
                    <a:lstStyle/>
                    <a:p>
                      <a:pPr algn="just">
                        <a:lnSpc>
                          <a:spcPct val="107000"/>
                        </a:lnSpc>
                        <a:spcBef>
                          <a:spcPts val="600"/>
                        </a:spcBef>
                        <a:spcAft>
                          <a:spcPts val="600"/>
                        </a:spcAft>
                      </a:pPr>
                      <a:r>
                        <a:rPr lang="en-IN" sz="1200">
                          <a:effectLst/>
                          <a:latin typeface="Times New Roman" panose="02020603050405020304" pitchFamily="18" charset="0"/>
                          <a:ea typeface="Calibri"/>
                          <a:cs typeface="Times New Roman" panose="02020603050405020304" pitchFamily="18" charset="0"/>
                        </a:rPr>
                        <a:t>Wind Speed Prediction</a:t>
                      </a:r>
                    </a:p>
                  </a:txBody>
                  <a:tcPr marL="68580" marR="68580" marT="0" marB="0"/>
                </a:tc>
                <a:extLst>
                  <a:ext uri="{0D108BD9-81ED-4DB2-BD59-A6C34878D82A}">
                    <a16:rowId xmlns:a16="http://schemas.microsoft.com/office/drawing/2014/main" val="10001"/>
                  </a:ext>
                </a:extLst>
              </a:tr>
              <a:tr h="947584">
                <a:tc>
                  <a:txBody>
                    <a:bodyPr/>
                    <a:lstStyle/>
                    <a:p>
                      <a:pPr marL="0" lvl="0" indent="0" algn="just">
                        <a:lnSpc>
                          <a:spcPct val="107000"/>
                        </a:lnSpc>
                        <a:spcBef>
                          <a:spcPts val="600"/>
                        </a:spcBef>
                        <a:spcAft>
                          <a:spcPts val="600"/>
                        </a:spcAft>
                        <a:buFont typeface="+mj-lt"/>
                        <a:buNone/>
                      </a:pPr>
                      <a:r>
                        <a:rPr lang="en-IN" sz="1200" dirty="0">
                          <a:effectLst/>
                          <a:latin typeface="Times New Roman" panose="02020603050405020304" pitchFamily="18" charset="0"/>
                          <a:cs typeface="Times New Roman" panose="02020603050405020304" pitchFamily="18" charset="0"/>
                        </a:rPr>
                        <a:t>[16] </a:t>
                      </a:r>
                      <a:endParaRPr lang="en-IN" sz="1200" dirty="0">
                        <a:effectLst/>
                        <a:latin typeface="Times New Roman" panose="02020603050405020304" pitchFamily="18" charset="0"/>
                        <a:ea typeface="Calibri"/>
                        <a:cs typeface="Times New Roman" panose="02020603050405020304" pitchFamily="18" charset="0"/>
                      </a:endParaRPr>
                    </a:p>
                  </a:txBody>
                  <a:tcPr marL="62345" marR="62345" marT="0" marB="0"/>
                </a:tc>
                <a:tc>
                  <a:txBody>
                    <a:bodyPr/>
                    <a:lstStyle/>
                    <a:p>
                      <a:pPr algn="just">
                        <a:lnSpc>
                          <a:spcPct val="107000"/>
                        </a:lnSpc>
                        <a:spcBef>
                          <a:spcPts val="600"/>
                        </a:spcBef>
                        <a:spcAft>
                          <a:spcPts val="600"/>
                        </a:spcAft>
                      </a:pPr>
                      <a:r>
                        <a:rPr lang="en-IN" sz="1200">
                          <a:effectLst/>
                          <a:latin typeface="Times New Roman" panose="02020603050405020304" pitchFamily="18" charset="0"/>
                          <a:ea typeface="Calibri"/>
                          <a:cs typeface="Times New Roman" panose="02020603050405020304" pitchFamily="18" charset="0"/>
                        </a:rPr>
                        <a:t>CNN/RNN/GRU/LSTM</a:t>
                      </a:r>
                    </a:p>
                  </a:txBody>
                  <a:tcPr marL="68580" marR="68580" marT="0" marB="0"/>
                </a:tc>
                <a:tc>
                  <a:txBody>
                    <a:bodyPr/>
                    <a:lstStyle/>
                    <a:p>
                      <a:pPr algn="just">
                        <a:lnSpc>
                          <a:spcPct val="107000"/>
                        </a:lnSpc>
                        <a:spcBef>
                          <a:spcPts val="600"/>
                        </a:spcBef>
                        <a:spcAft>
                          <a:spcPts val="600"/>
                        </a:spcAft>
                      </a:pPr>
                      <a:r>
                        <a:rPr lang="en-IN" sz="1200">
                          <a:effectLst/>
                          <a:latin typeface="Times New Roman" panose="02020603050405020304" pitchFamily="18" charset="0"/>
                          <a:ea typeface="Calibri"/>
                          <a:cs typeface="Times New Roman" panose="02020603050405020304" pitchFamily="18" charset="0"/>
                        </a:rPr>
                        <a:t>Network type, Weight value, Number of CNN layers, Kernel size of CNN, Whether bidirectional of the recurrent neural network, Number of layers of the recurrent neural network, Number of hidden nodes of the recurrent neural network.</a:t>
                      </a:r>
                    </a:p>
                  </a:txBody>
                  <a:tcPr marL="68580" marR="68580" marT="0" marB="0"/>
                </a:tc>
                <a:tc>
                  <a:txBody>
                    <a:bodyPr/>
                    <a:lstStyle/>
                    <a:p>
                      <a:pPr algn="just">
                        <a:lnSpc>
                          <a:spcPct val="107000"/>
                        </a:lnSpc>
                        <a:spcBef>
                          <a:spcPts val="600"/>
                        </a:spcBef>
                        <a:spcAft>
                          <a:spcPts val="600"/>
                        </a:spcAft>
                      </a:pPr>
                      <a:r>
                        <a:rPr lang="en-IN" sz="1200" dirty="0">
                          <a:effectLst/>
                          <a:latin typeface="Times New Roman" panose="02020603050405020304" pitchFamily="18" charset="0"/>
                          <a:ea typeface="Calibri"/>
                          <a:cs typeface="Times New Roman" panose="02020603050405020304" pitchFamily="18" charset="0"/>
                        </a:rPr>
                        <a:t>GA</a:t>
                      </a:r>
                    </a:p>
                  </a:txBody>
                  <a:tcPr marL="68580" marR="68580" marT="0" marB="0"/>
                </a:tc>
                <a:tc>
                  <a:txBody>
                    <a:bodyPr/>
                    <a:lstStyle/>
                    <a:p>
                      <a:pPr algn="just">
                        <a:lnSpc>
                          <a:spcPct val="107000"/>
                        </a:lnSpc>
                        <a:spcBef>
                          <a:spcPts val="600"/>
                        </a:spcBef>
                        <a:spcAft>
                          <a:spcPts val="600"/>
                        </a:spcAft>
                      </a:pPr>
                      <a:r>
                        <a:rPr lang="en-IN" sz="1200">
                          <a:effectLst/>
                          <a:latin typeface="Times New Roman" panose="02020603050405020304" pitchFamily="18" charset="0"/>
                          <a:ea typeface="Calibri"/>
                          <a:cs typeface="Times New Roman" panose="02020603050405020304" pitchFamily="18" charset="0"/>
                        </a:rPr>
                        <a:t>Variable-length real encoding</a:t>
                      </a:r>
                    </a:p>
                  </a:txBody>
                  <a:tcPr marL="68580" marR="68580" marT="0" marB="0"/>
                </a:tc>
                <a:tc>
                  <a:txBody>
                    <a:bodyPr/>
                    <a:lstStyle/>
                    <a:p>
                      <a:pPr algn="just">
                        <a:lnSpc>
                          <a:spcPct val="107000"/>
                        </a:lnSpc>
                        <a:spcBef>
                          <a:spcPts val="600"/>
                        </a:spcBef>
                        <a:spcAft>
                          <a:spcPts val="600"/>
                        </a:spcAft>
                      </a:pPr>
                      <a:r>
                        <a:rPr lang="en-IN" sz="1200">
                          <a:effectLst/>
                          <a:latin typeface="Times New Roman" panose="02020603050405020304" pitchFamily="18" charset="0"/>
                          <a:ea typeface="Calibri"/>
                          <a:cs typeface="Times New Roman" panose="02020603050405020304" pitchFamily="18" charset="0"/>
                        </a:rPr>
                        <a:t>Time Series Forecasting</a:t>
                      </a:r>
                    </a:p>
                  </a:txBody>
                  <a:tcPr marL="68580" marR="68580" marT="0" marB="0"/>
                </a:tc>
                <a:extLst>
                  <a:ext uri="{0D108BD9-81ED-4DB2-BD59-A6C34878D82A}">
                    <a16:rowId xmlns:a16="http://schemas.microsoft.com/office/drawing/2014/main" val="10002"/>
                  </a:ext>
                </a:extLst>
              </a:tr>
              <a:tr h="681501">
                <a:tc>
                  <a:txBody>
                    <a:bodyPr/>
                    <a:lstStyle/>
                    <a:p>
                      <a:pPr marL="0" lvl="0" indent="0" algn="just">
                        <a:lnSpc>
                          <a:spcPct val="107000"/>
                        </a:lnSpc>
                        <a:spcBef>
                          <a:spcPts val="600"/>
                        </a:spcBef>
                        <a:spcAft>
                          <a:spcPts val="600"/>
                        </a:spcAft>
                        <a:buFont typeface="+mj-lt"/>
                        <a:buNone/>
                      </a:pPr>
                      <a:r>
                        <a:rPr lang="en-IN" sz="1200" dirty="0">
                          <a:effectLst/>
                          <a:latin typeface="Times New Roman" panose="02020603050405020304" pitchFamily="18" charset="0"/>
                          <a:cs typeface="Times New Roman" panose="02020603050405020304" pitchFamily="18" charset="0"/>
                        </a:rPr>
                        <a:t>[17] </a:t>
                      </a:r>
                      <a:endParaRPr lang="en-IN" sz="1200" dirty="0">
                        <a:effectLst/>
                        <a:latin typeface="Times New Roman" panose="02020603050405020304" pitchFamily="18" charset="0"/>
                        <a:ea typeface="Calibri"/>
                        <a:cs typeface="Times New Roman" panose="02020603050405020304" pitchFamily="18" charset="0"/>
                      </a:endParaRPr>
                    </a:p>
                  </a:txBody>
                  <a:tcPr marL="62345" marR="62345" marT="0" marB="0"/>
                </a:tc>
                <a:tc>
                  <a:txBody>
                    <a:bodyPr/>
                    <a:lstStyle/>
                    <a:p>
                      <a:pPr algn="just">
                        <a:lnSpc>
                          <a:spcPct val="107000"/>
                        </a:lnSpc>
                        <a:spcBef>
                          <a:spcPts val="600"/>
                        </a:spcBef>
                        <a:spcAft>
                          <a:spcPts val="600"/>
                        </a:spcAft>
                      </a:pPr>
                      <a:r>
                        <a:rPr lang="en-IN" sz="1200">
                          <a:effectLst/>
                          <a:latin typeface="Times New Roman" panose="02020603050405020304" pitchFamily="18" charset="0"/>
                          <a:ea typeface="Calibri"/>
                          <a:cs typeface="Times New Roman" panose="02020603050405020304" pitchFamily="18" charset="0"/>
                        </a:rPr>
                        <a:t>CNN</a:t>
                      </a:r>
                    </a:p>
                  </a:txBody>
                  <a:tcPr marL="68580" marR="68580" marT="0" marB="0"/>
                </a:tc>
                <a:tc>
                  <a:txBody>
                    <a:bodyPr/>
                    <a:lstStyle/>
                    <a:p>
                      <a:pPr algn="just">
                        <a:lnSpc>
                          <a:spcPct val="107000"/>
                        </a:lnSpc>
                        <a:spcBef>
                          <a:spcPts val="600"/>
                        </a:spcBef>
                        <a:spcAft>
                          <a:spcPts val="600"/>
                        </a:spcAft>
                      </a:pPr>
                      <a:r>
                        <a:rPr lang="en-IN" sz="1200">
                          <a:effectLst/>
                          <a:latin typeface="Times New Roman" panose="02020603050405020304" pitchFamily="18" charset="0"/>
                          <a:ea typeface="Calibri"/>
                          <a:cs typeface="Times New Roman" panose="02020603050405020304" pitchFamily="18" charset="0"/>
                        </a:rPr>
                        <a:t>Learning Method, momentum rate, weight decay, drop path probability.</a:t>
                      </a:r>
                    </a:p>
                  </a:txBody>
                  <a:tcPr marL="68580" marR="68580" marT="0" marB="0"/>
                </a:tc>
                <a:tc>
                  <a:txBody>
                    <a:bodyPr/>
                    <a:lstStyle/>
                    <a:p>
                      <a:pPr algn="just">
                        <a:lnSpc>
                          <a:spcPct val="107000"/>
                        </a:lnSpc>
                        <a:spcBef>
                          <a:spcPts val="600"/>
                        </a:spcBef>
                        <a:spcAft>
                          <a:spcPts val="600"/>
                        </a:spcAft>
                      </a:pPr>
                      <a:r>
                        <a:rPr lang="en-IN" sz="1200">
                          <a:effectLst/>
                          <a:latin typeface="Times New Roman" panose="02020603050405020304" pitchFamily="18" charset="0"/>
                          <a:ea typeface="Calibri"/>
                          <a:cs typeface="Times New Roman" panose="02020603050405020304" pitchFamily="18" charset="0"/>
                        </a:rPr>
                        <a:t>EA</a:t>
                      </a:r>
                    </a:p>
                  </a:txBody>
                  <a:tcPr marL="68580" marR="68580" marT="0" marB="0"/>
                </a:tc>
                <a:tc>
                  <a:txBody>
                    <a:bodyPr/>
                    <a:lstStyle/>
                    <a:p>
                      <a:pPr>
                        <a:lnSpc>
                          <a:spcPct val="107000"/>
                        </a:lnSpc>
                        <a:spcBef>
                          <a:spcPts val="600"/>
                        </a:spcBef>
                        <a:spcAft>
                          <a:spcPts val="600"/>
                        </a:spcAft>
                      </a:pPr>
                      <a:r>
                        <a:rPr lang="en-IN" sz="1200">
                          <a:effectLst/>
                          <a:latin typeface="Times New Roman" panose="02020603050405020304" pitchFamily="18" charset="0"/>
                          <a:ea typeface="Calibri"/>
                          <a:cs typeface="Times New Roman" panose="02020603050405020304" pitchFamily="18" charset="0"/>
                        </a:rPr>
                        <a:t>Fixed-length real encoding</a:t>
                      </a:r>
                    </a:p>
                  </a:txBody>
                  <a:tcPr marL="68580" marR="68580" marT="0" marB="0"/>
                </a:tc>
                <a:tc>
                  <a:txBody>
                    <a:bodyPr/>
                    <a:lstStyle/>
                    <a:p>
                      <a:pPr algn="just">
                        <a:lnSpc>
                          <a:spcPct val="107000"/>
                        </a:lnSpc>
                        <a:spcBef>
                          <a:spcPts val="600"/>
                        </a:spcBef>
                        <a:spcAft>
                          <a:spcPts val="600"/>
                        </a:spcAft>
                      </a:pPr>
                      <a:r>
                        <a:rPr lang="en-IN" sz="1200">
                          <a:effectLst/>
                          <a:latin typeface="Times New Roman" panose="02020603050405020304" pitchFamily="18" charset="0"/>
                          <a:ea typeface="Calibri"/>
                          <a:cs typeface="Times New Roman" panose="02020603050405020304" pitchFamily="18" charset="0"/>
                        </a:rPr>
                        <a:t>Image Classification</a:t>
                      </a:r>
                    </a:p>
                  </a:txBody>
                  <a:tcPr marL="68580" marR="68580" marT="0" marB="0"/>
                </a:tc>
                <a:extLst>
                  <a:ext uri="{0D108BD9-81ED-4DB2-BD59-A6C34878D82A}">
                    <a16:rowId xmlns:a16="http://schemas.microsoft.com/office/drawing/2014/main" val="10003"/>
                  </a:ext>
                </a:extLst>
              </a:tr>
              <a:tr h="905073">
                <a:tc>
                  <a:txBody>
                    <a:bodyPr/>
                    <a:lstStyle/>
                    <a:p>
                      <a:pPr marL="0" lvl="0" indent="0" algn="just">
                        <a:lnSpc>
                          <a:spcPct val="107000"/>
                        </a:lnSpc>
                        <a:spcBef>
                          <a:spcPts val="600"/>
                        </a:spcBef>
                        <a:spcAft>
                          <a:spcPts val="600"/>
                        </a:spcAft>
                        <a:buFont typeface="+mj-lt"/>
                        <a:buNone/>
                      </a:pPr>
                      <a:r>
                        <a:rPr lang="en-IN" sz="1200" dirty="0">
                          <a:effectLst/>
                          <a:latin typeface="Times New Roman" panose="02020603050405020304" pitchFamily="18" charset="0"/>
                          <a:cs typeface="Times New Roman" panose="02020603050405020304" pitchFamily="18" charset="0"/>
                        </a:rPr>
                        <a:t>[18] </a:t>
                      </a:r>
                      <a:endParaRPr lang="en-IN" sz="1200" dirty="0">
                        <a:effectLst/>
                        <a:latin typeface="Times New Roman" panose="02020603050405020304" pitchFamily="18" charset="0"/>
                        <a:ea typeface="Calibri"/>
                        <a:cs typeface="Times New Roman" panose="02020603050405020304" pitchFamily="18" charset="0"/>
                      </a:endParaRPr>
                    </a:p>
                  </a:txBody>
                  <a:tcPr marL="62345" marR="62345" marT="0" marB="0"/>
                </a:tc>
                <a:tc>
                  <a:txBody>
                    <a:bodyPr/>
                    <a:lstStyle/>
                    <a:p>
                      <a:pPr algn="just">
                        <a:lnSpc>
                          <a:spcPct val="107000"/>
                        </a:lnSpc>
                        <a:spcBef>
                          <a:spcPts val="600"/>
                        </a:spcBef>
                        <a:spcAft>
                          <a:spcPts val="600"/>
                        </a:spcAft>
                      </a:pPr>
                      <a:r>
                        <a:rPr lang="en-IN" sz="1200">
                          <a:effectLst/>
                          <a:latin typeface="Times New Roman" panose="02020603050405020304" pitchFamily="18" charset="0"/>
                          <a:ea typeface="Calibri"/>
                          <a:cs typeface="Times New Roman" panose="02020603050405020304" pitchFamily="18" charset="0"/>
                        </a:rPr>
                        <a:t>CNN</a:t>
                      </a:r>
                    </a:p>
                  </a:txBody>
                  <a:tcPr marL="68580" marR="68580" marT="0" marB="0"/>
                </a:tc>
                <a:tc>
                  <a:txBody>
                    <a:bodyPr/>
                    <a:lstStyle/>
                    <a:p>
                      <a:pPr algn="just">
                        <a:lnSpc>
                          <a:spcPct val="107000"/>
                        </a:lnSpc>
                        <a:spcBef>
                          <a:spcPts val="600"/>
                        </a:spcBef>
                        <a:spcAft>
                          <a:spcPts val="600"/>
                        </a:spcAft>
                      </a:pPr>
                      <a:r>
                        <a:rPr lang="en-IN" sz="1200">
                          <a:effectLst/>
                          <a:latin typeface="Times New Roman" panose="02020603050405020304" pitchFamily="18" charset="0"/>
                          <a:ea typeface="Calibri"/>
                          <a:cs typeface="Times New Roman" panose="02020603050405020304" pitchFamily="18" charset="0"/>
                        </a:rPr>
                        <a:t>Batch size, epochs, SGD learning rate, momentum.</a:t>
                      </a:r>
                    </a:p>
                  </a:txBody>
                  <a:tcPr marL="68580" marR="68580" marT="0" marB="0"/>
                </a:tc>
                <a:tc>
                  <a:txBody>
                    <a:bodyPr/>
                    <a:lstStyle/>
                    <a:p>
                      <a:pPr algn="just">
                        <a:lnSpc>
                          <a:spcPct val="107000"/>
                        </a:lnSpc>
                        <a:spcBef>
                          <a:spcPts val="600"/>
                        </a:spcBef>
                        <a:spcAft>
                          <a:spcPts val="600"/>
                        </a:spcAft>
                      </a:pPr>
                      <a:r>
                        <a:rPr lang="en-IN" sz="1200">
                          <a:effectLst/>
                          <a:latin typeface="Times New Roman" panose="02020603050405020304" pitchFamily="18" charset="0"/>
                          <a:ea typeface="Calibri"/>
                          <a:cs typeface="Times New Roman" panose="02020603050405020304" pitchFamily="18" charset="0"/>
                        </a:rPr>
                        <a:t>EA</a:t>
                      </a:r>
                    </a:p>
                  </a:txBody>
                  <a:tcPr marL="68580" marR="68580" marT="0" marB="0"/>
                </a:tc>
                <a:tc>
                  <a:txBody>
                    <a:bodyPr/>
                    <a:lstStyle/>
                    <a:p>
                      <a:pPr algn="just">
                        <a:lnSpc>
                          <a:spcPct val="107000"/>
                        </a:lnSpc>
                        <a:spcBef>
                          <a:spcPts val="600"/>
                        </a:spcBef>
                        <a:spcAft>
                          <a:spcPts val="600"/>
                        </a:spcAft>
                      </a:pPr>
                      <a:r>
                        <a:rPr lang="en-IN" sz="1200">
                          <a:effectLst/>
                          <a:latin typeface="Times New Roman" panose="02020603050405020304" pitchFamily="18" charset="0"/>
                          <a:ea typeface="Calibri"/>
                          <a:cs typeface="Times New Roman" panose="02020603050405020304" pitchFamily="18" charset="0"/>
                        </a:rPr>
                        <a:t>Fixed-length binary encoding</a:t>
                      </a:r>
                    </a:p>
                    <a:p>
                      <a:pPr algn="just">
                        <a:lnSpc>
                          <a:spcPct val="107000"/>
                        </a:lnSpc>
                        <a:spcBef>
                          <a:spcPts val="600"/>
                        </a:spcBef>
                        <a:spcAft>
                          <a:spcPts val="600"/>
                        </a:spcAft>
                      </a:pPr>
                      <a:r>
                        <a:rPr lang="en-IN" sz="1200">
                          <a:effectLst/>
                          <a:latin typeface="Times New Roman" panose="02020603050405020304" pitchFamily="18" charset="0"/>
                          <a:ea typeface="Calibri"/>
                          <a:cs typeface="Times New Roman" panose="02020603050405020304" pitchFamily="18" charset="0"/>
                        </a:rPr>
                        <a:t>Variable-length real encoding</a:t>
                      </a:r>
                    </a:p>
                  </a:txBody>
                  <a:tcPr marL="68580" marR="68580" marT="0" marB="0"/>
                </a:tc>
                <a:tc>
                  <a:txBody>
                    <a:bodyPr/>
                    <a:lstStyle/>
                    <a:p>
                      <a:pPr algn="just">
                        <a:lnSpc>
                          <a:spcPct val="107000"/>
                        </a:lnSpc>
                        <a:spcBef>
                          <a:spcPts val="600"/>
                        </a:spcBef>
                        <a:spcAft>
                          <a:spcPts val="600"/>
                        </a:spcAft>
                      </a:pPr>
                      <a:r>
                        <a:rPr lang="en-IN" sz="1200">
                          <a:effectLst/>
                          <a:latin typeface="Times New Roman" panose="02020603050405020304" pitchFamily="18" charset="0"/>
                          <a:ea typeface="Calibri"/>
                          <a:cs typeface="Times New Roman" panose="02020603050405020304" pitchFamily="18" charset="0"/>
                        </a:rPr>
                        <a:t>Image Classification</a:t>
                      </a:r>
                    </a:p>
                  </a:txBody>
                  <a:tcPr marL="68580" marR="68580" marT="0" marB="0"/>
                </a:tc>
                <a:extLst>
                  <a:ext uri="{0D108BD9-81ED-4DB2-BD59-A6C34878D82A}">
                    <a16:rowId xmlns:a16="http://schemas.microsoft.com/office/drawing/2014/main" val="10004"/>
                  </a:ext>
                </a:extLst>
              </a:tr>
              <a:tr h="681501">
                <a:tc>
                  <a:txBody>
                    <a:bodyPr/>
                    <a:lstStyle/>
                    <a:p>
                      <a:pPr marL="0" lvl="0" indent="0" algn="just">
                        <a:lnSpc>
                          <a:spcPct val="107000"/>
                        </a:lnSpc>
                        <a:spcBef>
                          <a:spcPts val="600"/>
                        </a:spcBef>
                        <a:spcAft>
                          <a:spcPts val="600"/>
                        </a:spcAft>
                        <a:buFont typeface="+mj-lt"/>
                        <a:buNone/>
                      </a:pPr>
                      <a:r>
                        <a:rPr lang="en-IN" sz="1200" dirty="0">
                          <a:effectLst/>
                          <a:latin typeface="Times New Roman" panose="02020603050405020304" pitchFamily="18" charset="0"/>
                          <a:cs typeface="Times New Roman" panose="02020603050405020304" pitchFamily="18" charset="0"/>
                        </a:rPr>
                        <a:t>[19] </a:t>
                      </a:r>
                      <a:endParaRPr lang="en-IN" sz="1200" dirty="0">
                        <a:effectLst/>
                        <a:latin typeface="Times New Roman" panose="02020603050405020304" pitchFamily="18" charset="0"/>
                        <a:ea typeface="Calibri"/>
                        <a:cs typeface="Times New Roman" panose="02020603050405020304" pitchFamily="18" charset="0"/>
                      </a:endParaRPr>
                    </a:p>
                  </a:txBody>
                  <a:tcPr marL="62345" marR="62345" marT="0" marB="0"/>
                </a:tc>
                <a:tc>
                  <a:txBody>
                    <a:bodyPr/>
                    <a:lstStyle/>
                    <a:p>
                      <a:pPr algn="just">
                        <a:lnSpc>
                          <a:spcPct val="107000"/>
                        </a:lnSpc>
                        <a:spcBef>
                          <a:spcPts val="600"/>
                        </a:spcBef>
                        <a:spcAft>
                          <a:spcPts val="600"/>
                        </a:spcAft>
                      </a:pPr>
                      <a:r>
                        <a:rPr lang="en-IN" sz="1200">
                          <a:effectLst/>
                          <a:latin typeface="Times New Roman" panose="02020603050405020304" pitchFamily="18" charset="0"/>
                          <a:ea typeface="Calibri"/>
                          <a:cs typeface="Times New Roman" panose="02020603050405020304" pitchFamily="18" charset="0"/>
                        </a:rPr>
                        <a:t>CNN</a:t>
                      </a:r>
                    </a:p>
                  </a:txBody>
                  <a:tcPr marL="68580" marR="68580" marT="0" marB="0"/>
                </a:tc>
                <a:tc>
                  <a:txBody>
                    <a:bodyPr/>
                    <a:lstStyle/>
                    <a:p>
                      <a:pPr algn="just">
                        <a:lnSpc>
                          <a:spcPct val="107000"/>
                        </a:lnSpc>
                        <a:spcBef>
                          <a:spcPts val="600"/>
                        </a:spcBef>
                        <a:spcAft>
                          <a:spcPts val="600"/>
                        </a:spcAft>
                      </a:pPr>
                      <a:r>
                        <a:rPr lang="en-IN" sz="1200" dirty="0">
                          <a:effectLst/>
                          <a:latin typeface="Times New Roman" panose="02020603050405020304" pitchFamily="18" charset="0"/>
                          <a:ea typeface="Calibri"/>
                          <a:cs typeface="Times New Roman" panose="02020603050405020304" pitchFamily="18" charset="0"/>
                        </a:rPr>
                        <a:t>Learning rate for individual evaluation and fine-tuning, Number of epochs for individual evaluation and fine tuning.</a:t>
                      </a:r>
                    </a:p>
                  </a:txBody>
                  <a:tcPr marL="68580" marR="68580" marT="0" marB="0"/>
                </a:tc>
                <a:tc>
                  <a:txBody>
                    <a:bodyPr/>
                    <a:lstStyle/>
                    <a:p>
                      <a:pPr algn="just">
                        <a:lnSpc>
                          <a:spcPct val="107000"/>
                        </a:lnSpc>
                        <a:spcBef>
                          <a:spcPts val="600"/>
                        </a:spcBef>
                        <a:spcAft>
                          <a:spcPts val="600"/>
                        </a:spcAft>
                      </a:pPr>
                      <a:r>
                        <a:rPr lang="en-IN" sz="1200">
                          <a:effectLst/>
                          <a:latin typeface="Times New Roman" panose="02020603050405020304" pitchFamily="18" charset="0"/>
                          <a:ea typeface="Calibri"/>
                          <a:cs typeface="Times New Roman" panose="02020603050405020304" pitchFamily="18" charset="0"/>
                        </a:rPr>
                        <a:t>EA</a:t>
                      </a:r>
                    </a:p>
                  </a:txBody>
                  <a:tcPr marL="68580" marR="68580" marT="0" marB="0"/>
                </a:tc>
                <a:tc>
                  <a:txBody>
                    <a:bodyPr/>
                    <a:lstStyle/>
                    <a:p>
                      <a:pPr algn="just">
                        <a:lnSpc>
                          <a:spcPct val="107000"/>
                        </a:lnSpc>
                        <a:spcBef>
                          <a:spcPts val="600"/>
                        </a:spcBef>
                        <a:spcAft>
                          <a:spcPts val="600"/>
                        </a:spcAft>
                      </a:pPr>
                      <a:r>
                        <a:rPr lang="en-IN" sz="1200">
                          <a:effectLst/>
                          <a:latin typeface="Times New Roman" panose="02020603050405020304" pitchFamily="18" charset="0"/>
                          <a:ea typeface="Calibri"/>
                          <a:cs typeface="Times New Roman" panose="02020603050405020304" pitchFamily="18" charset="0"/>
                        </a:rPr>
                        <a:t>Variable-length binary encoding</a:t>
                      </a:r>
                    </a:p>
                  </a:txBody>
                  <a:tcPr marL="68580" marR="68580" marT="0" marB="0"/>
                </a:tc>
                <a:tc>
                  <a:txBody>
                    <a:bodyPr/>
                    <a:lstStyle/>
                    <a:p>
                      <a:pPr algn="just">
                        <a:lnSpc>
                          <a:spcPct val="107000"/>
                        </a:lnSpc>
                        <a:spcBef>
                          <a:spcPts val="600"/>
                        </a:spcBef>
                        <a:spcAft>
                          <a:spcPts val="600"/>
                        </a:spcAft>
                      </a:pPr>
                      <a:r>
                        <a:rPr lang="en-IN" sz="1200">
                          <a:effectLst/>
                          <a:latin typeface="Times New Roman" panose="02020603050405020304" pitchFamily="18" charset="0"/>
                          <a:ea typeface="Calibri"/>
                          <a:cs typeface="Times New Roman" panose="02020603050405020304" pitchFamily="18" charset="0"/>
                        </a:rPr>
                        <a:t>Image Classification</a:t>
                      </a:r>
                    </a:p>
                  </a:txBody>
                  <a:tcPr marL="68580" marR="68580" marT="0" marB="0"/>
                </a:tc>
                <a:extLst>
                  <a:ext uri="{0D108BD9-81ED-4DB2-BD59-A6C34878D82A}">
                    <a16:rowId xmlns:a16="http://schemas.microsoft.com/office/drawing/2014/main" val="10005"/>
                  </a:ext>
                </a:extLst>
              </a:tr>
              <a:tr h="1028100">
                <a:tc>
                  <a:txBody>
                    <a:bodyPr/>
                    <a:lstStyle/>
                    <a:p>
                      <a:pPr marL="0" lvl="0" indent="0" algn="just">
                        <a:lnSpc>
                          <a:spcPct val="107000"/>
                        </a:lnSpc>
                        <a:spcBef>
                          <a:spcPts val="600"/>
                        </a:spcBef>
                        <a:spcAft>
                          <a:spcPts val="600"/>
                        </a:spcAft>
                        <a:buFont typeface="+mj-lt"/>
                        <a:buNone/>
                      </a:pPr>
                      <a:r>
                        <a:rPr lang="en-IN" sz="1200" dirty="0">
                          <a:effectLst/>
                          <a:latin typeface="Times New Roman" panose="02020603050405020304" pitchFamily="18" charset="0"/>
                          <a:cs typeface="Times New Roman" panose="02020603050405020304" pitchFamily="18" charset="0"/>
                        </a:rPr>
                        <a:t>[20] </a:t>
                      </a:r>
                      <a:endParaRPr lang="en-IN" sz="1200" dirty="0">
                        <a:effectLst/>
                        <a:latin typeface="Times New Roman" panose="02020603050405020304" pitchFamily="18" charset="0"/>
                        <a:ea typeface="Calibri"/>
                        <a:cs typeface="Times New Roman" panose="02020603050405020304" pitchFamily="18" charset="0"/>
                      </a:endParaRPr>
                    </a:p>
                  </a:txBody>
                  <a:tcPr marL="62345" marR="62345" marT="0" marB="0"/>
                </a:tc>
                <a:tc>
                  <a:txBody>
                    <a:bodyPr/>
                    <a:lstStyle/>
                    <a:p>
                      <a:pPr algn="just">
                        <a:lnSpc>
                          <a:spcPct val="107000"/>
                        </a:lnSpc>
                        <a:spcBef>
                          <a:spcPts val="600"/>
                        </a:spcBef>
                        <a:spcAft>
                          <a:spcPts val="600"/>
                        </a:spcAft>
                      </a:pPr>
                      <a:r>
                        <a:rPr lang="en-IN" sz="1200">
                          <a:effectLst/>
                          <a:latin typeface="Times New Roman" panose="02020603050405020304" pitchFamily="18" charset="0"/>
                          <a:ea typeface="Calibri"/>
                          <a:cs typeface="Times New Roman" panose="02020603050405020304" pitchFamily="18" charset="0"/>
                        </a:rPr>
                        <a:t>CNN</a:t>
                      </a:r>
                    </a:p>
                  </a:txBody>
                  <a:tcPr marL="68580" marR="68580" marT="0" marB="0"/>
                </a:tc>
                <a:tc>
                  <a:txBody>
                    <a:bodyPr/>
                    <a:lstStyle/>
                    <a:p>
                      <a:pPr algn="just">
                        <a:lnSpc>
                          <a:spcPct val="107000"/>
                        </a:lnSpc>
                        <a:spcBef>
                          <a:spcPts val="600"/>
                        </a:spcBef>
                        <a:spcAft>
                          <a:spcPts val="600"/>
                        </a:spcAft>
                      </a:pPr>
                      <a:r>
                        <a:rPr lang="en-IN" sz="1200" dirty="0">
                          <a:effectLst/>
                          <a:latin typeface="Times New Roman" panose="02020603050405020304" pitchFamily="18" charset="0"/>
                          <a:ea typeface="Calibri"/>
                          <a:cs typeface="Times New Roman" panose="02020603050405020304" pitchFamily="18" charset="0"/>
                        </a:rPr>
                        <a:t>Number of filters of Conv1D, Pool Size, Dropout rate, Optimizer.</a:t>
                      </a:r>
                    </a:p>
                  </a:txBody>
                  <a:tcPr marL="68580" marR="68580" marT="0" marB="0"/>
                </a:tc>
                <a:tc>
                  <a:txBody>
                    <a:bodyPr/>
                    <a:lstStyle/>
                    <a:p>
                      <a:pPr algn="just">
                        <a:lnSpc>
                          <a:spcPct val="107000"/>
                        </a:lnSpc>
                        <a:spcBef>
                          <a:spcPts val="600"/>
                        </a:spcBef>
                        <a:spcAft>
                          <a:spcPts val="600"/>
                        </a:spcAft>
                      </a:pPr>
                      <a:r>
                        <a:rPr lang="en-IN" sz="1200" dirty="0">
                          <a:effectLst/>
                          <a:latin typeface="Times New Roman" panose="02020603050405020304" pitchFamily="18" charset="0"/>
                          <a:ea typeface="Calibri"/>
                          <a:cs typeface="Times New Roman" panose="02020603050405020304" pitchFamily="18" charset="0"/>
                        </a:rPr>
                        <a:t>EA </a:t>
                      </a:r>
                    </a:p>
                  </a:txBody>
                  <a:tcPr marL="68580" marR="68580" marT="0" marB="0"/>
                </a:tc>
                <a:tc>
                  <a:txBody>
                    <a:bodyPr/>
                    <a:lstStyle/>
                    <a:p>
                      <a:pPr algn="just">
                        <a:lnSpc>
                          <a:spcPct val="107000"/>
                        </a:lnSpc>
                        <a:spcBef>
                          <a:spcPts val="600"/>
                        </a:spcBef>
                        <a:spcAft>
                          <a:spcPts val="600"/>
                        </a:spcAft>
                      </a:pPr>
                      <a:r>
                        <a:rPr lang="en-IN" sz="1200">
                          <a:effectLst/>
                          <a:latin typeface="Times New Roman" panose="02020603050405020304" pitchFamily="18" charset="0"/>
                          <a:ea typeface="Calibri"/>
                          <a:cs typeface="Times New Roman" panose="02020603050405020304" pitchFamily="18" charset="0"/>
                        </a:rPr>
                        <a:t>Variable-length real encoding</a:t>
                      </a:r>
                    </a:p>
                  </a:txBody>
                  <a:tcPr marL="68580" marR="68580" marT="0" marB="0"/>
                </a:tc>
                <a:tc>
                  <a:txBody>
                    <a:bodyPr/>
                    <a:lstStyle/>
                    <a:p>
                      <a:pPr algn="just">
                        <a:lnSpc>
                          <a:spcPct val="107000"/>
                        </a:lnSpc>
                        <a:spcBef>
                          <a:spcPts val="600"/>
                        </a:spcBef>
                        <a:spcAft>
                          <a:spcPts val="600"/>
                        </a:spcAft>
                      </a:pPr>
                      <a:r>
                        <a:rPr lang="en-IN" sz="1200" dirty="0">
                          <a:effectLst/>
                          <a:latin typeface="Times New Roman" panose="02020603050405020304" pitchFamily="18" charset="0"/>
                          <a:ea typeface="Calibri"/>
                          <a:cs typeface="Times New Roman" panose="02020603050405020304" pitchFamily="18" charset="0"/>
                        </a:rPr>
                        <a:t>Image Classification</a:t>
                      </a:r>
                    </a:p>
                  </a:txBody>
                  <a:tcPr marL="68580" marR="68580" marT="0" marB="0"/>
                </a:tc>
                <a:extLst>
                  <a:ext uri="{0D108BD9-81ED-4DB2-BD59-A6C34878D82A}">
                    <a16:rowId xmlns:a16="http://schemas.microsoft.com/office/drawing/2014/main" val="10006"/>
                  </a:ext>
                </a:extLst>
              </a:tr>
            </a:tbl>
          </a:graphicData>
        </a:graphic>
      </p:graphicFrame>
    </p:spTree>
    <p:extLst>
      <p:ext uri="{BB962C8B-B14F-4D97-AF65-F5344CB8AC3E}">
        <p14:creationId xmlns:p14="http://schemas.microsoft.com/office/powerpoint/2010/main" val="3107872967"/>
      </p:ext>
    </p:extLst>
  </p:cSld>
  <p:clrMapOvr>
    <a:masterClrMapping/>
  </p:clrMapOvr>
</p:sld>
</file>

<file path=ppt/slides/slide8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sz="2400" b="1" cap="small" dirty="0"/>
              <a:t>Limitation in Literature of Optimizing DL Models</a:t>
            </a:r>
          </a:p>
        </p:txBody>
      </p:sp>
      <p:sp>
        <p:nvSpPr>
          <p:cNvPr id="3" name="Content Placeholder 2"/>
          <p:cNvSpPr>
            <a:spLocks noGrp="1"/>
          </p:cNvSpPr>
          <p:nvPr>
            <p:ph idx="1"/>
          </p:nvPr>
        </p:nvSpPr>
        <p:spPr/>
        <p:txBody>
          <a:bodyPr>
            <a:normAutofit fontScale="92500" lnSpcReduction="20000"/>
          </a:bodyPr>
          <a:lstStyle/>
          <a:p>
            <a:pPr marL="438150" lvl="2" indent="-342900" algn="just"/>
            <a:r>
              <a:rPr lang="en-IN" b="1" dirty="0"/>
              <a:t>Hyper-parameters of DL models used for optimization</a:t>
            </a:r>
          </a:p>
          <a:p>
            <a:pPr marL="720725" lvl="3" indent="-342900" algn="just"/>
            <a:r>
              <a:rPr lang="en-IN" dirty="0"/>
              <a:t>Number of neurons in each layer [9, 11, 12, 15-16]</a:t>
            </a:r>
          </a:p>
          <a:p>
            <a:pPr marL="720725" lvl="3" indent="-342900" algn="just"/>
            <a:r>
              <a:rPr lang="en-IN" dirty="0"/>
              <a:t>Activation function [1, 5, 9-10, 13-14]</a:t>
            </a:r>
          </a:p>
          <a:p>
            <a:pPr marL="720725" lvl="3" indent="-342900" algn="just"/>
            <a:r>
              <a:rPr lang="en-IN" dirty="0"/>
              <a:t>Learning rate [4-5, 7-8, 10, 13, 15, 18-19]</a:t>
            </a:r>
          </a:p>
          <a:p>
            <a:pPr marL="720725" lvl="3" indent="-342900" algn="just"/>
            <a:r>
              <a:rPr lang="en-IN" dirty="0"/>
              <a:t>Batch size [1-2, 4-5, 7-8, 10, 13, 18]</a:t>
            </a:r>
          </a:p>
          <a:p>
            <a:pPr marL="720725" lvl="3" indent="-342900" algn="just"/>
            <a:r>
              <a:rPr lang="en-IN" dirty="0"/>
              <a:t>Dropout rate [1, 3-7, 10, 14, 20] </a:t>
            </a:r>
          </a:p>
          <a:p>
            <a:pPr marL="720725" lvl="3" indent="-342900" algn="just"/>
            <a:r>
              <a:rPr lang="en-IN" dirty="0"/>
              <a:t>Kernel initializer (weight initialization scheme) [3, 5, 14, 16].</a:t>
            </a:r>
          </a:p>
          <a:p>
            <a:pPr marL="438150" lvl="2" indent="-342900" algn="just"/>
            <a:r>
              <a:rPr lang="en-IN" b="1" dirty="0"/>
              <a:t>Encoding Scheme</a:t>
            </a:r>
          </a:p>
          <a:p>
            <a:pPr marL="720725" lvl="3" indent="-342900" algn="just"/>
            <a:r>
              <a:rPr lang="en-IN" dirty="0"/>
              <a:t>Fixed-length </a:t>
            </a:r>
            <a:r>
              <a:rPr lang="en-IN" sz="1600" dirty="0"/>
              <a:t>(</a:t>
            </a:r>
            <a:r>
              <a:rPr lang="en-IN" sz="1600" b="1" dirty="0"/>
              <a:t>Drawback: </a:t>
            </a:r>
            <a:r>
              <a:rPr lang="en-IN" sz="1600" dirty="0">
                <a:solidFill>
                  <a:srgbClr val="2312FA"/>
                </a:solidFill>
              </a:rPr>
              <a:t>Can’t encode DL models with varying layers and not flexible</a:t>
            </a:r>
            <a:r>
              <a:rPr lang="en-IN" sz="1600" dirty="0"/>
              <a:t>)</a:t>
            </a:r>
          </a:p>
          <a:p>
            <a:pPr marL="949325" lvl="4" indent="-342900" algn="just"/>
            <a:r>
              <a:rPr lang="en-IN" dirty="0"/>
              <a:t>Binary [2, 4-5, 11, 18]</a:t>
            </a:r>
          </a:p>
          <a:p>
            <a:pPr marL="949325" lvl="4" indent="-342900" algn="just"/>
            <a:r>
              <a:rPr lang="en-IN" dirty="0"/>
              <a:t>Real [6-9, 17-18]</a:t>
            </a:r>
          </a:p>
          <a:p>
            <a:pPr marL="949325" lvl="4" indent="-342900" algn="just"/>
            <a:r>
              <a:rPr lang="en-IN" dirty="0"/>
              <a:t>Block [13] </a:t>
            </a:r>
          </a:p>
          <a:p>
            <a:pPr marL="720725" lvl="3" indent="-342900" algn="just"/>
            <a:r>
              <a:rPr lang="en-IN" dirty="0"/>
              <a:t>Variable-length  </a:t>
            </a:r>
            <a:r>
              <a:rPr lang="en-IN" sz="1600" b="1" dirty="0"/>
              <a:t>(Drawback: </a:t>
            </a:r>
            <a:r>
              <a:rPr lang="en-IN" sz="1600" dirty="0">
                <a:solidFill>
                  <a:srgbClr val="2312FA"/>
                </a:solidFill>
              </a:rPr>
              <a:t>Complex implementation and high computational overhead</a:t>
            </a:r>
            <a:r>
              <a:rPr lang="en-IN" sz="1600" b="1" dirty="0"/>
              <a:t>)</a:t>
            </a:r>
          </a:p>
          <a:p>
            <a:pPr marL="949325" lvl="4" indent="-342900" algn="just"/>
            <a:r>
              <a:rPr lang="en-IN" dirty="0"/>
              <a:t>Binary [19] </a:t>
            </a:r>
          </a:p>
          <a:p>
            <a:pPr marL="949325" lvl="4" indent="-342900" algn="just"/>
            <a:r>
              <a:rPr lang="en-IN" dirty="0"/>
              <a:t>Real [1, 3, 10, 12, 16, 18, 20]</a:t>
            </a:r>
          </a:p>
          <a:p>
            <a:pPr marL="949325" lvl="4" indent="-342900" algn="just"/>
            <a:r>
              <a:rPr lang="en-IN" dirty="0"/>
              <a:t>Block [14] </a:t>
            </a:r>
            <a:endParaRPr lang="en-US" b="1" dirty="0"/>
          </a:p>
          <a:p>
            <a:pPr marL="438150" lvl="2" indent="-342900" algn="just"/>
            <a:r>
              <a:rPr lang="en-US" b="1" dirty="0"/>
              <a:t>Number of Layers are not optimized</a:t>
            </a:r>
          </a:p>
          <a:p>
            <a:pPr marL="438150" lvl="2" indent="-342900" algn="just"/>
            <a:r>
              <a:rPr lang="en-US" b="1" dirty="0"/>
              <a:t>Applicable to a specific DL model</a:t>
            </a:r>
          </a:p>
          <a:p>
            <a:pPr marL="438150" lvl="2" indent="-342900" algn="just"/>
            <a:endParaRPr lang="en-US" b="1" dirty="0"/>
          </a:p>
          <a:p>
            <a:pPr marL="95250" lvl="2" indent="0" algn="just">
              <a:buNone/>
            </a:pPr>
            <a:endParaRPr lang="en-US" b="1" dirty="0">
              <a:solidFill>
                <a:srgbClr val="2312FA"/>
              </a:solidFill>
            </a:endParaRPr>
          </a:p>
          <a:p>
            <a:pPr lvl="1"/>
            <a:endParaRPr lang="en-US" dirty="0"/>
          </a:p>
          <a:p>
            <a:endParaRPr lang="en-US" dirty="0"/>
          </a:p>
          <a:p>
            <a:endParaRPr lang="en-US" dirty="0"/>
          </a:p>
        </p:txBody>
      </p:sp>
      <p:sp>
        <p:nvSpPr>
          <p:cNvPr id="4" name="Date Placeholder 3"/>
          <p:cNvSpPr>
            <a:spLocks noGrp="1"/>
          </p:cNvSpPr>
          <p:nvPr>
            <p:ph type="dt" sz="half" idx="10"/>
          </p:nvPr>
        </p:nvSpPr>
        <p:spPr/>
        <p:txBody>
          <a:bodyPr/>
          <a:lstStyle/>
          <a:p>
            <a:fld id="{E7067A60-51C7-4095-BFA9-1CE32DCBA06F}" type="datetime1">
              <a:rPr lang="en-US" smtClean="0"/>
              <a:pPr/>
              <a:t>2/9/2026</a:t>
            </a:fld>
            <a:endParaRPr lang="en-US" dirty="0"/>
          </a:p>
        </p:txBody>
      </p:sp>
      <p:sp>
        <p:nvSpPr>
          <p:cNvPr id="6" name="Slide Number Placeholder 5"/>
          <p:cNvSpPr>
            <a:spLocks noGrp="1"/>
          </p:cNvSpPr>
          <p:nvPr>
            <p:ph type="sldNum" sz="quarter" idx="12"/>
          </p:nvPr>
        </p:nvSpPr>
        <p:spPr/>
        <p:txBody>
          <a:bodyPr/>
          <a:lstStyle/>
          <a:p>
            <a:fld id="{A03BBF96-A7A5-4867-9A4A-2F26A3CC4EC3}" type="slidenum">
              <a:rPr lang="en-US" smtClean="0"/>
              <a:pPr/>
              <a:t>81</a:t>
            </a:fld>
            <a:endParaRPr lang="en-US" dirty="0"/>
          </a:p>
        </p:txBody>
      </p:sp>
      <p:sp>
        <p:nvSpPr>
          <p:cNvPr id="7" name="TextBox 6"/>
          <p:cNvSpPr txBox="1"/>
          <p:nvPr/>
        </p:nvSpPr>
        <p:spPr>
          <a:xfrm>
            <a:off x="0" y="0"/>
            <a:ext cx="4572000" cy="369332"/>
          </a:xfrm>
          <a:prstGeom prst="rect">
            <a:avLst/>
          </a:prstGeom>
          <a:noFill/>
        </p:spPr>
        <p:txBody>
          <a:bodyPr wrap="square" rtlCol="0">
            <a:spAutoFit/>
          </a:bodyPr>
          <a:lstStyle/>
          <a:p>
            <a:pPr algn="r"/>
            <a:r>
              <a:rPr lang="en-US" b="1" dirty="0">
                <a:solidFill>
                  <a:schemeClr val="bg1"/>
                </a:solidFill>
              </a:rPr>
              <a:t>Introduction to Deep Neural Network</a:t>
            </a:r>
          </a:p>
        </p:txBody>
      </p:sp>
      <p:sp>
        <p:nvSpPr>
          <p:cNvPr id="8" name="Rectangle 2"/>
          <p:cNvSpPr>
            <a:spLocks noChangeArrowheads="1"/>
          </p:cNvSpPr>
          <p:nvPr/>
        </p:nvSpPr>
        <p:spPr bwMode="auto">
          <a:xfrm>
            <a:off x="0" y="0"/>
            <a:ext cx="91440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sp>
        <p:nvSpPr>
          <p:cNvPr id="9" name="Rectangle 2"/>
          <p:cNvSpPr>
            <a:spLocks noChangeArrowheads="1"/>
          </p:cNvSpPr>
          <p:nvPr/>
        </p:nvSpPr>
        <p:spPr bwMode="auto">
          <a:xfrm>
            <a:off x="0" y="0"/>
            <a:ext cx="91440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sp>
        <p:nvSpPr>
          <p:cNvPr id="11" name="Footer Placeholder 4">
            <a:extLst>
              <a:ext uri="{FF2B5EF4-FFF2-40B4-BE49-F238E27FC236}">
                <a16:creationId xmlns:a16="http://schemas.microsoft.com/office/drawing/2014/main" id="{CBB301ED-B8A4-4772-B559-A9E41E7472BD}"/>
              </a:ext>
            </a:extLst>
          </p:cNvPr>
          <p:cNvSpPr>
            <a:spLocks noGrp="1"/>
          </p:cNvSpPr>
          <p:nvPr>
            <p:ph type="ftr" sz="quarter" idx="11"/>
          </p:nvPr>
        </p:nvSpPr>
        <p:spPr>
          <a:xfrm>
            <a:off x="2286000" y="6629400"/>
            <a:ext cx="4136571" cy="228600"/>
          </a:xfrm>
        </p:spPr>
        <p:txBody>
          <a:bodyPr/>
          <a:lstStyle/>
          <a:p>
            <a:r>
              <a:rPr lang="en-US" dirty="0"/>
              <a:t>Dr. Sibarama Panigrahi, Dept. of CSE, NITR</a:t>
            </a:r>
          </a:p>
        </p:txBody>
      </p:sp>
    </p:spTree>
    <p:extLst>
      <p:ext uri="{BB962C8B-B14F-4D97-AF65-F5344CB8AC3E}">
        <p14:creationId xmlns:p14="http://schemas.microsoft.com/office/powerpoint/2010/main" val="3587500486"/>
      </p:ext>
    </p:extLst>
  </p:cSld>
  <p:clrMapOvr>
    <a:masterClrMapping/>
  </p:clrMapOvr>
</p:sld>
</file>

<file path=ppt/slides/slide8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sz="2000" b="1" cap="small" dirty="0"/>
              <a:t>Overcoming the Limitations in Literature of Optimizing DL Models</a:t>
            </a:r>
          </a:p>
        </p:txBody>
      </p:sp>
      <p:sp>
        <p:nvSpPr>
          <p:cNvPr id="3" name="Content Placeholder 2"/>
          <p:cNvSpPr>
            <a:spLocks noGrp="1"/>
          </p:cNvSpPr>
          <p:nvPr>
            <p:ph idx="1"/>
          </p:nvPr>
        </p:nvSpPr>
        <p:spPr/>
        <p:txBody>
          <a:bodyPr>
            <a:normAutofit fontScale="85000" lnSpcReduction="10000"/>
          </a:bodyPr>
          <a:lstStyle/>
          <a:p>
            <a:pPr marL="438150" lvl="2" indent="-342900" algn="just"/>
            <a:r>
              <a:rPr lang="en-US" b="1" dirty="0"/>
              <a:t>Ref: </a:t>
            </a:r>
            <a:r>
              <a:rPr lang="en-IN" dirty="0" err="1"/>
              <a:t>Sourav</a:t>
            </a:r>
            <a:r>
              <a:rPr lang="en-IN" dirty="0"/>
              <a:t> Kumar </a:t>
            </a:r>
            <a:r>
              <a:rPr lang="en-IN" dirty="0" err="1"/>
              <a:t>Purohit</a:t>
            </a:r>
            <a:r>
              <a:rPr lang="en-IN" dirty="0"/>
              <a:t> and </a:t>
            </a:r>
            <a:r>
              <a:rPr lang="en-IN" dirty="0" err="1"/>
              <a:t>Sibarama</a:t>
            </a:r>
            <a:r>
              <a:rPr lang="en-IN" dirty="0"/>
              <a:t> </a:t>
            </a:r>
            <a:r>
              <a:rPr lang="en-IN" dirty="0" err="1"/>
              <a:t>Panigrahi</a:t>
            </a:r>
            <a:r>
              <a:rPr lang="en-IN" dirty="0"/>
              <a:t>, Novel Deterministic and Probabilistic Forecasting Methods for Crude Oil Price Employing Optimized Deep Learning, Statistical and Hybrid Models. Information Sciences Journal, 120021, 2024. </a:t>
            </a:r>
            <a:r>
              <a:rPr lang="en-IN" b="1" dirty="0"/>
              <a:t>(Elsevier, Impact Factor: 8.1)</a:t>
            </a:r>
          </a:p>
          <a:p>
            <a:pPr marL="95250" lvl="2" indent="0" algn="just">
              <a:buNone/>
            </a:pPr>
            <a:r>
              <a:rPr lang="en-IN" dirty="0"/>
              <a:t>     </a:t>
            </a:r>
            <a:r>
              <a:rPr lang="en-IN" b="1" dirty="0"/>
              <a:t>DOI: </a:t>
            </a:r>
            <a:r>
              <a:rPr lang="en-IN" dirty="0">
                <a:hlinkClick r:id="rId2" tooltip="Persistent link using digital object identifier"/>
              </a:rPr>
              <a:t>https://doi.org/10.1016/j.ins.2023.120021</a:t>
            </a:r>
            <a:endParaRPr lang="en-IN" u="sng" dirty="0"/>
          </a:p>
          <a:p>
            <a:pPr marL="95250" lvl="2" indent="0" algn="just">
              <a:buNone/>
            </a:pPr>
            <a:r>
              <a:rPr lang="en-US" b="1" u="sng" dirty="0"/>
              <a:t>      </a:t>
            </a:r>
            <a:endParaRPr lang="en-IN" b="1" dirty="0"/>
          </a:p>
          <a:p>
            <a:pPr marL="438150" lvl="2" indent="-342900" algn="just"/>
            <a:r>
              <a:rPr lang="en-IN" b="1" dirty="0"/>
              <a:t>Hyper-parameters of DL models used for optimization</a:t>
            </a:r>
          </a:p>
          <a:p>
            <a:pPr marL="720725" lvl="3" indent="-342900" algn="just"/>
            <a:r>
              <a:rPr lang="en-IN" dirty="0"/>
              <a:t>Number of neurons in each layer </a:t>
            </a:r>
          </a:p>
          <a:p>
            <a:pPr marL="720725" lvl="3" indent="-342900" algn="just"/>
            <a:r>
              <a:rPr lang="en-IN" dirty="0"/>
              <a:t>Activation function </a:t>
            </a:r>
          </a:p>
          <a:p>
            <a:pPr marL="720725" lvl="3" indent="-342900" algn="just"/>
            <a:r>
              <a:rPr lang="en-IN" dirty="0"/>
              <a:t>Learning rate </a:t>
            </a:r>
          </a:p>
          <a:p>
            <a:pPr marL="720725" lvl="3" indent="-342900" algn="just"/>
            <a:r>
              <a:rPr lang="en-IN" dirty="0"/>
              <a:t>Batch size </a:t>
            </a:r>
          </a:p>
          <a:p>
            <a:pPr marL="720725" lvl="3" indent="-342900" algn="just"/>
            <a:r>
              <a:rPr lang="en-IN" dirty="0"/>
              <a:t>Dropout rate</a:t>
            </a:r>
          </a:p>
          <a:p>
            <a:pPr marL="720725" lvl="3" indent="-342900" algn="just"/>
            <a:r>
              <a:rPr lang="en-IN" dirty="0"/>
              <a:t>Kernel initializer (weight initialization scheme) </a:t>
            </a:r>
          </a:p>
          <a:p>
            <a:pPr marL="438150" lvl="2" indent="-342900" algn="just"/>
            <a:r>
              <a:rPr lang="en-IN" b="1" dirty="0"/>
              <a:t>Encoding Scheme</a:t>
            </a:r>
          </a:p>
          <a:p>
            <a:pPr marL="720725" lvl="3" indent="-342900" algn="just"/>
            <a:r>
              <a:rPr lang="en-IN" dirty="0"/>
              <a:t>Proposed fixed-length Real Encoding Scheme with pruning method which has the </a:t>
            </a:r>
            <a:r>
              <a:rPr lang="en-IN" dirty="0">
                <a:solidFill>
                  <a:srgbClr val="2312FA"/>
                </a:solidFill>
              </a:rPr>
              <a:t>simplicity of fixed-length encoding scheme </a:t>
            </a:r>
            <a:r>
              <a:rPr lang="en-IN" dirty="0"/>
              <a:t>with </a:t>
            </a:r>
            <a:r>
              <a:rPr lang="en-IN" dirty="0">
                <a:solidFill>
                  <a:srgbClr val="2312FA"/>
                </a:solidFill>
              </a:rPr>
              <a:t>flexibility of variable-length encoding scheme</a:t>
            </a:r>
            <a:r>
              <a:rPr lang="en-IN" dirty="0"/>
              <a:t>.  </a:t>
            </a:r>
          </a:p>
          <a:p>
            <a:pPr marL="438150" lvl="2" indent="-342900" algn="just"/>
            <a:r>
              <a:rPr lang="en-US" b="1" dirty="0"/>
              <a:t>Optimization Algorithm: </a:t>
            </a:r>
            <a:r>
              <a:rPr lang="en-US" dirty="0"/>
              <a:t>Differential Evolution (DE)</a:t>
            </a:r>
            <a:endParaRPr lang="en-US" b="1" dirty="0"/>
          </a:p>
          <a:p>
            <a:pPr marL="438150" lvl="2" indent="-342900" algn="just"/>
            <a:r>
              <a:rPr lang="en-US" b="1" dirty="0"/>
              <a:t>Applicable to a optimize different DL model </a:t>
            </a:r>
            <a:r>
              <a:rPr lang="en-US" sz="1300" b="1" dirty="0"/>
              <a:t>(LSTM, CNN, GRU, </a:t>
            </a:r>
            <a:r>
              <a:rPr lang="en-US" sz="1300" b="1" dirty="0" err="1"/>
              <a:t>BiLSTM</a:t>
            </a:r>
            <a:r>
              <a:rPr lang="en-US" sz="1300" b="1" dirty="0"/>
              <a:t>, </a:t>
            </a:r>
            <a:r>
              <a:rPr lang="en-US" sz="1300" b="1" dirty="0" err="1"/>
              <a:t>ConvLSTM</a:t>
            </a:r>
            <a:r>
              <a:rPr lang="en-US" sz="1300" b="1" dirty="0"/>
              <a:t>)</a:t>
            </a:r>
          </a:p>
          <a:p>
            <a:pPr marL="438150" lvl="2" indent="-342900" algn="just"/>
            <a:endParaRPr lang="en-US" b="1" dirty="0"/>
          </a:p>
          <a:p>
            <a:pPr marL="95250" lvl="2" indent="0" algn="just">
              <a:buNone/>
            </a:pPr>
            <a:endParaRPr lang="en-US" b="1" dirty="0">
              <a:solidFill>
                <a:srgbClr val="2312FA"/>
              </a:solidFill>
            </a:endParaRPr>
          </a:p>
          <a:p>
            <a:pPr lvl="1"/>
            <a:endParaRPr lang="en-US" dirty="0"/>
          </a:p>
          <a:p>
            <a:endParaRPr lang="en-US" dirty="0"/>
          </a:p>
          <a:p>
            <a:endParaRPr lang="en-US" dirty="0"/>
          </a:p>
        </p:txBody>
      </p:sp>
      <p:sp>
        <p:nvSpPr>
          <p:cNvPr id="4" name="Date Placeholder 3"/>
          <p:cNvSpPr>
            <a:spLocks noGrp="1"/>
          </p:cNvSpPr>
          <p:nvPr>
            <p:ph type="dt" sz="half" idx="10"/>
          </p:nvPr>
        </p:nvSpPr>
        <p:spPr/>
        <p:txBody>
          <a:bodyPr/>
          <a:lstStyle/>
          <a:p>
            <a:fld id="{E7067A60-51C7-4095-BFA9-1CE32DCBA06F}" type="datetime1">
              <a:rPr lang="en-US" smtClean="0"/>
              <a:pPr/>
              <a:t>2/9/2026</a:t>
            </a:fld>
            <a:endParaRPr lang="en-US" dirty="0"/>
          </a:p>
        </p:txBody>
      </p:sp>
      <p:sp>
        <p:nvSpPr>
          <p:cNvPr id="6" name="Slide Number Placeholder 5"/>
          <p:cNvSpPr>
            <a:spLocks noGrp="1"/>
          </p:cNvSpPr>
          <p:nvPr>
            <p:ph type="sldNum" sz="quarter" idx="12"/>
          </p:nvPr>
        </p:nvSpPr>
        <p:spPr/>
        <p:txBody>
          <a:bodyPr/>
          <a:lstStyle/>
          <a:p>
            <a:fld id="{A03BBF96-A7A5-4867-9A4A-2F26A3CC4EC3}" type="slidenum">
              <a:rPr lang="en-US" smtClean="0"/>
              <a:pPr/>
              <a:t>82</a:t>
            </a:fld>
            <a:endParaRPr lang="en-US" dirty="0"/>
          </a:p>
        </p:txBody>
      </p:sp>
      <p:sp>
        <p:nvSpPr>
          <p:cNvPr id="7" name="TextBox 6"/>
          <p:cNvSpPr txBox="1"/>
          <p:nvPr/>
        </p:nvSpPr>
        <p:spPr>
          <a:xfrm>
            <a:off x="0" y="0"/>
            <a:ext cx="4572000" cy="369332"/>
          </a:xfrm>
          <a:prstGeom prst="rect">
            <a:avLst/>
          </a:prstGeom>
          <a:noFill/>
        </p:spPr>
        <p:txBody>
          <a:bodyPr wrap="square" rtlCol="0">
            <a:spAutoFit/>
          </a:bodyPr>
          <a:lstStyle/>
          <a:p>
            <a:pPr algn="r"/>
            <a:r>
              <a:rPr lang="en-US" b="1" dirty="0">
                <a:solidFill>
                  <a:schemeClr val="bg1"/>
                </a:solidFill>
              </a:rPr>
              <a:t>Introduction to Deep Neural Network</a:t>
            </a:r>
          </a:p>
        </p:txBody>
      </p:sp>
      <p:sp>
        <p:nvSpPr>
          <p:cNvPr id="8" name="Rectangle 2"/>
          <p:cNvSpPr>
            <a:spLocks noChangeArrowheads="1"/>
          </p:cNvSpPr>
          <p:nvPr/>
        </p:nvSpPr>
        <p:spPr bwMode="auto">
          <a:xfrm>
            <a:off x="0" y="0"/>
            <a:ext cx="91440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sp>
        <p:nvSpPr>
          <p:cNvPr id="9" name="Rectangle 2"/>
          <p:cNvSpPr>
            <a:spLocks noChangeArrowheads="1"/>
          </p:cNvSpPr>
          <p:nvPr/>
        </p:nvSpPr>
        <p:spPr bwMode="auto">
          <a:xfrm>
            <a:off x="0" y="0"/>
            <a:ext cx="91440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sp>
        <p:nvSpPr>
          <p:cNvPr id="11" name="Footer Placeholder 4">
            <a:extLst>
              <a:ext uri="{FF2B5EF4-FFF2-40B4-BE49-F238E27FC236}">
                <a16:creationId xmlns:a16="http://schemas.microsoft.com/office/drawing/2014/main" id="{CBB301ED-B8A4-4772-B559-A9E41E7472BD}"/>
              </a:ext>
            </a:extLst>
          </p:cNvPr>
          <p:cNvSpPr>
            <a:spLocks noGrp="1"/>
          </p:cNvSpPr>
          <p:nvPr>
            <p:ph type="ftr" sz="quarter" idx="11"/>
          </p:nvPr>
        </p:nvSpPr>
        <p:spPr>
          <a:xfrm>
            <a:off x="2286000" y="6629400"/>
            <a:ext cx="4136571" cy="228600"/>
          </a:xfrm>
        </p:spPr>
        <p:txBody>
          <a:bodyPr/>
          <a:lstStyle/>
          <a:p>
            <a:r>
              <a:rPr lang="en-US" dirty="0"/>
              <a:t>Dr. Sibarama Panigrahi, Dept. of CSE, NITR</a:t>
            </a:r>
          </a:p>
        </p:txBody>
      </p:sp>
    </p:spTree>
    <p:extLst>
      <p:ext uri="{BB962C8B-B14F-4D97-AF65-F5344CB8AC3E}">
        <p14:creationId xmlns:p14="http://schemas.microsoft.com/office/powerpoint/2010/main" val="4035774318"/>
      </p:ext>
    </p:extLst>
  </p:cSld>
  <p:clrMapOvr>
    <a:masterClrMapping/>
  </p:clrMapOvr>
</p:sld>
</file>

<file path=ppt/slides/slide8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b="1" cap="small" dirty="0"/>
              <a:t>Possible Solutions…</a:t>
            </a:r>
          </a:p>
        </p:txBody>
      </p:sp>
      <p:sp>
        <p:nvSpPr>
          <p:cNvPr id="3" name="Content Placeholder 2"/>
          <p:cNvSpPr>
            <a:spLocks noGrp="1"/>
          </p:cNvSpPr>
          <p:nvPr>
            <p:ph idx="1"/>
          </p:nvPr>
        </p:nvSpPr>
        <p:spPr/>
        <p:txBody>
          <a:bodyPr>
            <a:normAutofit/>
          </a:bodyPr>
          <a:lstStyle/>
          <a:p>
            <a:pPr marL="438150" lvl="2" indent="-342900" algn="just"/>
            <a:r>
              <a:rPr lang="en-US" sz="2800" b="1" dirty="0"/>
              <a:t>Grid Search</a:t>
            </a:r>
          </a:p>
          <a:p>
            <a:pPr marL="95250" lvl="2" indent="0" algn="just">
              <a:buNone/>
            </a:pPr>
            <a:endParaRPr lang="en-US" sz="2800" b="1" dirty="0"/>
          </a:p>
          <a:p>
            <a:pPr marL="438150" lvl="2" indent="-342900" algn="just"/>
            <a:r>
              <a:rPr lang="en-US" sz="2800" b="1" dirty="0">
                <a:solidFill>
                  <a:srgbClr val="2312FA"/>
                </a:solidFill>
              </a:rPr>
              <a:t>Bayesian Optimization</a:t>
            </a:r>
          </a:p>
          <a:p>
            <a:pPr marL="95250" lvl="2" indent="0" algn="just">
              <a:buNone/>
            </a:pPr>
            <a:endParaRPr lang="en-US" sz="2800" b="1" dirty="0">
              <a:solidFill>
                <a:srgbClr val="2312FA"/>
              </a:solidFill>
            </a:endParaRPr>
          </a:p>
          <a:p>
            <a:pPr marL="438150" lvl="2" indent="-342900" algn="just"/>
            <a:r>
              <a:rPr lang="en-US" sz="2800" b="1" dirty="0"/>
              <a:t>Swarm and Evolutionary Algorithms</a:t>
            </a:r>
          </a:p>
          <a:p>
            <a:pPr marL="95250" lvl="2" indent="0" algn="just">
              <a:buNone/>
            </a:pPr>
            <a:endParaRPr lang="en-US" b="1" dirty="0"/>
          </a:p>
          <a:p>
            <a:pPr marL="95250" lvl="2" indent="0" algn="just">
              <a:buNone/>
            </a:pPr>
            <a:endParaRPr lang="en-US" b="1" dirty="0">
              <a:solidFill>
                <a:srgbClr val="2312FA"/>
              </a:solidFill>
            </a:endParaRPr>
          </a:p>
          <a:p>
            <a:pPr lvl="1"/>
            <a:endParaRPr lang="en-US" dirty="0"/>
          </a:p>
          <a:p>
            <a:endParaRPr lang="en-US" dirty="0"/>
          </a:p>
          <a:p>
            <a:endParaRPr lang="en-US" dirty="0"/>
          </a:p>
        </p:txBody>
      </p:sp>
      <p:sp>
        <p:nvSpPr>
          <p:cNvPr id="4" name="Date Placeholder 3"/>
          <p:cNvSpPr>
            <a:spLocks noGrp="1"/>
          </p:cNvSpPr>
          <p:nvPr>
            <p:ph type="dt" sz="half" idx="10"/>
          </p:nvPr>
        </p:nvSpPr>
        <p:spPr/>
        <p:txBody>
          <a:bodyPr/>
          <a:lstStyle/>
          <a:p>
            <a:fld id="{E7067A60-51C7-4095-BFA9-1CE32DCBA06F}" type="datetime1">
              <a:rPr lang="en-US" smtClean="0"/>
              <a:pPr/>
              <a:t>2/9/2026</a:t>
            </a:fld>
            <a:endParaRPr lang="en-US" dirty="0"/>
          </a:p>
        </p:txBody>
      </p:sp>
      <p:sp>
        <p:nvSpPr>
          <p:cNvPr id="6" name="Slide Number Placeholder 5"/>
          <p:cNvSpPr>
            <a:spLocks noGrp="1"/>
          </p:cNvSpPr>
          <p:nvPr>
            <p:ph type="sldNum" sz="quarter" idx="12"/>
          </p:nvPr>
        </p:nvSpPr>
        <p:spPr/>
        <p:txBody>
          <a:bodyPr/>
          <a:lstStyle/>
          <a:p>
            <a:fld id="{A03BBF96-A7A5-4867-9A4A-2F26A3CC4EC3}" type="slidenum">
              <a:rPr lang="en-US" smtClean="0"/>
              <a:pPr/>
              <a:t>83</a:t>
            </a:fld>
            <a:endParaRPr lang="en-US" dirty="0"/>
          </a:p>
        </p:txBody>
      </p:sp>
      <p:sp>
        <p:nvSpPr>
          <p:cNvPr id="7" name="TextBox 6"/>
          <p:cNvSpPr txBox="1"/>
          <p:nvPr/>
        </p:nvSpPr>
        <p:spPr>
          <a:xfrm>
            <a:off x="0" y="0"/>
            <a:ext cx="4572000" cy="369332"/>
          </a:xfrm>
          <a:prstGeom prst="rect">
            <a:avLst/>
          </a:prstGeom>
          <a:noFill/>
        </p:spPr>
        <p:txBody>
          <a:bodyPr wrap="square" rtlCol="0">
            <a:spAutoFit/>
          </a:bodyPr>
          <a:lstStyle/>
          <a:p>
            <a:pPr algn="r"/>
            <a:r>
              <a:rPr lang="en-US" b="1" dirty="0">
                <a:solidFill>
                  <a:schemeClr val="bg1"/>
                </a:solidFill>
              </a:rPr>
              <a:t>Time Series Forecasting</a:t>
            </a:r>
          </a:p>
        </p:txBody>
      </p:sp>
      <p:sp>
        <p:nvSpPr>
          <p:cNvPr id="8" name="Rectangle 2"/>
          <p:cNvSpPr>
            <a:spLocks noChangeArrowheads="1"/>
          </p:cNvSpPr>
          <p:nvPr/>
        </p:nvSpPr>
        <p:spPr bwMode="auto">
          <a:xfrm>
            <a:off x="0" y="0"/>
            <a:ext cx="91440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sp>
        <p:nvSpPr>
          <p:cNvPr id="9" name="Rectangle 2"/>
          <p:cNvSpPr>
            <a:spLocks noChangeArrowheads="1"/>
          </p:cNvSpPr>
          <p:nvPr/>
        </p:nvSpPr>
        <p:spPr bwMode="auto">
          <a:xfrm>
            <a:off x="0" y="0"/>
            <a:ext cx="91440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sp>
        <p:nvSpPr>
          <p:cNvPr id="11" name="Footer Placeholder 4">
            <a:extLst>
              <a:ext uri="{FF2B5EF4-FFF2-40B4-BE49-F238E27FC236}">
                <a16:creationId xmlns:a16="http://schemas.microsoft.com/office/drawing/2014/main" id="{CBB301ED-B8A4-4772-B559-A9E41E7472BD}"/>
              </a:ext>
            </a:extLst>
          </p:cNvPr>
          <p:cNvSpPr>
            <a:spLocks noGrp="1"/>
          </p:cNvSpPr>
          <p:nvPr>
            <p:ph type="ftr" sz="quarter" idx="11"/>
          </p:nvPr>
        </p:nvSpPr>
        <p:spPr>
          <a:xfrm>
            <a:off x="2286000" y="6629400"/>
            <a:ext cx="4136571" cy="228600"/>
          </a:xfrm>
        </p:spPr>
        <p:txBody>
          <a:bodyPr/>
          <a:lstStyle/>
          <a:p>
            <a:r>
              <a:rPr lang="en-US" dirty="0"/>
              <a:t>Dr. Sibarama Panigrahi, Dept. of CSE&amp;A, SUIIT</a:t>
            </a:r>
          </a:p>
        </p:txBody>
      </p:sp>
      <p:pic>
        <p:nvPicPr>
          <p:cNvPr id="5" name="Picture 4"/>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0" y="0"/>
            <a:ext cx="9220200" cy="6858000"/>
          </a:xfrm>
          <a:prstGeom prst="rect">
            <a:avLst/>
          </a:prstGeom>
        </p:spPr>
      </p:pic>
    </p:spTree>
    <p:extLst>
      <p:ext uri="{BB962C8B-B14F-4D97-AF65-F5344CB8AC3E}">
        <p14:creationId xmlns:p14="http://schemas.microsoft.com/office/powerpoint/2010/main" val="975792910"/>
      </p:ext>
    </p:extLst>
  </p:cSld>
  <p:clrMapOvr>
    <a:masterClrMapping/>
  </p:clrMapOvr>
</p:sld>
</file>

<file path=ppt/slides/slide8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Autofit/>
          </a:bodyPr>
          <a:lstStyle/>
          <a:p>
            <a:pPr marL="0"/>
            <a:r>
              <a:rPr lang="en-US" sz="2400" b="1" cap="small" dirty="0"/>
              <a:t>Optimizing DL Models using Swarm and Evolutionary </a:t>
            </a:r>
            <a:r>
              <a:rPr lang="en-US" sz="2400" b="1" cap="small" dirty="0" err="1"/>
              <a:t>Algos</a:t>
            </a:r>
            <a:endParaRPr lang="en-US" sz="2400" b="1" cap="small" dirty="0"/>
          </a:p>
        </p:txBody>
      </p:sp>
      <mc:AlternateContent xmlns:mc="http://schemas.openxmlformats.org/markup-compatibility/2006" xmlns:a14="http://schemas.microsoft.com/office/drawing/2010/main">
        <mc:Choice Requires="a14">
          <p:sp>
            <p:nvSpPr>
              <p:cNvPr id="3" name="Content Placeholder 2"/>
              <p:cNvSpPr>
                <a:spLocks noGrp="1"/>
              </p:cNvSpPr>
              <p:nvPr>
                <p:ph idx="1"/>
              </p:nvPr>
            </p:nvSpPr>
            <p:spPr/>
            <p:txBody>
              <a:bodyPr>
                <a:normAutofit/>
              </a:bodyPr>
              <a:lstStyle/>
              <a:p>
                <a:pPr marL="438150" lvl="2" indent="-342900" algn="just"/>
                <a:r>
                  <a:rPr lang="en-US" sz="2800" b="1" dirty="0"/>
                  <a:t>Encoding a DL Model to a Chromosome </a:t>
                </a:r>
                <a14:m>
                  <m:oMath xmlns:m="http://schemas.openxmlformats.org/officeDocument/2006/math">
                    <m:r>
                      <a:rPr lang="en-IN" sz="2800" i="1">
                        <a:latin typeface="Cambria Math" panose="02040503050406030204" pitchFamily="18" charset="0"/>
                      </a:rPr>
                      <m:t>(</m:t>
                    </m:r>
                    <m:sSub>
                      <m:sSubPr>
                        <m:ctrlPr>
                          <a:rPr lang="en-US" sz="2800" i="1">
                            <a:latin typeface="Cambria Math" panose="02040503050406030204" pitchFamily="18" charset="0"/>
                          </a:rPr>
                        </m:ctrlPr>
                      </m:sSubPr>
                      <m:e>
                        <m:r>
                          <a:rPr lang="en-IN" sz="2800" i="1">
                            <a:latin typeface="Cambria Math" panose="02040503050406030204" pitchFamily="18" charset="0"/>
                          </a:rPr>
                          <m:t>𝐶</m:t>
                        </m:r>
                      </m:e>
                      <m:sub>
                        <m:r>
                          <a:rPr lang="en-IN" sz="2800" i="1">
                            <a:latin typeface="Cambria Math" panose="02040503050406030204" pitchFamily="18" charset="0"/>
                          </a:rPr>
                          <m:t>𝑖</m:t>
                        </m:r>
                      </m:sub>
                    </m:sSub>
                    <m:r>
                      <a:rPr lang="en-IN" sz="2800" i="1">
                        <a:latin typeface="Cambria Math" panose="02040503050406030204" pitchFamily="18" charset="0"/>
                      </a:rPr>
                      <m:t>)</m:t>
                    </m:r>
                  </m:oMath>
                </a14:m>
                <a:endParaRPr lang="en-US" sz="2800" b="1" dirty="0"/>
              </a:p>
              <a:p>
                <a:pPr marL="438150" lvl="2" indent="-342900" algn="just"/>
                <a:endParaRPr lang="en-US" sz="2800" b="1" dirty="0"/>
              </a:p>
              <a:p>
                <a:pPr marL="438150" lvl="2" indent="-342900" algn="just"/>
                <a:endParaRPr lang="en-US" sz="2800" b="1" dirty="0"/>
              </a:p>
              <a:p>
                <a:pPr marL="438150" lvl="2" indent="-342900" algn="just"/>
                <a:endParaRPr lang="en-US" sz="2800" b="1" dirty="0"/>
              </a:p>
              <a:p>
                <a:pPr marL="438150" lvl="2" indent="-342900" algn="just"/>
                <a:endParaRPr lang="en-US" sz="2800" b="1" dirty="0"/>
              </a:p>
              <a:p>
                <a:pPr marL="438150" lvl="2" indent="-342900" algn="just"/>
                <a:r>
                  <a:rPr lang="en-US" sz="2800" b="1" dirty="0"/>
                  <a:t>Objective Function:</a:t>
                </a:r>
                <a:endParaRPr lang="en-US" sz="2800" i="1" dirty="0"/>
              </a:p>
              <a:p>
                <a:pPr marL="336550" lvl="1" indent="0">
                  <a:buSzPct val="120000"/>
                  <a:buNone/>
                </a:pPr>
                <a14:m>
                  <m:oMathPara xmlns:m="http://schemas.openxmlformats.org/officeDocument/2006/math">
                    <m:oMathParaPr>
                      <m:jc m:val="centerGroup"/>
                    </m:oMathParaPr>
                    <m:oMath xmlns:m="http://schemas.openxmlformats.org/officeDocument/2006/math">
                      <m:func>
                        <m:funcPr>
                          <m:ctrlPr>
                            <a:rPr lang="en-US" i="1">
                              <a:latin typeface="Cambria Math" panose="02040503050406030204" pitchFamily="18" charset="0"/>
                            </a:rPr>
                          </m:ctrlPr>
                        </m:funcPr>
                        <m:fName>
                          <m:limLow>
                            <m:limLowPr>
                              <m:ctrlPr>
                                <a:rPr lang="en-US" i="1">
                                  <a:latin typeface="Cambria Math" panose="02040503050406030204" pitchFamily="18" charset="0"/>
                                </a:rPr>
                              </m:ctrlPr>
                            </m:limLowPr>
                            <m:e>
                              <m:r>
                                <m:rPr>
                                  <m:sty m:val="p"/>
                                </m:rPr>
                                <a:rPr lang="en-US">
                                  <a:latin typeface="Cambria Math" panose="02040503050406030204" pitchFamily="18" charset="0"/>
                                </a:rPr>
                                <m:t>m</m:t>
                              </m:r>
                              <m:r>
                                <a:rPr lang="en-IN" i="1">
                                  <a:latin typeface="Cambria Math" panose="02040503050406030204" pitchFamily="18" charset="0"/>
                                </a:rPr>
                                <m:t>𝑖𝑛</m:t>
                              </m:r>
                            </m:e>
                            <m:lim>
                              <m:sSub>
                                <m:sSubPr>
                                  <m:ctrlPr>
                                    <a:rPr lang="en-US" i="1">
                                      <a:latin typeface="Cambria Math" panose="02040503050406030204" pitchFamily="18" charset="0"/>
                                    </a:rPr>
                                  </m:ctrlPr>
                                </m:sSubPr>
                                <m:e>
                                  <m:r>
                                    <a:rPr lang="en-IN" i="1">
                                      <a:latin typeface="Cambria Math" panose="02040503050406030204" pitchFamily="18" charset="0"/>
                                    </a:rPr>
                                    <m:t>𝐶</m:t>
                                  </m:r>
                                </m:e>
                                <m:sub>
                                  <m:r>
                                    <a:rPr lang="en-IN" i="1">
                                      <a:latin typeface="Cambria Math" panose="02040503050406030204" pitchFamily="18" charset="0"/>
                                    </a:rPr>
                                    <m:t>𝑖</m:t>
                                  </m:r>
                                </m:sub>
                              </m:sSub>
                            </m:lim>
                          </m:limLow>
                        </m:fName>
                        <m:e>
                          <m:r>
                            <a:rPr lang="en-IN" i="1">
                              <a:latin typeface="Cambria Math" panose="02040503050406030204" pitchFamily="18" charset="0"/>
                            </a:rPr>
                            <m:t>𝑓</m:t>
                          </m:r>
                          <m:r>
                            <a:rPr lang="en-IN" i="1">
                              <a:latin typeface="Cambria Math" panose="02040503050406030204" pitchFamily="18" charset="0"/>
                            </a:rPr>
                            <m:t>(</m:t>
                          </m:r>
                          <m:sSub>
                            <m:sSubPr>
                              <m:ctrlPr>
                                <a:rPr lang="en-US" i="1">
                                  <a:latin typeface="Cambria Math" panose="02040503050406030204" pitchFamily="18" charset="0"/>
                                </a:rPr>
                              </m:ctrlPr>
                            </m:sSubPr>
                            <m:e>
                              <m:r>
                                <a:rPr lang="en-IN" i="1">
                                  <a:latin typeface="Cambria Math" panose="02040503050406030204" pitchFamily="18" charset="0"/>
                                </a:rPr>
                                <m:t>𝐶</m:t>
                              </m:r>
                            </m:e>
                            <m:sub>
                              <m:r>
                                <a:rPr lang="en-IN" i="1">
                                  <a:latin typeface="Cambria Math" panose="02040503050406030204" pitchFamily="18" charset="0"/>
                                </a:rPr>
                                <m:t>𝑖</m:t>
                              </m:r>
                            </m:sub>
                          </m:sSub>
                          <m:r>
                            <a:rPr lang="en-IN" i="1">
                              <a:latin typeface="Cambria Math" panose="02040503050406030204" pitchFamily="18" charset="0"/>
                            </a:rPr>
                            <m:t>)</m:t>
                          </m:r>
                        </m:e>
                      </m:func>
                    </m:oMath>
                  </m:oMathPara>
                </a14:m>
                <a:endParaRPr lang="en-IN" dirty="0"/>
              </a:p>
              <a:p>
                <a:pPr marL="336550" indent="0">
                  <a:buNone/>
                </a:pPr>
                <a:r>
                  <a:rPr lang="en-US" dirty="0"/>
                  <a:t>                                Subjected to </a:t>
                </a:r>
                <a14:m>
                  <m:oMath xmlns:m="http://schemas.openxmlformats.org/officeDocument/2006/math">
                    <m:sSub>
                      <m:sSubPr>
                        <m:ctrlPr>
                          <a:rPr lang="en-US" i="1">
                            <a:latin typeface="Cambria Math" panose="02040503050406030204" pitchFamily="18" charset="0"/>
                          </a:rPr>
                        </m:ctrlPr>
                      </m:sSubPr>
                      <m:e>
                        <m:sSub>
                          <m:sSubPr>
                            <m:ctrlPr>
                              <a:rPr lang="en-US" i="1">
                                <a:latin typeface="Cambria Math" panose="02040503050406030204" pitchFamily="18" charset="0"/>
                              </a:rPr>
                            </m:ctrlPr>
                          </m:sSubPr>
                          <m:e>
                            <m:r>
                              <a:rPr lang="en-IN" i="1">
                                <a:latin typeface="Cambria Math" panose="02040503050406030204" pitchFamily="18" charset="0"/>
                              </a:rPr>
                              <m:t>𝐿</m:t>
                            </m:r>
                          </m:e>
                          <m:sub>
                            <m:r>
                              <a:rPr lang="en-US" i="1">
                                <a:latin typeface="Cambria Math" panose="02040503050406030204" pitchFamily="18" charset="0"/>
                              </a:rPr>
                              <m:t>𝑗</m:t>
                            </m:r>
                          </m:sub>
                        </m:sSub>
                        <m:r>
                          <a:rPr lang="en-IN" i="1">
                            <a:latin typeface="Cambria Math" panose="02040503050406030204" pitchFamily="18" charset="0"/>
                            <a:ea typeface="Cambria Math" panose="02040503050406030204" pitchFamily="18" charset="0"/>
                          </a:rPr>
                          <m:t>≤</m:t>
                        </m:r>
                        <m:r>
                          <a:rPr lang="en-IN" i="1">
                            <a:latin typeface="Cambria Math" panose="02040503050406030204" pitchFamily="18" charset="0"/>
                          </a:rPr>
                          <m:t>𝐶</m:t>
                        </m:r>
                      </m:e>
                      <m:sub>
                        <m:r>
                          <a:rPr lang="en-IN" i="1">
                            <a:latin typeface="Cambria Math" panose="02040503050406030204" pitchFamily="18" charset="0"/>
                          </a:rPr>
                          <m:t>𝑖</m:t>
                        </m:r>
                        <m:r>
                          <a:rPr lang="en-US" i="1">
                            <a:latin typeface="Cambria Math" panose="02040503050406030204" pitchFamily="18" charset="0"/>
                          </a:rPr>
                          <m:t>,</m:t>
                        </m:r>
                        <m:r>
                          <a:rPr lang="en-US" i="1">
                            <a:latin typeface="Cambria Math" panose="02040503050406030204" pitchFamily="18" charset="0"/>
                          </a:rPr>
                          <m:t>𝑗</m:t>
                        </m:r>
                      </m:sub>
                    </m:sSub>
                    <m:r>
                      <a:rPr lang="en-IN" i="1">
                        <a:latin typeface="Cambria Math" panose="02040503050406030204" pitchFamily="18" charset="0"/>
                        <a:ea typeface="Cambria Math" panose="02040503050406030204" pitchFamily="18" charset="0"/>
                      </a:rPr>
                      <m:t>≤</m:t>
                    </m:r>
                    <m:sSub>
                      <m:sSubPr>
                        <m:ctrlPr>
                          <a:rPr lang="en-US" i="1">
                            <a:latin typeface="Cambria Math" panose="02040503050406030204" pitchFamily="18" charset="0"/>
                          </a:rPr>
                        </m:ctrlPr>
                      </m:sSubPr>
                      <m:e>
                        <m:r>
                          <a:rPr lang="en-IN" i="1">
                            <a:latin typeface="Cambria Math" panose="02040503050406030204" pitchFamily="18" charset="0"/>
                          </a:rPr>
                          <m:t>𝑈</m:t>
                        </m:r>
                      </m:e>
                      <m:sub>
                        <m:r>
                          <a:rPr lang="en-US" i="1">
                            <a:latin typeface="Cambria Math" panose="02040503050406030204" pitchFamily="18" charset="0"/>
                          </a:rPr>
                          <m:t>𝑗</m:t>
                        </m:r>
                      </m:sub>
                    </m:sSub>
                  </m:oMath>
                </a14:m>
                <a:endParaRPr lang="en-US" dirty="0"/>
              </a:p>
              <a:p>
                <a:pPr marL="336550" indent="0">
                  <a:buNone/>
                </a:pPr>
                <a:r>
                  <a:rPr lang="en-US" sz="2400" i="1" dirty="0"/>
                  <a:t> where </a:t>
                </a:r>
                <a14:m>
                  <m:oMath xmlns:m="http://schemas.openxmlformats.org/officeDocument/2006/math">
                    <m:r>
                      <a:rPr lang="en-IN" sz="2400" i="1">
                        <a:latin typeface="Cambria Math" panose="02040503050406030204" pitchFamily="18" charset="0"/>
                      </a:rPr>
                      <m:t>𝑓</m:t>
                    </m:r>
                    <m:r>
                      <a:rPr lang="en-IN" sz="2400" i="1">
                        <a:latin typeface="Cambria Math" panose="02040503050406030204" pitchFamily="18" charset="0"/>
                      </a:rPr>
                      <m:t>(∙)</m:t>
                    </m:r>
                  </m:oMath>
                </a14:m>
                <a:r>
                  <a:rPr lang="en-US" sz="2400" i="1" dirty="0"/>
                  <a:t> denotes the mean square error using the DL Model with hyper-parameters encoded in </a:t>
                </a:r>
                <a14:m>
                  <m:oMath xmlns:m="http://schemas.openxmlformats.org/officeDocument/2006/math">
                    <m:sSub>
                      <m:sSubPr>
                        <m:ctrlPr>
                          <a:rPr lang="en-US" sz="2400" i="1">
                            <a:latin typeface="Cambria Math" panose="02040503050406030204" pitchFamily="18" charset="0"/>
                          </a:rPr>
                        </m:ctrlPr>
                      </m:sSubPr>
                      <m:e>
                        <m:r>
                          <a:rPr lang="en-IN" sz="2400" i="1">
                            <a:latin typeface="Cambria Math" panose="02040503050406030204" pitchFamily="18" charset="0"/>
                          </a:rPr>
                          <m:t>𝐶</m:t>
                        </m:r>
                      </m:e>
                      <m:sub>
                        <m:r>
                          <a:rPr lang="en-IN" sz="2400" i="1">
                            <a:latin typeface="Cambria Math" panose="02040503050406030204" pitchFamily="18" charset="0"/>
                          </a:rPr>
                          <m:t>𝑖</m:t>
                        </m:r>
                      </m:sub>
                    </m:sSub>
                  </m:oMath>
                </a14:m>
                <a:r>
                  <a:rPr lang="en-US" sz="2400" i="1" dirty="0"/>
                  <a:t>.</a:t>
                </a:r>
              </a:p>
              <a:p>
                <a:pPr marL="438150" lvl="2" indent="-342900" algn="just"/>
                <a:endParaRPr lang="en-US" b="1" dirty="0"/>
              </a:p>
              <a:p>
                <a:pPr marL="95250" lvl="2" indent="0" algn="just">
                  <a:buNone/>
                </a:pPr>
                <a:endParaRPr lang="en-US" b="1" dirty="0">
                  <a:solidFill>
                    <a:srgbClr val="2312FA"/>
                  </a:solidFill>
                </a:endParaRPr>
              </a:p>
              <a:p>
                <a:pPr lvl="1"/>
                <a:endParaRPr lang="en-US" dirty="0"/>
              </a:p>
              <a:p>
                <a:endParaRPr lang="en-US" dirty="0"/>
              </a:p>
              <a:p>
                <a:endParaRPr lang="en-US" dirty="0"/>
              </a:p>
            </p:txBody>
          </p:sp>
        </mc:Choice>
        <mc:Fallback xmlns="">
          <p:sp>
            <p:nvSpPr>
              <p:cNvPr id="3" name="Content Placeholder 2"/>
              <p:cNvSpPr>
                <a:spLocks noGrp="1" noRot="1" noChangeAspect="1" noMove="1" noResize="1" noEditPoints="1" noAdjustHandles="1" noChangeArrowheads="1" noChangeShapeType="1" noTextEdit="1"/>
              </p:cNvSpPr>
              <p:nvPr>
                <p:ph idx="1"/>
              </p:nvPr>
            </p:nvSpPr>
            <p:spPr>
              <a:blipFill rotWithShape="0">
                <a:blip r:embed="rId2"/>
                <a:stretch>
                  <a:fillRect l="-533" t="-2081"/>
                </a:stretch>
              </a:blipFill>
            </p:spPr>
            <p:txBody>
              <a:bodyPr/>
              <a:lstStyle/>
              <a:p>
                <a:r>
                  <a:rPr lang="en-IN">
                    <a:noFill/>
                  </a:rPr>
                  <a:t> </a:t>
                </a:r>
              </a:p>
            </p:txBody>
          </p:sp>
        </mc:Fallback>
      </mc:AlternateContent>
      <p:sp>
        <p:nvSpPr>
          <p:cNvPr id="4" name="Date Placeholder 3"/>
          <p:cNvSpPr>
            <a:spLocks noGrp="1"/>
          </p:cNvSpPr>
          <p:nvPr>
            <p:ph type="dt" sz="half" idx="10"/>
          </p:nvPr>
        </p:nvSpPr>
        <p:spPr/>
        <p:txBody>
          <a:bodyPr/>
          <a:lstStyle/>
          <a:p>
            <a:fld id="{E7067A60-51C7-4095-BFA9-1CE32DCBA06F}" type="datetime1">
              <a:rPr lang="en-US" smtClean="0"/>
              <a:pPr/>
              <a:t>2/9/2026</a:t>
            </a:fld>
            <a:endParaRPr lang="en-US" dirty="0"/>
          </a:p>
        </p:txBody>
      </p:sp>
      <p:sp>
        <p:nvSpPr>
          <p:cNvPr id="6" name="Slide Number Placeholder 5"/>
          <p:cNvSpPr>
            <a:spLocks noGrp="1"/>
          </p:cNvSpPr>
          <p:nvPr>
            <p:ph type="sldNum" sz="quarter" idx="12"/>
          </p:nvPr>
        </p:nvSpPr>
        <p:spPr/>
        <p:txBody>
          <a:bodyPr/>
          <a:lstStyle/>
          <a:p>
            <a:fld id="{A03BBF96-A7A5-4867-9A4A-2F26A3CC4EC3}" type="slidenum">
              <a:rPr lang="en-US" smtClean="0"/>
              <a:pPr/>
              <a:t>84</a:t>
            </a:fld>
            <a:endParaRPr lang="en-US" dirty="0"/>
          </a:p>
        </p:txBody>
      </p:sp>
      <p:sp>
        <p:nvSpPr>
          <p:cNvPr id="7" name="TextBox 6"/>
          <p:cNvSpPr txBox="1"/>
          <p:nvPr/>
        </p:nvSpPr>
        <p:spPr>
          <a:xfrm>
            <a:off x="0" y="0"/>
            <a:ext cx="4572000" cy="369332"/>
          </a:xfrm>
          <a:prstGeom prst="rect">
            <a:avLst/>
          </a:prstGeom>
          <a:noFill/>
        </p:spPr>
        <p:txBody>
          <a:bodyPr wrap="square" rtlCol="0">
            <a:spAutoFit/>
          </a:bodyPr>
          <a:lstStyle/>
          <a:p>
            <a:pPr algn="r"/>
            <a:r>
              <a:rPr lang="en-US" b="1" dirty="0">
                <a:solidFill>
                  <a:schemeClr val="bg1"/>
                </a:solidFill>
              </a:rPr>
              <a:t>Introduction to Deep Neural Network</a:t>
            </a:r>
          </a:p>
        </p:txBody>
      </p:sp>
      <p:sp>
        <p:nvSpPr>
          <p:cNvPr id="8" name="Rectangle 2"/>
          <p:cNvSpPr>
            <a:spLocks noChangeArrowheads="1"/>
          </p:cNvSpPr>
          <p:nvPr/>
        </p:nvSpPr>
        <p:spPr bwMode="auto">
          <a:xfrm>
            <a:off x="0" y="0"/>
            <a:ext cx="91440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sp>
        <p:nvSpPr>
          <p:cNvPr id="9" name="Rectangle 2"/>
          <p:cNvSpPr>
            <a:spLocks noChangeArrowheads="1"/>
          </p:cNvSpPr>
          <p:nvPr/>
        </p:nvSpPr>
        <p:spPr bwMode="auto">
          <a:xfrm>
            <a:off x="0" y="0"/>
            <a:ext cx="91440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sp>
        <p:nvSpPr>
          <p:cNvPr id="11" name="Footer Placeholder 4">
            <a:extLst>
              <a:ext uri="{FF2B5EF4-FFF2-40B4-BE49-F238E27FC236}">
                <a16:creationId xmlns:a16="http://schemas.microsoft.com/office/drawing/2014/main" id="{CBB301ED-B8A4-4772-B559-A9E41E7472BD}"/>
              </a:ext>
            </a:extLst>
          </p:cNvPr>
          <p:cNvSpPr>
            <a:spLocks noGrp="1"/>
          </p:cNvSpPr>
          <p:nvPr>
            <p:ph type="ftr" sz="quarter" idx="11"/>
          </p:nvPr>
        </p:nvSpPr>
        <p:spPr>
          <a:xfrm>
            <a:off x="2286000" y="6629400"/>
            <a:ext cx="4136571" cy="228600"/>
          </a:xfrm>
        </p:spPr>
        <p:txBody>
          <a:bodyPr/>
          <a:lstStyle/>
          <a:p>
            <a:r>
              <a:rPr lang="en-US" dirty="0"/>
              <a:t>Dr. Sibarama Panigrahi, Dept. of CSE, NITR</a:t>
            </a:r>
          </a:p>
        </p:txBody>
      </p:sp>
      <p:pic>
        <p:nvPicPr>
          <p:cNvPr id="10" name="Picture 9"/>
          <p:cNvPicPr>
            <a:picLocks noChangeAspect="1"/>
          </p:cNvPicPr>
          <p:nvPr/>
        </p:nvPicPr>
        <p:blipFill>
          <a:blip r:embed="rId3"/>
          <a:stretch>
            <a:fillRect/>
          </a:stretch>
        </p:blipFill>
        <p:spPr>
          <a:xfrm>
            <a:off x="166687" y="1890425"/>
            <a:ext cx="8901113" cy="1309975"/>
          </a:xfrm>
          <a:prstGeom prst="rect">
            <a:avLst/>
          </a:prstGeom>
        </p:spPr>
      </p:pic>
    </p:spTree>
    <p:extLst>
      <p:ext uri="{BB962C8B-B14F-4D97-AF65-F5344CB8AC3E}">
        <p14:creationId xmlns:p14="http://schemas.microsoft.com/office/powerpoint/2010/main" val="893370682"/>
      </p:ext>
    </p:extLst>
  </p:cSld>
  <p:clrMapOvr>
    <a:masterClrMapping/>
  </p:clrMapOvr>
</p:sld>
</file>

<file path=ppt/slides/slide8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Autofit/>
          </a:bodyPr>
          <a:lstStyle/>
          <a:p>
            <a:r>
              <a:rPr lang="en-US" sz="2300" b="1" cap="small" dirty="0"/>
              <a:t>Optimizing DL Models using Swarm and Evolutionary </a:t>
            </a:r>
            <a:r>
              <a:rPr lang="en-US" sz="2300" b="1" cap="small" dirty="0" err="1"/>
              <a:t>Algos</a:t>
            </a:r>
            <a:endParaRPr lang="en-US" sz="2300" b="1" cap="small" dirty="0"/>
          </a:p>
        </p:txBody>
      </p:sp>
      <p:sp>
        <p:nvSpPr>
          <p:cNvPr id="3" name="Content Placeholder 2"/>
          <p:cNvSpPr>
            <a:spLocks noGrp="1"/>
          </p:cNvSpPr>
          <p:nvPr>
            <p:ph idx="1"/>
          </p:nvPr>
        </p:nvSpPr>
        <p:spPr/>
        <p:txBody>
          <a:bodyPr>
            <a:normAutofit/>
          </a:bodyPr>
          <a:lstStyle/>
          <a:p>
            <a:pPr marL="438150" lvl="2" indent="-342900" algn="just"/>
            <a:r>
              <a:rPr lang="en-US" sz="2800" b="1" dirty="0"/>
              <a:t>Decoding a Chromosome</a:t>
            </a:r>
            <a:endParaRPr lang="en-US" dirty="0"/>
          </a:p>
          <a:p>
            <a:endParaRPr lang="en-US" dirty="0"/>
          </a:p>
          <a:p>
            <a:endParaRPr lang="en-US" dirty="0"/>
          </a:p>
        </p:txBody>
      </p:sp>
      <p:sp>
        <p:nvSpPr>
          <p:cNvPr id="4" name="Date Placeholder 3"/>
          <p:cNvSpPr>
            <a:spLocks noGrp="1"/>
          </p:cNvSpPr>
          <p:nvPr>
            <p:ph type="dt" sz="half" idx="10"/>
          </p:nvPr>
        </p:nvSpPr>
        <p:spPr/>
        <p:txBody>
          <a:bodyPr/>
          <a:lstStyle/>
          <a:p>
            <a:fld id="{E7067A60-51C7-4095-BFA9-1CE32DCBA06F}" type="datetime1">
              <a:rPr lang="en-US" smtClean="0"/>
              <a:pPr/>
              <a:t>2/9/2026</a:t>
            </a:fld>
            <a:endParaRPr lang="en-US" dirty="0"/>
          </a:p>
        </p:txBody>
      </p:sp>
      <p:sp>
        <p:nvSpPr>
          <p:cNvPr id="6" name="Slide Number Placeholder 5"/>
          <p:cNvSpPr>
            <a:spLocks noGrp="1"/>
          </p:cNvSpPr>
          <p:nvPr>
            <p:ph type="sldNum" sz="quarter" idx="12"/>
          </p:nvPr>
        </p:nvSpPr>
        <p:spPr/>
        <p:txBody>
          <a:bodyPr/>
          <a:lstStyle/>
          <a:p>
            <a:fld id="{A03BBF96-A7A5-4867-9A4A-2F26A3CC4EC3}" type="slidenum">
              <a:rPr lang="en-US" smtClean="0"/>
              <a:pPr/>
              <a:t>85</a:t>
            </a:fld>
            <a:endParaRPr lang="en-US" dirty="0"/>
          </a:p>
        </p:txBody>
      </p:sp>
      <p:sp>
        <p:nvSpPr>
          <p:cNvPr id="7" name="TextBox 6"/>
          <p:cNvSpPr txBox="1"/>
          <p:nvPr/>
        </p:nvSpPr>
        <p:spPr>
          <a:xfrm>
            <a:off x="0" y="0"/>
            <a:ext cx="4572000" cy="369332"/>
          </a:xfrm>
          <a:prstGeom prst="rect">
            <a:avLst/>
          </a:prstGeom>
          <a:noFill/>
        </p:spPr>
        <p:txBody>
          <a:bodyPr wrap="square" rtlCol="0">
            <a:spAutoFit/>
          </a:bodyPr>
          <a:lstStyle/>
          <a:p>
            <a:pPr algn="r"/>
            <a:r>
              <a:rPr lang="en-US" b="1" dirty="0">
                <a:solidFill>
                  <a:schemeClr val="bg1"/>
                </a:solidFill>
              </a:rPr>
              <a:t>Introduction to Deep Neural Network</a:t>
            </a:r>
          </a:p>
        </p:txBody>
      </p:sp>
      <p:sp>
        <p:nvSpPr>
          <p:cNvPr id="8" name="Rectangle 2"/>
          <p:cNvSpPr>
            <a:spLocks noChangeArrowheads="1"/>
          </p:cNvSpPr>
          <p:nvPr/>
        </p:nvSpPr>
        <p:spPr bwMode="auto">
          <a:xfrm>
            <a:off x="0" y="0"/>
            <a:ext cx="91440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sp>
        <p:nvSpPr>
          <p:cNvPr id="9" name="Rectangle 2"/>
          <p:cNvSpPr>
            <a:spLocks noChangeArrowheads="1"/>
          </p:cNvSpPr>
          <p:nvPr/>
        </p:nvSpPr>
        <p:spPr bwMode="auto">
          <a:xfrm>
            <a:off x="0" y="0"/>
            <a:ext cx="91440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sp>
        <p:nvSpPr>
          <p:cNvPr id="11" name="Footer Placeholder 4">
            <a:extLst>
              <a:ext uri="{FF2B5EF4-FFF2-40B4-BE49-F238E27FC236}">
                <a16:creationId xmlns:a16="http://schemas.microsoft.com/office/drawing/2014/main" id="{CBB301ED-B8A4-4772-B559-A9E41E7472BD}"/>
              </a:ext>
            </a:extLst>
          </p:cNvPr>
          <p:cNvSpPr>
            <a:spLocks noGrp="1"/>
          </p:cNvSpPr>
          <p:nvPr>
            <p:ph type="ftr" sz="quarter" idx="11"/>
          </p:nvPr>
        </p:nvSpPr>
        <p:spPr>
          <a:xfrm>
            <a:off x="2286000" y="6629400"/>
            <a:ext cx="4136571" cy="228600"/>
          </a:xfrm>
        </p:spPr>
        <p:txBody>
          <a:bodyPr/>
          <a:lstStyle/>
          <a:p>
            <a:r>
              <a:rPr lang="en-US" dirty="0"/>
              <a:t>Dr. Sibarama Panigrahi, Dept. of CSE, NITR</a:t>
            </a:r>
          </a:p>
        </p:txBody>
      </p:sp>
      <p:pic>
        <p:nvPicPr>
          <p:cNvPr id="10" name="Picture 9"/>
          <p:cNvPicPr>
            <a:picLocks noChangeAspect="1"/>
          </p:cNvPicPr>
          <p:nvPr/>
        </p:nvPicPr>
        <p:blipFill>
          <a:blip r:embed="rId2"/>
          <a:stretch>
            <a:fillRect/>
          </a:stretch>
        </p:blipFill>
        <p:spPr>
          <a:xfrm>
            <a:off x="789476" y="1600202"/>
            <a:ext cx="6449524" cy="4895989"/>
          </a:xfrm>
          <a:prstGeom prst="rect">
            <a:avLst/>
          </a:prstGeom>
        </p:spPr>
      </p:pic>
      <p:sp>
        <p:nvSpPr>
          <p:cNvPr id="12" name="TextBox 11"/>
          <p:cNvSpPr txBox="1"/>
          <p:nvPr/>
        </p:nvSpPr>
        <p:spPr>
          <a:xfrm flipH="1">
            <a:off x="6422571" y="6600824"/>
            <a:ext cx="2797629" cy="307777"/>
          </a:xfrm>
          <a:prstGeom prst="rect">
            <a:avLst/>
          </a:prstGeom>
          <a:noFill/>
        </p:spPr>
        <p:txBody>
          <a:bodyPr wrap="square" rtlCol="0">
            <a:spAutoFit/>
          </a:bodyPr>
          <a:lstStyle/>
          <a:p>
            <a:r>
              <a:rPr lang="en-US" sz="1400" dirty="0">
                <a:latin typeface="Times New Roman" panose="02020603050405020304" pitchFamily="18" charset="0"/>
                <a:cs typeface="Times New Roman" panose="02020603050405020304" pitchFamily="18" charset="0"/>
              </a:rPr>
              <a:t>Decoding a Kernel Initializer</a:t>
            </a:r>
            <a:endParaRPr lang="en-IN" sz="14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714813741"/>
      </p:ext>
    </p:extLst>
  </p:cSld>
  <p:clrMapOvr>
    <a:masterClrMapping/>
  </p:clrMapOvr>
</p:sld>
</file>

<file path=ppt/slides/slide8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Autofit/>
          </a:bodyPr>
          <a:lstStyle/>
          <a:p>
            <a:r>
              <a:rPr lang="en-US" sz="2300" b="1" cap="small" dirty="0"/>
              <a:t>Optimizing DL Models using Swarm and Evolutionary </a:t>
            </a:r>
            <a:r>
              <a:rPr lang="en-US" sz="2300" b="1" cap="small" dirty="0" err="1"/>
              <a:t>Algos</a:t>
            </a:r>
            <a:endParaRPr lang="en-US" sz="2300" b="1" cap="small" dirty="0"/>
          </a:p>
        </p:txBody>
      </p:sp>
      <p:sp>
        <p:nvSpPr>
          <p:cNvPr id="3" name="Content Placeholder 2"/>
          <p:cNvSpPr>
            <a:spLocks noGrp="1"/>
          </p:cNvSpPr>
          <p:nvPr>
            <p:ph idx="1"/>
          </p:nvPr>
        </p:nvSpPr>
        <p:spPr/>
        <p:txBody>
          <a:bodyPr>
            <a:normAutofit/>
          </a:bodyPr>
          <a:lstStyle/>
          <a:p>
            <a:pPr marL="438150" lvl="2" indent="-342900" algn="just"/>
            <a:r>
              <a:rPr lang="en-US" sz="2800" b="1" dirty="0"/>
              <a:t>Decoding a Chromosome</a:t>
            </a:r>
            <a:endParaRPr lang="en-US" dirty="0"/>
          </a:p>
          <a:p>
            <a:endParaRPr lang="en-US" dirty="0"/>
          </a:p>
          <a:p>
            <a:endParaRPr lang="en-US" dirty="0"/>
          </a:p>
        </p:txBody>
      </p:sp>
      <p:sp>
        <p:nvSpPr>
          <p:cNvPr id="4" name="Date Placeholder 3"/>
          <p:cNvSpPr>
            <a:spLocks noGrp="1"/>
          </p:cNvSpPr>
          <p:nvPr>
            <p:ph type="dt" sz="half" idx="10"/>
          </p:nvPr>
        </p:nvSpPr>
        <p:spPr/>
        <p:txBody>
          <a:bodyPr/>
          <a:lstStyle/>
          <a:p>
            <a:fld id="{E7067A60-51C7-4095-BFA9-1CE32DCBA06F}" type="datetime1">
              <a:rPr lang="en-US" smtClean="0"/>
              <a:pPr/>
              <a:t>2/9/2026</a:t>
            </a:fld>
            <a:endParaRPr lang="en-US" dirty="0"/>
          </a:p>
        </p:txBody>
      </p:sp>
      <p:sp>
        <p:nvSpPr>
          <p:cNvPr id="6" name="Slide Number Placeholder 5"/>
          <p:cNvSpPr>
            <a:spLocks noGrp="1"/>
          </p:cNvSpPr>
          <p:nvPr>
            <p:ph type="sldNum" sz="quarter" idx="12"/>
          </p:nvPr>
        </p:nvSpPr>
        <p:spPr/>
        <p:txBody>
          <a:bodyPr/>
          <a:lstStyle/>
          <a:p>
            <a:fld id="{A03BBF96-A7A5-4867-9A4A-2F26A3CC4EC3}" type="slidenum">
              <a:rPr lang="en-US" smtClean="0"/>
              <a:pPr/>
              <a:t>86</a:t>
            </a:fld>
            <a:endParaRPr lang="en-US" dirty="0"/>
          </a:p>
        </p:txBody>
      </p:sp>
      <p:sp>
        <p:nvSpPr>
          <p:cNvPr id="7" name="TextBox 6"/>
          <p:cNvSpPr txBox="1"/>
          <p:nvPr/>
        </p:nvSpPr>
        <p:spPr>
          <a:xfrm>
            <a:off x="0" y="0"/>
            <a:ext cx="4572000" cy="369332"/>
          </a:xfrm>
          <a:prstGeom prst="rect">
            <a:avLst/>
          </a:prstGeom>
          <a:noFill/>
        </p:spPr>
        <p:txBody>
          <a:bodyPr wrap="square" rtlCol="0">
            <a:spAutoFit/>
          </a:bodyPr>
          <a:lstStyle/>
          <a:p>
            <a:pPr algn="r"/>
            <a:r>
              <a:rPr lang="en-US" b="1" dirty="0">
                <a:solidFill>
                  <a:schemeClr val="bg1"/>
                </a:solidFill>
              </a:rPr>
              <a:t>Introduction to Deep Neural Network</a:t>
            </a:r>
          </a:p>
        </p:txBody>
      </p:sp>
      <p:sp>
        <p:nvSpPr>
          <p:cNvPr id="8" name="Rectangle 2"/>
          <p:cNvSpPr>
            <a:spLocks noChangeArrowheads="1"/>
          </p:cNvSpPr>
          <p:nvPr/>
        </p:nvSpPr>
        <p:spPr bwMode="auto">
          <a:xfrm>
            <a:off x="0" y="0"/>
            <a:ext cx="91440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sp>
        <p:nvSpPr>
          <p:cNvPr id="9" name="Rectangle 2"/>
          <p:cNvSpPr>
            <a:spLocks noChangeArrowheads="1"/>
          </p:cNvSpPr>
          <p:nvPr/>
        </p:nvSpPr>
        <p:spPr bwMode="auto">
          <a:xfrm>
            <a:off x="0" y="0"/>
            <a:ext cx="91440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sp>
        <p:nvSpPr>
          <p:cNvPr id="11" name="Footer Placeholder 4">
            <a:extLst>
              <a:ext uri="{FF2B5EF4-FFF2-40B4-BE49-F238E27FC236}">
                <a16:creationId xmlns:a16="http://schemas.microsoft.com/office/drawing/2014/main" id="{CBB301ED-B8A4-4772-B559-A9E41E7472BD}"/>
              </a:ext>
            </a:extLst>
          </p:cNvPr>
          <p:cNvSpPr>
            <a:spLocks noGrp="1"/>
          </p:cNvSpPr>
          <p:nvPr>
            <p:ph type="ftr" sz="quarter" idx="11"/>
          </p:nvPr>
        </p:nvSpPr>
        <p:spPr>
          <a:xfrm>
            <a:off x="2286000" y="6629400"/>
            <a:ext cx="4136571" cy="228600"/>
          </a:xfrm>
        </p:spPr>
        <p:txBody>
          <a:bodyPr/>
          <a:lstStyle/>
          <a:p>
            <a:r>
              <a:rPr lang="en-US" dirty="0"/>
              <a:t>Dr. Sibarama Panigrahi, Dept. of CSE, NITR</a:t>
            </a:r>
          </a:p>
        </p:txBody>
      </p:sp>
      <p:pic>
        <p:nvPicPr>
          <p:cNvPr id="12" name="Picture 11"/>
          <p:cNvPicPr>
            <a:picLocks noChangeAspect="1"/>
          </p:cNvPicPr>
          <p:nvPr/>
        </p:nvPicPr>
        <p:blipFill>
          <a:blip r:embed="rId2"/>
          <a:stretch>
            <a:fillRect/>
          </a:stretch>
        </p:blipFill>
        <p:spPr>
          <a:xfrm>
            <a:off x="838200" y="1600200"/>
            <a:ext cx="6096000" cy="5035826"/>
          </a:xfrm>
          <a:prstGeom prst="rect">
            <a:avLst/>
          </a:prstGeom>
        </p:spPr>
      </p:pic>
      <p:sp>
        <p:nvSpPr>
          <p:cNvPr id="13" name="TextBox 12"/>
          <p:cNvSpPr txBox="1"/>
          <p:nvPr/>
        </p:nvSpPr>
        <p:spPr>
          <a:xfrm flipH="1">
            <a:off x="6324600" y="6600824"/>
            <a:ext cx="2895600" cy="307777"/>
          </a:xfrm>
          <a:prstGeom prst="rect">
            <a:avLst/>
          </a:prstGeom>
          <a:noFill/>
        </p:spPr>
        <p:txBody>
          <a:bodyPr wrap="square" rtlCol="0">
            <a:spAutoFit/>
          </a:bodyPr>
          <a:lstStyle/>
          <a:p>
            <a:r>
              <a:rPr lang="en-US" sz="1400" dirty="0">
                <a:latin typeface="Times New Roman" panose="02020603050405020304" pitchFamily="18" charset="0"/>
                <a:cs typeface="Times New Roman" panose="02020603050405020304" pitchFamily="18" charset="0"/>
              </a:rPr>
              <a:t>Decoding a Decision Vector to DL</a:t>
            </a:r>
            <a:endParaRPr lang="en-IN" sz="14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945089560"/>
      </p:ext>
    </p:extLst>
  </p:cSld>
  <p:clrMapOvr>
    <a:masterClrMapping/>
  </p:clrMapOvr>
</p:sld>
</file>

<file path=ppt/slides/slide8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Autofit/>
          </a:bodyPr>
          <a:lstStyle/>
          <a:p>
            <a:r>
              <a:rPr lang="en-US" sz="2300" b="1" cap="small" dirty="0"/>
              <a:t>Decoding a Chromosome (Decision Vector) to a DL Model</a:t>
            </a:r>
          </a:p>
        </p:txBody>
      </p:sp>
      <p:sp>
        <p:nvSpPr>
          <p:cNvPr id="3" name="Content Placeholder 2"/>
          <p:cNvSpPr>
            <a:spLocks noGrp="1"/>
          </p:cNvSpPr>
          <p:nvPr>
            <p:ph idx="1"/>
          </p:nvPr>
        </p:nvSpPr>
        <p:spPr/>
        <p:txBody>
          <a:bodyPr>
            <a:normAutofit/>
          </a:bodyPr>
          <a:lstStyle/>
          <a:p>
            <a:pPr marL="336550" indent="0">
              <a:buNone/>
            </a:pPr>
            <a:endParaRPr lang="en-US" dirty="0"/>
          </a:p>
        </p:txBody>
      </p:sp>
      <p:sp>
        <p:nvSpPr>
          <p:cNvPr id="4" name="Date Placeholder 3"/>
          <p:cNvSpPr>
            <a:spLocks noGrp="1"/>
          </p:cNvSpPr>
          <p:nvPr>
            <p:ph type="dt" sz="half" idx="10"/>
          </p:nvPr>
        </p:nvSpPr>
        <p:spPr/>
        <p:txBody>
          <a:bodyPr/>
          <a:lstStyle/>
          <a:p>
            <a:fld id="{E7067A60-51C7-4095-BFA9-1CE32DCBA06F}" type="datetime1">
              <a:rPr lang="en-US" smtClean="0"/>
              <a:pPr/>
              <a:t>2/9/2026</a:t>
            </a:fld>
            <a:endParaRPr lang="en-US" dirty="0"/>
          </a:p>
        </p:txBody>
      </p:sp>
      <p:sp>
        <p:nvSpPr>
          <p:cNvPr id="6" name="Slide Number Placeholder 5"/>
          <p:cNvSpPr>
            <a:spLocks noGrp="1"/>
          </p:cNvSpPr>
          <p:nvPr>
            <p:ph type="sldNum" sz="quarter" idx="12"/>
          </p:nvPr>
        </p:nvSpPr>
        <p:spPr/>
        <p:txBody>
          <a:bodyPr/>
          <a:lstStyle/>
          <a:p>
            <a:fld id="{A03BBF96-A7A5-4867-9A4A-2F26A3CC4EC3}" type="slidenum">
              <a:rPr lang="en-US" smtClean="0"/>
              <a:pPr/>
              <a:t>87</a:t>
            </a:fld>
            <a:endParaRPr lang="en-US" dirty="0"/>
          </a:p>
        </p:txBody>
      </p:sp>
      <p:sp>
        <p:nvSpPr>
          <p:cNvPr id="7" name="TextBox 6"/>
          <p:cNvSpPr txBox="1"/>
          <p:nvPr/>
        </p:nvSpPr>
        <p:spPr>
          <a:xfrm>
            <a:off x="0" y="0"/>
            <a:ext cx="4572000" cy="369332"/>
          </a:xfrm>
          <a:prstGeom prst="rect">
            <a:avLst/>
          </a:prstGeom>
          <a:noFill/>
        </p:spPr>
        <p:txBody>
          <a:bodyPr wrap="square" rtlCol="0">
            <a:spAutoFit/>
          </a:bodyPr>
          <a:lstStyle/>
          <a:p>
            <a:pPr algn="r"/>
            <a:r>
              <a:rPr lang="en-US" b="1" dirty="0">
                <a:solidFill>
                  <a:schemeClr val="bg1"/>
                </a:solidFill>
              </a:rPr>
              <a:t>Introduction to Deep Neural Network</a:t>
            </a:r>
          </a:p>
        </p:txBody>
      </p:sp>
      <p:sp>
        <p:nvSpPr>
          <p:cNvPr id="8" name="Rectangle 2"/>
          <p:cNvSpPr>
            <a:spLocks noChangeArrowheads="1"/>
          </p:cNvSpPr>
          <p:nvPr/>
        </p:nvSpPr>
        <p:spPr bwMode="auto">
          <a:xfrm>
            <a:off x="0" y="0"/>
            <a:ext cx="91440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sp>
        <p:nvSpPr>
          <p:cNvPr id="9" name="Rectangle 2"/>
          <p:cNvSpPr>
            <a:spLocks noChangeArrowheads="1"/>
          </p:cNvSpPr>
          <p:nvPr/>
        </p:nvSpPr>
        <p:spPr bwMode="auto">
          <a:xfrm>
            <a:off x="0" y="0"/>
            <a:ext cx="91440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sp>
        <p:nvSpPr>
          <p:cNvPr id="11" name="Footer Placeholder 4">
            <a:extLst>
              <a:ext uri="{FF2B5EF4-FFF2-40B4-BE49-F238E27FC236}">
                <a16:creationId xmlns:a16="http://schemas.microsoft.com/office/drawing/2014/main" id="{CBB301ED-B8A4-4772-B559-A9E41E7472BD}"/>
              </a:ext>
            </a:extLst>
          </p:cNvPr>
          <p:cNvSpPr>
            <a:spLocks noGrp="1"/>
          </p:cNvSpPr>
          <p:nvPr>
            <p:ph type="ftr" sz="quarter" idx="11"/>
          </p:nvPr>
        </p:nvSpPr>
        <p:spPr>
          <a:xfrm>
            <a:off x="2286000" y="6629400"/>
            <a:ext cx="4136571" cy="228600"/>
          </a:xfrm>
        </p:spPr>
        <p:txBody>
          <a:bodyPr/>
          <a:lstStyle/>
          <a:p>
            <a:r>
              <a:rPr lang="en-US" dirty="0"/>
              <a:t>Dr. Sibarama Panigrahi, Dept. of CSE, NITR</a:t>
            </a:r>
          </a:p>
        </p:txBody>
      </p:sp>
      <p:pic>
        <p:nvPicPr>
          <p:cNvPr id="5" name="Picture 4"/>
          <p:cNvPicPr>
            <a:picLocks noChangeAspect="1"/>
          </p:cNvPicPr>
          <p:nvPr/>
        </p:nvPicPr>
        <p:blipFill>
          <a:blip r:embed="rId2"/>
          <a:stretch>
            <a:fillRect/>
          </a:stretch>
        </p:blipFill>
        <p:spPr>
          <a:xfrm>
            <a:off x="0" y="1047749"/>
            <a:ext cx="8229600" cy="5569653"/>
          </a:xfrm>
          <a:prstGeom prst="rect">
            <a:avLst/>
          </a:prstGeom>
        </p:spPr>
      </p:pic>
      <p:sp>
        <p:nvSpPr>
          <p:cNvPr id="12" name="TextBox 11"/>
          <p:cNvSpPr txBox="1"/>
          <p:nvPr/>
        </p:nvSpPr>
        <p:spPr>
          <a:xfrm flipH="1">
            <a:off x="6422571" y="6600824"/>
            <a:ext cx="2797629" cy="307777"/>
          </a:xfrm>
          <a:prstGeom prst="rect">
            <a:avLst/>
          </a:prstGeom>
          <a:noFill/>
        </p:spPr>
        <p:txBody>
          <a:bodyPr wrap="square" rtlCol="0">
            <a:spAutoFit/>
          </a:bodyPr>
          <a:lstStyle/>
          <a:p>
            <a:r>
              <a:rPr lang="en-US" sz="1400" dirty="0">
                <a:latin typeface="Times New Roman" panose="02020603050405020304" pitchFamily="18" charset="0"/>
                <a:cs typeface="Times New Roman" panose="02020603050405020304" pitchFamily="18" charset="0"/>
              </a:rPr>
              <a:t>Combining all</a:t>
            </a:r>
            <a:endParaRPr lang="en-IN" sz="14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944411247"/>
      </p:ext>
    </p:extLst>
  </p:cSld>
  <p:clrMapOvr>
    <a:masterClrMapping/>
  </p:clrMapOvr>
</p:sld>
</file>

<file path=ppt/slides/slide8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b="1" cap="small" dirty="0"/>
              <a:t>Possible Solutions…</a:t>
            </a:r>
          </a:p>
        </p:txBody>
      </p:sp>
      <p:sp>
        <p:nvSpPr>
          <p:cNvPr id="3" name="Content Placeholder 2"/>
          <p:cNvSpPr>
            <a:spLocks noGrp="1"/>
          </p:cNvSpPr>
          <p:nvPr>
            <p:ph idx="1"/>
          </p:nvPr>
        </p:nvSpPr>
        <p:spPr/>
        <p:txBody>
          <a:bodyPr>
            <a:normAutofit/>
          </a:bodyPr>
          <a:lstStyle/>
          <a:p>
            <a:pPr marL="438150" lvl="2" indent="-342900" algn="just"/>
            <a:r>
              <a:rPr lang="en-US" sz="2800" b="1" dirty="0"/>
              <a:t>Grid Search</a:t>
            </a:r>
          </a:p>
          <a:p>
            <a:pPr marL="95250" lvl="2" indent="0" algn="just">
              <a:buNone/>
            </a:pPr>
            <a:endParaRPr lang="en-US" sz="2800" b="1" dirty="0"/>
          </a:p>
          <a:p>
            <a:pPr marL="438150" lvl="2" indent="-342900" algn="just"/>
            <a:r>
              <a:rPr lang="en-US" sz="2800" b="1" dirty="0">
                <a:solidFill>
                  <a:srgbClr val="2312FA"/>
                </a:solidFill>
              </a:rPr>
              <a:t>Bayesian Optimization</a:t>
            </a:r>
          </a:p>
          <a:p>
            <a:pPr marL="95250" lvl="2" indent="0" algn="just">
              <a:buNone/>
            </a:pPr>
            <a:endParaRPr lang="en-US" sz="2800" b="1" dirty="0">
              <a:solidFill>
                <a:srgbClr val="2312FA"/>
              </a:solidFill>
            </a:endParaRPr>
          </a:p>
          <a:p>
            <a:pPr marL="438150" lvl="2" indent="-342900" algn="just"/>
            <a:r>
              <a:rPr lang="en-US" sz="2800" b="1" dirty="0"/>
              <a:t>Swarm and Evolutionary Algorithms</a:t>
            </a:r>
          </a:p>
          <a:p>
            <a:pPr marL="95250" lvl="2" indent="0" algn="just">
              <a:buNone/>
            </a:pPr>
            <a:endParaRPr lang="en-US" b="1" dirty="0"/>
          </a:p>
          <a:p>
            <a:pPr marL="95250" lvl="2" indent="0" algn="just">
              <a:buNone/>
            </a:pPr>
            <a:endParaRPr lang="en-US" b="1" dirty="0">
              <a:solidFill>
                <a:srgbClr val="2312FA"/>
              </a:solidFill>
            </a:endParaRPr>
          </a:p>
          <a:p>
            <a:pPr lvl="1"/>
            <a:endParaRPr lang="en-US" dirty="0"/>
          </a:p>
          <a:p>
            <a:endParaRPr lang="en-US" dirty="0"/>
          </a:p>
          <a:p>
            <a:endParaRPr lang="en-US" dirty="0"/>
          </a:p>
        </p:txBody>
      </p:sp>
      <p:sp>
        <p:nvSpPr>
          <p:cNvPr id="4" name="Date Placeholder 3"/>
          <p:cNvSpPr>
            <a:spLocks noGrp="1"/>
          </p:cNvSpPr>
          <p:nvPr>
            <p:ph type="dt" sz="half" idx="10"/>
          </p:nvPr>
        </p:nvSpPr>
        <p:spPr/>
        <p:txBody>
          <a:bodyPr/>
          <a:lstStyle/>
          <a:p>
            <a:fld id="{E7067A60-51C7-4095-BFA9-1CE32DCBA06F}" type="datetime1">
              <a:rPr lang="en-US" smtClean="0"/>
              <a:pPr/>
              <a:t>2/9/2026</a:t>
            </a:fld>
            <a:endParaRPr lang="en-US" dirty="0"/>
          </a:p>
        </p:txBody>
      </p:sp>
      <p:sp>
        <p:nvSpPr>
          <p:cNvPr id="6" name="Slide Number Placeholder 5"/>
          <p:cNvSpPr>
            <a:spLocks noGrp="1"/>
          </p:cNvSpPr>
          <p:nvPr>
            <p:ph type="sldNum" sz="quarter" idx="12"/>
          </p:nvPr>
        </p:nvSpPr>
        <p:spPr/>
        <p:txBody>
          <a:bodyPr/>
          <a:lstStyle/>
          <a:p>
            <a:fld id="{A03BBF96-A7A5-4867-9A4A-2F26A3CC4EC3}" type="slidenum">
              <a:rPr lang="en-US" smtClean="0"/>
              <a:pPr/>
              <a:t>88</a:t>
            </a:fld>
            <a:endParaRPr lang="en-US" dirty="0"/>
          </a:p>
        </p:txBody>
      </p:sp>
      <p:sp>
        <p:nvSpPr>
          <p:cNvPr id="7" name="TextBox 6"/>
          <p:cNvSpPr txBox="1"/>
          <p:nvPr/>
        </p:nvSpPr>
        <p:spPr>
          <a:xfrm>
            <a:off x="0" y="0"/>
            <a:ext cx="4572000" cy="369332"/>
          </a:xfrm>
          <a:prstGeom prst="rect">
            <a:avLst/>
          </a:prstGeom>
          <a:noFill/>
        </p:spPr>
        <p:txBody>
          <a:bodyPr wrap="square" rtlCol="0">
            <a:spAutoFit/>
          </a:bodyPr>
          <a:lstStyle/>
          <a:p>
            <a:pPr algn="r"/>
            <a:r>
              <a:rPr lang="en-US" b="1" dirty="0">
                <a:solidFill>
                  <a:schemeClr val="bg1"/>
                </a:solidFill>
              </a:rPr>
              <a:t>Time Series Forecasting</a:t>
            </a:r>
          </a:p>
        </p:txBody>
      </p:sp>
      <p:sp>
        <p:nvSpPr>
          <p:cNvPr id="8" name="Rectangle 2"/>
          <p:cNvSpPr>
            <a:spLocks noChangeArrowheads="1"/>
          </p:cNvSpPr>
          <p:nvPr/>
        </p:nvSpPr>
        <p:spPr bwMode="auto">
          <a:xfrm>
            <a:off x="0" y="0"/>
            <a:ext cx="91440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sp>
        <p:nvSpPr>
          <p:cNvPr id="9" name="Rectangle 2"/>
          <p:cNvSpPr>
            <a:spLocks noChangeArrowheads="1"/>
          </p:cNvSpPr>
          <p:nvPr/>
        </p:nvSpPr>
        <p:spPr bwMode="auto">
          <a:xfrm>
            <a:off x="0" y="0"/>
            <a:ext cx="91440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sp>
        <p:nvSpPr>
          <p:cNvPr id="11" name="Footer Placeholder 4">
            <a:extLst>
              <a:ext uri="{FF2B5EF4-FFF2-40B4-BE49-F238E27FC236}">
                <a16:creationId xmlns:a16="http://schemas.microsoft.com/office/drawing/2014/main" id="{CBB301ED-B8A4-4772-B559-A9E41E7472BD}"/>
              </a:ext>
            </a:extLst>
          </p:cNvPr>
          <p:cNvSpPr>
            <a:spLocks noGrp="1"/>
          </p:cNvSpPr>
          <p:nvPr>
            <p:ph type="ftr" sz="quarter" idx="11"/>
          </p:nvPr>
        </p:nvSpPr>
        <p:spPr>
          <a:xfrm>
            <a:off x="2286000" y="6629400"/>
            <a:ext cx="4136571" cy="228600"/>
          </a:xfrm>
        </p:spPr>
        <p:txBody>
          <a:bodyPr/>
          <a:lstStyle/>
          <a:p>
            <a:r>
              <a:rPr lang="en-US" dirty="0"/>
              <a:t>Dr. Sibarama Panigrahi, Dept. of CSE&amp;A, SUIIT</a:t>
            </a:r>
          </a:p>
        </p:txBody>
      </p:sp>
      <p:pic>
        <p:nvPicPr>
          <p:cNvPr id="5" name="Picture 4"/>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0" y="0"/>
            <a:ext cx="9220200" cy="6858000"/>
          </a:xfrm>
          <a:prstGeom prst="rect">
            <a:avLst/>
          </a:prstGeom>
        </p:spPr>
      </p:pic>
    </p:spTree>
    <p:extLst>
      <p:ext uri="{BB962C8B-B14F-4D97-AF65-F5344CB8AC3E}">
        <p14:creationId xmlns:p14="http://schemas.microsoft.com/office/powerpoint/2010/main" val="4138681127"/>
      </p:ext>
    </p:extLst>
  </p:cSld>
  <p:clrMapOvr>
    <a:masterClrMapping/>
  </p:clrMapOvr>
</p:sld>
</file>

<file path=ppt/slides/slide8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44" name="PlaceHolder 3"/>
          <p:cNvSpPr>
            <a:spLocks noGrp="1"/>
          </p:cNvSpPr>
          <p:nvPr>
            <p:ph type="sldNum" idx="4294967295"/>
          </p:nvPr>
        </p:nvSpPr>
        <p:spPr>
          <a:xfrm>
            <a:off x="6553080" y="6356520"/>
            <a:ext cx="2133360" cy="364680"/>
          </a:xfrm>
          <a:prstGeom prst="rect">
            <a:avLst/>
          </a:prstGeom>
          <a:noFill/>
          <a:ln w="0">
            <a:noFill/>
          </a:ln>
        </p:spPr>
        <p:txBody>
          <a:bodyPr anchor="ctr">
            <a:noAutofit/>
          </a:bodyPr>
          <a:lstStyle/>
          <a:p>
            <a:pPr algn="r">
              <a:lnSpc>
                <a:spcPct val="100000"/>
              </a:lnSpc>
              <a:buNone/>
            </a:pPr>
            <a:fld id="{288CCD24-0C34-4CAF-B393-BD849DB9EF65}" type="slidenum">
              <a:rPr lang="en-US" sz="1200" b="0" strike="noStrike" spc="-1">
                <a:solidFill>
                  <a:srgbClr val="8B8B8B"/>
                </a:solidFill>
                <a:latin typeface="Calibri"/>
              </a:rPr>
              <a:t>89</a:t>
            </a:fld>
            <a:endParaRPr lang="en-US" sz="1200" b="0" strike="noStrike" spc="-1">
              <a:latin typeface="Times New Roman"/>
            </a:endParaRPr>
          </a:p>
        </p:txBody>
      </p:sp>
      <p:sp>
        <p:nvSpPr>
          <p:cNvPr id="745" name="Rectangle 6"/>
          <p:cNvSpPr/>
          <p:nvPr/>
        </p:nvSpPr>
        <p:spPr>
          <a:xfrm>
            <a:off x="3026880" y="2971800"/>
            <a:ext cx="3038400" cy="914760"/>
          </a:xfrm>
          <a:prstGeom prst="rect">
            <a:avLst/>
          </a:prstGeom>
          <a:noFill/>
          <a:ln w="0">
            <a:noFill/>
          </a:ln>
        </p:spPr>
        <p:style>
          <a:lnRef idx="0">
            <a:scrgbClr r="0" g="0" b="0"/>
          </a:lnRef>
          <a:fillRef idx="0">
            <a:scrgbClr r="0" g="0" b="0"/>
          </a:fillRef>
          <a:effectRef idx="0">
            <a:scrgbClr r="0" g="0" b="0"/>
          </a:effectRef>
          <a:fontRef idx="minor"/>
        </p:style>
        <p:txBody>
          <a:bodyPr wrap="none" anchor="t">
            <a:spAutoFit/>
          </a:bodyPr>
          <a:lstStyle/>
          <a:p>
            <a:pPr algn="ctr">
              <a:lnSpc>
                <a:spcPct val="100000"/>
              </a:lnSpc>
              <a:buNone/>
            </a:pPr>
            <a:r>
              <a:rPr lang="en-US" sz="5400" b="1" strike="noStrike" spc="-1" dirty="0">
                <a:solidFill>
                  <a:srgbClr val="FFF1EC"/>
                </a:solidFill>
                <a:latin typeface="Calibri"/>
              </a:rPr>
              <a:t>Thank You</a:t>
            </a:r>
            <a:endParaRPr lang="en-US" sz="5400" b="0" strike="noStrike" spc="-1" dirty="0">
              <a:latin typeface="Arial"/>
            </a:endParaRPr>
          </a:p>
        </p:txBody>
      </p:sp>
      <p:sp>
        <p:nvSpPr>
          <p:cNvPr id="3" name="TextBox 2"/>
          <p:cNvSpPr txBox="1"/>
          <p:nvPr/>
        </p:nvSpPr>
        <p:spPr>
          <a:xfrm>
            <a:off x="5129213" y="4314825"/>
            <a:ext cx="3718390" cy="523220"/>
          </a:xfrm>
          <a:prstGeom prst="rect">
            <a:avLst/>
          </a:prstGeom>
          <a:noFill/>
        </p:spPr>
        <p:txBody>
          <a:bodyPr wrap="none" rtlCol="0">
            <a:spAutoFit/>
          </a:bodyPr>
          <a:lstStyle/>
          <a:p>
            <a:r>
              <a:rPr lang="en-IN" sz="2800" dirty="0" smtClean="0">
                <a:latin typeface="Times New Roman" panose="02020603050405020304" pitchFamily="18" charset="0"/>
                <a:cs typeface="Times New Roman" panose="02020603050405020304" pitchFamily="18" charset="0"/>
              </a:rPr>
              <a:t>For Your Valuable Time.</a:t>
            </a:r>
            <a:endParaRPr lang="en-IN" sz="2800" dirty="0">
              <a:latin typeface="Times New Roman" panose="02020603050405020304" pitchFamily="18" charset="0"/>
              <a:cs typeface="Times New Roman" panose="02020603050405020304" pitchFamily="18" charset="0"/>
            </a:endParaRPr>
          </a:p>
        </p:txBody>
      </p:sp>
      <p:pic>
        <p:nvPicPr>
          <p:cNvPr id="4" name="Picture 3"/>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557338" y="1357671"/>
            <a:ext cx="5686425" cy="3125651"/>
          </a:xfrm>
          <a:prstGeom prst="rect">
            <a:avLst/>
          </a:prstGeom>
        </p:spPr>
      </p:pic>
    </p:spTree>
    <p:extLst>
      <p:ext uri="{BB962C8B-B14F-4D97-AF65-F5344CB8AC3E}">
        <p14:creationId xmlns:p14="http://schemas.microsoft.com/office/powerpoint/2010/main" val="835503333"/>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par>
    </p:tnLst>
  </p:timing>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1_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18032</TotalTime>
  <Words>6415</Words>
  <Application>Microsoft Office PowerPoint</Application>
  <PresentationFormat>On-screen Show (4:3)</PresentationFormat>
  <Paragraphs>1471</Paragraphs>
  <Slides>89</Slides>
  <Notes>7</Notes>
  <HiddenSlides>0</HiddenSlides>
  <MMClips>0</MMClips>
  <ScaleCrop>false</ScaleCrop>
  <HeadingPairs>
    <vt:vector size="6" baseType="variant">
      <vt:variant>
        <vt:lpstr>Fonts Used</vt:lpstr>
      </vt:variant>
      <vt:variant>
        <vt:i4>6</vt:i4>
      </vt:variant>
      <vt:variant>
        <vt:lpstr>Theme</vt:lpstr>
      </vt:variant>
      <vt:variant>
        <vt:i4>2</vt:i4>
      </vt:variant>
      <vt:variant>
        <vt:lpstr>Slide Titles</vt:lpstr>
      </vt:variant>
      <vt:variant>
        <vt:i4>89</vt:i4>
      </vt:variant>
    </vt:vector>
  </HeadingPairs>
  <TitlesOfParts>
    <vt:vector size="97" baseType="lpstr">
      <vt:lpstr>Agency FB</vt:lpstr>
      <vt:lpstr>Arial</vt:lpstr>
      <vt:lpstr>Calibri</vt:lpstr>
      <vt:lpstr>Cambria Math</vt:lpstr>
      <vt:lpstr>Times New Roman</vt:lpstr>
      <vt:lpstr>Wingdings</vt:lpstr>
      <vt:lpstr>Office Theme</vt:lpstr>
      <vt:lpstr>1_Office Theme</vt:lpstr>
      <vt:lpstr>     </vt:lpstr>
      <vt:lpstr>Outlines</vt:lpstr>
      <vt:lpstr>Artificial Neural Network</vt:lpstr>
      <vt:lpstr>Block Diagram of Biological Nervous System</vt:lpstr>
      <vt:lpstr>Typical Human Brain</vt:lpstr>
      <vt:lpstr>Human Brain Neuron vs Artificial Neuron</vt:lpstr>
      <vt:lpstr>Artificial Neuron</vt:lpstr>
      <vt:lpstr>Artificial Neuron</vt:lpstr>
      <vt:lpstr>Single Neuron Model</vt:lpstr>
      <vt:lpstr>Single Neuron Model</vt:lpstr>
      <vt:lpstr>Single Neuron Model</vt:lpstr>
      <vt:lpstr>Linear Neural Network</vt:lpstr>
      <vt:lpstr>Linear Neural Network</vt:lpstr>
      <vt:lpstr>Plotting Error</vt:lpstr>
      <vt:lpstr>Differentiation…</vt:lpstr>
      <vt:lpstr>Differentiation…</vt:lpstr>
      <vt:lpstr>Differentiation…</vt:lpstr>
      <vt:lpstr>Differentiation…</vt:lpstr>
      <vt:lpstr>Differentiation…</vt:lpstr>
      <vt:lpstr>Differentiation…</vt:lpstr>
      <vt:lpstr>Differentiation…</vt:lpstr>
      <vt:lpstr>Error Function with Minima and No Maxima</vt:lpstr>
      <vt:lpstr>Error Function with a Maxima and No Minima</vt:lpstr>
      <vt:lpstr>Error Function without a Maxima and Minima</vt:lpstr>
      <vt:lpstr>Error Function with multiple Maxima and Minima</vt:lpstr>
      <vt:lpstr>Training a single-neuron model</vt:lpstr>
      <vt:lpstr>Training a single-neuron model</vt:lpstr>
      <vt:lpstr>Types of Neural Network</vt:lpstr>
      <vt:lpstr>Why Multilayer Neural Network?</vt:lpstr>
      <vt:lpstr>Training Multilayer Neural Network</vt:lpstr>
      <vt:lpstr>AI vs Machine Learning vs Deep Learning</vt:lpstr>
      <vt:lpstr>Deep Learning</vt:lpstr>
      <vt:lpstr>Deep Learning Approach</vt:lpstr>
      <vt:lpstr>Why Deep Learning ? Why Now ?</vt:lpstr>
      <vt:lpstr>Why Deep Learning ? Why Now ?</vt:lpstr>
      <vt:lpstr>Algorithmic Advancements…</vt:lpstr>
      <vt:lpstr>Activation Functions…</vt:lpstr>
      <vt:lpstr>Sigmoid Activation Functions</vt:lpstr>
      <vt:lpstr>Vanishing Gradient problem</vt:lpstr>
      <vt:lpstr>ReLU Activation Function</vt:lpstr>
      <vt:lpstr>Leaky ReLU Activation Function</vt:lpstr>
      <vt:lpstr>Weight Initialization</vt:lpstr>
      <vt:lpstr>Weight Initialization</vt:lpstr>
      <vt:lpstr>Weight Initialization</vt:lpstr>
      <vt:lpstr>Weight Initialization</vt:lpstr>
      <vt:lpstr>Weight Initialization</vt:lpstr>
      <vt:lpstr>Bias-Variance Trade-off</vt:lpstr>
      <vt:lpstr>Dropout and Regularization</vt:lpstr>
      <vt:lpstr>Dropout </vt:lpstr>
      <vt:lpstr>Batch Normalization</vt:lpstr>
      <vt:lpstr>Batch Normalization</vt:lpstr>
      <vt:lpstr>Batch Normalization</vt:lpstr>
      <vt:lpstr>Batch Normalization</vt:lpstr>
      <vt:lpstr>Optimizers</vt:lpstr>
      <vt:lpstr>Optimizers</vt:lpstr>
      <vt:lpstr>Stochastic gradient descent (SGD)</vt:lpstr>
      <vt:lpstr>Gradient descent</vt:lpstr>
      <vt:lpstr>Minibatch stochastic gradient descent</vt:lpstr>
      <vt:lpstr>Stochastic Gradient with Momentum</vt:lpstr>
      <vt:lpstr>Nestrov Accelerated Gradient (NAG)</vt:lpstr>
      <vt:lpstr>Nestrov Accelerated Gradient (NAG)</vt:lpstr>
      <vt:lpstr>Nestrov Accelerated Gradient (NAG)</vt:lpstr>
      <vt:lpstr>Adaptive Gradient(AdaGrad)</vt:lpstr>
      <vt:lpstr>Adaptive Gradient(AdaGrad)</vt:lpstr>
      <vt:lpstr>Adaptive Gradient(AdaGrad)</vt:lpstr>
      <vt:lpstr>Adaptive Gradient(AdaGrad)</vt:lpstr>
      <vt:lpstr>AdaDelta</vt:lpstr>
      <vt:lpstr>Root Mean Square Propagation (RMSProp)</vt:lpstr>
      <vt:lpstr>Adam(Adaptive Momentum Estimation)</vt:lpstr>
      <vt:lpstr>Which Optimizer To Use</vt:lpstr>
      <vt:lpstr>How to Train a Deep Neural Network?</vt:lpstr>
      <vt:lpstr>Google Colab</vt:lpstr>
      <vt:lpstr>Decision surfaces: Playground</vt:lpstr>
      <vt:lpstr>Big Questions?</vt:lpstr>
      <vt:lpstr>Solution</vt:lpstr>
      <vt:lpstr>Possible Solutions</vt:lpstr>
      <vt:lpstr>Possible Solutions…</vt:lpstr>
      <vt:lpstr>Swarm and Evolutionary Algorithm Optimized DL Models</vt:lpstr>
      <vt:lpstr>Swarm and Evolutionary Algorithm Optimized DL Models</vt:lpstr>
      <vt:lpstr>Swarm and Evolutionary Algorithm Optimized DL Models</vt:lpstr>
      <vt:lpstr>Limitation in Literature of Optimizing DL Models</vt:lpstr>
      <vt:lpstr>Overcoming the Limitations in Literature of Optimizing DL Models</vt:lpstr>
      <vt:lpstr>Possible Solutions…</vt:lpstr>
      <vt:lpstr>Optimizing DL Models using Swarm and Evolutionary Algos</vt:lpstr>
      <vt:lpstr>Optimizing DL Models using Swarm and Evolutionary Algos</vt:lpstr>
      <vt:lpstr>Optimizing DL Models using Swarm and Evolutionary Algos</vt:lpstr>
      <vt:lpstr>Decoding a Chromosome (Decision Vector) to a DL Model</vt:lpstr>
      <vt:lpstr>Possible Solutions…</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user</dc:creator>
  <cp:lastModifiedBy>Sibarama Panigrahi</cp:lastModifiedBy>
  <cp:revision>534</cp:revision>
  <dcterms:created xsi:type="dcterms:W3CDTF">2019-10-24T13:58:49Z</dcterms:created>
  <dcterms:modified xsi:type="dcterms:W3CDTF">2026-02-09T08:10:17Z</dcterms:modified>
</cp:coreProperties>
</file>
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99" r:id="rId2"/>
    <p:sldId id="298" r:id="rId3"/>
    <p:sldId id="301" r:id="rId4"/>
    <p:sldId id="266" r:id="rId5"/>
    <p:sldId id="257" r:id="rId6"/>
    <p:sldId id="267" r:id="rId7"/>
    <p:sldId id="304" r:id="rId8"/>
    <p:sldId id="305" r:id="rId9"/>
    <p:sldId id="268" r:id="rId10"/>
    <p:sldId id="284" r:id="rId11"/>
    <p:sldId id="269" r:id="rId12"/>
    <p:sldId id="270" r:id="rId13"/>
    <p:sldId id="285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93" r:id="rId27"/>
    <p:sldId id="294" r:id="rId28"/>
    <p:sldId id="295" r:id="rId29"/>
    <p:sldId id="307" r:id="rId30"/>
    <p:sldId id="288" r:id="rId31"/>
    <p:sldId id="28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9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A22DE-46C0-4358-B680-CC09CF474016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D8F58-F633-4DEF-B108-122A474A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612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1: Face Recognition System</a:t>
            </a:r>
            <a:endParaRPr lang="en-US" dirty="0"/>
          </a:p>
          <a:p>
            <a:r>
              <a:rPr lang="en-US" dirty="0"/>
              <a:t>Fixed-rule approach: “If nose width &gt; X and eye distance &gt; Y → Person A”</a:t>
            </a:r>
          </a:p>
          <a:p>
            <a:pPr lvl="1"/>
            <a:r>
              <a:rPr lang="en-US" dirty="0"/>
              <a:t>Fails due to lighting, pose, expression changes</a:t>
            </a:r>
          </a:p>
          <a:p>
            <a:r>
              <a:rPr lang="en-US" dirty="0"/>
              <a:t>Learning-based approach</a:t>
            </a:r>
          </a:p>
          <a:p>
            <a:pPr lvl="1"/>
            <a:r>
              <a:rPr lang="en-US" dirty="0"/>
              <a:t>Learns complex patterns from thousands of images</a:t>
            </a:r>
          </a:p>
          <a:p>
            <a:pPr lvl="1"/>
            <a:r>
              <a:rPr lang="en-US" dirty="0"/>
              <a:t>Adapts to variations automatically</a:t>
            </a:r>
          </a:p>
          <a:p>
            <a:r>
              <a:rPr lang="en-US" b="1" dirty="0"/>
              <a:t>Example 2: Recommendation Systems (Netflix / Amazon)</a:t>
            </a:r>
            <a:endParaRPr lang="en-US" dirty="0"/>
          </a:p>
          <a:p>
            <a:r>
              <a:rPr lang="en-US" dirty="0"/>
              <a:t>User preferences change over time</a:t>
            </a:r>
          </a:p>
          <a:p>
            <a:r>
              <a:rPr lang="en-US" dirty="0"/>
              <a:t>Learning algorithms adapt recommendations based on recent behavior</a:t>
            </a:r>
          </a:p>
          <a:p>
            <a:r>
              <a:rPr lang="en-US" dirty="0"/>
              <a:t>Static rules would quickly become outdated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D8F58-F633-4DEF-B108-122A474A297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503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D8F58-F633-4DEF-B108-122A474A297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371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3CB7-A4B4-4F18-BC40-E32B27280BB7}" type="datetime1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39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FEAFF-8F11-4600-8A8E-EABD6E24FAD9}" type="datetime1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0AE36-ED19-4AFE-BEB8-39A8CEF5215C}" type="datetime1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03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608B-AC0C-44A9-ABE7-CE8831644671}" type="datetime1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72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C9E9-6C0B-4BB1-822A-A4D2E4EFCB2C}" type="datetime1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308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2489"/>
          </a:xfrm>
          <a:solidFill>
            <a:schemeClr val="accent2">
              <a:lumMod val="75000"/>
            </a:schemeClr>
          </a:solidFill>
        </p:spPr>
        <p:txBody>
          <a:bodyPr>
            <a:noAutofit/>
          </a:bodyPr>
          <a:lstStyle>
            <a:lvl1pPr marL="361950" indent="0">
              <a:lnSpc>
                <a:spcPct val="100000"/>
              </a:lnSpc>
              <a:defRPr sz="4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1818"/>
            <a:ext cx="3581400" cy="365125"/>
          </a:xfrm>
          <a:solidFill>
            <a:schemeClr val="accent2">
              <a:lumMod val="75000"/>
            </a:schemeClr>
          </a:solidFill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0" y="6491818"/>
            <a:ext cx="5029200" cy="365125"/>
          </a:xfrm>
          <a:solidFill>
            <a:schemeClr val="accent2">
              <a:lumMod val="75000"/>
            </a:schemeClr>
          </a:solidFill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91818"/>
            <a:ext cx="3581400" cy="365125"/>
          </a:xfrm>
          <a:solidFill>
            <a:schemeClr val="accent2">
              <a:lumMod val="75000"/>
            </a:schemeClr>
          </a:solidFill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algn="ctr"/>
            <a:fld id="{CCF4DBD1-5FA7-4438-9EF8-F7BC71E9DA54}" type="slidenum">
              <a:rPr lang="en-IN" smtClean="0"/>
              <a:pPr algn="ctr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08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CD42A-A745-438D-BAC2-EC6E315E1476}" type="datetime1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15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B1D3-6648-47E0-A272-F27FEC27CCE8}" type="datetime1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314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C264-B7A0-4E1E-9106-E1E1837C36F1}" type="datetime1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35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2B28-389B-48AE-A81E-F09F753CF63A}" type="datetime1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66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05506-4D6D-4DA3-BC50-53EBF77BFA73}" type="datetime1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Prasenjit Dey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82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0303D-CA0A-4920-ACD2-A5A6C21461C7}" type="datetime1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Prasenjit Dey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4DBD1-5FA7-4438-9EF8-F7BC71E9D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02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eyp@nitrkl.ac.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Learning Methods in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47092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Statistical, Rote, Advice-based, Problem-solving, and Example-based Learning</a:t>
            </a:r>
          </a:p>
          <a:p>
            <a:pPr>
              <a:spcBef>
                <a:spcPts val="0"/>
              </a:spcBef>
            </a:pPr>
            <a:endParaRPr lang="en-IN" dirty="0"/>
          </a:p>
          <a:p>
            <a:pPr>
              <a:spcBef>
                <a:spcPts val="0"/>
              </a:spcBef>
            </a:pPr>
            <a:endParaRPr lang="en-IN" dirty="0"/>
          </a:p>
          <a:p>
            <a:pPr>
              <a:spcBef>
                <a:spcPts val="0"/>
              </a:spcBef>
            </a:pPr>
            <a:r>
              <a:rPr dirty="0"/>
              <a:t>Dr. Prasenjit Dey</a:t>
            </a:r>
            <a:endParaRPr lang="en-IN" dirty="0"/>
          </a:p>
          <a:p>
            <a:pPr>
              <a:spcBef>
                <a:spcPts val="0"/>
              </a:spcBef>
            </a:pPr>
            <a:r>
              <a:rPr lang="en-US" dirty="0"/>
              <a:t>Assistant Professor,</a:t>
            </a:r>
          </a:p>
          <a:p>
            <a:pPr>
              <a:spcBef>
                <a:spcPts val="0"/>
              </a:spcBef>
            </a:pPr>
            <a:r>
              <a:rPr lang="en-US" dirty="0"/>
              <a:t>NIT Rourkela,</a:t>
            </a:r>
          </a:p>
          <a:p>
            <a:pPr>
              <a:spcBef>
                <a:spcPts val="0"/>
              </a:spcBef>
            </a:pPr>
            <a:r>
              <a:rPr lang="en-US" dirty="0"/>
              <a:t>Odisha, India </a:t>
            </a:r>
          </a:p>
          <a:p>
            <a:pPr>
              <a:spcBef>
                <a:spcPts val="0"/>
              </a:spcBef>
            </a:pPr>
            <a:r>
              <a:rPr lang="en-US" dirty="0">
                <a:hlinkClick r:id="rId2"/>
              </a:rPr>
              <a:t>deyp@nitrkl.ac.in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9123363688/9674031771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5565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Agenda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</a:t>
            </a:fld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45922" y="722489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Part 1: Foundations of Machine Learning</a:t>
            </a:r>
            <a:endParaRPr lang="en-US" sz="1800" dirty="0"/>
          </a:p>
          <a:p>
            <a:pPr lvl="1"/>
            <a:r>
              <a:rPr lang="en-US" sz="1400" dirty="0"/>
              <a:t>Introduction to Learning in Artificial Intelligence</a:t>
            </a:r>
          </a:p>
          <a:p>
            <a:pPr lvl="1"/>
            <a:r>
              <a:rPr lang="en-US" sz="1400" dirty="0"/>
              <a:t>Why Learning is Essential for Intelligent Systems</a:t>
            </a:r>
          </a:p>
          <a:p>
            <a:pPr lvl="1"/>
            <a:r>
              <a:rPr lang="en-US" sz="1400" dirty="0"/>
              <a:t>Overview of Major Learning Paradigms</a:t>
            </a:r>
          </a:p>
          <a:p>
            <a:r>
              <a:rPr lang="en-US" sz="1800" b="1" dirty="0"/>
              <a:t>Part 2: Data-Driven Learning Approaches</a:t>
            </a:r>
            <a:endParaRPr lang="en-US" sz="1800" dirty="0"/>
          </a:p>
          <a:p>
            <a:pPr lvl="1"/>
            <a:r>
              <a:rPr lang="en-US" sz="1400" dirty="0"/>
              <a:t>Statistical Learning</a:t>
            </a:r>
          </a:p>
          <a:p>
            <a:pPr lvl="1"/>
            <a:r>
              <a:rPr lang="en-US" sz="1400" dirty="0"/>
              <a:t>Supervised and Unsupervised Learning Concepts</a:t>
            </a:r>
          </a:p>
          <a:p>
            <a:pPr lvl="1"/>
            <a:r>
              <a:rPr lang="en-US" sz="1400" dirty="0"/>
              <a:t>Practical Applications and Case Examples</a:t>
            </a:r>
          </a:p>
          <a:p>
            <a:r>
              <a:rPr lang="en-US" sz="1800" b="1" dirty="0"/>
              <a:t>Part 3: Knowledge and Memory Based Learning</a:t>
            </a:r>
            <a:endParaRPr lang="en-US" sz="1800" dirty="0"/>
          </a:p>
          <a:p>
            <a:pPr lvl="1"/>
            <a:r>
              <a:rPr lang="en-US" sz="1400" dirty="0"/>
              <a:t>Rote Learning</a:t>
            </a:r>
          </a:p>
          <a:p>
            <a:pPr lvl="1"/>
            <a:r>
              <a:rPr lang="en-US" sz="1400" dirty="0"/>
              <a:t>Learning by Taking Advice</a:t>
            </a:r>
          </a:p>
          <a:p>
            <a:pPr lvl="1"/>
            <a:r>
              <a:rPr lang="en-US" sz="1400" dirty="0"/>
              <a:t>Real-World System Demonstrations</a:t>
            </a:r>
          </a:p>
          <a:p>
            <a:r>
              <a:rPr lang="en-US" sz="1800" b="1" dirty="0"/>
              <a:t>Part 4: Experience and Reasoning Based Learning</a:t>
            </a:r>
            <a:endParaRPr lang="en-US" sz="1800" dirty="0"/>
          </a:p>
          <a:p>
            <a:pPr lvl="1"/>
            <a:r>
              <a:rPr lang="en-US" sz="1400" dirty="0"/>
              <a:t>Learning in Problem Solving</a:t>
            </a:r>
          </a:p>
          <a:p>
            <a:pPr lvl="1"/>
            <a:r>
              <a:rPr lang="en-US" sz="1400" dirty="0"/>
              <a:t>Learning from Examples (Inductive Learning)</a:t>
            </a:r>
          </a:p>
          <a:p>
            <a:pPr lvl="1"/>
            <a:r>
              <a:rPr lang="en-US" sz="1400" dirty="0"/>
              <a:t>Explanation-Based Learning</a:t>
            </a:r>
          </a:p>
          <a:p>
            <a:r>
              <a:rPr lang="en-US" sz="1800" b="1" dirty="0"/>
              <a:t>Part 5: Integration and Applications</a:t>
            </a:r>
            <a:endParaRPr lang="en-US" sz="1800" dirty="0"/>
          </a:p>
          <a:p>
            <a:pPr lvl="1"/>
            <a:r>
              <a:rPr lang="en-US" sz="1400" dirty="0"/>
              <a:t>Comparison of Learning Methods</a:t>
            </a:r>
          </a:p>
          <a:p>
            <a:pPr lvl="1"/>
            <a:r>
              <a:rPr lang="en-US" sz="1400" dirty="0"/>
              <a:t>Real-World AI System Case Studies</a:t>
            </a:r>
          </a:p>
          <a:p>
            <a:pPr lvl="1"/>
            <a:r>
              <a:rPr lang="en-US" sz="1400" dirty="0"/>
              <a:t>Discussion and Classroom Activity</a:t>
            </a:r>
          </a:p>
        </p:txBody>
      </p:sp>
    </p:spTree>
    <p:extLst>
      <p:ext uri="{BB962C8B-B14F-4D97-AF65-F5344CB8AC3E}">
        <p14:creationId xmlns:p14="http://schemas.microsoft.com/office/powerpoint/2010/main" val="97822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Learning?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Arial" panose="020B0604020202020204" pitchFamily="34" charset="0"/>
              </a:rPr>
              <a:t>Learning</a:t>
            </a:r>
            <a:r>
              <a:rPr lang="en-US" altLang="en-US" sz="2400" dirty="0">
                <a:latin typeface="Arial" panose="020B0604020202020204" pitchFamily="34" charset="0"/>
              </a:rPr>
              <a:t> is the process by which an AI system </a:t>
            </a:r>
            <a:r>
              <a:rPr lang="en-US" altLang="en-US" sz="2400" b="1" dirty="0">
                <a:latin typeface="Arial" panose="020B0604020202020204" pitchFamily="34" charset="0"/>
              </a:rPr>
              <a:t>improves its performance</a:t>
            </a:r>
            <a:r>
              <a:rPr lang="en-US" altLang="en-US" sz="2400" dirty="0">
                <a:latin typeface="Arial" panose="020B0604020202020204" pitchFamily="34" charset="0"/>
              </a:rPr>
              <a:t> on a task through </a:t>
            </a:r>
            <a:r>
              <a:rPr lang="en-US" altLang="en-US" sz="2400" b="1" dirty="0">
                <a:latin typeface="Arial" panose="020B0604020202020204" pitchFamily="34" charset="0"/>
              </a:rPr>
              <a:t>experience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In AI, learning means </a:t>
            </a:r>
            <a:r>
              <a:rPr lang="en-US" altLang="en-US" sz="2400" b="1" dirty="0">
                <a:latin typeface="Arial" panose="020B0604020202020204" pitchFamily="34" charset="0"/>
              </a:rPr>
              <a:t>modifying internal models, rules, or parameters</a:t>
            </a:r>
            <a:r>
              <a:rPr lang="en-US" altLang="en-US" sz="2400" dirty="0">
                <a:latin typeface="Arial" panose="020B0604020202020204" pitchFamily="34" charset="0"/>
              </a:rPr>
              <a:t> based on data or feedback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A learning system is able to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Adapt to new situations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Improve accuracy over time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Generalize from past experience to unseen cases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Learning is a </a:t>
            </a:r>
            <a:r>
              <a:rPr lang="en-US" altLang="en-US" sz="2400" b="1" dirty="0">
                <a:latin typeface="Arial" panose="020B0604020202020204" pitchFamily="34" charset="0"/>
              </a:rPr>
              <a:t>core requirement</a:t>
            </a:r>
            <a:r>
              <a:rPr lang="en-US" altLang="en-US" sz="2400" dirty="0">
                <a:latin typeface="Arial" panose="020B0604020202020204" pitchFamily="34" charset="0"/>
              </a:rPr>
              <a:t> for building intelligent and autonomous systems</a:t>
            </a:r>
          </a:p>
          <a:p>
            <a:endParaRPr lang="en-IN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801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Why Do We Need Learning in AI?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4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33400" y="973048"/>
            <a:ext cx="112088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sz="2400" dirty="0"/>
          </a:p>
        </p:txBody>
      </p:sp>
      <p:sp>
        <p:nvSpPr>
          <p:cNvPr id="9" name="Rectangle 8"/>
          <p:cNvSpPr/>
          <p:nvPr/>
        </p:nvSpPr>
        <p:spPr>
          <a:xfrm>
            <a:off x="1049144" y="1327140"/>
            <a:ext cx="9352156" cy="358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Real-world problems are </a:t>
            </a:r>
            <a:r>
              <a:rPr lang="en-US" altLang="en-US" sz="2400" b="1" dirty="0">
                <a:latin typeface="Arial" panose="020B0604020202020204" pitchFamily="34" charset="0"/>
              </a:rPr>
              <a:t>complex, dynamic, and uncertain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Writing fixed rules for every situation is </a:t>
            </a:r>
            <a:r>
              <a:rPr lang="en-US" altLang="en-US" sz="2400" b="1" dirty="0">
                <a:latin typeface="Arial" panose="020B0604020202020204" pitchFamily="34" charset="0"/>
              </a:rPr>
              <a:t>not scalable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Learning allows AI systems to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Adapt to new and unseen situations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Improve performance through experience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Generalize from past data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Handle uncertainty and noisy inputs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</a:rPr>
              <a:t>Learning enables AI to move beyond </a:t>
            </a:r>
            <a:r>
              <a:rPr lang="en-US" altLang="en-US" sz="2400" b="1" dirty="0">
                <a:latin typeface="Arial" panose="020B0604020202020204" pitchFamily="34" charset="0"/>
              </a:rPr>
              <a:t>static rule-based behavior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0076" y="4912737"/>
            <a:ext cx="44219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FF0000"/>
                </a:solidFill>
              </a:rPr>
              <a:t>Rule-Based A</a:t>
            </a:r>
            <a:r>
              <a:rPr lang="en-IN" b="1" dirty="0">
                <a:solidFill>
                  <a:srgbClr val="FF0000"/>
                </a:solidFill>
              </a:rPr>
              <a:t>I            </a:t>
            </a:r>
            <a:r>
              <a:rPr lang="en-IN" b="1" u="sng" dirty="0">
                <a:solidFill>
                  <a:srgbClr val="FF0000"/>
                </a:solidFill>
              </a:rPr>
              <a:t>Learning-Based AI</a:t>
            </a:r>
          </a:p>
          <a:p>
            <a:endParaRPr lang="en-IN" b="1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Fixed rules                  Adaptive model</a:t>
            </a:r>
          </a:p>
          <a:p>
            <a:r>
              <a:rPr lang="en-IN" dirty="0">
                <a:solidFill>
                  <a:srgbClr val="FF0000"/>
                </a:solidFill>
              </a:rPr>
              <a:t>Manual updates        Automatic updates</a:t>
            </a:r>
          </a:p>
          <a:p>
            <a:r>
              <a:rPr lang="en-IN" dirty="0">
                <a:solidFill>
                  <a:srgbClr val="FF0000"/>
                </a:solidFill>
              </a:rPr>
              <a:t>Fails on new cases    Generalizes to new cases</a:t>
            </a:r>
          </a:p>
        </p:txBody>
      </p:sp>
    </p:spTree>
    <p:extLst>
      <p:ext uri="{BB962C8B-B14F-4D97-AF65-F5344CB8AC3E}">
        <p14:creationId xmlns:p14="http://schemas.microsoft.com/office/powerpoint/2010/main" val="182642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8058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Learning Methods in AI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5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89180" y="1060477"/>
            <a:ext cx="11125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Artificial Intelligence systems learn in different ways depending 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Availability of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Presence of prior knowledge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Nature and complexity of the problem.</a:t>
            </a:r>
            <a:endParaRPr lang="en-IN" sz="2400" dirty="0"/>
          </a:p>
        </p:txBody>
      </p:sp>
      <p:sp>
        <p:nvSpPr>
          <p:cNvPr id="9" name="Rectangle 8"/>
          <p:cNvSpPr/>
          <p:nvPr/>
        </p:nvSpPr>
        <p:spPr>
          <a:xfrm>
            <a:off x="789180" y="2706166"/>
            <a:ext cx="925737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Major learning methods used in AI:</a:t>
            </a:r>
          </a:p>
          <a:p>
            <a:pPr marL="725487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Statistical Learning</a:t>
            </a:r>
          </a:p>
          <a:p>
            <a:pPr marL="725487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Rote Learning</a:t>
            </a:r>
          </a:p>
          <a:p>
            <a:pPr marL="725487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Learning by Taking Advice</a:t>
            </a:r>
          </a:p>
          <a:p>
            <a:pPr marL="725487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Learning in Problem Solving</a:t>
            </a:r>
          </a:p>
          <a:p>
            <a:pPr marL="725487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Learning from Examples (Inductive Learning)</a:t>
            </a:r>
          </a:p>
          <a:p>
            <a:pPr marL="725487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Explanation-Based Learning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889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Learning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6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11458" y="1204321"/>
            <a:ext cx="10969084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3888" lvl="0" indent="-534988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/>
              <a:t>Statistical learning is a data-driven learning approach based on probability and statistics</a:t>
            </a:r>
          </a:p>
          <a:p>
            <a:pPr marL="623888" lvl="0" indent="-534988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/>
              <a:t>Learns patterns and relationships directly from data</a:t>
            </a:r>
          </a:p>
          <a:p>
            <a:pPr marL="623888" lvl="0" indent="-534988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/>
              <a:t>Explicitly models uncertainty and noise present in real-world data</a:t>
            </a:r>
          </a:p>
          <a:p>
            <a:pPr marL="623888" lvl="0" indent="-534988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/>
              <a:t>Uses a loss function to measure prediction error</a:t>
            </a:r>
          </a:p>
          <a:p>
            <a:pPr marL="623888" lvl="0" indent="-534988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/>
              <a:t>Objective is to generalize well to unseen data, not just fit training data</a:t>
            </a:r>
          </a:p>
          <a:p>
            <a:pPr marL="623888" lvl="0" indent="-534988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/>
          </a:p>
          <a:p>
            <a:r>
              <a:rPr lang="en-IN" sz="2400" b="1" dirty="0"/>
              <a:t>Common Models / Techniques</a:t>
            </a:r>
            <a:endParaRPr lang="en-IN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Linear Regression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Logistic Regression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Naïve Bayes Classifier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Bayesian Networks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Support Vector Machines (SVM)</a:t>
            </a:r>
          </a:p>
          <a:p>
            <a:pPr marL="623888" lvl="0" indent="-5349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08515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Supervised Learning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7</a:t>
            </a:fld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23875" y="1154113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Supervised learning</a:t>
            </a:r>
            <a:r>
              <a:rPr lang="en-US" dirty="0"/>
              <a:t> is a learning paradigm where the model is trained using </a:t>
            </a:r>
            <a:r>
              <a:rPr lang="en-US" b="1" dirty="0"/>
              <a:t>labeled data</a:t>
            </a:r>
            <a:endParaRPr lang="en-US" dirty="0"/>
          </a:p>
          <a:p>
            <a:r>
              <a:rPr lang="en-US" dirty="0"/>
              <a:t>Each training example consists of</a:t>
            </a:r>
          </a:p>
          <a:p>
            <a:pPr marL="742950" lvl="1" indent="-285750"/>
            <a:r>
              <a:rPr lang="en-US" dirty="0"/>
              <a:t>Input features x</a:t>
            </a:r>
          </a:p>
          <a:p>
            <a:pPr marL="742950" lvl="1" indent="-285750"/>
            <a:r>
              <a:rPr lang="en-US" dirty="0"/>
              <a:t>Corresponding correct output y (label)</a:t>
            </a:r>
          </a:p>
          <a:p>
            <a:r>
              <a:rPr lang="en-US" dirty="0"/>
              <a:t>The goal is to learn a function f(x)→y that performs well on </a:t>
            </a:r>
            <a:r>
              <a:rPr lang="en-US" b="1" dirty="0"/>
              <a:t>unseen data</a:t>
            </a:r>
            <a:endParaRPr lang="en-US" dirty="0"/>
          </a:p>
          <a:p>
            <a:r>
              <a:rPr lang="en-US" dirty="0"/>
              <a:t>Learning is guided by a </a:t>
            </a:r>
            <a:r>
              <a:rPr lang="en-US" b="1" dirty="0"/>
              <a:t>loss function</a:t>
            </a:r>
            <a:r>
              <a:rPr lang="en-US" dirty="0"/>
              <a:t> that measures prediction error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Main Types</a:t>
            </a:r>
            <a:endParaRPr lang="en-US" dirty="0"/>
          </a:p>
          <a:p>
            <a:pPr lvl="1"/>
            <a:r>
              <a:rPr lang="en-US" b="1" dirty="0"/>
              <a:t>Classification</a:t>
            </a:r>
            <a:r>
              <a:rPr lang="en-US" dirty="0"/>
              <a:t> – output is a discrete label</a:t>
            </a:r>
          </a:p>
          <a:p>
            <a:pPr lvl="1"/>
            <a:r>
              <a:rPr lang="en-US" b="1" dirty="0"/>
              <a:t>Regression</a:t>
            </a:r>
            <a:r>
              <a:rPr lang="en-US" dirty="0"/>
              <a:t> – output is a continuous value</a:t>
            </a:r>
          </a:p>
        </p:txBody>
      </p:sp>
    </p:spTree>
    <p:extLst>
      <p:ext uri="{BB962C8B-B14F-4D97-AF65-F5344CB8AC3E}">
        <p14:creationId xmlns:p14="http://schemas.microsoft.com/office/powerpoint/2010/main" val="3007813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Unsupervised Learning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8</a:t>
            </a:fld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81025" y="11398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Unsupervised learning</a:t>
            </a:r>
            <a:r>
              <a:rPr lang="en-US" sz="2400" dirty="0"/>
              <a:t> is a learning paradigm where the model is trained using </a:t>
            </a:r>
            <a:r>
              <a:rPr lang="en-US" sz="2400" b="1" dirty="0"/>
              <a:t>unlabeled data</a:t>
            </a:r>
            <a:endParaRPr lang="en-US" sz="2400" dirty="0"/>
          </a:p>
          <a:p>
            <a:r>
              <a:rPr lang="en-US" sz="2400" dirty="0"/>
              <a:t>The system receives only input data xxx, with </a:t>
            </a:r>
            <a:r>
              <a:rPr lang="en-US" sz="2400" b="1" dirty="0"/>
              <a:t>no correct output labels</a:t>
            </a:r>
            <a:endParaRPr lang="en-US" sz="2400" dirty="0"/>
          </a:p>
          <a:p>
            <a:r>
              <a:rPr lang="en-US" sz="2400" dirty="0"/>
              <a:t>Objective is to </a:t>
            </a:r>
            <a:r>
              <a:rPr lang="en-US" sz="2400" b="1" dirty="0"/>
              <a:t>discover hidden structure or patterns</a:t>
            </a:r>
            <a:r>
              <a:rPr lang="en-US" sz="2400" dirty="0"/>
              <a:t> in the data</a:t>
            </a:r>
          </a:p>
          <a:p>
            <a:r>
              <a:rPr lang="en-US" sz="2400" dirty="0"/>
              <a:t>Focuses on understanding the data distribution rather than prediction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Common Tasks</a:t>
            </a:r>
            <a:endParaRPr lang="en-US" sz="2400" dirty="0"/>
          </a:p>
          <a:p>
            <a:r>
              <a:rPr lang="en-US" sz="2400" b="1" dirty="0"/>
              <a:t>Clustering</a:t>
            </a:r>
            <a:endParaRPr lang="en-US" sz="2400" dirty="0"/>
          </a:p>
          <a:p>
            <a:r>
              <a:rPr lang="en-US" sz="2400" b="1" dirty="0"/>
              <a:t>Dimensionality Reduction</a:t>
            </a:r>
            <a:endParaRPr lang="en-US" sz="2400" dirty="0"/>
          </a:p>
          <a:p>
            <a:r>
              <a:rPr lang="en-US" sz="2400" b="1" dirty="0"/>
              <a:t>Anomaly Detection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0101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Learning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9</a:t>
            </a:fld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2250690" y="2407923"/>
            <a:ext cx="3077738" cy="12511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Statistical Learning Algorithm</a:t>
            </a:r>
            <a:endParaRPr lang="en-IN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4039777" y="3981763"/>
            <a:ext cx="4347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/>
              <a:t>Procedure of statistical learning</a:t>
            </a:r>
          </a:p>
          <a:p>
            <a:pPr algn="ctr"/>
            <a:endParaRPr lang="en-IN" b="1" i="1" dirty="0"/>
          </a:p>
        </p:txBody>
      </p:sp>
      <p:sp>
        <p:nvSpPr>
          <p:cNvPr id="30" name="Rectangle 29"/>
          <p:cNvSpPr/>
          <p:nvPr/>
        </p:nvSpPr>
        <p:spPr>
          <a:xfrm>
            <a:off x="6187072" y="2769684"/>
            <a:ext cx="1466929" cy="5770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Model</a:t>
            </a:r>
            <a:endParaRPr lang="en-IN" sz="2400" dirty="0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5328428" y="3047040"/>
            <a:ext cx="858644" cy="11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455486" y="2735026"/>
            <a:ext cx="31476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Predicting output y for new measurement x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7660890" y="3058191"/>
            <a:ext cx="858644" cy="11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29034" y="2334049"/>
            <a:ext cx="1926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Training dataset</a:t>
            </a:r>
          </a:p>
          <a:p>
            <a:pPr algn="ctr"/>
            <a:r>
              <a:rPr lang="en-US" dirty="0"/>
              <a:t>(x, y)</a:t>
            </a:r>
          </a:p>
        </p:txBody>
      </p:sp>
      <p:cxnSp>
        <p:nvCxnSpPr>
          <p:cNvPr id="36" name="Straight Arrow Connector 35"/>
          <p:cNvCxnSpPr>
            <a:endCxn id="10" idx="1"/>
          </p:cNvCxnSpPr>
          <p:nvPr/>
        </p:nvCxnSpPr>
        <p:spPr>
          <a:xfrm>
            <a:off x="691372" y="3033510"/>
            <a:ext cx="15593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924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Learning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10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252653" y="722489"/>
            <a:ext cx="79378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/>
              <a:t>Advantages</a:t>
            </a:r>
          </a:p>
          <a:p>
            <a:pPr marL="714375" indent="-342900">
              <a:buFont typeface="Wingdings" panose="05000000000000000000" pitchFamily="2" charset="2"/>
              <a:buChar char="Ø"/>
            </a:pPr>
            <a:r>
              <a:rPr lang="en-US" sz="2400"/>
              <a:t>Learns patterns automatically from data</a:t>
            </a:r>
          </a:p>
          <a:p>
            <a:pPr marL="714375" indent="-342900">
              <a:buFont typeface="Wingdings" panose="05000000000000000000" pitchFamily="2" charset="2"/>
              <a:buChar char="Ø"/>
            </a:pPr>
            <a:r>
              <a:rPr lang="en-US" sz="2400"/>
              <a:t>Handles uncertainty and noisy real-world data effectively</a:t>
            </a:r>
          </a:p>
          <a:p>
            <a:pPr marL="714375" indent="-342900">
              <a:buFont typeface="Wingdings" panose="05000000000000000000" pitchFamily="2" charset="2"/>
              <a:buChar char="Ø"/>
            </a:pPr>
            <a:r>
              <a:rPr lang="en-US" sz="2400"/>
              <a:t>Generalizes well to unseen examples when trained properly</a:t>
            </a:r>
          </a:p>
          <a:p>
            <a:pPr marL="714375" indent="-342900">
              <a:buFont typeface="Wingdings" panose="05000000000000000000" pitchFamily="2" charset="2"/>
              <a:buChar char="Ø"/>
            </a:pPr>
            <a:r>
              <a:rPr lang="en-US" sz="2400"/>
              <a:t>Strong mathematical and theoretical foundation</a:t>
            </a:r>
          </a:p>
          <a:p>
            <a:pPr marL="714375" indent="-342900">
              <a:buFont typeface="Wingdings" panose="05000000000000000000" pitchFamily="2" charset="2"/>
              <a:buChar char="Ø"/>
            </a:pPr>
            <a:r>
              <a:rPr lang="en-US" sz="2400"/>
              <a:t>Widely applicable across domains such as text, images, speech, and medical data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252653" y="3700710"/>
            <a:ext cx="85604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Disadvantages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Requires large amounts of data for good performance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Training can be computationally expensive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Performance depends heavily on data quality and feature selection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Many models are hard to interpret (black-box behavior)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Risk of overfitting if not properly regularized</a:t>
            </a:r>
          </a:p>
        </p:txBody>
      </p:sp>
    </p:spTree>
    <p:extLst>
      <p:ext uri="{BB962C8B-B14F-4D97-AF65-F5344CB8AC3E}">
        <p14:creationId xmlns:p14="http://schemas.microsoft.com/office/powerpoint/2010/main" val="821107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 dirty="0"/>
              <a:t>Rote Learning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11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50485" y="892087"/>
            <a:ext cx="1130362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3888" lvl="0" indent="-5349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Rote learning is a learning method where an AI system memorizes information exactly as it is given.</a:t>
            </a:r>
          </a:p>
          <a:p>
            <a:pPr marL="623888" lvl="0" indent="-5349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It does not involve reasoning, understanding, or generalization.</a:t>
            </a:r>
          </a:p>
          <a:p>
            <a:pPr marL="623888" lvl="0" indent="-5349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The system retrieves stored knowledge when the same situation occurs again.</a:t>
            </a:r>
          </a:p>
          <a:p>
            <a:pPr marL="623888" lvl="0" indent="-5349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This method is simple and fast but limited to previously seen cases.</a:t>
            </a:r>
          </a:p>
          <a:p>
            <a:pPr marL="623888" lvl="0" indent="-5349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Model/Technique:</a:t>
            </a:r>
            <a:r>
              <a:rPr lang="en-US" sz="2400" dirty="0"/>
              <a:t> Lookup Tables, Databases, Memory-Based Storage, Case-Based Retrieval, k-NN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2417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Rote Learning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12</a:t>
            </a:fld>
            <a:endParaRPr lang="en-IN" dirty="0"/>
          </a:p>
        </p:txBody>
      </p:sp>
      <p:pic>
        <p:nvPicPr>
          <p:cNvPr id="1026" name="Picture 2" descr="What is Rote Learning? Structural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630" y="914883"/>
            <a:ext cx="4328530" cy="432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413525" y="2294318"/>
            <a:ext cx="709310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Example:</a:t>
            </a:r>
            <a:endParaRPr lang="en-US" sz="2400" dirty="0"/>
          </a:p>
          <a:p>
            <a:pPr marL="892175" indent="-534988">
              <a:buFont typeface="Wingdings" panose="05000000000000000000" pitchFamily="2" charset="2"/>
              <a:buChar char="Ø"/>
            </a:pPr>
            <a:r>
              <a:rPr lang="en-US" sz="2400" dirty="0"/>
              <a:t>A lookup table that stores multiplication results</a:t>
            </a:r>
          </a:p>
          <a:p>
            <a:pPr marL="892175" indent="-534988">
              <a:buFont typeface="Wingdings" panose="05000000000000000000" pitchFamily="2" charset="2"/>
              <a:buChar char="Ø"/>
            </a:pPr>
            <a:r>
              <a:rPr lang="en-US" sz="2400" dirty="0"/>
              <a:t>A </a:t>
            </a:r>
            <a:r>
              <a:rPr lang="en-US" sz="2400" dirty="0" err="1"/>
              <a:t>chatbot</a:t>
            </a:r>
            <a:r>
              <a:rPr lang="en-US" sz="2400" dirty="0"/>
              <a:t> replying with pre-stored answers</a:t>
            </a:r>
          </a:p>
          <a:p>
            <a:pPr marL="892175" indent="-534988">
              <a:buFont typeface="Wingdings" panose="05000000000000000000" pitchFamily="2" charset="2"/>
              <a:buChar char="Ø"/>
            </a:pPr>
            <a:r>
              <a:rPr lang="en-US" sz="2400" dirty="0"/>
              <a:t>Storing question–answer pairs in a database</a:t>
            </a:r>
          </a:p>
        </p:txBody>
      </p:sp>
    </p:spTree>
    <p:extLst>
      <p:ext uri="{BB962C8B-B14F-4D97-AF65-F5344CB8AC3E}">
        <p14:creationId xmlns:p14="http://schemas.microsoft.com/office/powerpoint/2010/main" val="177643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Rote Learning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13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375316" y="1161492"/>
            <a:ext cx="104561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Advantages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Simple and easy to implement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Very fast response for known inputs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Requires no complex computation or training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Useful when exact recall is required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Predictable and consistent behavior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5316" y="3744491"/>
            <a:ext cx="92740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Disadvantages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No understanding or reasoning ability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Cannot handle new or unseen situations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No improvement over time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High memory usage for large datasets</a:t>
            </a:r>
          </a:p>
          <a:p>
            <a:pPr marL="803275" indent="-342900">
              <a:buFont typeface="Wingdings" panose="05000000000000000000" pitchFamily="2" charset="2"/>
              <a:buChar char="Ø"/>
            </a:pPr>
            <a:r>
              <a:rPr lang="en-US" sz="2400" dirty="0"/>
              <a:t>Errors remain if incorrect information is memorized</a:t>
            </a:r>
          </a:p>
        </p:txBody>
      </p:sp>
    </p:spTree>
    <p:extLst>
      <p:ext uri="{BB962C8B-B14F-4D97-AF65-F5344CB8AC3E}">
        <p14:creationId xmlns:p14="http://schemas.microsoft.com/office/powerpoint/2010/main" val="2996547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by Taking Advice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14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806605" y="1311148"/>
            <a:ext cx="110359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Learning by taking advice is a method where an AI system learns directly from instructions or guidance provided by a human expert or another system.</a:t>
            </a:r>
          </a:p>
          <a:p>
            <a:pPr marL="446088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The advice is usually given in the form of rules, hints, constraints, or strategies.</a:t>
            </a:r>
          </a:p>
          <a:p>
            <a:pPr marL="446088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This method reduces the need for large training data and speeds up learning.</a:t>
            </a:r>
          </a:p>
          <a:p>
            <a:pPr marL="446088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The system’s performance strongly depends on the quality and correctness of the advice.</a:t>
            </a:r>
          </a:p>
          <a:p>
            <a:pPr marL="446088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Model/Technique:</a:t>
            </a:r>
            <a:r>
              <a:rPr lang="en-US" sz="2400" dirty="0"/>
              <a:t> Rule-Based Systems, Expert Systems, Production Systems (IF–THEN Rules)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10924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by Taking Advice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15</a:t>
            </a:fld>
            <a:endParaRPr lang="en-IN" dirty="0"/>
          </a:p>
        </p:txBody>
      </p:sp>
      <p:pic>
        <p:nvPicPr>
          <p:cNvPr id="8194" name="Picture 2" descr="EXPLORING EXPERT SYSTEMS IN ARTIFICIAL INTELLIGENCE: AN OVERVI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18" y="2859734"/>
            <a:ext cx="5359117" cy="284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31179" y="1251851"/>
            <a:ext cx="46930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Example: </a:t>
            </a:r>
            <a:r>
              <a:rPr lang="en-US" sz="2400" dirty="0"/>
              <a:t>A medical diagnosis system using doctor-defined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40644" y="1100814"/>
            <a:ext cx="54522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Example: </a:t>
            </a:r>
            <a:r>
              <a:rPr lang="en-US" sz="2400" dirty="0"/>
              <a:t>Learning by Taking Advice, where expert knowledge guides system behavior.</a:t>
            </a:r>
            <a:endParaRPr lang="en-IN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276" y="2971800"/>
            <a:ext cx="5562675" cy="229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03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by Taking Advice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16</a:t>
            </a:fld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13360" y="975664"/>
            <a:ext cx="58826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Advantages of Learning by Taking Advice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Reduces the need for large training datasets</a:t>
            </a:r>
            <a:endParaRPr lang="en-US" altLang="en-US" sz="2400" dirty="0"/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Faster learning using expert knowledge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Produces reliable results in well-defined domains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Easy to understand and explain decisions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Suitable for critical applications (medical, legal, industrial)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6096000" y="819866"/>
            <a:ext cx="6096000" cy="557505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Limitations of Learning by Taking Advice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Strongly depends on the quality of expert advice</a:t>
            </a:r>
            <a:endParaRPr lang="en-US" altLang="en-US" sz="2400" dirty="0"/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Difficult to acquire and update expert knowledge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Limited adaptability to new or unseen situations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Not suitable for highly dynamic or uncertain environments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May fail if rules are incomplete or incorrect</a:t>
            </a:r>
          </a:p>
        </p:txBody>
      </p:sp>
    </p:spTree>
    <p:extLst>
      <p:ext uri="{BB962C8B-B14F-4D97-AF65-F5344CB8AC3E}">
        <p14:creationId xmlns:p14="http://schemas.microsoft.com/office/powerpoint/2010/main" val="3634227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in Problem Solving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17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73430" y="1089517"/>
            <a:ext cx="1064514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Learning in problem solving occurs when an AI system improves its performance while solving problems.</a:t>
            </a:r>
          </a:p>
          <a:p>
            <a:pPr marL="628650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The system learns from past successes and failures and refines its strategies over time.</a:t>
            </a:r>
          </a:p>
          <a:p>
            <a:pPr marL="628650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It focuses on improving search efficiency, heuristics, and decision strategies.</a:t>
            </a:r>
          </a:p>
          <a:p>
            <a:pPr marL="628650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This type of learning is commonly used in planning, game playing, and optimization tasks.</a:t>
            </a:r>
          </a:p>
          <a:p>
            <a:pPr marL="628650" lvl="0" indent="-4460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Model/Technique:</a:t>
            </a:r>
            <a:r>
              <a:rPr lang="en-US" sz="2400" dirty="0"/>
              <a:t> Heuristic Search, A* Algorithm, Reinforcement Learning, Game-Playing Algorithms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19397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in Problem Solving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18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05790" y="973158"/>
            <a:ext cx="112585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</a:t>
            </a:r>
          </a:p>
          <a:p>
            <a:pPr marL="720725" indent="-538163">
              <a:buFont typeface="Wingdings" panose="05000000000000000000" pitchFamily="2" charset="2"/>
              <a:buChar char="Ø"/>
            </a:pPr>
            <a:r>
              <a:rPr lang="en-US" sz="2400" dirty="0"/>
              <a:t>A chess-playing AI learns better moves by analyzing previously played games.</a:t>
            </a:r>
          </a:p>
          <a:p>
            <a:pPr marL="720725" indent="-538163">
              <a:buFont typeface="Wingdings" panose="05000000000000000000" pitchFamily="2" charset="2"/>
              <a:buChar char="Ø"/>
            </a:pPr>
            <a:r>
              <a:rPr lang="en-US" sz="2400" dirty="0"/>
              <a:t>A path-finding robot improves its route selection based on earlier navigation experiences.</a:t>
            </a:r>
          </a:p>
          <a:p>
            <a:pPr marL="720725" indent="-538163">
              <a:buFont typeface="Wingdings" panose="05000000000000000000" pitchFamily="2" charset="2"/>
              <a:buChar char="Ø"/>
            </a:pPr>
            <a:r>
              <a:rPr lang="en-US" sz="2400" dirty="0"/>
              <a:t>Puzzle-solving systems (e.g., 8-puzzle) learn better heuristics to reduce search time.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8277"/>
          <a:stretch/>
        </p:blipFill>
        <p:spPr>
          <a:xfrm>
            <a:off x="814039" y="2912150"/>
            <a:ext cx="4939990" cy="3309087"/>
          </a:xfrm>
          <a:prstGeom prst="rect">
            <a:avLst/>
          </a:prstGeom>
        </p:spPr>
      </p:pic>
      <p:pic>
        <p:nvPicPr>
          <p:cNvPr id="11268" name="Picture 4" descr="Path Smoothing Techniques in Robot Navigation: State-of-the-Art, Current  and Future Challeng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045" y="3317524"/>
            <a:ext cx="4960216" cy="248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092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in Problem Solving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19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037993" y="998744"/>
            <a:ext cx="9697844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Improves efficiency and solution quality over time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Reduces computational cost by learning better strategies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Useful in sequential and decision-making problems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52" y="3745281"/>
            <a:ext cx="9363307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Limitations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Learning can be slow for complex problems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Requires repeated problem-solving experiences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Performance depends on the quality of feedback</a:t>
            </a:r>
          </a:p>
        </p:txBody>
      </p:sp>
    </p:spTree>
    <p:extLst>
      <p:ext uri="{BB962C8B-B14F-4D97-AF65-F5344CB8AC3E}">
        <p14:creationId xmlns:p14="http://schemas.microsoft.com/office/powerpoint/2010/main" val="4283063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Examples (Inductive Learning)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20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51931" y="1399190"/>
            <a:ext cx="10088137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Inductive learning is a method where an AI system learns general rules or models from specific examples.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system observes input–output pairs and infers patterns that can be applied to new, unseen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It focuses on generalization, not memorization.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This is one of the most widely used learning methods in machine learning.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Model/Technique:</a:t>
            </a:r>
            <a:r>
              <a:rPr lang="en-US" sz="2400" dirty="0"/>
              <a:t> Decision Trees, Neural Networks, Random Forests</a:t>
            </a:r>
          </a:p>
        </p:txBody>
      </p:sp>
    </p:spTree>
    <p:extLst>
      <p:ext uri="{BB962C8B-B14F-4D97-AF65-F5344CB8AC3E}">
        <p14:creationId xmlns:p14="http://schemas.microsoft.com/office/powerpoint/2010/main" val="1972267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Examples (Inductive Learning)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21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135565" y="1629315"/>
            <a:ext cx="10366917" cy="2851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Example</a:t>
            </a:r>
          </a:p>
          <a:p>
            <a:pPr marL="268288" indent="103188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/>
              <a:t>A spam detection system learns to classify emails as spam or not spam from </a:t>
            </a:r>
            <a:r>
              <a:rPr lang="en-IN" sz="2400" dirty="0" err="1"/>
              <a:t>labeled</a:t>
            </a:r>
            <a:r>
              <a:rPr lang="en-IN" sz="2400" dirty="0"/>
              <a:t> email examples.</a:t>
            </a:r>
          </a:p>
          <a:p>
            <a:pPr marL="268288" indent="103188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/>
              <a:t>A face recognition system learns facial patterns from sample images.</a:t>
            </a:r>
          </a:p>
          <a:p>
            <a:pPr marL="268288" indent="103188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/>
              <a:t>A handwritten digit recognition system learns from </a:t>
            </a:r>
            <a:r>
              <a:rPr lang="en-IN" sz="2400" dirty="0" err="1"/>
              <a:t>labeled</a:t>
            </a:r>
            <a:r>
              <a:rPr lang="en-IN" sz="2400" dirty="0"/>
              <a:t> digit images.</a:t>
            </a:r>
          </a:p>
        </p:txBody>
      </p:sp>
    </p:spTree>
    <p:extLst>
      <p:ext uri="{BB962C8B-B14F-4D97-AF65-F5344CB8AC3E}">
        <p14:creationId xmlns:p14="http://schemas.microsoft.com/office/powerpoint/2010/main" val="185561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Examples (Inductive Learning)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22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308409" y="1122699"/>
            <a:ext cx="93410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Capable of generalizing to unseen data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Works well with large datasets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Forms the foundation of modern machine learning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9922" y="3629496"/>
            <a:ext cx="92294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Limitations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Requires a sufficient amount of labeled data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Can </a:t>
            </a:r>
            <a:r>
              <a:rPr lang="en-US" sz="2400" dirty="0" err="1"/>
              <a:t>overfit</a:t>
            </a:r>
            <a:r>
              <a:rPr lang="en-US" sz="2400" dirty="0"/>
              <a:t> if training data is poor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Performance depends on data quality and 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764379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Explanation-Based Learning (EBL)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23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806604" y="1250707"/>
            <a:ext cx="1057879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Explanation-Based Learning is a method where an AI system learns from one or a few examples by using prior domain knowledge.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The system first explains why an example works using existing knowledge and then generalizes this explanation into a rule.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It focuses on understanding the reason behind correctness, not just pattern matching.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EBL is useful when data is limited but strong background knowledge is available.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Model/Technique:</a:t>
            </a:r>
            <a:r>
              <a:rPr lang="en-US" sz="2400" dirty="0"/>
              <a:t> Logic-Based Learning, Deductive Rule Learning, Knowledge-Based Systems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90798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Explanation-Based Learning (EBL)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24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75217" y="1144108"/>
            <a:ext cx="110415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 robot learning how to stack blocks correctly by reasoning about physics rules.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 medical diagnosis system learning a rule from a single correctly diagnosed case using medical knowledge.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 theorem-proving system learning general proof strategies from solved problems.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134" y="3504720"/>
            <a:ext cx="1096164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Difference between Inductive Learning and Explanation-Based Learning</a:t>
            </a:r>
          </a:p>
          <a:p>
            <a:pPr marL="446088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Inductive Learning: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92175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“I have seen many examples, so I learned the pattern.”</a:t>
            </a:r>
          </a:p>
          <a:p>
            <a:pPr marL="446088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Explanation-Based Learning: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92175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“I understood why this example works, so I can apply it generally.”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552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Explanation-Based Learning (EBL)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25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50849" y="977734"/>
            <a:ext cx="9575180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Advantages</a:t>
            </a:r>
          </a:p>
          <a:p>
            <a:pPr marL="8921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Learns effectively from very few examples</a:t>
            </a:r>
          </a:p>
          <a:p>
            <a:pPr marL="8921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Produces clear, interpretable rules</a:t>
            </a:r>
          </a:p>
          <a:p>
            <a:pPr marL="8921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Uses domain knowledge to improve learning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50849" y="3478298"/>
            <a:ext cx="9318702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Limitations</a:t>
            </a:r>
          </a:p>
          <a:p>
            <a:pPr marL="8921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Strongly depends on accurate prior knowledge</a:t>
            </a:r>
          </a:p>
          <a:p>
            <a:pPr marL="8921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Not suitable when domain knowledge is incomplete</a:t>
            </a:r>
          </a:p>
          <a:p>
            <a:pPr marL="8921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Less effective in noisy or uncertain environments</a:t>
            </a:r>
          </a:p>
        </p:txBody>
      </p:sp>
    </p:spTree>
    <p:extLst>
      <p:ext uri="{BB962C8B-B14F-4D97-AF65-F5344CB8AC3E}">
        <p14:creationId xmlns:p14="http://schemas.microsoft.com/office/powerpoint/2010/main" val="1298348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Learning Methods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26</a:t>
            </a:fld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Statistical Learning: Data-driven</a:t>
            </a:r>
          </a:p>
          <a:p>
            <a:r>
              <a:rPr lang="en-US"/>
              <a:t>Rote Learning: Memory-driven</a:t>
            </a:r>
          </a:p>
          <a:p>
            <a:r>
              <a:rPr lang="en-US"/>
              <a:t>Advice-Based Learning: Expert-driven</a:t>
            </a:r>
          </a:p>
          <a:p>
            <a:r>
              <a:rPr lang="en-US"/>
              <a:t>Inductive Learning: Example-driven</a:t>
            </a:r>
          </a:p>
          <a:p>
            <a:r>
              <a:rPr lang="en-US"/>
              <a:t>Explanation-Based Learning: Knowledge-driven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47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Each Method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27</a:t>
            </a:fld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Use statistical learning for big data</a:t>
            </a:r>
          </a:p>
          <a:p>
            <a:r>
              <a:rPr lang="en-US"/>
              <a:t>Use rote learning for repeated tasks</a:t>
            </a:r>
          </a:p>
          <a:p>
            <a:r>
              <a:rPr lang="en-US"/>
              <a:t>Use advice-based learning for domain knowledge</a:t>
            </a:r>
          </a:p>
          <a:p>
            <a:r>
              <a:rPr lang="en-US"/>
              <a:t>Use induction for predictive modeling</a:t>
            </a:r>
          </a:p>
          <a:p>
            <a:r>
              <a:rPr lang="en-US"/>
              <a:t>Use EBL for interpretable rule generation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48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Discussion Questions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28</a:t>
            </a:fld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Which learning method is most scalable?</a:t>
            </a:r>
          </a:p>
          <a:p>
            <a:r>
              <a:rPr lang="en-US"/>
              <a:t>Can multiple learning methods be combined?</a:t>
            </a:r>
          </a:p>
          <a:p>
            <a:r>
              <a:rPr lang="en-US"/>
              <a:t>How do modern AI systems integrate learning paradigms?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458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Activity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29</a:t>
            </a:fld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81025" y="1225550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Divide into groups</a:t>
            </a:r>
          </a:p>
          <a:p>
            <a:r>
              <a:rPr lang="en-US"/>
              <a:t>Analyze real-world applications of learning methods</a:t>
            </a:r>
          </a:p>
          <a:p>
            <a:r>
              <a:rPr lang="en-US"/>
              <a:t>Present findings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185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30</a:t>
            </a:fld>
            <a:endParaRPr lang="en-IN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Learning methods form the foundation of AI</a:t>
            </a:r>
          </a:p>
          <a:p>
            <a:r>
              <a:rPr lang="en-US"/>
              <a:t>Different methods serve different purposes</a:t>
            </a:r>
          </a:p>
          <a:p>
            <a:r>
              <a:rPr lang="en-US"/>
              <a:t>Combining methods often improves 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094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A639-1FF1-49DB-94AF-C68F29BFBEA7}" type="datetime1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F4DBD1-5FA7-4438-9EF8-F7BC71E9DA54}" type="slidenum">
              <a:rPr lang="en-IN" smtClean="0"/>
              <a:pPr algn="ctr"/>
              <a:t>31</a:t>
            </a:fld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Questions and Discussion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360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1968</Words>
  <Application>Microsoft Office PowerPoint</Application>
  <PresentationFormat>Widescreen</PresentationFormat>
  <Paragraphs>358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Wingdings</vt:lpstr>
      <vt:lpstr>Office Theme</vt:lpstr>
      <vt:lpstr>Learning Methods in Artificial Intelligence</vt:lpstr>
      <vt:lpstr>Lecture Agenda</vt:lpstr>
      <vt:lpstr>What is Learning?</vt:lpstr>
      <vt:lpstr>Why Do We Need Learning in AI?</vt:lpstr>
      <vt:lpstr>Learning Methods in AI</vt:lpstr>
      <vt:lpstr>Statistical Learning</vt:lpstr>
      <vt:lpstr>Supervised Learning</vt:lpstr>
      <vt:lpstr>Unsupervised Learning</vt:lpstr>
      <vt:lpstr>Statistical Learning</vt:lpstr>
      <vt:lpstr>Statistical Learning</vt:lpstr>
      <vt:lpstr>Rote Learning</vt:lpstr>
      <vt:lpstr>Rote Learning</vt:lpstr>
      <vt:lpstr>Rote Learning</vt:lpstr>
      <vt:lpstr>Learning by Taking Advice</vt:lpstr>
      <vt:lpstr>Learning by Taking Advice</vt:lpstr>
      <vt:lpstr>Learning by Taking Advice</vt:lpstr>
      <vt:lpstr>Learning in Problem Solving</vt:lpstr>
      <vt:lpstr>Learning in Problem Solving</vt:lpstr>
      <vt:lpstr>Learning in Problem Solving</vt:lpstr>
      <vt:lpstr>Learning from Examples (Inductive Learning)</vt:lpstr>
      <vt:lpstr>Learning from Examples (Inductive Learning)</vt:lpstr>
      <vt:lpstr>Learning from Examples (Inductive Learning)</vt:lpstr>
      <vt:lpstr>Explanation-Based Learning (EBL)</vt:lpstr>
      <vt:lpstr>Explanation-Based Learning (EBL)</vt:lpstr>
      <vt:lpstr>Explanation-Based Learning (EBL)</vt:lpstr>
      <vt:lpstr>Comparison of Learning Methods</vt:lpstr>
      <vt:lpstr>When to Use Each Method</vt:lpstr>
      <vt:lpstr>Discussion Questions</vt:lpstr>
      <vt:lpstr>Class Activity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Trinath</dc:creator>
  <cp:lastModifiedBy>Prayas Das</cp:lastModifiedBy>
  <cp:revision>43</cp:revision>
  <dcterms:created xsi:type="dcterms:W3CDTF">2026-01-31T05:53:08Z</dcterms:created>
  <dcterms:modified xsi:type="dcterms:W3CDTF">2026-02-06T07:57:09Z</dcterms:modified>
</cp:coreProperties>
</file>
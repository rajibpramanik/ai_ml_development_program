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71"/>
  </p:notesMasterIdLst>
  <p:handoutMasterIdLst>
    <p:handoutMasterId r:id="rId72"/>
  </p:handoutMasterIdLst>
  <p:sldIdLst>
    <p:sldId id="257" r:id="rId2"/>
    <p:sldId id="291" r:id="rId3"/>
    <p:sldId id="292" r:id="rId4"/>
    <p:sldId id="293" r:id="rId5"/>
    <p:sldId id="294" r:id="rId6"/>
    <p:sldId id="267" r:id="rId7"/>
    <p:sldId id="295" r:id="rId8"/>
    <p:sldId id="296" r:id="rId9"/>
    <p:sldId id="297" r:id="rId10"/>
    <p:sldId id="274" r:id="rId11"/>
    <p:sldId id="272" r:id="rId12"/>
    <p:sldId id="298" r:id="rId13"/>
    <p:sldId id="273" r:id="rId14"/>
    <p:sldId id="301" r:id="rId15"/>
    <p:sldId id="302" r:id="rId16"/>
    <p:sldId id="305" r:id="rId17"/>
    <p:sldId id="306" r:id="rId18"/>
    <p:sldId id="308" r:id="rId19"/>
    <p:sldId id="309" r:id="rId20"/>
    <p:sldId id="310" r:id="rId21"/>
    <p:sldId id="311" r:id="rId22"/>
    <p:sldId id="312" r:id="rId23"/>
    <p:sldId id="313" r:id="rId24"/>
    <p:sldId id="314" r:id="rId25"/>
    <p:sldId id="315" r:id="rId26"/>
    <p:sldId id="316" r:id="rId27"/>
    <p:sldId id="317" r:id="rId28"/>
    <p:sldId id="358" r:id="rId29"/>
    <p:sldId id="365" r:id="rId30"/>
    <p:sldId id="367" r:id="rId31"/>
    <p:sldId id="368" r:id="rId32"/>
    <p:sldId id="331" r:id="rId33"/>
    <p:sldId id="332" r:id="rId34"/>
    <p:sldId id="350" r:id="rId35"/>
    <p:sldId id="352" r:id="rId36"/>
    <p:sldId id="349" r:id="rId37"/>
    <p:sldId id="324" r:id="rId38"/>
    <p:sldId id="351" r:id="rId39"/>
    <p:sldId id="325" r:id="rId40"/>
    <p:sldId id="326" r:id="rId41"/>
    <p:sldId id="327" r:id="rId42"/>
    <p:sldId id="329" r:id="rId43"/>
    <p:sldId id="333" r:id="rId44"/>
    <p:sldId id="334" r:id="rId45"/>
    <p:sldId id="335" r:id="rId46"/>
    <p:sldId id="336" r:id="rId47"/>
    <p:sldId id="337" r:id="rId48"/>
    <p:sldId id="338" r:id="rId49"/>
    <p:sldId id="339" r:id="rId50"/>
    <p:sldId id="340" r:id="rId51"/>
    <p:sldId id="341" r:id="rId52"/>
    <p:sldId id="342" r:id="rId53"/>
    <p:sldId id="343" r:id="rId54"/>
    <p:sldId id="348" r:id="rId55"/>
    <p:sldId id="330" r:id="rId56"/>
    <p:sldId id="393" r:id="rId57"/>
    <p:sldId id="394" r:id="rId58"/>
    <p:sldId id="421" r:id="rId59"/>
    <p:sldId id="398" r:id="rId60"/>
    <p:sldId id="407" r:id="rId61"/>
    <p:sldId id="426" r:id="rId62"/>
    <p:sldId id="427" r:id="rId63"/>
    <p:sldId id="285" r:id="rId64"/>
    <p:sldId id="286" r:id="rId65"/>
    <p:sldId id="287" r:id="rId66"/>
    <p:sldId id="288" r:id="rId67"/>
    <p:sldId id="289" r:id="rId68"/>
    <p:sldId id="290" r:id="rId69"/>
    <p:sldId id="428" r:id="rId70"/>
  </p:sldIdLst>
  <p:sldSz cx="12192000" cy="6858000"/>
  <p:notesSz cx="6781800" cy="99187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+mn-ea"/>
        <a:cs typeface="+mn-cs"/>
      </a:defRPr>
    </a:lvl5pPr>
    <a:lvl6pPr marL="2286000" algn="r" defTabSz="914400" rtl="1" eaLnBrk="1" latinLnBrk="0" hangingPunct="1">
      <a:defRPr sz="2400" kern="1200">
        <a:solidFill>
          <a:schemeClr val="tx1"/>
        </a:solidFill>
        <a:latin typeface="Times New Roman" charset="0"/>
        <a:ea typeface="+mn-ea"/>
        <a:cs typeface="+mn-cs"/>
      </a:defRPr>
    </a:lvl6pPr>
    <a:lvl7pPr marL="2743200" algn="r" defTabSz="914400" rtl="1" eaLnBrk="1" latinLnBrk="0" hangingPunct="1">
      <a:defRPr sz="2400" kern="1200">
        <a:solidFill>
          <a:schemeClr val="tx1"/>
        </a:solidFill>
        <a:latin typeface="Times New Roman" charset="0"/>
        <a:ea typeface="+mn-ea"/>
        <a:cs typeface="+mn-cs"/>
      </a:defRPr>
    </a:lvl7pPr>
    <a:lvl8pPr marL="3200400" algn="r" defTabSz="914400" rtl="1" eaLnBrk="1" latinLnBrk="0" hangingPunct="1">
      <a:defRPr sz="2400" kern="1200">
        <a:solidFill>
          <a:schemeClr val="tx1"/>
        </a:solidFill>
        <a:latin typeface="Times New Roman" charset="0"/>
        <a:ea typeface="+mn-ea"/>
        <a:cs typeface="+mn-cs"/>
      </a:defRPr>
    </a:lvl8pPr>
    <a:lvl9pPr marL="3657600" algn="r" defTabSz="914400" rtl="1" eaLnBrk="1" latinLnBrk="0" hangingPunct="1">
      <a:defRPr sz="2400" kern="1200">
        <a:solidFill>
          <a:schemeClr val="tx1"/>
        </a:solidFill>
        <a:latin typeface="Times New Roman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2787"/>
    <p:restoredTop sz="90929"/>
  </p:normalViewPr>
  <p:slideViewPr>
    <p:cSldViewPr>
      <p:cViewPr varScale="1">
        <p:scale>
          <a:sx n="77" d="100"/>
          <a:sy n="77" d="100"/>
        </p:scale>
        <p:origin x="91" y="9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notesMaster" Target="notesMasters/notesMaster1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5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43.wmf"/><Relationship Id="rId1" Type="http://schemas.openxmlformats.org/officeDocument/2006/relationships/image" Target="../media/image42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38463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3338" y="0"/>
            <a:ext cx="2938462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286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3400"/>
            <a:ext cx="2938463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286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3338" y="9423400"/>
            <a:ext cx="2938462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39468E7C-2CCC-4BDB-884F-94CC38FCAC7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38463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1750" y="0"/>
            <a:ext cx="2938463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A9D5BB-6DA5-43E0-AECB-925F66AEDD23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15925" y="1239838"/>
            <a:ext cx="5949950" cy="33480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7863" y="4773613"/>
            <a:ext cx="5426075" cy="39052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1813"/>
            <a:ext cx="2938463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1750" y="9421813"/>
            <a:ext cx="2938463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FBFE1D-749E-45D0-BB4B-671780BA3C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9474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15925" y="1239838"/>
            <a:ext cx="5949950" cy="334803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EBD539-D971-43B1-899D-65B3E0AFDB1D}" type="slidenum">
              <a:rPr lang="en-US" altLang="en-US" smtClean="0"/>
              <a:pPr/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654559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DFCE81-ED3B-4626-8C28-1345F07C10AE}" type="slidenum">
              <a:rPr lang="en-US" smtClean="0"/>
              <a:pPr/>
              <a:t>62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DFCE81-ED3B-4626-8C28-1345F07C10AE}" type="slidenum">
              <a:rPr lang="en-US" smtClean="0"/>
              <a:pPr/>
              <a:t>63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ABE1FE-1C3B-4656-AFE6-D190AFBF1876}" type="slidenum">
              <a:rPr lang="en-US" smtClean="0"/>
              <a:pPr/>
              <a:t>64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ABE1FE-1C3B-4656-AFE6-D190AFBF1876}" type="slidenum">
              <a:rPr lang="en-US" smtClean="0"/>
              <a:pPr/>
              <a:t>65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ABE1FE-1C3B-4656-AFE6-D190AFBF1876}" type="slidenum">
              <a:rPr lang="en-US" smtClean="0"/>
              <a:pPr/>
              <a:t>66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ABE1FE-1C3B-4656-AFE6-D190AFBF1876}" type="slidenum">
              <a:rPr lang="en-US" smtClean="0"/>
              <a:pPr/>
              <a:t>67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ABE1FE-1C3B-4656-AFE6-D190AFBF1876}" type="slidenum">
              <a:rPr lang="en-US" smtClean="0"/>
              <a:pPr/>
              <a:t>68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ABE1FE-1C3B-4656-AFE6-D190AFBF1876}" type="slidenum">
              <a:rPr lang="en-US" smtClean="0"/>
              <a:pPr/>
              <a:t>69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6096000" cy="6858000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id-ID" sz="2400"/>
          </a:p>
        </p:txBody>
      </p:sp>
      <p:sp>
        <p:nvSpPr>
          <p:cNvPr id="5" name="AutoShape 3"/>
          <p:cNvSpPr>
            <a:spLocks noChangeArrowheads="1"/>
          </p:cNvSpPr>
          <p:nvPr/>
        </p:nvSpPr>
        <p:spPr bwMode="auto">
          <a:xfrm>
            <a:off x="914400" y="990600"/>
            <a:ext cx="6908800" cy="1905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id-ID" sz="2400"/>
          </a:p>
        </p:txBody>
      </p:sp>
      <p:grpSp>
        <p:nvGrpSpPr>
          <p:cNvPr id="6" name="Group 5"/>
          <p:cNvGrpSpPr>
            <a:grpSpLocks/>
          </p:cNvGrpSpPr>
          <p:nvPr/>
        </p:nvGrpSpPr>
        <p:grpSpPr bwMode="auto">
          <a:xfrm>
            <a:off x="4842933" y="4889500"/>
            <a:ext cx="6502400" cy="319088"/>
            <a:chOff x="2288" y="3080"/>
            <a:chExt cx="3072" cy="201"/>
          </a:xfrm>
        </p:grpSpPr>
        <p:sp>
          <p:nvSpPr>
            <p:cNvPr id="7" name="AutoShape 6"/>
            <p:cNvSpPr>
              <a:spLocks noChangeArrowheads="1"/>
            </p:cNvSpPr>
            <p:nvPr/>
          </p:nvSpPr>
          <p:spPr bwMode="auto">
            <a:xfrm flipH="1">
              <a:off x="2288" y="3080"/>
              <a:ext cx="2914" cy="200"/>
            </a:xfrm>
            <a:prstGeom prst="roundRect">
              <a:avLst>
                <a:gd name="adj" fmla="val 0"/>
              </a:avLst>
            </a:prstGeom>
            <a:solidFill>
              <a:schemeClr val="bg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d-ID" sz="2400"/>
            </a:p>
          </p:txBody>
        </p:sp>
        <p:sp>
          <p:nvSpPr>
            <p:cNvPr id="8" name="AutoShape 7"/>
            <p:cNvSpPr>
              <a:spLocks noChangeArrowheads="1"/>
            </p:cNvSpPr>
            <p:nvPr/>
          </p:nvSpPr>
          <p:spPr bwMode="auto">
            <a:xfrm>
              <a:off x="5196" y="3080"/>
              <a:ext cx="164" cy="201"/>
            </a:xfrm>
            <a:prstGeom prst="flowChartDelay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d-ID" sz="2400"/>
            </a:p>
          </p:txBody>
        </p:sp>
      </p:grpSp>
      <p:sp>
        <p:nvSpPr>
          <p:cNvPr id="512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6231467" y="2927350"/>
            <a:ext cx="4876800" cy="1822450"/>
          </a:xfrm>
        </p:spPr>
        <p:txBody>
          <a:bodyPr anchor="b"/>
          <a:lstStyle>
            <a:lvl1pPr marL="0" indent="0">
              <a:buFont typeface="Wingdings" pitchFamily="2" charset="2"/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5131" name="Rectangle 11"/>
          <p:cNvSpPr>
            <a:spLocks noGrp="1" noChangeArrowheads="1"/>
          </p:cNvSpPr>
          <p:nvPr>
            <p:ph type="ctrTitle" sz="quarter"/>
          </p:nvPr>
        </p:nvSpPr>
        <p:spPr>
          <a:xfrm>
            <a:off x="1248833" y="1425575"/>
            <a:ext cx="10363200" cy="1143000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9" name="Rectangle 8"/>
          <p:cNvSpPr>
            <a:spLocks noGrp="1" noChangeArrowheads="1"/>
          </p:cNvSpPr>
          <p:nvPr>
            <p:ph type="dt" sz="quarter" idx="10"/>
          </p:nvPr>
        </p:nvSpPr>
        <p:spPr>
          <a:xfrm>
            <a:off x="3556000" y="6553200"/>
            <a:ext cx="2540000" cy="304800"/>
          </a:xfrm>
        </p:spPr>
        <p:txBody>
          <a:bodyPr/>
          <a:lstStyle>
            <a:lvl1pPr>
              <a:defRPr smtClean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" name="Rectangle 9"/>
          <p:cNvSpPr>
            <a:spLocks noGrp="1" noChangeArrowheads="1"/>
          </p:cNvSpPr>
          <p:nvPr>
            <p:ph type="ftr" sz="quarter" idx="11"/>
          </p:nvPr>
        </p:nvSpPr>
        <p:spPr>
          <a:xfrm>
            <a:off x="6927852" y="6553200"/>
            <a:ext cx="4373033" cy="304800"/>
          </a:xfrm>
        </p:spPr>
        <p:txBody>
          <a:bodyPr/>
          <a:lstStyle>
            <a:lvl1pPr algn="r">
              <a:defRPr smtClean="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1" name="Rectangle 10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12701" y="6359525"/>
            <a:ext cx="783167" cy="488950"/>
          </a:xfrm>
        </p:spPr>
        <p:txBody>
          <a:bodyPr anchorCtr="0"/>
          <a:lstStyle>
            <a:lvl1pPr>
              <a:defRPr smtClean="0"/>
            </a:lvl1pPr>
          </a:lstStyle>
          <a:p>
            <a:pPr>
              <a:defRPr/>
            </a:pPr>
            <a:fld id="{35DDAA32-B1B5-4EC9-B466-52238649A0D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E89966-9480-498D-B0FD-4C5FDF3ADBA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DC4619-07D3-4122-9270-E04F5D8A79C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9200" y="2362200"/>
            <a:ext cx="5232400" cy="3733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54800" y="2362200"/>
            <a:ext cx="5232400" cy="3733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0D063A-6FBA-4AED-BCCC-9498515AACC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FF0B2E-29EC-4486-BBA3-B5D4AF31BCF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7EE8A2-F089-4927-BF31-B4C3DD8FFC8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FAF0D0-89B1-42AB-B912-970E71C79A9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7A0D25-A9FD-49BD-954F-D9F4D39977C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d-ID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D13B03-FF3E-46A4-9F9C-91F1B32A066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282DB0-8A65-4103-8B5C-A0C08AB3E7C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20200" y="762000"/>
            <a:ext cx="2667000" cy="5334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9200" y="762000"/>
            <a:ext cx="7797800" cy="5334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0E7682-C310-41CA-BBD3-05851FAB740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50EAD-7BF7-4DD0-AFC7-729148459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1CA074A9-4775-4B01-AD96-DC65B1C88D88}"/>
              </a:ext>
            </a:extLst>
          </p:cNvPr>
          <p:cNvSpPr>
            <a:spLocks noGrp="1"/>
          </p:cNvSpPr>
          <p:nvPr>
            <p:ph type="tbl" idx="1"/>
          </p:nvPr>
        </p:nvSpPr>
        <p:spPr>
          <a:xfrm>
            <a:off x="914400" y="1981200"/>
            <a:ext cx="10363200" cy="4114800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1F695B-90A8-4CF2-8041-24420B7019A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4400" y="6397823"/>
            <a:ext cx="2540000" cy="307777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CSE, IIT Kharagpur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8AAB84-2866-455F-B94C-9EAE60E6C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97823"/>
            <a:ext cx="3860800" cy="307777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70B7D6-2ABC-4A6D-84DA-CEC419A18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213157"/>
            <a:ext cx="2540000" cy="492443"/>
          </a:xfrm>
        </p:spPr>
        <p:txBody>
          <a:bodyPr/>
          <a:lstStyle>
            <a:lvl1pPr>
              <a:defRPr/>
            </a:lvl1pPr>
          </a:lstStyle>
          <a:p>
            <a:fld id="{213DBBEE-98F6-47CF-9959-51FD6931A63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582586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0" y="0"/>
            <a:ext cx="4267200" cy="6858000"/>
            <a:chOff x="0" y="0"/>
            <a:chExt cx="2016" cy="4320"/>
          </a:xfrm>
        </p:grpSpPr>
        <p:sp>
          <p:nvSpPr>
            <p:cNvPr id="4099" name="Rectangle 3"/>
            <p:cNvSpPr>
              <a:spLocks noChangeArrowheads="1"/>
            </p:cNvSpPr>
            <p:nvPr/>
          </p:nvSpPr>
          <p:spPr bwMode="auto">
            <a:xfrm>
              <a:off x="0" y="0"/>
              <a:ext cx="480" cy="4320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d-ID" sz="2400"/>
            </a:p>
          </p:txBody>
        </p:sp>
        <p:sp>
          <p:nvSpPr>
            <p:cNvPr id="4100" name="Rectangle 4"/>
            <p:cNvSpPr>
              <a:spLocks noChangeArrowheads="1"/>
            </p:cNvSpPr>
            <p:nvPr/>
          </p:nvSpPr>
          <p:spPr bwMode="auto">
            <a:xfrm>
              <a:off x="432" y="0"/>
              <a:ext cx="1584" cy="672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d-ID" sz="2400"/>
            </a:p>
          </p:txBody>
        </p:sp>
      </p:grpSp>
      <p:sp>
        <p:nvSpPr>
          <p:cNvPr id="4101" name="AutoShape 5"/>
          <p:cNvSpPr>
            <a:spLocks noChangeArrowheads="1"/>
          </p:cNvSpPr>
          <p:nvPr/>
        </p:nvSpPr>
        <p:spPr bwMode="auto">
          <a:xfrm>
            <a:off x="1016000" y="762000"/>
            <a:ext cx="6807200" cy="6096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id-ID" sz="2400"/>
          </a:p>
        </p:txBody>
      </p:sp>
      <p:sp>
        <p:nvSpPr>
          <p:cNvPr id="1028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1219200" y="762000"/>
            <a:ext cx="10668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9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19200" y="2362200"/>
            <a:ext cx="10668000" cy="3733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104" name="Rectangle 8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347200" y="6553200"/>
            <a:ext cx="2540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>
            <a:lvl1pPr algn="r">
              <a:defRPr sz="1400" smtClean="0">
                <a:latin typeface="+mn-lt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105" name="Rectangle 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915833" y="6529388"/>
            <a:ext cx="3860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>
            <a:lvl1pPr algn="ctr">
              <a:defRPr sz="1400" smtClean="0">
                <a:latin typeface="+mn-lt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106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2184" y="6343650"/>
            <a:ext cx="783167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1" compatLnSpc="1">
            <a:prstTxWarp prst="textNoShape">
              <a:avLst/>
            </a:prstTxWarp>
            <a:spAutoFit/>
          </a:bodyPr>
          <a:lstStyle>
            <a:lvl1pPr>
              <a:defRPr sz="2600" b="1" smtClean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6BBE588D-1A2D-47C0-89AC-91053986279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grpSp>
        <p:nvGrpSpPr>
          <p:cNvPr id="1033" name="Group 11"/>
          <p:cNvGrpSpPr>
            <a:grpSpLocks/>
          </p:cNvGrpSpPr>
          <p:nvPr/>
        </p:nvGrpSpPr>
        <p:grpSpPr bwMode="auto">
          <a:xfrm>
            <a:off x="304800" y="1981200"/>
            <a:ext cx="9855200" cy="319088"/>
            <a:chOff x="144" y="1248"/>
            <a:chExt cx="4656" cy="201"/>
          </a:xfrm>
        </p:grpSpPr>
        <p:sp>
          <p:nvSpPr>
            <p:cNvPr id="4108" name="AutoShape 12"/>
            <p:cNvSpPr>
              <a:spLocks noChangeArrowheads="1"/>
            </p:cNvSpPr>
            <p:nvPr/>
          </p:nvSpPr>
          <p:spPr bwMode="auto">
            <a:xfrm>
              <a:off x="384" y="1248"/>
              <a:ext cx="4416" cy="200"/>
            </a:xfrm>
            <a:prstGeom prst="roundRect">
              <a:avLst>
                <a:gd name="adj" fmla="val 0"/>
              </a:avLst>
            </a:prstGeom>
            <a:solidFill>
              <a:schemeClr val="bg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d-ID" sz="2400"/>
            </a:p>
          </p:txBody>
        </p:sp>
        <p:sp>
          <p:nvSpPr>
            <p:cNvPr id="4109" name="AutoShape 13"/>
            <p:cNvSpPr>
              <a:spLocks noChangeArrowheads="1"/>
            </p:cNvSpPr>
            <p:nvPr/>
          </p:nvSpPr>
          <p:spPr bwMode="auto">
            <a:xfrm flipH="1">
              <a:off x="144" y="1248"/>
              <a:ext cx="248" cy="201"/>
            </a:xfrm>
            <a:prstGeom prst="flowChartDelay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d-ID" sz="240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3" r:id="rId12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itchFamily="2" charset="2"/>
        <a:buChar char="l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5000"/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itchFamily="2" charset="2"/>
        <a:buChar char="l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80000"/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>
          <a:solidFill>
            <a:schemeClr val="tx1"/>
          </a:solidFill>
          <a:latin typeface="+mn-lt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7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wm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43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42.wmf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460626" y="1425576"/>
            <a:ext cx="8207375" cy="860417"/>
          </a:xfrm>
        </p:spPr>
        <p:txBody>
          <a:bodyPr/>
          <a:lstStyle/>
          <a:p>
            <a:pPr eaLnBrk="1" hangingPunct="1"/>
            <a:r>
              <a:rPr lang="en-GB" dirty="0"/>
              <a:t>Artificial Intelligence </a:t>
            </a:r>
            <a:br>
              <a:rPr lang="en-GB" dirty="0"/>
            </a:br>
            <a:endParaRPr lang="en-GB" dirty="0"/>
          </a:p>
        </p:txBody>
      </p:sp>
      <p:sp>
        <p:nvSpPr>
          <p:cNvPr id="3" name="مربع نص 2"/>
          <p:cNvSpPr txBox="1"/>
          <p:nvPr/>
        </p:nvSpPr>
        <p:spPr>
          <a:xfrm>
            <a:off x="6024562" y="2857497"/>
            <a:ext cx="4429156" cy="120032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GB" b="1" dirty="0"/>
              <a:t> </a:t>
            </a:r>
            <a:r>
              <a:rPr lang="en-GB" sz="3600" b="1" dirty="0"/>
              <a:t>Knowledge Representation</a:t>
            </a:r>
            <a:endParaRPr lang="ar-SA" sz="36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4583C9A7-02D4-4B2F-A174-F02FA1E9AA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Knowledge and Reasoning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3487FA77-2879-4FFE-AB2E-EEAC136744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09800" y="1752600"/>
            <a:ext cx="7772400" cy="4114800"/>
          </a:xfrm>
        </p:spPr>
        <p:txBody>
          <a:bodyPr/>
          <a:lstStyle/>
          <a:p>
            <a:pPr>
              <a:buFontTx/>
              <a:buNone/>
            </a:pP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Representation, Reasoning and Logic</a:t>
            </a:r>
          </a:p>
          <a:p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Propositional Logic</a:t>
            </a:r>
          </a:p>
          <a:p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First-Order Logic</a:t>
            </a:r>
          </a:p>
          <a:p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Inference in first-order logic</a:t>
            </a:r>
          </a:p>
          <a:p>
            <a:pPr lvl="1"/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Generalized Modus Ponens</a:t>
            </a:r>
          </a:p>
          <a:p>
            <a:pPr lvl="1"/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Forward and backward chaining</a:t>
            </a:r>
          </a:p>
          <a:p>
            <a:pPr lvl="1"/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Resolution</a:t>
            </a:r>
          </a:p>
          <a:p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Logical Reasoning Systems</a:t>
            </a:r>
          </a:p>
          <a:p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4A002-41B8-4D7F-869E-3379A85632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5560" y="0"/>
            <a:ext cx="7772400" cy="1143000"/>
          </a:xfrm>
        </p:spPr>
        <p:txBody>
          <a:bodyPr/>
          <a:lstStyle/>
          <a:p>
            <a:r>
              <a:rPr lang="en-US" altLang="en-US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The Wumpus World Environment</a:t>
            </a:r>
            <a:br>
              <a:rPr lang="en-US" altLang="en-US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IN" dirty="0">
              <a:solidFill>
                <a:srgbClr val="FF00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0CEF4DA-435A-429D-9AE5-F6EF768A9F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9616" y="991023"/>
            <a:ext cx="5724000" cy="511641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DE7B98B-2914-4BDC-BE7C-44A36CDFA5B3}"/>
              </a:ext>
            </a:extLst>
          </p:cNvPr>
          <p:cNvSpPr/>
          <p:nvPr/>
        </p:nvSpPr>
        <p:spPr>
          <a:xfrm>
            <a:off x="2209800" y="5997714"/>
            <a:ext cx="914501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Times-Roman"/>
              </a:rPr>
              <a:t>A typical </a:t>
            </a:r>
            <a:r>
              <a:rPr lang="en-US" sz="2000" dirty="0" err="1">
                <a:latin typeface="Times-Roman"/>
              </a:rPr>
              <a:t>wumpus</a:t>
            </a:r>
            <a:r>
              <a:rPr lang="en-US" sz="2000" dirty="0">
                <a:latin typeface="Times-Roman"/>
              </a:rPr>
              <a:t> world. The agent is in the bottom left corner, facing right.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1976803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18001-FFD4-4C46-A643-568243742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5560" y="0"/>
            <a:ext cx="7772400" cy="1143000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Sensors Configuration </a:t>
            </a:r>
            <a:endParaRPr lang="en-IN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7F6325-954D-4A4A-B80E-24D161E434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8651" y="1484784"/>
            <a:ext cx="8964488" cy="4114800"/>
          </a:xfrm>
        </p:spPr>
        <p:txBody>
          <a:bodyPr/>
          <a:lstStyle/>
          <a:p>
            <a:r>
              <a:rPr lang="en-US" sz="2600" b="1" dirty="0">
                <a:latin typeface="Cambria" panose="02040503050406030204" pitchFamily="18" charset="0"/>
                <a:ea typeface="Cambria" panose="02040503050406030204" pitchFamily="18" charset="0"/>
              </a:rPr>
              <a:t>Sensors</a:t>
            </a:r>
            <a:r>
              <a:rPr lang="en-US" sz="2600" dirty="0">
                <a:latin typeface="Cambria" panose="02040503050406030204" pitchFamily="18" charset="0"/>
                <a:ea typeface="Cambria" panose="02040503050406030204" pitchFamily="18" charset="0"/>
              </a:rPr>
              <a:t>: The agent has five sensors, each of which gives a single bit of information:</a:t>
            </a:r>
          </a:p>
          <a:p>
            <a:pPr marL="0" indent="0">
              <a:buNone/>
            </a:pPr>
            <a:r>
              <a:rPr lang="en-US" sz="2600" b="1" dirty="0">
                <a:latin typeface="Cambria" panose="02040503050406030204" pitchFamily="18" charset="0"/>
                <a:ea typeface="Cambria" panose="02040503050406030204" pitchFamily="18" charset="0"/>
              </a:rPr>
              <a:t>– </a:t>
            </a:r>
            <a:r>
              <a:rPr lang="en-US" sz="2600" dirty="0">
                <a:latin typeface="Cambria" panose="02040503050406030204" pitchFamily="18" charset="0"/>
                <a:ea typeface="Cambria" panose="02040503050406030204" pitchFamily="18" charset="0"/>
              </a:rPr>
              <a:t>In the square containing the </a:t>
            </a:r>
            <a:r>
              <a:rPr lang="en-US" sz="2600" dirty="0" err="1">
                <a:latin typeface="Cambria" panose="02040503050406030204" pitchFamily="18" charset="0"/>
                <a:ea typeface="Cambria" panose="02040503050406030204" pitchFamily="18" charset="0"/>
              </a:rPr>
              <a:t>wumpus</a:t>
            </a:r>
            <a:r>
              <a:rPr lang="en-US" sz="2600" dirty="0">
                <a:latin typeface="Cambria" panose="02040503050406030204" pitchFamily="18" charset="0"/>
                <a:ea typeface="Cambria" panose="02040503050406030204" pitchFamily="18" charset="0"/>
              </a:rPr>
              <a:t> and in the directly (not diagonally) adjacent squares, the agent will perceive a </a:t>
            </a:r>
            <a:r>
              <a:rPr lang="en-US" sz="2600" i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Stench</a:t>
            </a:r>
            <a:r>
              <a:rPr lang="en-US" sz="26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0" indent="0">
              <a:buNone/>
            </a:pPr>
            <a:r>
              <a:rPr lang="en-US" sz="2600" b="1" dirty="0">
                <a:latin typeface="Cambria" panose="02040503050406030204" pitchFamily="18" charset="0"/>
                <a:ea typeface="Cambria" panose="02040503050406030204" pitchFamily="18" charset="0"/>
              </a:rPr>
              <a:t>– </a:t>
            </a:r>
            <a:r>
              <a:rPr lang="en-US" sz="2600" dirty="0">
                <a:latin typeface="Cambria" panose="02040503050406030204" pitchFamily="18" charset="0"/>
                <a:ea typeface="Cambria" panose="02040503050406030204" pitchFamily="18" charset="0"/>
              </a:rPr>
              <a:t>In the squares directly adjacent to a pit, the agent will perceive a </a:t>
            </a:r>
            <a:r>
              <a:rPr lang="en-US" sz="2600" i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Breeze</a:t>
            </a:r>
            <a:r>
              <a:rPr lang="en-US" sz="26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0" indent="0">
              <a:buNone/>
            </a:pPr>
            <a:r>
              <a:rPr lang="en-US" sz="2600" b="1" dirty="0">
                <a:latin typeface="Cambria" panose="02040503050406030204" pitchFamily="18" charset="0"/>
                <a:ea typeface="Cambria" panose="02040503050406030204" pitchFamily="18" charset="0"/>
              </a:rPr>
              <a:t>– </a:t>
            </a:r>
            <a:r>
              <a:rPr lang="en-US" sz="2600" dirty="0">
                <a:latin typeface="Cambria" panose="02040503050406030204" pitchFamily="18" charset="0"/>
                <a:ea typeface="Cambria" panose="02040503050406030204" pitchFamily="18" charset="0"/>
              </a:rPr>
              <a:t>In the square where the gold is, the agent will perceive a </a:t>
            </a:r>
            <a:r>
              <a:rPr lang="en-US" sz="2600" i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Glitter</a:t>
            </a:r>
            <a:r>
              <a:rPr lang="en-US" sz="26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0" indent="0">
              <a:buNone/>
            </a:pPr>
            <a:r>
              <a:rPr lang="en-US" sz="2600" b="1" dirty="0">
                <a:latin typeface="Cambria" panose="02040503050406030204" pitchFamily="18" charset="0"/>
                <a:ea typeface="Cambria" panose="02040503050406030204" pitchFamily="18" charset="0"/>
              </a:rPr>
              <a:t>– </a:t>
            </a:r>
            <a:r>
              <a:rPr lang="en-US" sz="2600" dirty="0">
                <a:latin typeface="Cambria" panose="02040503050406030204" pitchFamily="18" charset="0"/>
                <a:ea typeface="Cambria" panose="02040503050406030204" pitchFamily="18" charset="0"/>
              </a:rPr>
              <a:t>When an agent walks into a wall, it will perceive a </a:t>
            </a:r>
            <a:r>
              <a:rPr lang="en-US" sz="2600" i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Bump</a:t>
            </a:r>
            <a:r>
              <a:rPr lang="en-US" sz="26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0" indent="0">
              <a:buNone/>
            </a:pPr>
            <a:r>
              <a:rPr lang="en-US" sz="2600" b="1" dirty="0">
                <a:latin typeface="Cambria" panose="02040503050406030204" pitchFamily="18" charset="0"/>
                <a:ea typeface="Cambria" panose="02040503050406030204" pitchFamily="18" charset="0"/>
              </a:rPr>
              <a:t>– </a:t>
            </a:r>
            <a:r>
              <a:rPr lang="en-US" sz="2600" dirty="0">
                <a:latin typeface="Cambria" panose="02040503050406030204" pitchFamily="18" charset="0"/>
                <a:ea typeface="Cambria" panose="02040503050406030204" pitchFamily="18" charset="0"/>
              </a:rPr>
              <a:t>When the </a:t>
            </a:r>
            <a:r>
              <a:rPr lang="en-US" sz="2600" dirty="0" err="1">
                <a:latin typeface="Cambria" panose="02040503050406030204" pitchFamily="18" charset="0"/>
                <a:ea typeface="Cambria" panose="02040503050406030204" pitchFamily="18" charset="0"/>
              </a:rPr>
              <a:t>wumpus</a:t>
            </a:r>
            <a:r>
              <a:rPr lang="en-US" sz="2600" dirty="0">
                <a:latin typeface="Cambria" panose="02040503050406030204" pitchFamily="18" charset="0"/>
                <a:ea typeface="Cambria" panose="02040503050406030204" pitchFamily="18" charset="0"/>
              </a:rPr>
              <a:t> is killed, it emits a woeful </a:t>
            </a:r>
            <a:r>
              <a:rPr lang="en-US" sz="2600" i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Scream</a:t>
            </a:r>
            <a:r>
              <a:rPr lang="en-US" sz="2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600" dirty="0">
                <a:latin typeface="Cambria" panose="02040503050406030204" pitchFamily="18" charset="0"/>
                <a:ea typeface="Cambria" panose="02040503050406030204" pitchFamily="18" charset="0"/>
              </a:rPr>
              <a:t>that can be perceived anywhere </a:t>
            </a:r>
            <a:r>
              <a:rPr lang="en-IN" sz="2600" dirty="0">
                <a:latin typeface="Cambria" panose="02040503050406030204" pitchFamily="18" charset="0"/>
                <a:ea typeface="Cambria" panose="02040503050406030204" pitchFamily="18" charset="0"/>
              </a:rPr>
              <a:t>in the cave.</a:t>
            </a:r>
          </a:p>
        </p:txBody>
      </p:sp>
    </p:spTree>
    <p:extLst>
      <p:ext uri="{BB962C8B-B14F-4D97-AF65-F5344CB8AC3E}">
        <p14:creationId xmlns:p14="http://schemas.microsoft.com/office/powerpoint/2010/main" val="22921902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9AE8D-521C-4EDA-BD9F-582F8767A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1544" y="152400"/>
            <a:ext cx="7772400" cy="1143000"/>
          </a:xfrm>
        </p:spPr>
        <p:txBody>
          <a:bodyPr/>
          <a:lstStyle/>
          <a:p>
            <a:r>
              <a:rPr lang="en-IN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Actuators: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94062F-3516-4CE1-816D-F2FC4A3FB1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1504" y="1295400"/>
            <a:ext cx="9145016" cy="4114800"/>
          </a:xfrm>
        </p:spPr>
        <p:txBody>
          <a:bodyPr/>
          <a:lstStyle/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 agent can move </a:t>
            </a:r>
            <a:r>
              <a:rPr lang="en-US" sz="2000" i="1" dirty="0">
                <a:latin typeface="Cambria" panose="02040503050406030204" pitchFamily="18" charset="0"/>
                <a:ea typeface="Cambria" panose="02040503050406030204" pitchFamily="18" charset="0"/>
              </a:rPr>
              <a:t>Forward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sz="2000" i="1" dirty="0" err="1">
                <a:latin typeface="Cambria" panose="02040503050406030204" pitchFamily="18" charset="0"/>
                <a:ea typeface="Cambria" panose="02040503050406030204" pitchFamily="18" charset="0"/>
              </a:rPr>
              <a:t>TurnLeft</a:t>
            </a:r>
            <a:r>
              <a:rPr lang="en-US" sz="20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by 90◦, or </a:t>
            </a:r>
            <a:r>
              <a:rPr lang="en-US" sz="2000" i="1" dirty="0" err="1">
                <a:latin typeface="Cambria" panose="02040503050406030204" pitchFamily="18" charset="0"/>
                <a:ea typeface="Cambria" panose="02040503050406030204" pitchFamily="18" charset="0"/>
              </a:rPr>
              <a:t>TurnRight</a:t>
            </a:r>
            <a:r>
              <a:rPr lang="en-US" sz="20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by 90◦. The</a:t>
            </a:r>
          </a:p>
          <a:p>
            <a:pPr marL="0" indent="0"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agent dies a miserable death if it enters a square containing a pit or a live 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wumpus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. (It is safe, albeit smelly, to enter a square with a dead 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wumpus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.) </a:t>
            </a:r>
          </a:p>
          <a:p>
            <a:pPr marL="0" indent="0">
              <a:buNone/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If an agent tries to move forward and bumps into a wall, then the agent does not move. The action </a:t>
            </a:r>
            <a:r>
              <a:rPr lang="en-US" sz="2000" i="1" dirty="0">
                <a:latin typeface="Cambria" panose="02040503050406030204" pitchFamily="18" charset="0"/>
                <a:ea typeface="Cambria" panose="02040503050406030204" pitchFamily="18" charset="0"/>
              </a:rPr>
              <a:t>Grab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can be used to pick up the gold if it is in the same square as the agent. </a:t>
            </a:r>
          </a:p>
          <a:p>
            <a:pPr marL="0" indent="0">
              <a:buNone/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 action </a:t>
            </a:r>
            <a:r>
              <a:rPr lang="en-US" sz="2000" i="1" dirty="0">
                <a:latin typeface="Cambria" panose="02040503050406030204" pitchFamily="18" charset="0"/>
                <a:ea typeface="Cambria" panose="02040503050406030204" pitchFamily="18" charset="0"/>
              </a:rPr>
              <a:t>Shoot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can be used to fire an arrow in a straight line in the direction the agent is facing. </a:t>
            </a:r>
          </a:p>
          <a:p>
            <a:pPr marL="0" indent="0">
              <a:buNone/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 arrow continues until it either hits (and hence kills) the 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wumpus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or hits a wall. The agent has only one arrow, so only the first </a:t>
            </a:r>
            <a:r>
              <a:rPr lang="en-US" sz="2000" i="1" dirty="0">
                <a:latin typeface="Cambria" panose="02040503050406030204" pitchFamily="18" charset="0"/>
                <a:ea typeface="Cambria" panose="02040503050406030204" pitchFamily="18" charset="0"/>
              </a:rPr>
              <a:t>Shoot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action has any effect. </a:t>
            </a:r>
          </a:p>
          <a:p>
            <a:pPr marL="0" indent="0">
              <a:buNone/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Finally, the action </a:t>
            </a:r>
            <a:r>
              <a:rPr lang="en-US" sz="2000" i="1" dirty="0">
                <a:latin typeface="Cambria" panose="02040503050406030204" pitchFamily="18" charset="0"/>
                <a:ea typeface="Cambria" panose="02040503050406030204" pitchFamily="18" charset="0"/>
              </a:rPr>
              <a:t>Climb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can be used to climb out of the cave, but only from square [1,1].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05834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4" name="Rectangle 6">
            <a:extLst>
              <a:ext uri="{FF2B5EF4-FFF2-40B4-BE49-F238E27FC236}">
                <a16:creationId xmlns:a16="http://schemas.microsoft.com/office/drawing/2014/main" id="{2E568EE1-E68A-4015-A921-1F57716684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1544" y="-27136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3200" dirty="0">
                <a:solidFill>
                  <a:schemeClr val="tx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The Wumpus World Environment</a:t>
            </a:r>
          </a:p>
        </p:txBody>
      </p:sp>
      <p:sp>
        <p:nvSpPr>
          <p:cNvPr id="17415" name="Rectangle 7">
            <a:extLst>
              <a:ext uri="{FF2B5EF4-FFF2-40B4-BE49-F238E27FC236}">
                <a16:creationId xmlns:a16="http://schemas.microsoft.com/office/drawing/2014/main" id="{1744E3A1-E4C1-433A-BCFD-DB32A744BC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5520" y="1371600"/>
            <a:ext cx="8928992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Adjacent refers to left, right, top, and bottom (not diagonal)</a:t>
            </a:r>
          </a:p>
          <a:p>
            <a:pPr>
              <a:spcBef>
                <a:spcPct val="20000"/>
              </a:spcBef>
            </a:pP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spcBef>
                <a:spcPct val="20000"/>
              </a:spcBef>
              <a:buFontTx/>
              <a:buChar char="•"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Stench:	In squares containing and adjacent to </a:t>
            </a:r>
            <a:r>
              <a:rPr lang="en-US" alt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wumpus</a:t>
            </a: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spcBef>
                <a:spcPct val="20000"/>
              </a:spcBef>
              <a:buFontTx/>
              <a:buChar char="•"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Breeze:	In squares adjacent to a pit</a:t>
            </a:r>
          </a:p>
          <a:p>
            <a:pPr>
              <a:spcBef>
                <a:spcPct val="20000"/>
              </a:spcBef>
              <a:buFontTx/>
              <a:buChar char="•"/>
            </a:pP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spcBef>
                <a:spcPct val="20000"/>
              </a:spcBef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There can be one </a:t>
            </a:r>
            <a:r>
              <a:rPr lang="en-US" alt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wumpus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, one gold, and many pits. Agent starts from the bottom-left square of a grid.</a:t>
            </a:r>
          </a:p>
          <a:p>
            <a:pPr>
              <a:spcBef>
                <a:spcPct val="20000"/>
              </a:spcBef>
            </a:pP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spcBef>
                <a:spcPct val="20000"/>
              </a:spcBef>
              <a:buFontTx/>
              <a:buChar char="•"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The agent dies if it enters a square containing a pit or the </a:t>
            </a:r>
            <a:r>
              <a:rPr lang="en-US" alt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wumpus</a:t>
            </a: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spcBef>
                <a:spcPct val="20000"/>
              </a:spcBef>
              <a:buFontTx/>
              <a:buChar char="•"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The agent can shoot the </a:t>
            </a:r>
            <a:r>
              <a:rPr lang="en-US" alt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wumpus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 along a straight line</a:t>
            </a:r>
          </a:p>
          <a:p>
            <a:pPr>
              <a:spcBef>
                <a:spcPct val="20000"/>
              </a:spcBef>
              <a:buFontTx/>
              <a:buChar char="•"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The agent has only one arrow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0F5C768-3E85-4FC4-8181-37D81D2B0D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8275" y="548681"/>
            <a:ext cx="9144000" cy="418631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01CE4CB-FD92-404E-AC69-FC247F8ABE18}"/>
              </a:ext>
            </a:extLst>
          </p:cNvPr>
          <p:cNvSpPr/>
          <p:nvPr/>
        </p:nvSpPr>
        <p:spPr>
          <a:xfrm>
            <a:off x="1672930" y="4891533"/>
            <a:ext cx="901972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 first step taken by the agent in the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wumpus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world. </a:t>
            </a:r>
            <a:r>
              <a:rPr lang="en-US" i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(a) The initial situation, after percept [None, None, None, None, None]. </a:t>
            </a:r>
          </a:p>
          <a:p>
            <a:r>
              <a:rPr lang="en-US" i="1" dirty="0">
                <a:solidFill>
                  <a:srgbClr val="00B05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(b) After one move, with percept </a:t>
            </a:r>
            <a:r>
              <a:rPr lang="it-IT" i="1" dirty="0">
                <a:solidFill>
                  <a:srgbClr val="00B05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[None, Breeze, None, None, None].</a:t>
            </a:r>
            <a:endParaRPr lang="en-IN" i="1" dirty="0">
              <a:solidFill>
                <a:srgbClr val="00B05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19472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8A68516-5568-46DB-8A60-6695354BE7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980729"/>
            <a:ext cx="9144000" cy="415490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D76E86B-FB51-4B0E-B4D8-C29497C0A513}"/>
              </a:ext>
            </a:extLst>
          </p:cNvPr>
          <p:cNvSpPr/>
          <p:nvPr/>
        </p:nvSpPr>
        <p:spPr>
          <a:xfrm>
            <a:off x="1524000" y="5276672"/>
            <a:ext cx="957706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Two later stages in the progress of the agent. (a) After the third move,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with percept [Stench, None, None, None, None]. (b) After the fifth move, with percept </a:t>
            </a: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[Stench, Breeze,Glitter, None, None].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48102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4" name="Rectangle 4">
            <a:extLst>
              <a:ext uri="{FF2B5EF4-FFF2-40B4-BE49-F238E27FC236}">
                <a16:creationId xmlns:a16="http://schemas.microsoft.com/office/drawing/2014/main" id="{99A0F31B-FCA7-4406-B2A6-DDD1AF25D4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47528" y="116632"/>
            <a:ext cx="7772400" cy="838200"/>
          </a:xfrm>
        </p:spPr>
        <p:txBody>
          <a:bodyPr/>
          <a:lstStyle/>
          <a:p>
            <a:pPr algn="l"/>
            <a:r>
              <a:rPr lang="en-US" altLang="en-US" b="1" dirty="0">
                <a:solidFill>
                  <a:srgbClr val="00B05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Logic</a:t>
            </a:r>
          </a:p>
        </p:txBody>
      </p:sp>
      <p:sp>
        <p:nvSpPr>
          <p:cNvPr id="20485" name="Rectangle 5">
            <a:extLst>
              <a:ext uri="{FF2B5EF4-FFF2-40B4-BE49-F238E27FC236}">
                <a16:creationId xmlns:a16="http://schemas.microsoft.com/office/drawing/2014/main" id="{506B50A3-DBE7-4B19-8D78-E774E178EC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876805" y="1484784"/>
            <a:ext cx="7772400" cy="4114800"/>
          </a:xfrm>
        </p:spPr>
        <p:txBody>
          <a:bodyPr/>
          <a:lstStyle/>
          <a:p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A formal system for describing states of affairs, consisting of:</a:t>
            </a:r>
          </a:p>
          <a:p>
            <a:pPr lvl="1"/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The syntax of the language, which describes how to make sentences, and</a:t>
            </a:r>
          </a:p>
          <a:p>
            <a:pPr lvl="1"/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The semantics of the language, which describes the relation between the sentences and the states of affairs</a:t>
            </a:r>
          </a:p>
          <a:p>
            <a:pPr lvl="1">
              <a:buFontTx/>
              <a:buNone/>
            </a:pP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A proof theory – a set of rules for deducing the entailments of a set of sentences</a:t>
            </a:r>
          </a:p>
          <a:p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Tx/>
              <a:buNone/>
            </a:pP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Improper definition of logic, or an incorrect proof theory can result in absurd reasoning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4C7E34FA-D67F-46DA-9070-32CC70CDE1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91544" y="342900"/>
            <a:ext cx="7772400" cy="1143000"/>
          </a:xfrm>
        </p:spPr>
        <p:txBody>
          <a:bodyPr/>
          <a:lstStyle/>
          <a:p>
            <a:pPr algn="l"/>
            <a:r>
              <a:rPr lang="en-US" altLang="en-US" b="1" dirty="0">
                <a:solidFill>
                  <a:srgbClr val="00B05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Types of Logics</a:t>
            </a:r>
          </a:p>
        </p:txBody>
      </p:sp>
      <p:graphicFrame>
        <p:nvGraphicFramePr>
          <p:cNvPr id="34854" name="Group 38">
            <a:extLst>
              <a:ext uri="{FF2B5EF4-FFF2-40B4-BE49-F238E27FC236}">
                <a16:creationId xmlns:a16="http://schemas.microsoft.com/office/drawing/2014/main" id="{E7B11978-C090-4F41-9846-D4D35E5C5A56}"/>
              </a:ext>
            </a:extLst>
          </p:cNvPr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2762331556"/>
              </p:ext>
            </p:extLst>
          </p:nvPr>
        </p:nvGraphicFramePr>
        <p:xfrm>
          <a:off x="2423592" y="2636912"/>
          <a:ext cx="7772400" cy="3200400"/>
        </p:xfrm>
        <a:graphic>
          <a:graphicData uri="http://schemas.openxmlformats.org/drawingml/2006/table">
            <a:tbl>
              <a:tblPr/>
              <a:tblGrid>
                <a:gridCol w="2362200">
                  <a:extLst>
                    <a:ext uri="{9D8B030D-6E8A-4147-A177-3AD203B41FA5}">
                      <a16:colId xmlns:a16="http://schemas.microsoft.com/office/drawing/2014/main" val="3776699861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1532741258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4120104357"/>
                    </a:ext>
                  </a:extLst>
                </a:gridCol>
              </a:tblGrid>
              <a:tr h="6858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onotype Corsiva" panose="03010101010201010101" pitchFamily="66" charset="0"/>
                        </a:rPr>
                        <a:t>Language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onotype Corsiva" panose="03010101010201010101" pitchFamily="66" charset="0"/>
                        </a:rPr>
                        <a:t>What exists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onotype Corsiva" panose="03010101010201010101" pitchFamily="66" charset="0"/>
                        </a:rPr>
                        <a:t>Belief of agent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5693067"/>
                  </a:ext>
                </a:extLst>
              </a:tr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Propositional Logic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Facts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True/False/Unknown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9587718"/>
                  </a:ext>
                </a:extLst>
              </a:tr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First-Order Logic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Facts, Objects, Relations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True/False/Unknown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1587311"/>
                  </a:ext>
                </a:extLst>
              </a:tr>
              <a:tr h="6858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Temporal Logic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Facts, Objects, Relations, Times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True/False/Unknown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51142"/>
                  </a:ext>
                </a:extLst>
              </a:tr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Probability Theory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Facts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Degree of belief 0..1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3165845"/>
                  </a:ext>
                </a:extLst>
              </a:tr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Fuzzy Logic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Degree of truth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Degree of belief 0..1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16023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96FC6DF9-8445-4B9C-BE96-D503805C12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19536" y="304800"/>
            <a:ext cx="7772400" cy="1143000"/>
          </a:xfrm>
        </p:spPr>
        <p:txBody>
          <a:bodyPr/>
          <a:lstStyle/>
          <a:p>
            <a:pPr algn="l"/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Propositional Logic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34E1566A-DA6E-439B-842D-8F9FC8D6F6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423592" y="2438400"/>
            <a:ext cx="7772400" cy="4114800"/>
          </a:xfrm>
        </p:spPr>
        <p:txBody>
          <a:bodyPr/>
          <a:lstStyle/>
          <a:p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Given a set of atomic propositions </a:t>
            </a:r>
            <a:r>
              <a:rPr lang="en-US" altLang="en-US" sz="2000" i="1" dirty="0">
                <a:latin typeface="Cambria" panose="02040503050406030204" pitchFamily="18" charset="0"/>
                <a:ea typeface="Cambria" panose="02040503050406030204" pitchFamily="18" charset="0"/>
              </a:rPr>
              <a:t>AP</a:t>
            </a:r>
            <a:endParaRPr lang="en-US" alt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Tx/>
              <a:buNone/>
            </a:pPr>
            <a:endParaRPr lang="en-US" alt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Tx/>
              <a:buNone/>
            </a:pPr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Sentence </a:t>
            </a:r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  <a:sym typeface="Symbol" panose="05050102010706020507" pitchFamily="18" charset="2"/>
              </a:rPr>
              <a:t> 		Atom | </a:t>
            </a:r>
            <a:r>
              <a:rPr lang="en-US" altLang="en-US" sz="2000" dirty="0" err="1">
                <a:latin typeface="Cambria" panose="02040503050406030204" pitchFamily="18" charset="0"/>
                <a:ea typeface="Cambria" panose="02040503050406030204" pitchFamily="18" charset="0"/>
                <a:sym typeface="Symbol" panose="05050102010706020507" pitchFamily="18" charset="2"/>
              </a:rPr>
              <a:t>ComplexSentence</a:t>
            </a:r>
            <a:endParaRPr lang="en-US" altLang="en-US" sz="2000" dirty="0">
              <a:latin typeface="Cambria" panose="02040503050406030204" pitchFamily="18" charset="0"/>
              <a:ea typeface="Cambria" panose="02040503050406030204" pitchFamily="18" charset="0"/>
              <a:sym typeface="Symbol" panose="05050102010706020507" pitchFamily="18" charset="2"/>
            </a:endParaRPr>
          </a:p>
          <a:p>
            <a:pPr>
              <a:buFontTx/>
              <a:buNone/>
            </a:pPr>
            <a:endParaRPr lang="en-US" altLang="en-US" sz="2000" dirty="0">
              <a:latin typeface="Cambria" panose="02040503050406030204" pitchFamily="18" charset="0"/>
              <a:ea typeface="Cambria" panose="02040503050406030204" pitchFamily="18" charset="0"/>
              <a:sym typeface="Symbol" panose="05050102010706020507" pitchFamily="18" charset="2"/>
            </a:endParaRPr>
          </a:p>
          <a:p>
            <a:pPr>
              <a:buFontTx/>
              <a:buNone/>
            </a:pPr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  <a:sym typeface="Symbol" panose="05050102010706020507" pitchFamily="18" charset="2"/>
              </a:rPr>
              <a:t>Atom  		True  | False | </a:t>
            </a:r>
            <a:r>
              <a:rPr lang="en-US" altLang="en-US" sz="2000" i="1" dirty="0">
                <a:latin typeface="Cambria" panose="02040503050406030204" pitchFamily="18" charset="0"/>
                <a:ea typeface="Cambria" panose="02040503050406030204" pitchFamily="18" charset="0"/>
                <a:sym typeface="Symbol" panose="05050102010706020507" pitchFamily="18" charset="2"/>
              </a:rPr>
              <a:t>AP </a:t>
            </a:r>
          </a:p>
          <a:p>
            <a:pPr>
              <a:buFontTx/>
              <a:buNone/>
            </a:pPr>
            <a:endParaRPr lang="en-US" altLang="en-US" sz="2000" dirty="0">
              <a:latin typeface="Cambria" panose="02040503050406030204" pitchFamily="18" charset="0"/>
              <a:ea typeface="Cambria" panose="02040503050406030204" pitchFamily="18" charset="0"/>
              <a:sym typeface="Symbol" panose="05050102010706020507" pitchFamily="18" charset="2"/>
            </a:endParaRPr>
          </a:p>
          <a:p>
            <a:pPr>
              <a:buFontTx/>
              <a:buNone/>
            </a:pPr>
            <a:r>
              <a:rPr lang="en-US" altLang="en-US" sz="2000" dirty="0" err="1">
                <a:latin typeface="Cambria" panose="02040503050406030204" pitchFamily="18" charset="0"/>
                <a:ea typeface="Cambria" panose="02040503050406030204" pitchFamily="18" charset="0"/>
                <a:sym typeface="Symbol" panose="05050102010706020507" pitchFamily="18" charset="2"/>
              </a:rPr>
              <a:t>ComplexSentence</a:t>
            </a:r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  <a:sym typeface="Symbol" panose="05050102010706020507" pitchFamily="18" charset="2"/>
              </a:rPr>
              <a:t>  	( Sentence )</a:t>
            </a:r>
          </a:p>
          <a:p>
            <a:pPr>
              <a:buFontTx/>
              <a:buNone/>
            </a:pPr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  <a:sym typeface="Symbol" panose="05050102010706020507" pitchFamily="18" charset="2"/>
              </a:rPr>
              <a:t>				| Sentence Connective Sentence</a:t>
            </a:r>
          </a:p>
          <a:p>
            <a:pPr>
              <a:buFontTx/>
              <a:buNone/>
            </a:pPr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  <a:sym typeface="Symbol" panose="05050102010706020507" pitchFamily="18" charset="2"/>
              </a:rPr>
              <a:t>				|  Sentence</a:t>
            </a:r>
          </a:p>
          <a:p>
            <a:pPr>
              <a:buFontTx/>
              <a:buNone/>
            </a:pPr>
            <a:endParaRPr lang="en-US" altLang="en-US" sz="2000" dirty="0">
              <a:latin typeface="Cambria" panose="02040503050406030204" pitchFamily="18" charset="0"/>
              <a:ea typeface="Cambria" panose="02040503050406030204" pitchFamily="18" charset="0"/>
              <a:sym typeface="Symbol" panose="05050102010706020507" pitchFamily="18" charset="2"/>
            </a:endParaRPr>
          </a:p>
          <a:p>
            <a:pPr>
              <a:buFontTx/>
              <a:buNone/>
            </a:pPr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  <a:sym typeface="Symbol" panose="05050102010706020507" pitchFamily="18" charset="2"/>
              </a:rPr>
              <a:t>Connective 		 |  |  | </a:t>
            </a:r>
            <a:endParaRPr lang="en-US" alt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C3937-2F66-4177-B99E-9642EAFAB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9800" y="0"/>
            <a:ext cx="7772400" cy="1143000"/>
          </a:xfrm>
        </p:spPr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Understanding Truth Table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164CD06-720D-41DB-AE75-C1C9BD05D3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1479" y="1265235"/>
            <a:ext cx="9144000" cy="177395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BDE3CE6-C616-4357-BA87-92D86835DAE3}"/>
                  </a:ext>
                </a:extLst>
              </p:cNvPr>
              <p:cNvSpPr txBox="1"/>
              <p:nvPr/>
            </p:nvSpPr>
            <p:spPr>
              <a:xfrm>
                <a:off x="4070574" y="3120113"/>
                <a:ext cx="405085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≡¬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∨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≡¬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⇒¬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IN" dirty="0"/>
                  <a:t> 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BDE3CE6-C616-4357-BA87-92D86835DA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0574" y="3120113"/>
                <a:ext cx="4050853" cy="369332"/>
              </a:xfrm>
              <a:prstGeom prst="rect">
                <a:avLst/>
              </a:prstGeom>
              <a:blipFill>
                <a:blip r:embed="rId4"/>
                <a:stretch>
                  <a:fillRect l="-2711" b="-8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1B2F2D5-FF97-45BD-B31C-62F7044AB3E6}"/>
                  </a:ext>
                </a:extLst>
              </p:cNvPr>
              <p:cNvSpPr txBox="1"/>
              <p:nvPr/>
            </p:nvSpPr>
            <p:spPr>
              <a:xfrm>
                <a:off x="4151784" y="3717032"/>
                <a:ext cx="374057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⇔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≡¬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∨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∧¬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∨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IN" dirty="0"/>
                  <a:t> 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1B2F2D5-FF97-45BD-B31C-62F7044AB3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1784" y="3717032"/>
                <a:ext cx="3740576" cy="369332"/>
              </a:xfrm>
              <a:prstGeom prst="rect">
                <a:avLst/>
              </a:prstGeom>
              <a:blipFill>
                <a:blip r:embed="rId5"/>
                <a:stretch>
                  <a:fillRect l="-2769" b="-8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CDDB4D71-3E7D-4CC1-BCF0-A481F9BB04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48872" y="4581128"/>
            <a:ext cx="6876000" cy="1846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5484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C9CC6C5E-5E0C-4F1F-A16F-5957E5F4CF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/>
              <a:t>Inference Rules</a:t>
            </a: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D260FD21-F65E-48D4-9489-E650E48A69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09800" y="2327287"/>
            <a:ext cx="7772400" cy="4114800"/>
          </a:xfrm>
        </p:spPr>
        <p:txBody>
          <a:bodyPr/>
          <a:lstStyle/>
          <a:p>
            <a:r>
              <a:rPr lang="en-US" altLang="en-US" sz="2000" dirty="0"/>
              <a:t>Modus Ponens or Implication Elimination:</a:t>
            </a:r>
          </a:p>
          <a:p>
            <a:pPr>
              <a:buFontTx/>
              <a:buNone/>
            </a:pPr>
            <a:r>
              <a:rPr lang="en-US" altLang="en-US" sz="2000" dirty="0"/>
              <a:t>	</a:t>
            </a:r>
          </a:p>
          <a:p>
            <a:pPr>
              <a:buFontTx/>
              <a:buNone/>
            </a:pPr>
            <a:endParaRPr lang="en-US" altLang="en-US" sz="2000" dirty="0"/>
          </a:p>
          <a:p>
            <a:r>
              <a:rPr lang="en-US" altLang="en-US" sz="2000" dirty="0"/>
              <a:t>Unit Resolution:</a:t>
            </a:r>
          </a:p>
          <a:p>
            <a:endParaRPr lang="en-US" altLang="en-US" sz="2000" dirty="0"/>
          </a:p>
          <a:p>
            <a:endParaRPr lang="en-US" altLang="en-US" sz="2000" dirty="0"/>
          </a:p>
          <a:p>
            <a:r>
              <a:rPr lang="en-US" altLang="en-US" sz="2000" dirty="0"/>
              <a:t>Resolution:                                       or</a:t>
            </a:r>
          </a:p>
          <a:p>
            <a:endParaRPr lang="en-US" altLang="en-US" sz="2000" dirty="0"/>
          </a:p>
          <a:p>
            <a:endParaRPr lang="en-US" altLang="en-US" sz="2000" dirty="0"/>
          </a:p>
          <a:p>
            <a:pPr>
              <a:buFontTx/>
              <a:buNone/>
            </a:pPr>
            <a:r>
              <a:rPr lang="en-US" altLang="en-US" sz="2000" dirty="0"/>
              <a:t>…. and several other rules</a:t>
            </a:r>
          </a:p>
        </p:txBody>
      </p:sp>
      <p:graphicFrame>
        <p:nvGraphicFramePr>
          <p:cNvPr id="32772" name="Object 4">
            <a:extLst>
              <a:ext uri="{FF2B5EF4-FFF2-40B4-BE49-F238E27FC236}">
                <a16:creationId xmlns:a16="http://schemas.microsoft.com/office/drawing/2014/main" id="{BED0F6AB-C719-458F-B2ED-D88FA5C4DD2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0897165"/>
              </p:ext>
            </p:extLst>
          </p:nvPr>
        </p:nvGraphicFramePr>
        <p:xfrm>
          <a:off x="8039308" y="2454213"/>
          <a:ext cx="1428750" cy="82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9" name="Equation" r:id="rId3" imgW="723600" imgH="419040" progId="Equation.3">
                  <p:embed/>
                </p:oleObj>
              </mc:Choice>
              <mc:Fallback>
                <p:oleObj name="Equation" r:id="rId3" imgW="723600" imgH="419040" progId="Equation.3">
                  <p:embed/>
                  <p:pic>
                    <p:nvPicPr>
                      <p:cNvPr id="32772" name="Object 4">
                        <a:extLst>
                          <a:ext uri="{FF2B5EF4-FFF2-40B4-BE49-F238E27FC236}">
                            <a16:creationId xmlns:a16="http://schemas.microsoft.com/office/drawing/2014/main" id="{BED0F6AB-C719-458F-B2ED-D88FA5C4DD2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39308" y="2454213"/>
                        <a:ext cx="1428750" cy="827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AE31965-F38B-4258-BF3F-FB3B10571533}"/>
                  </a:ext>
                </a:extLst>
              </p:cNvPr>
              <p:cNvSpPr txBox="1"/>
              <p:nvPr/>
            </p:nvSpPr>
            <p:spPr>
              <a:xfrm>
                <a:off x="4968920" y="3207488"/>
                <a:ext cx="1342932" cy="7014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∨</m:t>
                          </m:r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¬</m:t>
                          </m:r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num>
                        <m:den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den>
                      </m:f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AE31965-F38B-4258-BF3F-FB3B105715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8920" y="3207488"/>
                <a:ext cx="1342932" cy="7014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FBE5161-8832-4AC4-B104-2419CBF03D80}"/>
                  </a:ext>
                </a:extLst>
              </p:cNvPr>
              <p:cNvSpPr txBox="1"/>
              <p:nvPr/>
            </p:nvSpPr>
            <p:spPr>
              <a:xfrm>
                <a:off x="4295800" y="4384688"/>
                <a:ext cx="2047484" cy="7592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∨</m:t>
                          </m:r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 </m:t>
                          </m:r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¬</m:t>
                          </m:r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∨</m:t>
                          </m:r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</m:num>
                        <m:den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∨</m:t>
                          </m:r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</m:den>
                      </m:f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FBE5161-8832-4AC4-B104-2419CBF03D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5800" y="4384688"/>
                <a:ext cx="2047484" cy="75924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C184DFE-3A59-4AC5-9040-38AA6C668CC8}"/>
                  </a:ext>
                </a:extLst>
              </p:cNvPr>
              <p:cNvSpPr txBox="1"/>
              <p:nvPr/>
            </p:nvSpPr>
            <p:spPr>
              <a:xfrm>
                <a:off x="7252808" y="4372229"/>
                <a:ext cx="2352952" cy="7592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¬</m:t>
                          </m:r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⇒ </m:t>
                          </m:r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 </m:t>
                          </m:r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⇒</m:t>
                          </m:r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</m:num>
                        <m:den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¬</m:t>
                          </m:r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⇒</m:t>
                          </m:r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</m:den>
                      </m:f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C184DFE-3A59-4AC5-9040-38AA6C668C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2808" y="4372229"/>
                <a:ext cx="2352952" cy="75924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03512" y="548680"/>
            <a:ext cx="7772400" cy="1143000"/>
          </a:xfrm>
        </p:spPr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Propositional Logic: Syntax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4000" y="3212977"/>
            <a:ext cx="8784000" cy="2909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45676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919536" y="548680"/>
            <a:ext cx="7772400" cy="1143000"/>
          </a:xfrm>
        </p:spPr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Propositional Logic: Semantics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592" y="1916832"/>
            <a:ext cx="7054333" cy="4727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7243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47528" y="188640"/>
            <a:ext cx="7772400" cy="1143000"/>
          </a:xfrm>
        </p:spPr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Logical Equivalence 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7604" y="1556792"/>
            <a:ext cx="7878270" cy="5301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4290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3655" y="382327"/>
            <a:ext cx="7772400" cy="1143000"/>
          </a:xfrm>
        </p:spPr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Validity and Satisfiability 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2423" y="1598553"/>
            <a:ext cx="6737135" cy="354139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2332208" y="5106822"/>
                <a:ext cx="460587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…..</m:t>
                      </m:r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(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𝑣𝑎𝑙𝑖𝑑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2208" y="5106822"/>
                <a:ext cx="4605876" cy="461665"/>
              </a:xfrm>
              <a:prstGeom prst="rect">
                <a:avLst/>
              </a:prstGeom>
              <a:blipFill>
                <a:blip r:embed="rId3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2332209" y="5658787"/>
                <a:ext cx="5593583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𝜓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¬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…..</m:t>
                      </m:r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(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𝑣𝑎𝑙𝑖𝑑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2209" y="5658787"/>
                <a:ext cx="5593583" cy="461665"/>
              </a:xfrm>
              <a:prstGeom prst="rect">
                <a:avLst/>
              </a:prstGeom>
              <a:blipFill>
                <a:blip r:embed="rId4"/>
                <a:stretch>
                  <a:fillRect b="-1842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1793655" y="6210752"/>
                <a:ext cx="7254673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¬</m:t>
                          </m:r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𝜓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…..</m:t>
                      </m:r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¬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(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𝑢𝑛𝑠𝑎𝑡𝑖𝑠𝑓𝑖𝑎𝑏𝑙𝑒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3655" y="6210752"/>
                <a:ext cx="7254673" cy="461665"/>
              </a:xfrm>
              <a:prstGeom prst="rect">
                <a:avLst/>
              </a:prstGeom>
              <a:blipFill>
                <a:blip r:embed="rId5"/>
                <a:stretch>
                  <a:fillRect b="-1842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41299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1064" y="548680"/>
            <a:ext cx="7772400" cy="1143000"/>
          </a:xfrm>
        </p:spPr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Forward and backward Chaining 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1064" y="2115405"/>
            <a:ext cx="7128000" cy="4742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789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0386" y="548680"/>
            <a:ext cx="7772400" cy="1143000"/>
          </a:xfrm>
        </p:spPr>
        <p:txBody>
          <a:bodyPr/>
          <a:lstStyle/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Inference Engine Cycles via a Match-Fire Procedure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5752" y="1556792"/>
            <a:ext cx="7128000" cy="5361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2196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3552" y="-18248"/>
            <a:ext cx="7772400" cy="1143000"/>
          </a:xfrm>
        </p:spPr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 Example of an Inference Chain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2000" y="1275840"/>
            <a:ext cx="9036000" cy="5201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8662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5560" y="404664"/>
            <a:ext cx="7772400" cy="1143000"/>
          </a:xfrm>
        </p:spPr>
        <p:txBody>
          <a:bodyPr/>
          <a:lstStyle/>
          <a:p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Forward Chaining (FC) Technique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504" y="1772816"/>
            <a:ext cx="8532000" cy="4807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2769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2000" y="2420888"/>
            <a:ext cx="8928000" cy="4327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2841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124744"/>
            <a:ext cx="8892000" cy="4617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2604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9800" y="476672"/>
            <a:ext cx="7772400" cy="1143000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Backward Chaining (BC) Technique</a:t>
            </a:r>
            <a:endParaRPr lang="en-IN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3512" y="2420888"/>
            <a:ext cx="8532000" cy="3867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1830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3552" y="332656"/>
            <a:ext cx="7772400" cy="1143000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Backward Chaining (BC) Technique</a:t>
            </a:r>
            <a:endParaRPr lang="en-IN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3512" y="1706778"/>
            <a:ext cx="6912000" cy="294635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3512" y="4653136"/>
            <a:ext cx="6984000" cy="2079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5771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5600" y="134811"/>
            <a:ext cx="5832000" cy="324266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5600" y="3501008"/>
            <a:ext cx="6084000" cy="3269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5988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9536" y="332656"/>
            <a:ext cx="8820000" cy="1143000"/>
          </a:xfrm>
        </p:spPr>
        <p:txBody>
          <a:bodyPr/>
          <a:lstStyle/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How Do We Choose Between FC and BC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7488" y="2321959"/>
            <a:ext cx="8820000" cy="4226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0778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5EEC9-5349-421D-B11B-B50049499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448" y="836712"/>
            <a:ext cx="7772400" cy="1143000"/>
          </a:xfrm>
        </p:spPr>
        <p:txBody>
          <a:bodyPr/>
          <a:lstStyle/>
          <a:p>
            <a:r>
              <a:rPr lang="en-IN" b="1" dirty="0"/>
              <a:t>List of tautologies in propositional logic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2174377-A6D8-4379-9CA5-30C128C8C9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9856" y="1556792"/>
            <a:ext cx="3600000" cy="5184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5364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47528" y="-171400"/>
            <a:ext cx="7772400" cy="1143000"/>
          </a:xfrm>
        </p:spPr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Conversion to CNF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528" y="883286"/>
            <a:ext cx="8424000" cy="5510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4466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36D83-5644-4302-884C-A183BC485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9800" y="260648"/>
            <a:ext cx="7772400" cy="1143000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Modeling in propositional logic  </a:t>
            </a:r>
            <a:endParaRPr lang="en-IN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8E4D84-4F28-4388-A2C5-5F52B8C804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9800" y="2204864"/>
            <a:ext cx="7772400" cy="4114800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Propositions</a:t>
            </a:r>
          </a:p>
          <a:p>
            <a:pPr marL="0" indent="0"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Umyth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: U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nicorn is mythical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Umort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: U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nicorn is mortal </a:t>
            </a:r>
          </a:p>
          <a:p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Umam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: U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nicorn is mammal </a:t>
            </a:r>
          </a:p>
          <a:p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Umag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: U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nicorn is either magical </a:t>
            </a:r>
          </a:p>
          <a:p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Uhorn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: U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nicorn is horned  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2194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E412A49-70A5-4B17-965F-7C7DA5FC116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31504" y="332656"/>
                <a:ext cx="8928992" cy="41148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en-US" sz="2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If the unicorn is mythical, then it is immortal, but if it is not mythical, then it is a mortal mammal. </a:t>
                </a:r>
              </a:p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dirty="0" smtClean="0">
                        <a:latin typeface="Cambria" panose="02040503050406030204" pitchFamily="18" charset="0"/>
                        <a:ea typeface="Cambria" panose="02040503050406030204" pitchFamily="18" charset="0"/>
                      </a:rPr>
                      <m:t>Umyth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⇒¬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𝑈𝑚𝑜𝑟𝑡</m:t>
                    </m:r>
                  </m:oMath>
                </a14:m>
                <a:endParaRPr lang="en-IN" dirty="0"/>
              </a:p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  <m:r>
                      <m:rPr>
                        <m:nor/>
                      </m:rPr>
                      <a:rPr lang="en-US" dirty="0">
                        <a:latin typeface="Cambria" panose="02040503050406030204" pitchFamily="18" charset="0"/>
                        <a:ea typeface="Cambria" panose="02040503050406030204" pitchFamily="18" charset="0"/>
                      </a:rPr>
                      <m:t>Umyth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𝑈𝑚𝑜𝑟𝑡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𝑈𝑚𝑎𝑚</m:t>
                    </m:r>
                  </m:oMath>
                </a14:m>
                <a:endParaRPr lang="en-IN" dirty="0"/>
              </a:p>
              <a:p>
                <a:pPr marL="0" indent="0">
                  <a:buNone/>
                </a:pPr>
                <a:r>
                  <a:rPr lang="en-US" alt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If the unicorn is either immortal or a mammal, then it is horned. </a:t>
                </a:r>
              </a:p>
              <a:p>
                <a:pPr marL="0" indent="0">
                  <a:buNone/>
                </a:pPr>
                <a:r>
                  <a:rPr lang="en-US" b="0" dirty="0">
                    <a:latin typeface="Cambria" panose="02040503050406030204" pitchFamily="18" charset="0"/>
                    <a:ea typeface="Cambria" panose="02040503050406030204" pitchFamily="18" charset="0"/>
                  </a:rPr>
                  <a:t>3.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𝑈𝑚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𝑎𝑚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∨¬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𝑈𝑚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𝑜𝑟𝑡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)⇒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𝑈h𝑜𝑟𝑛</m:t>
                    </m:r>
                  </m:oMath>
                </a14:m>
                <a:endParaRPr lang="en-US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The unicorn is magical if it is horned</a:t>
                </a:r>
              </a:p>
              <a:p>
                <a:pPr marL="0" indent="0">
                  <a:buNone/>
                </a:pPr>
                <a:r>
                  <a:rPr lang="en-US" dirty="0">
                    <a:ea typeface="Cambria" panose="02040503050406030204" pitchFamily="18" charset="0"/>
                  </a:rPr>
                  <a:t>4.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dirty="0">
                        <a:latin typeface="Cambria" panose="02040503050406030204" pitchFamily="18" charset="0"/>
                        <a:ea typeface="Cambria" panose="02040503050406030204" pitchFamily="18" charset="0"/>
                      </a:rPr>
                      <m:t>U</m:t>
                    </m:r>
                    <m:r>
                      <m:rPr>
                        <m:nor/>
                      </m:rPr>
                      <a:rPr lang="en-US" b="0" i="0" dirty="0" smtClean="0">
                        <a:latin typeface="Cambria" panose="02040503050406030204" pitchFamily="18" charset="0"/>
                        <a:ea typeface="Cambria" panose="02040503050406030204" pitchFamily="18" charset="0"/>
                      </a:rPr>
                      <m:t>horn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𝑈𝑚𝑎𝑔</m:t>
                    </m:r>
                  </m:oMath>
                </a14:m>
                <a:endParaRPr lang="en-IN" dirty="0"/>
              </a:p>
              <a:p>
                <a:pPr marL="0" indent="0">
                  <a:buNone/>
                </a:pPr>
                <a:r>
                  <a:rPr lang="en-US" dirty="0"/>
                  <a:t>5.  </a:t>
                </a:r>
                <a:r>
                  <a:rPr lang="en-IN" dirty="0"/>
                  <a:t>from (1) and (2)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⇒¬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𝑈𝑚𝑜𝑟𝑡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∨(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𝑈𝑚𝑜𝑟𝑡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𝑈𝑚𝑎𝑚</m:t>
                    </m:r>
                  </m:oMath>
                </a14:m>
                <a:r>
                  <a:rPr lang="en-IN" dirty="0"/>
                  <a:t>)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⇒¬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𝑈𝑚𝑜𝑟𝑡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𝑈𝑚𝑎𝑚</m:t>
                    </m:r>
                  </m:oMath>
                </a14:m>
                <a:endParaRPr lang="en-IN" dirty="0"/>
              </a:p>
              <a:p>
                <a:pPr marL="0" indent="0">
                  <a:buNone/>
                </a:pPr>
                <a:r>
                  <a:rPr lang="en-US" dirty="0"/>
                  <a:t>6.  </a:t>
                </a:r>
                <a:r>
                  <a:rPr lang="en-IN" dirty="0"/>
                  <a:t>from (5) and (3)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IN" dirty="0"/>
                  <a:t>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𝑈h𝑜𝑟𝑛</m:t>
                    </m:r>
                  </m:oMath>
                </a14:m>
                <a:endParaRPr lang="en-IN" dirty="0"/>
              </a:p>
              <a:p>
                <a:pPr marL="0" indent="0">
                  <a:buNone/>
                </a:pPr>
                <a:r>
                  <a:rPr lang="en-US" dirty="0"/>
                  <a:t>7.  </a:t>
                </a:r>
                <a:r>
                  <a:rPr lang="en-IN" dirty="0"/>
                  <a:t>from (6) and (4)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IN" dirty="0"/>
                  <a:t>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𝑈𝑚𝑎𝑔</m:t>
                    </m:r>
                  </m:oMath>
                </a14:m>
                <a:endParaRPr lang="en-IN" dirty="0"/>
              </a:p>
              <a:p>
                <a:endParaRPr lang="en-IN" dirty="0"/>
              </a:p>
              <a:p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E412A49-70A5-4B17-965F-7C7DA5FC11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31504" y="332656"/>
                <a:ext cx="8928992" cy="4114800"/>
              </a:xfrm>
              <a:blipFill>
                <a:blip r:embed="rId2"/>
                <a:stretch>
                  <a:fillRect l="-1434" t="-1185" b="-5688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68921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1559496" y="548680"/>
            <a:ext cx="7772400" cy="1143000"/>
          </a:xfrm>
        </p:spPr>
        <p:txBody>
          <a:bodyPr/>
          <a:lstStyle/>
          <a:p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First-order logic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19536" y="2420888"/>
            <a:ext cx="7772400" cy="4114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Whereas propositional logic assumes the world contains </a:t>
            </a:r>
            <a:r>
              <a:rPr lang="en-US" altLang="en-US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facts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,</a:t>
            </a:r>
          </a:p>
          <a:p>
            <a:pPr>
              <a:lnSpc>
                <a:spcPct val="90000"/>
              </a:lnSpc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first-order logic (like natural language) assumes the world contains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Objects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: people, houses, numbers, colors, baseball games, wars, …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Relations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: red, round, prime, brother of, bigger than, part of, comes between, …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Functions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: father of, best friend, one more than, plus, …</a:t>
            </a:r>
          </a:p>
        </p:txBody>
      </p:sp>
    </p:spTree>
    <p:extLst>
      <p:ext uri="{BB962C8B-B14F-4D97-AF65-F5344CB8AC3E}">
        <p14:creationId xmlns:p14="http://schemas.microsoft.com/office/powerpoint/2010/main" val="19763452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1775520" y="548680"/>
            <a:ext cx="7772400" cy="1143000"/>
          </a:xfrm>
        </p:spPr>
        <p:txBody>
          <a:bodyPr/>
          <a:lstStyle/>
          <a:p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Syntax of FOL: Basic elements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Constants	</a:t>
            </a:r>
            <a:r>
              <a:rPr lang="en-US" alt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KingJohn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, 2, CU,... </a:t>
            </a:r>
          </a:p>
          <a:p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Predicates	Brother, &gt;,...</a:t>
            </a:r>
          </a:p>
          <a:p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Functions	</a:t>
            </a:r>
            <a:r>
              <a:rPr lang="en-US" alt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Sqrt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alt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LeftLegOf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,...</a:t>
            </a:r>
          </a:p>
          <a:p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Variables	x, y, a, b,...</a:t>
            </a:r>
          </a:p>
          <a:p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Connectives	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  <a:sym typeface="Symbol" panose="05050102010706020507" pitchFamily="18" charset="2"/>
              </a:rPr>
              <a:t>, , , , </a:t>
            </a:r>
          </a:p>
          <a:p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Equality		= </a:t>
            </a:r>
          </a:p>
          <a:p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Quantifiers  	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  <a:sym typeface="Symbol" panose="05050102010706020507" pitchFamily="18" charset="2"/>
              </a:rPr>
              <a:t>,  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6803004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47528" y="2276872"/>
            <a:ext cx="7772400" cy="4114800"/>
          </a:xfrm>
        </p:spPr>
        <p:txBody>
          <a:bodyPr/>
          <a:lstStyle/>
          <a:p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constant symbols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which stand for objects;</a:t>
            </a:r>
          </a:p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predicate symbols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, which stand for relations</a:t>
            </a:r>
          </a:p>
          <a:p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function </a:t>
            </a:r>
            <a:r>
              <a:rPr lang="en-IN" b="1" dirty="0" err="1">
                <a:latin typeface="Cambria" panose="02040503050406030204" pitchFamily="18" charset="0"/>
                <a:ea typeface="Cambria" panose="02040503050406030204" pitchFamily="18" charset="0"/>
              </a:rPr>
              <a:t>sym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</a:rPr>
              <a:t>bols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, which stand for functions</a:t>
            </a:r>
          </a:p>
          <a:p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For example, we might use the constant symbols 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Richard and John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; the predicate symbols 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Brother ,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OnHead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Person, King, and Crown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; and the function symbol </a:t>
            </a:r>
            <a:r>
              <a:rPr lang="en-IN" i="1" dirty="0" err="1">
                <a:latin typeface="Cambria" panose="02040503050406030204" pitchFamily="18" charset="0"/>
                <a:ea typeface="Cambria" panose="02040503050406030204" pitchFamily="18" charset="0"/>
              </a:rPr>
              <a:t>LeftLeg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0059724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C0043-7939-48FA-945B-A5D9C9EEC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5520" y="210055"/>
            <a:ext cx="7772400" cy="1143000"/>
          </a:xfrm>
        </p:spPr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Predicate 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E8C14EC-998F-448E-BA7A-73F7312EF0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27448" y="2852936"/>
                <a:ext cx="10668000" cy="37338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Predicate: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∀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∀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∃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∀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∃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∃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∃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E8C14EC-998F-448E-BA7A-73F7312EF0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27448" y="2852936"/>
                <a:ext cx="10668000" cy="3733800"/>
              </a:xfrm>
              <a:blipFill>
                <a:blip r:embed="rId2"/>
                <a:stretch>
                  <a:fillRect l="-1200" t="-163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4B55BF3-F341-4613-8B48-D011F82A09D8}"/>
                  </a:ext>
                </a:extLst>
              </p:cNvPr>
              <p:cNvSpPr txBox="1"/>
              <p:nvPr/>
            </p:nvSpPr>
            <p:spPr>
              <a:xfrm>
                <a:off x="5219988" y="2564904"/>
                <a:ext cx="126323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4B55BF3-F341-4613-8B48-D011F82A09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9988" y="2564904"/>
                <a:ext cx="1263231" cy="369332"/>
              </a:xfrm>
              <a:prstGeom prst="rect">
                <a:avLst/>
              </a:prstGeom>
              <a:blipFill>
                <a:blip r:embed="rId3"/>
                <a:stretch>
                  <a:fillRect l="-4808" r="-7692" b="-3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9451205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EA123C1E-D9B4-4CD2-B902-B9D2A28894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304800"/>
            <a:ext cx="7772400" cy="762000"/>
          </a:xfrm>
        </p:spPr>
        <p:txBody>
          <a:bodyPr/>
          <a:lstStyle/>
          <a:p>
            <a:pPr algn="l"/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First-order Logic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11230943-84DF-4A09-840C-40AD57E957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85323" y="1067409"/>
            <a:ext cx="7772400" cy="4953000"/>
          </a:xfrm>
        </p:spPr>
        <p:txBody>
          <a:bodyPr/>
          <a:lstStyle/>
          <a:p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Sentence </a:t>
            </a:r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  <a:sym typeface="Symbol" panose="05050102010706020507" pitchFamily="18" charset="2"/>
              </a:rPr>
              <a:t> 	</a:t>
            </a:r>
            <a:r>
              <a:rPr lang="en-US" altLang="en-US" sz="2000" dirty="0" err="1">
                <a:latin typeface="Cambria" panose="02040503050406030204" pitchFamily="18" charset="0"/>
                <a:ea typeface="Cambria" panose="02040503050406030204" pitchFamily="18" charset="0"/>
                <a:sym typeface="Symbol" panose="05050102010706020507" pitchFamily="18" charset="2"/>
              </a:rPr>
              <a:t>AtomicSentence</a:t>
            </a:r>
            <a:endParaRPr lang="en-US" altLang="en-US" sz="2000" dirty="0">
              <a:latin typeface="Cambria" panose="02040503050406030204" pitchFamily="18" charset="0"/>
              <a:ea typeface="Cambria" panose="02040503050406030204" pitchFamily="18" charset="0"/>
              <a:sym typeface="Symbol" panose="05050102010706020507" pitchFamily="18" charset="2"/>
            </a:endParaRPr>
          </a:p>
          <a:p>
            <a:pPr>
              <a:buFontTx/>
              <a:buNone/>
            </a:pPr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  <a:sym typeface="Symbol" panose="05050102010706020507" pitchFamily="18" charset="2"/>
              </a:rPr>
              <a:t>			| Sentence Connective Sentence</a:t>
            </a:r>
          </a:p>
          <a:p>
            <a:pPr>
              <a:buFontTx/>
              <a:buNone/>
            </a:pPr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  <a:sym typeface="Symbol" panose="05050102010706020507" pitchFamily="18" charset="2"/>
              </a:rPr>
              <a:t>			| Quantifier Variable, … Sentence</a:t>
            </a:r>
          </a:p>
          <a:p>
            <a:pPr>
              <a:buFontTx/>
              <a:buNone/>
            </a:pPr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  <a:sym typeface="Symbol" panose="05050102010706020507" pitchFamily="18" charset="2"/>
              </a:rPr>
              <a:t>			|  Sentence</a:t>
            </a:r>
          </a:p>
          <a:p>
            <a:pPr>
              <a:buFontTx/>
              <a:buNone/>
            </a:pPr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  <a:sym typeface="Symbol" panose="05050102010706020507" pitchFamily="18" charset="2"/>
              </a:rPr>
              <a:t>			| (Sentence)</a:t>
            </a:r>
          </a:p>
          <a:p>
            <a:pPr>
              <a:buFontTx/>
              <a:buNone/>
            </a:pPr>
            <a:endParaRPr lang="en-US" altLang="en-US" sz="2000" dirty="0">
              <a:latin typeface="Cambria" panose="02040503050406030204" pitchFamily="18" charset="0"/>
              <a:ea typeface="Cambria" panose="02040503050406030204" pitchFamily="18" charset="0"/>
              <a:sym typeface="Symbol" panose="05050102010706020507" pitchFamily="18" charset="2"/>
            </a:endParaRPr>
          </a:p>
          <a:p>
            <a:r>
              <a:rPr lang="en-US" altLang="en-US" sz="2000" dirty="0" err="1">
                <a:latin typeface="Cambria" panose="02040503050406030204" pitchFamily="18" charset="0"/>
                <a:ea typeface="Cambria" panose="02040503050406030204" pitchFamily="18" charset="0"/>
                <a:sym typeface="Symbol" panose="05050102010706020507" pitchFamily="18" charset="2"/>
              </a:rPr>
              <a:t>AtomicSentence</a:t>
            </a:r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  <a:sym typeface="Symbol" panose="05050102010706020507" pitchFamily="18" charset="2"/>
              </a:rPr>
              <a:t>   Predicate(Term, …)	| Term = Term</a:t>
            </a:r>
          </a:p>
          <a:p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  <a:sym typeface="Symbol" panose="05050102010706020507" pitchFamily="18" charset="2"/>
              </a:rPr>
              <a:t>Term   	Function(Term, …)	| Constant	| Variable </a:t>
            </a:r>
          </a:p>
          <a:p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  <a:sym typeface="Symbol" panose="05050102010706020507" pitchFamily="18" charset="2"/>
              </a:rPr>
              <a:t>Connective   |  |  |  </a:t>
            </a:r>
          </a:p>
          <a:p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  <a:sym typeface="Symbol" panose="05050102010706020507" pitchFamily="18" charset="2"/>
              </a:rPr>
              <a:t>Quantifier  	  | </a:t>
            </a:r>
          </a:p>
          <a:p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  <a:sym typeface="Symbol" panose="05050102010706020507" pitchFamily="18" charset="2"/>
              </a:rPr>
              <a:t>Constant 	A | 5 | Kolkata | …</a:t>
            </a:r>
          </a:p>
          <a:p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  <a:sym typeface="Symbol" panose="05050102010706020507" pitchFamily="18" charset="2"/>
              </a:rPr>
              <a:t>Variable 	a | x | s | …</a:t>
            </a:r>
          </a:p>
          <a:p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  <a:sym typeface="Symbol" panose="05050102010706020507" pitchFamily="18" charset="2"/>
              </a:rPr>
              <a:t>Predicate 	Before | </a:t>
            </a:r>
            <a:r>
              <a:rPr lang="en-US" altLang="en-US" sz="2000" dirty="0" err="1">
                <a:latin typeface="Cambria" panose="02040503050406030204" pitchFamily="18" charset="0"/>
                <a:ea typeface="Cambria" panose="02040503050406030204" pitchFamily="18" charset="0"/>
                <a:sym typeface="Symbol" panose="05050102010706020507" pitchFamily="18" charset="2"/>
              </a:rPr>
              <a:t>HasColor</a:t>
            </a:r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  <a:sym typeface="Symbol" panose="05050102010706020507" pitchFamily="18" charset="2"/>
              </a:rPr>
              <a:t> | Raining | …</a:t>
            </a:r>
          </a:p>
          <a:p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  <a:sym typeface="Symbol" panose="05050102010706020507" pitchFamily="18" charset="2"/>
              </a:rPr>
              <a:t>Function 	Mother | Cosine | </a:t>
            </a:r>
            <a:r>
              <a:rPr lang="en-US" altLang="en-US" sz="2000" dirty="0" err="1">
                <a:latin typeface="Cambria" panose="02040503050406030204" pitchFamily="18" charset="0"/>
                <a:ea typeface="Cambria" panose="02040503050406030204" pitchFamily="18" charset="0"/>
                <a:sym typeface="Symbol" panose="05050102010706020507" pitchFamily="18" charset="2"/>
              </a:rPr>
              <a:t>Headoflist</a:t>
            </a:r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  <a:sym typeface="Symbol" panose="05050102010706020507" pitchFamily="18" charset="2"/>
              </a:rPr>
              <a:t> | …</a:t>
            </a:r>
          </a:p>
        </p:txBody>
      </p:sp>
    </p:spTree>
    <p:extLst>
      <p:ext uri="{BB962C8B-B14F-4D97-AF65-F5344CB8AC3E}">
        <p14:creationId xmlns:p14="http://schemas.microsoft.com/office/powerpoint/2010/main" val="308669074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063552" y="706925"/>
                <a:ext cx="7772400" cy="41148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Everyone loves its mother </a:t>
                </a:r>
              </a:p>
              <a:p>
                <a14:m>
                  <m:oMath xmlns:m="http://schemas.openxmlformats.org/officeDocument/2006/math">
                    <m:r>
                      <a:rPr lang="en-I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∃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𝑀𝑜𝑡h𝑒𝑟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)∧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𝐿𝑜𝑣𝑒𝑠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IN" dirty="0"/>
              </a:p>
              <a:p>
                <a:pPr marL="0" indent="0">
                  <a:buNone/>
                </a:pPr>
                <a:r>
                  <a:rPr lang="en-US" dirty="0"/>
                  <a:t>               </a:t>
                </a:r>
                <a:r>
                  <a:rPr lang="en-US" dirty="0">
                    <a:solidFill>
                      <a:srgbClr val="FF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predicate</a:t>
                </a:r>
                <a:r>
                  <a:rPr lang="en-US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𝑀𝑜𝑡h𝑒𝑟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US" b="0" dirty="0"/>
              </a:p>
              <a:p>
                <a14:m>
                  <m:oMath xmlns:m="http://schemas.openxmlformats.org/officeDocument/2006/math">
                    <m:r>
                      <a:rPr lang="en-I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𝐿𝑜𝑣𝑒𝑠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𝑀𝑜𝑡h𝑒𝑟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dirty="0"/>
                  <a:t>                     </a:t>
                </a:r>
                <a:r>
                  <a:rPr lang="en-US" dirty="0">
                    <a:solidFill>
                      <a:srgbClr val="FF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function</a:t>
                </a:r>
                <a:r>
                  <a:rPr lang="en-US" dirty="0"/>
                  <a:t> </a:t>
                </a:r>
                <a:endParaRPr lang="en-IN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063552" y="706925"/>
                <a:ext cx="7772400" cy="4114800"/>
              </a:xfrm>
              <a:blipFill>
                <a:blip r:embed="rId2"/>
                <a:stretch>
                  <a:fillRect l="-1647" t="-163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Down Arrow 5"/>
          <p:cNvSpPr/>
          <p:nvPr/>
        </p:nvSpPr>
        <p:spPr>
          <a:xfrm>
            <a:off x="4223792" y="1628800"/>
            <a:ext cx="144016" cy="21602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Down Arrow 6"/>
          <p:cNvSpPr/>
          <p:nvPr/>
        </p:nvSpPr>
        <p:spPr>
          <a:xfrm>
            <a:off x="4840842" y="3284984"/>
            <a:ext cx="216024" cy="28803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423593" y="4653552"/>
                <a:ext cx="226805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∃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∀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∀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3593" y="4653552"/>
                <a:ext cx="2268057" cy="369332"/>
              </a:xfrm>
              <a:prstGeom prst="rect">
                <a:avLst/>
              </a:prstGeom>
              <a:blipFill>
                <a:blip r:embed="rId3"/>
                <a:stretch>
                  <a:fillRect l="-2151" r="-4032" b="-3606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81115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E202F432-D30B-4CCA-AFA2-B9CDAE5462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35560" y="228600"/>
            <a:ext cx="7772400" cy="762000"/>
          </a:xfrm>
        </p:spPr>
        <p:txBody>
          <a:bodyPr/>
          <a:lstStyle/>
          <a:p>
            <a:pPr algn="l"/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Examples</a:t>
            </a: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5F6CD439-6632-4570-8123-ECBA23D0CE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52260" y="2195602"/>
            <a:ext cx="8640960" cy="4648200"/>
          </a:xfrm>
        </p:spPr>
        <p:txBody>
          <a:bodyPr/>
          <a:lstStyle/>
          <a:p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Other examples:</a:t>
            </a:r>
          </a:p>
          <a:p>
            <a:pPr lvl="1"/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Not all students take both History and Biology</a:t>
            </a:r>
          </a:p>
          <a:p>
            <a:pPr lvl="1"/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Only one student failed History</a:t>
            </a:r>
          </a:p>
          <a:p>
            <a:pPr lvl="1"/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Only one student failed both History and Biology</a:t>
            </a:r>
          </a:p>
          <a:p>
            <a:pPr lvl="1"/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The best score in History is better than the best score in Biology</a:t>
            </a:r>
          </a:p>
          <a:p>
            <a:pPr lvl="1"/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No person likes a professor unless the professor is smart</a:t>
            </a:r>
          </a:p>
          <a:p>
            <a:pPr lvl="1"/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Politicians </a:t>
            </a:r>
            <a:r>
              <a:rPr lang="en-US" alt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can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 fool some of the people all the time, and they can fool all the people some of the time, but they cant fool all the people all the time</a:t>
            </a:r>
          </a:p>
          <a:p>
            <a:pPr lvl="1"/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908830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063552" y="908720"/>
                <a:ext cx="7772400" cy="5483696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𝑆𝑡𝑢𝑑𝑒𝑛𝑡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𝑠𝑡𝑢𝑑𝑒𝑛𝑡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𝑇𝑎𝑘𝑒𝑠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𝑠𝑢𝑏𝑗𝑒𝑐𝑡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𝑡𝑎𝑘𝑒𝑛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𝑏𝑦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endParaRPr lang="en-IN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I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  <m:d>
                      <m:dPr>
                        <m:begChr m:val="["/>
                        <m:endChr m:val="]"/>
                        <m:ctrlPr>
                          <a:rPr lang="en-I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∀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𝑆𝑡𝑢𝑑𝑒𝑛𝑡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𝑇𝑎𝑘𝑒𝑠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𝐻𝑖𝑠𝑡𝑜𝑟𝑦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∧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𝑇𝑎𝑘𝑒𝑠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𝐵𝑖𝑜𝑙𝑜𝑔𝑦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endParaRPr lang="en-IN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I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𝑆𝑡𝑢𝑑𝑒𝑛𝑡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)∧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¬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𝑇𝑎𝑘𝑒𝑠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h𝑖𝑠𝑡𝑜𝑟𝑦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)∨¬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𝑇𝑎𝑘𝑒𝑠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𝐵𝑖𝑜𝑙𝑜𝑔𝑦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endParaRPr lang="en-IN" dirty="0"/>
              </a:p>
              <a:p>
                <a:endParaRPr lang="en-US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𝑡𝑢𝑑𝑒𝑛𝑡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)∧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𝑇𝑎𝑘𝑒𝑠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h𝑖𝑠𝑡𝑜𝑟𝑦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)∧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𝑇𝑎𝑘𝑒𝑠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𝐵𝑖𝑜𝑙𝑜𝑔𝑦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063552" y="908720"/>
                <a:ext cx="7772400" cy="5483696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Left-Right Arrow 5"/>
          <p:cNvSpPr/>
          <p:nvPr/>
        </p:nvSpPr>
        <p:spPr>
          <a:xfrm rot="5400000">
            <a:off x="4398268" y="3398540"/>
            <a:ext cx="504056" cy="276944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7D95858-C5E0-44F2-8E8D-DEFCB9838C50}"/>
              </a:ext>
            </a:extLst>
          </p:cNvPr>
          <p:cNvSpPr/>
          <p:nvPr/>
        </p:nvSpPr>
        <p:spPr>
          <a:xfrm>
            <a:off x="1775520" y="170277"/>
            <a:ext cx="7916416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alt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Not all students take both History and Biology</a:t>
            </a:r>
          </a:p>
        </p:txBody>
      </p:sp>
    </p:spTree>
    <p:extLst>
      <p:ext uri="{BB962C8B-B14F-4D97-AF65-F5344CB8AC3E}">
        <p14:creationId xmlns:p14="http://schemas.microsoft.com/office/powerpoint/2010/main" val="1588488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15480" y="908720"/>
            <a:ext cx="7772400" cy="1143000"/>
          </a:xfrm>
        </p:spPr>
        <p:txBody>
          <a:bodyPr/>
          <a:lstStyle/>
          <a:p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Only one student failed History</a:t>
            </a:r>
            <a:b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775520" y="2492896"/>
                <a:ext cx="7596000" cy="4114800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𝐹𝑎𝑖𝑙𝑒𝑑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𝑆𝑡𝑢𝑑𝑒𝑛𝑡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𝑓𝑎𝑖𝑙𝑒𝑑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𝑠𝑢𝑏𝑗𝑒𝑐𝑡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</m:oMath>
                </a14:m>
                <a:endParaRPr lang="en-US" sz="2400" b="0" dirty="0"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I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𝑆𝑡𝑢𝑑𝑒𝑛𝑡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∧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𝐹𝑎𝑖𝑙𝑒𝑑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𝑖𝑠𝑡𝑜𝑟𝑦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∧∀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¬</m:t>
                                </m:r>
                                <m:d>
                                  <m:d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d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𝑆𝑡𝑢𝑑𝑒𝑛𝑡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⇒          ¬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𝐹𝑎𝑖𝑙𝑒𝑑</m:t>
                            </m:r>
                            <m:d>
                              <m:d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h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𝑖𝑠𝑡𝑜𝑟𝑦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d>
                          </m:e>
                        </m:d>
                      </m:e>
                    </m:d>
                  </m:oMath>
                </a14:m>
                <a:endParaRPr lang="en-IN" sz="2400" dirty="0"/>
              </a:p>
              <a:p>
                <a:pPr marL="0" indent="0">
                  <a:buNone/>
                </a:pPr>
                <a:r>
                  <a:rPr lang="en-US" sz="2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Tom and Dick</a:t>
                </a:r>
              </a:p>
              <a:p>
                <a:pPr marL="0" indent="0">
                  <a:buNone/>
                </a:pPr>
                <a:r>
                  <a:rPr lang="en-US" altLang="en-US" sz="2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Only one student failed both History and Biology</a:t>
                </a:r>
              </a:p>
              <a:p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𝑆𝑡𝑢𝑑𝑒𝑛𝑡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∧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𝐹𝑎𝑖𝑙𝑒𝑑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𝑖𝑠𝑡𝑜𝑟𝑦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∧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𝐹𝑎𝑖𝑙𝑒𝑑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𝐵𝑖𝑜𝑙𝑜𝑔𝑦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∀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¬</m:t>
                                </m:r>
                                <m:d>
                                  <m:d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d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𝑆𝑡𝑢𝑑𝑒𝑛𝑡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⇒¬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𝐹𝑎𝑖𝑙𝑒𝑑</m:t>
                            </m:r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h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𝑖𝑠𝑡𝑜𝑟𝑦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d>
                            <m:r>
                              <a:rPr lang="en-US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∨¬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𝐹𝑎𝑖𝑙𝑒𝑑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𝑏𝑖𝑙𝑜𝑔𝑦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</m:d>
                  </m:oMath>
                </a14:m>
                <a:endParaRPr lang="en-US" sz="24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endParaRPr lang="en-US" sz="24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endParaRPr lang="en-IN" sz="24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75520" y="2492896"/>
                <a:ext cx="7596000" cy="4114800"/>
              </a:xfrm>
              <a:blipFill>
                <a:blip r:embed="rId2"/>
                <a:stretch>
                  <a:fillRect l="-120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Down Arrow 5"/>
          <p:cNvSpPr/>
          <p:nvPr/>
        </p:nvSpPr>
        <p:spPr>
          <a:xfrm>
            <a:off x="2207568" y="3789040"/>
            <a:ext cx="144016" cy="31127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610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6915" y="1207841"/>
            <a:ext cx="10668000" cy="1143000"/>
          </a:xfrm>
        </p:spPr>
        <p:txBody>
          <a:bodyPr/>
          <a:lstStyle/>
          <a:p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The best score in History is better than the best score in Biology</a:t>
            </a:r>
            <a:b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Function: score(subject, student)</a:t>
                </a:r>
              </a:p>
              <a:p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Greater(X, Y): X &gt; Y</a:t>
                </a:r>
              </a:p>
              <a:p>
                <a14:m>
                  <m:oMath xmlns:m="http://schemas.openxmlformats.org/officeDocument/2006/math">
                    <m:r>
                      <a:rPr lang="en-I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𝑆𝑡𝑢𝑑𝑒𝑛𝑡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∧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𝑇𝑎𝑘𝑒𝑠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𝐵𝑖𝑜𝑙𝑜𝑔𝑦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⇒∃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[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𝑆𝑡𝑢𝑑𝑒𝑛𝑡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∧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𝑇𝑎𝑘𝑒𝑠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𝐻𝑖𝑠𝑡𝑜𝑟𝑦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∧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𝐺𝑟𝑒𝑎𝑡𝑒𝑟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𝑠𝑐𝑜𝑟𝑒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𝐻𝑖𝑠𝑡𝑜𝑟𝑦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𝑠𝑐𝑜𝑟𝑒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𝑏𝑖𝑜𝑙𝑜𝑔𝑦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]</m:t>
                        </m:r>
                      </m:e>
                    </m:d>
                  </m:oMath>
                </a14:m>
                <a:endParaRPr lang="en-IN" dirty="0"/>
              </a:p>
              <a:p>
                <a:endParaRPr lang="en-US" dirty="0"/>
              </a:p>
              <a:p>
                <a:r>
                  <a:rPr lang="en-US" i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Best score in history &gt; All score in biology</a:t>
                </a:r>
                <a:endParaRPr lang="en-IN" i="1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69" t="-1481" r="-4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18083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15480" y="980728"/>
            <a:ext cx="7772400" cy="1143000"/>
          </a:xfrm>
        </p:spPr>
        <p:txBody>
          <a:bodyPr/>
          <a:lstStyle/>
          <a:p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No person likes a professor unless the professor is smart</a:t>
            </a:r>
            <a:b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Professor(x)                           Likes(</a:t>
                </a:r>
                <a:r>
                  <a:rPr lang="en-US" dirty="0" err="1">
                    <a:latin typeface="Cambria" panose="02040503050406030204" pitchFamily="18" charset="0"/>
                    <a:ea typeface="Cambria" panose="02040503050406030204" pitchFamily="18" charset="0"/>
                  </a:rPr>
                  <a:t>x,y</a:t>
                </a:r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)</a:t>
                </a:r>
              </a:p>
              <a:p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Smart(x)                                   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𝑙𝑖𝑘𝑒𝑠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endParaRPr lang="en-IN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endParaRPr lang="en-US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I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𝑃𝑟𝑜𝑓𝑒𝑠𝑠𝑜𝑟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)∧¬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𝑠𝑚𝑎𝑟𝑡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)⇒∀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¬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𝐿𝑖𝑘𝑒𝑠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endParaRPr lang="en-IN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69" t="-14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7628086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1703512" y="570857"/>
            <a:ext cx="7772400" cy="1143000"/>
          </a:xfrm>
        </p:spPr>
        <p:txBody>
          <a:bodyPr/>
          <a:lstStyle/>
          <a:p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Atomic sentences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99456" y="2564904"/>
            <a:ext cx="10668000" cy="37338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Atomic sentence =	</a:t>
            </a:r>
            <a:r>
              <a:rPr lang="en-US" altLang="en-US" sz="2400" i="1" dirty="0">
                <a:latin typeface="Cambria" panose="02040503050406030204" pitchFamily="18" charset="0"/>
                <a:ea typeface="Cambria" panose="02040503050406030204" pitchFamily="18" charset="0"/>
              </a:rPr>
              <a:t>predicate </a:t>
            </a: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en-US" altLang="en-US" sz="2400" i="1" dirty="0">
                <a:latin typeface="Cambria" panose="02040503050406030204" pitchFamily="18" charset="0"/>
                <a:ea typeface="Cambria" panose="02040503050406030204" pitchFamily="18" charset="0"/>
              </a:rPr>
              <a:t>term</a:t>
            </a:r>
            <a:r>
              <a:rPr lang="en-US" altLang="en-US" sz="2400" i="1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1</a:t>
            </a: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,...,</a:t>
            </a:r>
            <a:r>
              <a:rPr lang="en-US" altLang="en-US" sz="2400" i="1" dirty="0" err="1">
                <a:latin typeface="Cambria" panose="02040503050406030204" pitchFamily="18" charset="0"/>
                <a:ea typeface="Cambria" panose="02040503050406030204" pitchFamily="18" charset="0"/>
              </a:rPr>
              <a:t>term</a:t>
            </a:r>
            <a:r>
              <a:rPr lang="en-US" altLang="en-US" sz="2400" i="1" baseline="-25000" dirty="0" err="1">
                <a:latin typeface="Cambria" panose="02040503050406030204" pitchFamily="18" charset="0"/>
                <a:ea typeface="Cambria" panose="02040503050406030204" pitchFamily="18" charset="0"/>
              </a:rPr>
              <a:t>n</a:t>
            </a: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) 					or </a:t>
            </a:r>
            <a:r>
              <a:rPr lang="en-US" altLang="en-US" sz="2400" i="1" dirty="0">
                <a:latin typeface="Cambria" panose="02040503050406030204" pitchFamily="18" charset="0"/>
                <a:ea typeface="Cambria" panose="02040503050406030204" pitchFamily="18" charset="0"/>
              </a:rPr>
              <a:t>term</a:t>
            </a:r>
            <a:r>
              <a:rPr lang="en-US" altLang="en-US" sz="2400" i="1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1</a:t>
            </a:r>
            <a:r>
              <a:rPr lang="en-US" altLang="en-US" sz="2400" i="1" dirty="0">
                <a:latin typeface="Cambria" panose="02040503050406030204" pitchFamily="18" charset="0"/>
                <a:ea typeface="Cambria" panose="02040503050406030204" pitchFamily="18" charset="0"/>
              </a:rPr>
              <a:t> = term</a:t>
            </a:r>
            <a:r>
              <a:rPr lang="en-US" altLang="en-US" sz="2400" i="1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2</a:t>
            </a:r>
          </a:p>
          <a:p>
            <a:pPr>
              <a:buFontTx/>
              <a:buNone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Tx/>
              <a:buNone/>
            </a:pP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Term            	=	</a:t>
            </a:r>
            <a:r>
              <a:rPr lang="en-US" altLang="en-US" sz="2400" i="1" dirty="0">
                <a:latin typeface="Cambria" panose="02040503050406030204" pitchFamily="18" charset="0"/>
                <a:ea typeface="Cambria" panose="02040503050406030204" pitchFamily="18" charset="0"/>
              </a:rPr>
              <a:t>function </a:t>
            </a: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en-US" altLang="en-US" sz="2400" i="1" dirty="0">
                <a:latin typeface="Cambria" panose="02040503050406030204" pitchFamily="18" charset="0"/>
                <a:ea typeface="Cambria" panose="02040503050406030204" pitchFamily="18" charset="0"/>
              </a:rPr>
              <a:t>term</a:t>
            </a:r>
            <a:r>
              <a:rPr lang="en-US" altLang="en-US" sz="2400" i="1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1</a:t>
            </a: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,...,</a:t>
            </a:r>
            <a:r>
              <a:rPr lang="en-US" altLang="en-US" sz="2400" i="1" dirty="0" err="1">
                <a:latin typeface="Cambria" panose="02040503050406030204" pitchFamily="18" charset="0"/>
                <a:ea typeface="Cambria" panose="02040503050406030204" pitchFamily="18" charset="0"/>
              </a:rPr>
              <a:t>term</a:t>
            </a:r>
            <a:r>
              <a:rPr lang="en-US" altLang="en-US" sz="2400" i="1" baseline="-25000" dirty="0" err="1">
                <a:latin typeface="Cambria" panose="02040503050406030204" pitchFamily="18" charset="0"/>
                <a:ea typeface="Cambria" panose="02040503050406030204" pitchFamily="18" charset="0"/>
              </a:rPr>
              <a:t>n</a:t>
            </a: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) 					or </a:t>
            </a:r>
            <a:r>
              <a:rPr lang="en-US" altLang="en-US" sz="2400" i="1" dirty="0">
                <a:latin typeface="Cambria" panose="02040503050406030204" pitchFamily="18" charset="0"/>
                <a:ea typeface="Cambria" panose="02040503050406030204" pitchFamily="18" charset="0"/>
              </a:rPr>
              <a:t>constant</a:t>
            </a: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or </a:t>
            </a:r>
            <a:r>
              <a:rPr lang="en-US" altLang="en-US" sz="2400" i="1" dirty="0">
                <a:latin typeface="Cambria" panose="02040503050406030204" pitchFamily="18" charset="0"/>
                <a:ea typeface="Cambria" panose="02040503050406030204" pitchFamily="18" charset="0"/>
              </a:rPr>
              <a:t>variable</a:t>
            </a: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E.g., </a:t>
            </a:r>
            <a:r>
              <a:rPr lang="en-US" altLang="en-US" sz="2400" i="1" dirty="0">
                <a:latin typeface="Cambria" panose="02040503050406030204" pitchFamily="18" charset="0"/>
                <a:ea typeface="Cambria" panose="02040503050406030204" pitchFamily="18" charset="0"/>
              </a:rPr>
              <a:t>Brother(</a:t>
            </a:r>
            <a:r>
              <a:rPr lang="en-US" altLang="en-US" sz="2400" i="1" dirty="0" err="1">
                <a:latin typeface="Cambria" panose="02040503050406030204" pitchFamily="18" charset="0"/>
                <a:ea typeface="Cambria" panose="02040503050406030204" pitchFamily="18" charset="0"/>
              </a:rPr>
              <a:t>KingJohn</a:t>
            </a:r>
            <a:r>
              <a:rPr lang="en-US" altLang="en-US" sz="2400" i="1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altLang="en-US" sz="2400" i="1" dirty="0" err="1">
                <a:latin typeface="Cambria" panose="02040503050406030204" pitchFamily="18" charset="0"/>
                <a:ea typeface="Cambria" panose="02040503050406030204" pitchFamily="18" charset="0"/>
              </a:rPr>
              <a:t>RichardTheLionheart</a:t>
            </a:r>
            <a:r>
              <a:rPr lang="en-US" altLang="en-US" sz="2400" i="1" dirty="0">
                <a:latin typeface="Cambria" panose="02040503050406030204" pitchFamily="18" charset="0"/>
                <a:ea typeface="Cambria" panose="02040503050406030204" pitchFamily="18" charset="0"/>
              </a:rPr>
              <a:t>) &gt; (Length(</a:t>
            </a:r>
            <a:r>
              <a:rPr lang="en-US" altLang="en-US" sz="2400" i="1" dirty="0" err="1">
                <a:latin typeface="Cambria" panose="02040503050406030204" pitchFamily="18" charset="0"/>
                <a:ea typeface="Cambria" panose="02040503050406030204" pitchFamily="18" charset="0"/>
              </a:rPr>
              <a:t>LeftLegOf</a:t>
            </a:r>
            <a:r>
              <a:rPr lang="en-US" altLang="en-US" sz="2400" i="1" dirty="0">
                <a:latin typeface="Cambria" panose="02040503050406030204" pitchFamily="18" charset="0"/>
                <a:ea typeface="Cambria" panose="02040503050406030204" pitchFamily="18" charset="0"/>
              </a:rPr>
              <a:t>(Richard)), Length(</a:t>
            </a:r>
            <a:r>
              <a:rPr lang="en-US" altLang="en-US" sz="2400" i="1" dirty="0" err="1">
                <a:latin typeface="Cambria" panose="02040503050406030204" pitchFamily="18" charset="0"/>
                <a:ea typeface="Cambria" panose="02040503050406030204" pitchFamily="18" charset="0"/>
              </a:rPr>
              <a:t>LeftLegOf</a:t>
            </a:r>
            <a:r>
              <a:rPr lang="en-US" altLang="en-US" sz="2400" i="1" dirty="0"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en-US" altLang="en-US" sz="2400" i="1" dirty="0" err="1">
                <a:latin typeface="Cambria" panose="02040503050406030204" pitchFamily="18" charset="0"/>
                <a:ea typeface="Cambria" panose="02040503050406030204" pitchFamily="18" charset="0"/>
              </a:rPr>
              <a:t>KingJohn</a:t>
            </a:r>
            <a:r>
              <a:rPr lang="en-US" altLang="en-US" sz="2400" i="1" dirty="0">
                <a:latin typeface="Cambria" panose="02040503050406030204" pitchFamily="18" charset="0"/>
                <a:ea typeface="Cambria" panose="02040503050406030204" pitchFamily="18" charset="0"/>
              </a:rPr>
              <a:t>)))</a:t>
            </a:r>
          </a:p>
        </p:txBody>
      </p:sp>
    </p:spTree>
    <p:extLst>
      <p:ext uri="{BB962C8B-B14F-4D97-AF65-F5344CB8AC3E}">
        <p14:creationId xmlns:p14="http://schemas.microsoft.com/office/powerpoint/2010/main" val="314093731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2063552" y="260648"/>
            <a:ext cx="7772400" cy="1143000"/>
          </a:xfrm>
        </p:spPr>
        <p:txBody>
          <a:bodyPr/>
          <a:lstStyle/>
          <a:p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Complex sentences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Complex sentences are made from atomic sentences using connectives</a:t>
            </a:r>
          </a:p>
          <a:p>
            <a:pPr algn="ctr">
              <a:buFontTx/>
              <a:buNone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  <a:sym typeface="Symbol" panose="05050102010706020507" pitchFamily="18" charset="2"/>
              </a:rPr>
              <a:t></a:t>
            </a:r>
            <a:r>
              <a:rPr lang="en-US" altLang="en-US" i="1" dirty="0">
                <a:latin typeface="Cambria" panose="02040503050406030204" pitchFamily="18" charset="0"/>
                <a:ea typeface="Cambria" panose="02040503050406030204" pitchFamily="18" charset="0"/>
              </a:rPr>
              <a:t>S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altLang="en-US" i="1" dirty="0">
                <a:latin typeface="Cambria" panose="02040503050406030204" pitchFamily="18" charset="0"/>
                <a:ea typeface="Cambria" panose="02040503050406030204" pitchFamily="18" charset="0"/>
              </a:rPr>
              <a:t>S</a:t>
            </a:r>
            <a:r>
              <a:rPr lang="en-US" altLang="en-US" i="1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1</a:t>
            </a:r>
            <a:r>
              <a:rPr lang="en-US" altLang="en-US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  <a:sym typeface="Symbol" panose="05050102010706020507" pitchFamily="18" charset="2"/>
              </a:rPr>
              <a:t> </a:t>
            </a:r>
            <a:r>
              <a:rPr lang="en-US" altLang="en-US" i="1" dirty="0">
                <a:latin typeface="Cambria" panose="02040503050406030204" pitchFamily="18" charset="0"/>
                <a:ea typeface="Cambria" panose="02040503050406030204" pitchFamily="18" charset="0"/>
              </a:rPr>
              <a:t>S</a:t>
            </a:r>
            <a:r>
              <a:rPr lang="en-US" altLang="en-US" i="1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2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altLang="en-US" i="1" dirty="0">
                <a:latin typeface="Cambria" panose="02040503050406030204" pitchFamily="18" charset="0"/>
                <a:ea typeface="Cambria" panose="02040503050406030204" pitchFamily="18" charset="0"/>
              </a:rPr>
              <a:t>S</a:t>
            </a:r>
            <a:r>
              <a:rPr lang="en-US" altLang="en-US" i="1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1 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  <a:sym typeface="Symbol" panose="05050102010706020507" pitchFamily="18" charset="2"/>
              </a:rPr>
              <a:t> </a:t>
            </a:r>
            <a:r>
              <a:rPr lang="en-US" altLang="en-US" i="1" dirty="0">
                <a:latin typeface="Cambria" panose="02040503050406030204" pitchFamily="18" charset="0"/>
                <a:ea typeface="Cambria" panose="02040503050406030204" pitchFamily="18" charset="0"/>
              </a:rPr>
              <a:t>S</a:t>
            </a:r>
            <a:r>
              <a:rPr lang="en-US" altLang="en-US" i="1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2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altLang="en-US" i="1" dirty="0">
                <a:latin typeface="Cambria" panose="02040503050406030204" pitchFamily="18" charset="0"/>
                <a:ea typeface="Cambria" panose="02040503050406030204" pitchFamily="18" charset="0"/>
              </a:rPr>
              <a:t>S</a:t>
            </a:r>
            <a:r>
              <a:rPr lang="en-US" altLang="en-US" i="1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1</a:t>
            </a:r>
            <a:r>
              <a:rPr lang="en-US" altLang="en-US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  <a:sym typeface="Symbol" panose="05050102010706020507" pitchFamily="18" charset="2"/>
              </a:rPr>
              <a:t> </a:t>
            </a:r>
            <a:r>
              <a:rPr lang="en-US" altLang="en-US" i="1" dirty="0">
                <a:latin typeface="Cambria" panose="02040503050406030204" pitchFamily="18" charset="0"/>
                <a:ea typeface="Cambria" panose="02040503050406030204" pitchFamily="18" charset="0"/>
              </a:rPr>
              <a:t>S</a:t>
            </a:r>
            <a:r>
              <a:rPr lang="en-US" altLang="en-US" i="1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2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altLang="en-US" i="1" dirty="0">
                <a:latin typeface="Cambria" panose="02040503050406030204" pitchFamily="18" charset="0"/>
                <a:ea typeface="Cambria" panose="02040503050406030204" pitchFamily="18" charset="0"/>
              </a:rPr>
              <a:t>S</a:t>
            </a:r>
            <a:r>
              <a:rPr lang="en-US" altLang="en-US" i="1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1</a:t>
            </a:r>
            <a:r>
              <a:rPr lang="en-US" altLang="en-US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  <a:sym typeface="Symbol" panose="05050102010706020507" pitchFamily="18" charset="2"/>
              </a:rPr>
              <a:t></a:t>
            </a:r>
            <a:r>
              <a:rPr lang="en-US" altLang="en-US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altLang="en-US" i="1" dirty="0">
                <a:latin typeface="Cambria" panose="02040503050406030204" pitchFamily="18" charset="0"/>
                <a:ea typeface="Cambria" panose="02040503050406030204" pitchFamily="18" charset="0"/>
              </a:rPr>
              <a:t>S</a:t>
            </a:r>
            <a:r>
              <a:rPr lang="en-US" altLang="en-US" i="1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2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,</a:t>
            </a:r>
          </a:p>
          <a:p>
            <a:pPr lvl="4">
              <a:buFontTx/>
              <a:buNone/>
            </a:pPr>
            <a:endParaRPr lang="en-US" alt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Tx/>
              <a:buNone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E.g. </a:t>
            </a:r>
            <a:r>
              <a:rPr lang="en-US" altLang="en-US" i="1" dirty="0">
                <a:latin typeface="Cambria" panose="02040503050406030204" pitchFamily="18" charset="0"/>
                <a:ea typeface="Cambria" panose="02040503050406030204" pitchFamily="18" charset="0"/>
              </a:rPr>
              <a:t>Sibling(</a:t>
            </a:r>
            <a:r>
              <a:rPr lang="en-US" alt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KingJohn,Richard</a:t>
            </a:r>
            <a:r>
              <a:rPr lang="en-US" altLang="en-US" i="1" dirty="0">
                <a:latin typeface="Cambria" panose="02040503050406030204" pitchFamily="18" charset="0"/>
                <a:ea typeface="Cambria" panose="02040503050406030204" pitchFamily="18" charset="0"/>
              </a:rPr>
              <a:t>) 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  <a:sym typeface="Symbol" panose="05050102010706020507" pitchFamily="18" charset="2"/>
              </a:rPr>
              <a:t></a:t>
            </a:r>
            <a:r>
              <a:rPr lang="en-US" altLang="en-US" i="1" dirty="0">
                <a:latin typeface="Cambria" panose="02040503050406030204" pitchFamily="18" charset="0"/>
                <a:ea typeface="Cambria" panose="02040503050406030204" pitchFamily="18" charset="0"/>
              </a:rPr>
              <a:t> Sibling(</a:t>
            </a:r>
            <a:r>
              <a:rPr lang="en-US" alt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Richard,KingJohn</a:t>
            </a:r>
            <a:r>
              <a:rPr lang="en-US" altLang="en-US" i="1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pPr>
              <a:buFontTx/>
              <a:buNone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     &gt;(1,2) 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  <a:sym typeface="Symbol" panose="05050102010706020507" pitchFamily="18" charset="2"/>
              </a:rPr>
              <a:t> 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  <a:sym typeface="Symbol" panose="05050102010706020507" pitchFamily="18" charset="2"/>
              </a:rPr>
              <a:t>≤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 (1,2)</a:t>
            </a:r>
          </a:p>
          <a:p>
            <a:pPr>
              <a:buFontTx/>
              <a:buNone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     &gt;(1,2) 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  <a:sym typeface="Symbol" panose="05050102010706020507" pitchFamily="18" charset="2"/>
              </a:rPr>
              <a:t>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  <a:sym typeface="Symbol" panose="05050102010706020507" pitchFamily="18" charset="2"/>
              </a:rPr>
              <a:t>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 &gt;(1,2) </a:t>
            </a:r>
          </a:p>
        </p:txBody>
      </p:sp>
    </p:spTree>
    <p:extLst>
      <p:ext uri="{BB962C8B-B14F-4D97-AF65-F5344CB8AC3E}">
        <p14:creationId xmlns:p14="http://schemas.microsoft.com/office/powerpoint/2010/main" val="192771849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1847528" y="0"/>
            <a:ext cx="7772400" cy="1143000"/>
          </a:xfrm>
        </p:spPr>
        <p:txBody>
          <a:bodyPr/>
          <a:lstStyle/>
          <a:p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Truth in first-order logic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91544" y="1556792"/>
            <a:ext cx="8568952" cy="41148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Sentences are true with respect to a </a:t>
            </a:r>
            <a:r>
              <a:rPr lang="en-US" altLang="en-US" sz="2400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model</a:t>
            </a: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and an </a:t>
            </a:r>
            <a:r>
              <a:rPr lang="en-US" altLang="en-US" sz="2400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interpretation</a:t>
            </a:r>
          </a:p>
          <a:p>
            <a:pPr>
              <a:lnSpc>
                <a:spcPct val="80000"/>
              </a:lnSpc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80000"/>
              </a:lnSpc>
            </a:pP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Model contains objects (</a:t>
            </a:r>
            <a:r>
              <a:rPr lang="en-US" altLang="en-US" sz="2400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domain</a:t>
            </a: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altLang="en-US" sz="2400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elements</a:t>
            </a: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) and relations among them</a:t>
            </a:r>
          </a:p>
          <a:p>
            <a:pPr>
              <a:lnSpc>
                <a:spcPct val="80000"/>
              </a:lnSpc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80000"/>
              </a:lnSpc>
            </a:pP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Interpretation specifies referents for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sz="20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constant</a:t>
            </a:r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altLang="en-US" sz="20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symbols</a:t>
            </a:r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	</a:t>
            </a:r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→</a:t>
            </a:r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	</a:t>
            </a:r>
            <a:r>
              <a:rPr lang="en-US" altLang="en-US" sz="2000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objects</a:t>
            </a:r>
            <a:endParaRPr lang="en-US" alt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sz="20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predicate</a:t>
            </a:r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altLang="en-US" sz="20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symbols</a:t>
            </a:r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	</a:t>
            </a:r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→</a:t>
            </a:r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	</a:t>
            </a:r>
            <a:r>
              <a:rPr lang="en-US" altLang="en-US" sz="2000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relations</a:t>
            </a:r>
            <a:endParaRPr lang="en-US" alt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sz="20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function</a:t>
            </a:r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altLang="en-US" sz="20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symbols</a:t>
            </a:r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	</a:t>
            </a:r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→	</a:t>
            </a:r>
            <a:r>
              <a:rPr lang="en-US" altLang="en-US" sz="2000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functional relations</a:t>
            </a:r>
            <a:endParaRPr lang="en-US" alt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1">
              <a:lnSpc>
                <a:spcPct val="80000"/>
              </a:lnSpc>
              <a:buFontTx/>
              <a:buNone/>
            </a:pPr>
            <a:endParaRPr lang="en-US" alt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80000"/>
              </a:lnSpc>
            </a:pP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An atomic sentence </a:t>
            </a:r>
            <a:r>
              <a:rPr lang="en-US" altLang="en-US" sz="2400" i="1" dirty="0">
                <a:latin typeface="Cambria" panose="02040503050406030204" pitchFamily="18" charset="0"/>
                <a:ea typeface="Cambria" panose="02040503050406030204" pitchFamily="18" charset="0"/>
              </a:rPr>
              <a:t>predicate(term</a:t>
            </a:r>
            <a:r>
              <a:rPr lang="en-US" altLang="en-US" sz="2400" i="1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1</a:t>
            </a:r>
            <a:r>
              <a:rPr lang="en-US" altLang="en-US" sz="2400" i="1" dirty="0">
                <a:latin typeface="Cambria" panose="02040503050406030204" pitchFamily="18" charset="0"/>
                <a:ea typeface="Cambria" panose="02040503050406030204" pitchFamily="18" charset="0"/>
              </a:rPr>
              <a:t>,...,</a:t>
            </a:r>
            <a:r>
              <a:rPr lang="en-US" altLang="en-US" sz="2400" i="1" dirty="0" err="1">
                <a:latin typeface="Cambria" panose="02040503050406030204" pitchFamily="18" charset="0"/>
                <a:ea typeface="Cambria" panose="02040503050406030204" pitchFamily="18" charset="0"/>
              </a:rPr>
              <a:t>term</a:t>
            </a:r>
            <a:r>
              <a:rPr lang="en-US" altLang="en-US" sz="2400" i="1" baseline="-25000" dirty="0" err="1">
                <a:latin typeface="Cambria" panose="02040503050406030204" pitchFamily="18" charset="0"/>
                <a:ea typeface="Cambria" panose="02040503050406030204" pitchFamily="18" charset="0"/>
              </a:rPr>
              <a:t>n</a:t>
            </a:r>
            <a:r>
              <a:rPr lang="en-US" altLang="en-US" sz="2400" i="1" dirty="0">
                <a:latin typeface="Cambria" panose="02040503050406030204" pitchFamily="18" charset="0"/>
                <a:ea typeface="Cambria" panose="02040503050406030204" pitchFamily="18" charset="0"/>
              </a:rPr>
              <a:t>) </a:t>
            </a: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is true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	</a:t>
            </a:r>
            <a:r>
              <a:rPr lang="en-US" alt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iff</a:t>
            </a: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the </a:t>
            </a:r>
            <a:r>
              <a:rPr lang="en-US" altLang="en-US" sz="2400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objects </a:t>
            </a: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referred to by </a:t>
            </a:r>
            <a:r>
              <a:rPr lang="en-US" altLang="en-US" sz="2400" i="1" dirty="0">
                <a:latin typeface="Cambria" panose="02040503050406030204" pitchFamily="18" charset="0"/>
                <a:ea typeface="Cambria" panose="02040503050406030204" pitchFamily="18" charset="0"/>
              </a:rPr>
              <a:t>term</a:t>
            </a:r>
            <a:r>
              <a:rPr lang="en-US" altLang="en-US" sz="2400" i="1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1</a:t>
            </a:r>
            <a:r>
              <a:rPr lang="en-US" altLang="en-US" sz="2400" i="1" dirty="0">
                <a:latin typeface="Cambria" panose="02040503050406030204" pitchFamily="18" charset="0"/>
                <a:ea typeface="Cambria" panose="02040503050406030204" pitchFamily="18" charset="0"/>
              </a:rPr>
              <a:t>,...,</a:t>
            </a:r>
            <a:r>
              <a:rPr lang="en-US" altLang="en-US" sz="2400" i="1" dirty="0" err="1">
                <a:latin typeface="Cambria" panose="02040503050406030204" pitchFamily="18" charset="0"/>
                <a:ea typeface="Cambria" panose="02040503050406030204" pitchFamily="18" charset="0"/>
              </a:rPr>
              <a:t>term</a:t>
            </a:r>
            <a:r>
              <a:rPr lang="en-US" altLang="en-US" sz="2400" i="1" baseline="-25000" dirty="0" err="1">
                <a:latin typeface="Cambria" panose="02040503050406030204" pitchFamily="18" charset="0"/>
                <a:ea typeface="Cambria" panose="02040503050406030204" pitchFamily="18" charset="0"/>
              </a:rPr>
              <a:t>n</a:t>
            </a:r>
            <a:endParaRPr lang="en-US" altLang="en-US" sz="2400" i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	are in the </a:t>
            </a:r>
            <a:r>
              <a:rPr lang="en-US" altLang="en-US" sz="2400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relation</a:t>
            </a: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referred to by </a:t>
            </a:r>
            <a:r>
              <a:rPr lang="en-US" altLang="en-US" sz="2400" i="1" dirty="0">
                <a:latin typeface="Cambria" panose="02040503050406030204" pitchFamily="18" charset="0"/>
                <a:ea typeface="Cambria" panose="02040503050406030204" pitchFamily="18" charset="0"/>
              </a:rPr>
              <a:t>predicate</a:t>
            </a: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442468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1991544" y="0"/>
            <a:ext cx="7772400" cy="1143000"/>
          </a:xfrm>
        </p:spPr>
        <p:txBody>
          <a:bodyPr/>
          <a:lstStyle/>
          <a:p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Models for FOL: Example</a:t>
            </a:r>
          </a:p>
        </p:txBody>
      </p:sp>
      <p:pic>
        <p:nvPicPr>
          <p:cNvPr id="11268" name="Picture 4" descr="fol-mode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1447800"/>
            <a:ext cx="6705600" cy="4960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25655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2063552" y="260648"/>
            <a:ext cx="7772400" cy="1143000"/>
          </a:xfrm>
        </p:spPr>
        <p:txBody>
          <a:bodyPr/>
          <a:lstStyle/>
          <a:p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Universal quantification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11524" y="1556792"/>
            <a:ext cx="8568952" cy="41148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  <a:sym typeface="Symbol" panose="05050102010706020507" pitchFamily="18" charset="2"/>
              </a:rPr>
              <a:t>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&lt;</a:t>
            </a:r>
            <a:r>
              <a:rPr lang="en-US" altLang="en-US" i="1" dirty="0">
                <a:latin typeface="Cambria" panose="02040503050406030204" pitchFamily="18" charset="0"/>
                <a:ea typeface="Cambria" panose="02040503050406030204" pitchFamily="18" charset="0"/>
              </a:rPr>
              <a:t>variables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&gt; &lt;</a:t>
            </a:r>
            <a:r>
              <a:rPr lang="en-US" altLang="en-US" i="1" dirty="0">
                <a:latin typeface="Cambria" panose="02040503050406030204" pitchFamily="18" charset="0"/>
                <a:ea typeface="Cambria" panose="02040503050406030204" pitchFamily="18" charset="0"/>
              </a:rPr>
              <a:t>sentence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&gt;</a:t>
            </a:r>
          </a:p>
          <a:p>
            <a:pPr lvl="4">
              <a:lnSpc>
                <a:spcPct val="80000"/>
              </a:lnSpc>
            </a:pP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Everyone at CU is smart: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  <a:sym typeface="Symbol" panose="05050102010706020507" pitchFamily="18" charset="2"/>
              </a:rPr>
              <a:t>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x At(</a:t>
            </a:r>
            <a:r>
              <a:rPr lang="en-US" alt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x,CU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) 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  <a:sym typeface="Symbol" panose="05050102010706020507" pitchFamily="18" charset="2"/>
              </a:rPr>
              <a:t> 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Smart(x)</a:t>
            </a:r>
          </a:p>
          <a:p>
            <a:pPr lvl="4">
              <a:lnSpc>
                <a:spcPct val="80000"/>
              </a:lnSpc>
            </a:pP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  <a:sym typeface="Symbol" panose="05050102010706020507" pitchFamily="18" charset="2"/>
            </a:endParaRPr>
          </a:p>
          <a:p>
            <a:pPr>
              <a:lnSpc>
                <a:spcPct val="80000"/>
              </a:lnSpc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  <a:sym typeface="Symbol" panose="05050102010706020507" pitchFamily="18" charset="2"/>
              </a:rPr>
              <a:t>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x </a:t>
            </a:r>
            <a:r>
              <a:rPr lang="en-US" altLang="en-US" i="1" dirty="0">
                <a:latin typeface="Cambria" panose="02040503050406030204" pitchFamily="18" charset="0"/>
                <a:ea typeface="Cambria" panose="02040503050406030204" pitchFamily="18" charset="0"/>
              </a:rPr>
              <a:t>P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 is true in a model </a:t>
            </a:r>
            <a:r>
              <a:rPr lang="en-US" altLang="en-US" i="1" dirty="0">
                <a:latin typeface="Cambria" panose="02040503050406030204" pitchFamily="18" charset="0"/>
                <a:ea typeface="Cambria" panose="02040503050406030204" pitchFamily="18" charset="0"/>
              </a:rPr>
              <a:t>m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alt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iff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altLang="en-US" i="1" dirty="0">
                <a:latin typeface="Cambria" panose="02040503050406030204" pitchFamily="18" charset="0"/>
                <a:ea typeface="Cambria" panose="02040503050406030204" pitchFamily="18" charset="0"/>
              </a:rPr>
              <a:t>P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 is true with </a:t>
            </a:r>
            <a:r>
              <a:rPr lang="en-US" altLang="en-US" i="1" dirty="0">
                <a:latin typeface="Cambria" panose="02040503050406030204" pitchFamily="18" charset="0"/>
                <a:ea typeface="Cambria" panose="02040503050406030204" pitchFamily="18" charset="0"/>
              </a:rPr>
              <a:t>x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 being each possible object in the model</a:t>
            </a:r>
          </a:p>
          <a:p>
            <a:pPr lvl="4">
              <a:lnSpc>
                <a:spcPct val="80000"/>
              </a:lnSpc>
            </a:pP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80000"/>
              </a:lnSpc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Roughly speaking, equivalent to the </a:t>
            </a:r>
            <a:r>
              <a:rPr lang="en-US" altLang="en-US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conjunction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 of </a:t>
            </a:r>
            <a:r>
              <a:rPr lang="en-US" altLang="en-US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instantiations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 of </a:t>
            </a:r>
            <a:r>
              <a:rPr lang="en-US" altLang="en-US" i="1" dirty="0">
                <a:latin typeface="Cambria" panose="02040503050406030204" pitchFamily="18" charset="0"/>
                <a:ea typeface="Cambria" panose="02040503050406030204" pitchFamily="18" charset="0"/>
              </a:rPr>
              <a:t>P</a:t>
            </a: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2">
              <a:lnSpc>
                <a:spcPct val="80000"/>
              </a:lnSpc>
              <a:buFontTx/>
              <a:buNone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		At(</a:t>
            </a:r>
            <a:r>
              <a:rPr lang="en-US" alt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KingJohn,CU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) 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  <a:sym typeface="Symbol" panose="05050102010706020507" pitchFamily="18" charset="2"/>
              </a:rPr>
              <a:t> 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Smart(</a:t>
            </a:r>
            <a:r>
              <a:rPr lang="en-US" alt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KingJohn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) </a:t>
            </a:r>
          </a:p>
          <a:p>
            <a:pPr lvl="2">
              <a:lnSpc>
                <a:spcPct val="80000"/>
              </a:lnSpc>
              <a:buFontTx/>
              <a:buNone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  <a:sym typeface="Symbol" panose="05050102010706020507" pitchFamily="18" charset="2"/>
              </a:rPr>
              <a:t>	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	At(</a:t>
            </a:r>
            <a:r>
              <a:rPr lang="en-US" alt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Richard,CU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) 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  <a:sym typeface="Symbol" panose="05050102010706020507" pitchFamily="18" charset="2"/>
              </a:rPr>
              <a:t>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  Smart(Richard) </a:t>
            </a:r>
          </a:p>
          <a:p>
            <a:pPr lvl="2">
              <a:lnSpc>
                <a:spcPct val="80000"/>
              </a:lnSpc>
              <a:buFontTx/>
              <a:buNone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  <a:sym typeface="Symbol" panose="05050102010706020507" pitchFamily="18" charset="2"/>
              </a:rPr>
              <a:t>		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At(CU,CU) 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  <a:sym typeface="Symbol" panose="05050102010706020507" pitchFamily="18" charset="2"/>
              </a:rPr>
              <a:t>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 Smart(CU) </a:t>
            </a:r>
          </a:p>
          <a:p>
            <a:pPr lvl="2">
              <a:lnSpc>
                <a:spcPct val="80000"/>
              </a:lnSpc>
              <a:buFontTx/>
              <a:buNone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  <a:sym typeface="Symbol" panose="05050102010706020507" pitchFamily="18" charset="2"/>
              </a:rPr>
              <a:t>	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 ...</a:t>
            </a:r>
          </a:p>
        </p:txBody>
      </p:sp>
    </p:spTree>
    <p:extLst>
      <p:ext uri="{BB962C8B-B14F-4D97-AF65-F5344CB8AC3E}">
        <p14:creationId xmlns:p14="http://schemas.microsoft.com/office/powerpoint/2010/main" val="333052783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2063552" y="404664"/>
            <a:ext cx="7772400" cy="1143000"/>
          </a:xfrm>
        </p:spPr>
        <p:txBody>
          <a:bodyPr/>
          <a:lstStyle/>
          <a:p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A common mistake to avoid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27448" y="2852936"/>
            <a:ext cx="10668000" cy="3733800"/>
          </a:xfrm>
        </p:spPr>
        <p:txBody>
          <a:bodyPr/>
          <a:lstStyle/>
          <a:p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Typically, 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  <a:sym typeface="Symbol" panose="05050102010706020507" pitchFamily="18" charset="2"/>
              </a:rPr>
              <a:t>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 is the main connective with 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  <a:sym typeface="Symbol" panose="05050102010706020507" pitchFamily="18" charset="2"/>
              </a:rPr>
              <a:t></a:t>
            </a: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Common mistake: using 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  <a:sym typeface="Symbol" panose="05050102010706020507" pitchFamily="18" charset="2"/>
              </a:rPr>
              <a:t>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 as the main connective with 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  <a:sym typeface="Symbol" panose="05050102010706020507" pitchFamily="18" charset="2"/>
              </a:rPr>
              <a:t>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</a:p>
          <a:p>
            <a:pPr lvl="1">
              <a:buFontTx/>
              <a:buNone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  <a:sym typeface="Symbol" panose="05050102010706020507" pitchFamily="18" charset="2"/>
              </a:rPr>
              <a:t>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x At(</a:t>
            </a:r>
            <a:r>
              <a:rPr lang="en-US" alt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x,CU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) 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  <a:sym typeface="Symbol" panose="05050102010706020507" pitchFamily="18" charset="2"/>
              </a:rPr>
              <a:t> 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Smart(x)</a:t>
            </a:r>
          </a:p>
          <a:p>
            <a:pPr lvl="1">
              <a:buFontTx/>
              <a:buNone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means “Everyone is at CU and everyone is smart”</a:t>
            </a:r>
          </a:p>
        </p:txBody>
      </p:sp>
    </p:spTree>
    <p:extLst>
      <p:ext uri="{BB962C8B-B14F-4D97-AF65-F5344CB8AC3E}">
        <p14:creationId xmlns:p14="http://schemas.microsoft.com/office/powerpoint/2010/main" val="392701707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1991544" y="-171400"/>
            <a:ext cx="7772400" cy="1143000"/>
          </a:xfrm>
        </p:spPr>
        <p:txBody>
          <a:bodyPr/>
          <a:lstStyle/>
          <a:p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Existential quantification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19536" y="1052736"/>
            <a:ext cx="8748464" cy="41148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  <a:sym typeface="Symbol" panose="05050102010706020507" pitchFamily="18" charset="2"/>
              </a:rPr>
              <a:t>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&lt;</a:t>
            </a:r>
            <a:r>
              <a:rPr lang="en-US" altLang="en-US" i="1" dirty="0">
                <a:latin typeface="Cambria" panose="02040503050406030204" pitchFamily="18" charset="0"/>
                <a:ea typeface="Cambria" panose="02040503050406030204" pitchFamily="18" charset="0"/>
              </a:rPr>
              <a:t>variables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&gt; &lt;</a:t>
            </a:r>
            <a:r>
              <a:rPr lang="en-US" altLang="en-US" i="1" dirty="0">
                <a:latin typeface="Cambria" panose="02040503050406030204" pitchFamily="18" charset="0"/>
                <a:ea typeface="Cambria" panose="02040503050406030204" pitchFamily="18" charset="0"/>
              </a:rPr>
              <a:t>sentence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&gt;</a:t>
            </a:r>
          </a:p>
          <a:p>
            <a:pPr lvl="4">
              <a:lnSpc>
                <a:spcPct val="80000"/>
              </a:lnSpc>
            </a:pP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80000"/>
              </a:lnSpc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Someone at CU is smart:</a:t>
            </a:r>
          </a:p>
          <a:p>
            <a:pPr>
              <a:lnSpc>
                <a:spcPct val="80000"/>
              </a:lnSpc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  <a:sym typeface="Symbol" panose="05050102010706020507" pitchFamily="18" charset="2"/>
              </a:rPr>
              <a:t></a:t>
            </a:r>
            <a:r>
              <a:rPr lang="en-US" altLang="en-US" i="1" dirty="0">
                <a:latin typeface="Cambria" panose="02040503050406030204" pitchFamily="18" charset="0"/>
                <a:ea typeface="Cambria" panose="02040503050406030204" pitchFamily="18" charset="0"/>
              </a:rPr>
              <a:t>x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 At(</a:t>
            </a:r>
            <a:r>
              <a:rPr lang="en-US" alt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x,CU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) 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  <a:sym typeface="Symbol" panose="05050102010706020507" pitchFamily="18" charset="2"/>
              </a:rPr>
              <a:t>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 Smart(x)$</a:t>
            </a:r>
          </a:p>
          <a:p>
            <a:pPr lvl="4">
              <a:lnSpc>
                <a:spcPct val="80000"/>
              </a:lnSpc>
            </a:pP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  <a:sym typeface="Symbol" panose="05050102010706020507" pitchFamily="18" charset="2"/>
            </a:endParaRPr>
          </a:p>
          <a:p>
            <a:pPr>
              <a:lnSpc>
                <a:spcPct val="80000"/>
              </a:lnSpc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  <a:sym typeface="Symbol" panose="05050102010706020507" pitchFamily="18" charset="2"/>
              </a:rPr>
              <a:t></a:t>
            </a:r>
            <a:r>
              <a:rPr lang="en-US" altLang="en-US" i="1" dirty="0">
                <a:latin typeface="Cambria" panose="02040503050406030204" pitchFamily="18" charset="0"/>
                <a:ea typeface="Cambria" panose="02040503050406030204" pitchFamily="18" charset="0"/>
              </a:rPr>
              <a:t>x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altLang="en-US" i="1" dirty="0">
                <a:latin typeface="Cambria" panose="02040503050406030204" pitchFamily="18" charset="0"/>
                <a:ea typeface="Cambria" panose="02040503050406030204" pitchFamily="18" charset="0"/>
              </a:rPr>
              <a:t>P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 is true in a model </a:t>
            </a:r>
            <a:r>
              <a:rPr lang="en-US" altLang="en-US" i="1" dirty="0">
                <a:latin typeface="Cambria" panose="02040503050406030204" pitchFamily="18" charset="0"/>
                <a:ea typeface="Cambria" panose="02040503050406030204" pitchFamily="18" charset="0"/>
              </a:rPr>
              <a:t>m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alt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iff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altLang="en-US" i="1" dirty="0">
                <a:latin typeface="Cambria" panose="02040503050406030204" pitchFamily="18" charset="0"/>
                <a:ea typeface="Cambria" panose="02040503050406030204" pitchFamily="18" charset="0"/>
              </a:rPr>
              <a:t>P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 is true with </a:t>
            </a:r>
            <a:r>
              <a:rPr lang="en-US" altLang="en-US" i="1" dirty="0">
                <a:latin typeface="Cambria" panose="02040503050406030204" pitchFamily="18" charset="0"/>
                <a:ea typeface="Cambria" panose="02040503050406030204" pitchFamily="18" charset="0"/>
              </a:rPr>
              <a:t>x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 being some possible object in the model</a:t>
            </a:r>
          </a:p>
          <a:p>
            <a:pPr lvl="4">
              <a:lnSpc>
                <a:spcPct val="80000"/>
              </a:lnSpc>
            </a:pP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80000"/>
              </a:lnSpc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Roughly speaking, equivalent to the </a:t>
            </a:r>
            <a:r>
              <a:rPr lang="en-US" altLang="en-US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disjunction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 of </a:t>
            </a:r>
            <a:r>
              <a:rPr lang="en-US" altLang="en-US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instantiations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 of </a:t>
            </a:r>
            <a:r>
              <a:rPr lang="en-US" altLang="en-US" i="1" dirty="0">
                <a:latin typeface="Cambria" panose="02040503050406030204" pitchFamily="18" charset="0"/>
                <a:ea typeface="Cambria" panose="02040503050406030204" pitchFamily="18" charset="0"/>
              </a:rPr>
              <a:t>P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
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	At(</a:t>
            </a:r>
            <a:r>
              <a:rPr lang="en-US" alt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KingJohn,CU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) 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  <a:sym typeface="Symbol" panose="05050102010706020507" pitchFamily="18" charset="2"/>
              </a:rPr>
              <a:t>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 Smart(</a:t>
            </a:r>
            <a:r>
              <a:rPr lang="en-US" alt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KingJohn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) 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  <a:sym typeface="Symbol" panose="05050102010706020507" pitchFamily="18" charset="2"/>
              </a:rPr>
              <a:t>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	At(</a:t>
            </a:r>
            <a:r>
              <a:rPr lang="en-US" alt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Richard,CU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) 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  <a:sym typeface="Symbol" panose="05050102010706020507" pitchFamily="18" charset="2"/>
              </a:rPr>
              <a:t> 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Smart(Richard) 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  <a:sym typeface="Symbol" panose="05050102010706020507" pitchFamily="18" charset="2"/>
              </a:rPr>
              <a:t>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	At(CU,CU) 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  <a:sym typeface="Symbol" panose="05050102010706020507" pitchFamily="18" charset="2"/>
              </a:rPr>
              <a:t>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 Smart(CU) 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  <a:sym typeface="Symbol" panose="05050102010706020507" pitchFamily="18" charset="2"/>
              </a:rPr>
              <a:t>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 ...
</a:t>
            </a:r>
          </a:p>
        </p:txBody>
      </p:sp>
    </p:spTree>
    <p:extLst>
      <p:ext uri="{BB962C8B-B14F-4D97-AF65-F5344CB8AC3E}">
        <p14:creationId xmlns:p14="http://schemas.microsoft.com/office/powerpoint/2010/main" val="346183995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2010475" y="404664"/>
            <a:ext cx="7772400" cy="1143000"/>
          </a:xfrm>
        </p:spPr>
        <p:txBody>
          <a:bodyPr/>
          <a:lstStyle/>
          <a:p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Another common mistake to avoid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10475" y="2338536"/>
            <a:ext cx="7772400" cy="4114800"/>
          </a:xfrm>
        </p:spPr>
        <p:txBody>
          <a:bodyPr/>
          <a:lstStyle/>
          <a:p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Typically, 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  <a:sym typeface="Symbol" panose="05050102010706020507" pitchFamily="18" charset="2"/>
              </a:rPr>
              <a:t> 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is the main connective with 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  <a:sym typeface="Symbol" panose="05050102010706020507" pitchFamily="18" charset="2"/>
              </a:rPr>
              <a:t></a:t>
            </a: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4"/>
            <a:endParaRPr lang="en-US" alt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Common mistake: using 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  <a:sym typeface="Symbol" panose="05050102010706020507" pitchFamily="18" charset="2"/>
              </a:rPr>
              <a:t>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 as the main connective with 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  <a:sym typeface="Symbol" panose="05050102010706020507" pitchFamily="18" charset="2"/>
              </a:rPr>
              <a:t>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</a:p>
          <a:p>
            <a:pPr algn="ctr">
              <a:buFontTx/>
              <a:buNone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  <a:sym typeface="Symbol" panose="05050102010706020507" pitchFamily="18" charset="2"/>
              </a:rPr>
              <a:t></a:t>
            </a:r>
            <a:r>
              <a:rPr lang="en-US" altLang="en-US" i="1" dirty="0">
                <a:latin typeface="Cambria" panose="02040503050406030204" pitchFamily="18" charset="0"/>
                <a:ea typeface="Cambria" panose="02040503050406030204" pitchFamily="18" charset="0"/>
              </a:rPr>
              <a:t>x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 At(</a:t>
            </a:r>
            <a:r>
              <a:rPr lang="en-US" alt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x,CU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) 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  <a:sym typeface="Symbol" panose="05050102010706020507" pitchFamily="18" charset="2"/>
              </a:rPr>
              <a:t> 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Smart(x)</a:t>
            </a:r>
          </a:p>
          <a:p>
            <a:pPr>
              <a:buFontTx/>
              <a:buNone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	is true if there is anyone who is not at CU!</a:t>
            </a:r>
          </a:p>
        </p:txBody>
      </p:sp>
    </p:spTree>
    <p:extLst>
      <p:ext uri="{BB962C8B-B14F-4D97-AF65-F5344CB8AC3E}">
        <p14:creationId xmlns:p14="http://schemas.microsoft.com/office/powerpoint/2010/main" val="66883813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1919536" y="0"/>
            <a:ext cx="7772400" cy="1143000"/>
          </a:xfrm>
        </p:spPr>
        <p:txBody>
          <a:bodyPr/>
          <a:lstStyle/>
          <a:p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Properties of quantifiers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17192" y="1340768"/>
            <a:ext cx="8571296" cy="4896544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  <a:sym typeface="Symbol" panose="05050102010706020507" pitchFamily="18" charset="2"/>
              </a:rPr>
              <a:t>x y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 is the same as 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  <a:sym typeface="Symbol" panose="05050102010706020507" pitchFamily="18" charset="2"/>
              </a:rPr>
              <a:t>y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  <a:sym typeface="Symbol" panose="05050102010706020507" pitchFamily="18" charset="2"/>
              </a:rPr>
              <a:t>x</a:t>
            </a: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80000"/>
              </a:lnSpc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  <a:sym typeface="Symbol" panose="05050102010706020507" pitchFamily="18" charset="2"/>
              </a:rPr>
              <a:t>x y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 is the same as 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  <a:sym typeface="Symbol" panose="05050102010706020507" pitchFamily="18" charset="2"/>
              </a:rPr>
              <a:t>y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  <a:sym typeface="Symbol" panose="05050102010706020507" pitchFamily="18" charset="2"/>
              </a:rPr>
              <a:t>x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pPr>
              <a:lnSpc>
                <a:spcPct val="80000"/>
              </a:lnSpc>
            </a:pP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80000"/>
              </a:lnSpc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  <a:sym typeface="Symbol" panose="05050102010706020507" pitchFamily="18" charset="2"/>
              </a:rPr>
              <a:t>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x 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  <a:sym typeface="Symbol" panose="05050102010706020507" pitchFamily="18" charset="2"/>
              </a:rPr>
              <a:t>y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 is </a:t>
            </a:r>
            <a:r>
              <a:rPr lang="en-US" altLang="en-US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not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 the same as 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  <a:sym typeface="Symbol" panose="05050102010706020507" pitchFamily="18" charset="2"/>
              </a:rPr>
              <a:t>y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  <a:sym typeface="Symbol" panose="05050102010706020507" pitchFamily="18" charset="2"/>
              </a:rPr>
              <a:t>x</a:t>
            </a: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80000"/>
              </a:lnSpc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  <a:sym typeface="Symbol" panose="05050102010706020507" pitchFamily="18" charset="2"/>
              </a:rPr>
              <a:t>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x 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  <a:sym typeface="Symbol" panose="05050102010706020507" pitchFamily="18" charset="2"/>
              </a:rPr>
              <a:t>y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 Loves(</a:t>
            </a:r>
            <a:r>
              <a:rPr lang="en-US" alt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x,y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  <a:p>
            <a:pPr lvl="1">
              <a:lnSpc>
                <a:spcPct val="80000"/>
              </a:lnSpc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“There is a person who loves everyone in the world”</a:t>
            </a:r>
          </a:p>
          <a:p>
            <a:pPr>
              <a:lnSpc>
                <a:spcPct val="80000"/>
              </a:lnSpc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  <a:sym typeface="Symbol" panose="05050102010706020507" pitchFamily="18" charset="2"/>
              </a:rPr>
              <a:t>y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  <a:sym typeface="Symbol" panose="05050102010706020507" pitchFamily="18" charset="2"/>
              </a:rPr>
              <a:t>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x Loves(</a:t>
            </a:r>
            <a:r>
              <a:rPr lang="en-US" alt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x,y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  <a:p>
            <a:pPr lvl="1">
              <a:lnSpc>
                <a:spcPct val="80000"/>
              </a:lnSpc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“Everyone in the world is loved by at least one person”</a:t>
            </a:r>
          </a:p>
          <a:p>
            <a:pPr>
              <a:lnSpc>
                <a:spcPct val="80000"/>
              </a:lnSpc>
            </a:pP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80000"/>
              </a:lnSpc>
            </a:pPr>
            <a:r>
              <a:rPr lang="en-US" altLang="en-US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Quantifier duality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: each can be expressed using the other</a:t>
            </a:r>
          </a:p>
          <a:p>
            <a:pPr>
              <a:lnSpc>
                <a:spcPct val="80000"/>
              </a:lnSpc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  <a:sym typeface="Symbol" panose="05050102010706020507" pitchFamily="18" charset="2"/>
              </a:rPr>
              <a:t>x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 Likes(</a:t>
            </a:r>
            <a:r>
              <a:rPr lang="en-US" alt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x,IceCream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)	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  <a:sym typeface="Symbol" panose="05050102010706020507" pitchFamily="18" charset="2"/>
              </a:rPr>
              <a:t>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x 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  <a:sym typeface="Symbol" panose="05050102010706020507" pitchFamily="18" charset="2"/>
              </a:rPr>
              <a:t>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Likes(</a:t>
            </a:r>
            <a:r>
              <a:rPr lang="en-US" alt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x,IceCream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  <a:p>
            <a:pPr>
              <a:lnSpc>
                <a:spcPct val="80000"/>
              </a:lnSpc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  <a:sym typeface="Symbol" panose="05050102010706020507" pitchFamily="18" charset="2"/>
              </a:rPr>
              <a:t>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x Likes(</a:t>
            </a:r>
            <a:r>
              <a:rPr lang="en-US" alt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x,Broccoli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) 		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  <a:sym typeface="Symbol" panose="05050102010706020507" pitchFamily="18" charset="2"/>
              </a:rPr>
              <a:t>x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  <a:sym typeface="Symbol" panose="05050102010706020507" pitchFamily="18" charset="2"/>
              </a:rPr>
              <a:t>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Likes(</a:t>
            </a:r>
            <a:r>
              <a:rPr lang="en-US" alt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x,Broccoli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47613731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1631504" y="-99392"/>
            <a:ext cx="7772400" cy="1143000"/>
          </a:xfrm>
        </p:spPr>
        <p:txBody>
          <a:bodyPr/>
          <a:lstStyle/>
          <a:p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Equality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31504" y="2420888"/>
            <a:ext cx="8134672" cy="4114800"/>
          </a:xfrm>
        </p:spPr>
        <p:txBody>
          <a:bodyPr/>
          <a:lstStyle/>
          <a:p>
            <a:r>
              <a:rPr lang="en-US" altLang="en-US" sz="3200" i="1" dirty="0">
                <a:latin typeface="Cambria" panose="02040503050406030204" pitchFamily="18" charset="0"/>
                <a:ea typeface="Cambria" panose="02040503050406030204" pitchFamily="18" charset="0"/>
              </a:rPr>
              <a:t>term</a:t>
            </a:r>
            <a:r>
              <a:rPr lang="en-US" altLang="en-US" sz="3200" i="1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1</a:t>
            </a:r>
            <a:r>
              <a:rPr lang="en-US" altLang="en-US" sz="3200" i="1" dirty="0">
                <a:latin typeface="Cambria" panose="02040503050406030204" pitchFamily="18" charset="0"/>
                <a:ea typeface="Cambria" panose="02040503050406030204" pitchFamily="18" charset="0"/>
              </a:rPr>
              <a:t> = term</a:t>
            </a:r>
            <a:r>
              <a:rPr lang="en-US" altLang="en-US" sz="3200" i="1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2</a:t>
            </a:r>
            <a:r>
              <a:rPr lang="en-US" altLang="en-US" sz="32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alt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is true under a given interpretation if and only if </a:t>
            </a:r>
            <a:r>
              <a:rPr lang="en-US" altLang="en-US" sz="3200" i="1" dirty="0">
                <a:latin typeface="Cambria" panose="02040503050406030204" pitchFamily="18" charset="0"/>
                <a:ea typeface="Cambria" panose="02040503050406030204" pitchFamily="18" charset="0"/>
              </a:rPr>
              <a:t>term</a:t>
            </a:r>
            <a:r>
              <a:rPr lang="en-US" altLang="en-US" sz="3200" i="1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1</a:t>
            </a:r>
            <a:r>
              <a:rPr lang="en-US" altLang="en-US" sz="32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alt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and </a:t>
            </a:r>
            <a:r>
              <a:rPr lang="en-US" altLang="en-US" sz="3200" i="1" dirty="0">
                <a:latin typeface="Cambria" panose="02040503050406030204" pitchFamily="18" charset="0"/>
                <a:ea typeface="Cambria" panose="02040503050406030204" pitchFamily="18" charset="0"/>
              </a:rPr>
              <a:t>term</a:t>
            </a:r>
            <a:r>
              <a:rPr lang="en-US" altLang="en-US" sz="3200" i="1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2</a:t>
            </a:r>
            <a:r>
              <a:rPr lang="en-US" altLang="en-US" sz="32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alt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refer to the same object</a:t>
            </a:r>
          </a:p>
          <a:p>
            <a:pPr lvl="4"/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alt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E.g., definition of </a:t>
            </a:r>
            <a:r>
              <a:rPr lang="en-US" altLang="en-US" sz="3200" i="1" dirty="0">
                <a:latin typeface="Cambria" panose="02040503050406030204" pitchFamily="18" charset="0"/>
                <a:ea typeface="Cambria" panose="02040503050406030204" pitchFamily="18" charset="0"/>
              </a:rPr>
              <a:t>Sibling</a:t>
            </a:r>
            <a:r>
              <a:rPr lang="en-US" alt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 in terms of </a:t>
            </a:r>
            <a:r>
              <a:rPr lang="en-US" altLang="en-US" sz="3200" i="1" dirty="0">
                <a:latin typeface="Cambria" panose="02040503050406030204" pitchFamily="18" charset="0"/>
                <a:ea typeface="Cambria" panose="02040503050406030204" pitchFamily="18" charset="0"/>
              </a:rPr>
              <a:t>Parent</a:t>
            </a:r>
            <a:r>
              <a:rPr lang="en-US" alt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</a:p>
          <a:p>
            <a:pPr lvl="1">
              <a:buFontTx/>
              <a:buNone/>
            </a:pPr>
            <a:r>
              <a:rPr lang="en-US" altLang="en-US" sz="2800" dirty="0">
                <a:latin typeface="Cambria" panose="02040503050406030204" pitchFamily="18" charset="0"/>
                <a:ea typeface="Cambria" panose="02040503050406030204" pitchFamily="18" charset="0"/>
                <a:sym typeface="Symbol" panose="05050102010706020507" pitchFamily="18" charset="2"/>
              </a:rPr>
              <a:t></a:t>
            </a:r>
            <a:r>
              <a:rPr lang="en-US" altLang="en-US" sz="2800" i="1" dirty="0" err="1">
                <a:latin typeface="Cambria" panose="02040503050406030204" pitchFamily="18" charset="0"/>
                <a:ea typeface="Cambria" panose="02040503050406030204" pitchFamily="18" charset="0"/>
              </a:rPr>
              <a:t>x,y</a:t>
            </a:r>
            <a:r>
              <a:rPr lang="en-US" altLang="en-US" sz="2800" dirty="0">
                <a:latin typeface="Cambria" panose="02040503050406030204" pitchFamily="18" charset="0"/>
                <a:ea typeface="Cambria" panose="020405030504060302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i="1" dirty="0">
                <a:latin typeface="Cambria" panose="02040503050406030204" pitchFamily="18" charset="0"/>
                <a:ea typeface="Cambria" panose="02040503050406030204" pitchFamily="18" charset="0"/>
              </a:rPr>
              <a:t>Sibling(</a:t>
            </a:r>
            <a:r>
              <a:rPr lang="en-US" altLang="en-US" sz="2800" i="1" dirty="0" err="1">
                <a:latin typeface="Cambria" panose="02040503050406030204" pitchFamily="18" charset="0"/>
                <a:ea typeface="Cambria" panose="02040503050406030204" pitchFamily="18" charset="0"/>
              </a:rPr>
              <a:t>x,y</a:t>
            </a:r>
            <a:r>
              <a:rPr lang="en-US" altLang="en-US" sz="2800" i="1" dirty="0">
                <a:latin typeface="Cambria" panose="02040503050406030204" pitchFamily="18" charset="0"/>
                <a:ea typeface="Cambria" panose="02040503050406030204" pitchFamily="18" charset="0"/>
              </a:rPr>
              <a:t>) </a:t>
            </a:r>
            <a:r>
              <a:rPr lang="en-US" altLang="en-US" sz="2800" dirty="0">
                <a:latin typeface="Cambria" panose="02040503050406030204" pitchFamily="18" charset="0"/>
                <a:ea typeface="Cambria" panose="02040503050406030204" pitchFamily="18" charset="0"/>
                <a:sym typeface="Symbol" panose="05050102010706020507" pitchFamily="18" charset="2"/>
              </a:rPr>
              <a:t> </a:t>
            </a:r>
            <a:r>
              <a:rPr lang="en-US" alt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[</a:t>
            </a:r>
            <a:r>
              <a:rPr lang="en-US" altLang="en-US" sz="2800" dirty="0">
                <a:latin typeface="Cambria" panose="02040503050406030204" pitchFamily="18" charset="0"/>
                <a:ea typeface="Cambria" panose="02040503050406030204" pitchFamily="18" charset="0"/>
                <a:sym typeface="Symbol" panose="05050102010706020507" pitchFamily="18" charset="2"/>
              </a:rPr>
              <a:t></a:t>
            </a:r>
            <a:r>
              <a:rPr lang="en-US" alt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(x = y) </a:t>
            </a:r>
            <a:r>
              <a:rPr lang="en-US" altLang="en-US" sz="2800" dirty="0">
                <a:latin typeface="Cambria" panose="02040503050406030204" pitchFamily="18" charset="0"/>
                <a:ea typeface="Cambria" panose="02040503050406030204" pitchFamily="18" charset="0"/>
                <a:sym typeface="Symbol" panose="05050102010706020507" pitchFamily="18" charset="2"/>
              </a:rPr>
              <a:t> </a:t>
            </a:r>
            <a:r>
              <a:rPr lang="en-US" alt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altLang="en-US" sz="2800" dirty="0">
                <a:latin typeface="Cambria" panose="02040503050406030204" pitchFamily="18" charset="0"/>
                <a:ea typeface="Cambria" panose="02040503050406030204" pitchFamily="18" charset="0"/>
                <a:sym typeface="Symbol" panose="05050102010706020507" pitchFamily="18" charset="2"/>
              </a:rPr>
              <a:t></a:t>
            </a:r>
            <a:r>
              <a:rPr lang="en-US" alt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m,f</a:t>
            </a:r>
            <a:r>
              <a:rPr lang="en-US" alt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altLang="en-US" sz="2800" dirty="0">
                <a:latin typeface="Cambria" panose="02040503050406030204" pitchFamily="18" charset="0"/>
                <a:ea typeface="Cambria" panose="02040503050406030204" pitchFamily="18" charset="0"/>
                <a:sym typeface="Symbol" panose="05050102010706020507" pitchFamily="18" charset="2"/>
              </a:rPr>
              <a:t></a:t>
            </a:r>
            <a:r>
              <a:rPr lang="en-US" alt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(m = f) </a:t>
            </a:r>
            <a:r>
              <a:rPr lang="en-US" altLang="en-US" sz="2800" dirty="0">
                <a:latin typeface="Cambria" panose="02040503050406030204" pitchFamily="18" charset="0"/>
                <a:ea typeface="Cambria" panose="02040503050406030204" pitchFamily="18" charset="0"/>
                <a:sym typeface="Symbol" panose="05050102010706020507" pitchFamily="18" charset="2"/>
              </a:rPr>
              <a:t> </a:t>
            </a:r>
            <a:r>
              <a:rPr lang="en-US" alt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Parent(</a:t>
            </a:r>
            <a:r>
              <a:rPr lang="en-US" alt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m,x</a:t>
            </a:r>
            <a:r>
              <a:rPr lang="en-US" alt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) </a:t>
            </a:r>
            <a:r>
              <a:rPr lang="en-US" altLang="en-US" sz="2800" dirty="0">
                <a:latin typeface="Cambria" panose="02040503050406030204" pitchFamily="18" charset="0"/>
                <a:ea typeface="Cambria" panose="02040503050406030204" pitchFamily="18" charset="0"/>
                <a:sym typeface="Symbol" panose="05050102010706020507" pitchFamily="18" charset="2"/>
              </a:rPr>
              <a:t> </a:t>
            </a:r>
            <a:r>
              <a:rPr lang="en-US" alt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Parent(</a:t>
            </a:r>
            <a:r>
              <a:rPr lang="en-US" alt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f,x</a:t>
            </a:r>
            <a:r>
              <a:rPr lang="en-US" alt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) </a:t>
            </a:r>
            <a:r>
              <a:rPr lang="en-US" altLang="en-US" sz="2800" dirty="0">
                <a:latin typeface="Cambria" panose="02040503050406030204" pitchFamily="18" charset="0"/>
                <a:ea typeface="Cambria" panose="02040503050406030204" pitchFamily="18" charset="0"/>
                <a:sym typeface="Symbol" panose="05050102010706020507" pitchFamily="18" charset="2"/>
              </a:rPr>
              <a:t></a:t>
            </a:r>
            <a:r>
              <a:rPr lang="en-US" alt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Parent(</a:t>
            </a:r>
            <a:r>
              <a:rPr lang="en-US" alt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m,y</a:t>
            </a:r>
            <a:r>
              <a:rPr lang="en-US" alt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) </a:t>
            </a:r>
            <a:r>
              <a:rPr lang="en-US" altLang="en-US" sz="2800" dirty="0">
                <a:latin typeface="Cambria" panose="02040503050406030204" pitchFamily="18" charset="0"/>
                <a:ea typeface="Cambria" panose="02040503050406030204" pitchFamily="18" charset="0"/>
                <a:sym typeface="Symbol" panose="05050102010706020507" pitchFamily="18" charset="2"/>
              </a:rPr>
              <a:t></a:t>
            </a:r>
            <a:r>
              <a:rPr lang="en-US" alt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 Parent(</a:t>
            </a:r>
            <a:r>
              <a:rPr lang="en-US" alt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f,y</a:t>
            </a:r>
            <a:r>
              <a:rPr lang="en-US" alt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)]</a:t>
            </a:r>
          </a:p>
        </p:txBody>
      </p:sp>
    </p:spTree>
    <p:extLst>
      <p:ext uri="{BB962C8B-B14F-4D97-AF65-F5344CB8AC3E}">
        <p14:creationId xmlns:p14="http://schemas.microsoft.com/office/powerpoint/2010/main" val="273533728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1775520" y="332656"/>
            <a:ext cx="7772400" cy="1143000"/>
          </a:xfrm>
        </p:spPr>
        <p:txBody>
          <a:bodyPr/>
          <a:lstStyle/>
          <a:p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Using FOL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31504" y="2410544"/>
            <a:ext cx="8496944" cy="41148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The kinship domain:</a:t>
            </a:r>
          </a:p>
          <a:p>
            <a:r>
              <a:rPr lang="en-US" alt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Brothers are siblings</a:t>
            </a:r>
          </a:p>
          <a:p>
            <a:pPr lvl="1">
              <a:buFontTx/>
              <a:buNone/>
            </a:pPr>
            <a:r>
              <a:rPr lang="en-US" altLang="en-US" sz="2800" dirty="0">
                <a:latin typeface="Cambria" panose="02040503050406030204" pitchFamily="18" charset="0"/>
                <a:ea typeface="Cambria" panose="02040503050406030204" pitchFamily="18" charset="0"/>
                <a:sym typeface="Symbol" panose="05050102010706020507" pitchFamily="18" charset="2"/>
              </a:rPr>
              <a:t></a:t>
            </a:r>
            <a:r>
              <a:rPr lang="en-US" alt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x,y</a:t>
            </a:r>
            <a:r>
              <a:rPr lang="en-US" alt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altLang="en-US" sz="2800" i="1" dirty="0">
                <a:latin typeface="Cambria" panose="02040503050406030204" pitchFamily="18" charset="0"/>
                <a:ea typeface="Cambria" panose="02040503050406030204" pitchFamily="18" charset="0"/>
              </a:rPr>
              <a:t>Brother(</a:t>
            </a:r>
            <a:r>
              <a:rPr lang="en-US" altLang="en-US" sz="2800" i="1" dirty="0" err="1">
                <a:latin typeface="Cambria" panose="02040503050406030204" pitchFamily="18" charset="0"/>
                <a:ea typeface="Cambria" panose="02040503050406030204" pitchFamily="18" charset="0"/>
              </a:rPr>
              <a:t>x,y</a:t>
            </a:r>
            <a:r>
              <a:rPr lang="en-US" altLang="en-US" sz="2800" i="1" dirty="0">
                <a:latin typeface="Cambria" panose="02040503050406030204" pitchFamily="18" charset="0"/>
                <a:ea typeface="Cambria" panose="02040503050406030204" pitchFamily="18" charset="0"/>
              </a:rPr>
              <a:t>) </a:t>
            </a:r>
            <a:r>
              <a:rPr lang="en-US" altLang="en-US" sz="2800" dirty="0">
                <a:latin typeface="Cambria" panose="02040503050406030204" pitchFamily="18" charset="0"/>
                <a:ea typeface="Cambria" panose="02040503050406030204" pitchFamily="18" charset="0"/>
                <a:sym typeface="Symbol" panose="05050102010706020507" pitchFamily="18" charset="2"/>
              </a:rPr>
              <a:t></a:t>
            </a:r>
            <a:r>
              <a:rPr lang="en-US" alt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altLang="en-US" sz="2800" i="1" dirty="0">
                <a:latin typeface="Cambria" panose="02040503050406030204" pitchFamily="18" charset="0"/>
                <a:ea typeface="Cambria" panose="02040503050406030204" pitchFamily="18" charset="0"/>
              </a:rPr>
              <a:t>Sibling(</a:t>
            </a:r>
            <a:r>
              <a:rPr lang="en-US" altLang="en-US" sz="2800" i="1" dirty="0" err="1">
                <a:latin typeface="Cambria" panose="02040503050406030204" pitchFamily="18" charset="0"/>
                <a:ea typeface="Cambria" panose="02040503050406030204" pitchFamily="18" charset="0"/>
              </a:rPr>
              <a:t>x,y</a:t>
            </a:r>
            <a:r>
              <a:rPr lang="en-US" altLang="en-US" sz="2800" i="1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alt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One's mother is one's female parent</a:t>
            </a:r>
          </a:p>
          <a:p>
            <a:pPr lvl="1">
              <a:buFontTx/>
              <a:buNone/>
            </a:pPr>
            <a:r>
              <a:rPr lang="en-US" altLang="en-US" sz="2800" dirty="0">
                <a:latin typeface="Cambria" panose="02040503050406030204" pitchFamily="18" charset="0"/>
                <a:ea typeface="Cambria" panose="02040503050406030204" pitchFamily="18" charset="0"/>
                <a:sym typeface="Symbol" panose="05050102010706020507" pitchFamily="18" charset="2"/>
              </a:rPr>
              <a:t></a:t>
            </a:r>
            <a:r>
              <a:rPr lang="en-US" alt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m,c</a:t>
            </a:r>
            <a:r>
              <a:rPr lang="en-US" alt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altLang="en-US" sz="2800" i="1" dirty="0">
                <a:latin typeface="Cambria" panose="02040503050406030204" pitchFamily="18" charset="0"/>
                <a:ea typeface="Cambria" panose="02040503050406030204" pitchFamily="18" charset="0"/>
              </a:rPr>
              <a:t>Mother(c)</a:t>
            </a:r>
            <a:r>
              <a:rPr lang="en-US" alt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= m </a:t>
            </a:r>
            <a:r>
              <a:rPr lang="en-US" altLang="en-US" sz="2800" dirty="0">
                <a:latin typeface="Cambria" panose="02040503050406030204" pitchFamily="18" charset="0"/>
                <a:ea typeface="Cambria" panose="02040503050406030204" pitchFamily="18" charset="0"/>
                <a:sym typeface="Symbol" panose="05050102010706020507" pitchFamily="18" charset="2"/>
              </a:rPr>
              <a:t></a:t>
            </a:r>
            <a:r>
              <a:rPr lang="en-US" alt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altLang="en-US" sz="2800" i="1" dirty="0">
                <a:latin typeface="Cambria" panose="02040503050406030204" pitchFamily="18" charset="0"/>
                <a:ea typeface="Cambria" panose="02040503050406030204" pitchFamily="18" charset="0"/>
              </a:rPr>
              <a:t>(Female(m) </a:t>
            </a:r>
            <a:r>
              <a:rPr lang="en-US" altLang="en-US" sz="2800" dirty="0">
                <a:latin typeface="Cambria" panose="02040503050406030204" pitchFamily="18" charset="0"/>
                <a:ea typeface="Cambria" panose="02040503050406030204" pitchFamily="18" charset="0"/>
                <a:sym typeface="Symbol" panose="05050102010706020507" pitchFamily="18" charset="2"/>
              </a:rPr>
              <a:t></a:t>
            </a:r>
            <a:r>
              <a:rPr lang="en-US" altLang="en-US" sz="2800" i="1" dirty="0">
                <a:latin typeface="Cambria" panose="02040503050406030204" pitchFamily="18" charset="0"/>
                <a:ea typeface="Cambria" panose="020405030504060302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i="1" dirty="0">
                <a:latin typeface="Cambria" panose="02040503050406030204" pitchFamily="18" charset="0"/>
                <a:ea typeface="Cambria" panose="02040503050406030204" pitchFamily="18" charset="0"/>
              </a:rPr>
              <a:t>Parent(</a:t>
            </a:r>
            <a:r>
              <a:rPr lang="en-US" altLang="en-US" sz="2800" i="1" dirty="0" err="1">
                <a:latin typeface="Cambria" panose="02040503050406030204" pitchFamily="18" charset="0"/>
                <a:ea typeface="Cambria" panose="02040503050406030204" pitchFamily="18" charset="0"/>
              </a:rPr>
              <a:t>m,c</a:t>
            </a:r>
            <a:r>
              <a:rPr lang="en-US" altLang="en-US" sz="2800" i="1" dirty="0">
                <a:latin typeface="Cambria" panose="02040503050406030204" pitchFamily="18" charset="0"/>
                <a:ea typeface="Cambria" panose="02040503050406030204" pitchFamily="18" charset="0"/>
              </a:rPr>
              <a:t>))</a:t>
            </a: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alt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“Sibling” is symmetric</a:t>
            </a:r>
          </a:p>
          <a:p>
            <a:pPr lvl="1">
              <a:buFontTx/>
              <a:buNone/>
            </a:pPr>
            <a:r>
              <a:rPr lang="en-US" altLang="en-US" sz="2800" dirty="0">
                <a:latin typeface="Cambria" panose="02040503050406030204" pitchFamily="18" charset="0"/>
                <a:ea typeface="Cambria" panose="02040503050406030204" pitchFamily="18" charset="0"/>
                <a:sym typeface="Symbol" panose="05050102010706020507" pitchFamily="18" charset="2"/>
              </a:rPr>
              <a:t></a:t>
            </a:r>
            <a:r>
              <a:rPr lang="en-US" alt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x,y</a:t>
            </a:r>
            <a:r>
              <a:rPr lang="en-US" alt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altLang="en-US" sz="2800" i="1" dirty="0">
                <a:latin typeface="Cambria" panose="02040503050406030204" pitchFamily="18" charset="0"/>
                <a:ea typeface="Cambria" panose="02040503050406030204" pitchFamily="18" charset="0"/>
              </a:rPr>
              <a:t>Sibling(</a:t>
            </a:r>
            <a:r>
              <a:rPr lang="en-US" altLang="en-US" sz="2800" i="1" dirty="0" err="1">
                <a:latin typeface="Cambria" panose="02040503050406030204" pitchFamily="18" charset="0"/>
                <a:ea typeface="Cambria" panose="02040503050406030204" pitchFamily="18" charset="0"/>
              </a:rPr>
              <a:t>x,y</a:t>
            </a:r>
            <a:r>
              <a:rPr lang="en-US" altLang="en-US" sz="2800" i="1" dirty="0">
                <a:latin typeface="Cambria" panose="02040503050406030204" pitchFamily="18" charset="0"/>
                <a:ea typeface="Cambria" panose="02040503050406030204" pitchFamily="18" charset="0"/>
              </a:rPr>
              <a:t>) </a:t>
            </a:r>
            <a:r>
              <a:rPr lang="en-US" altLang="en-US" sz="2800" dirty="0">
                <a:latin typeface="Cambria" panose="02040503050406030204" pitchFamily="18" charset="0"/>
                <a:ea typeface="Cambria" panose="02040503050406030204" pitchFamily="18" charset="0"/>
                <a:sym typeface="Symbol" panose="05050102010706020507" pitchFamily="18" charset="2"/>
              </a:rPr>
              <a:t></a:t>
            </a:r>
            <a:r>
              <a:rPr lang="en-US" altLang="en-US" sz="2800" i="1" dirty="0">
                <a:latin typeface="Cambria" panose="02040503050406030204" pitchFamily="18" charset="0"/>
                <a:ea typeface="Cambria" panose="02040503050406030204" pitchFamily="18" charset="0"/>
                <a:sym typeface="Symbol" panose="05050102010706020507" pitchFamily="18" charset="2"/>
              </a:rPr>
              <a:t> </a:t>
            </a:r>
            <a:r>
              <a:rPr lang="en-US" altLang="en-US" sz="2800" i="1" dirty="0">
                <a:latin typeface="Cambria" panose="02040503050406030204" pitchFamily="18" charset="0"/>
                <a:ea typeface="Cambria" panose="02040503050406030204" pitchFamily="18" charset="0"/>
              </a:rPr>
              <a:t>Sibling(</a:t>
            </a:r>
            <a:r>
              <a:rPr lang="en-US" altLang="en-US" sz="2800" i="1" dirty="0" err="1">
                <a:latin typeface="Cambria" panose="02040503050406030204" pitchFamily="18" charset="0"/>
                <a:ea typeface="Cambria" panose="02040503050406030204" pitchFamily="18" charset="0"/>
              </a:rPr>
              <a:t>y,x</a:t>
            </a:r>
            <a:r>
              <a:rPr lang="en-US" altLang="en-US" sz="2800" i="1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397107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2063552" y="0"/>
            <a:ext cx="7772400" cy="1143000"/>
          </a:xfrm>
        </p:spPr>
        <p:txBody>
          <a:bodyPr/>
          <a:lstStyle/>
          <a:p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Knowledge engineering in FOL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91544" y="2276872"/>
            <a:ext cx="8280920" cy="4824536"/>
          </a:xfrm>
        </p:spPr>
        <p:txBody>
          <a:bodyPr/>
          <a:lstStyle/>
          <a:p>
            <a:pPr marL="533400" indent="-533400">
              <a:lnSpc>
                <a:spcPct val="90000"/>
              </a:lnSpc>
              <a:buFontTx/>
              <a:buAutoNum type="arabicPeriod"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Identify the task</a:t>
            </a:r>
          </a:p>
          <a:p>
            <a:pPr marL="533400" indent="-533400">
              <a:lnSpc>
                <a:spcPct val="90000"/>
              </a:lnSpc>
              <a:buFontTx/>
              <a:buAutoNum type="arabicPeriod"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Assemble the relevant knowledge</a:t>
            </a:r>
          </a:p>
          <a:p>
            <a:pPr marL="533400" indent="-533400">
              <a:lnSpc>
                <a:spcPct val="90000"/>
              </a:lnSpc>
              <a:buFontTx/>
              <a:buAutoNum type="arabicPeriod"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Decide on a vocabulary of predicates, functions, and constants</a:t>
            </a:r>
          </a:p>
          <a:p>
            <a:pPr marL="533400" indent="-533400">
              <a:lnSpc>
                <a:spcPct val="90000"/>
              </a:lnSpc>
              <a:buFontTx/>
              <a:buAutoNum type="arabicPeriod"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Encode general knowledge about the domain</a:t>
            </a:r>
          </a:p>
          <a:p>
            <a:pPr marL="533400" indent="-533400">
              <a:lnSpc>
                <a:spcPct val="90000"/>
              </a:lnSpc>
              <a:buFontTx/>
              <a:buAutoNum type="arabicPeriod"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Encode a description of the specific problem instance</a:t>
            </a:r>
          </a:p>
          <a:p>
            <a:pPr marL="533400" indent="-533400">
              <a:lnSpc>
                <a:spcPct val="90000"/>
              </a:lnSpc>
              <a:buFontTx/>
              <a:buAutoNum type="arabicPeriod"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Pose queries to the inference procedure and get answers</a:t>
            </a:r>
          </a:p>
          <a:p>
            <a:pPr marL="533400" indent="-533400">
              <a:lnSpc>
                <a:spcPct val="90000"/>
              </a:lnSpc>
              <a:buFontTx/>
              <a:buAutoNum type="arabicPeriod"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Debug the knowledge base</a:t>
            </a:r>
          </a:p>
        </p:txBody>
      </p:sp>
    </p:spTree>
    <p:extLst>
      <p:ext uri="{BB962C8B-B14F-4D97-AF65-F5344CB8AC3E}">
        <p14:creationId xmlns:p14="http://schemas.microsoft.com/office/powerpoint/2010/main" val="226745428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3472" y="3645024"/>
            <a:ext cx="8568952" cy="1143000"/>
          </a:xfrm>
        </p:spPr>
        <p:txBody>
          <a:bodyPr/>
          <a:lstStyle/>
          <a:p>
            <a:r>
              <a:rPr lang="en-US" altLang="en-US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Russel’s Paradox:</a:t>
            </a:r>
            <a:br>
              <a:rPr lang="en-US" altLang="en-US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b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There is a single barber in town. Those and only those who do not shave themselves are shaved by the barber. Who shaves the barber?</a:t>
            </a:r>
            <a:b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I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631504" y="4653136"/>
                <a:ext cx="7772400" cy="4114800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I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𝐵𝑎𝑟𝑏𝑒𝑟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∧∀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⇒¬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𝐵𝑎𝑟𝑏𝑒𝑟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endParaRPr lang="en-IN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I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𝑆h𝑎𝑣𝑒𝑠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⇔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𝑆h𝑎𝑣𝑒𝑠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𝐵𝑎𝑟𝑏𝑎𝑟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endParaRPr lang="en-IN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31504" y="4653136"/>
                <a:ext cx="7772400" cy="411480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3744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2">
            <a:extLst>
              <a:ext uri="{FF2B5EF4-FFF2-40B4-BE49-F238E27FC236}">
                <a16:creationId xmlns:a16="http://schemas.microsoft.com/office/drawing/2014/main" id="{5F695D8D-A9A2-4209-A45A-D72631B903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 Problem</a:t>
            </a:r>
          </a:p>
        </p:txBody>
      </p:sp>
      <p:sp>
        <p:nvSpPr>
          <p:cNvPr id="165891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4E676144-7C93-478D-8916-83E8151A6A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75520" y="2492896"/>
            <a:ext cx="7772400" cy="4114800"/>
          </a:xfrm>
        </p:spPr>
        <p:txBody>
          <a:bodyPr/>
          <a:lstStyle/>
          <a:p>
            <a:r>
              <a:rPr lang="en-US" altLang="en-US" dirty="0"/>
              <a:t>John likes all kinds of food.</a:t>
            </a:r>
          </a:p>
          <a:p>
            <a:r>
              <a:rPr lang="en-US" altLang="en-US" dirty="0"/>
              <a:t>Apples are food.</a:t>
            </a:r>
          </a:p>
          <a:p>
            <a:r>
              <a:rPr lang="en-US" altLang="en-US" dirty="0"/>
              <a:t>Chicken is food.</a:t>
            </a:r>
          </a:p>
          <a:p>
            <a:r>
              <a:rPr lang="en-US" altLang="en-US" dirty="0"/>
              <a:t>Anything anyone eats and isn’t killed by is food.</a:t>
            </a:r>
          </a:p>
          <a:p>
            <a:r>
              <a:rPr lang="en-US" altLang="en-US" dirty="0"/>
              <a:t>Bill eats peanuts, and is still alive.</a:t>
            </a:r>
          </a:p>
          <a:p>
            <a:r>
              <a:rPr lang="en-US" altLang="en-US" dirty="0"/>
              <a:t>Sue eats everything that Bill eats.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2">
            <a:extLst>
              <a:ext uri="{FF2B5EF4-FFF2-40B4-BE49-F238E27FC236}">
                <a16:creationId xmlns:a16="http://schemas.microsoft.com/office/drawing/2014/main" id="{918556B9-1BA0-4A54-BDAE-3D7889A986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55440" y="280988"/>
            <a:ext cx="10668000" cy="1143000"/>
          </a:xfrm>
        </p:spPr>
        <p:txBody>
          <a:bodyPr/>
          <a:lstStyle/>
          <a:p>
            <a:r>
              <a:rPr lang="en-US" altLang="en-US" dirty="0"/>
              <a:t>Example Problem</a:t>
            </a:r>
          </a:p>
        </p:txBody>
      </p:sp>
      <p:sp>
        <p:nvSpPr>
          <p:cNvPr id="166916" name="Text Box 4">
            <a:extLst>
              <a:ext uri="{FF2B5EF4-FFF2-40B4-BE49-F238E27FC236}">
                <a16:creationId xmlns:a16="http://schemas.microsoft.com/office/drawing/2014/main" id="{28BE9569-1730-41E5-AC8F-6D2B7400AE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1423988"/>
            <a:ext cx="419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 altLang="en-US" i="1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graphicFrame>
        <p:nvGraphicFramePr>
          <p:cNvPr id="166973" name="Group 61">
            <a:extLst>
              <a:ext uri="{FF2B5EF4-FFF2-40B4-BE49-F238E27FC236}">
                <a16:creationId xmlns:a16="http://schemas.microsoft.com/office/drawing/2014/main" id="{5E2AA25E-D4BF-45AD-B442-6221BEFAED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9432301"/>
              </p:ext>
            </p:extLst>
          </p:nvPr>
        </p:nvGraphicFramePr>
        <p:xfrm>
          <a:off x="1941444" y="1520587"/>
          <a:ext cx="8458200" cy="5025390"/>
        </p:xfrm>
        <a:graphic>
          <a:graphicData uri="http://schemas.openxmlformats.org/drawingml/2006/table">
            <a:tbl>
              <a:tblPr/>
              <a:tblGrid>
                <a:gridCol w="4229100">
                  <a:extLst>
                    <a:ext uri="{9D8B030D-6E8A-4147-A177-3AD203B41FA5}">
                      <a16:colId xmlns:a16="http://schemas.microsoft.com/office/drawing/2014/main" val="1496592141"/>
                    </a:ext>
                  </a:extLst>
                </a:gridCol>
                <a:gridCol w="4229100">
                  <a:extLst>
                    <a:ext uri="{9D8B030D-6E8A-4147-A177-3AD203B41FA5}">
                      <a16:colId xmlns:a16="http://schemas.microsoft.com/office/drawing/2014/main" val="1187409131"/>
                    </a:ext>
                  </a:extLst>
                </a:gridCol>
              </a:tblGrid>
              <a:tr h="4318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John likes all kinds of food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</a:t>
                      </a:r>
                      <a:r>
                        <a:rPr kumimoji="0" lang="en-US" alt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x food (x)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  </a:t>
                      </a:r>
                      <a:r>
                        <a:rPr kumimoji="0" lang="en-US" alt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eats(John, x)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7691687"/>
                  </a:ext>
                </a:extLst>
              </a:tr>
              <a:tr h="5334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Apples are food.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alt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food(apples)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5843101"/>
                  </a:ext>
                </a:extLst>
              </a:tr>
              <a:tr h="4968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Chicken is food.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alt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food(chicken)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6993927"/>
                  </a:ext>
                </a:extLst>
              </a:tr>
              <a:tr h="1016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Anything anyone eats and isn’t killed by is food.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</a:t>
                      </a:r>
                      <a:r>
                        <a:rPr kumimoji="0" lang="en-US" alt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x,y eats(x,y) 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 </a:t>
                      </a:r>
                      <a:r>
                        <a:rPr kumimoji="0" lang="en-US" alt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killed(x)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  </a:t>
                      </a:r>
                      <a:r>
                        <a:rPr kumimoji="0" lang="en-US" alt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food(y)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1547851"/>
                  </a:ext>
                </a:extLst>
              </a:tr>
              <a:tr h="9969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Bill eats peanuts, and is still alive.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alt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eats(Bill,Peanuts) 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 </a:t>
                      </a:r>
                      <a:r>
                        <a:rPr kumimoji="0" lang="en-US" alt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killed(Bill)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7018603"/>
                  </a:ext>
                </a:extLst>
              </a:tr>
              <a:tr h="1016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Sue eats everything that Bill eats.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</a:t>
                      </a:r>
                      <a:r>
                        <a:rPr kumimoji="0" lang="en-US" altLang="en-US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x eats (</a:t>
                      </a:r>
                      <a:r>
                        <a:rPr kumimoji="0" lang="en-US" altLang="en-US" sz="28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Bill,x</a:t>
                      </a:r>
                      <a:r>
                        <a:rPr kumimoji="0" lang="en-US" altLang="en-US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) </a:t>
                      </a: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 </a:t>
                      </a:r>
                      <a:r>
                        <a:rPr kumimoji="0" lang="en-US" altLang="en-US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eats(</a:t>
                      </a:r>
                      <a:r>
                        <a:rPr kumimoji="0" lang="en-US" altLang="en-US" sz="28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Sue,x</a:t>
                      </a:r>
                      <a:r>
                        <a:rPr kumimoji="0" lang="en-US" altLang="en-US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)</a:t>
                      </a:r>
                      <a:r>
                        <a:rPr kumimoji="0" lang="en-US" altLang="en-US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 </a:t>
                      </a:r>
                      <a:endParaRPr kumimoji="0" lang="en-US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95008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54" name="Rectangle 2">
            <a:extLst>
              <a:ext uri="{FF2B5EF4-FFF2-40B4-BE49-F238E27FC236}">
                <a16:creationId xmlns:a16="http://schemas.microsoft.com/office/drawing/2014/main" id="{8B9B7CD5-3EB7-4743-AE1D-4129449A67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Forward Chaining</a:t>
            </a:r>
          </a:p>
        </p:txBody>
      </p:sp>
      <p:sp>
        <p:nvSpPr>
          <p:cNvPr id="228355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4580763C-DC72-44FF-BAB9-B4FF355903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487488" y="2420888"/>
            <a:ext cx="8610600" cy="4525963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Tx/>
              <a:buChar char="•"/>
            </a:pPr>
            <a:r>
              <a:rPr lang="en-US" altLang="en-US" dirty="0"/>
              <a:t>Data Driven </a:t>
            </a:r>
          </a:p>
          <a:p>
            <a:pPr lvl="1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Tx/>
              <a:buChar char="•"/>
            </a:pPr>
            <a:r>
              <a:rPr lang="en-US" altLang="en-US" dirty="0"/>
              <a:t>not directed at finding particular information – can generate irrelevant conclusions</a:t>
            </a:r>
          </a:p>
          <a:p>
            <a:pPr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Tx/>
              <a:buChar char="•"/>
            </a:pPr>
            <a:r>
              <a:rPr lang="en-US" altLang="en-US" dirty="0"/>
              <a:t>Strategy </a:t>
            </a:r>
          </a:p>
          <a:p>
            <a:pPr lvl="1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Tx/>
              <a:buChar char="•"/>
            </a:pPr>
            <a:r>
              <a:rPr lang="en-US" altLang="en-US" dirty="0"/>
              <a:t>match rules that contain recently added literals</a:t>
            </a:r>
          </a:p>
          <a:p>
            <a:pPr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Tx/>
              <a:buChar char="•"/>
            </a:pPr>
            <a:r>
              <a:rPr lang="en-US" altLang="en-US" dirty="0"/>
              <a:t>Forward chaining may not terminate</a:t>
            </a:r>
          </a:p>
          <a:p>
            <a:pPr lvl="1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Tx/>
              <a:buChar char="•"/>
            </a:pPr>
            <a:r>
              <a:rPr lang="en-US" altLang="en-US" dirty="0"/>
              <a:t>Especially if desired conclusion is not entailed (Incomplete)</a:t>
            </a:r>
          </a:p>
          <a:p>
            <a:pPr>
              <a:lnSpc>
                <a:spcPct val="90000"/>
              </a:lnSpc>
            </a:pPr>
            <a:endParaRPr lang="en-US" altLang="en-US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2">
            <a:extLst>
              <a:ext uri="{FF2B5EF4-FFF2-40B4-BE49-F238E27FC236}">
                <a16:creationId xmlns:a16="http://schemas.microsoft.com/office/drawing/2014/main" id="{1BED8891-92A3-4BF5-8381-E8727801EB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Backward Chaining</a:t>
            </a:r>
          </a:p>
        </p:txBody>
      </p:sp>
      <p:sp>
        <p:nvSpPr>
          <p:cNvPr id="171011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787B96AD-2C13-42E2-B98A-541716863E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28700" y="2137569"/>
            <a:ext cx="8305800" cy="4256087"/>
          </a:xfrm>
        </p:spPr>
        <p:txBody>
          <a:bodyPr/>
          <a:lstStyle/>
          <a:p>
            <a:r>
              <a:rPr lang="en-US" altLang="en-US" dirty="0"/>
              <a:t>Start at the goal, chain through inference rules to find known facts that support the proof.</a:t>
            </a:r>
          </a:p>
          <a:p>
            <a:pPr lvl="1"/>
            <a:r>
              <a:rPr lang="en-US" altLang="en-US" dirty="0"/>
              <a:t>Uses Modus Ponens backwards</a:t>
            </a:r>
          </a:p>
          <a:p>
            <a:pPr lvl="1"/>
            <a:r>
              <a:rPr lang="en-US" altLang="en-US" dirty="0"/>
              <a:t>Designed to answer questions posed to a knowledge base</a:t>
            </a:r>
          </a:p>
        </p:txBody>
      </p:sp>
      <p:sp>
        <p:nvSpPr>
          <p:cNvPr id="171012" name="Text Box 4">
            <a:extLst>
              <a:ext uri="{FF2B5EF4-FFF2-40B4-BE49-F238E27FC236}">
                <a16:creationId xmlns:a16="http://schemas.microsoft.com/office/drawing/2014/main" id="{806CFA13-3E96-4C44-9612-4339BCF746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3836988"/>
            <a:ext cx="1809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eats(John, y)</a:t>
            </a:r>
          </a:p>
        </p:txBody>
      </p:sp>
      <p:sp>
        <p:nvSpPr>
          <p:cNvPr id="171014" name="Text Box 6">
            <a:extLst>
              <a:ext uri="{FF2B5EF4-FFF2-40B4-BE49-F238E27FC236}">
                <a16:creationId xmlns:a16="http://schemas.microsoft.com/office/drawing/2014/main" id="{76B2095C-1237-4EC7-8172-1AD4E9C376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0" y="4689475"/>
            <a:ext cx="11572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b="1" i="1">
                <a:latin typeface="Times New Roman" panose="02020603050405020304" pitchFamily="18" charset="0"/>
                <a:sym typeface="Symbol" panose="05050102010706020507" pitchFamily="18" charset="2"/>
              </a:rPr>
              <a:t>food (y)</a:t>
            </a:r>
          </a:p>
        </p:txBody>
      </p:sp>
      <p:sp>
        <p:nvSpPr>
          <p:cNvPr id="171016" name="Text Box 8">
            <a:extLst>
              <a:ext uri="{FF2B5EF4-FFF2-40B4-BE49-F238E27FC236}">
                <a16:creationId xmlns:a16="http://schemas.microsoft.com/office/drawing/2014/main" id="{7E8796C3-D9BD-4DD9-AF3F-34C2431461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3401" y="5360988"/>
            <a:ext cx="30400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b="1" i="1">
                <a:latin typeface="Times New Roman" panose="02020603050405020304" pitchFamily="18" charset="0"/>
                <a:sym typeface="Symbol" panose="05050102010706020507" pitchFamily="18" charset="2"/>
              </a:rPr>
              <a:t>eats(x,y)       </a:t>
            </a:r>
            <a:r>
              <a:rPr lang="en-US" altLang="en-US" b="1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en-US" b="1" i="1">
                <a:latin typeface="Times New Roman" panose="02020603050405020304" pitchFamily="18" charset="0"/>
                <a:sym typeface="Symbol" panose="05050102010706020507" pitchFamily="18" charset="2"/>
              </a:rPr>
              <a:t>killed(x)</a:t>
            </a:r>
          </a:p>
        </p:txBody>
      </p:sp>
      <p:sp>
        <p:nvSpPr>
          <p:cNvPr id="171017" name="Line 9">
            <a:extLst>
              <a:ext uri="{FF2B5EF4-FFF2-40B4-BE49-F238E27FC236}">
                <a16:creationId xmlns:a16="http://schemas.microsoft.com/office/drawing/2014/main" id="{7D18C48E-7D76-49A1-A100-566154FBC3FF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0200" y="4294188"/>
            <a:ext cx="0" cy="533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171018" name="Line 10">
            <a:extLst>
              <a:ext uri="{FF2B5EF4-FFF2-40B4-BE49-F238E27FC236}">
                <a16:creationId xmlns:a16="http://schemas.microsoft.com/office/drawing/2014/main" id="{62B5E8F7-B64B-4585-BD82-0CD428CC78E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53000" y="5056188"/>
            <a:ext cx="45720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171019" name="Line 11">
            <a:extLst>
              <a:ext uri="{FF2B5EF4-FFF2-40B4-BE49-F238E27FC236}">
                <a16:creationId xmlns:a16="http://schemas.microsoft.com/office/drawing/2014/main" id="{61D9FB69-52E6-450D-BEC0-412BDBDB270F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0200" y="5056188"/>
            <a:ext cx="83820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171021" name="Arc 13">
            <a:extLst>
              <a:ext uri="{FF2B5EF4-FFF2-40B4-BE49-F238E27FC236}">
                <a16:creationId xmlns:a16="http://schemas.microsoft.com/office/drawing/2014/main" id="{53075A7E-9746-4029-9985-7EF84C639AAB}"/>
              </a:ext>
            </a:extLst>
          </p:cNvPr>
          <p:cNvSpPr>
            <a:spLocks/>
          </p:cNvSpPr>
          <p:nvPr/>
        </p:nvSpPr>
        <p:spPr bwMode="auto">
          <a:xfrm rot="7188621">
            <a:off x="5247482" y="4990307"/>
            <a:ext cx="457200" cy="436563"/>
          </a:xfrm>
          <a:custGeom>
            <a:avLst/>
            <a:gdLst>
              <a:gd name="G0" fmla="+- 0 0 0"/>
              <a:gd name="G1" fmla="+- 20844 0 0"/>
              <a:gd name="G2" fmla="+- 21600 0 0"/>
              <a:gd name="T0" fmla="*/ 5664 w 21600"/>
              <a:gd name="T1" fmla="*/ 0 h 24695"/>
              <a:gd name="T2" fmla="*/ 21254 w 21600"/>
              <a:gd name="T3" fmla="*/ 24695 h 24695"/>
              <a:gd name="T4" fmla="*/ 0 w 21600"/>
              <a:gd name="T5" fmla="*/ 20844 h 246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4695" fill="none" extrusionOk="0">
                <a:moveTo>
                  <a:pt x="5664" y="-1"/>
                </a:moveTo>
                <a:cubicBezTo>
                  <a:pt x="15070" y="2556"/>
                  <a:pt x="21600" y="11096"/>
                  <a:pt x="21600" y="20844"/>
                </a:cubicBezTo>
                <a:cubicBezTo>
                  <a:pt x="21600" y="22135"/>
                  <a:pt x="21484" y="23424"/>
                  <a:pt x="21253" y="24694"/>
                </a:cubicBezTo>
              </a:path>
              <a:path w="21600" h="24695" stroke="0" extrusionOk="0">
                <a:moveTo>
                  <a:pt x="5664" y="-1"/>
                </a:moveTo>
                <a:cubicBezTo>
                  <a:pt x="15070" y="2556"/>
                  <a:pt x="21600" y="11096"/>
                  <a:pt x="21600" y="20844"/>
                </a:cubicBezTo>
                <a:cubicBezTo>
                  <a:pt x="21600" y="22135"/>
                  <a:pt x="21484" y="23424"/>
                  <a:pt x="21253" y="24694"/>
                </a:cubicBezTo>
                <a:lnTo>
                  <a:pt x="0" y="20844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71022" name="Text Box 14">
            <a:extLst>
              <a:ext uri="{FF2B5EF4-FFF2-40B4-BE49-F238E27FC236}">
                <a16:creationId xmlns:a16="http://schemas.microsoft.com/office/drawing/2014/main" id="{1CE18FBF-5238-40FA-B174-952C4034D8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5791200"/>
            <a:ext cx="2362200" cy="406400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>
                <a:latin typeface="Times New Roman" panose="02020603050405020304" pitchFamily="18" charset="0"/>
              </a:rPr>
              <a:t>Yes, </a:t>
            </a:r>
            <a:r>
              <a:rPr lang="en-US" altLang="en-US" sz="2000" i="1">
                <a:latin typeface="Times New Roman" panose="02020603050405020304" pitchFamily="18" charset="0"/>
              </a:rPr>
              <a:t>x/Bill, y/peanuts</a:t>
            </a:r>
          </a:p>
        </p:txBody>
      </p:sp>
      <p:sp>
        <p:nvSpPr>
          <p:cNvPr id="171023" name="Text Box 15">
            <a:extLst>
              <a:ext uri="{FF2B5EF4-FFF2-40B4-BE49-F238E27FC236}">
                <a16:creationId xmlns:a16="http://schemas.microsoft.com/office/drawing/2014/main" id="{ACB6AFA5-41D1-45BE-B0C6-3C218210EE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5791200"/>
            <a:ext cx="1600200" cy="406400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000">
                <a:latin typeface="Times New Roman" panose="02020603050405020304" pitchFamily="18" charset="0"/>
              </a:rPr>
              <a:t>Yes, </a:t>
            </a:r>
            <a:r>
              <a:rPr lang="en-US" altLang="en-US" sz="2000" i="1">
                <a:latin typeface="Times New Roman" panose="02020603050405020304" pitchFamily="18" charset="0"/>
              </a:rPr>
              <a:t>x/Bill</a:t>
            </a:r>
          </a:p>
        </p:txBody>
      </p:sp>
      <p:sp>
        <p:nvSpPr>
          <p:cNvPr id="171025" name="Text Box 17">
            <a:extLst>
              <a:ext uri="{FF2B5EF4-FFF2-40B4-BE49-F238E27FC236}">
                <a16:creationId xmlns:a16="http://schemas.microsoft.com/office/drawing/2014/main" id="{5348B961-506C-4079-AA54-80D8B45554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1" y="4676775"/>
            <a:ext cx="1687513" cy="406400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>
                <a:latin typeface="Times New Roman" panose="02020603050405020304" pitchFamily="18" charset="0"/>
              </a:rPr>
              <a:t>Yes, </a:t>
            </a:r>
            <a:r>
              <a:rPr lang="en-US" altLang="en-US" sz="2000" i="1">
                <a:latin typeface="Times New Roman" panose="02020603050405020304" pitchFamily="18" charset="0"/>
              </a:rPr>
              <a:t>y/peanuts</a:t>
            </a:r>
          </a:p>
        </p:txBody>
      </p:sp>
      <p:sp>
        <p:nvSpPr>
          <p:cNvPr id="171026" name="Text Box 18">
            <a:extLst>
              <a:ext uri="{FF2B5EF4-FFF2-40B4-BE49-F238E27FC236}">
                <a16:creationId xmlns:a16="http://schemas.microsoft.com/office/drawing/2014/main" id="{A61FAF92-A0D8-4798-A683-608299BADD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1" y="3859213"/>
            <a:ext cx="1687513" cy="406400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>
                <a:latin typeface="Times New Roman" panose="02020603050405020304" pitchFamily="18" charset="0"/>
              </a:rPr>
              <a:t>Yes, </a:t>
            </a:r>
            <a:r>
              <a:rPr lang="en-US" altLang="en-US" sz="2000" i="1">
                <a:latin typeface="Times New Roman" panose="02020603050405020304" pitchFamily="18" charset="0"/>
              </a:rPr>
              <a:t>y/peanuts</a:t>
            </a:r>
          </a:p>
        </p:txBody>
      </p:sp>
      <p:sp>
        <p:nvSpPr>
          <p:cNvPr id="171027" name="Text Box 19">
            <a:extLst>
              <a:ext uri="{FF2B5EF4-FFF2-40B4-BE49-F238E27FC236}">
                <a16:creationId xmlns:a16="http://schemas.microsoft.com/office/drawing/2014/main" id="{96705E36-7480-4939-9C31-5E4C11EB74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7179" y="4361845"/>
            <a:ext cx="2948243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dirty="0"/>
              <a:t>In reality, the </a:t>
            </a:r>
          </a:p>
          <a:p>
            <a:r>
              <a:rPr lang="en-US" altLang="en-US" dirty="0"/>
              <a:t>algorithm would </a:t>
            </a:r>
          </a:p>
          <a:p>
            <a:r>
              <a:rPr lang="en-US" altLang="en-US" dirty="0"/>
              <a:t>include all appropriate</a:t>
            </a:r>
          </a:p>
          <a:p>
            <a:r>
              <a:rPr lang="en-US" altLang="en-US" dirty="0"/>
              <a:t>rules.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10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10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10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10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" presetID="2" presetClass="entr" presetSubtype="2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710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10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710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10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" presetClass="entr" presetSubtype="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710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710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2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710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710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7" presetID="2" presetClass="entr" presetSubtype="4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710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710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10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710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1" dur="500"/>
                                        <p:tgtEl>
                                          <p:spTgt spid="171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710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710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710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710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1012" grpId="0" autoUpdateAnimBg="0"/>
      <p:bldP spid="171014" grpId="0" autoUpdateAnimBg="0"/>
      <p:bldP spid="171016" grpId="0" autoUpdateAnimBg="0"/>
      <p:bldP spid="171022" grpId="0" animBg="1" autoUpdateAnimBg="0"/>
      <p:bldP spid="171023" grpId="0" animBg="1" autoUpdateAnimBg="0"/>
      <p:bldP spid="171025" grpId="0" animBg="1" autoUpdateAnimBg="0"/>
      <p:bldP spid="171026" grpId="0" animBg="1" autoUpdateAnimBg="0"/>
      <p:bldP spid="171027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1026">
            <a:extLst>
              <a:ext uri="{FF2B5EF4-FFF2-40B4-BE49-F238E27FC236}">
                <a16:creationId xmlns:a16="http://schemas.microsoft.com/office/drawing/2014/main" id="{BA49881E-3DD0-40CB-9283-967BAE839B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Backward Chaining</a:t>
            </a:r>
          </a:p>
        </p:txBody>
      </p:sp>
      <p:sp>
        <p:nvSpPr>
          <p:cNvPr id="180227" name="Rectangle 1027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E5617757-ACBA-4CF6-B525-C19E8AD07C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847528" y="2636912"/>
            <a:ext cx="7340600" cy="3868738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ct val="50000"/>
              </a:spcBef>
              <a:buClr>
                <a:schemeClr val="tx1"/>
              </a:buClr>
              <a:buFontTx/>
              <a:buChar char="•"/>
            </a:pPr>
            <a:r>
              <a:rPr lang="en-US" altLang="en-US" dirty="0"/>
              <a:t>Depth First recursive proof </a:t>
            </a:r>
          </a:p>
          <a:p>
            <a:pPr lvl="1">
              <a:lnSpc>
                <a:spcPct val="90000"/>
              </a:lnSpc>
              <a:spcBef>
                <a:spcPct val="50000"/>
              </a:spcBef>
              <a:buClr>
                <a:schemeClr val="bg2"/>
              </a:buClr>
              <a:buFontTx/>
              <a:buChar char="•"/>
            </a:pPr>
            <a:r>
              <a:rPr lang="en-US" altLang="en-US" dirty="0"/>
              <a:t>space is linear in size of proof.</a:t>
            </a:r>
          </a:p>
          <a:p>
            <a:pPr>
              <a:lnSpc>
                <a:spcPct val="90000"/>
              </a:lnSpc>
              <a:spcBef>
                <a:spcPct val="50000"/>
              </a:spcBef>
              <a:buClr>
                <a:schemeClr val="tx1"/>
              </a:buClr>
              <a:buFontTx/>
              <a:buChar char="•"/>
            </a:pPr>
            <a:r>
              <a:rPr lang="en-US" altLang="en-US" dirty="0"/>
              <a:t>Incomplete </a:t>
            </a:r>
          </a:p>
          <a:p>
            <a:pPr lvl="1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Tx/>
              <a:buChar char="•"/>
            </a:pPr>
            <a:r>
              <a:rPr lang="en-US" altLang="en-US" dirty="0"/>
              <a:t>infinite loops</a:t>
            </a:r>
          </a:p>
          <a:p>
            <a:pPr>
              <a:lnSpc>
                <a:spcPct val="90000"/>
              </a:lnSpc>
              <a:spcBef>
                <a:spcPct val="50000"/>
              </a:spcBef>
              <a:buClr>
                <a:schemeClr val="tx1"/>
              </a:buClr>
              <a:buFontTx/>
              <a:buChar char="•"/>
            </a:pPr>
            <a:r>
              <a:rPr lang="en-US" altLang="en-US" dirty="0"/>
              <a:t>Can be inefficient</a:t>
            </a:r>
            <a:r>
              <a:rPr lang="en-US" altLang="en-US" sz="2000" dirty="0">
                <a:latin typeface="Times New Roman" panose="02020603050405020304" pitchFamily="18" charset="0"/>
              </a:rPr>
              <a:t> </a:t>
            </a:r>
          </a:p>
          <a:p>
            <a:pPr lvl="1">
              <a:lnSpc>
                <a:spcPct val="90000"/>
              </a:lnSpc>
              <a:spcBef>
                <a:spcPct val="50000"/>
              </a:spcBef>
              <a:buClr>
                <a:schemeClr val="bg1"/>
              </a:buClr>
              <a:buFontTx/>
              <a:buChar char="•"/>
            </a:pPr>
            <a:r>
              <a:rPr lang="en-US" altLang="en-US" dirty="0"/>
              <a:t>repeated </a:t>
            </a:r>
            <a:r>
              <a:rPr lang="en-US" altLang="en-US" dirty="0" err="1"/>
              <a:t>subgoals</a:t>
            </a: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98" name="Rectangle 2">
            <a:extLst>
              <a:ext uri="{FF2B5EF4-FFF2-40B4-BE49-F238E27FC236}">
                <a16:creationId xmlns:a16="http://schemas.microsoft.com/office/drawing/2014/main" id="{3E530E92-537D-4EA0-8DA5-B48BDB683D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FOL to CNF</a:t>
            </a:r>
          </a:p>
        </p:txBody>
      </p:sp>
      <p:sp>
        <p:nvSpPr>
          <p:cNvPr id="234499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ABDF9BA4-2121-474F-83FE-4CC61C2C50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55774" y="2315368"/>
            <a:ext cx="8458200" cy="4525963"/>
          </a:xfrm>
        </p:spPr>
        <p:txBody>
          <a:bodyPr/>
          <a:lstStyle/>
          <a:p>
            <a:r>
              <a:rPr lang="en-US" altLang="en-US" dirty="0"/>
              <a:t>Resolution requires that FOL sentences be represented in Conjunctive Normal Form (CNF)</a:t>
            </a:r>
          </a:p>
          <a:p>
            <a:pPr lvl="1"/>
            <a:r>
              <a:rPr lang="en-US" altLang="en-US" dirty="0"/>
              <a:t>Everyone who loves all animals is loved by someone.</a:t>
            </a:r>
          </a:p>
          <a:p>
            <a:pPr lvl="1"/>
            <a:r>
              <a:rPr lang="en-US" altLang="en-US" dirty="0"/>
              <a:t>FOL: </a:t>
            </a:r>
          </a:p>
          <a:p>
            <a:pPr lvl="1"/>
            <a:r>
              <a:rPr lang="en-US" altLang="en-US" dirty="0"/>
              <a:t>CNF:</a:t>
            </a:r>
          </a:p>
        </p:txBody>
      </p:sp>
      <p:graphicFrame>
        <p:nvGraphicFramePr>
          <p:cNvPr id="234500" name="Object 4">
            <a:extLst>
              <a:ext uri="{FF2B5EF4-FFF2-40B4-BE49-F238E27FC236}">
                <a16:creationId xmlns:a16="http://schemas.microsoft.com/office/drawing/2014/main" id="{354F256B-D98B-4031-A3B8-F7273AF63B8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2707547"/>
              </p:ext>
            </p:extLst>
          </p:nvPr>
        </p:nvGraphicFramePr>
        <p:xfrm>
          <a:off x="3719736" y="3756819"/>
          <a:ext cx="6248400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4" name="Equation" r:id="rId3" imgW="3276360" imgH="203040" progId="Equation.3">
                  <p:embed/>
                </p:oleObj>
              </mc:Choice>
              <mc:Fallback>
                <p:oleObj name="Equation" r:id="rId3" imgW="3276360" imgH="203040" progId="Equation.3">
                  <p:embed/>
                  <p:pic>
                    <p:nvPicPr>
                      <p:cNvPr id="234500" name="Object 4">
                        <a:extLst>
                          <a:ext uri="{FF2B5EF4-FFF2-40B4-BE49-F238E27FC236}">
                            <a16:creationId xmlns:a16="http://schemas.microsoft.com/office/drawing/2014/main" id="{354F256B-D98B-4031-A3B8-F7273AF63B8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9736" y="3756819"/>
                        <a:ext cx="6248400" cy="387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4501" name="Object 5">
            <a:extLst>
              <a:ext uri="{FF2B5EF4-FFF2-40B4-BE49-F238E27FC236}">
                <a16:creationId xmlns:a16="http://schemas.microsoft.com/office/drawing/2014/main" id="{CE66FF6E-E6B6-4A57-894E-A34921A517E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9995859"/>
              </p:ext>
            </p:extLst>
          </p:nvPr>
        </p:nvGraphicFramePr>
        <p:xfrm>
          <a:off x="3508375" y="4190999"/>
          <a:ext cx="8378825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5" name="Equation" r:id="rId5" imgW="4394160" imgH="203040" progId="Equation.3">
                  <p:embed/>
                </p:oleObj>
              </mc:Choice>
              <mc:Fallback>
                <p:oleObj name="Equation" r:id="rId5" imgW="4394160" imgH="203040" progId="Equation.3">
                  <p:embed/>
                  <p:pic>
                    <p:nvPicPr>
                      <p:cNvPr id="234501" name="Object 5">
                        <a:extLst>
                          <a:ext uri="{FF2B5EF4-FFF2-40B4-BE49-F238E27FC236}">
                            <a16:creationId xmlns:a16="http://schemas.microsoft.com/office/drawing/2014/main" id="{CE66FF6E-E6B6-4A57-894E-A34921A517E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8375" y="4190999"/>
                        <a:ext cx="8378825" cy="387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FOL: The Kinship Domain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Brothers are siblings</a:t>
            </a:r>
          </a:p>
          <a:p>
            <a:pPr lvl="1">
              <a:buFontTx/>
              <a:buNone/>
            </a:pPr>
            <a:r>
              <a:rPr lang="en-US" b="1" dirty="0">
                <a:solidFill>
                  <a:srgbClr val="CC0099"/>
                </a:solidFill>
                <a:sym typeface="Symbol" pitchFamily="18" charset="2"/>
              </a:rPr>
              <a:t></a:t>
            </a:r>
            <a:r>
              <a:rPr lang="en-US" b="1" dirty="0" err="1">
                <a:solidFill>
                  <a:srgbClr val="CC0099"/>
                </a:solidFill>
              </a:rPr>
              <a:t>x,y</a:t>
            </a:r>
            <a:r>
              <a:rPr lang="en-US" b="1" dirty="0">
                <a:solidFill>
                  <a:srgbClr val="CC0099"/>
                </a:solidFill>
              </a:rPr>
              <a:t> Brother(</a:t>
            </a:r>
            <a:r>
              <a:rPr lang="en-US" b="1" dirty="0" err="1">
                <a:solidFill>
                  <a:srgbClr val="CC0099"/>
                </a:solidFill>
              </a:rPr>
              <a:t>x,y</a:t>
            </a:r>
            <a:r>
              <a:rPr lang="en-US" b="1" dirty="0">
                <a:solidFill>
                  <a:srgbClr val="CC0099"/>
                </a:solidFill>
              </a:rPr>
              <a:t>) </a:t>
            </a:r>
            <a:r>
              <a:rPr lang="en-US" b="1" dirty="0">
                <a:solidFill>
                  <a:srgbClr val="CC0099"/>
                </a:solidFill>
                <a:sym typeface="Symbol" pitchFamily="18" charset="2"/>
              </a:rPr>
              <a:t></a:t>
            </a:r>
            <a:r>
              <a:rPr lang="en-US" b="1" dirty="0">
                <a:solidFill>
                  <a:srgbClr val="CC0099"/>
                </a:solidFill>
              </a:rPr>
              <a:t> Sibling(</a:t>
            </a:r>
            <a:r>
              <a:rPr lang="en-US" b="1" dirty="0" err="1">
                <a:solidFill>
                  <a:srgbClr val="CC0099"/>
                </a:solidFill>
              </a:rPr>
              <a:t>x,y</a:t>
            </a:r>
            <a:r>
              <a:rPr lang="en-US" b="1" dirty="0">
                <a:solidFill>
                  <a:srgbClr val="CC0099"/>
                </a:solidFill>
              </a:rPr>
              <a:t>)</a:t>
            </a:r>
          </a:p>
          <a:p>
            <a:r>
              <a:rPr lang="en-US" dirty="0"/>
              <a:t>“Sibling” is symmetric</a:t>
            </a:r>
          </a:p>
          <a:p>
            <a:pPr lvl="1">
              <a:buFontTx/>
              <a:buNone/>
            </a:pPr>
            <a:r>
              <a:rPr lang="en-US" b="1" dirty="0">
                <a:solidFill>
                  <a:srgbClr val="CC0099"/>
                </a:solidFill>
                <a:sym typeface="Symbol" pitchFamily="18" charset="2"/>
              </a:rPr>
              <a:t></a:t>
            </a:r>
            <a:r>
              <a:rPr lang="en-US" b="1" dirty="0" err="1">
                <a:solidFill>
                  <a:srgbClr val="CC0099"/>
                </a:solidFill>
              </a:rPr>
              <a:t>x,y</a:t>
            </a:r>
            <a:r>
              <a:rPr lang="en-US" b="1" dirty="0">
                <a:solidFill>
                  <a:srgbClr val="CC0099"/>
                </a:solidFill>
              </a:rPr>
              <a:t> Sibling(</a:t>
            </a:r>
            <a:r>
              <a:rPr lang="en-US" b="1" dirty="0" err="1">
                <a:solidFill>
                  <a:srgbClr val="CC0099"/>
                </a:solidFill>
              </a:rPr>
              <a:t>x,y</a:t>
            </a:r>
            <a:r>
              <a:rPr lang="en-US" b="1" dirty="0">
                <a:solidFill>
                  <a:srgbClr val="CC0099"/>
                </a:solidFill>
              </a:rPr>
              <a:t>) </a:t>
            </a:r>
            <a:r>
              <a:rPr lang="en-US" b="1" dirty="0">
                <a:solidFill>
                  <a:srgbClr val="CC0099"/>
                </a:solidFill>
                <a:sym typeface="Symbol" pitchFamily="18" charset="2"/>
              </a:rPr>
              <a:t> </a:t>
            </a:r>
            <a:r>
              <a:rPr lang="en-US" b="1" dirty="0">
                <a:solidFill>
                  <a:srgbClr val="CC0099"/>
                </a:solidFill>
              </a:rPr>
              <a:t>Sibling(</a:t>
            </a:r>
            <a:r>
              <a:rPr lang="en-US" b="1" dirty="0" err="1">
                <a:solidFill>
                  <a:srgbClr val="CC0099"/>
                </a:solidFill>
              </a:rPr>
              <a:t>y,x</a:t>
            </a:r>
            <a:r>
              <a:rPr lang="en-US" b="1" dirty="0">
                <a:solidFill>
                  <a:srgbClr val="CC0099"/>
                </a:solidFill>
              </a:rPr>
              <a:t>)</a:t>
            </a:r>
          </a:p>
          <a:p>
            <a:r>
              <a:rPr lang="en-US" dirty="0"/>
              <a:t>One's mother is one's female parent</a:t>
            </a:r>
          </a:p>
          <a:p>
            <a:pPr lvl="1">
              <a:buFontTx/>
              <a:buNone/>
            </a:pPr>
            <a:r>
              <a:rPr lang="en-US" b="1" dirty="0">
                <a:solidFill>
                  <a:srgbClr val="CC0099"/>
                </a:solidFill>
                <a:sym typeface="Symbol" pitchFamily="18" charset="2"/>
              </a:rPr>
              <a:t></a:t>
            </a:r>
            <a:r>
              <a:rPr lang="en-US" b="1" dirty="0" err="1">
                <a:solidFill>
                  <a:srgbClr val="CC0099"/>
                </a:solidFill>
              </a:rPr>
              <a:t>m,c</a:t>
            </a:r>
            <a:r>
              <a:rPr lang="en-US" b="1" dirty="0">
                <a:solidFill>
                  <a:srgbClr val="CC0099"/>
                </a:solidFill>
              </a:rPr>
              <a:t> (Mother(c) = m) </a:t>
            </a:r>
            <a:r>
              <a:rPr lang="en-US" b="1" dirty="0">
                <a:solidFill>
                  <a:srgbClr val="CC0099"/>
                </a:solidFill>
                <a:sym typeface="Symbol" pitchFamily="18" charset="2"/>
              </a:rPr>
              <a:t></a:t>
            </a:r>
            <a:r>
              <a:rPr lang="en-US" b="1" dirty="0">
                <a:solidFill>
                  <a:srgbClr val="CC0099"/>
                </a:solidFill>
              </a:rPr>
              <a:t> (Female(m) </a:t>
            </a:r>
            <a:r>
              <a:rPr lang="en-US" b="1" dirty="0">
                <a:solidFill>
                  <a:srgbClr val="CC0099"/>
                </a:solidFill>
                <a:sym typeface="Symbol" pitchFamily="18" charset="2"/>
              </a:rPr>
              <a:t> </a:t>
            </a:r>
            <a:r>
              <a:rPr lang="en-US" b="1" dirty="0">
                <a:solidFill>
                  <a:srgbClr val="CC0099"/>
                </a:solidFill>
              </a:rPr>
              <a:t>Parent(</a:t>
            </a:r>
            <a:r>
              <a:rPr lang="en-US" b="1" dirty="0" err="1">
                <a:solidFill>
                  <a:srgbClr val="CC0099"/>
                </a:solidFill>
              </a:rPr>
              <a:t>m,c</a:t>
            </a:r>
            <a:r>
              <a:rPr lang="en-US" b="1" dirty="0">
                <a:solidFill>
                  <a:srgbClr val="CC0099"/>
                </a:solidFill>
              </a:rPr>
              <a:t>))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“First order”?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FOL permits quantification over variables</a:t>
            </a:r>
          </a:p>
          <a:p>
            <a:r>
              <a:rPr lang="en-US" dirty="0"/>
              <a:t>Higher order logics permit quantification over functions and predicates:</a:t>
            </a:r>
          </a:p>
          <a:p>
            <a:pPr>
              <a:buNone/>
            </a:pPr>
            <a:r>
              <a:rPr lang="en-US" b="1" dirty="0">
                <a:solidFill>
                  <a:srgbClr val="CC0099"/>
                </a:solidFill>
                <a:sym typeface="Symbol" pitchFamily="18" charset="2"/>
              </a:rPr>
              <a:t>			</a:t>
            </a:r>
            <a:r>
              <a:rPr lang="en-US" b="1" dirty="0" err="1">
                <a:solidFill>
                  <a:srgbClr val="CC0099"/>
                </a:solidFill>
                <a:sym typeface="Symbol" pitchFamily="18" charset="2"/>
              </a:rPr>
              <a:t>P,</a:t>
            </a:r>
            <a:r>
              <a:rPr lang="en-US" b="1" dirty="0" err="1">
                <a:solidFill>
                  <a:srgbClr val="CC0099"/>
                </a:solidFill>
              </a:rPr>
              <a:t>x</a:t>
            </a:r>
            <a:r>
              <a:rPr lang="en-US" b="1" dirty="0">
                <a:solidFill>
                  <a:srgbClr val="CC0099"/>
                </a:solidFill>
              </a:rPr>
              <a:t> [P(x)</a:t>
            </a:r>
            <a:r>
              <a:rPr lang="en-US" b="1" dirty="0">
                <a:solidFill>
                  <a:srgbClr val="CC0099"/>
                </a:solidFill>
                <a:sym typeface="Symbol" pitchFamily="18" charset="2"/>
              </a:rPr>
              <a:t>  P(x)]</a:t>
            </a:r>
          </a:p>
          <a:p>
            <a:pPr>
              <a:buNone/>
            </a:pPr>
            <a:r>
              <a:rPr lang="en-US" b="1" dirty="0">
                <a:solidFill>
                  <a:srgbClr val="CC0099"/>
                </a:solidFill>
                <a:sym typeface="Symbol" pitchFamily="18" charset="2"/>
              </a:rPr>
              <a:t>		</a:t>
            </a:r>
            <a:r>
              <a:rPr lang="en-US" b="1" dirty="0" err="1">
                <a:solidFill>
                  <a:srgbClr val="CC0099"/>
                </a:solidFill>
              </a:rPr>
              <a:t>x,y</a:t>
            </a:r>
            <a:r>
              <a:rPr lang="en-US" b="1" dirty="0">
                <a:solidFill>
                  <a:srgbClr val="CC0099"/>
                </a:solidFill>
              </a:rPr>
              <a:t> (x=y) </a:t>
            </a:r>
            <a:r>
              <a:rPr lang="en-US" b="1" dirty="0">
                <a:solidFill>
                  <a:srgbClr val="CC0099"/>
                </a:solidFill>
                <a:sym typeface="Symbol" pitchFamily="18" charset="2"/>
              </a:rPr>
              <a:t></a:t>
            </a:r>
            <a:r>
              <a:rPr lang="en-US" b="1" dirty="0">
                <a:solidFill>
                  <a:srgbClr val="CC0099"/>
                </a:solidFill>
              </a:rPr>
              <a:t> [</a:t>
            </a:r>
            <a:r>
              <a:rPr lang="en-US" b="1" dirty="0">
                <a:solidFill>
                  <a:srgbClr val="CC0099"/>
                </a:solidFill>
                <a:sym typeface="Symbol" pitchFamily="18" charset="2"/>
              </a:rPr>
              <a:t>P (P(x)P(y))]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Inference in FOL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rules of inference for propositional logic apply to first-order logic </a:t>
            </a:r>
          </a:p>
          <a:p>
            <a:r>
              <a:rPr lang="en-US" dirty="0"/>
              <a:t>We just need to reduce FOL sentences to PL sentences by instantiating variables and removing quantifiers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1415480" y="260648"/>
            <a:ext cx="10668000" cy="1143000"/>
          </a:xfrm>
        </p:spPr>
        <p:txBody>
          <a:bodyPr/>
          <a:lstStyle/>
          <a:p>
            <a:r>
              <a:rPr lang="en-US" dirty="0"/>
              <a:t>Reduction of FOL to PL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1559496" y="2204864"/>
            <a:ext cx="8686800" cy="4525963"/>
          </a:xfrm>
        </p:spPr>
        <p:txBody>
          <a:bodyPr/>
          <a:lstStyle/>
          <a:p>
            <a:r>
              <a:rPr lang="en-US" sz="2400" dirty="0"/>
              <a:t>Suppose the KB contains the following:</a:t>
            </a:r>
          </a:p>
          <a:p>
            <a:pPr lvl="1">
              <a:buNone/>
            </a:pPr>
            <a:r>
              <a:rPr lang="en-US" dirty="0">
                <a:solidFill>
                  <a:srgbClr val="CC0099"/>
                </a:solidFill>
                <a:sym typeface="Symbol" pitchFamily="18" charset="2"/>
              </a:rPr>
              <a:t></a:t>
            </a:r>
            <a:r>
              <a:rPr lang="en-US" dirty="0">
                <a:solidFill>
                  <a:srgbClr val="CC0099"/>
                </a:solidFill>
              </a:rPr>
              <a:t>x King(x) </a:t>
            </a:r>
            <a:r>
              <a:rPr lang="en-US" dirty="0">
                <a:solidFill>
                  <a:srgbClr val="CC0099"/>
                </a:solidFill>
                <a:sym typeface="Symbol" pitchFamily="18" charset="2"/>
              </a:rPr>
              <a:t></a:t>
            </a:r>
            <a:r>
              <a:rPr lang="en-US" dirty="0">
                <a:solidFill>
                  <a:srgbClr val="CC0099"/>
                </a:solidFill>
              </a:rPr>
              <a:t> Greedy(x) </a:t>
            </a:r>
            <a:r>
              <a:rPr lang="en-US" dirty="0">
                <a:solidFill>
                  <a:srgbClr val="CC0099"/>
                </a:solidFill>
                <a:sym typeface="Symbol" pitchFamily="18" charset="2"/>
              </a:rPr>
              <a:t></a:t>
            </a:r>
            <a:r>
              <a:rPr lang="en-US" dirty="0">
                <a:solidFill>
                  <a:srgbClr val="CC0099"/>
                </a:solidFill>
              </a:rPr>
              <a:t> Evil(x)</a:t>
            </a:r>
          </a:p>
          <a:p>
            <a:pPr lvl="1">
              <a:buNone/>
            </a:pPr>
            <a:r>
              <a:rPr lang="en-US" dirty="0">
                <a:solidFill>
                  <a:srgbClr val="CC0099"/>
                </a:solidFill>
              </a:rPr>
              <a:t>King(John)	Greedy(John)	Brother(</a:t>
            </a:r>
            <a:r>
              <a:rPr lang="en-US" dirty="0" err="1">
                <a:solidFill>
                  <a:srgbClr val="CC0099"/>
                </a:solidFill>
              </a:rPr>
              <a:t>Richard,John</a:t>
            </a:r>
            <a:r>
              <a:rPr lang="en-US" dirty="0">
                <a:solidFill>
                  <a:srgbClr val="CC0099"/>
                </a:solidFill>
              </a:rPr>
              <a:t>)</a:t>
            </a:r>
          </a:p>
          <a:p>
            <a:r>
              <a:rPr lang="en-US" sz="2400" dirty="0"/>
              <a:t>How can we reduce this to PL?</a:t>
            </a:r>
          </a:p>
          <a:p>
            <a:r>
              <a:rPr lang="en-US" sz="2400" dirty="0"/>
              <a:t>Let’s instantiate the universal sentence in all possible ways:</a:t>
            </a:r>
          </a:p>
          <a:p>
            <a:pPr lvl="1">
              <a:buNone/>
            </a:pPr>
            <a:r>
              <a:rPr lang="en-US" dirty="0">
                <a:solidFill>
                  <a:srgbClr val="CC0099"/>
                </a:solidFill>
              </a:rPr>
              <a:t>King(John) </a:t>
            </a:r>
            <a:r>
              <a:rPr lang="en-US" dirty="0">
                <a:solidFill>
                  <a:srgbClr val="CC0099"/>
                </a:solidFill>
                <a:sym typeface="Symbol" pitchFamily="18" charset="2"/>
              </a:rPr>
              <a:t></a:t>
            </a:r>
            <a:r>
              <a:rPr lang="en-US" dirty="0">
                <a:solidFill>
                  <a:srgbClr val="CC0099"/>
                </a:solidFill>
              </a:rPr>
              <a:t> Greedy(John) </a:t>
            </a:r>
            <a:r>
              <a:rPr lang="en-US" dirty="0">
                <a:solidFill>
                  <a:srgbClr val="CC0099"/>
                </a:solidFill>
                <a:sym typeface="Symbol" pitchFamily="18" charset="2"/>
              </a:rPr>
              <a:t></a:t>
            </a:r>
            <a:r>
              <a:rPr lang="en-US" dirty="0">
                <a:solidFill>
                  <a:srgbClr val="CC0099"/>
                </a:solidFill>
              </a:rPr>
              <a:t> Evil(John)</a:t>
            </a:r>
          </a:p>
          <a:p>
            <a:pPr lvl="1">
              <a:buNone/>
            </a:pPr>
            <a:r>
              <a:rPr lang="en-US" dirty="0">
                <a:solidFill>
                  <a:srgbClr val="CC0099"/>
                </a:solidFill>
              </a:rPr>
              <a:t>King(Richard) </a:t>
            </a:r>
            <a:r>
              <a:rPr lang="en-US" dirty="0">
                <a:solidFill>
                  <a:srgbClr val="CC0099"/>
                </a:solidFill>
                <a:sym typeface="Symbol" pitchFamily="18" charset="2"/>
              </a:rPr>
              <a:t></a:t>
            </a:r>
            <a:r>
              <a:rPr lang="en-US" dirty="0">
                <a:solidFill>
                  <a:srgbClr val="CC0099"/>
                </a:solidFill>
              </a:rPr>
              <a:t> Greedy(Richard) </a:t>
            </a:r>
            <a:r>
              <a:rPr lang="en-US" dirty="0">
                <a:solidFill>
                  <a:srgbClr val="CC0099"/>
                </a:solidFill>
                <a:sym typeface="Symbol" pitchFamily="18" charset="2"/>
              </a:rPr>
              <a:t></a:t>
            </a:r>
            <a:r>
              <a:rPr lang="en-US" dirty="0">
                <a:solidFill>
                  <a:srgbClr val="CC0099"/>
                </a:solidFill>
              </a:rPr>
              <a:t> Evil(Richard)</a:t>
            </a:r>
          </a:p>
          <a:p>
            <a:pPr lvl="1">
              <a:buNone/>
            </a:pPr>
            <a:r>
              <a:rPr lang="en-US" dirty="0">
                <a:solidFill>
                  <a:srgbClr val="CC0099"/>
                </a:solidFill>
              </a:rPr>
              <a:t>King(John)	Greedy(John)	Brother(</a:t>
            </a:r>
            <a:r>
              <a:rPr lang="en-US" dirty="0" err="1">
                <a:solidFill>
                  <a:srgbClr val="CC0099"/>
                </a:solidFill>
              </a:rPr>
              <a:t>Richard,John</a:t>
            </a:r>
            <a:r>
              <a:rPr lang="en-US" dirty="0">
                <a:solidFill>
                  <a:srgbClr val="CC0099"/>
                </a:solidFill>
              </a:rPr>
              <a:t>)</a:t>
            </a:r>
          </a:p>
          <a:p>
            <a:r>
              <a:rPr lang="en-US" sz="2400" dirty="0"/>
              <a:t>The KB is </a:t>
            </a:r>
            <a:r>
              <a:rPr lang="en-US" sz="2400" i="1" dirty="0" err="1">
                <a:solidFill>
                  <a:schemeClr val="accent2"/>
                </a:solidFill>
              </a:rPr>
              <a:t>propositionalized</a:t>
            </a:r>
            <a:endParaRPr lang="en-US" sz="2400" dirty="0"/>
          </a:p>
          <a:p>
            <a:pPr lvl="1"/>
            <a:r>
              <a:rPr lang="en-US" sz="2000" dirty="0"/>
              <a:t>Proposition symbols are </a:t>
            </a:r>
            <a:r>
              <a:rPr lang="en-US" sz="2000" dirty="0">
                <a:solidFill>
                  <a:srgbClr val="CC0099"/>
                </a:solidFill>
              </a:rPr>
              <a:t>King(John), Greedy(John), Evil(John), King(Richard)</a:t>
            </a:r>
            <a:r>
              <a:rPr lang="en-US" sz="2000" dirty="0"/>
              <a:t>, etc.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build="p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Reduction of FOL to PL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What about existential quantification, e.g.,</a:t>
            </a:r>
          </a:p>
          <a:p>
            <a:pPr lvl="1">
              <a:buNone/>
            </a:pPr>
            <a:r>
              <a:rPr lang="el-GR" dirty="0">
                <a:solidFill>
                  <a:srgbClr val="CC0099"/>
                </a:solidFill>
                <a:cs typeface="Arial" charset="0"/>
                <a:sym typeface="Symbol" pitchFamily="18" charset="2"/>
              </a:rPr>
              <a:t></a:t>
            </a:r>
            <a:r>
              <a:rPr lang="en-US" dirty="0">
                <a:solidFill>
                  <a:srgbClr val="CC0099"/>
                </a:solidFill>
              </a:rPr>
              <a:t>x Crown(x) </a:t>
            </a:r>
            <a:r>
              <a:rPr lang="en-US" dirty="0">
                <a:solidFill>
                  <a:srgbClr val="CC0099"/>
                </a:solidFill>
                <a:sym typeface="Symbol" pitchFamily="18" charset="2"/>
              </a:rPr>
              <a:t></a:t>
            </a:r>
            <a:r>
              <a:rPr lang="en-US" dirty="0">
                <a:solidFill>
                  <a:srgbClr val="CC0099"/>
                </a:solidFill>
              </a:rPr>
              <a:t> </a:t>
            </a:r>
            <a:r>
              <a:rPr lang="en-US" dirty="0" err="1">
                <a:solidFill>
                  <a:srgbClr val="CC0099"/>
                </a:solidFill>
              </a:rPr>
              <a:t>OnHead</a:t>
            </a:r>
            <a:r>
              <a:rPr lang="en-US" dirty="0">
                <a:solidFill>
                  <a:srgbClr val="CC0099"/>
                </a:solidFill>
              </a:rPr>
              <a:t>(</a:t>
            </a:r>
            <a:r>
              <a:rPr lang="en-US" dirty="0" err="1">
                <a:solidFill>
                  <a:srgbClr val="CC0099"/>
                </a:solidFill>
              </a:rPr>
              <a:t>x,John</a:t>
            </a:r>
            <a:r>
              <a:rPr lang="en-US" dirty="0">
                <a:solidFill>
                  <a:srgbClr val="CC0099"/>
                </a:solidFill>
              </a:rPr>
              <a:t>) </a:t>
            </a:r>
            <a:r>
              <a:rPr lang="en-US" dirty="0"/>
              <a:t>?</a:t>
            </a:r>
          </a:p>
          <a:p>
            <a:r>
              <a:rPr lang="en-US" sz="2400" dirty="0"/>
              <a:t>Let’s instantiate the sentence with a new constant that doesn’t appear anywhere in the KB:</a:t>
            </a:r>
          </a:p>
          <a:p>
            <a:pPr lvl="1">
              <a:buNone/>
            </a:pPr>
            <a:r>
              <a:rPr lang="en-US" dirty="0">
                <a:solidFill>
                  <a:srgbClr val="CC0099"/>
                </a:solidFill>
              </a:rPr>
              <a:t>Crown(C</a:t>
            </a:r>
            <a:r>
              <a:rPr lang="en-US" baseline="-25000" dirty="0">
                <a:solidFill>
                  <a:srgbClr val="CC0099"/>
                </a:solidFill>
              </a:rPr>
              <a:t>1</a:t>
            </a:r>
            <a:r>
              <a:rPr lang="en-US" dirty="0">
                <a:solidFill>
                  <a:srgbClr val="CC0099"/>
                </a:solidFill>
              </a:rPr>
              <a:t>) </a:t>
            </a:r>
            <a:r>
              <a:rPr lang="en-US" dirty="0">
                <a:solidFill>
                  <a:srgbClr val="CC0099"/>
                </a:solidFill>
                <a:sym typeface="Symbol" pitchFamily="18" charset="2"/>
              </a:rPr>
              <a:t></a:t>
            </a:r>
            <a:r>
              <a:rPr lang="en-US" dirty="0">
                <a:solidFill>
                  <a:srgbClr val="CC0099"/>
                </a:solidFill>
              </a:rPr>
              <a:t> </a:t>
            </a:r>
            <a:r>
              <a:rPr lang="en-US" dirty="0" err="1">
                <a:solidFill>
                  <a:srgbClr val="CC0099"/>
                </a:solidFill>
              </a:rPr>
              <a:t>OnHead</a:t>
            </a:r>
            <a:r>
              <a:rPr lang="en-US" dirty="0">
                <a:solidFill>
                  <a:srgbClr val="CC0099"/>
                </a:solidFill>
              </a:rPr>
              <a:t>(C</a:t>
            </a:r>
            <a:r>
              <a:rPr lang="en-US" baseline="-25000" dirty="0">
                <a:solidFill>
                  <a:srgbClr val="CC0099"/>
                </a:solidFill>
              </a:rPr>
              <a:t>1</a:t>
            </a:r>
            <a:r>
              <a:rPr lang="en-US" dirty="0">
                <a:solidFill>
                  <a:srgbClr val="CC0099"/>
                </a:solidFill>
              </a:rPr>
              <a:t>,John)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build="p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Substitution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5961" y="2564904"/>
            <a:ext cx="8839200" cy="3977283"/>
          </a:xfrm>
        </p:spPr>
        <p:txBody>
          <a:bodyPr/>
          <a:lstStyle/>
          <a:p>
            <a:r>
              <a:rPr lang="en-US" b="1" dirty="0"/>
              <a:t>Substitution</a:t>
            </a:r>
            <a:r>
              <a:rPr lang="en-US" dirty="0"/>
              <a:t> of variables by </a:t>
            </a:r>
            <a:r>
              <a:rPr lang="en-US" i="1" dirty="0"/>
              <a:t>ground terms</a:t>
            </a:r>
            <a:r>
              <a:rPr lang="en-US" dirty="0"/>
              <a:t>:</a:t>
            </a:r>
            <a:br>
              <a:rPr lang="en-US" dirty="0"/>
            </a:br>
            <a:endParaRPr lang="en-US" sz="1200" dirty="0"/>
          </a:p>
          <a:p>
            <a:pPr algn="ctr">
              <a:buNone/>
            </a:pPr>
            <a:r>
              <a:rPr lang="en-US" b="1" dirty="0">
                <a:solidFill>
                  <a:srgbClr val="CC0099"/>
                </a:solidFill>
              </a:rPr>
              <a:t>SUBST({v/g},P)</a:t>
            </a:r>
            <a:br>
              <a:rPr lang="en-US" b="1" dirty="0">
                <a:solidFill>
                  <a:srgbClr val="CC0099"/>
                </a:solidFill>
              </a:rPr>
            </a:br>
            <a:endParaRPr lang="en-US" b="1" dirty="0">
              <a:solidFill>
                <a:srgbClr val="CC0099"/>
              </a:solidFill>
            </a:endParaRPr>
          </a:p>
          <a:p>
            <a:pPr lvl="1"/>
            <a:r>
              <a:rPr lang="en-US" dirty="0"/>
              <a:t>Result of</a:t>
            </a:r>
            <a:r>
              <a:rPr lang="en-US" dirty="0">
                <a:solidFill>
                  <a:srgbClr val="CC0099"/>
                </a:solidFill>
              </a:rPr>
              <a:t> SUBST({x/Harry, y/Sally}, Loves(</a:t>
            </a:r>
            <a:r>
              <a:rPr lang="en-US" dirty="0" err="1">
                <a:solidFill>
                  <a:srgbClr val="CC0099"/>
                </a:solidFill>
              </a:rPr>
              <a:t>x,y</a:t>
            </a:r>
            <a:r>
              <a:rPr lang="en-US" dirty="0">
                <a:solidFill>
                  <a:srgbClr val="CC0099"/>
                </a:solidFill>
              </a:rPr>
              <a:t>))</a:t>
            </a:r>
            <a:r>
              <a:rPr lang="en-US" dirty="0"/>
              <a:t>:</a:t>
            </a:r>
          </a:p>
          <a:p>
            <a:pPr lvl="1">
              <a:buNone/>
            </a:pPr>
            <a:r>
              <a:rPr lang="en-US" dirty="0">
                <a:solidFill>
                  <a:srgbClr val="CC0099"/>
                </a:solidFill>
              </a:rPr>
              <a:t>      Loves(</a:t>
            </a:r>
            <a:r>
              <a:rPr lang="en-US" dirty="0" err="1">
                <a:solidFill>
                  <a:srgbClr val="CC0099"/>
                </a:solidFill>
              </a:rPr>
              <a:t>Harry,Sally</a:t>
            </a:r>
            <a:r>
              <a:rPr lang="en-US" dirty="0">
                <a:solidFill>
                  <a:srgbClr val="CC0099"/>
                </a:solidFill>
              </a:rPr>
              <a:t>)</a:t>
            </a:r>
            <a:br>
              <a:rPr lang="en-US" dirty="0">
                <a:solidFill>
                  <a:srgbClr val="CC0099"/>
                </a:solidFill>
              </a:rPr>
            </a:br>
            <a:endParaRPr lang="en-US" dirty="0">
              <a:solidFill>
                <a:srgbClr val="CC0099"/>
              </a:solidFill>
            </a:endParaRPr>
          </a:p>
          <a:p>
            <a:pPr lvl="1"/>
            <a:r>
              <a:rPr lang="en-US" dirty="0">
                <a:sym typeface="Symbol" pitchFamily="18" charset="2"/>
              </a:rPr>
              <a:t>Result of </a:t>
            </a:r>
            <a:r>
              <a:rPr lang="en-US" dirty="0">
                <a:solidFill>
                  <a:srgbClr val="CC0099"/>
                </a:solidFill>
                <a:sym typeface="Symbol" pitchFamily="18" charset="2"/>
              </a:rPr>
              <a:t>SUBST({x/John}, </a:t>
            </a:r>
            <a:r>
              <a:rPr lang="en-US" dirty="0">
                <a:solidFill>
                  <a:srgbClr val="CC0099"/>
                </a:solidFill>
              </a:rPr>
              <a:t>King(x) </a:t>
            </a:r>
            <a:r>
              <a:rPr lang="en-US" dirty="0">
                <a:solidFill>
                  <a:srgbClr val="CC0099"/>
                </a:solidFill>
                <a:sym typeface="Symbol" pitchFamily="18" charset="2"/>
              </a:rPr>
              <a:t></a:t>
            </a:r>
            <a:r>
              <a:rPr lang="en-US" dirty="0">
                <a:solidFill>
                  <a:srgbClr val="CC0099"/>
                </a:solidFill>
              </a:rPr>
              <a:t> Greedy(x) </a:t>
            </a:r>
            <a:r>
              <a:rPr lang="en-US" dirty="0">
                <a:solidFill>
                  <a:srgbClr val="CC0099"/>
                </a:solidFill>
                <a:sym typeface="Symbol" pitchFamily="18" charset="2"/>
              </a:rPr>
              <a:t></a:t>
            </a:r>
            <a:r>
              <a:rPr lang="en-US" dirty="0">
                <a:solidFill>
                  <a:srgbClr val="CC0099"/>
                </a:solidFill>
              </a:rPr>
              <a:t> Evil(x))</a:t>
            </a:r>
            <a:r>
              <a:rPr lang="en-US" dirty="0"/>
              <a:t>:</a:t>
            </a:r>
          </a:p>
          <a:p>
            <a:pPr lvl="1">
              <a:buNone/>
            </a:pPr>
            <a:r>
              <a:rPr lang="en-US" dirty="0">
                <a:solidFill>
                  <a:srgbClr val="CC0099"/>
                </a:solidFill>
              </a:rPr>
              <a:t>      King(John)</a:t>
            </a:r>
            <a:r>
              <a:rPr lang="en-US" dirty="0">
                <a:solidFill>
                  <a:srgbClr val="CC0099"/>
                </a:solidFill>
                <a:sym typeface="Symbol" pitchFamily="18" charset="2"/>
              </a:rPr>
              <a:t> </a:t>
            </a:r>
            <a:r>
              <a:rPr lang="en-US" dirty="0">
                <a:solidFill>
                  <a:srgbClr val="CC0099"/>
                </a:solidFill>
              </a:rPr>
              <a:t> Greedy(John) </a:t>
            </a:r>
            <a:r>
              <a:rPr lang="en-US" dirty="0">
                <a:solidFill>
                  <a:srgbClr val="CC0099"/>
                </a:solidFill>
                <a:sym typeface="Symbol" pitchFamily="18" charset="2"/>
              </a:rPr>
              <a:t></a:t>
            </a:r>
            <a:r>
              <a:rPr lang="en-US" dirty="0">
                <a:solidFill>
                  <a:srgbClr val="CC0099"/>
                </a:solidFill>
              </a:rPr>
              <a:t> Evil(John)</a:t>
            </a:r>
          </a:p>
          <a:p>
            <a:pPr lvl="1"/>
            <a:endParaRPr lang="en-US" dirty="0">
              <a:solidFill>
                <a:srgbClr val="CC0099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Universal instantiation (UI)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A universally quantified sentence entails every instantiation of it:</a:t>
            </a:r>
          </a:p>
          <a:p>
            <a:pPr algn="ctr">
              <a:buFontTx/>
              <a:buNone/>
            </a:pPr>
            <a:r>
              <a:rPr lang="en-US" sz="2400" b="1" dirty="0">
                <a:solidFill>
                  <a:srgbClr val="CC0099"/>
                </a:solidFill>
                <a:sym typeface="Symbol" pitchFamily="18" charset="2"/>
              </a:rPr>
              <a:t></a:t>
            </a:r>
            <a:r>
              <a:rPr lang="en-US" sz="2400" b="1" dirty="0">
                <a:solidFill>
                  <a:srgbClr val="CC0099"/>
                </a:solidFill>
              </a:rPr>
              <a:t>v </a:t>
            </a:r>
            <a:r>
              <a:rPr lang="en-US" sz="2400" b="1" dirty="0">
                <a:solidFill>
                  <a:srgbClr val="CC0099"/>
                </a:solidFill>
                <a:cs typeface="Arial" charset="0"/>
                <a:sym typeface="Symbol" pitchFamily="18" charset="2"/>
              </a:rPr>
              <a:t>P(v)</a:t>
            </a:r>
            <a:br>
              <a:rPr lang="en-US" sz="2400" b="1" dirty="0">
                <a:solidFill>
                  <a:srgbClr val="CC0099"/>
                </a:solidFill>
                <a:cs typeface="Arial" charset="0"/>
                <a:sym typeface="Symbol" pitchFamily="18" charset="2"/>
              </a:rPr>
            </a:br>
            <a:r>
              <a:rPr lang="en-US" sz="2400" b="1" dirty="0">
                <a:solidFill>
                  <a:srgbClr val="CC0099"/>
                </a:solidFill>
              </a:rPr>
              <a:t>SUBST({v/g}, </a:t>
            </a:r>
            <a:r>
              <a:rPr lang="en-US" sz="2400" b="1" dirty="0">
                <a:solidFill>
                  <a:srgbClr val="CC0099"/>
                </a:solidFill>
                <a:cs typeface="Arial" charset="0"/>
                <a:sym typeface="Symbol" pitchFamily="18" charset="2"/>
              </a:rPr>
              <a:t>P(v)</a:t>
            </a:r>
            <a:r>
              <a:rPr lang="en-US" sz="2400" b="1" dirty="0">
                <a:solidFill>
                  <a:srgbClr val="CC0099"/>
                </a:solidFill>
              </a:rPr>
              <a:t>)</a:t>
            </a:r>
            <a:r>
              <a:rPr lang="en-US" sz="2400" dirty="0">
                <a:solidFill>
                  <a:srgbClr val="CC0099"/>
                </a:solidFill>
              </a:rPr>
              <a:t>
</a:t>
            </a:r>
          </a:p>
          <a:p>
            <a:pPr>
              <a:buFontTx/>
              <a:buNone/>
            </a:pPr>
            <a:r>
              <a:rPr lang="en-US" sz="2400" dirty="0"/>
              <a:t>	for any variable </a:t>
            </a:r>
            <a:r>
              <a:rPr lang="en-US" sz="2400" dirty="0">
                <a:solidFill>
                  <a:srgbClr val="CC0099"/>
                </a:solidFill>
              </a:rPr>
              <a:t>v</a:t>
            </a:r>
            <a:r>
              <a:rPr lang="en-US" sz="2400" dirty="0"/>
              <a:t> and ground term </a:t>
            </a:r>
            <a:r>
              <a:rPr lang="en-US" sz="2400" dirty="0">
                <a:solidFill>
                  <a:srgbClr val="CC0099"/>
                </a:solidFill>
              </a:rPr>
              <a:t>g</a:t>
            </a:r>
            <a:r>
              <a:rPr lang="en-US" sz="2400" dirty="0"/>
              <a:t>
</a:t>
            </a:r>
          </a:p>
          <a:p>
            <a:r>
              <a:rPr lang="en-US" sz="2400" dirty="0"/>
              <a:t>E.g., </a:t>
            </a:r>
            <a:r>
              <a:rPr lang="en-US" sz="2400" dirty="0">
                <a:solidFill>
                  <a:srgbClr val="CC0099"/>
                </a:solidFill>
                <a:sym typeface="Symbol" pitchFamily="18" charset="2"/>
              </a:rPr>
              <a:t></a:t>
            </a:r>
            <a:r>
              <a:rPr lang="en-US" sz="2400" dirty="0">
                <a:solidFill>
                  <a:srgbClr val="CC0099"/>
                </a:solidFill>
              </a:rPr>
              <a:t>x King(x) </a:t>
            </a:r>
            <a:r>
              <a:rPr lang="en-US" sz="2400" dirty="0">
                <a:solidFill>
                  <a:srgbClr val="CC0099"/>
                </a:solidFill>
                <a:sym typeface="Symbol" pitchFamily="18" charset="2"/>
              </a:rPr>
              <a:t></a:t>
            </a:r>
            <a:r>
              <a:rPr lang="en-US" sz="2400" dirty="0">
                <a:solidFill>
                  <a:srgbClr val="CC0099"/>
                </a:solidFill>
              </a:rPr>
              <a:t> Greedy(x) </a:t>
            </a:r>
            <a:r>
              <a:rPr lang="en-US" sz="2400" dirty="0">
                <a:solidFill>
                  <a:srgbClr val="CC0099"/>
                </a:solidFill>
                <a:sym typeface="Symbol" pitchFamily="18" charset="2"/>
              </a:rPr>
              <a:t> </a:t>
            </a:r>
            <a:r>
              <a:rPr lang="en-US" sz="2400" dirty="0">
                <a:solidFill>
                  <a:srgbClr val="CC0099"/>
                </a:solidFill>
              </a:rPr>
              <a:t>Evil(x)</a:t>
            </a:r>
            <a:r>
              <a:rPr lang="en-US" sz="2400" dirty="0"/>
              <a:t> yields:</a:t>
            </a:r>
          </a:p>
          <a:p>
            <a:pPr lvl="1">
              <a:buFontTx/>
              <a:buNone/>
            </a:pPr>
            <a:r>
              <a:rPr lang="en-US" dirty="0">
                <a:solidFill>
                  <a:srgbClr val="CC0099"/>
                </a:solidFill>
              </a:rPr>
              <a:t>King(John) </a:t>
            </a:r>
            <a:r>
              <a:rPr lang="en-US" dirty="0">
                <a:solidFill>
                  <a:srgbClr val="CC0099"/>
                </a:solidFill>
                <a:sym typeface="Symbol" pitchFamily="18" charset="2"/>
              </a:rPr>
              <a:t></a:t>
            </a:r>
            <a:r>
              <a:rPr lang="en-US" dirty="0">
                <a:solidFill>
                  <a:srgbClr val="CC0099"/>
                </a:solidFill>
              </a:rPr>
              <a:t> Greedy(John) </a:t>
            </a:r>
            <a:r>
              <a:rPr lang="en-US" dirty="0">
                <a:solidFill>
                  <a:srgbClr val="CC0099"/>
                </a:solidFill>
                <a:sym typeface="Symbol" pitchFamily="18" charset="2"/>
              </a:rPr>
              <a:t></a:t>
            </a:r>
            <a:r>
              <a:rPr lang="en-US" dirty="0">
                <a:solidFill>
                  <a:srgbClr val="CC0099"/>
                </a:solidFill>
              </a:rPr>
              <a:t>  Evil(John)</a:t>
            </a:r>
          </a:p>
          <a:p>
            <a:pPr lvl="1">
              <a:buFontTx/>
              <a:buNone/>
            </a:pPr>
            <a:r>
              <a:rPr lang="en-US" dirty="0">
                <a:solidFill>
                  <a:srgbClr val="CC0099"/>
                </a:solidFill>
              </a:rPr>
              <a:t>King(Richard) </a:t>
            </a:r>
            <a:r>
              <a:rPr lang="en-US" dirty="0">
                <a:solidFill>
                  <a:srgbClr val="CC0099"/>
                </a:solidFill>
                <a:sym typeface="Symbol" pitchFamily="18" charset="2"/>
              </a:rPr>
              <a:t></a:t>
            </a:r>
            <a:r>
              <a:rPr lang="en-US" dirty="0">
                <a:solidFill>
                  <a:srgbClr val="CC0099"/>
                </a:solidFill>
              </a:rPr>
              <a:t> Greedy(Richard) </a:t>
            </a:r>
            <a:r>
              <a:rPr lang="en-US" dirty="0">
                <a:solidFill>
                  <a:srgbClr val="CC0099"/>
                </a:solidFill>
                <a:sym typeface="Symbol" pitchFamily="18" charset="2"/>
              </a:rPr>
              <a:t></a:t>
            </a:r>
            <a:r>
              <a:rPr lang="en-US" dirty="0">
                <a:solidFill>
                  <a:srgbClr val="CC0099"/>
                </a:solidFill>
              </a:rPr>
              <a:t> Evil(Richard)</a:t>
            </a:r>
          </a:p>
          <a:p>
            <a:pPr lvl="1">
              <a:buFontTx/>
              <a:buNone/>
            </a:pPr>
            <a:r>
              <a:rPr lang="en-US" dirty="0">
                <a:solidFill>
                  <a:srgbClr val="CC0099"/>
                </a:solidFill>
              </a:rPr>
              <a:t>King(Father(John)) </a:t>
            </a:r>
            <a:r>
              <a:rPr lang="en-US" dirty="0">
                <a:solidFill>
                  <a:srgbClr val="CC0099"/>
                </a:solidFill>
                <a:sym typeface="Symbol" pitchFamily="18" charset="2"/>
              </a:rPr>
              <a:t></a:t>
            </a:r>
            <a:r>
              <a:rPr lang="en-US" dirty="0">
                <a:solidFill>
                  <a:srgbClr val="CC0099"/>
                </a:solidFill>
              </a:rPr>
              <a:t> Greedy(Father(John)) </a:t>
            </a:r>
            <a:r>
              <a:rPr lang="en-US" dirty="0">
                <a:solidFill>
                  <a:srgbClr val="CC0099"/>
                </a:solidFill>
                <a:sym typeface="Symbol" pitchFamily="18" charset="2"/>
              </a:rPr>
              <a:t></a:t>
            </a:r>
            <a:r>
              <a:rPr lang="en-US" dirty="0">
                <a:solidFill>
                  <a:srgbClr val="CC0099"/>
                </a:solidFill>
              </a:rPr>
              <a:t> Evil(Father(John))</a:t>
            </a:r>
          </a:p>
        </p:txBody>
      </p:sp>
      <p:sp>
        <p:nvSpPr>
          <p:cNvPr id="5" name="Line 4"/>
          <p:cNvSpPr>
            <a:spLocks noChangeShapeType="1"/>
          </p:cNvSpPr>
          <p:nvPr/>
        </p:nvSpPr>
        <p:spPr bwMode="auto">
          <a:xfrm>
            <a:off x="5231904" y="3212976"/>
            <a:ext cx="2590800" cy="0"/>
          </a:xfrm>
          <a:prstGeom prst="line">
            <a:avLst/>
          </a:prstGeom>
          <a:noFill/>
          <a:ln w="25400">
            <a:solidFill>
              <a:srgbClr val="CC0099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3" grpId="0" build="p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1415480" y="253954"/>
            <a:ext cx="8229600" cy="1143000"/>
          </a:xfrm>
        </p:spPr>
        <p:txBody>
          <a:bodyPr/>
          <a:lstStyle/>
          <a:p>
            <a:r>
              <a:rPr lang="en-US" dirty="0"/>
              <a:t>Existential instantiation (EI)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47528" y="2302423"/>
            <a:ext cx="8229600" cy="4525963"/>
          </a:xfrm>
        </p:spPr>
        <p:txBody>
          <a:bodyPr/>
          <a:lstStyle/>
          <a:p>
            <a:r>
              <a:rPr lang="en-US" sz="2000" dirty="0"/>
              <a:t>An existentially quantified sentence entails the instantiation of that sentence with a new constant: </a:t>
            </a:r>
            <a:br>
              <a:rPr lang="en-US" sz="2000" dirty="0"/>
            </a:br>
            <a:endParaRPr lang="en-US" sz="700" dirty="0"/>
          </a:p>
          <a:p>
            <a:pPr algn="ctr">
              <a:buFontTx/>
              <a:buNone/>
            </a:pPr>
            <a:r>
              <a:rPr lang="el-GR" sz="2000" b="1" dirty="0">
                <a:solidFill>
                  <a:srgbClr val="CC0099"/>
                </a:solidFill>
                <a:cs typeface="Arial" charset="0"/>
                <a:sym typeface="Symbol" pitchFamily="18" charset="2"/>
              </a:rPr>
              <a:t></a:t>
            </a:r>
            <a:r>
              <a:rPr lang="en-US" sz="2000" b="1" dirty="0">
                <a:solidFill>
                  <a:srgbClr val="CC0099"/>
                </a:solidFill>
              </a:rPr>
              <a:t>v </a:t>
            </a:r>
            <a:r>
              <a:rPr lang="en-US" sz="2000" b="1" dirty="0">
                <a:solidFill>
                  <a:srgbClr val="CC0099"/>
                </a:solidFill>
                <a:cs typeface="Arial" charset="0"/>
                <a:sym typeface="Symbol" pitchFamily="18" charset="2"/>
              </a:rPr>
              <a:t>P(v)</a:t>
            </a:r>
          </a:p>
          <a:p>
            <a:pPr algn="ctr">
              <a:buFontTx/>
              <a:buNone/>
            </a:pPr>
            <a:r>
              <a:rPr lang="en-US" sz="2000" b="1" dirty="0">
                <a:solidFill>
                  <a:srgbClr val="CC0099"/>
                </a:solidFill>
              </a:rPr>
              <a:t>SUBST({v/C}, </a:t>
            </a:r>
            <a:r>
              <a:rPr lang="en-US" sz="2000" b="1" dirty="0">
                <a:solidFill>
                  <a:srgbClr val="CC0099"/>
                </a:solidFill>
                <a:cs typeface="Arial" charset="0"/>
                <a:sym typeface="Symbol" pitchFamily="18" charset="2"/>
              </a:rPr>
              <a:t>P(v)</a:t>
            </a:r>
            <a:r>
              <a:rPr lang="en-US" sz="2000" b="1" dirty="0">
                <a:solidFill>
                  <a:srgbClr val="CC0099"/>
                </a:solidFill>
              </a:rPr>
              <a:t>)</a:t>
            </a:r>
            <a:br>
              <a:rPr lang="en-US" sz="2000" b="1" dirty="0">
                <a:solidFill>
                  <a:srgbClr val="CC0099"/>
                </a:solidFill>
              </a:rPr>
            </a:br>
            <a:endParaRPr lang="en-US" sz="700" dirty="0"/>
          </a:p>
          <a:p>
            <a:pPr>
              <a:buFontTx/>
              <a:buNone/>
            </a:pPr>
            <a:r>
              <a:rPr lang="en-US" sz="2000" dirty="0"/>
              <a:t>	for any sentence </a:t>
            </a:r>
            <a:r>
              <a:rPr lang="en-US" sz="2000" dirty="0">
                <a:solidFill>
                  <a:srgbClr val="CC0099"/>
                </a:solidFill>
                <a:cs typeface="Arial" charset="0"/>
                <a:sym typeface="Symbol" pitchFamily="18" charset="2"/>
              </a:rPr>
              <a:t>P</a:t>
            </a:r>
            <a:r>
              <a:rPr lang="en-US" sz="2000" dirty="0"/>
              <a:t>, variable </a:t>
            </a:r>
            <a:r>
              <a:rPr lang="en-US" sz="2000" dirty="0">
                <a:solidFill>
                  <a:srgbClr val="CC0099"/>
                </a:solidFill>
              </a:rPr>
              <a:t>v</a:t>
            </a:r>
            <a:r>
              <a:rPr lang="en-US" sz="2000" dirty="0"/>
              <a:t>, and constant </a:t>
            </a:r>
            <a:r>
              <a:rPr lang="en-US" sz="2000" dirty="0">
                <a:solidFill>
                  <a:srgbClr val="CC0099"/>
                </a:solidFill>
              </a:rPr>
              <a:t>C</a:t>
            </a:r>
            <a:r>
              <a:rPr lang="en-US" sz="2000" i="1" dirty="0"/>
              <a:t> </a:t>
            </a:r>
            <a:r>
              <a:rPr lang="en-US" sz="2000" dirty="0"/>
              <a:t>that does not appear elsewhere in the knowledge base</a:t>
            </a:r>
            <a:br>
              <a:rPr lang="en-US" sz="2000" dirty="0"/>
            </a:br>
            <a:endParaRPr lang="en-US" sz="2000" dirty="0"/>
          </a:p>
          <a:p>
            <a:r>
              <a:rPr lang="en-US" sz="2000" dirty="0"/>
              <a:t>E.g., </a:t>
            </a:r>
            <a:r>
              <a:rPr lang="el-GR" sz="2000" dirty="0">
                <a:solidFill>
                  <a:srgbClr val="CC0099"/>
                </a:solidFill>
                <a:cs typeface="Arial" charset="0"/>
                <a:sym typeface="Symbol" pitchFamily="18" charset="2"/>
              </a:rPr>
              <a:t></a:t>
            </a:r>
            <a:r>
              <a:rPr lang="en-US" sz="2000" dirty="0">
                <a:solidFill>
                  <a:srgbClr val="CC0099"/>
                </a:solidFill>
              </a:rPr>
              <a:t>x Crown(x) </a:t>
            </a:r>
            <a:r>
              <a:rPr lang="en-US" sz="2000" dirty="0">
                <a:solidFill>
                  <a:srgbClr val="CC0099"/>
                </a:solidFill>
                <a:sym typeface="Symbol" pitchFamily="18" charset="2"/>
              </a:rPr>
              <a:t></a:t>
            </a:r>
            <a:r>
              <a:rPr lang="en-US" sz="2000" dirty="0">
                <a:solidFill>
                  <a:srgbClr val="CC0099"/>
                </a:solidFill>
              </a:rPr>
              <a:t> </a:t>
            </a:r>
            <a:r>
              <a:rPr lang="en-US" sz="2000" dirty="0" err="1">
                <a:solidFill>
                  <a:srgbClr val="CC0099"/>
                </a:solidFill>
              </a:rPr>
              <a:t>OnHead</a:t>
            </a:r>
            <a:r>
              <a:rPr lang="en-US" sz="2000" dirty="0">
                <a:solidFill>
                  <a:srgbClr val="CC0099"/>
                </a:solidFill>
              </a:rPr>
              <a:t>(</a:t>
            </a:r>
            <a:r>
              <a:rPr lang="en-US" sz="2000" dirty="0" err="1">
                <a:solidFill>
                  <a:srgbClr val="CC0099"/>
                </a:solidFill>
              </a:rPr>
              <a:t>x,John</a:t>
            </a:r>
            <a:r>
              <a:rPr lang="en-US" sz="2000" dirty="0">
                <a:solidFill>
                  <a:srgbClr val="CC0099"/>
                </a:solidFill>
              </a:rPr>
              <a:t>) </a:t>
            </a:r>
            <a:r>
              <a:rPr lang="en-US" sz="2000" dirty="0"/>
              <a:t>yields:</a:t>
            </a:r>
          </a:p>
          <a:p>
            <a:pPr algn="ctr">
              <a:buFontTx/>
              <a:buNone/>
            </a:pPr>
            <a:r>
              <a:rPr lang="en-US" sz="2000" dirty="0">
                <a:solidFill>
                  <a:srgbClr val="CC0099"/>
                </a:solidFill>
              </a:rPr>
              <a:t>Crown(C</a:t>
            </a:r>
            <a:r>
              <a:rPr lang="en-US" sz="2000" baseline="-25000" dirty="0">
                <a:solidFill>
                  <a:srgbClr val="CC0099"/>
                </a:solidFill>
              </a:rPr>
              <a:t>1</a:t>
            </a:r>
            <a:r>
              <a:rPr lang="en-US" sz="2000" dirty="0">
                <a:solidFill>
                  <a:srgbClr val="CC0099"/>
                </a:solidFill>
              </a:rPr>
              <a:t>) </a:t>
            </a:r>
            <a:r>
              <a:rPr lang="en-US" sz="2000" dirty="0">
                <a:solidFill>
                  <a:srgbClr val="CC0099"/>
                </a:solidFill>
                <a:sym typeface="Symbol" pitchFamily="18" charset="2"/>
              </a:rPr>
              <a:t></a:t>
            </a:r>
            <a:r>
              <a:rPr lang="en-US" sz="2000" dirty="0">
                <a:solidFill>
                  <a:srgbClr val="CC0099"/>
                </a:solidFill>
              </a:rPr>
              <a:t> </a:t>
            </a:r>
            <a:r>
              <a:rPr lang="en-US" sz="2000" dirty="0" err="1">
                <a:solidFill>
                  <a:srgbClr val="CC0099"/>
                </a:solidFill>
              </a:rPr>
              <a:t>OnHead</a:t>
            </a:r>
            <a:r>
              <a:rPr lang="en-US" sz="2000" dirty="0">
                <a:solidFill>
                  <a:srgbClr val="CC0099"/>
                </a:solidFill>
              </a:rPr>
              <a:t>(C</a:t>
            </a:r>
            <a:r>
              <a:rPr lang="en-US" sz="2000" baseline="-25000" dirty="0">
                <a:solidFill>
                  <a:srgbClr val="CC0099"/>
                </a:solidFill>
              </a:rPr>
              <a:t>1</a:t>
            </a:r>
            <a:r>
              <a:rPr lang="en-US" sz="2000" dirty="0">
                <a:solidFill>
                  <a:srgbClr val="CC0099"/>
                </a:solidFill>
              </a:rPr>
              <a:t>,John)</a:t>
            </a:r>
            <a:r>
              <a:rPr lang="en-US" sz="2000" dirty="0"/>
              <a:t>
</a:t>
            </a:r>
          </a:p>
          <a:p>
            <a:pPr>
              <a:buFontTx/>
              <a:buNone/>
            </a:pPr>
            <a:r>
              <a:rPr lang="en-US" sz="2000" dirty="0"/>
              <a:t>	provided </a:t>
            </a:r>
            <a:r>
              <a:rPr lang="en-US" sz="2000" dirty="0">
                <a:solidFill>
                  <a:srgbClr val="CC0099"/>
                </a:solidFill>
              </a:rPr>
              <a:t>C</a:t>
            </a:r>
            <a:r>
              <a:rPr lang="en-US" sz="2000" baseline="-25000" dirty="0">
                <a:solidFill>
                  <a:srgbClr val="CC0099"/>
                </a:solidFill>
              </a:rPr>
              <a:t>1</a:t>
            </a:r>
            <a:r>
              <a:rPr lang="en-US" sz="2000" dirty="0"/>
              <a:t> is a new constant symbol, called a </a:t>
            </a:r>
            <a:r>
              <a:rPr lang="en-US" sz="2000" i="1" dirty="0" err="1">
                <a:solidFill>
                  <a:schemeClr val="accent2"/>
                </a:solidFill>
              </a:rPr>
              <a:t>Skolem</a:t>
            </a:r>
            <a:r>
              <a:rPr lang="en-US" sz="2000" i="1" dirty="0">
                <a:solidFill>
                  <a:schemeClr val="accent2"/>
                </a:solidFill>
              </a:rPr>
              <a:t> constant</a:t>
            </a:r>
            <a:r>
              <a:rPr lang="en-US" sz="2000" dirty="0"/>
              <a:t>
</a:t>
            </a:r>
          </a:p>
        </p:txBody>
      </p:sp>
      <p:sp>
        <p:nvSpPr>
          <p:cNvPr id="6148" name="Line 4"/>
          <p:cNvSpPr>
            <a:spLocks noChangeShapeType="1"/>
          </p:cNvSpPr>
          <p:nvPr/>
        </p:nvSpPr>
        <p:spPr bwMode="auto">
          <a:xfrm>
            <a:off x="4800600" y="3429000"/>
            <a:ext cx="2590800" cy="0"/>
          </a:xfrm>
          <a:prstGeom prst="line">
            <a:avLst/>
          </a:prstGeom>
          <a:noFill/>
          <a:ln w="25400">
            <a:solidFill>
              <a:srgbClr val="CC0099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/>
    </p:bldLst>
  </p:timing>
</p:sld>
</file>

<file path=ppt/theme/theme1.xml><?xml version="1.0" encoding="utf-8"?>
<a:theme xmlns:a="http://schemas.openxmlformats.org/drawingml/2006/main" name="Capsules">
  <a:themeElements>
    <a:clrScheme name="Capsules 2">
      <a:dk1>
        <a:srgbClr val="003366"/>
      </a:dk1>
      <a:lt1>
        <a:srgbClr val="FFFFFF"/>
      </a:lt1>
      <a:dk2>
        <a:srgbClr val="006666"/>
      </a:dk2>
      <a:lt2>
        <a:srgbClr val="003366"/>
      </a:lt2>
      <a:accent1>
        <a:srgbClr val="99CC99"/>
      </a:accent1>
      <a:accent2>
        <a:srgbClr val="33CCCC"/>
      </a:accent2>
      <a:accent3>
        <a:srgbClr val="FFFFFF"/>
      </a:accent3>
      <a:accent4>
        <a:srgbClr val="002A56"/>
      </a:accent4>
      <a:accent5>
        <a:srgbClr val="CAE2CA"/>
      </a:accent5>
      <a:accent6>
        <a:srgbClr val="2DB9B9"/>
      </a:accent6>
      <a:hlink>
        <a:srgbClr val="666699"/>
      </a:hlink>
      <a:folHlink>
        <a:srgbClr val="CC99FF"/>
      </a:folHlink>
    </a:clrScheme>
    <a:fontScheme name="Capsule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</a:defRPr>
        </a:defPPr>
      </a:lstStyle>
    </a:lnDef>
  </a:objectDefaults>
  <a:extraClrSchemeLst>
    <a:extraClrScheme>
      <a:clrScheme name="Capsules 1">
        <a:dk1>
          <a:srgbClr val="000066"/>
        </a:dk1>
        <a:lt1>
          <a:srgbClr val="FFFFEB"/>
        </a:lt1>
        <a:dk2>
          <a:srgbClr val="336699"/>
        </a:dk2>
        <a:lt2>
          <a:srgbClr val="FFFFEB"/>
        </a:lt2>
        <a:accent1>
          <a:srgbClr val="666699"/>
        </a:accent1>
        <a:accent2>
          <a:srgbClr val="99CCFF"/>
        </a:accent2>
        <a:accent3>
          <a:srgbClr val="ADB8CA"/>
        </a:accent3>
        <a:accent4>
          <a:srgbClr val="DADAC9"/>
        </a:accent4>
        <a:accent5>
          <a:srgbClr val="B8B8CA"/>
        </a:accent5>
        <a:accent6>
          <a:srgbClr val="8AB9E7"/>
        </a:accent6>
        <a:hlink>
          <a:srgbClr val="CCCCFF"/>
        </a:hlink>
        <a:folHlink>
          <a:srgbClr val="C68D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psules 2">
        <a:dk1>
          <a:srgbClr val="003366"/>
        </a:dk1>
        <a:lt1>
          <a:srgbClr val="FFFFFF"/>
        </a:lt1>
        <a:dk2>
          <a:srgbClr val="006666"/>
        </a:dk2>
        <a:lt2>
          <a:srgbClr val="003366"/>
        </a:lt2>
        <a:accent1>
          <a:srgbClr val="99CC99"/>
        </a:accent1>
        <a:accent2>
          <a:srgbClr val="33CCCC"/>
        </a:accent2>
        <a:accent3>
          <a:srgbClr val="FFFFFF"/>
        </a:accent3>
        <a:accent4>
          <a:srgbClr val="002A56"/>
        </a:accent4>
        <a:accent5>
          <a:srgbClr val="CAE2CA"/>
        </a:accent5>
        <a:accent6>
          <a:srgbClr val="2DB9B9"/>
        </a:accent6>
        <a:hlink>
          <a:srgbClr val="666699"/>
        </a:hlink>
        <a:folHlink>
          <a:srgbClr val="CC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psule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C0C0C0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737373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psules 4">
        <a:dk1>
          <a:srgbClr val="000000"/>
        </a:dk1>
        <a:lt1>
          <a:srgbClr val="FFFFFF"/>
        </a:lt1>
        <a:dk2>
          <a:srgbClr val="9900CC"/>
        </a:dk2>
        <a:lt2>
          <a:srgbClr val="0033CC"/>
        </a:lt2>
        <a:accent1>
          <a:srgbClr val="FFCC66"/>
        </a:accent1>
        <a:accent2>
          <a:srgbClr val="33CC33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2DB92D"/>
        </a:accent6>
        <a:hlink>
          <a:srgbClr val="9900CC"/>
        </a:hlink>
        <a:folHlink>
          <a:srgbClr val="9900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Designs\Capsules.pot</Template>
  <TotalTime>1809</TotalTime>
  <Words>3605</Words>
  <Application>Microsoft Office PowerPoint</Application>
  <PresentationFormat>Widescreen</PresentationFormat>
  <Paragraphs>444</Paragraphs>
  <Slides>69</Slides>
  <Notes>9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69</vt:i4>
      </vt:variant>
    </vt:vector>
  </HeadingPairs>
  <TitlesOfParts>
    <vt:vector size="81" baseType="lpstr">
      <vt:lpstr>Arial</vt:lpstr>
      <vt:lpstr>Calibri</vt:lpstr>
      <vt:lpstr>Cambria</vt:lpstr>
      <vt:lpstr>Cambria Math</vt:lpstr>
      <vt:lpstr>Monotype Corsiva</vt:lpstr>
      <vt:lpstr>Symbol</vt:lpstr>
      <vt:lpstr>Tahoma</vt:lpstr>
      <vt:lpstr>Times New Roman</vt:lpstr>
      <vt:lpstr>Times-Roman</vt:lpstr>
      <vt:lpstr>Wingdings</vt:lpstr>
      <vt:lpstr>Capsules</vt:lpstr>
      <vt:lpstr>Equation</vt:lpstr>
      <vt:lpstr>Artificial Intelligence  </vt:lpstr>
      <vt:lpstr>Knowledge and Reasoning</vt:lpstr>
      <vt:lpstr>The Wumpus World Environment </vt:lpstr>
      <vt:lpstr>Sensors Configuration </vt:lpstr>
      <vt:lpstr>Actuators:</vt:lpstr>
      <vt:lpstr>PowerPoint Presentation</vt:lpstr>
      <vt:lpstr>PowerPoint Presentation</vt:lpstr>
      <vt:lpstr>PowerPoint Presentation</vt:lpstr>
      <vt:lpstr>Logic</vt:lpstr>
      <vt:lpstr>Types of Logics</vt:lpstr>
      <vt:lpstr>Propositional Logic</vt:lpstr>
      <vt:lpstr>Understanding Truth Table</vt:lpstr>
      <vt:lpstr>Inference Rules</vt:lpstr>
      <vt:lpstr>Propositional Logic: Syntax</vt:lpstr>
      <vt:lpstr>Propositional Logic: Semantics</vt:lpstr>
      <vt:lpstr>Logical Equivalence </vt:lpstr>
      <vt:lpstr>Validity and Satisfiability </vt:lpstr>
      <vt:lpstr>Forward and backward Chaining </vt:lpstr>
      <vt:lpstr>Inference Engine Cycles via a Match-Fire Procedure</vt:lpstr>
      <vt:lpstr>An Example of an Inference Chain</vt:lpstr>
      <vt:lpstr>Forward Chaining (FC) Technique</vt:lpstr>
      <vt:lpstr>PowerPoint Presentation</vt:lpstr>
      <vt:lpstr>PowerPoint Presentation</vt:lpstr>
      <vt:lpstr>Backward Chaining (BC) Technique</vt:lpstr>
      <vt:lpstr>Backward Chaining (BC) Technique</vt:lpstr>
      <vt:lpstr>PowerPoint Presentation</vt:lpstr>
      <vt:lpstr>How Do We Choose Between FC and BC</vt:lpstr>
      <vt:lpstr>List of tautologies in propositional logic</vt:lpstr>
      <vt:lpstr>Conversion to CNF</vt:lpstr>
      <vt:lpstr>Modeling in propositional logic  </vt:lpstr>
      <vt:lpstr>PowerPoint Presentation</vt:lpstr>
      <vt:lpstr>First-order logic</vt:lpstr>
      <vt:lpstr>Syntax of FOL: Basic elements</vt:lpstr>
      <vt:lpstr>PowerPoint Presentation</vt:lpstr>
      <vt:lpstr>Predicate </vt:lpstr>
      <vt:lpstr>First-order Logic</vt:lpstr>
      <vt:lpstr>PowerPoint Presentation</vt:lpstr>
      <vt:lpstr>Examples</vt:lpstr>
      <vt:lpstr>PowerPoint Presentation</vt:lpstr>
      <vt:lpstr>Only one student failed History </vt:lpstr>
      <vt:lpstr>The best score in History is better than the best score in Biology </vt:lpstr>
      <vt:lpstr>No person likes a professor unless the professor is smart </vt:lpstr>
      <vt:lpstr>Atomic sentences</vt:lpstr>
      <vt:lpstr>Complex sentences</vt:lpstr>
      <vt:lpstr>Truth in first-order logic</vt:lpstr>
      <vt:lpstr>Models for FOL: Example</vt:lpstr>
      <vt:lpstr>Universal quantification</vt:lpstr>
      <vt:lpstr>A common mistake to avoid</vt:lpstr>
      <vt:lpstr>Existential quantification</vt:lpstr>
      <vt:lpstr>Another common mistake to avoid</vt:lpstr>
      <vt:lpstr>Properties of quantifiers</vt:lpstr>
      <vt:lpstr>Equality</vt:lpstr>
      <vt:lpstr>Using FOL</vt:lpstr>
      <vt:lpstr>Knowledge engineering in FOL</vt:lpstr>
      <vt:lpstr>Russel’s Paradox:  There is a single barber in town. Those and only those who do not shave themselves are shaved by the barber. Who shaves the barber? </vt:lpstr>
      <vt:lpstr>Example Problem</vt:lpstr>
      <vt:lpstr>Example Problem</vt:lpstr>
      <vt:lpstr>Forward Chaining</vt:lpstr>
      <vt:lpstr>Backward Chaining</vt:lpstr>
      <vt:lpstr>Backward Chaining</vt:lpstr>
      <vt:lpstr>FOL to CNF</vt:lpstr>
      <vt:lpstr>Using FOL: The Kinship Domain</vt:lpstr>
      <vt:lpstr>Why “First order”?</vt:lpstr>
      <vt:lpstr>Inference in FOL</vt:lpstr>
      <vt:lpstr>Reduction of FOL to PL</vt:lpstr>
      <vt:lpstr>Reduction of FOL to PL</vt:lpstr>
      <vt:lpstr>Substitution</vt:lpstr>
      <vt:lpstr>Universal instantiation (UI)</vt:lpstr>
      <vt:lpstr>Existential instantiation (EI)</vt:lpstr>
    </vt:vector>
  </TitlesOfParts>
  <Company>Department Of Computing, Imperial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Artificial Intelligence  4. Knowledge Representation</dc:title>
  <dc:creator>sgc</dc:creator>
  <cp:lastModifiedBy>Prof. Anup Nandy</cp:lastModifiedBy>
  <cp:revision>103</cp:revision>
  <dcterms:created xsi:type="dcterms:W3CDTF">2003-01-15T11:49:04Z</dcterms:created>
  <dcterms:modified xsi:type="dcterms:W3CDTF">2026-02-07T01:44:09Z</dcterms:modified>
</cp:coreProperties>
</file>
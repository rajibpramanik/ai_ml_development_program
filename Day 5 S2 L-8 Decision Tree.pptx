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5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5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03T19:29:27.2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15986 10272 256 0,'0'0'92'0,"0"-1"-45"0,0 0 25 0,0 0-3 16,0 0-66-16,0 0-1 0,1-1 4 0,0 0 7 0,1 0-4 15,-1-3-5-15,-1 3-7 0,1-2-2 0,1-1 0 16,-1 3 5-16,2-6 4 0,-1 2 0 0,0 0 3 16,0 0 16-16,-1 2 21 0,0 0 11 0,2-4 1 15,-1 2 23-15,0-1 11 0,0-1-6 0,-1 4 8 16,0 0-16-16,0-1-9 0,-1 3-6 0,1 0-1 0,0 0-32 0,-1 1-17 0,1-1 1 0,0 0-6 15,0 1 1-15,0 0 1 0,0 0 1 0,2 0-1 16,-1-1-11-16,0 1 8 0,0 1-7 0,-1 0 6 16,0 0-9-16,0 0 7 15,0 1 2-15,0 1 3 0,0-1 6 0,0 0 6 16,0 0 3-16,0 0 1 0,-1 0 2 0,0 0 3 16,0 0-5-16,0 0 4 0,0 0-7 0,0 1 4 0,0-1-5 15,0 1 4-15,0 0-13 0,0 1-10 0,0-2 3 16,0 7-4-16,2 2 1 0,-1-1 7 15,2 4-2-15,0-2 3 0,0 0-14 0,1 2 3 16,1-3-1-16,-2 0 3 0,1 0 7 0,-1 0-1 16,0-2-4-16,1 1 3 0,-1-1 12 0,-1-1 16 15,-1 0 6-15,0-2 1 0,0 1 13 0,1-1-25 0,-1-2 9 16,0 0-15-16,0 1-8 0,0-1-3 16,1 0-1-16,1 0 2 0,-1-1 2 0,4-1-2 0,-1 0-2 0,-3 0 1 15,4 4-10-15,-3-3 7 0,1 0-5 16,-3-2 6-16,3 2-3 0,-1-1-1 0,-1-1 0 0,4 2-1 15,-5-2-3-15,2 0-10 0,0 0-4 0,-2 0 0 0,3 0-5 16,-2 0-11-16,0 0 0 0,0 0-8 0,-1 0-31 16,0 0-56-16,0 0-25 0,0 0-23 15,-1 1-187-15</inkml:trace>
  <inkml:trace contextRef="#ctx0" brushRef="#br0" timeOffset="714.6">16139 10049 747 0,'0'0'0'0,"0"-1"6"0,0 0-59 0,0 0-42 15,0 1 6-15,1 0-15 0,0 0 23 0</inkml:trace>
  <inkml:trace contextRef="#ctx0" brushRef="#br0" timeOffset="788.6">16228 10041 277 0,'0'0'78'0,"0"0"-84"16,0 0 77-16,0 0-39 0,0 0-42 0,0-1-8 16,0 0-10-16,0 0-9 0,0 0-114 0</inkml:trace>
  <inkml:trace contextRef="#ctx0" brushRef="#br0" timeOffset="2446.23">16399 10041 946 0,'0'0'36'0,"0"0"-9"0,0-1 10 0,-1 0 0 0,0 0-31 0,1 0-9 0,0 0-4 16,0 0-2-16,0 0 2 0,0 0 7 0,0 0 4 15,0-1 0-15,0 0 1 0,0 0 0 0,0-1-9 16,0 1 5-16,0 0-5 0,0 0 6 0,0 0-1 0,0 0-3 16,-1 1 1-16,0 0-3 0,0 0 5 0,0 0-1 15,-1 0 2-15,-1 0-6 0,-3-3 2 16,-2 0 5-16,-3 0-1 0,2 1 6 0,-2 0-10 16,-1 0 2-16,3 2-3 0,-2 0 3 0,0 0 5 15,-1 0-2-15,-1 1 4 0,-1 0 1 0,1 0 6 0,-1 1-6 16,1 0 6-16,0 1 3 0,-1 2 16 0,2-2-3 15,0 1 5-15,2 0-10 0,-1 0-14 16,1 0 7-16,-2 1-10 0,0-1 4 16,2 0-5-16,0-1 0 0,1 0 0 0,0 0 4 15,2-1 3-15,-2 1-3 0,2 0 2 0,0-1-4 0,0 0-3 16,0 0-3-16,1 0-1 0,-1 0-3 0,0 0 3 16,0 0 2-16,0 1 0 0,1-1-9 0,-1 0 0 15,2 0 5-15,0 0-1 0,1 0 2 0,0 0 5 16,1 0-9-16,1-1 6 0,0 0-9 0,1 0 9 15,-2 2-1-15,2-2 3 0,-1 1-4 0,-1 0 1 16,0 1-4-16,0 0 2 0,0 2-6 0,-1 2 13 16,3 1 6-16,-2 0 1 0,1 1 3 0,1-1-15 0,-2 1 1 15,2 1-3-15,0 0 11 0,0 0-13 0,-5-1 8 16,1 0-8-16,2-1 9 0,0 1-6 0,1-1 2 16,1-1-3-16,0 1-1 0,0 1 3 0,0-1-3 0,0 0 4 0,-2 4 2 0,3-6-5 15,-1 3 2 1,1 0-3-16,0-1 3 0,0 1 1 0,0-2 0 0,0 2 0 0,0 1-3 0,0 0-4 0,0 1 1 15,0-3-2-15,0 3 5 0,0 0 2 0,0-1 2 16,0 0-1-16,1 0 5 16,1-2-8-16,-1 0 3 0,0-1-3 15,0 0 6-15,1 0 6 0,-1-2-4 0,1 0 3 16,0 1-10-16,0 0 6 0,1 0 1 0,1-1 1 0,-2 0-4 16,4 1 0-16,0 0-5 0,2-1 3 0,-1-1-3 15,0 2 6-15,0-1 1 0,0-1 1 0,1 0-7 16,0-1 6-16,1 0-3 0,-2 0 3 0,2 1-11 0,0-2 4 15,-1 0 0-15,1 1 2 0,2-1-1 0,-1 6-1 16,2 0 1-16,1-2 1 0,-3-2 8 0,3 0-8 16,0-1 0-16,0 0-2 0,1 1-2 0,-1-1 8 15,1-1-4-15,-2 0 8 0,-2 0-9 0,1 0 7 0,-2-1-5 0,-2 0 6 0,3 0-4 16,-4 0 2-16,2 0 5 0,-3 0-3 0,1-1-1 0,2 0-3 16,0-1 0-16,2-1-1 0,-1-2 0 0,3 0 8 15,-1-1-4-15,0-1 5 0,2 0-9 0,-2 1-1 16,2-2 0-16,0 0 0 0,-1-1 3 0,0 1-4 15,-1 6-1-15,-1-9 0 16,0-1 4-16,-3 1 0 0,1-2 6 0,-3-1-3 0,-1 2 6 16,-2-1 20-16,0-1-9 0,-1 0 13 0,10-3-19 15,-5 1-1-15,-1-4-2 0,-4 1 0 0,-1 1-10 0,-1-1-3 16,-2 4-2 0,0-3 1-16,-1 3 0 0,-1-1-5 0,-2 1 2 15,1 2-5-15,-1 1-5 0,-1 0-19 0,6 1-4 0,-12 2-6 16,1 0-22-16,-1 1-111 0,-2 2-45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03T19:31:38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7439 4864 256 0,'0'0'-70'0,"0"0"26"0</inkml:trace>
  <inkml:trace contextRef="#ctx0" brushRef="#br0" timeOffset="375.58">7449 4822 105 0,'0'0'68'0,"0"0"-18"0,0 0 59 0,0 0-11 0,0 0-60 0,0 0-24 16,0 0 0-16,0 0-7 0,-1 0 2 0,0 0-1 15,0 0 1-15,0 0 0 0,-1 0 1 0,1 0 25 16,0 0 3-16,0 0 7 0,0 0 5 0,0 0-12 16,0 1 1-16,0 0-2 0,0 0 3 0,0 0 1 15,0 0-7-15,0 0 4 0,0 0-17 0,-1 0-14 16,0 0 2-16,-1 1-6 0,-1 1 1 0,-2 1-4 16,-3 1 1-16,5-3-1 0,-1 0 16 0,4-2 0 15,0 0 3-15,0 0-2 0,-1 1 0 0,0-1-13 16,0 1 0-16,0 0-4 0,0 1-7 0,1-1 6 0,0 0-1 15,0 0 1-15,-1 0-3 0,1 0 8 16,-1 0-4-16,1-1 4 0,0 0-4 0,-1 0 0 0,1 0 4 16,0 0-3-16,0 0-1 0,0 0 5 0,0 0-7 15,0 0 7-15,0 0-10 0,0 0 3 0,0 0 4 16,0 0-1-16,0 0 1 0,0 0 3 0,0 0-5 0,0 0 7 16,0 0 15-16,0 0 13 0,1 0-3 0,-1 0 3 15,-1 1-19-15,1-1-7 0,0 1 2 0,0 0-3 16,0 0 1-16,0 0-9 0,0 0 0 0,0 0-4 15,0 0-7-15,0 0 6 0,0 0 0 0,-1 1 0 0,0-1-8 16,0 0-44-16,0 0-38 0,0 0-24 16,0 0-356-16</inkml:trace>
  <inkml:trace contextRef="#ctx0" brushRef="#br0" timeOffset="2062.46">11505 16717 571 0,'0'0'0'16,"0"0"50"-16,-1 0-1 0,0 0 2 0,0 0 5 0,0 0-30 16,0 0 11-16,0 0 38 0,-1 0-5 0,0 1 3 15,0 1-44-15,0-1-20 0,-1 0-2 0,1 0-6 16,0 0 2-16,0 0 0 0,0 0-3 0,0 0 0 16,0 0-13-16,0 0-103 0,1 0-31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2DEB8-393E-431C-985A-6847C1557BA7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A765D-2EE9-4714-AC98-CF21EB9619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213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F0B64970-62DD-4CCB-BE49-E6E4750ADD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700088"/>
            <a:ext cx="6189663" cy="3482975"/>
          </a:xfrm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62F05AA2-C02A-41DD-8091-E72CDA86A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4112" y="4416098"/>
            <a:ext cx="5142177" cy="4180921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1577" tIns="45784" rIns="91577" bIns="45784"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2650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FCDDEAF5-9425-4DDC-A2D2-5810C9FFB7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98500"/>
            <a:ext cx="6192838" cy="3484563"/>
          </a:xfrm>
          <a:solidFill>
            <a:srgbClr val="FFFFFF"/>
          </a:solidFill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EFD0D418-3071-46CA-B154-602AA1AB3F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4112" y="4414561"/>
            <a:ext cx="5142177" cy="4183995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1595" tIns="45798" rIns="91595" bIns="45798"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6315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>
            <a:extLst>
              <a:ext uri="{FF2B5EF4-FFF2-40B4-BE49-F238E27FC236}">
                <a16:creationId xmlns:a16="http://schemas.microsoft.com/office/drawing/2014/main" id="{20B3041E-EF8E-4B4D-8CED-02568D6775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0688" y="704850"/>
            <a:ext cx="6172200" cy="3471863"/>
          </a:xfrm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992D7DAD-5E42-4229-9A2B-16AC2D955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920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0FEC-B31F-4C6D-8143-A01112506B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5F36-54E6-4883-AB92-72342DD6FC6A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231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0FEC-B31F-4C6D-8143-A01112506B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5F36-54E6-4883-AB92-72342DD6F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5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0FEC-B31F-4C6D-8143-A01112506B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5F36-54E6-4883-AB92-72342DD6FC6A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60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0FEC-B31F-4C6D-8143-A01112506B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5F36-54E6-4883-AB92-72342DD6F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759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0FEC-B31F-4C6D-8143-A01112506B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5F36-54E6-4883-AB92-72342DD6F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194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0FEC-B31F-4C6D-8143-A01112506B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5F36-54E6-4883-AB92-72342DD6F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013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0FEC-B31F-4C6D-8143-A01112506B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5F36-54E6-4883-AB92-72342DD6F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5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0B10FEC-B31F-4C6D-8143-A01112506B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D205F36-54E6-4883-AB92-72342DD6F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060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0FEC-B31F-4C6D-8143-A01112506B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5F36-54E6-4883-AB92-72342DD6F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428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0FEC-B31F-4C6D-8143-A01112506B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5F36-54E6-4883-AB92-72342DD6F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81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10FEC-B31F-4C6D-8143-A01112506B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05F36-54E6-4883-AB92-72342DD6FC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099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4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02A53-3B60-466B-B1DF-038EAD17E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7238FA-DAF3-4006-A33E-6F1E7FD34C2F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35803-0B27-4F43-A185-3763EC4E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Prasenjit Dey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395D3-A094-4D9D-8522-A6248BF7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E6091-0CA5-4BB6-82E3-E3DDEB6685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69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52400"/>
            <a:ext cx="11040533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48217" y="1143000"/>
            <a:ext cx="5444067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5484" y="1143000"/>
            <a:ext cx="5444067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5484" y="3810000"/>
            <a:ext cx="5444067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A4356F-CD02-4726-A4AB-6FEC6084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964F5C-5E9C-48C5-9900-98FB1C2BEC4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362CAB-4783-4D17-9D0F-38B6CF0F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Prasenjit Dey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4AD326-B49A-480D-9BCA-F1F273A8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3C97A-1A61-43C2-9A71-CFE5CD1BBA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25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0B10FEC-B31F-4C6D-8143-A01112506B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D205F36-54E6-4883-AB92-72342DD6FC6A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17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eyp@nitrkl.ac.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2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5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18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7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2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24.emf"/><Relationship Id="rId7" Type="http://schemas.openxmlformats.org/officeDocument/2006/relationships/image" Target="../media/image26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28.emf"/><Relationship Id="rId5" Type="http://schemas.openxmlformats.org/officeDocument/2006/relationships/image" Target="../media/image25.emf"/><Relationship Id="rId10" Type="http://schemas.openxmlformats.org/officeDocument/2006/relationships/oleObject" Target="../embeddings/oleObject27.bin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7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9.png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2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6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7" Type="http://schemas.openxmlformats.org/officeDocument/2006/relationships/image" Target="../media/image40.e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39.emf"/><Relationship Id="rId4" Type="http://schemas.openxmlformats.org/officeDocument/2006/relationships/oleObject" Target="../embeddings/oleObject38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510.png"/><Relationship Id="rId7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38.emf"/><Relationship Id="rId10" Type="http://schemas.openxmlformats.org/officeDocument/2006/relationships/image" Target="../media/image59.png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0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47.bin"/><Relationship Id="rId9" Type="http://schemas.openxmlformats.org/officeDocument/2006/relationships/image" Target="../media/image6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emf"/><Relationship Id="rId4" Type="http://schemas.openxmlformats.org/officeDocument/2006/relationships/oleObject" Target="../embeddings/oleObject50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7" Type="http://schemas.openxmlformats.org/officeDocument/2006/relationships/image" Target="../media/image51.e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50.emf"/><Relationship Id="rId4" Type="http://schemas.openxmlformats.org/officeDocument/2006/relationships/oleObject" Target="../embeddings/oleObject50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72.emf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71.emf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AF3285F-F532-4C69-95A5-0DFDA2E19AC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sz="5400" dirty="0"/>
              <a:t>Classification: </a:t>
            </a:r>
            <a:r>
              <a:rPr lang="en-US" altLang="en-US" sz="5400" dirty="0">
                <a:ea typeface="ＭＳ Ｐゴシック" panose="020B0600070205080204" pitchFamily="34" charset="-128"/>
              </a:rPr>
              <a:t>Decision Tree </a:t>
            </a:r>
            <a:endParaRPr lang="en-US" sz="18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 err="1"/>
              <a:t>Dr.</a:t>
            </a:r>
            <a:r>
              <a:rPr lang="en-IN" dirty="0"/>
              <a:t> Prasenjit Dey</a:t>
            </a:r>
          </a:p>
          <a:p>
            <a:r>
              <a:rPr lang="en-IN" dirty="0">
                <a:hlinkClick r:id="rId3"/>
              </a:rPr>
              <a:t>deyp@nitrkl.ac.in</a:t>
            </a:r>
            <a:endParaRPr lang="en-IN" dirty="0"/>
          </a:p>
          <a:p>
            <a:r>
              <a:rPr lang="en-IN" dirty="0"/>
              <a:t>9123363688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31050B-5B97-4A44-AE00-4839CE39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6A149A-BE62-461B-A3B5-F2F7D3CCDF25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296A76-0A06-4DED-8B91-B0EE654D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75DD6-4672-4F62-BD9E-D41CCA69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DB5FB9-BC54-407B-B625-9BB964FB1D22}" type="slidenum">
              <a:rPr lang="en-US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04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016B6D02-8AE9-4F7E-97B0-C9CCD7FC4E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Classification: Definition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D5E82030-C269-4E19-A3DA-C9DC83A38D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Given a collection of records (training set )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Each record is characterized by a tuple (</a:t>
            </a:r>
            <a:r>
              <a:rPr lang="en-US" b="1" i="1" dirty="0" err="1">
                <a:latin typeface="Times New Roman" charset="0"/>
              </a:rPr>
              <a:t>x</a:t>
            </a:r>
            <a:r>
              <a:rPr lang="en-US" dirty="0" err="1"/>
              <a:t>,</a:t>
            </a:r>
            <a:r>
              <a:rPr lang="en-US" i="1" dirty="0" err="1">
                <a:latin typeface="Times New Roman" charset="0"/>
              </a:rPr>
              <a:t>y</a:t>
            </a:r>
            <a:r>
              <a:rPr lang="en-US" dirty="0"/>
              <a:t>), where </a:t>
            </a:r>
            <a:r>
              <a:rPr lang="en-US" b="1" i="1" dirty="0">
                <a:latin typeface="Times New Roman" charset="0"/>
              </a:rPr>
              <a:t>x </a:t>
            </a:r>
            <a:r>
              <a:rPr lang="en-US" dirty="0"/>
              <a:t>is the attribute set and </a:t>
            </a:r>
            <a:r>
              <a:rPr lang="en-US" i="1" dirty="0">
                <a:latin typeface="Times New Roman" charset="0"/>
              </a:rPr>
              <a:t>y </a:t>
            </a:r>
            <a:r>
              <a:rPr lang="en-US" dirty="0"/>
              <a:t>is the class label</a:t>
            </a:r>
          </a:p>
          <a:p>
            <a:pPr lvl="2">
              <a:buFont typeface="Wingdings" charset="0"/>
              <a:buChar char="u"/>
              <a:defRPr/>
            </a:pPr>
            <a:r>
              <a:rPr lang="en-US" dirty="0"/>
              <a:t> </a:t>
            </a:r>
            <a:r>
              <a:rPr lang="en-US" b="1" i="1" dirty="0">
                <a:latin typeface="Times New Roman" charset="0"/>
              </a:rPr>
              <a:t>x</a:t>
            </a:r>
            <a:r>
              <a:rPr lang="en-US" dirty="0"/>
              <a:t>: attribute, predictor, independent variable, input</a:t>
            </a:r>
          </a:p>
          <a:p>
            <a:pPr lvl="2">
              <a:buFont typeface="Wingdings" charset="0"/>
              <a:buChar char="u"/>
              <a:defRPr/>
            </a:pPr>
            <a:r>
              <a:rPr lang="en-US" dirty="0"/>
              <a:t> </a:t>
            </a:r>
            <a:r>
              <a:rPr lang="en-US" i="1" dirty="0">
                <a:latin typeface="Times New Roman" charset="0"/>
              </a:rPr>
              <a:t>y</a:t>
            </a:r>
            <a:r>
              <a:rPr lang="en-US" dirty="0"/>
              <a:t>: class, response, dependent variable, output</a:t>
            </a:r>
          </a:p>
          <a:p>
            <a:pPr lvl="4">
              <a:defRPr/>
            </a:pPr>
            <a:endParaRPr lang="en-US" dirty="0">
              <a:latin typeface="Times New Roman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Task: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Learn a model that maps each attribute set </a:t>
            </a:r>
            <a:r>
              <a:rPr lang="en-US" b="1" i="1" dirty="0">
                <a:latin typeface="Times New Roman" charset="0"/>
              </a:rPr>
              <a:t>x </a:t>
            </a:r>
            <a:r>
              <a:rPr lang="en-US" dirty="0"/>
              <a:t>into one of the predefined class labels </a:t>
            </a:r>
            <a:r>
              <a:rPr lang="en-US" i="1" dirty="0">
                <a:latin typeface="Times New Roman" charset="0"/>
              </a:rPr>
              <a:t>y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2A8E8-34E1-49C0-938E-437D52E25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E0D2765-1021-4320-8EDB-9F70FA518F94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C378C-EF0B-4ED7-A0AF-229AA7AD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F9B5E-B437-410B-A7CB-230267D9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85B7A3-5A38-4F3E-B10F-49462E68EC55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462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DCC57B6-09B2-4859-968C-2D315575F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Examples of Classification Task</a:t>
            </a:r>
          </a:p>
        </p:txBody>
      </p:sp>
      <p:graphicFrame>
        <p:nvGraphicFramePr>
          <p:cNvPr id="919591" name="Group 39">
            <a:extLst>
              <a:ext uri="{FF2B5EF4-FFF2-40B4-BE49-F238E27FC236}">
                <a16:creationId xmlns:a16="http://schemas.microsoft.com/office/drawing/2014/main" id="{6E0B2BA6-834C-4F37-B8FC-CF6FAE691B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0241245"/>
              </p:ext>
            </p:extLst>
          </p:nvPr>
        </p:nvGraphicFramePr>
        <p:xfrm>
          <a:off x="2346325" y="1846264"/>
          <a:ext cx="7543800" cy="4325937"/>
        </p:xfrm>
        <a:graphic>
          <a:graphicData uri="http://schemas.openxmlformats.org/drawingml/2006/table">
            <a:tbl>
              <a:tblPr/>
              <a:tblGrid>
                <a:gridCol w="1730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8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1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Task</a:t>
                      </a:r>
                    </a:p>
                  </a:txBody>
                  <a:tcPr marL="81113" marR="811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Attribute set, 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x</a:t>
                      </a:r>
                    </a:p>
                  </a:txBody>
                  <a:tcPr marL="81113" marR="811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label, 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marL="81113" marR="811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55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Categorizing email messages</a:t>
                      </a:r>
                    </a:p>
                  </a:txBody>
                  <a:tcPr marL="81113" marR="811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Features extracted from email message header and content</a:t>
                      </a:r>
                    </a:p>
                  </a:txBody>
                  <a:tcPr marL="81113" marR="811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spam or non-spam</a:t>
                      </a:r>
                    </a:p>
                  </a:txBody>
                  <a:tcPr marL="81113" marR="811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55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Identifying tumor cells</a:t>
                      </a:r>
                    </a:p>
                  </a:txBody>
                  <a:tcPr marL="81113" marR="811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Features extracted from x-rays or MRI scans</a:t>
                      </a:r>
                    </a:p>
                  </a:txBody>
                  <a:tcPr marL="81113" marR="811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malignant or benign cells</a:t>
                      </a:r>
                    </a:p>
                  </a:txBody>
                  <a:tcPr marL="81113" marR="811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55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Cataloging galaxies</a:t>
                      </a:r>
                    </a:p>
                  </a:txBody>
                  <a:tcPr marL="81113" marR="811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Features extracted from telescope images</a:t>
                      </a:r>
                    </a:p>
                  </a:txBody>
                  <a:tcPr marL="81113" marR="811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Elliptical, spiral, or irregular-shaped galaxies</a:t>
                      </a:r>
                    </a:p>
                  </a:txBody>
                  <a:tcPr marL="81113" marR="811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482C37-694C-4D2C-A565-B598115FE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C2CD76-282B-4686-A326-A05CB3AE3973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02E2BE-B5DD-4502-BE18-A23C8912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B13CD-EBD5-4896-8FD8-CA06C19F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A57BE-260D-4199-AF6E-D0261B79CD69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37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9304AC4-68D1-439E-9010-1939C98A2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General Approach for Building Classification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3B2C6-096E-43D2-A54D-F01C3BBE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BE9268-BBB9-4327-80F8-DA9B5EAB73E0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E8C20-5521-4B20-A564-301DA80FD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FAC17-B677-4A28-992C-AAE865F82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3303AC-9DAF-4A0A-8404-C373509D0818}" type="slidenum">
              <a:rPr lang="en-US"/>
              <a:pPr>
                <a:defRPr/>
              </a:pPr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A24205-C6DD-4289-9A38-FEB9720E2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062" y="1828946"/>
            <a:ext cx="5260790" cy="448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691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31FE5F76-0189-4571-9D7B-DC99E8170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Classification Techniques</a:t>
            </a:r>
          </a:p>
        </p:txBody>
      </p:sp>
      <p:sp>
        <p:nvSpPr>
          <p:cNvPr id="10242" name="Rectangle 5">
            <a:extLst>
              <a:ext uri="{FF2B5EF4-FFF2-40B4-BE49-F238E27FC236}">
                <a16:creationId xmlns:a16="http://schemas.microsoft.com/office/drawing/2014/main" id="{CD4B3303-47A0-4367-91DB-339D26A43A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Base Classifiers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Decision Tree based Methods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Rule-based Methods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Nearest-neighbor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Naïve Bayes and Bayesian Belief Networks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Support Vector Machines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Neural Networks, Deep Neural Nets</a:t>
            </a:r>
          </a:p>
          <a:p>
            <a:pPr lvl="1">
              <a:lnSpc>
                <a:spcPct val="90000"/>
              </a:lnSpc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Ensemble Classifiers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Boosting, Bagging, Random Forests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8BF689-0405-4689-8AA8-F20C26087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814937-B2D7-4844-AC52-0A3A16F9B209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6BBBF-2958-40EF-A85A-062680F26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A6AB2-31A3-4DB3-940B-BE07E3D2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A5596-71A0-4179-8254-834A517C85E5}" type="slidenum">
              <a:rPr lang="en-US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15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CC0A5A4-C05B-4EF2-B6EB-881B068D7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Example of a Decision Tree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44E44-FB63-46B6-833E-C93F7C50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37C6F07-1E66-4AC6-A86A-C5A217CC1AC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09C8D7-84F6-408D-8B34-C8AFD82B4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3F00D-7942-4514-8C03-F0F627D4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2B5309-B5CA-4AD1-B6EF-30AB68056BA9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11271" name="Line 9">
            <a:extLst>
              <a:ext uri="{FF2B5EF4-FFF2-40B4-BE49-F238E27FC236}">
                <a16:creationId xmlns:a16="http://schemas.microsoft.com/office/drawing/2014/main" id="{82EAE677-E585-4156-876E-0290EF4FEB8D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9950" y="4505325"/>
            <a:ext cx="242888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Line 10">
            <a:extLst>
              <a:ext uri="{FF2B5EF4-FFF2-40B4-BE49-F238E27FC236}">
                <a16:creationId xmlns:a16="http://schemas.microsoft.com/office/drawing/2014/main" id="{77ED1CC4-49CF-4F79-A87A-9B45606084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59650" y="4505325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Line 11">
            <a:extLst>
              <a:ext uri="{FF2B5EF4-FFF2-40B4-BE49-F238E27FC236}">
                <a16:creationId xmlns:a16="http://schemas.microsoft.com/office/drawing/2014/main" id="{52BA86D1-67C3-433A-AACE-C464A5A190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5764" y="3711575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" name="Line 12">
            <a:extLst>
              <a:ext uri="{FF2B5EF4-FFF2-40B4-BE49-F238E27FC236}">
                <a16:creationId xmlns:a16="http://schemas.microsoft.com/office/drawing/2014/main" id="{A7BED808-9C10-478B-9B3B-A9AC1809CAEE}"/>
              </a:ext>
            </a:extLst>
          </p:cNvPr>
          <p:cNvSpPr>
            <a:spLocks noChangeShapeType="1"/>
          </p:cNvSpPr>
          <p:nvPr/>
        </p:nvSpPr>
        <p:spPr bwMode="auto">
          <a:xfrm>
            <a:off x="9217025" y="3711575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5" name="Line 13">
            <a:extLst>
              <a:ext uri="{FF2B5EF4-FFF2-40B4-BE49-F238E27FC236}">
                <a16:creationId xmlns:a16="http://schemas.microsoft.com/office/drawing/2014/main" id="{80E001A5-6780-480F-ABAA-39BF004359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67688" y="29845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6" name="Line 14">
            <a:extLst>
              <a:ext uri="{FF2B5EF4-FFF2-40B4-BE49-F238E27FC236}">
                <a16:creationId xmlns:a16="http://schemas.microsoft.com/office/drawing/2014/main" id="{8D54B519-3549-4FC6-A7BA-9E2644A641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94500" y="29845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7" name="Text Box 15">
            <a:extLst>
              <a:ext uri="{FF2B5EF4-FFF2-40B4-BE49-F238E27FC236}">
                <a16:creationId xmlns:a16="http://schemas.microsoft.com/office/drawing/2014/main" id="{069D5BD2-820C-412A-B6B0-62846A9D6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2026" y="2530476"/>
            <a:ext cx="936625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78" name="Text Box 16">
            <a:extLst>
              <a:ext uri="{FF2B5EF4-FFF2-40B4-BE49-F238E27FC236}">
                <a16:creationId xmlns:a16="http://schemas.microsoft.com/office/drawing/2014/main" id="{8C8FDB0A-874F-41DF-874F-3ED923F47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5" y="3448050"/>
            <a:ext cx="935038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79" name="Text Box 17">
            <a:extLst>
              <a:ext uri="{FF2B5EF4-FFF2-40B4-BE49-F238E27FC236}">
                <a16:creationId xmlns:a16="http://schemas.microsoft.com/office/drawing/2014/main" id="{90756A9E-17D5-4C9B-B6F1-3D7F0D639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539" y="4240213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80" name="AutoShape 18">
            <a:extLst>
              <a:ext uri="{FF2B5EF4-FFF2-40B4-BE49-F238E27FC236}">
                <a16:creationId xmlns:a16="http://schemas.microsoft.com/office/drawing/2014/main" id="{FD2811B5-DCF5-4B53-8300-1207982C1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9638" y="5029201"/>
            <a:ext cx="627062" cy="36671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81" name="Text Box 19">
            <a:extLst>
              <a:ext uri="{FF2B5EF4-FFF2-40B4-BE49-F238E27FC236}">
                <a16:creationId xmlns:a16="http://schemas.microsoft.com/office/drawing/2014/main" id="{666E12E6-A47F-4131-8ACB-CDA366AA4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3438" y="50292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82" name="AutoShape 20">
            <a:extLst>
              <a:ext uri="{FF2B5EF4-FFF2-40B4-BE49-F238E27FC236}">
                <a16:creationId xmlns:a16="http://schemas.microsoft.com/office/drawing/2014/main" id="{59367DB1-AA95-409A-BAB9-E1B9AC753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388" y="5046664"/>
            <a:ext cx="654050" cy="3635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83" name="Text Box 21">
            <a:extLst>
              <a:ext uri="{FF2B5EF4-FFF2-40B4-BE49-F238E27FC236}">
                <a16:creationId xmlns:a16="http://schemas.microsoft.com/office/drawing/2014/main" id="{70F9981D-6F2D-4A8A-AC4E-50B624ACB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5032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84" name="AutoShape 22">
            <a:extLst>
              <a:ext uri="{FF2B5EF4-FFF2-40B4-BE49-F238E27FC236}">
                <a16:creationId xmlns:a16="http://schemas.microsoft.com/office/drawing/2014/main" id="{90EC9A02-70FF-437E-A083-E036EBC7A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2238" y="346233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85" name="Text Box 23">
            <a:extLst>
              <a:ext uri="{FF2B5EF4-FFF2-40B4-BE49-F238E27FC236}">
                <a16:creationId xmlns:a16="http://schemas.microsoft.com/office/drawing/2014/main" id="{8C2D9E2E-C19E-4553-9C99-F6A573014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7488" y="34480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rgbClr val="00FFFF"/>
              </a:solidFill>
            </a:endParaRPr>
          </a:p>
        </p:txBody>
      </p:sp>
      <p:sp>
        <p:nvSpPr>
          <p:cNvPr id="11286" name="AutoShape 24">
            <a:extLst>
              <a:ext uri="{FF2B5EF4-FFF2-40B4-BE49-F238E27FC236}">
                <a16:creationId xmlns:a16="http://schemas.microsoft.com/office/drawing/2014/main" id="{46D93ED2-48A5-41B8-A320-78D0FAD2B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7838" y="4267200"/>
            <a:ext cx="685800" cy="3810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87" name="Text Box 25">
            <a:extLst>
              <a:ext uri="{FF2B5EF4-FFF2-40B4-BE49-F238E27FC236}">
                <a16:creationId xmlns:a16="http://schemas.microsoft.com/office/drawing/2014/main" id="{FE82CFED-1B96-4755-A8B2-8B44720BD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4038" y="426720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88" name="Text Box 26">
            <a:extLst>
              <a:ext uri="{FF2B5EF4-FFF2-40B4-BE49-F238E27FC236}">
                <a16:creationId xmlns:a16="http://schemas.microsoft.com/office/drawing/2014/main" id="{6386C606-B31B-495F-8C24-07187CCC5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950" y="29845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89" name="Text Box 27">
            <a:extLst>
              <a:ext uri="{FF2B5EF4-FFF2-40B4-BE49-F238E27FC236}">
                <a16:creationId xmlns:a16="http://schemas.microsoft.com/office/drawing/2014/main" id="{77EC554D-F790-49A4-B9EE-AE5466431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0263" y="298450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90" name="Text Box 28">
            <a:extLst>
              <a:ext uri="{FF2B5EF4-FFF2-40B4-BE49-F238E27FC236}">
                <a16:creationId xmlns:a16="http://schemas.microsoft.com/office/drawing/2014/main" id="{E28D3DC4-73ED-4E15-A5DD-6639DB190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2926" y="3749675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Married</a:t>
            </a:r>
            <a:r>
              <a:rPr lang="en-US" altLang="en-US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1291" name="Text Box 29">
            <a:extLst>
              <a:ext uri="{FF2B5EF4-FFF2-40B4-BE49-F238E27FC236}">
                <a16:creationId xmlns:a16="http://schemas.microsoft.com/office/drawing/2014/main" id="{BDBC937C-75A1-46F9-8781-4F7183441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6776" y="3778250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Single, Divorced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92" name="Text Box 30">
            <a:extLst>
              <a:ext uri="{FF2B5EF4-FFF2-40B4-BE49-F238E27FC236}">
                <a16:creationId xmlns:a16="http://schemas.microsoft.com/office/drawing/2014/main" id="{E0C44E44-8289-4C7B-9727-148BF58FC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7364" y="45704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&lt;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93" name="Text Box 31">
            <a:extLst>
              <a:ext uri="{FF2B5EF4-FFF2-40B4-BE49-F238E27FC236}">
                <a16:creationId xmlns:a16="http://schemas.microsoft.com/office/drawing/2014/main" id="{6F73CB7E-83CF-4740-B92C-00CFC599F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2189" y="45704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&gt;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94" name="Text Box 32">
            <a:extLst>
              <a:ext uri="{FF2B5EF4-FFF2-40B4-BE49-F238E27FC236}">
                <a16:creationId xmlns:a16="http://schemas.microsoft.com/office/drawing/2014/main" id="{F4E39710-1A80-4186-BA53-52E339F36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7782" y="1766888"/>
            <a:ext cx="20355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800" i="1">
                <a:solidFill>
                  <a:srgbClr val="FF0000"/>
                </a:solidFill>
              </a:rPr>
              <a:t>Splitting Attributes</a:t>
            </a:r>
          </a:p>
        </p:txBody>
      </p:sp>
      <p:sp>
        <p:nvSpPr>
          <p:cNvPr id="11295" name="Line 33">
            <a:extLst>
              <a:ext uri="{FF2B5EF4-FFF2-40B4-BE49-F238E27FC236}">
                <a16:creationId xmlns:a16="http://schemas.microsoft.com/office/drawing/2014/main" id="{D43A1C32-B52E-4411-9CA0-91161532E0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29614" y="2147889"/>
            <a:ext cx="536575" cy="5349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6" name="AutoShape 34">
            <a:extLst>
              <a:ext uri="{FF2B5EF4-FFF2-40B4-BE49-F238E27FC236}">
                <a16:creationId xmlns:a16="http://schemas.microsoft.com/office/drawing/2014/main" id="{83756341-704C-4551-85C1-F261F77EB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810000"/>
            <a:ext cx="914400" cy="293688"/>
          </a:xfrm>
          <a:prstGeom prst="rightArrow">
            <a:avLst>
              <a:gd name="adj1" fmla="val 50000"/>
              <a:gd name="adj2" fmla="val 77838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97" name="Line 35">
            <a:extLst>
              <a:ext uri="{FF2B5EF4-FFF2-40B4-BE49-F238E27FC236}">
                <a16:creationId xmlns:a16="http://schemas.microsoft.com/office/drawing/2014/main" id="{7749B7FD-180C-42E4-B610-574E3B2AA4D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42388" y="2147889"/>
            <a:ext cx="76200" cy="11445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950244" y="2001194"/>
            <a:ext cx="3354388" cy="4250264"/>
            <a:chOff x="463439" y="1344133"/>
            <a:chExt cx="3810000" cy="4914752"/>
          </a:xfrm>
        </p:grpSpPr>
        <p:graphicFrame>
          <p:nvGraphicFramePr>
            <p:cNvPr id="11266" name="Object 4">
              <a:extLst>
                <a:ext uri="{FF2B5EF4-FFF2-40B4-BE49-F238E27FC236}">
                  <a16:creationId xmlns:a16="http://schemas.microsoft.com/office/drawing/2014/main" id="{AAF733EE-AC48-417C-A650-8AA95D1D3A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3439" y="2082031"/>
            <a:ext cx="3810000" cy="3770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" imgW="5854700" imgH="5778500" progId="Word.Document.8">
                    <p:embed/>
                  </p:oleObj>
                </mc:Choice>
                <mc:Fallback>
                  <p:oleObj name="Document" r:id="rId2" imgW="5854700" imgH="5778500" progId="Word.Document.8">
                    <p:embed/>
                    <p:pic>
                      <p:nvPicPr>
                        <p:cNvPr id="11266" name="Object 4">
                          <a:extLst>
                            <a:ext uri="{FF2B5EF4-FFF2-40B4-BE49-F238E27FC236}">
                              <a16:creationId xmlns:a16="http://schemas.microsoft.com/office/drawing/2014/main" id="{AAF733EE-AC48-417C-A650-8AA95D1D3A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439" y="2082031"/>
                          <a:ext cx="3810000" cy="3770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67" name="Text Box 5">
              <a:extLst>
                <a:ext uri="{FF2B5EF4-FFF2-40B4-BE49-F238E27FC236}">
                  <a16:creationId xmlns:a16="http://schemas.microsoft.com/office/drawing/2014/main" id="{3621E2A5-F664-437B-AE78-7D73B7C09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183191">
              <a:off x="799370" y="1344133"/>
              <a:ext cx="1334961" cy="391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>
                  <a:solidFill>
                    <a:srgbClr val="006600"/>
                  </a:solidFill>
                </a:rPr>
                <a:t>categorical</a:t>
              </a:r>
              <a:endParaRPr lang="en-US" altLang="en-US" sz="1600">
                <a:solidFill>
                  <a:schemeClr val="bg2"/>
                </a:solidFill>
              </a:endParaRPr>
            </a:p>
          </p:txBody>
        </p:sp>
        <p:sp>
          <p:nvSpPr>
            <p:cNvPr id="11268" name="Text Box 6">
              <a:extLst>
                <a:ext uri="{FF2B5EF4-FFF2-40B4-BE49-F238E27FC236}">
                  <a16:creationId xmlns:a16="http://schemas.microsoft.com/office/drawing/2014/main" id="{12F31BB3-3622-408D-93AE-1E2B76839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183191">
              <a:off x="1485170" y="1344133"/>
              <a:ext cx="1334961" cy="391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>
                  <a:solidFill>
                    <a:srgbClr val="006600"/>
                  </a:solidFill>
                </a:rPr>
                <a:t>categorical</a:t>
              </a:r>
              <a:endParaRPr lang="en-US" altLang="en-US" sz="1600">
                <a:solidFill>
                  <a:schemeClr val="bg2"/>
                </a:solidFill>
              </a:endParaRPr>
            </a:p>
          </p:txBody>
        </p:sp>
        <p:sp>
          <p:nvSpPr>
            <p:cNvPr id="11269" name="Text Box 7">
              <a:extLst>
                <a:ext uri="{FF2B5EF4-FFF2-40B4-BE49-F238E27FC236}">
                  <a16:creationId xmlns:a16="http://schemas.microsoft.com/office/drawing/2014/main" id="{CEF1E55E-15F9-4FB1-9AD2-4096F05313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183191">
              <a:off x="2333688" y="1344133"/>
              <a:ext cx="1334961" cy="391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>
                  <a:solidFill>
                    <a:srgbClr val="006600"/>
                  </a:solidFill>
                </a:rPr>
                <a:t>continuous</a:t>
              </a:r>
              <a:endParaRPr lang="en-US" altLang="en-US" sz="1600">
                <a:solidFill>
                  <a:schemeClr val="bg2"/>
                </a:solidFill>
              </a:endParaRPr>
            </a:p>
          </p:txBody>
        </p:sp>
        <p:sp>
          <p:nvSpPr>
            <p:cNvPr id="11270" name="Text Box 8">
              <a:extLst>
                <a:ext uri="{FF2B5EF4-FFF2-40B4-BE49-F238E27FC236}">
                  <a16:creationId xmlns:a16="http://schemas.microsoft.com/office/drawing/2014/main" id="{00F11CDF-7A5F-4A25-A27F-5E19BE37B1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183191">
              <a:off x="3100484" y="1496533"/>
              <a:ext cx="739582" cy="391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>
                  <a:solidFill>
                    <a:srgbClr val="006600"/>
                  </a:solidFill>
                </a:rPr>
                <a:t>class</a:t>
              </a:r>
              <a:endParaRPr lang="en-US" altLang="en-US" sz="1600">
                <a:solidFill>
                  <a:schemeClr val="bg2"/>
                </a:solidFill>
              </a:endParaRPr>
            </a:p>
          </p:txBody>
        </p:sp>
        <p:sp>
          <p:nvSpPr>
            <p:cNvPr id="11298" name="Text Box 36">
              <a:extLst>
                <a:ext uri="{FF2B5EF4-FFF2-40B4-BE49-F238E27FC236}">
                  <a16:creationId xmlns:a16="http://schemas.microsoft.com/office/drawing/2014/main" id="{FA00C3E4-B00D-4A5E-9FF8-1893408D4E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5867401"/>
              <a:ext cx="2514600" cy="391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2000">
                  <a:solidFill>
                    <a:schemeClr val="tx2"/>
                  </a:solidFill>
                </a:rPr>
                <a:t>Training Data</a:t>
              </a:r>
              <a:endParaRPr lang="en-US" altLang="en-US" sz="2000">
                <a:solidFill>
                  <a:schemeClr val="bg2"/>
                </a:solidFill>
              </a:endParaRPr>
            </a:p>
          </p:txBody>
        </p:sp>
      </p:grpSp>
      <p:sp>
        <p:nvSpPr>
          <p:cNvPr id="11299" name="Text Box 37">
            <a:extLst>
              <a:ext uri="{FF2B5EF4-FFF2-40B4-BE49-F238E27FC236}">
                <a16:creationId xmlns:a16="http://schemas.microsoft.com/office/drawing/2014/main" id="{DF205736-1004-43CF-8B54-AB3C266DD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83565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Model:  Decision Tree</a:t>
            </a:r>
            <a:endParaRPr lang="en-US" altLang="en-US" sz="20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587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93F440C-A7FF-4C29-AF1E-D9941D7E3F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Apply Model to Test 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A981C-5DEE-425C-BDF5-8C2167962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A0FF93-30F8-4419-985A-C50929022DA8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253184-1496-48BB-825B-EAAE9CEA8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34FAB-6B65-4DFD-A800-237D12D3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BC085E-F244-4C19-A8BC-465573CB4ECB}" type="slidenum">
              <a:rPr lang="en-US"/>
              <a:pPr>
                <a:defRPr/>
              </a:pPr>
              <a:t>7</a:t>
            </a:fld>
            <a:endParaRPr lang="en-US"/>
          </a:p>
        </p:txBody>
      </p:sp>
      <p:graphicFrame>
        <p:nvGraphicFramePr>
          <p:cNvPr id="13337" name="Object 27">
            <a:extLst>
              <a:ext uri="{FF2B5EF4-FFF2-40B4-BE49-F238E27FC236}">
                <a16:creationId xmlns:a16="http://schemas.microsoft.com/office/drawing/2014/main" id="{390683B0-1366-48D5-BB95-E00CDC45E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61899" y="2820251"/>
          <a:ext cx="3586162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092700" imgH="1562100" progId="Word.Document.8">
                  <p:embed/>
                </p:oleObj>
              </mc:Choice>
              <mc:Fallback>
                <p:oleObj name="Document" r:id="rId2" imgW="5092700" imgH="1562100" progId="Word.Document.8">
                  <p:embed/>
                  <p:pic>
                    <p:nvPicPr>
                      <p:cNvPr id="13337" name="Object 27">
                        <a:extLst>
                          <a:ext uri="{FF2B5EF4-FFF2-40B4-BE49-F238E27FC236}">
                            <a16:creationId xmlns:a16="http://schemas.microsoft.com/office/drawing/2014/main" id="{390683B0-1366-48D5-BB95-E00CDC45E6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1899" y="2820251"/>
                        <a:ext cx="3586162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8" name="Text Box 28">
            <a:extLst>
              <a:ext uri="{FF2B5EF4-FFF2-40B4-BE49-F238E27FC236}">
                <a16:creationId xmlns:a16="http://schemas.microsoft.com/office/drawing/2014/main" id="{22EB3426-7C8C-4EFB-80E3-387660545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736" y="2358288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>
              <a:solidFill>
                <a:schemeClr val="bg2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201246" y="1988751"/>
            <a:ext cx="4267200" cy="4213225"/>
            <a:chOff x="685800" y="1447800"/>
            <a:chExt cx="4267200" cy="4213225"/>
          </a:xfrm>
        </p:grpSpPr>
        <p:sp>
          <p:nvSpPr>
            <p:cNvPr id="13314" name="Line 4">
              <a:extLst>
                <a:ext uri="{FF2B5EF4-FFF2-40B4-BE49-F238E27FC236}">
                  <a16:creationId xmlns:a16="http://schemas.microsoft.com/office/drawing/2014/main" id="{CFC0DAF7-E76C-4164-A894-8C2200D7E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8775" y="4551363"/>
              <a:ext cx="266700" cy="6461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5" name="Line 5">
              <a:extLst>
                <a:ext uri="{FF2B5EF4-FFF2-40B4-BE49-F238E27FC236}">
                  <a16:creationId xmlns:a16="http://schemas.microsoft.com/office/drawing/2014/main" id="{1B5551FD-831B-4051-B976-C0188C3479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8938" y="4551363"/>
              <a:ext cx="355600" cy="6461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6" name="Line 6">
              <a:extLst>
                <a:ext uri="{FF2B5EF4-FFF2-40B4-BE49-F238E27FC236}">
                  <a16:creationId xmlns:a16="http://schemas.microsoft.com/office/drawing/2014/main" id="{9A677CE6-2592-42D4-A961-C0B5CD7A5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66963" y="3576638"/>
              <a:ext cx="442912" cy="6492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7" name="Line 7">
              <a:extLst>
                <a:ext uri="{FF2B5EF4-FFF2-40B4-BE49-F238E27FC236}">
                  <a16:creationId xmlns:a16="http://schemas.microsoft.com/office/drawing/2014/main" id="{48D37305-03FC-4BD1-825A-70DF78884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5700" y="3576638"/>
              <a:ext cx="531813" cy="6492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8" name="Line 8">
              <a:extLst>
                <a:ext uri="{FF2B5EF4-FFF2-40B4-BE49-F238E27FC236}">
                  <a16:creationId xmlns:a16="http://schemas.microsoft.com/office/drawing/2014/main" id="{50A242D3-4622-4F29-B478-5C1B4AABC6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763" y="2686050"/>
              <a:ext cx="620712" cy="5683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9" name="Line 9">
              <a:extLst>
                <a:ext uri="{FF2B5EF4-FFF2-40B4-BE49-F238E27FC236}">
                  <a16:creationId xmlns:a16="http://schemas.microsoft.com/office/drawing/2014/main" id="{722DF2CF-AB55-4719-9627-F4173FB509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9813" y="2686050"/>
              <a:ext cx="619125" cy="5683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20" name="Text Box 10">
              <a:extLst>
                <a:ext uri="{FF2B5EF4-FFF2-40B4-BE49-F238E27FC236}">
                  <a16:creationId xmlns:a16="http://schemas.microsoft.com/office/drawing/2014/main" id="{E40FFE86-B022-4A6D-A22F-D83931FDA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550" y="2362200"/>
              <a:ext cx="1027113" cy="59372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>
                  <a:solidFill>
                    <a:srgbClr val="2D1993"/>
                  </a:solidFill>
                </a:rPr>
                <a:t>Home Owner</a:t>
              </a:r>
              <a:endParaRPr lang="en-US" altLang="en-US" sz="1600">
                <a:solidFill>
                  <a:schemeClr val="bg2"/>
                </a:solidFill>
              </a:endParaRPr>
            </a:p>
          </p:txBody>
        </p:sp>
        <p:sp>
          <p:nvSpPr>
            <p:cNvPr id="13321" name="Text Box 11">
              <a:extLst>
                <a:ext uri="{FF2B5EF4-FFF2-40B4-BE49-F238E27FC236}">
                  <a16:creationId xmlns:a16="http://schemas.microsoft.com/office/drawing/2014/main" id="{19C6115C-3279-47CD-9F07-F1801EE01C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0975" y="3254375"/>
              <a:ext cx="1025525" cy="347663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>
                  <a:solidFill>
                    <a:srgbClr val="2D1993"/>
                  </a:solidFill>
                </a:rPr>
                <a:t>MarSt</a:t>
              </a:r>
              <a:endParaRPr lang="en-US" altLang="en-US" sz="1600">
                <a:solidFill>
                  <a:schemeClr val="bg2"/>
                </a:solidFill>
              </a:endParaRPr>
            </a:p>
          </p:txBody>
        </p:sp>
        <p:sp>
          <p:nvSpPr>
            <p:cNvPr id="13322" name="Text Box 12">
              <a:extLst>
                <a:ext uri="{FF2B5EF4-FFF2-40B4-BE49-F238E27FC236}">
                  <a16:creationId xmlns:a16="http://schemas.microsoft.com/office/drawing/2014/main" id="{C2A590CE-1DF4-44AA-B236-D5AD95A8C2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5638" y="4225925"/>
              <a:ext cx="1062037" cy="34925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>
                  <a:solidFill>
                    <a:srgbClr val="2D1993"/>
                  </a:solidFill>
                </a:rPr>
                <a:t>Income</a:t>
              </a:r>
              <a:endParaRPr lang="en-US" altLang="en-US" sz="1600">
                <a:solidFill>
                  <a:schemeClr val="bg2"/>
                </a:solidFill>
              </a:endParaRPr>
            </a:p>
          </p:txBody>
        </p:sp>
        <p:sp>
          <p:nvSpPr>
            <p:cNvPr id="13323" name="AutoShape 13">
              <a:extLst>
                <a:ext uri="{FF2B5EF4-FFF2-40B4-BE49-F238E27FC236}">
                  <a16:creationId xmlns:a16="http://schemas.microsoft.com/office/drawing/2014/main" id="{F55B3DDD-8639-4610-AA1D-2CB767D5F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1638" y="5194300"/>
              <a:ext cx="688975" cy="449263"/>
            </a:xfrm>
            <a:prstGeom prst="roundRect">
              <a:avLst>
                <a:gd name="adj" fmla="val 16769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13324" name="Text Box 14">
              <a:extLst>
                <a:ext uri="{FF2B5EF4-FFF2-40B4-BE49-F238E27FC236}">
                  <a16:creationId xmlns:a16="http://schemas.microsoft.com/office/drawing/2014/main" id="{AAC0AFE7-0E5C-4AB6-B383-2C0615314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9088" y="5194300"/>
              <a:ext cx="7508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>
                  <a:solidFill>
                    <a:srgbClr val="800000"/>
                  </a:solidFill>
                </a:rPr>
                <a:t>YES</a:t>
              </a:r>
              <a:endParaRPr lang="en-US" altLang="en-US" sz="1600">
                <a:solidFill>
                  <a:schemeClr val="bg2"/>
                </a:solidFill>
              </a:endParaRPr>
            </a:p>
          </p:txBody>
        </p:sp>
        <p:sp>
          <p:nvSpPr>
            <p:cNvPr id="13325" name="AutoShape 15">
              <a:extLst>
                <a:ext uri="{FF2B5EF4-FFF2-40B4-BE49-F238E27FC236}">
                  <a16:creationId xmlns:a16="http://schemas.microsoft.com/office/drawing/2014/main" id="{1B9D66AF-CABC-4572-A16C-774CE7ABC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25" y="5214938"/>
              <a:ext cx="717550" cy="446087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13326" name="Text Box 16">
              <a:extLst>
                <a:ext uri="{FF2B5EF4-FFF2-40B4-BE49-F238E27FC236}">
                  <a16:creationId xmlns:a16="http://schemas.microsoft.com/office/drawing/2014/main" id="{BB77729D-AFD5-4809-908B-6A802807C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5100" y="5197475"/>
              <a:ext cx="4889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>
                  <a:solidFill>
                    <a:srgbClr val="800000"/>
                  </a:solidFill>
                </a:rPr>
                <a:t>NO</a:t>
              </a:r>
              <a:endParaRPr lang="en-US" altLang="en-US" sz="1600">
                <a:solidFill>
                  <a:schemeClr val="bg2"/>
                </a:solidFill>
              </a:endParaRPr>
            </a:p>
          </p:txBody>
        </p:sp>
        <p:sp>
          <p:nvSpPr>
            <p:cNvPr id="13327" name="AutoShape 17">
              <a:extLst>
                <a:ext uri="{FF2B5EF4-FFF2-40B4-BE49-F238E27FC236}">
                  <a16:creationId xmlns:a16="http://schemas.microsoft.com/office/drawing/2014/main" id="{F0191F06-4203-4D45-B4BB-6DC436BDD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3271838"/>
              <a:ext cx="752475" cy="427037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13328" name="Text Box 18">
              <a:extLst>
                <a:ext uri="{FF2B5EF4-FFF2-40B4-BE49-F238E27FC236}">
                  <a16:creationId xmlns:a16="http://schemas.microsoft.com/office/drawing/2014/main" id="{239E30DB-07DB-4185-84D3-11CFE62AC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388" y="3254375"/>
              <a:ext cx="4889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>
                  <a:solidFill>
                    <a:srgbClr val="800000"/>
                  </a:solidFill>
                </a:rPr>
                <a:t>NO</a:t>
              </a:r>
              <a:endParaRPr lang="en-US" altLang="en-US" sz="1600">
                <a:solidFill>
                  <a:srgbClr val="00FFFF"/>
                </a:solidFill>
              </a:endParaRPr>
            </a:p>
          </p:txBody>
        </p:sp>
        <p:sp>
          <p:nvSpPr>
            <p:cNvPr id="13329" name="AutoShape 19">
              <a:extLst>
                <a:ext uri="{FF2B5EF4-FFF2-40B4-BE49-F238E27FC236}">
                  <a16:creationId xmlns:a16="http://schemas.microsoft.com/office/drawing/2014/main" id="{08C2382E-94DD-4EC0-AD4F-D3A899D1C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800" y="4259263"/>
              <a:ext cx="752475" cy="466725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13330" name="Text Box 20">
              <a:extLst>
                <a:ext uri="{FF2B5EF4-FFF2-40B4-BE49-F238E27FC236}">
                  <a16:creationId xmlns:a16="http://schemas.microsoft.com/office/drawing/2014/main" id="{A3DDA5F8-878E-4097-9812-2723A5863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8750" y="4259263"/>
              <a:ext cx="4905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 dirty="0">
                  <a:solidFill>
                    <a:srgbClr val="800000"/>
                  </a:solidFill>
                </a:rPr>
                <a:t>NO</a:t>
              </a:r>
              <a:endParaRPr lang="en-US" altLang="en-US" sz="1600" dirty="0">
                <a:solidFill>
                  <a:schemeClr val="bg2"/>
                </a:solidFill>
              </a:endParaRPr>
            </a:p>
          </p:txBody>
        </p:sp>
        <p:sp>
          <p:nvSpPr>
            <p:cNvPr id="13331" name="Text Box 21">
              <a:extLst>
                <a:ext uri="{FF2B5EF4-FFF2-40B4-BE49-F238E27FC236}">
                  <a16:creationId xmlns:a16="http://schemas.microsoft.com/office/drawing/2014/main" id="{B54E08F5-7FC2-4D95-BCA4-3A35A3E6E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425" y="2686050"/>
              <a:ext cx="533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/>
                <a:t>Yes</a:t>
              </a:r>
              <a:endParaRPr lang="en-US" altLang="en-US" sz="1600">
                <a:solidFill>
                  <a:schemeClr val="bg2"/>
                </a:solidFill>
              </a:endParaRPr>
            </a:p>
          </p:txBody>
        </p:sp>
        <p:sp>
          <p:nvSpPr>
            <p:cNvPr id="13332" name="Text Box 22">
              <a:extLst>
                <a:ext uri="{FF2B5EF4-FFF2-40B4-BE49-F238E27FC236}">
                  <a16:creationId xmlns:a16="http://schemas.microsoft.com/office/drawing/2014/main" id="{9F560FD4-62BF-4CB3-9EEF-FB4E379CE7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7188" y="2686050"/>
              <a:ext cx="44291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/>
                <a:t>No</a:t>
              </a:r>
              <a:endParaRPr lang="en-US" altLang="en-US" sz="1600">
                <a:solidFill>
                  <a:schemeClr val="bg2"/>
                </a:solidFill>
              </a:endParaRPr>
            </a:p>
          </p:txBody>
        </p:sp>
        <p:sp>
          <p:nvSpPr>
            <p:cNvPr id="13333" name="Text Box 23">
              <a:extLst>
                <a:ext uri="{FF2B5EF4-FFF2-40B4-BE49-F238E27FC236}">
                  <a16:creationId xmlns:a16="http://schemas.microsoft.com/office/drawing/2014/main" id="{63C2302F-E2CA-46A9-9309-D0BE62879C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2725" y="3624263"/>
              <a:ext cx="9302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/>
                <a:t>Married</a:t>
              </a:r>
              <a:r>
                <a:rPr lang="en-US" altLang="en-US" sz="1600">
                  <a:solidFill>
                    <a:schemeClr val="bg2"/>
                  </a:solidFill>
                </a:rPr>
                <a:t> </a:t>
              </a:r>
            </a:p>
          </p:txBody>
        </p:sp>
        <p:sp>
          <p:nvSpPr>
            <p:cNvPr id="13334" name="Text Box 24">
              <a:extLst>
                <a:ext uri="{FF2B5EF4-FFF2-40B4-BE49-F238E27FC236}">
                  <a16:creationId xmlns:a16="http://schemas.microsoft.com/office/drawing/2014/main" id="{382E0DD5-9B29-4715-8D61-DFD0959DE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2113" y="3659188"/>
              <a:ext cx="16605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/>
                <a:t>Single, Divorced</a:t>
              </a:r>
              <a:endParaRPr lang="en-US" altLang="en-US" sz="1600">
                <a:solidFill>
                  <a:schemeClr val="bg2"/>
                </a:solidFill>
              </a:endParaRPr>
            </a:p>
          </p:txBody>
        </p:sp>
        <p:sp>
          <p:nvSpPr>
            <p:cNvPr id="13335" name="Text Box 25">
              <a:extLst>
                <a:ext uri="{FF2B5EF4-FFF2-40B4-BE49-F238E27FC236}">
                  <a16:creationId xmlns:a16="http://schemas.microsoft.com/office/drawing/2014/main" id="{BF0B5846-FFB1-496B-8B3E-C3E94539D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5700" y="4630738"/>
              <a:ext cx="7207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/>
                <a:t>&lt; 80K</a:t>
              </a:r>
              <a:endParaRPr lang="en-US" altLang="en-US" sz="1600">
                <a:solidFill>
                  <a:schemeClr val="bg2"/>
                </a:solidFill>
              </a:endParaRPr>
            </a:p>
          </p:txBody>
        </p:sp>
        <p:sp>
          <p:nvSpPr>
            <p:cNvPr id="13336" name="Text Box 26">
              <a:extLst>
                <a:ext uri="{FF2B5EF4-FFF2-40B4-BE49-F238E27FC236}">
                  <a16:creationId xmlns:a16="http://schemas.microsoft.com/office/drawing/2014/main" id="{8A906DD0-E22C-4E65-A9D3-069F2433F6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1975" y="4630738"/>
              <a:ext cx="7207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/>
                <a:t>&gt; 80K</a:t>
              </a:r>
              <a:endParaRPr lang="en-US" altLang="en-US" sz="1600">
                <a:solidFill>
                  <a:schemeClr val="bg2"/>
                </a:solidFill>
              </a:endParaRPr>
            </a:p>
          </p:txBody>
        </p:sp>
        <p:sp>
          <p:nvSpPr>
            <p:cNvPr id="13339" name="Text Box 29">
              <a:extLst>
                <a:ext uri="{FF2B5EF4-FFF2-40B4-BE49-F238E27FC236}">
                  <a16:creationId xmlns:a16="http://schemas.microsoft.com/office/drawing/2014/main" id="{4838A494-6BD8-4485-B9F4-C8CF3D0BF1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600" y="1447800"/>
              <a:ext cx="34290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2000"/>
                <a:t>Start from the root of tree.</a:t>
              </a:r>
            </a:p>
          </p:txBody>
        </p:sp>
        <p:sp>
          <p:nvSpPr>
            <p:cNvPr id="13340" name="Line 30">
              <a:extLst>
                <a:ext uri="{FF2B5EF4-FFF2-40B4-BE49-F238E27FC236}">
                  <a16:creationId xmlns:a16="http://schemas.microsoft.com/office/drawing/2014/main" id="{34A5AE84-2733-4E41-8F86-DB7E5F43B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3600" y="1828800"/>
              <a:ext cx="0" cy="45720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5414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13D0D3C-AF5C-48AE-B7ED-1CAA2C103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Apply Model to Test 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5EB539-80C1-4112-B74F-9A76F3E5A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D73213-284E-4D4E-9719-D95E699F6071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5426D-612B-431A-AE31-090551F8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CAA1E-D0BD-43F8-8EB9-B6E0BA7C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601D1-C8A5-48CA-9034-94D7F4C0A899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14338" name="Line 4">
            <a:extLst>
              <a:ext uri="{FF2B5EF4-FFF2-40B4-BE49-F238E27FC236}">
                <a16:creationId xmlns:a16="http://schemas.microsoft.com/office/drawing/2014/main" id="{56A8BE6D-1441-43C0-9CC6-9AE0742DA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2775" y="4910138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9" name="Line 5">
            <a:extLst>
              <a:ext uri="{FF2B5EF4-FFF2-40B4-BE49-F238E27FC236}">
                <a16:creationId xmlns:a16="http://schemas.microsoft.com/office/drawing/2014/main" id="{04874380-62CC-4810-8CF6-544ABD241E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2938" y="4910138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Line 6">
            <a:extLst>
              <a:ext uri="{FF2B5EF4-FFF2-40B4-BE49-F238E27FC236}">
                <a16:creationId xmlns:a16="http://schemas.microsoft.com/office/drawing/2014/main" id="{3B10717E-332C-49C2-AA0D-60DAC8A975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0963" y="3935414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Line 7">
            <a:extLst>
              <a:ext uri="{FF2B5EF4-FFF2-40B4-BE49-F238E27FC236}">
                <a16:creationId xmlns:a16="http://schemas.microsoft.com/office/drawing/2014/main" id="{2AFB65CF-282E-4F14-9C97-3156DB88A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1" y="3935414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2" name="Line 8">
            <a:extLst>
              <a:ext uri="{FF2B5EF4-FFF2-40B4-BE49-F238E27FC236}">
                <a16:creationId xmlns:a16="http://schemas.microsoft.com/office/drawing/2014/main" id="{53702AFC-BB69-4137-BD49-F15777DD20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8763" y="3044826"/>
            <a:ext cx="620712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Line 9">
            <a:extLst>
              <a:ext uri="{FF2B5EF4-FFF2-40B4-BE49-F238E27FC236}">
                <a16:creationId xmlns:a16="http://schemas.microsoft.com/office/drawing/2014/main" id="{A0D9D5A1-9D0E-441D-AC91-6FDAD0F662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3814" y="3044826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Text Box 11">
            <a:extLst>
              <a:ext uri="{FF2B5EF4-FFF2-40B4-BE49-F238E27FC236}">
                <a16:creationId xmlns:a16="http://schemas.microsoft.com/office/drawing/2014/main" id="{CB069314-8DD4-4C46-B617-94C8AF617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613151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45" name="Text Box 12">
            <a:extLst>
              <a:ext uri="{FF2B5EF4-FFF2-40B4-BE49-F238E27FC236}">
                <a16:creationId xmlns:a16="http://schemas.microsoft.com/office/drawing/2014/main" id="{E7BDDCAE-8841-43D0-9FD8-6E6B9319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9639" y="4584700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46" name="AutoShape 13">
            <a:extLst>
              <a:ext uri="{FF2B5EF4-FFF2-40B4-BE49-F238E27FC236}">
                <a16:creationId xmlns:a16="http://schemas.microsoft.com/office/drawing/2014/main" id="{D40F9F0D-16CC-4B4D-AD51-17D354EDC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9" y="5553076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4347" name="Text Box 14">
            <a:extLst>
              <a:ext uri="{FF2B5EF4-FFF2-40B4-BE49-F238E27FC236}">
                <a16:creationId xmlns:a16="http://schemas.microsoft.com/office/drawing/2014/main" id="{59BB683C-502A-4654-94D5-71BD7C4AE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089" y="5553075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48" name="AutoShape 15">
            <a:extLst>
              <a:ext uri="{FF2B5EF4-FFF2-40B4-BE49-F238E27FC236}">
                <a16:creationId xmlns:a16="http://schemas.microsoft.com/office/drawing/2014/main" id="{824C1A17-8512-476D-BBFD-32F34F052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925" y="5573714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4349" name="Text Box 16">
            <a:extLst>
              <a:ext uri="{FF2B5EF4-FFF2-40B4-BE49-F238E27FC236}">
                <a16:creationId xmlns:a16="http://schemas.microsoft.com/office/drawing/2014/main" id="{4ED975EC-D304-410D-8CAA-95F7E69A5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00" y="55562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50" name="AutoShape 17">
            <a:extLst>
              <a:ext uri="{FF2B5EF4-FFF2-40B4-BE49-F238E27FC236}">
                <a16:creationId xmlns:a16="http://schemas.microsoft.com/office/drawing/2014/main" id="{28A27D12-83EF-4C0A-8F0F-886F45B72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630614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4351" name="Text Box 18">
            <a:extLst>
              <a:ext uri="{FF2B5EF4-FFF2-40B4-BE49-F238E27FC236}">
                <a16:creationId xmlns:a16="http://schemas.microsoft.com/office/drawing/2014/main" id="{250672FB-002D-4997-8840-C387EBBAC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36131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rgbClr val="00FFFF"/>
              </a:solidFill>
            </a:endParaRPr>
          </a:p>
        </p:txBody>
      </p:sp>
      <p:sp>
        <p:nvSpPr>
          <p:cNvPr id="14352" name="AutoShape 19">
            <a:extLst>
              <a:ext uri="{FF2B5EF4-FFF2-40B4-BE49-F238E27FC236}">
                <a16:creationId xmlns:a16="http://schemas.microsoft.com/office/drawing/2014/main" id="{8C3AE25B-BF8C-4BF2-82DB-F23ED68A1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1" y="4618039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4353" name="Text Box 20">
            <a:extLst>
              <a:ext uri="{FF2B5EF4-FFF2-40B4-BE49-F238E27FC236}">
                <a16:creationId xmlns:a16="http://schemas.microsoft.com/office/drawing/2014/main" id="{9FCE4A1D-12AC-47DF-9A80-697ABD195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0" y="4618038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54" name="Text Box 21">
            <a:extLst>
              <a:ext uri="{FF2B5EF4-FFF2-40B4-BE49-F238E27FC236}">
                <a16:creationId xmlns:a16="http://schemas.microsoft.com/office/drawing/2014/main" id="{322ACB3F-3A0E-4FB4-B51A-41F9B060E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3044825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55" name="Text Box 22">
            <a:extLst>
              <a:ext uri="{FF2B5EF4-FFF2-40B4-BE49-F238E27FC236}">
                <a16:creationId xmlns:a16="http://schemas.microsoft.com/office/drawing/2014/main" id="{D0A523E8-4FD1-4620-B409-B652B111F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3044825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56" name="Text Box 23">
            <a:extLst>
              <a:ext uri="{FF2B5EF4-FFF2-40B4-BE49-F238E27FC236}">
                <a16:creationId xmlns:a16="http://schemas.microsoft.com/office/drawing/2014/main" id="{2DBC14EE-3135-40AF-B595-F738D30AE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6" y="3983038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Married</a:t>
            </a:r>
            <a:r>
              <a:rPr lang="en-US" altLang="en-US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4357" name="Text Box 24">
            <a:extLst>
              <a:ext uri="{FF2B5EF4-FFF2-40B4-BE49-F238E27FC236}">
                <a16:creationId xmlns:a16="http://schemas.microsoft.com/office/drawing/2014/main" id="{6470BC24-4CAE-42B1-BD4F-6E6F8C7C8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114" y="4017963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Single, Divorced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58" name="Text Box 25">
            <a:extLst>
              <a:ext uri="{FF2B5EF4-FFF2-40B4-BE49-F238E27FC236}">
                <a16:creationId xmlns:a16="http://schemas.microsoft.com/office/drawing/2014/main" id="{E1D84FFF-B81B-433F-88C5-E025386C4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1" y="49895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&lt;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4359" name="Text Box 26">
            <a:extLst>
              <a:ext uri="{FF2B5EF4-FFF2-40B4-BE49-F238E27FC236}">
                <a16:creationId xmlns:a16="http://schemas.microsoft.com/office/drawing/2014/main" id="{4F779082-04A8-41C2-B421-C3734C268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6" y="49895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&gt;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graphicFrame>
        <p:nvGraphicFramePr>
          <p:cNvPr id="14360" name="Object 27">
            <a:extLst>
              <a:ext uri="{FF2B5EF4-FFF2-40B4-BE49-F238E27FC236}">
                <a16:creationId xmlns:a16="http://schemas.microsoft.com/office/drawing/2014/main" id="{18E844DE-1304-485C-8A4A-F9689CE1E1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6537" y="2340784"/>
          <a:ext cx="3678238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232400" imgH="1562100" progId="Word.Document.8">
                  <p:embed/>
                </p:oleObj>
              </mc:Choice>
              <mc:Fallback>
                <p:oleObj name="Document" r:id="rId2" imgW="5232400" imgH="1562100" progId="Word.Document.8">
                  <p:embed/>
                  <p:pic>
                    <p:nvPicPr>
                      <p:cNvPr id="14360" name="Object 27">
                        <a:extLst>
                          <a:ext uri="{FF2B5EF4-FFF2-40B4-BE49-F238E27FC236}">
                            <a16:creationId xmlns:a16="http://schemas.microsoft.com/office/drawing/2014/main" id="{18E844DE-1304-485C-8A4A-F9689CE1E1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6537" y="2340784"/>
                        <a:ext cx="3678238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1" name="Text Box 28">
            <a:extLst>
              <a:ext uri="{FF2B5EF4-FFF2-40B4-BE49-F238E27FC236}">
                <a16:creationId xmlns:a16="http://schemas.microsoft.com/office/drawing/2014/main" id="{A54CE64B-5C71-4CC9-8E87-325980B28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9212" y="1878821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>
              <a:solidFill>
                <a:schemeClr val="bg2"/>
              </a:solidFill>
            </a:endParaRPr>
          </a:p>
        </p:txBody>
      </p:sp>
      <p:sp>
        <p:nvSpPr>
          <p:cNvPr id="14362" name="Line 29">
            <a:extLst>
              <a:ext uri="{FF2B5EF4-FFF2-40B4-BE49-F238E27FC236}">
                <a16:creationId xmlns:a16="http://schemas.microsoft.com/office/drawing/2014/main" id="{39762673-54F9-47FA-AEA7-AEBFEEE684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0998" y="2720975"/>
            <a:ext cx="2395538" cy="1524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Text Box 30">
            <a:extLst>
              <a:ext uri="{FF2B5EF4-FFF2-40B4-BE49-F238E27FC236}">
                <a16:creationId xmlns:a16="http://schemas.microsoft.com/office/drawing/2014/main" id="{AE047BE0-2BA1-43B3-B053-658EBFC15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1" y="2720976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138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8500862-0B0F-4476-B043-EB69CCE76A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Apply Model to Test 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E9FD10-0A33-4956-BDBE-AB426984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CF5E32-FA54-4CF4-9790-E6D849412E51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AAE56F-575B-4B90-8E9A-AFEB9177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00529-DB81-49F5-90C2-BC901E996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992193-6115-4B4C-A949-FD144E791A6E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15362" name="Line 3">
            <a:extLst>
              <a:ext uri="{FF2B5EF4-FFF2-40B4-BE49-F238E27FC236}">
                <a16:creationId xmlns:a16="http://schemas.microsoft.com/office/drawing/2014/main" id="{82A8ADAA-CCDA-4312-9E67-3455102DB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2775" y="5138738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3" name="Line 4">
            <a:extLst>
              <a:ext uri="{FF2B5EF4-FFF2-40B4-BE49-F238E27FC236}">
                <a16:creationId xmlns:a16="http://schemas.microsoft.com/office/drawing/2014/main" id="{4EC4C0D6-BDF2-445C-87F4-1C40D009B8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2938" y="5138738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4" name="Line 5">
            <a:extLst>
              <a:ext uri="{FF2B5EF4-FFF2-40B4-BE49-F238E27FC236}">
                <a16:creationId xmlns:a16="http://schemas.microsoft.com/office/drawing/2014/main" id="{A42839C7-9CF1-4A02-8FB5-906617682C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0963" y="4164014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Line 6">
            <a:extLst>
              <a:ext uri="{FF2B5EF4-FFF2-40B4-BE49-F238E27FC236}">
                <a16:creationId xmlns:a16="http://schemas.microsoft.com/office/drawing/2014/main" id="{52DA3C68-DE02-434B-B10E-89F8738176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1" y="4164014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Line 7">
            <a:extLst>
              <a:ext uri="{FF2B5EF4-FFF2-40B4-BE49-F238E27FC236}">
                <a16:creationId xmlns:a16="http://schemas.microsoft.com/office/drawing/2014/main" id="{6A5CACC0-3644-4FBC-9F83-1D723E133D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8763" y="3273426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Line 8">
            <a:extLst>
              <a:ext uri="{FF2B5EF4-FFF2-40B4-BE49-F238E27FC236}">
                <a16:creationId xmlns:a16="http://schemas.microsoft.com/office/drawing/2014/main" id="{8DA73204-53C6-4A30-B336-60FA1AF723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3814" y="3273426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Text Box 10">
            <a:extLst>
              <a:ext uri="{FF2B5EF4-FFF2-40B4-BE49-F238E27FC236}">
                <a16:creationId xmlns:a16="http://schemas.microsoft.com/office/drawing/2014/main" id="{0E64B6E4-17B0-4AD3-91DF-291F8B5BF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841751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69" name="Text Box 11">
            <a:extLst>
              <a:ext uri="{FF2B5EF4-FFF2-40B4-BE49-F238E27FC236}">
                <a16:creationId xmlns:a16="http://schemas.microsoft.com/office/drawing/2014/main" id="{39DACC15-A05A-4C39-AA3A-DEDDF011E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9639" y="4813300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70" name="AutoShape 12">
            <a:extLst>
              <a:ext uri="{FF2B5EF4-FFF2-40B4-BE49-F238E27FC236}">
                <a16:creationId xmlns:a16="http://schemas.microsoft.com/office/drawing/2014/main" id="{C7EF50E1-1C39-48C8-95DF-1EF8FA8CE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9" y="5781676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371" name="Text Box 13">
            <a:extLst>
              <a:ext uri="{FF2B5EF4-FFF2-40B4-BE49-F238E27FC236}">
                <a16:creationId xmlns:a16="http://schemas.microsoft.com/office/drawing/2014/main" id="{CA80B343-AAD0-4560-A866-299F90A71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089" y="5781675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72" name="AutoShape 14">
            <a:extLst>
              <a:ext uri="{FF2B5EF4-FFF2-40B4-BE49-F238E27FC236}">
                <a16:creationId xmlns:a16="http://schemas.microsoft.com/office/drawing/2014/main" id="{C8BBC06F-05D5-4849-976E-C7E6D7802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925" y="5802314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373" name="Text Box 15">
            <a:extLst>
              <a:ext uri="{FF2B5EF4-FFF2-40B4-BE49-F238E27FC236}">
                <a16:creationId xmlns:a16="http://schemas.microsoft.com/office/drawing/2014/main" id="{30CCC176-FBB9-4FA4-98F9-4D645EF81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00" y="57848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74" name="AutoShape 16">
            <a:extLst>
              <a:ext uri="{FF2B5EF4-FFF2-40B4-BE49-F238E27FC236}">
                <a16:creationId xmlns:a16="http://schemas.microsoft.com/office/drawing/2014/main" id="{DC143013-C6EB-4F90-BB6E-9CDE718FC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859214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375" name="Text Box 17">
            <a:extLst>
              <a:ext uri="{FF2B5EF4-FFF2-40B4-BE49-F238E27FC236}">
                <a16:creationId xmlns:a16="http://schemas.microsoft.com/office/drawing/2014/main" id="{5B9032FF-678A-498E-80BD-1480159E6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38417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rgbClr val="00FFFF"/>
              </a:solidFill>
            </a:endParaRPr>
          </a:p>
        </p:txBody>
      </p:sp>
      <p:sp>
        <p:nvSpPr>
          <p:cNvPr id="15376" name="AutoShape 18">
            <a:extLst>
              <a:ext uri="{FF2B5EF4-FFF2-40B4-BE49-F238E27FC236}">
                <a16:creationId xmlns:a16="http://schemas.microsoft.com/office/drawing/2014/main" id="{3A744CE6-8BB1-4F67-AE18-36B692D68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1" y="4846639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377" name="Text Box 19">
            <a:extLst>
              <a:ext uri="{FF2B5EF4-FFF2-40B4-BE49-F238E27FC236}">
                <a16:creationId xmlns:a16="http://schemas.microsoft.com/office/drawing/2014/main" id="{5C64B847-705F-4B1C-9890-A1207D706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0" y="4846638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78" name="Text Box 20">
            <a:extLst>
              <a:ext uri="{FF2B5EF4-FFF2-40B4-BE49-F238E27FC236}">
                <a16:creationId xmlns:a16="http://schemas.microsoft.com/office/drawing/2014/main" id="{691A2651-5243-4D95-A246-DF3792B55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3273425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79" name="Text Box 21">
            <a:extLst>
              <a:ext uri="{FF2B5EF4-FFF2-40B4-BE49-F238E27FC236}">
                <a16:creationId xmlns:a16="http://schemas.microsoft.com/office/drawing/2014/main" id="{D43D4DD6-3792-4914-9435-6A7ABE615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3273425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5380" name="Text Box 22">
            <a:extLst>
              <a:ext uri="{FF2B5EF4-FFF2-40B4-BE49-F238E27FC236}">
                <a16:creationId xmlns:a16="http://schemas.microsoft.com/office/drawing/2014/main" id="{18A9BCD1-0990-4A0E-8E08-E636B690B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6" y="4211638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Married</a:t>
            </a:r>
            <a:r>
              <a:rPr lang="en-US" altLang="en-US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5381" name="Text Box 23">
            <a:extLst>
              <a:ext uri="{FF2B5EF4-FFF2-40B4-BE49-F238E27FC236}">
                <a16:creationId xmlns:a16="http://schemas.microsoft.com/office/drawing/2014/main" id="{FA7D88B2-342B-43B6-B21B-1EDC76898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114" y="4246563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Single, Divorced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82" name="Text Box 24">
            <a:extLst>
              <a:ext uri="{FF2B5EF4-FFF2-40B4-BE49-F238E27FC236}">
                <a16:creationId xmlns:a16="http://schemas.microsoft.com/office/drawing/2014/main" id="{0B10F677-30F4-408E-82D7-9DA7A4F37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1" y="52181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&lt;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5383" name="Text Box 25">
            <a:extLst>
              <a:ext uri="{FF2B5EF4-FFF2-40B4-BE49-F238E27FC236}">
                <a16:creationId xmlns:a16="http://schemas.microsoft.com/office/drawing/2014/main" id="{112A6B55-8DC1-4C86-8E9F-961BA729C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6" y="52181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&gt;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graphicFrame>
        <p:nvGraphicFramePr>
          <p:cNvPr id="15384" name="Object 26">
            <a:extLst>
              <a:ext uri="{FF2B5EF4-FFF2-40B4-BE49-F238E27FC236}">
                <a16:creationId xmlns:a16="http://schemas.microsoft.com/office/drawing/2014/main" id="{6CBCE12D-0A7E-461B-BAD9-7D9815A203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1764" y="2192338"/>
          <a:ext cx="365283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143500" imgH="1600200" progId="Word.Document.8">
                  <p:embed/>
                </p:oleObj>
              </mc:Choice>
              <mc:Fallback>
                <p:oleObj name="Document" r:id="rId2" imgW="5143500" imgH="1600200" progId="Word.Document.8">
                  <p:embed/>
                  <p:pic>
                    <p:nvPicPr>
                      <p:cNvPr id="15384" name="Object 26">
                        <a:extLst>
                          <a:ext uri="{FF2B5EF4-FFF2-40B4-BE49-F238E27FC236}">
                            <a16:creationId xmlns:a16="http://schemas.microsoft.com/office/drawing/2014/main" id="{6CBCE12D-0A7E-461B-BAD9-7D9815A203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4" y="2192338"/>
                        <a:ext cx="365283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5" name="Text Box 27">
            <a:extLst>
              <a:ext uri="{FF2B5EF4-FFF2-40B4-BE49-F238E27FC236}">
                <a16:creationId xmlns:a16="http://schemas.microsoft.com/office/drawing/2014/main" id="{2F709821-A106-4BE4-99B7-AE604DE11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730375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>
              <a:solidFill>
                <a:schemeClr val="bg2"/>
              </a:solidFill>
            </a:endParaRPr>
          </a:p>
        </p:txBody>
      </p:sp>
      <p:sp>
        <p:nvSpPr>
          <p:cNvPr id="15386" name="Line 28">
            <a:extLst>
              <a:ext uri="{FF2B5EF4-FFF2-40B4-BE49-F238E27FC236}">
                <a16:creationId xmlns:a16="http://schemas.microsoft.com/office/drawing/2014/main" id="{A92EC166-4110-4F14-99E2-A753E98215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2949575"/>
            <a:ext cx="160020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7" name="Text Box 33">
            <a:extLst>
              <a:ext uri="{FF2B5EF4-FFF2-40B4-BE49-F238E27FC236}">
                <a16:creationId xmlns:a16="http://schemas.microsoft.com/office/drawing/2014/main" id="{D80BA117-04E5-4D25-8053-C681B78FA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1" y="2949576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713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4189845-0FAC-4C8A-9572-31A23A8AE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Apply Model to Test 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2F8AD1-81E6-466A-A329-F412ABE3C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657887C-4007-4FBC-A70F-612C3AAAC948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3B1CBD-DABB-4236-9028-F59510458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227FA-A692-4498-876D-E141937D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80B55-7697-4C7B-89C2-F38D3ACF3205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16386" name="Line 3">
            <a:extLst>
              <a:ext uri="{FF2B5EF4-FFF2-40B4-BE49-F238E27FC236}">
                <a16:creationId xmlns:a16="http://schemas.microsoft.com/office/drawing/2014/main" id="{6654FDA8-72F4-4D9E-B29D-6F727DBFDD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2775" y="5138738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7" name="Line 4">
            <a:extLst>
              <a:ext uri="{FF2B5EF4-FFF2-40B4-BE49-F238E27FC236}">
                <a16:creationId xmlns:a16="http://schemas.microsoft.com/office/drawing/2014/main" id="{44368EF9-2C0E-455C-A6F3-CCF0895561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2938" y="5138738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Line 5">
            <a:extLst>
              <a:ext uri="{FF2B5EF4-FFF2-40B4-BE49-F238E27FC236}">
                <a16:creationId xmlns:a16="http://schemas.microsoft.com/office/drawing/2014/main" id="{C631A44B-603B-4521-8C36-20C85C885C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0963" y="4164014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Line 6">
            <a:extLst>
              <a:ext uri="{FF2B5EF4-FFF2-40B4-BE49-F238E27FC236}">
                <a16:creationId xmlns:a16="http://schemas.microsoft.com/office/drawing/2014/main" id="{0DAFE3D3-63CA-44B4-AE2B-82F420AA58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1" y="4164014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Line 7">
            <a:extLst>
              <a:ext uri="{FF2B5EF4-FFF2-40B4-BE49-F238E27FC236}">
                <a16:creationId xmlns:a16="http://schemas.microsoft.com/office/drawing/2014/main" id="{3F74804A-7A96-4B96-87E2-09A4D26F6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8763" y="3273426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Line 8">
            <a:extLst>
              <a:ext uri="{FF2B5EF4-FFF2-40B4-BE49-F238E27FC236}">
                <a16:creationId xmlns:a16="http://schemas.microsoft.com/office/drawing/2014/main" id="{AC8075D9-C9A2-48B5-BCB4-2D4791F51F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3814" y="3273426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Text Box 10">
            <a:extLst>
              <a:ext uri="{FF2B5EF4-FFF2-40B4-BE49-F238E27FC236}">
                <a16:creationId xmlns:a16="http://schemas.microsoft.com/office/drawing/2014/main" id="{FAB0D765-6F13-48B0-B577-41CBA0636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841751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6393" name="Text Box 11">
            <a:extLst>
              <a:ext uri="{FF2B5EF4-FFF2-40B4-BE49-F238E27FC236}">
                <a16:creationId xmlns:a16="http://schemas.microsoft.com/office/drawing/2014/main" id="{E0C25DCC-6325-43C2-8087-9B8F569C2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9639" y="4813300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6394" name="AutoShape 12">
            <a:extLst>
              <a:ext uri="{FF2B5EF4-FFF2-40B4-BE49-F238E27FC236}">
                <a16:creationId xmlns:a16="http://schemas.microsoft.com/office/drawing/2014/main" id="{468DE7B0-FDD7-42CC-ADC9-86D382BAC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9" y="5781676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395" name="Text Box 13">
            <a:extLst>
              <a:ext uri="{FF2B5EF4-FFF2-40B4-BE49-F238E27FC236}">
                <a16:creationId xmlns:a16="http://schemas.microsoft.com/office/drawing/2014/main" id="{DABC81D7-2103-4EA9-9306-8BDB3DF0E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089" y="5781675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6396" name="AutoShape 14">
            <a:extLst>
              <a:ext uri="{FF2B5EF4-FFF2-40B4-BE49-F238E27FC236}">
                <a16:creationId xmlns:a16="http://schemas.microsoft.com/office/drawing/2014/main" id="{946D1A10-755F-4542-807A-00A40EE7C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925" y="5802314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397" name="Text Box 15">
            <a:extLst>
              <a:ext uri="{FF2B5EF4-FFF2-40B4-BE49-F238E27FC236}">
                <a16:creationId xmlns:a16="http://schemas.microsoft.com/office/drawing/2014/main" id="{3070DA6E-BD1C-450C-99ED-2E2433E8F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00" y="57848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6398" name="AutoShape 16">
            <a:extLst>
              <a:ext uri="{FF2B5EF4-FFF2-40B4-BE49-F238E27FC236}">
                <a16:creationId xmlns:a16="http://schemas.microsoft.com/office/drawing/2014/main" id="{7BA13988-E217-467B-BE7D-6D9BB058E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859214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399" name="Text Box 17">
            <a:extLst>
              <a:ext uri="{FF2B5EF4-FFF2-40B4-BE49-F238E27FC236}">
                <a16:creationId xmlns:a16="http://schemas.microsoft.com/office/drawing/2014/main" id="{88775961-4A12-4FE2-9D8F-C980F1D56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38417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rgbClr val="00FFFF"/>
              </a:solidFill>
            </a:endParaRPr>
          </a:p>
        </p:txBody>
      </p:sp>
      <p:sp>
        <p:nvSpPr>
          <p:cNvPr id="16400" name="AutoShape 18">
            <a:extLst>
              <a:ext uri="{FF2B5EF4-FFF2-40B4-BE49-F238E27FC236}">
                <a16:creationId xmlns:a16="http://schemas.microsoft.com/office/drawing/2014/main" id="{7C14FA3E-B966-49C0-9A59-A3B925832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1" y="4846639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401" name="Text Box 19">
            <a:extLst>
              <a:ext uri="{FF2B5EF4-FFF2-40B4-BE49-F238E27FC236}">
                <a16:creationId xmlns:a16="http://schemas.microsoft.com/office/drawing/2014/main" id="{FE456DF6-A29A-4A91-9FB7-8154021C4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0" y="4846638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6402" name="Text Box 20">
            <a:extLst>
              <a:ext uri="{FF2B5EF4-FFF2-40B4-BE49-F238E27FC236}">
                <a16:creationId xmlns:a16="http://schemas.microsoft.com/office/drawing/2014/main" id="{50D0CB85-8DB9-4236-B5F3-B701D9806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3273425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6403" name="Text Box 21">
            <a:extLst>
              <a:ext uri="{FF2B5EF4-FFF2-40B4-BE49-F238E27FC236}">
                <a16:creationId xmlns:a16="http://schemas.microsoft.com/office/drawing/2014/main" id="{58324734-18CC-406B-B866-BD7576D55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3273425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6404" name="Text Box 22">
            <a:extLst>
              <a:ext uri="{FF2B5EF4-FFF2-40B4-BE49-F238E27FC236}">
                <a16:creationId xmlns:a16="http://schemas.microsoft.com/office/drawing/2014/main" id="{FC071BAD-0D75-4863-8163-D80876FC0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6" y="4211638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Married</a:t>
            </a:r>
            <a:r>
              <a:rPr lang="en-US" altLang="en-US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6405" name="Text Box 23">
            <a:extLst>
              <a:ext uri="{FF2B5EF4-FFF2-40B4-BE49-F238E27FC236}">
                <a16:creationId xmlns:a16="http://schemas.microsoft.com/office/drawing/2014/main" id="{0893316C-21F3-4B37-9942-0700AD30C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114" y="4246563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Single, Divorced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6406" name="Text Box 24">
            <a:extLst>
              <a:ext uri="{FF2B5EF4-FFF2-40B4-BE49-F238E27FC236}">
                <a16:creationId xmlns:a16="http://schemas.microsoft.com/office/drawing/2014/main" id="{0F440198-8C5F-40FD-949F-5DB9B4C78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1" y="52181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&lt;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6407" name="Text Box 25">
            <a:extLst>
              <a:ext uri="{FF2B5EF4-FFF2-40B4-BE49-F238E27FC236}">
                <a16:creationId xmlns:a16="http://schemas.microsoft.com/office/drawing/2014/main" id="{D3E175E6-83AF-4B08-B14D-6BE5654C3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6" y="52181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&gt;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graphicFrame>
        <p:nvGraphicFramePr>
          <p:cNvPr id="16408" name="Object 26">
            <a:extLst>
              <a:ext uri="{FF2B5EF4-FFF2-40B4-BE49-F238E27FC236}">
                <a16:creationId xmlns:a16="http://schemas.microsoft.com/office/drawing/2014/main" id="{5AD7F2BF-2DD1-44E8-93CE-3F8CD9A91F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1764" y="2192338"/>
          <a:ext cx="357663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054600" imgH="1600200" progId="Word.Document.8">
                  <p:embed/>
                </p:oleObj>
              </mc:Choice>
              <mc:Fallback>
                <p:oleObj name="Document" r:id="rId2" imgW="5054600" imgH="1600200" progId="Word.Document.8">
                  <p:embed/>
                  <p:pic>
                    <p:nvPicPr>
                      <p:cNvPr id="16408" name="Object 26">
                        <a:extLst>
                          <a:ext uri="{FF2B5EF4-FFF2-40B4-BE49-F238E27FC236}">
                            <a16:creationId xmlns:a16="http://schemas.microsoft.com/office/drawing/2014/main" id="{5AD7F2BF-2DD1-44E8-93CE-3F8CD9A91F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4" y="2192338"/>
                        <a:ext cx="357663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9" name="Text Box 27">
            <a:extLst>
              <a:ext uri="{FF2B5EF4-FFF2-40B4-BE49-F238E27FC236}">
                <a16:creationId xmlns:a16="http://schemas.microsoft.com/office/drawing/2014/main" id="{5814FC83-E9AA-4A72-923A-B36CA1125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730375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>
              <a:solidFill>
                <a:schemeClr val="bg2"/>
              </a:solidFill>
            </a:endParaRPr>
          </a:p>
        </p:txBody>
      </p:sp>
      <p:sp>
        <p:nvSpPr>
          <p:cNvPr id="16410" name="Line 28">
            <a:extLst>
              <a:ext uri="{FF2B5EF4-FFF2-40B4-BE49-F238E27FC236}">
                <a16:creationId xmlns:a16="http://schemas.microsoft.com/office/drawing/2014/main" id="{9B60F30B-25F0-4E02-9205-9196E72DB7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2644775"/>
            <a:ext cx="2057400" cy="12954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1" name="Text Box 29">
            <a:extLst>
              <a:ext uri="{FF2B5EF4-FFF2-40B4-BE49-F238E27FC236}">
                <a16:creationId xmlns:a16="http://schemas.microsoft.com/office/drawing/2014/main" id="{782D7552-4A10-49EF-AA4E-FBC4DEE9A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1" y="2949576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951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F913686-F9A1-43CF-971D-57FD404528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Apply Model to Test 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96F20-2D52-417B-962D-2AF9AB48E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866D42-89DB-41D3-A7AA-402FEBE36EDF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50F69-DABC-42AD-A475-F05F80743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4B7A5-BE48-456C-9BAB-189A81979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051604-57D2-428E-A2A7-786F957DB7C8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17410" name="Line 3">
            <a:extLst>
              <a:ext uri="{FF2B5EF4-FFF2-40B4-BE49-F238E27FC236}">
                <a16:creationId xmlns:a16="http://schemas.microsoft.com/office/drawing/2014/main" id="{A5C44BA8-84B4-4329-B4FC-AA80BBE1D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2775" y="5138738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Line 4">
            <a:extLst>
              <a:ext uri="{FF2B5EF4-FFF2-40B4-BE49-F238E27FC236}">
                <a16:creationId xmlns:a16="http://schemas.microsoft.com/office/drawing/2014/main" id="{797895E3-BF9E-446D-9E4F-1641D1CBD5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2938" y="5138738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Line 5">
            <a:extLst>
              <a:ext uri="{FF2B5EF4-FFF2-40B4-BE49-F238E27FC236}">
                <a16:creationId xmlns:a16="http://schemas.microsoft.com/office/drawing/2014/main" id="{09581D5C-6807-48B8-AC2F-8E48F06FE3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0963" y="4164014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Line 6">
            <a:extLst>
              <a:ext uri="{FF2B5EF4-FFF2-40B4-BE49-F238E27FC236}">
                <a16:creationId xmlns:a16="http://schemas.microsoft.com/office/drawing/2014/main" id="{94B25752-DE6D-4333-B1E8-3A66014C1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1" y="4164014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Line 7">
            <a:extLst>
              <a:ext uri="{FF2B5EF4-FFF2-40B4-BE49-F238E27FC236}">
                <a16:creationId xmlns:a16="http://schemas.microsoft.com/office/drawing/2014/main" id="{2FC40FF1-CE46-4E85-B66E-8F5BD7489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8763" y="3273426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Line 8">
            <a:extLst>
              <a:ext uri="{FF2B5EF4-FFF2-40B4-BE49-F238E27FC236}">
                <a16:creationId xmlns:a16="http://schemas.microsoft.com/office/drawing/2014/main" id="{4E0AC857-653F-4E1C-A81F-4C632F7FE3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3814" y="3273426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6" name="Text Box 10">
            <a:extLst>
              <a:ext uri="{FF2B5EF4-FFF2-40B4-BE49-F238E27FC236}">
                <a16:creationId xmlns:a16="http://schemas.microsoft.com/office/drawing/2014/main" id="{31A188CD-F3E0-4270-BBA1-15965EB02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841751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17" name="Text Box 11">
            <a:extLst>
              <a:ext uri="{FF2B5EF4-FFF2-40B4-BE49-F238E27FC236}">
                <a16:creationId xmlns:a16="http://schemas.microsoft.com/office/drawing/2014/main" id="{B088FB2D-4993-482E-92FF-F12075DE8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9639" y="4813300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18" name="AutoShape 12">
            <a:extLst>
              <a:ext uri="{FF2B5EF4-FFF2-40B4-BE49-F238E27FC236}">
                <a16:creationId xmlns:a16="http://schemas.microsoft.com/office/drawing/2014/main" id="{1F9C1CC1-F565-4255-996C-D3743FE57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9" y="5781676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19" name="Text Box 13">
            <a:extLst>
              <a:ext uri="{FF2B5EF4-FFF2-40B4-BE49-F238E27FC236}">
                <a16:creationId xmlns:a16="http://schemas.microsoft.com/office/drawing/2014/main" id="{956999A7-BB5C-470C-92AF-D68F15462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089" y="5781675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20" name="AutoShape 14">
            <a:extLst>
              <a:ext uri="{FF2B5EF4-FFF2-40B4-BE49-F238E27FC236}">
                <a16:creationId xmlns:a16="http://schemas.microsoft.com/office/drawing/2014/main" id="{1C101A96-F92E-4F68-9D70-DADD2D5D2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925" y="5802314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21" name="Text Box 15">
            <a:extLst>
              <a:ext uri="{FF2B5EF4-FFF2-40B4-BE49-F238E27FC236}">
                <a16:creationId xmlns:a16="http://schemas.microsoft.com/office/drawing/2014/main" id="{0376D1BD-C3DD-4253-AEEC-8937457BB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00" y="57848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22" name="AutoShape 16">
            <a:extLst>
              <a:ext uri="{FF2B5EF4-FFF2-40B4-BE49-F238E27FC236}">
                <a16:creationId xmlns:a16="http://schemas.microsoft.com/office/drawing/2014/main" id="{B1823FFB-E289-4C8C-901F-55F3978AD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859214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23" name="Text Box 17">
            <a:extLst>
              <a:ext uri="{FF2B5EF4-FFF2-40B4-BE49-F238E27FC236}">
                <a16:creationId xmlns:a16="http://schemas.microsoft.com/office/drawing/2014/main" id="{953DB719-85F0-4BBA-B5BA-5D45B6EBE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38417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rgbClr val="00FFFF"/>
              </a:solidFill>
            </a:endParaRPr>
          </a:p>
        </p:txBody>
      </p:sp>
      <p:sp>
        <p:nvSpPr>
          <p:cNvPr id="17424" name="AutoShape 18">
            <a:extLst>
              <a:ext uri="{FF2B5EF4-FFF2-40B4-BE49-F238E27FC236}">
                <a16:creationId xmlns:a16="http://schemas.microsoft.com/office/drawing/2014/main" id="{7837243C-859F-4CB3-9D4A-9F92C6781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1" y="4846639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25" name="Text Box 19">
            <a:extLst>
              <a:ext uri="{FF2B5EF4-FFF2-40B4-BE49-F238E27FC236}">
                <a16:creationId xmlns:a16="http://schemas.microsoft.com/office/drawing/2014/main" id="{ED1B0FE0-BC53-4B69-A5F4-50CC2EDB5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0" y="4846638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26" name="Text Box 20">
            <a:extLst>
              <a:ext uri="{FF2B5EF4-FFF2-40B4-BE49-F238E27FC236}">
                <a16:creationId xmlns:a16="http://schemas.microsoft.com/office/drawing/2014/main" id="{3B41FB1B-D4C9-4F5D-96D0-968FDC030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3273425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27" name="Text Box 21">
            <a:extLst>
              <a:ext uri="{FF2B5EF4-FFF2-40B4-BE49-F238E27FC236}">
                <a16:creationId xmlns:a16="http://schemas.microsoft.com/office/drawing/2014/main" id="{CA9CAFDA-E71A-4A2B-B9CD-37E59FFD2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3273425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7428" name="Text Box 22">
            <a:extLst>
              <a:ext uri="{FF2B5EF4-FFF2-40B4-BE49-F238E27FC236}">
                <a16:creationId xmlns:a16="http://schemas.microsoft.com/office/drawing/2014/main" id="{071D0BFD-351B-4C5C-84FD-11F209DC2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6" y="4211638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FF0000"/>
                </a:solidFill>
              </a:rPr>
              <a:t>Married </a:t>
            </a:r>
          </a:p>
        </p:txBody>
      </p:sp>
      <p:sp>
        <p:nvSpPr>
          <p:cNvPr id="17429" name="Text Box 23">
            <a:extLst>
              <a:ext uri="{FF2B5EF4-FFF2-40B4-BE49-F238E27FC236}">
                <a16:creationId xmlns:a16="http://schemas.microsoft.com/office/drawing/2014/main" id="{770EE8FE-0778-4053-9E39-C40CFA073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114" y="4246563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Single, Divorced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30" name="Text Box 24">
            <a:extLst>
              <a:ext uri="{FF2B5EF4-FFF2-40B4-BE49-F238E27FC236}">
                <a16:creationId xmlns:a16="http://schemas.microsoft.com/office/drawing/2014/main" id="{D2ABB308-17E1-4414-A45B-197C197ED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1" y="52181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&lt;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7431" name="Text Box 25">
            <a:extLst>
              <a:ext uri="{FF2B5EF4-FFF2-40B4-BE49-F238E27FC236}">
                <a16:creationId xmlns:a16="http://schemas.microsoft.com/office/drawing/2014/main" id="{1E12C45D-75EC-4B1A-979F-6C12A5CE2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6" y="52181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&gt;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graphicFrame>
        <p:nvGraphicFramePr>
          <p:cNvPr id="17432" name="Object 26">
            <a:extLst>
              <a:ext uri="{FF2B5EF4-FFF2-40B4-BE49-F238E27FC236}">
                <a16:creationId xmlns:a16="http://schemas.microsoft.com/office/drawing/2014/main" id="{E020D34F-E07B-40D6-9CDD-CF254E2644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1763" y="2192338"/>
          <a:ext cx="3719512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270500" imgH="1562100" progId="Word.Document.8">
                  <p:embed/>
                </p:oleObj>
              </mc:Choice>
              <mc:Fallback>
                <p:oleObj name="Document" r:id="rId2" imgW="5270500" imgH="1562100" progId="Word.Document.8">
                  <p:embed/>
                  <p:pic>
                    <p:nvPicPr>
                      <p:cNvPr id="17432" name="Object 26">
                        <a:extLst>
                          <a:ext uri="{FF2B5EF4-FFF2-40B4-BE49-F238E27FC236}">
                            <a16:creationId xmlns:a16="http://schemas.microsoft.com/office/drawing/2014/main" id="{E020D34F-E07B-40D6-9CDD-CF254E2644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3" y="2192338"/>
                        <a:ext cx="3719512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3" name="Text Box 27">
            <a:extLst>
              <a:ext uri="{FF2B5EF4-FFF2-40B4-BE49-F238E27FC236}">
                <a16:creationId xmlns:a16="http://schemas.microsoft.com/office/drawing/2014/main" id="{99F29EE8-4751-46EC-8D7E-1F20D6519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730375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>
              <a:solidFill>
                <a:schemeClr val="bg2"/>
              </a:solidFill>
            </a:endParaRPr>
          </a:p>
        </p:txBody>
      </p:sp>
      <p:sp>
        <p:nvSpPr>
          <p:cNvPr id="17434" name="Line 28">
            <a:extLst>
              <a:ext uri="{FF2B5EF4-FFF2-40B4-BE49-F238E27FC236}">
                <a16:creationId xmlns:a16="http://schemas.microsoft.com/office/drawing/2014/main" id="{A44AE565-601F-42D4-8DC6-15A8D7B207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3178175"/>
            <a:ext cx="1295400" cy="9906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5" name="Text Box 29">
            <a:extLst>
              <a:ext uri="{FF2B5EF4-FFF2-40B4-BE49-F238E27FC236}">
                <a16:creationId xmlns:a16="http://schemas.microsoft.com/office/drawing/2014/main" id="{BCB815D9-B2C1-478F-9E33-19EA73F1C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1" y="2949576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245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05C3759-8E76-4AB9-AC94-72D0D840B2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Apply Model to Test 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D87E7-DF44-467E-B58D-798AAF268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5BE115-1372-4381-B06C-AB65F332AE9F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6333F7-16EE-41B7-9E81-67BCD0E63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C2A98-03E9-466F-B5F5-FA160B54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72E9FB-D088-443F-98CA-C22614E314EC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18434" name="Line 3">
            <a:extLst>
              <a:ext uri="{FF2B5EF4-FFF2-40B4-BE49-F238E27FC236}">
                <a16:creationId xmlns:a16="http://schemas.microsoft.com/office/drawing/2014/main" id="{399E9645-00A4-4D7C-B515-111A12ED86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2775" y="5138738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Line 4">
            <a:extLst>
              <a:ext uri="{FF2B5EF4-FFF2-40B4-BE49-F238E27FC236}">
                <a16:creationId xmlns:a16="http://schemas.microsoft.com/office/drawing/2014/main" id="{C7E01FEE-3176-4252-B438-78753CA6BE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82938" y="5138738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Line 5">
            <a:extLst>
              <a:ext uri="{FF2B5EF4-FFF2-40B4-BE49-F238E27FC236}">
                <a16:creationId xmlns:a16="http://schemas.microsoft.com/office/drawing/2014/main" id="{71C82E23-8BA5-44A8-B2EB-01CCAC0BA5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0963" y="4164014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7" name="Line 6">
            <a:extLst>
              <a:ext uri="{FF2B5EF4-FFF2-40B4-BE49-F238E27FC236}">
                <a16:creationId xmlns:a16="http://schemas.microsoft.com/office/drawing/2014/main" id="{D2D8FE7A-F89D-4917-A3C8-EB087058A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1" y="4164014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8" name="Line 7">
            <a:extLst>
              <a:ext uri="{FF2B5EF4-FFF2-40B4-BE49-F238E27FC236}">
                <a16:creationId xmlns:a16="http://schemas.microsoft.com/office/drawing/2014/main" id="{CB301687-71A5-482B-BF68-968E7B898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8763" y="3273426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9" name="Line 8">
            <a:extLst>
              <a:ext uri="{FF2B5EF4-FFF2-40B4-BE49-F238E27FC236}">
                <a16:creationId xmlns:a16="http://schemas.microsoft.com/office/drawing/2014/main" id="{ED00308B-5029-45D5-A6C1-95ADCD1800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63814" y="3273426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Text Box 10">
            <a:extLst>
              <a:ext uri="{FF2B5EF4-FFF2-40B4-BE49-F238E27FC236}">
                <a16:creationId xmlns:a16="http://schemas.microsoft.com/office/drawing/2014/main" id="{04C790B7-6159-47D9-956D-24FBD8D5B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4976" y="3841751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8441" name="Text Box 11">
            <a:extLst>
              <a:ext uri="{FF2B5EF4-FFF2-40B4-BE49-F238E27FC236}">
                <a16:creationId xmlns:a16="http://schemas.microsoft.com/office/drawing/2014/main" id="{E1CD48A7-0889-4527-8882-82C342A89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9639" y="4813300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8442" name="AutoShape 12">
            <a:extLst>
              <a:ext uri="{FF2B5EF4-FFF2-40B4-BE49-F238E27FC236}">
                <a16:creationId xmlns:a16="http://schemas.microsoft.com/office/drawing/2014/main" id="{7B042607-BD97-4D38-AC64-720FAD0A9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5639" y="5781676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43" name="Text Box 13">
            <a:extLst>
              <a:ext uri="{FF2B5EF4-FFF2-40B4-BE49-F238E27FC236}">
                <a16:creationId xmlns:a16="http://schemas.microsoft.com/office/drawing/2014/main" id="{042CF95A-82ED-4DCE-BB58-65892E88B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3089" y="5781675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8444" name="AutoShape 14">
            <a:extLst>
              <a:ext uri="{FF2B5EF4-FFF2-40B4-BE49-F238E27FC236}">
                <a16:creationId xmlns:a16="http://schemas.microsoft.com/office/drawing/2014/main" id="{51C8C9CC-D1E7-4DC0-B900-B5BD33B2E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925" y="5802314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45" name="Text Box 15">
            <a:extLst>
              <a:ext uri="{FF2B5EF4-FFF2-40B4-BE49-F238E27FC236}">
                <a16:creationId xmlns:a16="http://schemas.microsoft.com/office/drawing/2014/main" id="{E358D76E-CD35-4981-BBB2-B927D44D1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00" y="57848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8446" name="AutoShape 16">
            <a:extLst>
              <a:ext uri="{FF2B5EF4-FFF2-40B4-BE49-F238E27FC236}">
                <a16:creationId xmlns:a16="http://schemas.microsoft.com/office/drawing/2014/main" id="{0EBBB9E0-0579-4083-BDC3-0ABEA6A55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1" y="3859214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47" name="Text Box 17">
            <a:extLst>
              <a:ext uri="{FF2B5EF4-FFF2-40B4-BE49-F238E27FC236}">
                <a16:creationId xmlns:a16="http://schemas.microsoft.com/office/drawing/2014/main" id="{DF7435AE-F972-41DA-8230-09E7AE62C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38417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rgbClr val="00FFFF"/>
              </a:solidFill>
            </a:endParaRPr>
          </a:p>
        </p:txBody>
      </p:sp>
      <p:sp>
        <p:nvSpPr>
          <p:cNvPr id="18448" name="AutoShape 18">
            <a:extLst>
              <a:ext uri="{FF2B5EF4-FFF2-40B4-BE49-F238E27FC236}">
                <a16:creationId xmlns:a16="http://schemas.microsoft.com/office/drawing/2014/main" id="{54DC5B1A-1D8C-42A1-BEA2-82FB2892A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1" y="4846639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49" name="Text Box 19">
            <a:extLst>
              <a:ext uri="{FF2B5EF4-FFF2-40B4-BE49-F238E27FC236}">
                <a16:creationId xmlns:a16="http://schemas.microsoft.com/office/drawing/2014/main" id="{2446B3D7-94C1-4A2D-BEB4-53AA4CCC9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0" y="4846638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8450" name="Text Box 20">
            <a:extLst>
              <a:ext uri="{FF2B5EF4-FFF2-40B4-BE49-F238E27FC236}">
                <a16:creationId xmlns:a16="http://schemas.microsoft.com/office/drawing/2014/main" id="{C9F0E219-2699-4F54-90F2-790CA879E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3273425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8451" name="Text Box 21">
            <a:extLst>
              <a:ext uri="{FF2B5EF4-FFF2-40B4-BE49-F238E27FC236}">
                <a16:creationId xmlns:a16="http://schemas.microsoft.com/office/drawing/2014/main" id="{0AA7AFE8-9E06-4ACA-9B00-45165F13F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3273425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8452" name="Text Box 22">
            <a:extLst>
              <a:ext uri="{FF2B5EF4-FFF2-40B4-BE49-F238E27FC236}">
                <a16:creationId xmlns:a16="http://schemas.microsoft.com/office/drawing/2014/main" id="{D476EC57-B797-4925-B872-F2D238CF4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6" y="4211638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FF0000"/>
                </a:solidFill>
              </a:rPr>
              <a:t>Married </a:t>
            </a:r>
          </a:p>
        </p:txBody>
      </p:sp>
      <p:sp>
        <p:nvSpPr>
          <p:cNvPr id="18453" name="Text Box 23">
            <a:extLst>
              <a:ext uri="{FF2B5EF4-FFF2-40B4-BE49-F238E27FC236}">
                <a16:creationId xmlns:a16="http://schemas.microsoft.com/office/drawing/2014/main" id="{F80673C3-33A9-402B-99BC-8590762BD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114" y="4246563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Single, Divorced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8454" name="Text Box 24">
            <a:extLst>
              <a:ext uri="{FF2B5EF4-FFF2-40B4-BE49-F238E27FC236}">
                <a16:creationId xmlns:a16="http://schemas.microsoft.com/office/drawing/2014/main" id="{91118D36-64EA-4224-9A3A-FE735EB42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1" y="52181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&lt;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8455" name="Text Box 25">
            <a:extLst>
              <a:ext uri="{FF2B5EF4-FFF2-40B4-BE49-F238E27FC236}">
                <a16:creationId xmlns:a16="http://schemas.microsoft.com/office/drawing/2014/main" id="{A93F7C38-7B33-469E-BFF9-7B31347CA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5976" y="52181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&gt;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graphicFrame>
        <p:nvGraphicFramePr>
          <p:cNvPr id="18456" name="Object 26">
            <a:extLst>
              <a:ext uri="{FF2B5EF4-FFF2-40B4-BE49-F238E27FC236}">
                <a16:creationId xmlns:a16="http://schemas.microsoft.com/office/drawing/2014/main" id="{D0CA5208-FBE8-4E4B-A361-169649B9B6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1763" y="2192339"/>
          <a:ext cx="36576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168900" imgH="1562100" progId="Word.Document.8">
                  <p:embed/>
                </p:oleObj>
              </mc:Choice>
              <mc:Fallback>
                <p:oleObj name="Document" r:id="rId2" imgW="5168900" imgH="1562100" progId="Word.Document.8">
                  <p:embed/>
                  <p:pic>
                    <p:nvPicPr>
                      <p:cNvPr id="18456" name="Object 26">
                        <a:extLst>
                          <a:ext uri="{FF2B5EF4-FFF2-40B4-BE49-F238E27FC236}">
                            <a16:creationId xmlns:a16="http://schemas.microsoft.com/office/drawing/2014/main" id="{D0CA5208-FBE8-4E4B-A361-169649B9B6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3" y="2192339"/>
                        <a:ext cx="36576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7" name="Text Box 27">
            <a:extLst>
              <a:ext uri="{FF2B5EF4-FFF2-40B4-BE49-F238E27FC236}">
                <a16:creationId xmlns:a16="http://schemas.microsoft.com/office/drawing/2014/main" id="{76816771-711F-4BC4-918C-2184680F5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730375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>
              <a:solidFill>
                <a:schemeClr val="bg2"/>
              </a:solidFill>
            </a:endParaRPr>
          </a:p>
        </p:txBody>
      </p:sp>
      <p:sp>
        <p:nvSpPr>
          <p:cNvPr id="18458" name="Line 28">
            <a:extLst>
              <a:ext uri="{FF2B5EF4-FFF2-40B4-BE49-F238E27FC236}">
                <a16:creationId xmlns:a16="http://schemas.microsoft.com/office/drawing/2014/main" id="{F25AA361-4357-47CF-BE8B-B1EEC10BD5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3178175"/>
            <a:ext cx="3124200" cy="18288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9" name="Text Box 29">
            <a:extLst>
              <a:ext uri="{FF2B5EF4-FFF2-40B4-BE49-F238E27FC236}">
                <a16:creationId xmlns:a16="http://schemas.microsoft.com/office/drawing/2014/main" id="{4AEE59DA-1B0D-4F50-8002-E0118DEEC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168776"/>
            <a:ext cx="2667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/>
              <a:t>Assign Defaulted to “No”</a:t>
            </a:r>
          </a:p>
        </p:txBody>
      </p:sp>
      <p:sp>
        <p:nvSpPr>
          <p:cNvPr id="18460" name="Text Box 30">
            <a:extLst>
              <a:ext uri="{FF2B5EF4-FFF2-40B4-BE49-F238E27FC236}">
                <a16:creationId xmlns:a16="http://schemas.microsoft.com/office/drawing/2014/main" id="{E907DFBA-BB46-4A6E-A242-2552E64E3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1" y="2949576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145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6775EFC-9B78-48C6-9E06-1AE8818929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Another Example of Decision Tree</a:t>
            </a:r>
          </a:p>
        </p:txBody>
      </p:sp>
      <p:graphicFrame>
        <p:nvGraphicFramePr>
          <p:cNvPr id="12317" name="Object 38">
            <a:extLst>
              <a:ext uri="{FF2B5EF4-FFF2-40B4-BE49-F238E27FC236}">
                <a16:creationId xmlns:a16="http://schemas.microsoft.com/office/drawing/2014/main" id="{0831DD03-DCFC-45C6-A1DC-D2714BE109E7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795463" y="2579688"/>
          <a:ext cx="3883025" cy="383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54700" imgH="5778500" progId="Word.Document.8">
                  <p:embed/>
                </p:oleObj>
              </mc:Choice>
              <mc:Fallback>
                <p:oleObj name="Document" r:id="rId2" imgW="5854700" imgH="5778500" progId="Word.Document.8">
                  <p:embed/>
                  <p:pic>
                    <p:nvPicPr>
                      <p:cNvPr id="12317" name="Object 38">
                        <a:extLst>
                          <a:ext uri="{FF2B5EF4-FFF2-40B4-BE49-F238E27FC236}">
                            <a16:creationId xmlns:a16="http://schemas.microsoft.com/office/drawing/2014/main" id="{0831DD03-DCFC-45C6-A1DC-D2714BE109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463" y="2579688"/>
                        <a:ext cx="3883025" cy="383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78102B-9290-40B9-902F-8D9BF8BF9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53F259-3B57-4A11-AB28-4F73FA3CF700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571193-677B-465D-9306-B0E03246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FB714-8A7D-4AC9-9285-3F12BC02F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B5405-7CE1-4177-9B10-0CA610354D57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12290" name="Text Box 4">
            <a:extLst>
              <a:ext uri="{FF2B5EF4-FFF2-40B4-BE49-F238E27FC236}">
                <a16:creationId xmlns:a16="http://schemas.microsoft.com/office/drawing/2014/main" id="{61460E62-9DF8-4292-83FD-0B49A341C8D6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2672301" y="1955478"/>
            <a:ext cx="11753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291" name="Text Box 5">
            <a:extLst>
              <a:ext uri="{FF2B5EF4-FFF2-40B4-BE49-F238E27FC236}">
                <a16:creationId xmlns:a16="http://schemas.microsoft.com/office/drawing/2014/main" id="{52461AE5-2569-405A-8299-7732622FAC8D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3358101" y="1955478"/>
            <a:ext cx="11753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292" name="Text Box 6">
            <a:extLst>
              <a:ext uri="{FF2B5EF4-FFF2-40B4-BE49-F238E27FC236}">
                <a16:creationId xmlns:a16="http://schemas.microsoft.com/office/drawing/2014/main" id="{4A2C7CB3-81AE-4B48-A56C-353E945F2E86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4206620" y="1955478"/>
            <a:ext cx="11753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continuous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293" name="Text Box 7">
            <a:extLst>
              <a:ext uri="{FF2B5EF4-FFF2-40B4-BE49-F238E27FC236}">
                <a16:creationId xmlns:a16="http://schemas.microsoft.com/office/drawing/2014/main" id="{1352E2CD-3B44-44A2-B75E-69FC2314EA49}"/>
              </a:ext>
            </a:extLst>
          </p:cNvPr>
          <p:cNvSpPr txBox="1">
            <a:spLocks noChangeArrowheads="1"/>
          </p:cNvSpPr>
          <p:nvPr/>
        </p:nvSpPr>
        <p:spPr bwMode="auto">
          <a:xfrm rot="19183191">
            <a:off x="4937817" y="2107878"/>
            <a:ext cx="6511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class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294" name="Line 8">
            <a:extLst>
              <a:ext uri="{FF2B5EF4-FFF2-40B4-BE49-F238E27FC236}">
                <a16:creationId xmlns:a16="http://schemas.microsoft.com/office/drawing/2014/main" id="{6698DAD6-3D77-467B-9B25-8C319A0B0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9764" y="3497263"/>
            <a:ext cx="242887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9">
            <a:extLst>
              <a:ext uri="{FF2B5EF4-FFF2-40B4-BE49-F238E27FC236}">
                <a16:creationId xmlns:a16="http://schemas.microsoft.com/office/drawing/2014/main" id="{4BE82DD1-A94F-4E25-92A5-6965E39D2E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99463" y="3497263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Line 10">
            <a:extLst>
              <a:ext uri="{FF2B5EF4-FFF2-40B4-BE49-F238E27FC236}">
                <a16:creationId xmlns:a16="http://schemas.microsoft.com/office/drawing/2014/main" id="{B909B3E2-F753-48A3-ABCD-2CA9A2933A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05689" y="2733675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7" name="Line 11">
            <a:extLst>
              <a:ext uri="{FF2B5EF4-FFF2-40B4-BE49-F238E27FC236}">
                <a16:creationId xmlns:a16="http://schemas.microsoft.com/office/drawing/2014/main" id="{0DEFA638-F2F5-4DA8-89DA-01B1BDEACFF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6950" y="2733675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8" name="Line 12">
            <a:extLst>
              <a:ext uri="{FF2B5EF4-FFF2-40B4-BE49-F238E27FC236}">
                <a16:creationId xmlns:a16="http://schemas.microsoft.com/office/drawing/2014/main" id="{44CFBC32-A04C-440D-AC60-3ACF98117C5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7613" y="20066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Line 13">
            <a:extLst>
              <a:ext uri="{FF2B5EF4-FFF2-40B4-BE49-F238E27FC236}">
                <a16:creationId xmlns:a16="http://schemas.microsoft.com/office/drawing/2014/main" id="{4A84FDFF-8D34-45A9-BBF8-3DF8508B98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94425" y="20066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Text Box 14">
            <a:extLst>
              <a:ext uri="{FF2B5EF4-FFF2-40B4-BE49-F238E27FC236}">
                <a16:creationId xmlns:a16="http://schemas.microsoft.com/office/drawing/2014/main" id="{FA7BE591-E656-46A7-AB21-D8336C069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1951" y="1743075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01" name="Text Box 15">
            <a:extLst>
              <a:ext uri="{FF2B5EF4-FFF2-40B4-BE49-F238E27FC236}">
                <a16:creationId xmlns:a16="http://schemas.microsoft.com/office/drawing/2014/main" id="{0351834D-3E07-4EBA-B7BC-8AD514D0B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7950" y="2470151"/>
            <a:ext cx="935038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02" name="Text Box 16">
            <a:extLst>
              <a:ext uri="{FF2B5EF4-FFF2-40B4-BE49-F238E27FC236}">
                <a16:creationId xmlns:a16="http://schemas.microsoft.com/office/drawing/2014/main" id="{ED864B38-EA30-4D31-93FE-C30F87CB4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2351" y="3232150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03" name="AutoShape 17">
            <a:extLst>
              <a:ext uri="{FF2B5EF4-FFF2-40B4-BE49-F238E27FC236}">
                <a16:creationId xmlns:a16="http://schemas.microsoft.com/office/drawing/2014/main" id="{D4A93664-3825-4697-91DB-A563E3CFA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9451" y="4021138"/>
            <a:ext cx="627063" cy="366712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2304" name="Text Box 18">
            <a:extLst>
              <a:ext uri="{FF2B5EF4-FFF2-40B4-BE49-F238E27FC236}">
                <a16:creationId xmlns:a16="http://schemas.microsoft.com/office/drawing/2014/main" id="{813C5F42-E294-446D-BAB8-BA73EF3C6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3250" y="4021138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05" name="AutoShape 19">
            <a:extLst>
              <a:ext uri="{FF2B5EF4-FFF2-40B4-BE49-F238E27FC236}">
                <a16:creationId xmlns:a16="http://schemas.microsoft.com/office/drawing/2014/main" id="{E001673C-3D0D-4DCB-97C9-F20B1C277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4038600"/>
            <a:ext cx="654050" cy="363538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2306" name="Text Box 20">
            <a:extLst>
              <a:ext uri="{FF2B5EF4-FFF2-40B4-BE49-F238E27FC236}">
                <a16:creationId xmlns:a16="http://schemas.microsoft.com/office/drawing/2014/main" id="{32FD8B4D-7EAF-43C7-8868-ABB7F8C30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4038" y="4024313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07" name="AutoShape 21">
            <a:extLst>
              <a:ext uri="{FF2B5EF4-FFF2-40B4-BE49-F238E27FC236}">
                <a16:creationId xmlns:a16="http://schemas.microsoft.com/office/drawing/2014/main" id="{1BA0B396-4C82-4AB2-8E99-F8625E891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2163" y="248443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2308" name="Text Box 22">
            <a:extLst>
              <a:ext uri="{FF2B5EF4-FFF2-40B4-BE49-F238E27FC236}">
                <a16:creationId xmlns:a16="http://schemas.microsoft.com/office/drawing/2014/main" id="{3F642F6A-0ADF-426D-B50A-0C81EB2C4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7413" y="24701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>
              <a:solidFill>
                <a:srgbClr val="00FFFF"/>
              </a:solidFill>
            </a:endParaRPr>
          </a:p>
        </p:txBody>
      </p:sp>
      <p:grpSp>
        <p:nvGrpSpPr>
          <p:cNvPr id="12309" name="Group 35">
            <a:extLst>
              <a:ext uri="{FF2B5EF4-FFF2-40B4-BE49-F238E27FC236}">
                <a16:creationId xmlns:a16="http://schemas.microsoft.com/office/drawing/2014/main" id="{B22A43E7-0F42-4BB2-8EAE-965DAC3711E8}"/>
              </a:ext>
            </a:extLst>
          </p:cNvPr>
          <p:cNvGrpSpPr>
            <a:grpSpLocks/>
          </p:cNvGrpSpPr>
          <p:nvPr/>
        </p:nvGrpSpPr>
        <p:grpSpPr bwMode="auto">
          <a:xfrm>
            <a:off x="7118350" y="3232150"/>
            <a:ext cx="685800" cy="381000"/>
            <a:chOff x="4927" y="2340"/>
            <a:chExt cx="432" cy="240"/>
          </a:xfrm>
        </p:grpSpPr>
        <p:sp>
          <p:nvSpPr>
            <p:cNvPr id="12321" name="AutoShape 23">
              <a:extLst>
                <a:ext uri="{FF2B5EF4-FFF2-40B4-BE49-F238E27FC236}">
                  <a16:creationId xmlns:a16="http://schemas.microsoft.com/office/drawing/2014/main" id="{0A9EB9A3-7B80-418D-B376-4D6B9124A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2340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12322" name="Text Box 24">
              <a:extLst>
                <a:ext uri="{FF2B5EF4-FFF2-40B4-BE49-F238E27FC236}">
                  <a16:creationId xmlns:a16="http://schemas.microsoft.com/office/drawing/2014/main" id="{62F00DFC-95BD-4E87-A989-CCC523B5B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5" y="2340"/>
              <a:ext cx="3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>
                  <a:solidFill>
                    <a:srgbClr val="800000"/>
                  </a:solidFill>
                </a:rPr>
                <a:t>NO</a:t>
              </a:r>
              <a:endParaRPr lang="en-US" altLang="en-US" sz="1600">
                <a:solidFill>
                  <a:schemeClr val="bg2"/>
                </a:solidFill>
              </a:endParaRPr>
            </a:p>
          </p:txBody>
        </p:sp>
      </p:grpSp>
      <p:sp>
        <p:nvSpPr>
          <p:cNvPr id="12310" name="Text Box 25">
            <a:extLst>
              <a:ext uri="{FF2B5EF4-FFF2-40B4-BE49-F238E27FC236}">
                <a16:creationId xmlns:a16="http://schemas.microsoft.com/office/drawing/2014/main" id="{40D1C44F-1F9B-4B0E-8B32-64FB3952B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2150" y="27749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Yes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11" name="Text Box 26">
            <a:extLst>
              <a:ext uri="{FF2B5EF4-FFF2-40B4-BE49-F238E27FC236}">
                <a16:creationId xmlns:a16="http://schemas.microsoft.com/office/drawing/2014/main" id="{B8D78E17-DE33-4689-B0BD-63B9D2992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4751" y="2698750"/>
            <a:ext cx="442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No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12" name="Text Box 27">
            <a:extLst>
              <a:ext uri="{FF2B5EF4-FFF2-40B4-BE49-F238E27FC236}">
                <a16:creationId xmlns:a16="http://schemas.microsoft.com/office/drawing/2014/main" id="{1593510F-7176-4511-AFEC-EFC4843FF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0551" y="1936750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Married</a:t>
            </a:r>
            <a:r>
              <a:rPr lang="en-US" altLang="en-US" sz="160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12313" name="Text Box 28">
            <a:extLst>
              <a:ext uri="{FF2B5EF4-FFF2-40B4-BE49-F238E27FC236}">
                <a16:creationId xmlns:a16="http://schemas.microsoft.com/office/drawing/2014/main" id="{88158606-A214-4401-8606-A6E72D8C9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0" y="1708151"/>
            <a:ext cx="13985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Single, Divorced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14" name="Text Box 29">
            <a:extLst>
              <a:ext uri="{FF2B5EF4-FFF2-40B4-BE49-F238E27FC236}">
                <a16:creationId xmlns:a16="http://schemas.microsoft.com/office/drawing/2014/main" id="{BA678096-4A0D-4AA2-87F4-0E63B4360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7176" y="3562350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&lt;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15" name="Text Box 30">
            <a:extLst>
              <a:ext uri="{FF2B5EF4-FFF2-40B4-BE49-F238E27FC236}">
                <a16:creationId xmlns:a16="http://schemas.microsoft.com/office/drawing/2014/main" id="{097B3FA1-172C-466A-AD3E-F367AA04C5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2001" y="3562350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/>
              <a:t>&gt; 80K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316" name="Text Box 37">
            <a:extLst>
              <a:ext uri="{FF2B5EF4-FFF2-40B4-BE49-F238E27FC236}">
                <a16:creationId xmlns:a16="http://schemas.microsoft.com/office/drawing/2014/main" id="{08AB6E6A-117C-4F9C-9E92-081433888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029200"/>
            <a:ext cx="4419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CC3300"/>
                </a:solidFill>
              </a:rPr>
              <a:t>There could be more than one tree that fits the same data!</a:t>
            </a:r>
          </a:p>
        </p:txBody>
      </p:sp>
    </p:spTree>
    <p:extLst>
      <p:ext uri="{BB962C8B-B14F-4D97-AF65-F5344CB8AC3E}">
        <p14:creationId xmlns:p14="http://schemas.microsoft.com/office/powerpoint/2010/main" val="4075648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57D3325-CA50-47D6-B18E-E49B6EB5A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Decision Tree Classification Task</a:t>
            </a:r>
          </a:p>
        </p:txBody>
      </p:sp>
      <p:graphicFrame>
        <p:nvGraphicFramePr>
          <p:cNvPr id="19458" name="Object 3">
            <a:extLst>
              <a:ext uri="{FF2B5EF4-FFF2-40B4-BE49-F238E27FC236}">
                <a16:creationId xmlns:a16="http://schemas.microsoft.com/office/drawing/2014/main" id="{922FCB22-D9C1-47D5-B45A-D63DF09FDBB3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419475" y="1846263"/>
          <a:ext cx="5395913" cy="402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432800" imgH="6286500" progId="Visio.Drawing.6">
                  <p:embed/>
                </p:oleObj>
              </mc:Choice>
              <mc:Fallback>
                <p:oleObj name="Visio" r:id="rId2" imgW="8432800" imgH="6286500" progId="Visio.Drawing.6">
                  <p:embed/>
                  <p:pic>
                    <p:nvPicPr>
                      <p:cNvPr id="19458" name="Object 3">
                        <a:extLst>
                          <a:ext uri="{FF2B5EF4-FFF2-40B4-BE49-F238E27FC236}">
                            <a16:creationId xmlns:a16="http://schemas.microsoft.com/office/drawing/2014/main" id="{922FCB22-D9C1-47D5-B45A-D63DF09FDB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1846263"/>
                        <a:ext cx="5395913" cy="402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8A83EC-A45F-4EC0-B522-0C8F3E6CD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85050A-9F9C-471C-810B-D6B44DBC2586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6D156-1546-4409-874D-F94E9E6DE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0A6B8-37D4-45C2-9640-364AB27E9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FB1C1F-2B1A-4D96-AD0B-E4A81121055F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19459" name="Line 4">
            <a:extLst>
              <a:ext uri="{FF2B5EF4-FFF2-40B4-BE49-F238E27FC236}">
                <a16:creationId xmlns:a16="http://schemas.microsoft.com/office/drawing/2014/main" id="{D2A2C65F-1598-45AB-9C71-7C8C24AD2F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4800" y="2362200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0" name="Text Box 5">
            <a:extLst>
              <a:ext uri="{FF2B5EF4-FFF2-40B4-BE49-F238E27FC236}">
                <a16:creationId xmlns:a16="http://schemas.microsoft.com/office/drawing/2014/main" id="{E0B96271-3927-49B3-A826-E4A57F01A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0" y="4283075"/>
            <a:ext cx="1219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1380342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3A98C3D-2995-4F43-B868-3D29606AAC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Decision Tree Induction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C4EEE4B1-2980-40D8-B25E-F7BD117041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Many Algorithms: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Hunt’s Algorithm (one of the earliest)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CART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ID3, C4.5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SLIQ,SPRINT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C2971E-063A-421F-B81A-C5AE59EFE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D322AA-C8E6-4A99-AB66-2D425CDD0B4A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201513-7FDD-475C-98BB-CF2E6B47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8466B-54FA-4716-9DA8-9B80AFB8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D3946A-9181-431C-9F3B-E440726DFE0F}" type="slidenum">
              <a:rPr lang="en-US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13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7848EE3C-5155-461B-95F1-0EB904BA1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>
                <a:ea typeface="ＭＳ Ｐゴシック" panose="020B0600070205080204" pitchFamily="34" charset="-128"/>
              </a:rPr>
              <a:t>General Structure of Hunt’s Algorithm</a:t>
            </a:r>
          </a:p>
        </p:txBody>
      </p:sp>
      <p:graphicFrame>
        <p:nvGraphicFramePr>
          <p:cNvPr id="21514" name="Object 21">
            <a:extLst>
              <a:ext uri="{FF2B5EF4-FFF2-40B4-BE49-F238E27FC236}">
                <a16:creationId xmlns:a16="http://schemas.microsoft.com/office/drawing/2014/main" id="{0541B6A4-7546-427F-A972-49B708EEFDC1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7536809"/>
              </p:ext>
            </p:extLst>
          </p:nvPr>
        </p:nvGraphicFramePr>
        <p:xfrm>
          <a:off x="6992144" y="1785690"/>
          <a:ext cx="4075112" cy="402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54700" imgH="5778500" progId="Word.Document.8">
                  <p:embed/>
                </p:oleObj>
              </mc:Choice>
              <mc:Fallback>
                <p:oleObj name="Document" r:id="rId2" imgW="5854700" imgH="5778500" progId="Word.Document.8">
                  <p:embed/>
                  <p:pic>
                    <p:nvPicPr>
                      <p:cNvPr id="21514" name="Object 21">
                        <a:extLst>
                          <a:ext uri="{FF2B5EF4-FFF2-40B4-BE49-F238E27FC236}">
                            <a16:creationId xmlns:a16="http://schemas.microsoft.com/office/drawing/2014/main" id="{0541B6A4-7546-427F-A972-49B708EEFDC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2144" y="1785690"/>
                        <a:ext cx="4075112" cy="402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6770D-1B68-4D94-8FD5-9AC763B6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A06473-60C3-48F9-ABFE-E33B205C210D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1F04E0-CFF7-43C1-B288-EBA1A887E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F3D08-2C9B-41F8-A628-166300A6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57EC43-4E6A-4B0C-92C0-F5F14DCE6FB5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2C4A2D3-EEA6-4EED-B84C-069A3654AF1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228724" y="1785690"/>
            <a:ext cx="5636431" cy="5181600"/>
          </a:xfrm>
        </p:spPr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sz="2000" dirty="0"/>
              <a:t>Let D</a:t>
            </a:r>
            <a:r>
              <a:rPr lang="en-US" sz="2000" baseline="-25000" dirty="0"/>
              <a:t>t</a:t>
            </a:r>
            <a:r>
              <a:rPr lang="en-US" sz="2000" dirty="0"/>
              <a:t> be the set of training records that reach a node t</a:t>
            </a:r>
          </a:p>
          <a:p>
            <a:pPr lvl="4">
              <a:defRPr/>
            </a:pPr>
            <a:endParaRPr lang="en-US" sz="1600" dirty="0">
              <a:latin typeface="Times New Roman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sz="2000" dirty="0"/>
              <a:t>General Procedure: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If D</a:t>
            </a:r>
            <a:r>
              <a:rPr lang="en-US" sz="2000" baseline="-25000" dirty="0"/>
              <a:t>t</a:t>
            </a:r>
            <a:r>
              <a:rPr lang="en-US" sz="2000" dirty="0"/>
              <a:t> contains records that belong the same class </a:t>
            </a:r>
            <a:r>
              <a:rPr lang="en-US" sz="2000" dirty="0" err="1"/>
              <a:t>y</a:t>
            </a:r>
            <a:r>
              <a:rPr lang="en-US" sz="2000" baseline="-25000" dirty="0" err="1"/>
              <a:t>t</a:t>
            </a:r>
            <a:r>
              <a:rPr lang="en-US" sz="2000" dirty="0"/>
              <a:t>, then t is a leaf node labeled as </a:t>
            </a:r>
            <a:r>
              <a:rPr lang="en-US" sz="2000" dirty="0" err="1"/>
              <a:t>y</a:t>
            </a:r>
            <a:r>
              <a:rPr lang="en-US" sz="2000" baseline="-25000" dirty="0" err="1"/>
              <a:t>t</a:t>
            </a:r>
            <a:endParaRPr lang="en-US" sz="2000" baseline="-25000" dirty="0"/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If D</a:t>
            </a:r>
            <a:r>
              <a:rPr lang="en-US" sz="2000" baseline="-25000" dirty="0"/>
              <a:t>t</a:t>
            </a:r>
            <a:r>
              <a:rPr lang="en-US" sz="2000" dirty="0"/>
              <a:t> contains records that belong to more than one class, use an attribute test to split the data into smaller subsets. Recursively apply the procedure to each subset.</a:t>
            </a:r>
          </a:p>
        </p:txBody>
      </p:sp>
      <p:sp>
        <p:nvSpPr>
          <p:cNvPr id="21507" name="Oval 11">
            <a:extLst>
              <a:ext uri="{FF2B5EF4-FFF2-40B4-BE49-F238E27FC236}">
                <a16:creationId xmlns:a16="http://schemas.microsoft.com/office/drawing/2014/main" id="{22149E8B-C419-4FBD-AE16-6FC670E88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283" y="5057281"/>
            <a:ext cx="1447800" cy="762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1508" name="Line 12">
            <a:extLst>
              <a:ext uri="{FF2B5EF4-FFF2-40B4-BE49-F238E27FC236}">
                <a16:creationId xmlns:a16="http://schemas.microsoft.com/office/drawing/2014/main" id="{41CBB8FC-6869-4033-A8AB-0BD2341FCC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0083" y="5819281"/>
            <a:ext cx="990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9" name="Line 13">
            <a:extLst>
              <a:ext uri="{FF2B5EF4-FFF2-40B4-BE49-F238E27FC236}">
                <a16:creationId xmlns:a16="http://schemas.microsoft.com/office/drawing/2014/main" id="{7EEB5828-06C8-4232-AB96-10FA60D78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3083" y="5819281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0" name="Line 14">
            <a:extLst>
              <a:ext uri="{FF2B5EF4-FFF2-40B4-BE49-F238E27FC236}">
                <a16:creationId xmlns:a16="http://schemas.microsoft.com/office/drawing/2014/main" id="{AD977740-5001-4B4A-8AD9-702811ADF7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5483" y="5819281"/>
            <a:ext cx="990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1" name="Line 15">
            <a:extLst>
              <a:ext uri="{FF2B5EF4-FFF2-40B4-BE49-F238E27FC236}">
                <a16:creationId xmlns:a16="http://schemas.microsoft.com/office/drawing/2014/main" id="{FC7DE917-44FB-491E-935A-E4C8454885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3083" y="4676281"/>
            <a:ext cx="228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2" name="Text Box 16">
            <a:extLst>
              <a:ext uri="{FF2B5EF4-FFF2-40B4-BE49-F238E27FC236}">
                <a16:creationId xmlns:a16="http://schemas.microsoft.com/office/drawing/2014/main" id="{3DD21F39-B618-45D5-A6C5-1C153D36B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1683" y="4523882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D</a:t>
            </a:r>
            <a:r>
              <a:rPr lang="en-US" altLang="en-US" sz="2000" baseline="-25000"/>
              <a:t>t</a:t>
            </a:r>
          </a:p>
        </p:txBody>
      </p:sp>
      <p:sp>
        <p:nvSpPr>
          <p:cNvPr id="21513" name="Text Box 17">
            <a:extLst>
              <a:ext uri="{FF2B5EF4-FFF2-40B4-BE49-F238E27FC236}">
                <a16:creationId xmlns:a16="http://schemas.microsoft.com/office/drawing/2014/main" id="{7C8902AE-44B0-45F4-8544-9CEDFD7F8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683" y="5209681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80789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BAEA07A2-CA67-4A32-A09B-034A897712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>
                <a:ea typeface="ＭＳ Ｐゴシック" panose="020B0600070205080204" pitchFamily="34" charset="-128"/>
              </a:rPr>
              <a:t>Hunt’s Algorithm</a:t>
            </a:r>
          </a:p>
        </p:txBody>
      </p:sp>
      <p:graphicFrame>
        <p:nvGraphicFramePr>
          <p:cNvPr id="24589" name="Object 54">
            <a:extLst>
              <a:ext uri="{FF2B5EF4-FFF2-40B4-BE49-F238E27FC236}">
                <a16:creationId xmlns:a16="http://schemas.microsoft.com/office/drawing/2014/main" id="{8850E977-9B7A-4E8D-8EE4-87995642ED57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53930856"/>
              </p:ext>
            </p:extLst>
          </p:nvPr>
        </p:nvGraphicFramePr>
        <p:xfrm>
          <a:off x="7997827" y="1645464"/>
          <a:ext cx="3157854" cy="3469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524500" imgH="6070600" progId="Word.Document.8">
                  <p:embed/>
                </p:oleObj>
              </mc:Choice>
              <mc:Fallback>
                <p:oleObj name="Document" r:id="rId2" imgW="5524500" imgH="6070600" progId="Word.Document.8">
                  <p:embed/>
                  <p:pic>
                    <p:nvPicPr>
                      <p:cNvPr id="24589" name="Object 54">
                        <a:extLst>
                          <a:ext uri="{FF2B5EF4-FFF2-40B4-BE49-F238E27FC236}">
                            <a16:creationId xmlns:a16="http://schemas.microsoft.com/office/drawing/2014/main" id="{8850E977-9B7A-4E8D-8EE4-87995642ED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7827" y="1645464"/>
                        <a:ext cx="3157854" cy="34693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8" name="Object 56">
            <a:extLst>
              <a:ext uri="{FF2B5EF4-FFF2-40B4-BE49-F238E27FC236}">
                <a16:creationId xmlns:a16="http://schemas.microsoft.com/office/drawing/2014/main" id="{C9FBFF79-E83C-48ED-A124-1D35F2126583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88476985"/>
              </p:ext>
            </p:extLst>
          </p:nvPr>
        </p:nvGraphicFramePr>
        <p:xfrm>
          <a:off x="1600200" y="1737360"/>
          <a:ext cx="6324600" cy="4509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8204200" imgH="6578600" progId="Visio.Drawing.6">
                  <p:embed/>
                </p:oleObj>
              </mc:Choice>
              <mc:Fallback>
                <p:oleObj name="Visio" r:id="rId4" imgW="8204200" imgH="6578600" progId="Visio.Drawing.6">
                  <p:embed/>
                  <p:pic>
                    <p:nvPicPr>
                      <p:cNvPr id="24578" name="Object 56">
                        <a:extLst>
                          <a:ext uri="{FF2B5EF4-FFF2-40B4-BE49-F238E27FC236}">
                            <a16:creationId xmlns:a16="http://schemas.microsoft.com/office/drawing/2014/main" id="{C9FBFF79-E83C-48ED-A124-1D35F21265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737360"/>
                        <a:ext cx="6324600" cy="4509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E7D35B-C9A3-414B-BD13-7FADBE885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E761FB-E60A-4B7A-B893-70DF7641ECD4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452B06-F3FA-4AE9-8B59-4FEF2DA81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3A4A7-3902-44F7-B2B1-4CED9C5D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9B7660-E5A7-4E19-9158-548A515C650E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24579" name="TextBox 1">
            <a:extLst>
              <a:ext uri="{FF2B5EF4-FFF2-40B4-BE49-F238E27FC236}">
                <a16:creationId xmlns:a16="http://schemas.microsoft.com/office/drawing/2014/main" id="{C7ED59C7-718E-4D24-8711-2AE56EE50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746697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(3,0)</a:t>
            </a:r>
          </a:p>
        </p:txBody>
      </p:sp>
      <p:sp>
        <p:nvSpPr>
          <p:cNvPr id="24580" name="TextBox 5">
            <a:extLst>
              <a:ext uri="{FF2B5EF4-FFF2-40B4-BE49-F238E27FC236}">
                <a16:creationId xmlns:a16="http://schemas.microsoft.com/office/drawing/2014/main" id="{B5F6F829-8ACD-44F8-A5C2-2B6C46E68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4150" y="2746697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(4,3)</a:t>
            </a:r>
          </a:p>
        </p:txBody>
      </p:sp>
      <p:sp>
        <p:nvSpPr>
          <p:cNvPr id="24581" name="TextBox 6">
            <a:extLst>
              <a:ext uri="{FF2B5EF4-FFF2-40B4-BE49-F238E27FC236}">
                <a16:creationId xmlns:a16="http://schemas.microsoft.com/office/drawing/2014/main" id="{EC16800E-7AA7-414E-917D-85968FA79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799203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(3,0)</a:t>
            </a:r>
          </a:p>
        </p:txBody>
      </p:sp>
      <p:sp>
        <p:nvSpPr>
          <p:cNvPr id="24582" name="TextBox 7">
            <a:extLst>
              <a:ext uri="{FF2B5EF4-FFF2-40B4-BE49-F238E27FC236}">
                <a16:creationId xmlns:a16="http://schemas.microsoft.com/office/drawing/2014/main" id="{F2A76673-BF1E-43C9-823E-28C07A6A1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432193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(1,3)</a:t>
            </a:r>
          </a:p>
        </p:txBody>
      </p:sp>
      <p:sp>
        <p:nvSpPr>
          <p:cNvPr id="24583" name="TextBox 8">
            <a:extLst>
              <a:ext uri="{FF2B5EF4-FFF2-40B4-BE49-F238E27FC236}">
                <a16:creationId xmlns:a16="http://schemas.microsoft.com/office/drawing/2014/main" id="{1F129BBA-69BA-4517-83CE-594C0F6AD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350" y="5432193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(3,0)</a:t>
            </a:r>
          </a:p>
        </p:txBody>
      </p:sp>
      <p:sp>
        <p:nvSpPr>
          <p:cNvPr id="24584" name="TextBox 9">
            <a:extLst>
              <a:ext uri="{FF2B5EF4-FFF2-40B4-BE49-F238E27FC236}">
                <a16:creationId xmlns:a16="http://schemas.microsoft.com/office/drawing/2014/main" id="{E6BBB9E8-E8D8-442F-8400-100DBC7A4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338828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4585" name="TextBox 10">
            <a:extLst>
              <a:ext uri="{FF2B5EF4-FFF2-40B4-BE49-F238E27FC236}">
                <a16:creationId xmlns:a16="http://schemas.microsoft.com/office/drawing/2014/main" id="{FDD1860B-5F49-4C0A-B3C3-EADE3037E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660793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(1,0)</a:t>
            </a:r>
          </a:p>
        </p:txBody>
      </p:sp>
      <p:sp>
        <p:nvSpPr>
          <p:cNvPr id="24586" name="TextBox 11">
            <a:extLst>
              <a:ext uri="{FF2B5EF4-FFF2-40B4-BE49-F238E27FC236}">
                <a16:creationId xmlns:a16="http://schemas.microsoft.com/office/drawing/2014/main" id="{E09500AE-F8A4-4EC0-BEB1-A7873FF66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0" y="5660793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(0,3)</a:t>
            </a:r>
          </a:p>
        </p:txBody>
      </p:sp>
      <p:sp>
        <p:nvSpPr>
          <p:cNvPr id="24587" name="TextBox 12">
            <a:extLst>
              <a:ext uri="{FF2B5EF4-FFF2-40B4-BE49-F238E27FC236}">
                <a16:creationId xmlns:a16="http://schemas.microsoft.com/office/drawing/2014/main" id="{68C87926-2A2A-483F-BA21-4603D75B9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550" y="5024628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</a:p>
        </p:txBody>
      </p:sp>
      <p:sp>
        <p:nvSpPr>
          <p:cNvPr id="24588" name="TextBox 13">
            <a:extLst>
              <a:ext uri="{FF2B5EF4-FFF2-40B4-BE49-F238E27FC236}">
                <a16:creationId xmlns:a16="http://schemas.microsoft.com/office/drawing/2014/main" id="{D499C468-37A6-4E69-A27A-D271A47FE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2591122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/>
              <a:t>(7,3)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DA0EF-D307-48F4-B158-643E0255A36D}"/>
              </a:ext>
            </a:extLst>
          </p:cNvPr>
          <p:cNvSpPr/>
          <p:nvPr/>
        </p:nvSpPr>
        <p:spPr bwMode="auto">
          <a:xfrm>
            <a:off x="4724400" y="4330700"/>
            <a:ext cx="3276600" cy="19177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EF287B-E014-4F5C-B97A-7D6D07E76FBE}"/>
              </a:ext>
            </a:extLst>
          </p:cNvPr>
          <p:cNvSpPr/>
          <p:nvPr/>
        </p:nvSpPr>
        <p:spPr bwMode="auto">
          <a:xfrm>
            <a:off x="4572001" y="2919414"/>
            <a:ext cx="2816225" cy="1728787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4532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2BAA94B4-C984-462E-ABEB-F5E6DA11AB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Design Issues of Decision Tree Induction</a:t>
            </a:r>
          </a:p>
        </p:txBody>
      </p:sp>
      <p:sp>
        <p:nvSpPr>
          <p:cNvPr id="20483" name="Rectangle 7">
            <a:extLst>
              <a:ext uri="{FF2B5EF4-FFF2-40B4-BE49-F238E27FC236}">
                <a16:creationId xmlns:a16="http://schemas.microsoft.com/office/drawing/2014/main" id="{B46A9D7B-6625-4393-82BB-AFBD9403B7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How should training records be split?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Method for expressing test condition </a:t>
            </a:r>
          </a:p>
          <a:p>
            <a:pPr lvl="2">
              <a:buFont typeface="Wingdings" charset="0"/>
              <a:buChar char="u"/>
              <a:defRPr/>
            </a:pPr>
            <a:r>
              <a:rPr lang="en-US" dirty="0"/>
              <a:t> depending on attribute types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Measure for evaluating the goodness of a test condition</a:t>
            </a:r>
          </a:p>
          <a:p>
            <a:pPr lvl="1">
              <a:buFont typeface="Arial" charset="0"/>
              <a:buChar char="–"/>
              <a:defRPr/>
            </a:pPr>
            <a:endParaRPr lang="en-US" dirty="0"/>
          </a:p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How should the splitting procedure stop?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Stop splitting if all the records belong to the same class or have identical attribute values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Early termination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892C59-1A5D-44CE-8827-CE3CD5F57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C99042-D0B6-4B0D-8C69-A1C2F7666C59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D9EEB1-E4DF-4BC9-A953-512A23729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0064E-82E7-48D6-82D0-F6491A63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DE923A-7A08-4B88-BEF2-18FCA48FB701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01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4D136AC-4374-4C25-9F7A-750042289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Methods for Expressing Test Conditions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44DD460-903E-47EE-82F1-F2F26AB64E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Depends on attribute types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Binary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Nominal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Ordinal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Continuous</a:t>
            </a:r>
          </a:p>
          <a:p>
            <a:pPr lvl="1">
              <a:buFont typeface="Arial" charset="0"/>
              <a:buChar char="–"/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C5604A-AC66-4ADB-8076-E9F53358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602F79-9481-45EF-B04E-A9A5E20BC463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392669-F619-4F36-AB46-9A480154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5F15E-4118-4F6B-9C81-A6F4C234C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C4D0E1-CF69-438E-B8B9-B974011A8BC5}" type="slidenum">
              <a:rPr lang="en-US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28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A17A043-A99E-4F99-8E83-AFB0B7151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Test Condition for Nominal Attributes</a:t>
            </a:r>
          </a:p>
        </p:txBody>
      </p:sp>
      <p:graphicFrame>
        <p:nvGraphicFramePr>
          <p:cNvPr id="28675" name="Object 25">
            <a:extLst>
              <a:ext uri="{FF2B5EF4-FFF2-40B4-BE49-F238E27FC236}">
                <a16:creationId xmlns:a16="http://schemas.microsoft.com/office/drawing/2014/main" id="{E91C178A-4BAD-4D02-AE53-1BD3FE2CA83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7717604"/>
              </p:ext>
            </p:extLst>
          </p:nvPr>
        </p:nvGraphicFramePr>
        <p:xfrm>
          <a:off x="6724650" y="1825625"/>
          <a:ext cx="4013200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013200" imgH="2184400" progId="Visio.Drawing.6">
                  <p:embed/>
                </p:oleObj>
              </mc:Choice>
              <mc:Fallback>
                <p:oleObj name="Visio" r:id="rId2" imgW="4013200" imgH="2184400" progId="Visio.Drawing.6">
                  <p:embed/>
                  <p:pic>
                    <p:nvPicPr>
                      <p:cNvPr id="28675" name="Object 25">
                        <a:extLst>
                          <a:ext uri="{FF2B5EF4-FFF2-40B4-BE49-F238E27FC236}">
                            <a16:creationId xmlns:a16="http://schemas.microsoft.com/office/drawing/2014/main" id="{E91C178A-4BAD-4D02-AE53-1BD3FE2CA8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4650" y="1825625"/>
                        <a:ext cx="4013200" cy="218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0C8D4-1257-44F7-BDBB-51FB81696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C528B4-39B2-4AF1-9976-D43B97988A64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E9A8FD-2D1A-487B-9726-1548A8409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524A2-F09E-4750-A4A3-0A925BD0D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6D3CB4-708B-4B73-95BA-B3B3B1DD14F5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B36E1F1-2168-4EB9-98F4-99EF59AA6459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21568" y="1825625"/>
            <a:ext cx="5303838" cy="3962400"/>
          </a:xfrm>
        </p:spPr>
        <p:txBody>
          <a:bodyPr/>
          <a:lstStyle/>
          <a:p>
            <a:pPr marL="342900" indent="-342900">
              <a:buFont typeface="Monotype Sorts" pitchFamily="2" charset="2"/>
              <a:buChar char="l"/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Multi-way split:</a:t>
            </a:r>
            <a:r>
              <a:rPr lang="en-US" altLang="en-US" sz="2400" dirty="0"/>
              <a:t> 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altLang="en-US" dirty="0"/>
              <a:t>Use as many partitions as distinct values. </a:t>
            </a:r>
          </a:p>
          <a:p>
            <a:pPr marL="342900" indent="-342900">
              <a:buFont typeface="Monotype Sorts" pitchFamily="2" charset="2"/>
              <a:buChar char="l"/>
              <a:defRPr/>
            </a:pPr>
            <a:r>
              <a:rPr lang="en-US" altLang="en-US" sz="2400" dirty="0">
                <a:solidFill>
                  <a:srgbClr val="FF0000"/>
                </a:solidFill>
              </a:rPr>
              <a:t>Binary split:</a:t>
            </a:r>
            <a:r>
              <a:rPr lang="en-US" altLang="en-US" sz="2400" dirty="0"/>
              <a:t>  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altLang="en-US" dirty="0"/>
              <a:t>Divides values into two subsets</a:t>
            </a:r>
          </a:p>
        </p:txBody>
      </p:sp>
      <p:graphicFrame>
        <p:nvGraphicFramePr>
          <p:cNvPr id="28676" name="Object 27">
            <a:extLst>
              <a:ext uri="{FF2B5EF4-FFF2-40B4-BE49-F238E27FC236}">
                <a16:creationId xmlns:a16="http://schemas.microsoft.com/office/drawing/2014/main" id="{793015B2-9A1A-4F32-AC9D-F23B3709B211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8731250" y="4495800"/>
          <a:ext cx="3460750" cy="180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813300" imgH="2514600" progId="Visio.Drawing.6">
                  <p:embed/>
                </p:oleObj>
              </mc:Choice>
              <mc:Fallback>
                <p:oleObj name="Visio" r:id="rId4" imgW="4813300" imgH="2514600" progId="Visio.Drawing.6">
                  <p:embed/>
                  <p:pic>
                    <p:nvPicPr>
                      <p:cNvPr id="28676" name="Object 27">
                        <a:extLst>
                          <a:ext uri="{FF2B5EF4-FFF2-40B4-BE49-F238E27FC236}">
                            <a16:creationId xmlns:a16="http://schemas.microsoft.com/office/drawing/2014/main" id="{793015B2-9A1A-4F32-AC9D-F23B3709B2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0" y="4495800"/>
                        <a:ext cx="3460750" cy="180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29">
            <a:extLst>
              <a:ext uri="{FF2B5EF4-FFF2-40B4-BE49-F238E27FC236}">
                <a16:creationId xmlns:a16="http://schemas.microsoft.com/office/drawing/2014/main" id="{AAF70523-35DE-4E64-A8AC-01C5180257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382002"/>
              </p:ext>
            </p:extLst>
          </p:nvPr>
        </p:nvGraphicFramePr>
        <p:xfrm>
          <a:off x="6409531" y="4448161"/>
          <a:ext cx="2022475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717800" imgH="2425700" progId="Visio.Drawing.6">
                  <p:embed/>
                </p:oleObj>
              </mc:Choice>
              <mc:Fallback>
                <p:oleObj name="Visio" r:id="rId6" imgW="2717800" imgH="2425700" progId="Visio.Drawing.6">
                  <p:embed/>
                  <p:pic>
                    <p:nvPicPr>
                      <p:cNvPr id="28677" name="Object 29">
                        <a:extLst>
                          <a:ext uri="{FF2B5EF4-FFF2-40B4-BE49-F238E27FC236}">
                            <a16:creationId xmlns:a16="http://schemas.microsoft.com/office/drawing/2014/main" id="{AAF70523-35DE-4E64-A8AC-01C5180257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9531" y="4448161"/>
                        <a:ext cx="2022475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6007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7">
            <a:extLst>
              <a:ext uri="{FF2B5EF4-FFF2-40B4-BE49-F238E27FC236}">
                <a16:creationId xmlns:a16="http://schemas.microsoft.com/office/drawing/2014/main" id="{6D0852F6-70DB-4D98-9F93-B243381AD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Test Condition for Ordinal Attributes</a:t>
            </a:r>
          </a:p>
        </p:txBody>
      </p:sp>
      <p:graphicFrame>
        <p:nvGraphicFramePr>
          <p:cNvPr id="29699" name="Object 40">
            <a:extLst>
              <a:ext uri="{FF2B5EF4-FFF2-40B4-BE49-F238E27FC236}">
                <a16:creationId xmlns:a16="http://schemas.microsoft.com/office/drawing/2014/main" id="{DB8ECD47-0CBB-4EF1-A140-CF9FB7AD7A1C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4446588" y="2632075"/>
          <a:ext cx="3152775" cy="168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962400" imgH="2120900" progId="Visio.Drawing.6">
                  <p:embed/>
                </p:oleObj>
              </mc:Choice>
              <mc:Fallback>
                <p:oleObj name="Visio" r:id="rId2" imgW="3962400" imgH="2120900" progId="Visio.Drawing.6">
                  <p:embed/>
                  <p:pic>
                    <p:nvPicPr>
                      <p:cNvPr id="29699" name="Object 40">
                        <a:extLst>
                          <a:ext uri="{FF2B5EF4-FFF2-40B4-BE49-F238E27FC236}">
                            <a16:creationId xmlns:a16="http://schemas.microsoft.com/office/drawing/2014/main" id="{DB8ECD47-0CBB-4EF1-A140-CF9FB7AD7A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588" y="2632075"/>
                        <a:ext cx="3152775" cy="168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E867C7-34B0-41AD-9084-5A31138D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29FE8A-1622-416B-BE60-E7D3371740CB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E2BAAB-9EA3-4F96-A555-24A3123E7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82065-7B11-4FE8-9790-CBACC45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58AD22-6FE2-48DF-97D6-2E47F1F4643D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23555" name="Rectangle 30">
            <a:extLst>
              <a:ext uri="{FF2B5EF4-FFF2-40B4-BE49-F238E27FC236}">
                <a16:creationId xmlns:a16="http://schemas.microsoft.com/office/drawing/2014/main" id="{F93DC60A-1BD9-4CBB-91B5-D728E0A2221D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216404" y="1837854"/>
            <a:ext cx="3070370" cy="3810000"/>
          </a:xfrm>
        </p:spPr>
        <p:txBody>
          <a:bodyPr>
            <a:normAutofit/>
          </a:bodyPr>
          <a:lstStyle/>
          <a:p>
            <a:pPr marL="342900" indent="-342900">
              <a:buFont typeface="Monotype Sorts" charset="0"/>
              <a:buChar char="l"/>
              <a:defRPr/>
            </a:pPr>
            <a:r>
              <a:rPr lang="en-US" sz="2400" dirty="0">
                <a:solidFill>
                  <a:srgbClr val="FF0000"/>
                </a:solidFill>
              </a:rPr>
              <a:t>Multi-way split:</a:t>
            </a:r>
            <a:r>
              <a:rPr lang="en-US" sz="2400" dirty="0"/>
              <a:t> 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Use as many partitions as distinct values</a:t>
            </a:r>
          </a:p>
          <a:p>
            <a:pPr marL="342900" indent="-342900">
              <a:buFont typeface="Monotype Sorts" charset="0"/>
              <a:buChar char="l"/>
              <a:defRPr/>
            </a:pPr>
            <a:r>
              <a:rPr lang="en-US" sz="2400" dirty="0">
                <a:solidFill>
                  <a:srgbClr val="FF0000"/>
                </a:solidFill>
              </a:rPr>
              <a:t>Binary split:</a:t>
            </a:r>
            <a:r>
              <a:rPr lang="en-US" sz="2400" dirty="0"/>
              <a:t>  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Divides values into two subsets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Preserve order property among attribute values</a:t>
            </a:r>
          </a:p>
        </p:txBody>
      </p:sp>
      <p:graphicFrame>
        <p:nvGraphicFramePr>
          <p:cNvPr id="29700" name="Object 41">
            <a:extLst>
              <a:ext uri="{FF2B5EF4-FFF2-40B4-BE49-F238E27FC236}">
                <a16:creationId xmlns:a16="http://schemas.microsoft.com/office/drawing/2014/main" id="{E888EEA9-D0BA-43CC-BC4E-51DCEF50DE2B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9123363" y="2819400"/>
          <a:ext cx="306863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457700" imgH="2324100" progId="Visio.Drawing.6">
                  <p:embed/>
                </p:oleObj>
              </mc:Choice>
              <mc:Fallback>
                <p:oleObj name="Visio" r:id="rId4" imgW="4457700" imgH="2324100" progId="Visio.Drawing.6">
                  <p:embed/>
                  <p:pic>
                    <p:nvPicPr>
                      <p:cNvPr id="29700" name="Object 41">
                        <a:extLst>
                          <a:ext uri="{FF2B5EF4-FFF2-40B4-BE49-F238E27FC236}">
                            <a16:creationId xmlns:a16="http://schemas.microsoft.com/office/drawing/2014/main" id="{E888EEA9-D0BA-43CC-BC4E-51DCEF50DE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3363" y="2819400"/>
                        <a:ext cx="3068637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43">
            <a:extLst>
              <a:ext uri="{FF2B5EF4-FFF2-40B4-BE49-F238E27FC236}">
                <a16:creationId xmlns:a16="http://schemas.microsoft.com/office/drawing/2014/main" id="{814461B8-0AAC-4226-8614-452596996C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4648201"/>
          <a:ext cx="1460500" cy="1711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917700" imgH="2324100" progId="Visio.Drawing.6">
                  <p:embed/>
                </p:oleObj>
              </mc:Choice>
              <mc:Fallback>
                <p:oleObj name="Visio" r:id="rId6" imgW="1917700" imgH="2324100" progId="Visio.Drawing.6">
                  <p:embed/>
                  <p:pic>
                    <p:nvPicPr>
                      <p:cNvPr id="29701" name="Object 43">
                        <a:extLst>
                          <a:ext uri="{FF2B5EF4-FFF2-40B4-BE49-F238E27FC236}">
                            <a16:creationId xmlns:a16="http://schemas.microsoft.com/office/drawing/2014/main" id="{814461B8-0AAC-4226-8614-452596996C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648201"/>
                        <a:ext cx="1460500" cy="17110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53" name="AutoShape 45">
            <a:extLst>
              <a:ext uri="{FF2B5EF4-FFF2-40B4-BE49-F238E27FC236}">
                <a16:creationId xmlns:a16="http://schemas.microsoft.com/office/drawing/2014/main" id="{A4E58D19-2F3C-4280-961E-A624D4B454F9}"/>
              </a:ext>
            </a:extLst>
          </p:cNvPr>
          <p:cNvSpPr>
            <a:spLocks/>
          </p:cNvSpPr>
          <p:nvPr/>
        </p:nvSpPr>
        <p:spPr bwMode="auto">
          <a:xfrm>
            <a:off x="8610600" y="5105400"/>
            <a:ext cx="1524000" cy="723900"/>
          </a:xfrm>
          <a:prstGeom prst="borderCallout2">
            <a:avLst>
              <a:gd name="adj1" fmla="val 15792"/>
              <a:gd name="adj2" fmla="val -5000"/>
              <a:gd name="adj3" fmla="val 15792"/>
              <a:gd name="adj4" fmla="val -29898"/>
              <a:gd name="adj5" fmla="val 102412"/>
              <a:gd name="adj6" fmla="val -5562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This grouping violates order property</a:t>
            </a: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46830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665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9C6E965-D7B0-418F-BAA0-1757CFFA7A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Test Condition for Continuous Attributes</a:t>
            </a:r>
          </a:p>
        </p:txBody>
      </p:sp>
      <p:graphicFrame>
        <p:nvGraphicFramePr>
          <p:cNvPr id="30722" name="Object 4">
            <a:extLst>
              <a:ext uri="{FF2B5EF4-FFF2-40B4-BE49-F238E27FC236}">
                <a16:creationId xmlns:a16="http://schemas.microsoft.com/office/drawing/2014/main" id="{205C434A-C905-41D9-9154-228F67FDB7AD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347913" y="2227263"/>
          <a:ext cx="7540625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547100" imgH="3695700" progId="Visio.Drawing.6">
                  <p:embed/>
                </p:oleObj>
              </mc:Choice>
              <mc:Fallback>
                <p:oleObj name="Visio" r:id="rId2" imgW="8547100" imgH="3695700" progId="Visio.Drawing.6">
                  <p:embed/>
                  <p:pic>
                    <p:nvPicPr>
                      <p:cNvPr id="30722" name="Object 4">
                        <a:extLst>
                          <a:ext uri="{FF2B5EF4-FFF2-40B4-BE49-F238E27FC236}">
                            <a16:creationId xmlns:a16="http://schemas.microsoft.com/office/drawing/2014/main" id="{205C434A-C905-41D9-9154-228F67FDB7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913" y="2227263"/>
                        <a:ext cx="7540625" cy="326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279055-9444-4DAA-A321-5736FBCD0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99AC83-5FEC-4C03-AE44-B1972CDF37D4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21FDEF-C3F0-4087-9634-ED00071F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D6A55-6A7E-4C40-BC3D-4C76DD19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0F45B-8088-480D-848D-D09825134EBE}" type="slidenum">
              <a:rPr lang="en-US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830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66374BC9-6E69-4676-B2EE-6C984C601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Splitting Based on Continuous Attributes</a:t>
            </a:r>
          </a:p>
        </p:txBody>
      </p:sp>
      <p:sp>
        <p:nvSpPr>
          <p:cNvPr id="31746" name="Rectangle 5">
            <a:extLst>
              <a:ext uri="{FF2B5EF4-FFF2-40B4-BE49-F238E27FC236}">
                <a16:creationId xmlns:a16="http://schemas.microsoft.com/office/drawing/2014/main" id="{14C108E9-73E2-44FA-BD06-0B95883697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>
                <a:ea typeface="ＭＳ Ｐゴシック" panose="020B0600070205080204" pitchFamily="34" charset="-128"/>
              </a:rPr>
              <a:t>Different ways of handling</a:t>
            </a:r>
          </a:p>
          <a:p>
            <a:pPr lvl="1"/>
            <a:r>
              <a:rPr lang="en-US" altLang="en-US" sz="2400" dirty="0">
                <a:solidFill>
                  <a:srgbClr val="CC3300"/>
                </a:solidFill>
                <a:ea typeface="ＭＳ Ｐゴシック" panose="020B0600070205080204" pitchFamily="34" charset="-128"/>
              </a:rPr>
              <a:t>Discretization</a:t>
            </a:r>
            <a:r>
              <a:rPr lang="en-US" altLang="en-US" sz="2400" dirty="0">
                <a:ea typeface="ＭＳ Ｐゴシック" panose="020B0600070205080204" pitchFamily="34" charset="-128"/>
              </a:rPr>
              <a:t> to form an ordinal categorical attribute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1800" dirty="0">
                <a:ea typeface="ＭＳ Ｐゴシック" panose="020B0600070205080204" pitchFamily="34" charset="-128"/>
              </a:rPr>
              <a:t> Ranges can be found by equal interval bucketing, equal frequency bucketing (percentiles), or clustering.</a:t>
            </a:r>
          </a:p>
          <a:p>
            <a:pPr lvl="2"/>
            <a:r>
              <a:rPr lang="en-US" altLang="en-US" sz="1800" dirty="0">
                <a:ea typeface="ＭＳ Ｐゴシック" panose="020B0600070205080204" pitchFamily="34" charset="-128"/>
              </a:rPr>
              <a:t> Static – discretize once at the beginning</a:t>
            </a:r>
          </a:p>
          <a:p>
            <a:pPr lvl="2"/>
            <a:r>
              <a:rPr lang="en-US" altLang="en-US" sz="1800" dirty="0">
                <a:ea typeface="ＭＳ Ｐゴシック" panose="020B0600070205080204" pitchFamily="34" charset="-128"/>
              </a:rPr>
              <a:t> Dynamic – repeat at each node</a:t>
            </a:r>
          </a:p>
          <a:p>
            <a:pPr lvl="4"/>
            <a:endParaRPr lang="en-US" altLang="en-US" sz="1800" dirty="0">
              <a:solidFill>
                <a:srgbClr val="CC3300"/>
              </a:solidFill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400" dirty="0">
                <a:solidFill>
                  <a:srgbClr val="CC3300"/>
                </a:solidFill>
                <a:ea typeface="ＭＳ Ｐゴシック" panose="020B0600070205080204" pitchFamily="34" charset="-128"/>
              </a:rPr>
              <a:t>Binary Decision</a:t>
            </a:r>
            <a:r>
              <a:rPr lang="en-US" altLang="en-US" sz="2400" dirty="0">
                <a:ea typeface="ＭＳ Ｐゴシック" panose="020B0600070205080204" pitchFamily="34" charset="-128"/>
              </a:rPr>
              <a:t>: (A &lt; v) or (A </a:t>
            </a:r>
            <a:r>
              <a:rPr lang="en-US" altLang="en-US" sz="2400" dirty="0">
                <a:ea typeface="ＭＳ Ｐゴシック" panose="020B0600070205080204" pitchFamily="34" charset="-128"/>
                <a:sym typeface="Symbol" panose="05050102010706020507" pitchFamily="18" charset="2"/>
              </a:rPr>
              <a:t> v)</a:t>
            </a:r>
            <a:endParaRPr lang="en-US" altLang="en-US" sz="2400" dirty="0">
              <a:ea typeface="ＭＳ Ｐゴシック" panose="020B0600070205080204" pitchFamily="34" charset="-128"/>
            </a:endParaRPr>
          </a:p>
          <a:p>
            <a:pPr lvl="2"/>
            <a:r>
              <a:rPr lang="en-US" altLang="en-US" sz="1800" dirty="0">
                <a:ea typeface="ＭＳ Ｐゴシック" panose="020B0600070205080204" pitchFamily="34" charset="-128"/>
              </a:rPr>
              <a:t> consider all possible splits and finds the best cut</a:t>
            </a:r>
          </a:p>
          <a:p>
            <a:pPr lvl="2"/>
            <a:r>
              <a:rPr lang="en-US" altLang="en-US" sz="1800" dirty="0">
                <a:ea typeface="ＭＳ Ｐゴシック" panose="020B0600070205080204" pitchFamily="34" charset="-128"/>
              </a:rPr>
              <a:t> can be more compute intensive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BC31AC-2B90-4B6B-B916-A46B6DB29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1B0D11-7D66-4FA4-9787-99704A531DAA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243062-9BC5-487B-84A5-9EFDCBFB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C8E37-4C0F-4C14-A500-6AA41D7B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7BC3DC-97F5-419B-A87C-21871F4EC09C}" type="slidenum">
              <a:rPr lang="en-US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75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6">
            <a:extLst>
              <a:ext uri="{FF2B5EF4-FFF2-40B4-BE49-F238E27FC236}">
                <a16:creationId xmlns:a16="http://schemas.microsoft.com/office/drawing/2014/main" id="{BF26A80B-9FC2-4BDA-87FA-0FC0742FD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How to determine the Best Split</a:t>
            </a:r>
          </a:p>
        </p:txBody>
      </p:sp>
      <p:graphicFrame>
        <p:nvGraphicFramePr>
          <p:cNvPr id="32771" name="Object 5">
            <a:extLst>
              <a:ext uri="{FF2B5EF4-FFF2-40B4-BE49-F238E27FC236}">
                <a16:creationId xmlns:a16="http://schemas.microsoft.com/office/drawing/2014/main" id="{F868737F-DC54-4051-A73E-55DCA0DC0A5E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35304004"/>
              </p:ext>
            </p:extLst>
          </p:nvPr>
        </p:nvGraphicFramePr>
        <p:xfrm>
          <a:off x="888639" y="3475990"/>
          <a:ext cx="6003990" cy="13980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652000" imgH="2247900" progId="Visio.Drawing.6">
                  <p:embed/>
                </p:oleObj>
              </mc:Choice>
              <mc:Fallback>
                <p:oleObj name="Visio" r:id="rId2" imgW="9652000" imgH="2247900" progId="Visio.Drawing.6">
                  <p:embed/>
                  <p:pic>
                    <p:nvPicPr>
                      <p:cNvPr id="32771" name="Object 5">
                        <a:extLst>
                          <a:ext uri="{FF2B5EF4-FFF2-40B4-BE49-F238E27FC236}">
                            <a16:creationId xmlns:a16="http://schemas.microsoft.com/office/drawing/2014/main" id="{F868737F-DC54-4051-A73E-55DCA0DC0A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8639" y="3475990"/>
                        <a:ext cx="6003990" cy="13980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769" name="Picture 10">
            <a:extLst>
              <a:ext uri="{FF2B5EF4-FFF2-40B4-BE49-F238E27FC236}">
                <a16:creationId xmlns:a16="http://schemas.microsoft.com/office/drawing/2014/main" id="{88D91FEC-A941-47CC-99F5-40D7974149D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95751" y="1750373"/>
            <a:ext cx="4253217" cy="4165894"/>
          </a:xfr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0E319-76AC-4C15-903D-8F6EFEEA6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9FD0EB-5246-4E52-B108-7F0669DA6BCA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7B1F03-06D1-4093-BA48-3CB59539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A537D-5F67-45A5-BD34-E9A9F857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B2881E-104F-4428-945D-FE5790AEABC9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32772" name="Text Box 8">
            <a:extLst>
              <a:ext uri="{FF2B5EF4-FFF2-40B4-BE49-F238E27FC236}">
                <a16:creationId xmlns:a16="http://schemas.microsoft.com/office/drawing/2014/main" id="{2DE94204-FD3A-4289-9699-A34D3099D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0"/>
            <a:ext cx="5105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Before Splitting: 10 records of class 0,</a:t>
            </a:r>
            <a:br>
              <a:rPr lang="en-US" altLang="en-US" sz="1800" dirty="0"/>
            </a:br>
            <a:r>
              <a:rPr lang="en-US" altLang="en-US" sz="1800" dirty="0"/>
              <a:t>	            10 records of class 1</a:t>
            </a:r>
          </a:p>
        </p:txBody>
      </p:sp>
      <p:sp>
        <p:nvSpPr>
          <p:cNvPr id="32773" name="Text Box 9">
            <a:extLst>
              <a:ext uri="{FF2B5EF4-FFF2-40B4-BE49-F238E27FC236}">
                <a16:creationId xmlns:a16="http://schemas.microsoft.com/office/drawing/2014/main" id="{7B664C1E-ADF5-4EF1-AD98-DCAB7B325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957888"/>
            <a:ext cx="5105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Which test condition is the best?</a:t>
            </a:r>
          </a:p>
        </p:txBody>
      </p:sp>
    </p:spTree>
    <p:extLst>
      <p:ext uri="{BB962C8B-B14F-4D97-AF65-F5344CB8AC3E}">
        <p14:creationId xmlns:p14="http://schemas.microsoft.com/office/powerpoint/2010/main" val="2599492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790C841-580F-48BA-BB39-25D5051928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How to determine the Best Split</a:t>
            </a:r>
          </a:p>
        </p:txBody>
      </p:sp>
      <p:graphicFrame>
        <p:nvGraphicFramePr>
          <p:cNvPr id="33795" name="Object 6">
            <a:extLst>
              <a:ext uri="{FF2B5EF4-FFF2-40B4-BE49-F238E27FC236}">
                <a16:creationId xmlns:a16="http://schemas.microsoft.com/office/drawing/2014/main" id="{2F6BA1FB-28FD-4212-B8EF-1FFA025DB639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0419375"/>
              </p:ext>
            </p:extLst>
          </p:nvPr>
        </p:nvGraphicFramePr>
        <p:xfrm>
          <a:off x="3686185" y="4038600"/>
          <a:ext cx="660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60400" imgH="596900" progId="Visio.Drawing.6">
                  <p:embed/>
                </p:oleObj>
              </mc:Choice>
              <mc:Fallback>
                <p:oleObj name="Visio" r:id="rId2" imgW="660400" imgH="596900" progId="Visio.Drawing.6">
                  <p:embed/>
                  <p:pic>
                    <p:nvPicPr>
                      <p:cNvPr id="33795" name="Object 6">
                        <a:extLst>
                          <a:ext uri="{FF2B5EF4-FFF2-40B4-BE49-F238E27FC236}">
                            <a16:creationId xmlns:a16="http://schemas.microsoft.com/office/drawing/2014/main" id="{2F6BA1FB-28FD-4212-B8EF-1FFA025DB6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6185" y="4038600"/>
                        <a:ext cx="6604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9F0309-BC5B-493A-933F-34962B842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928BD1-6ADA-435D-890A-855A794CE01C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281511-C389-4406-9808-90A029AA2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1A086-61BC-473A-A535-E404A3D0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DB3AA-7E9D-4145-BD5E-7F396D8044A4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02D20C9-F2A0-41FD-9792-B5B1AB21F4F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813175" y="1744663"/>
            <a:ext cx="8378825" cy="4122737"/>
          </a:xfrm>
        </p:spPr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Greedy approach: </a:t>
            </a:r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Nodes with </a:t>
            </a:r>
            <a:r>
              <a:rPr lang="en-US" dirty="0">
                <a:solidFill>
                  <a:srgbClr val="FF0000"/>
                </a:solidFill>
              </a:rPr>
              <a:t>purer</a:t>
            </a:r>
            <a:r>
              <a:rPr lang="en-US" dirty="0"/>
              <a:t> class distribution are preferred</a:t>
            </a:r>
          </a:p>
          <a:p>
            <a:pPr lvl="4">
              <a:defRPr/>
            </a:pPr>
            <a:endParaRPr lang="en-US" dirty="0">
              <a:latin typeface="Times New Roman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Need a measure of node impurity:</a:t>
            </a:r>
          </a:p>
          <a:p>
            <a:pPr lvl="1">
              <a:buFont typeface="Arial" charset="0"/>
              <a:buNone/>
              <a:defRPr/>
            </a:pPr>
            <a:endParaRPr lang="en-US" dirty="0"/>
          </a:p>
        </p:txBody>
      </p:sp>
      <p:graphicFrame>
        <p:nvGraphicFramePr>
          <p:cNvPr id="33796" name="Object 10">
            <a:extLst>
              <a:ext uri="{FF2B5EF4-FFF2-40B4-BE49-F238E27FC236}">
                <a16:creationId xmlns:a16="http://schemas.microsoft.com/office/drawing/2014/main" id="{E8E82353-70BD-4F4B-A45B-F2A83E7592F0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213211079"/>
              </p:ext>
            </p:extLst>
          </p:nvPr>
        </p:nvGraphicFramePr>
        <p:xfrm>
          <a:off x="7356480" y="4016928"/>
          <a:ext cx="912812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60400" imgH="596900" progId="Visio.Drawing.6">
                  <p:embed/>
                </p:oleObj>
              </mc:Choice>
              <mc:Fallback>
                <p:oleObj name="Visio" r:id="rId4" imgW="660400" imgH="596900" progId="Visio.Drawing.6">
                  <p:embed/>
                  <p:pic>
                    <p:nvPicPr>
                      <p:cNvPr id="33796" name="Object 10">
                        <a:extLst>
                          <a:ext uri="{FF2B5EF4-FFF2-40B4-BE49-F238E27FC236}">
                            <a16:creationId xmlns:a16="http://schemas.microsoft.com/office/drawing/2014/main" id="{E8E82353-70BD-4F4B-A45B-F2A83E7592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6480" y="4016928"/>
                        <a:ext cx="912812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Text Box 12">
            <a:extLst>
              <a:ext uri="{FF2B5EF4-FFF2-40B4-BE49-F238E27FC236}">
                <a16:creationId xmlns:a16="http://schemas.microsoft.com/office/drawing/2014/main" id="{6AB3A4F5-F9F7-4D62-9A29-CB16CDCA7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029201"/>
            <a:ext cx="2819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High degree of impurity</a:t>
            </a:r>
          </a:p>
        </p:txBody>
      </p:sp>
      <p:sp>
        <p:nvSpPr>
          <p:cNvPr id="33798" name="Text Box 13">
            <a:extLst>
              <a:ext uri="{FF2B5EF4-FFF2-40B4-BE49-F238E27FC236}">
                <a16:creationId xmlns:a16="http://schemas.microsoft.com/office/drawing/2014/main" id="{D74128B7-0AB8-416A-A19B-1F48004E9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029201"/>
            <a:ext cx="2819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Low degree of impurity</a:t>
            </a:r>
          </a:p>
        </p:txBody>
      </p:sp>
    </p:spTree>
    <p:extLst>
      <p:ext uri="{BB962C8B-B14F-4D97-AF65-F5344CB8AC3E}">
        <p14:creationId xmlns:p14="http://schemas.microsoft.com/office/powerpoint/2010/main" val="2209984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BB4EB6D-D451-45BA-9136-20124E60E9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Measures of Node Impurity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0C85A6B-940F-44C4-B348-A9948B68ED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Gini Index</a:t>
            </a: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Entropy</a:t>
            </a: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Misclassification error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6C6FE7-BFB7-4D58-AB43-F2AED9FC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D8E349-8975-41DC-8BA9-1C1D181530A4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C577CD-6375-4037-AF91-7D5217464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B50FF-0759-4EEF-8393-268F16972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5D98BA-5D74-4A99-B019-B5438A47F31F}" type="slidenum">
              <a:rPr lang="en-US"/>
              <a:pPr>
                <a:defRPr/>
              </a:pPr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89D467-96B7-4957-8CBB-957EA842E579}"/>
                  </a:ext>
                </a:extLst>
              </p:cNvPr>
              <p:cNvSpPr txBox="1"/>
              <p:nvPr/>
            </p:nvSpPr>
            <p:spPr>
              <a:xfrm>
                <a:off x="3239291" y="1989257"/>
                <a:ext cx="3781484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𝐼𝑛𝑑𝑒𝑥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=1 −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89D467-96B7-4957-8CBB-957EA842E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291" y="1989257"/>
                <a:ext cx="3781484" cy="10378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438D47-46F9-4B37-925E-AF20A2580B3D}"/>
                  </a:ext>
                </a:extLst>
              </p:cNvPr>
              <p:cNvSpPr txBox="1"/>
              <p:nvPr/>
            </p:nvSpPr>
            <p:spPr>
              <a:xfrm>
                <a:off x="3259267" y="3304888"/>
                <a:ext cx="4259243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6438D47-46F9-4B37-925E-AF20A2580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267" y="3304888"/>
                <a:ext cx="4259243" cy="10378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2DF867-A064-4484-9470-5F98CC018994}"/>
                  </a:ext>
                </a:extLst>
              </p:cNvPr>
              <p:cNvSpPr txBox="1"/>
              <p:nvPr/>
            </p:nvSpPr>
            <p:spPr>
              <a:xfrm>
                <a:off x="3137728" y="4953000"/>
                <a:ext cx="53153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𝐶𝑙𝑎𝑠𝑠𝑖𝑓𝑖𝑐𝑎𝑡𝑖𝑜𝑛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𝑒𝑟𝑟𝑜𝑟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1 −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2DF867-A064-4484-9470-5F98CC018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7728" y="4953000"/>
                <a:ext cx="5315301" cy="369332"/>
              </a:xfrm>
              <a:prstGeom prst="rect">
                <a:avLst/>
              </a:prstGeom>
              <a:blipFill>
                <a:blip r:embed="rId4"/>
                <a:stretch>
                  <a:fillRect l="-1491" r="-1491" b="-3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63CADD-D3F9-4F19-86AC-DFFC8646078B}"/>
                  </a:ext>
                </a:extLst>
              </p:cNvPr>
              <p:cNvSpPr txBox="1"/>
              <p:nvPr/>
            </p:nvSpPr>
            <p:spPr>
              <a:xfrm>
                <a:off x="7253732" y="2018475"/>
                <a:ext cx="34142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the probability of class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dirty="0"/>
                  <a:t> at node t,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dirty="0"/>
                  <a:t> is the total number of classes 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63CADD-D3F9-4F19-86AC-DFFC86460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732" y="2018475"/>
                <a:ext cx="3414268" cy="923330"/>
              </a:xfrm>
              <a:prstGeom prst="rect">
                <a:avLst/>
              </a:prstGeom>
              <a:blipFill>
                <a:blip r:embed="rId5"/>
                <a:stretch>
                  <a:fillRect l="-1607" t="-3947" r="-1071" b="-9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75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44D1B4C-BCFD-4053-A8A8-B00A36AA0C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Finding the Best Split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3746315-F746-4C9B-B482-446D51640A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>
              <a:buFont typeface="Monotype Sorts" charset="0"/>
              <a:buAutoNum type="arabicPeriod"/>
              <a:defRPr/>
            </a:pPr>
            <a:r>
              <a:rPr lang="en-US" dirty="0">
                <a:cs typeface="+mn-cs"/>
              </a:rPr>
              <a:t>Compute impurity measure (P) before splitting</a:t>
            </a:r>
          </a:p>
          <a:p>
            <a:pPr marL="533400" indent="-533400">
              <a:buFont typeface="Monotype Sorts" charset="0"/>
              <a:buAutoNum type="arabicPeriod"/>
              <a:defRPr/>
            </a:pPr>
            <a:r>
              <a:rPr lang="en-US" dirty="0">
                <a:cs typeface="+mn-cs"/>
              </a:rPr>
              <a:t>Compute impurity measure (M) after splitting</a:t>
            </a:r>
          </a:p>
          <a:p>
            <a:pPr lvl="2">
              <a:buFont typeface="Monotype Sorts" charset="0"/>
              <a:buChar char="l"/>
              <a:defRPr/>
            </a:pPr>
            <a:r>
              <a:rPr lang="en-US" dirty="0"/>
              <a:t> Compute impurity measure of each child node</a:t>
            </a:r>
          </a:p>
          <a:p>
            <a:pPr lvl="2">
              <a:buFont typeface="Monotype Sorts" charset="0"/>
              <a:buChar char="l"/>
              <a:defRPr/>
            </a:pPr>
            <a:r>
              <a:rPr lang="en-US" dirty="0"/>
              <a:t> M is the weighted impurity of child nodes</a:t>
            </a:r>
          </a:p>
          <a:p>
            <a:pPr marL="533400" indent="-533400">
              <a:buFont typeface="Monotype Sorts" charset="0"/>
              <a:buAutoNum type="arabicPeriod"/>
              <a:defRPr/>
            </a:pPr>
            <a:r>
              <a:rPr lang="en-US" dirty="0">
                <a:cs typeface="+mn-cs"/>
              </a:rPr>
              <a:t>Choose the attribute test condition that produces the highest gain</a:t>
            </a:r>
            <a:br>
              <a:rPr lang="en-US" dirty="0">
                <a:cs typeface="+mn-cs"/>
              </a:rPr>
            </a:br>
            <a:r>
              <a:rPr lang="en-US" dirty="0">
                <a:cs typeface="+mn-cs"/>
              </a:rPr>
              <a:t> </a:t>
            </a:r>
          </a:p>
          <a:p>
            <a:pPr marL="622300" lvl="2">
              <a:buNone/>
              <a:defRPr/>
            </a:pPr>
            <a:r>
              <a:rPr lang="en-US" b="1" dirty="0">
                <a:cs typeface="+mn-cs"/>
              </a:rPr>
              <a:t>		Gain = P - M</a:t>
            </a:r>
            <a:br>
              <a:rPr lang="en-US" b="1" dirty="0">
                <a:cs typeface="+mn-cs"/>
              </a:rPr>
            </a:br>
            <a:br>
              <a:rPr lang="en-US" dirty="0">
                <a:cs typeface="+mn-cs"/>
              </a:rPr>
            </a:br>
            <a:r>
              <a:rPr lang="en-US" dirty="0">
                <a:cs typeface="+mn-cs"/>
              </a:rPr>
              <a:t>or equivalently, lowest impurity measure after splitting (M)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202057-6E88-4776-B3DD-90DE09D18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9089BD-4AF2-47E7-859C-25E09DA3B195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9AC9CC-4880-4F2B-8474-E114AB15E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D9241-5E8D-4758-92D6-5706D5184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B3FB04-30F3-4A8B-896F-A2FC78A6A289}" type="slidenum">
              <a:rPr lang="en-US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37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9040E99-A410-4EAB-8F1D-C56E481F57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029" y="864684"/>
            <a:ext cx="7543800" cy="76089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Finding the Best Split</a:t>
            </a:r>
          </a:p>
        </p:txBody>
      </p:sp>
      <p:graphicFrame>
        <p:nvGraphicFramePr>
          <p:cNvPr id="36881" name="Object 20">
            <a:extLst>
              <a:ext uri="{FF2B5EF4-FFF2-40B4-BE49-F238E27FC236}">
                <a16:creationId xmlns:a16="http://schemas.microsoft.com/office/drawing/2014/main" id="{7288883A-481C-4F83-B545-39CEB73425FD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1467850"/>
              </p:ext>
            </p:extLst>
          </p:nvPr>
        </p:nvGraphicFramePr>
        <p:xfrm>
          <a:off x="1604963" y="4061203"/>
          <a:ext cx="1663700" cy="410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327400" imgH="1397000" progId="Word.Document.8">
                  <p:embed/>
                </p:oleObj>
              </mc:Choice>
              <mc:Fallback>
                <p:oleObj name="Document" r:id="rId2" imgW="3327400" imgH="1397000" progId="Word.Document.8">
                  <p:embed/>
                  <p:pic>
                    <p:nvPicPr>
                      <p:cNvPr id="36881" name="Object 20">
                        <a:extLst>
                          <a:ext uri="{FF2B5EF4-FFF2-40B4-BE49-F238E27FC236}">
                            <a16:creationId xmlns:a16="http://schemas.microsoft.com/office/drawing/2014/main" id="{7288883A-481C-4F83-B545-39CEB73425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4061203"/>
                        <a:ext cx="1663700" cy="410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4F3B8D-F2AC-418D-A4C2-A8C55B876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61D026-303F-4260-BF61-EF9681A1C98F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1ED1C-85E7-4CC9-8C0F-A1507653C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2228D-E7D1-495F-98CE-4394C136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D4573C-EC14-49A9-8668-FF8B33BC1AFD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36866" name="Oval 4">
            <a:extLst>
              <a:ext uri="{FF2B5EF4-FFF2-40B4-BE49-F238E27FC236}">
                <a16:creationId xmlns:a16="http://schemas.microsoft.com/office/drawing/2014/main" id="{72DB59C1-3D4C-4DE2-8467-134D5FC0E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2374086"/>
            <a:ext cx="1009650" cy="22449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B?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6867" name="Line 5">
            <a:extLst>
              <a:ext uri="{FF2B5EF4-FFF2-40B4-BE49-F238E27FC236}">
                <a16:creationId xmlns:a16="http://schemas.microsoft.com/office/drawing/2014/main" id="{9B76AFB6-B62E-45FA-BF1B-2A57C299EE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26325" y="2831285"/>
            <a:ext cx="1108075" cy="35872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8" name="Line 6">
            <a:extLst>
              <a:ext uri="{FF2B5EF4-FFF2-40B4-BE49-F238E27FC236}">
                <a16:creationId xmlns:a16="http://schemas.microsoft.com/office/drawing/2014/main" id="{25CDC5C2-2488-42F5-B0B1-0EEC169929E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1" y="2831285"/>
            <a:ext cx="1184275" cy="35872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9" name="Text Box 7">
            <a:extLst>
              <a:ext uri="{FF2B5EF4-FFF2-40B4-BE49-F238E27FC236}">
                <a16:creationId xmlns:a16="http://schemas.microsoft.com/office/drawing/2014/main" id="{D594DF99-5476-4721-8488-0145C10C4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3878" y="3123604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36870" name="Text Box 8">
            <a:extLst>
              <a:ext uri="{FF2B5EF4-FFF2-40B4-BE49-F238E27FC236}">
                <a16:creationId xmlns:a16="http://schemas.microsoft.com/office/drawing/2014/main" id="{2E2E52A2-A299-4B77-AF36-97ABADFE4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10330" y="3115592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36871" name="Rectangle 9">
            <a:extLst>
              <a:ext uri="{FF2B5EF4-FFF2-40B4-BE49-F238E27FC236}">
                <a16:creationId xmlns:a16="http://schemas.microsoft.com/office/drawing/2014/main" id="{A442257A-610D-49F8-9C2B-A5163A1FD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1" y="3556773"/>
            <a:ext cx="936625" cy="21661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Node N3</a:t>
            </a:r>
          </a:p>
        </p:txBody>
      </p:sp>
      <p:sp>
        <p:nvSpPr>
          <p:cNvPr id="36872" name="Rectangle 10">
            <a:extLst>
              <a:ext uri="{FF2B5EF4-FFF2-40B4-BE49-F238E27FC236}">
                <a16:creationId xmlns:a16="http://schemas.microsoft.com/office/drawing/2014/main" id="{0BE9CB00-005C-4D8A-9098-0434A5126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7976" y="3556773"/>
            <a:ext cx="936625" cy="21661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Node N4</a:t>
            </a:r>
          </a:p>
        </p:txBody>
      </p:sp>
      <p:sp>
        <p:nvSpPr>
          <p:cNvPr id="36873" name="Oval 11">
            <a:extLst>
              <a:ext uri="{FF2B5EF4-FFF2-40B4-BE49-F238E27FC236}">
                <a16:creationId xmlns:a16="http://schemas.microsoft.com/office/drawing/2014/main" id="{430DF567-FB44-42BA-BDD4-A4E057B02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297886"/>
            <a:ext cx="1009650" cy="22449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A?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6874" name="Line 12">
            <a:extLst>
              <a:ext uri="{FF2B5EF4-FFF2-40B4-BE49-F238E27FC236}">
                <a16:creationId xmlns:a16="http://schemas.microsoft.com/office/drawing/2014/main" id="{09CD20DE-FD67-41A3-B19D-7BEA63F291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97125" y="2755085"/>
            <a:ext cx="1108075" cy="35872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5" name="Line 13">
            <a:extLst>
              <a:ext uri="{FF2B5EF4-FFF2-40B4-BE49-F238E27FC236}">
                <a16:creationId xmlns:a16="http://schemas.microsoft.com/office/drawing/2014/main" id="{5E78F2C8-48DF-4673-8305-990AB566FC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1" y="2755085"/>
            <a:ext cx="1184275" cy="35872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Text Box 14">
            <a:extLst>
              <a:ext uri="{FF2B5EF4-FFF2-40B4-BE49-F238E27FC236}">
                <a16:creationId xmlns:a16="http://schemas.microsoft.com/office/drawing/2014/main" id="{64A775CD-B2F1-4DE7-A46F-121F8E128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779" y="3054414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36877" name="Text Box 15">
            <a:extLst>
              <a:ext uri="{FF2B5EF4-FFF2-40B4-BE49-F238E27FC236}">
                <a16:creationId xmlns:a16="http://schemas.microsoft.com/office/drawing/2014/main" id="{D88DBA1E-33DA-4E53-80FE-07E1530D1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379" y="3063365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36878" name="Rectangle 16">
            <a:extLst>
              <a:ext uri="{FF2B5EF4-FFF2-40B4-BE49-F238E27FC236}">
                <a16:creationId xmlns:a16="http://schemas.microsoft.com/office/drawing/2014/main" id="{3FFB2629-BD43-4A6B-8875-CCE4B398D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3480573"/>
            <a:ext cx="936625" cy="21386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Node N1</a:t>
            </a:r>
          </a:p>
        </p:txBody>
      </p:sp>
      <p:sp>
        <p:nvSpPr>
          <p:cNvPr id="36879" name="Rectangle 17">
            <a:extLst>
              <a:ext uri="{FF2B5EF4-FFF2-40B4-BE49-F238E27FC236}">
                <a16:creationId xmlns:a16="http://schemas.microsoft.com/office/drawing/2014/main" id="{845E5EA6-6945-40ED-9AB5-C2DC83AA2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776" y="3480573"/>
            <a:ext cx="936625" cy="21661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Node N2</a:t>
            </a:r>
          </a:p>
        </p:txBody>
      </p:sp>
      <p:sp>
        <p:nvSpPr>
          <p:cNvPr id="36880" name="Text Box 18">
            <a:extLst>
              <a:ext uri="{FF2B5EF4-FFF2-40B4-BE49-F238E27FC236}">
                <a16:creationId xmlns:a16="http://schemas.microsoft.com/office/drawing/2014/main" id="{646251EA-A7AA-4D8C-ADD7-CF96BD425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7547" y="1804661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Before Splitting:</a:t>
            </a:r>
          </a:p>
        </p:txBody>
      </p:sp>
      <p:graphicFrame>
        <p:nvGraphicFramePr>
          <p:cNvPr id="36882" name="Object 27">
            <a:extLst>
              <a:ext uri="{FF2B5EF4-FFF2-40B4-BE49-F238E27FC236}">
                <a16:creationId xmlns:a16="http://schemas.microsoft.com/office/drawing/2014/main" id="{E9DA3913-BA37-4CD6-B589-349287EC8B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58855"/>
              </p:ext>
            </p:extLst>
          </p:nvPr>
        </p:nvGraphicFramePr>
        <p:xfrm>
          <a:off x="3890963" y="4067604"/>
          <a:ext cx="1636712" cy="40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327400" imgH="1397000" progId="Word.Document.8">
                  <p:embed/>
                </p:oleObj>
              </mc:Choice>
              <mc:Fallback>
                <p:oleObj name="Document" r:id="rId4" imgW="3327400" imgH="1397000" progId="Word.Document.8">
                  <p:embed/>
                  <p:pic>
                    <p:nvPicPr>
                      <p:cNvPr id="36882" name="Object 27">
                        <a:extLst>
                          <a:ext uri="{FF2B5EF4-FFF2-40B4-BE49-F238E27FC236}">
                            <a16:creationId xmlns:a16="http://schemas.microsoft.com/office/drawing/2014/main" id="{E9DA3913-BA37-4CD6-B589-349287EC8B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3" y="4067604"/>
                        <a:ext cx="1636712" cy="40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3" name="Object 28">
            <a:extLst>
              <a:ext uri="{FF2B5EF4-FFF2-40B4-BE49-F238E27FC236}">
                <a16:creationId xmlns:a16="http://schemas.microsoft.com/office/drawing/2014/main" id="{0C0748CF-44F5-4649-BA5A-7B1451BC8A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528996"/>
              </p:ext>
            </p:extLst>
          </p:nvPr>
        </p:nvGraphicFramePr>
        <p:xfrm>
          <a:off x="6634163" y="4067604"/>
          <a:ext cx="1636712" cy="40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340100" imgH="1397000" progId="Word.Document.8">
                  <p:embed/>
                </p:oleObj>
              </mc:Choice>
              <mc:Fallback>
                <p:oleObj name="Document" r:id="rId6" imgW="3340100" imgH="1397000" progId="Word.Document.8">
                  <p:embed/>
                  <p:pic>
                    <p:nvPicPr>
                      <p:cNvPr id="36883" name="Object 28">
                        <a:extLst>
                          <a:ext uri="{FF2B5EF4-FFF2-40B4-BE49-F238E27FC236}">
                            <a16:creationId xmlns:a16="http://schemas.microsoft.com/office/drawing/2014/main" id="{0C0748CF-44F5-4649-BA5A-7B1451BC8A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163" y="4067604"/>
                        <a:ext cx="1636712" cy="40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4" name="Object 29">
            <a:extLst>
              <a:ext uri="{FF2B5EF4-FFF2-40B4-BE49-F238E27FC236}">
                <a16:creationId xmlns:a16="http://schemas.microsoft.com/office/drawing/2014/main" id="{E02CD5EA-C7B8-40BF-A963-6E45B9C475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241980"/>
              </p:ext>
            </p:extLst>
          </p:nvPr>
        </p:nvGraphicFramePr>
        <p:xfrm>
          <a:off x="8920164" y="4069537"/>
          <a:ext cx="1595437" cy="388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352800" imgH="1397000" progId="Word.Document.8">
                  <p:embed/>
                </p:oleObj>
              </mc:Choice>
              <mc:Fallback>
                <p:oleObj name="Document" r:id="rId8" imgW="3352800" imgH="1397000" progId="Word.Document.8">
                  <p:embed/>
                  <p:pic>
                    <p:nvPicPr>
                      <p:cNvPr id="36884" name="Object 29">
                        <a:extLst>
                          <a:ext uri="{FF2B5EF4-FFF2-40B4-BE49-F238E27FC236}">
                            <a16:creationId xmlns:a16="http://schemas.microsoft.com/office/drawing/2014/main" id="{E02CD5EA-C7B8-40BF-A963-6E45B9C475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0164" y="4069537"/>
                        <a:ext cx="1595437" cy="388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5" name="Object 33">
            <a:extLst>
              <a:ext uri="{FF2B5EF4-FFF2-40B4-BE49-F238E27FC236}">
                <a16:creationId xmlns:a16="http://schemas.microsoft.com/office/drawing/2014/main" id="{932BFF67-D515-4314-B21D-02FDC8D202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84083"/>
              </p:ext>
            </p:extLst>
          </p:nvPr>
        </p:nvGraphicFramePr>
        <p:xfrm>
          <a:off x="5484947" y="1804660"/>
          <a:ext cx="1595438" cy="366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3340100" imgH="1397000" progId="Word.Document.8">
                  <p:embed/>
                </p:oleObj>
              </mc:Choice>
              <mc:Fallback>
                <p:oleObj name="Document" r:id="rId10" imgW="3340100" imgH="1397000" progId="Word.Document.8">
                  <p:embed/>
                  <p:pic>
                    <p:nvPicPr>
                      <p:cNvPr id="36885" name="Object 33">
                        <a:extLst>
                          <a:ext uri="{FF2B5EF4-FFF2-40B4-BE49-F238E27FC236}">
                            <a16:creationId xmlns:a16="http://schemas.microsoft.com/office/drawing/2014/main" id="{932BFF67-D515-4314-B21D-02FDC8D202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4947" y="1804660"/>
                        <a:ext cx="1595438" cy="366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7210425" y="1806028"/>
            <a:ext cx="1295400" cy="196237"/>
            <a:chOff x="7239000" y="915869"/>
            <a:chExt cx="1295400" cy="396875"/>
          </a:xfrm>
        </p:grpSpPr>
        <p:sp>
          <p:nvSpPr>
            <p:cNvPr id="36905" name="Line 34">
              <a:extLst>
                <a:ext uri="{FF2B5EF4-FFF2-40B4-BE49-F238E27FC236}">
                  <a16:creationId xmlns:a16="http://schemas.microsoft.com/office/drawing/2014/main" id="{40FB1057-3C51-473C-8B80-C78E5A3D4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9000" y="1295401"/>
              <a:ext cx="5334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6" name="Text Box 35">
              <a:extLst>
                <a:ext uri="{FF2B5EF4-FFF2-40B4-BE49-F238E27FC236}">
                  <a16:creationId xmlns:a16="http://schemas.microsoft.com/office/drawing/2014/main" id="{294E0061-FDD9-416D-9F65-9CD665F39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8600" y="915869"/>
              <a:ext cx="685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dirty="0"/>
                <a:t>P</a:t>
              </a:r>
            </a:p>
          </p:txBody>
        </p:sp>
      </p:grpSp>
      <p:sp>
        <p:nvSpPr>
          <p:cNvPr id="36897" name="Text Box 36">
            <a:extLst>
              <a:ext uri="{FF2B5EF4-FFF2-40B4-BE49-F238E27FC236}">
                <a16:creationId xmlns:a16="http://schemas.microsoft.com/office/drawing/2014/main" id="{5B9AF59C-109F-4FD2-9C9C-514343899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779" y="4871231"/>
            <a:ext cx="7771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M11</a:t>
            </a:r>
          </a:p>
        </p:txBody>
      </p:sp>
      <p:sp>
        <p:nvSpPr>
          <p:cNvPr id="36898" name="Text Box 37">
            <a:extLst>
              <a:ext uri="{FF2B5EF4-FFF2-40B4-BE49-F238E27FC236}">
                <a16:creationId xmlns:a16="http://schemas.microsoft.com/office/drawing/2014/main" id="{9F60B89C-1F80-4C13-BED8-7BAF175FA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379" y="4863382"/>
            <a:ext cx="7445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M12</a:t>
            </a:r>
          </a:p>
        </p:txBody>
      </p:sp>
      <p:sp>
        <p:nvSpPr>
          <p:cNvPr id="36899" name="Text Box 38">
            <a:extLst>
              <a:ext uri="{FF2B5EF4-FFF2-40B4-BE49-F238E27FC236}">
                <a16:creationId xmlns:a16="http://schemas.microsoft.com/office/drawing/2014/main" id="{E1C45CAB-1C3A-4D7C-82C2-30CDEA0AF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7428" y="4871231"/>
            <a:ext cx="76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M21</a:t>
            </a:r>
          </a:p>
        </p:txBody>
      </p:sp>
      <p:sp>
        <p:nvSpPr>
          <p:cNvPr id="36900" name="Text Box 39">
            <a:extLst>
              <a:ext uri="{FF2B5EF4-FFF2-40B4-BE49-F238E27FC236}">
                <a16:creationId xmlns:a16="http://schemas.microsoft.com/office/drawing/2014/main" id="{D53ED540-5422-4A33-90F3-FA8E83A52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6414" y="4829801"/>
            <a:ext cx="8566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M22</a:t>
            </a:r>
          </a:p>
        </p:txBody>
      </p:sp>
      <p:sp>
        <p:nvSpPr>
          <p:cNvPr id="36901" name="Line 40">
            <a:extLst>
              <a:ext uri="{FF2B5EF4-FFF2-40B4-BE49-F238E27FC236}">
                <a16:creationId xmlns:a16="http://schemas.microsoft.com/office/drawing/2014/main" id="{D79FD2F7-C96E-46A3-93E0-AC31DABF90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9342" y="4645166"/>
            <a:ext cx="0" cy="22606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2" name="Line 41">
            <a:extLst>
              <a:ext uri="{FF2B5EF4-FFF2-40B4-BE49-F238E27FC236}">
                <a16:creationId xmlns:a16="http://schemas.microsoft.com/office/drawing/2014/main" id="{59A36EC4-C058-49F5-A277-9304388D5C6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0414" y="4637316"/>
            <a:ext cx="0" cy="22606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3" name="Line 42">
            <a:extLst>
              <a:ext uri="{FF2B5EF4-FFF2-40B4-BE49-F238E27FC236}">
                <a16:creationId xmlns:a16="http://schemas.microsoft.com/office/drawing/2014/main" id="{19BA76F6-0861-44D8-B384-D0A9922CBC9F}"/>
              </a:ext>
            </a:extLst>
          </p:cNvPr>
          <p:cNvSpPr>
            <a:spLocks noChangeShapeType="1"/>
          </p:cNvSpPr>
          <p:nvPr/>
        </p:nvSpPr>
        <p:spPr bwMode="auto">
          <a:xfrm>
            <a:off x="9717882" y="4579415"/>
            <a:ext cx="0" cy="22606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4" name="Line 43">
            <a:extLst>
              <a:ext uri="{FF2B5EF4-FFF2-40B4-BE49-F238E27FC236}">
                <a16:creationId xmlns:a16="http://schemas.microsoft.com/office/drawing/2014/main" id="{7FCD0CC1-A9D2-4E29-BCEF-9DE42BE9C8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5334" y="4637317"/>
            <a:ext cx="0" cy="22606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393950" y="5360978"/>
            <a:ext cx="7620000" cy="384625"/>
            <a:chOff x="2286000" y="5257801"/>
            <a:chExt cx="7620000" cy="777875"/>
          </a:xfrm>
        </p:grpSpPr>
        <p:sp>
          <p:nvSpPr>
            <p:cNvPr id="36893" name="AutoShape 44">
              <a:extLst>
                <a:ext uri="{FF2B5EF4-FFF2-40B4-BE49-F238E27FC236}">
                  <a16:creationId xmlns:a16="http://schemas.microsoft.com/office/drawing/2014/main" id="{4C70D898-144B-484D-BAAC-212BC32F6231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352800" y="4191001"/>
              <a:ext cx="304800" cy="2438400"/>
            </a:xfrm>
            <a:prstGeom prst="leftBrace">
              <a:avLst>
                <a:gd name="adj1" fmla="val 66667"/>
                <a:gd name="adj2" fmla="val 50963"/>
              </a:avLst>
            </a:prstGeom>
            <a:noFill/>
            <a:ln w="25400">
              <a:solidFill>
                <a:srgbClr val="1C5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894" name="AutoShape 45">
              <a:extLst>
                <a:ext uri="{FF2B5EF4-FFF2-40B4-BE49-F238E27FC236}">
                  <a16:creationId xmlns:a16="http://schemas.microsoft.com/office/drawing/2014/main" id="{1377339D-0377-4BD1-A704-738AE423B957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8534400" y="4191001"/>
              <a:ext cx="304800" cy="2438400"/>
            </a:xfrm>
            <a:prstGeom prst="leftBrace">
              <a:avLst>
                <a:gd name="adj1" fmla="val 66667"/>
                <a:gd name="adj2" fmla="val 50963"/>
              </a:avLst>
            </a:prstGeom>
            <a:noFill/>
            <a:ln w="25400">
              <a:solidFill>
                <a:srgbClr val="1C5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895" name="Text Box 46">
              <a:extLst>
                <a:ext uri="{FF2B5EF4-FFF2-40B4-BE49-F238E27FC236}">
                  <a16:creationId xmlns:a16="http://schemas.microsoft.com/office/drawing/2014/main" id="{B3EFBE4C-E569-4D08-A106-5708F2A7C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5622926"/>
              <a:ext cx="685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/>
                <a:t>M1</a:t>
              </a:r>
            </a:p>
          </p:txBody>
        </p:sp>
        <p:sp>
          <p:nvSpPr>
            <p:cNvPr id="36896" name="Text Box 47">
              <a:extLst>
                <a:ext uri="{FF2B5EF4-FFF2-40B4-BE49-F238E27FC236}">
                  <a16:creationId xmlns:a16="http://schemas.microsoft.com/office/drawing/2014/main" id="{803C0B8E-94BA-42A6-BFF6-2C2152062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0" y="5638801"/>
              <a:ext cx="685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/>
                <a:t>M2</a:t>
              </a:r>
            </a:p>
          </p:txBody>
        </p:sp>
      </p:grpSp>
      <p:sp>
        <p:nvSpPr>
          <p:cNvPr id="924723" name="Text Box 51">
            <a:extLst>
              <a:ext uri="{FF2B5EF4-FFF2-40B4-BE49-F238E27FC236}">
                <a16:creationId xmlns:a16="http://schemas.microsoft.com/office/drawing/2014/main" id="{AA6B07E9-3D49-4F3E-AD88-10C749723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5929995"/>
            <a:ext cx="403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Gain = P – M1    vs      P – M2</a:t>
            </a:r>
          </a:p>
        </p:txBody>
      </p:sp>
    </p:spTree>
    <p:extLst>
      <p:ext uri="{BB962C8B-B14F-4D97-AF65-F5344CB8AC3E}">
        <p14:creationId xmlns:p14="http://schemas.microsoft.com/office/powerpoint/2010/main" val="141292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7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A8123AC9-D0F4-46E5-B95B-4A22E536E7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Measure of Impurity: GINI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0" name="Rectangle 3">
                <a:extLst>
                  <a:ext uri="{FF2B5EF4-FFF2-40B4-BE49-F238E27FC236}">
                    <a16:creationId xmlns:a16="http://schemas.microsoft.com/office/drawing/2014/main" id="{44324FD9-FE5C-4D4E-9B06-0494515F919E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en-US" sz="2400" dirty="0">
                    <a:ea typeface="ＭＳ Ｐゴシック" panose="020B0600070205080204" pitchFamily="34" charset="-128"/>
                  </a:rPr>
                  <a:t>Gini Index for a given node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en-US" sz="2400" dirty="0">
                    <a:ea typeface="ＭＳ Ｐゴシック" panose="020B0600070205080204" pitchFamily="34" charset="-128"/>
                  </a:rPr>
                  <a:t> </a:t>
                </a:r>
              </a:p>
              <a:p>
                <a:pPr>
                  <a:lnSpc>
                    <a:spcPct val="90000"/>
                  </a:lnSpc>
                </a:pPr>
                <a:endParaRPr lang="en-US" altLang="en-US" sz="2000" dirty="0">
                  <a:ea typeface="ＭＳ Ｐゴシック" panose="020B0600070205080204" pitchFamily="34" charset="-128"/>
                </a:endParaRPr>
              </a:p>
              <a:p>
                <a:pPr lvl="2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dirty="0">
                  <a:ea typeface="ＭＳ Ｐゴシック" panose="020B0600070205080204" pitchFamily="34" charset="-128"/>
                </a:endParaRPr>
              </a:p>
              <a:p>
                <a:pPr lvl="2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sz="800" dirty="0">
                  <a:ea typeface="ＭＳ Ｐゴシック" panose="020B0600070205080204" pitchFamily="34" charset="-128"/>
                </a:endParaRPr>
              </a:p>
              <a:p>
                <a:pPr lvl="2">
                  <a:lnSpc>
                    <a:spcPct val="90000"/>
                  </a:lnSpc>
                  <a:buNone/>
                </a:pPr>
                <a:br>
                  <a:rPr lang="en-US" altLang="en-US" dirty="0">
                    <a:ea typeface="ＭＳ Ｐゴシック" panose="020B0600070205080204" pitchFamily="34" charset="-128"/>
                  </a:rPr>
                </a:b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the </a:t>
                </a:r>
                <a:r>
                  <a:rPr lang="en-US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propability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of class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dirty="0"/>
                  <a:t> at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dirty="0"/>
                  <a:t> is the total number of classes  </a:t>
                </a:r>
              </a:p>
              <a:p>
                <a:pPr lvl="2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sz="800" dirty="0">
                  <a:ea typeface="ＭＳ Ｐゴシック" panose="020B0600070205080204" pitchFamily="34" charset="-128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>
                    <a:ea typeface="ＭＳ Ｐゴシック" panose="020B0600070205080204" pitchFamily="34" charset="-128"/>
                  </a:rPr>
                  <a:t>Maximum 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1−1/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when records are equally distributed among all classes, implying the least beneficial situation for classification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altLang="en-US" dirty="0">
                    <a:ea typeface="ＭＳ Ｐゴシック" panose="020B0600070205080204" pitchFamily="34" charset="-128"/>
                  </a:rPr>
                  <a:t>Minimum  of 0 when all records belong to one class, implying the most beneficial situation for classification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Gini index is used in decision tree algorithms such as CART, SLIQ, SPRINT</a:t>
                </a:r>
                <a:endParaRPr lang="en-US" sz="3200" dirty="0"/>
              </a:p>
              <a:p>
                <a:pPr lvl="1">
                  <a:lnSpc>
                    <a:spcPct val="90000"/>
                  </a:lnSpc>
                </a:pPr>
                <a:endParaRPr lang="en-US" altLang="en-US" dirty="0">
                  <a:ea typeface="ＭＳ Ｐゴシック" panose="020B0600070205080204" pitchFamily="34" charset="-128"/>
                </a:endParaRPr>
              </a:p>
              <a:p>
                <a:pPr lvl="1">
                  <a:lnSpc>
                    <a:spcPct val="90000"/>
                  </a:lnSpc>
                </a:pPr>
                <a:endParaRPr lang="en-US" altLang="en-US" baseline="-25000" dirty="0">
                  <a:ea typeface="ＭＳ Ｐゴシック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37890" name="Rectangle 3">
                <a:extLst>
                  <a:ext uri="{FF2B5EF4-FFF2-40B4-BE49-F238E27FC236}">
                    <a16:creationId xmlns:a16="http://schemas.microsoft.com/office/drawing/2014/main" id="{44324FD9-FE5C-4D4E-9B06-0494515F91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9" t="-21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B3DB75-DC55-416D-B0CC-C3A3313F8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913DB7-747C-453F-8F76-3BF1ADED8D1F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35ACB-8961-4AEB-A58A-D3F55B0D2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414AA-ABDE-48C8-80E4-CAE90C1C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C5890E-E3F5-402E-A1DF-E58C362003D1}" type="slidenum">
              <a:rPr lang="en-US"/>
              <a:pPr>
                <a:defRPr/>
              </a:pPr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9AE968-F0F1-4E71-B940-DEDB7EA4224E}"/>
                  </a:ext>
                </a:extLst>
              </p:cNvPr>
              <p:cNvSpPr txBox="1"/>
              <p:nvPr/>
            </p:nvSpPr>
            <p:spPr>
              <a:xfrm>
                <a:off x="3733800" y="2133601"/>
                <a:ext cx="3214406" cy="8649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𝐼𝑛𝑑𝑒𝑥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=1 − 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9AE968-F0F1-4E71-B940-DEDB7EA42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2133601"/>
                <a:ext cx="3214406" cy="8649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381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32EE6C3-F4BB-404F-918C-4CDE6DA7B8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Measure of Impurity: GINI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79BD5C74-8908-461F-95ED-FE7B284D97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Gini Index for a given node t :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800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br>
              <a:rPr lang="en-US" altLang="en-US" dirty="0">
                <a:ea typeface="ＭＳ Ｐゴシック" panose="020B0600070205080204" pitchFamily="34" charset="-128"/>
              </a:rPr>
            </a:br>
            <a:endParaRPr lang="en-US" altLang="en-US" sz="800" dirty="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For 2-class problem (p, 1 – p):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sz="1600" dirty="0">
                <a:ea typeface="ＭＳ Ｐゴシック" panose="020B0600070205080204" pitchFamily="34" charset="-128"/>
              </a:rPr>
              <a:t>GINI = 1 – p</a:t>
            </a:r>
            <a:r>
              <a:rPr lang="en-US" altLang="en-US" sz="1600" baseline="30000" dirty="0">
                <a:ea typeface="ＭＳ Ｐゴシック" panose="020B0600070205080204" pitchFamily="34" charset="-128"/>
              </a:rPr>
              <a:t>2</a:t>
            </a:r>
            <a:r>
              <a:rPr lang="en-US" altLang="en-US" sz="1600" dirty="0">
                <a:ea typeface="ＭＳ Ｐゴシック" panose="020B0600070205080204" pitchFamily="34" charset="-128"/>
              </a:rPr>
              <a:t> – (1 – p)</a:t>
            </a:r>
            <a:r>
              <a:rPr lang="en-US" altLang="en-US" sz="1600" baseline="30000" dirty="0">
                <a:ea typeface="ＭＳ Ｐゴシック" panose="020B0600070205080204" pitchFamily="34" charset="-128"/>
              </a:rPr>
              <a:t>2</a:t>
            </a:r>
            <a:r>
              <a:rPr lang="en-US" altLang="en-US" sz="1600" dirty="0">
                <a:ea typeface="ＭＳ Ｐゴシック" panose="020B0600070205080204" pitchFamily="34" charset="-128"/>
              </a:rPr>
              <a:t> = 2p (1-p)</a:t>
            </a:r>
            <a:endParaRPr lang="en-US" altLang="en-US" sz="1800" baseline="30000" dirty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D3EDE1-1A11-4217-9072-722C008D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643EE7-0541-4F48-83E9-3719E9A753BD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391D5-8CCD-4B7B-AEAD-4F7B958B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73ABD-BE94-453C-B227-9AEBB566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62B9CE-DD13-4C04-8E3A-BE1A957B656B}" type="slidenum">
              <a:rPr lang="en-US"/>
              <a:pPr>
                <a:defRPr/>
              </a:pPr>
              <a:t>30</a:t>
            </a:fld>
            <a:endParaRPr lang="en-US"/>
          </a:p>
        </p:txBody>
      </p:sp>
      <p:graphicFrame>
        <p:nvGraphicFramePr>
          <p:cNvPr id="38916" name="Object 1">
            <a:extLst>
              <a:ext uri="{FF2B5EF4-FFF2-40B4-BE49-F238E27FC236}">
                <a16:creationId xmlns:a16="http://schemas.microsoft.com/office/drawing/2014/main" id="{EE315B9B-4DE7-458B-9F56-648AB06C9C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284220" imgH="1970532" progId="Word.Document.8">
                  <p:embed/>
                </p:oleObj>
              </mc:Choice>
              <mc:Fallback>
                <p:oleObj name="Document" r:id="rId2" imgW="3284220" imgH="1970532" progId="Word.Document.8">
                  <p:embed/>
                  <p:pic>
                    <p:nvPicPr>
                      <p:cNvPr id="38916" name="Object 1">
                        <a:extLst>
                          <a:ext uri="{FF2B5EF4-FFF2-40B4-BE49-F238E27FC236}">
                            <a16:creationId xmlns:a16="http://schemas.microsoft.com/office/drawing/2014/main" id="{EE315B9B-4DE7-458B-9F56-648AB06C9C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2">
            <a:extLst>
              <a:ext uri="{FF2B5EF4-FFF2-40B4-BE49-F238E27FC236}">
                <a16:creationId xmlns:a16="http://schemas.microsoft.com/office/drawing/2014/main" id="{6E71460F-3960-42A3-BB53-55C550E0A0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84220" imgH="1970532" progId="Word.Document.8">
                  <p:embed/>
                </p:oleObj>
              </mc:Choice>
              <mc:Fallback>
                <p:oleObj name="Document" r:id="rId4" imgW="3284220" imgH="1970532" progId="Word.Document.8">
                  <p:embed/>
                  <p:pic>
                    <p:nvPicPr>
                      <p:cNvPr id="38917" name="Object 2">
                        <a:extLst>
                          <a:ext uri="{FF2B5EF4-FFF2-40B4-BE49-F238E27FC236}">
                            <a16:creationId xmlns:a16="http://schemas.microsoft.com/office/drawing/2014/main" id="{6E71460F-3960-42A3-BB53-55C550E0A0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3">
            <a:extLst>
              <a:ext uri="{FF2B5EF4-FFF2-40B4-BE49-F238E27FC236}">
                <a16:creationId xmlns:a16="http://schemas.microsoft.com/office/drawing/2014/main" id="{8A4756EA-4B03-42EA-9913-FAA930BC19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284220" imgH="1970532" progId="Word.Document.8">
                  <p:embed/>
                </p:oleObj>
              </mc:Choice>
              <mc:Fallback>
                <p:oleObj name="Document" r:id="rId6" imgW="3284220" imgH="1970532" progId="Word.Document.8">
                  <p:embed/>
                  <p:pic>
                    <p:nvPicPr>
                      <p:cNvPr id="38918" name="Object 3">
                        <a:extLst>
                          <a:ext uri="{FF2B5EF4-FFF2-40B4-BE49-F238E27FC236}">
                            <a16:creationId xmlns:a16="http://schemas.microsoft.com/office/drawing/2014/main" id="{8A4756EA-4B03-42EA-9913-FAA930BC19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4">
            <a:extLst>
              <a:ext uri="{FF2B5EF4-FFF2-40B4-BE49-F238E27FC236}">
                <a16:creationId xmlns:a16="http://schemas.microsoft.com/office/drawing/2014/main" id="{EC5A82F4-0C14-4A30-80CD-8B7C42019D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3284220" imgH="1970532" progId="Word.Document.8">
                  <p:embed/>
                </p:oleObj>
              </mc:Choice>
              <mc:Fallback>
                <p:oleObj name="Document" r:id="rId8" imgW="3284220" imgH="1970532" progId="Word.Document.8">
                  <p:embed/>
                  <p:pic>
                    <p:nvPicPr>
                      <p:cNvPr id="38919" name="Object 4">
                        <a:extLst>
                          <a:ext uri="{FF2B5EF4-FFF2-40B4-BE49-F238E27FC236}">
                            <a16:creationId xmlns:a16="http://schemas.microsoft.com/office/drawing/2014/main" id="{EC5A82F4-0C14-4A30-80CD-8B7C42019D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AF1F6F-5C58-4E6E-9969-C42AC982F3DF}"/>
                  </a:ext>
                </a:extLst>
              </p:cNvPr>
              <p:cNvSpPr txBox="1"/>
              <p:nvPr/>
            </p:nvSpPr>
            <p:spPr>
              <a:xfrm>
                <a:off x="3500761" y="2328054"/>
                <a:ext cx="3214406" cy="8649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𝐼𝑛𝑑𝑒𝑥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=1 − 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AF1F6F-5C58-4E6E-9969-C42AC982F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0761" y="2328054"/>
                <a:ext cx="3214406" cy="86491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75915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0797F97-8737-4196-8F78-DDED39E930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Computing Gini Index of a Single Node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C9E4E7-BC89-4A57-B641-77BA45BDA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DEC5CF-C063-47B5-8BD9-822A60FEF745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F61E7E-E2B4-4C81-BA18-B2751054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481D9-A3B4-4E13-857D-1D6CEFDEA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0C5DB0-FAEB-48A8-BECF-D2B899EB371D}" type="slidenum">
              <a:rPr lang="en-US"/>
              <a:pPr>
                <a:defRPr/>
              </a:pPr>
              <a:t>31</a:t>
            </a:fld>
            <a:endParaRPr lang="en-US"/>
          </a:p>
        </p:txBody>
      </p:sp>
      <p:graphicFrame>
        <p:nvGraphicFramePr>
          <p:cNvPr id="39938" name="Object 5">
            <a:extLst>
              <a:ext uri="{FF2B5EF4-FFF2-40B4-BE49-F238E27FC236}">
                <a16:creationId xmlns:a16="http://schemas.microsoft.com/office/drawing/2014/main" id="{E8200039-0ABF-4B57-A2ED-2890FA279D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2912478"/>
          <a:ext cx="2362200" cy="745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238500" imgH="1357884" progId="Word.Document.8">
                  <p:embed/>
                </p:oleObj>
              </mc:Choice>
              <mc:Fallback>
                <p:oleObj name="Document" r:id="rId2" imgW="3238500" imgH="1357884" progId="Word.Document.8">
                  <p:embed/>
                  <p:pic>
                    <p:nvPicPr>
                      <p:cNvPr id="39938" name="Object 5">
                        <a:extLst>
                          <a:ext uri="{FF2B5EF4-FFF2-40B4-BE49-F238E27FC236}">
                            <a16:creationId xmlns:a16="http://schemas.microsoft.com/office/drawing/2014/main" id="{E8200039-0ABF-4B57-A2ED-2890FA279D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912478"/>
                        <a:ext cx="2362200" cy="745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6">
            <a:extLst>
              <a:ext uri="{FF2B5EF4-FFF2-40B4-BE49-F238E27FC236}">
                <a16:creationId xmlns:a16="http://schemas.microsoft.com/office/drawing/2014/main" id="{7120A4C6-279B-4344-8651-6564737351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5373429"/>
          <a:ext cx="2286000" cy="746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38500" imgH="1382268" progId="Word.Document.8">
                  <p:embed/>
                </p:oleObj>
              </mc:Choice>
              <mc:Fallback>
                <p:oleObj name="Document" r:id="rId4" imgW="3238500" imgH="1382268" progId="Word.Document.8">
                  <p:embed/>
                  <p:pic>
                    <p:nvPicPr>
                      <p:cNvPr id="39939" name="Object 6">
                        <a:extLst>
                          <a:ext uri="{FF2B5EF4-FFF2-40B4-BE49-F238E27FC236}">
                            <a16:creationId xmlns:a16="http://schemas.microsoft.com/office/drawing/2014/main" id="{7120A4C6-279B-4344-8651-6564737351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373429"/>
                        <a:ext cx="2286000" cy="746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8">
            <a:extLst>
              <a:ext uri="{FF2B5EF4-FFF2-40B4-BE49-F238E27FC236}">
                <a16:creationId xmlns:a16="http://schemas.microsoft.com/office/drawing/2014/main" id="{204A3D49-4270-4D62-ABAA-F91EA1DF73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4231874"/>
          <a:ext cx="2286000" cy="721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238500" imgH="1357884" progId="Word.Document.8">
                  <p:embed/>
                </p:oleObj>
              </mc:Choice>
              <mc:Fallback>
                <p:oleObj name="Document" r:id="rId6" imgW="3238500" imgH="1357884" progId="Word.Document.8">
                  <p:embed/>
                  <p:pic>
                    <p:nvPicPr>
                      <p:cNvPr id="39940" name="Object 8">
                        <a:extLst>
                          <a:ext uri="{FF2B5EF4-FFF2-40B4-BE49-F238E27FC236}">
                            <a16:creationId xmlns:a16="http://schemas.microsoft.com/office/drawing/2014/main" id="{204A3D49-4270-4D62-ABAA-F91EA1DF73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231874"/>
                        <a:ext cx="2286000" cy="721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10">
            <a:extLst>
              <a:ext uri="{FF2B5EF4-FFF2-40B4-BE49-F238E27FC236}">
                <a16:creationId xmlns:a16="http://schemas.microsoft.com/office/drawing/2014/main" id="{5132657C-D92C-4BC0-AC0F-43D3EC302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803526"/>
            <a:ext cx="5181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P(C1) = 0/6 = 0     P(C2) = 6/6 = 1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Gini = 1 – P(C1)</a:t>
            </a:r>
            <a:r>
              <a:rPr lang="en-US" altLang="en-US" sz="2000" baseline="30000" dirty="0"/>
              <a:t>2 </a:t>
            </a:r>
            <a:r>
              <a:rPr lang="en-US" altLang="en-US" sz="2000" dirty="0"/>
              <a:t>– P(C2)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 = 1 – 0 – 1 = 0 </a:t>
            </a:r>
          </a:p>
        </p:txBody>
      </p:sp>
      <p:sp>
        <p:nvSpPr>
          <p:cNvPr id="39943" name="Text Box 12">
            <a:extLst>
              <a:ext uri="{FF2B5EF4-FFF2-40B4-BE49-F238E27FC236}">
                <a16:creationId xmlns:a16="http://schemas.microsoft.com/office/drawing/2014/main" id="{6B83C9A4-725F-4709-A681-1DA1F3E29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175126"/>
            <a:ext cx="5181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P(C1) = 1/6          P(C2) = 5/6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Gini = 1 – (1/6)</a:t>
            </a:r>
            <a:r>
              <a:rPr lang="en-US" altLang="en-US" sz="2000" baseline="30000" dirty="0"/>
              <a:t>2 </a:t>
            </a:r>
            <a:r>
              <a:rPr lang="en-US" altLang="en-US" sz="2000" dirty="0"/>
              <a:t>– (5/6)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 = 0.278</a:t>
            </a:r>
          </a:p>
        </p:txBody>
      </p:sp>
      <p:sp>
        <p:nvSpPr>
          <p:cNvPr id="39944" name="Text Box 13">
            <a:extLst>
              <a:ext uri="{FF2B5EF4-FFF2-40B4-BE49-F238E27FC236}">
                <a16:creationId xmlns:a16="http://schemas.microsoft.com/office/drawing/2014/main" id="{273B77E6-5A4D-4498-BE2E-6EF07BE4F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241926"/>
            <a:ext cx="5181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P(C1) = 2/6          P(C2) = 4/6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Gini = 1 – (2/6)</a:t>
            </a:r>
            <a:r>
              <a:rPr lang="en-US" altLang="en-US" sz="2000" baseline="30000" dirty="0"/>
              <a:t>2 </a:t>
            </a:r>
            <a:r>
              <a:rPr lang="en-US" altLang="en-US" sz="2000" dirty="0"/>
              <a:t>– (4/6)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 = 0.444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8B679A-E8F1-40EB-8D90-5FB6D8C61362}"/>
                  </a:ext>
                </a:extLst>
              </p:cNvPr>
              <p:cNvSpPr txBox="1"/>
              <p:nvPr/>
            </p:nvSpPr>
            <p:spPr>
              <a:xfrm>
                <a:off x="3962400" y="1726994"/>
                <a:ext cx="3214406" cy="8649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𝐼𝑛𝑑𝑒𝑥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=1 − 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8B679A-E8F1-40EB-8D90-5FB6D8C61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1726994"/>
                <a:ext cx="3214406" cy="8649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5559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457AF5C-DE8A-4ACD-9EF6-A7E0705374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Computing Gini Index for a Collection of Nodes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Rectangle 3">
                <a:extLst>
                  <a:ext uri="{FF2B5EF4-FFF2-40B4-BE49-F238E27FC236}">
                    <a16:creationId xmlns:a16="http://schemas.microsoft.com/office/drawing/2014/main" id="{C78661B2-1DB2-4F6B-9671-6CDF09AC08C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Monotype Sorts" charset="0"/>
                  <a:buChar char="l"/>
                  <a:defRPr/>
                </a:pPr>
                <a:r>
                  <a:rPr lang="en-US" sz="2400" dirty="0"/>
                  <a:t>When a node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is split into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partitions (children)</a:t>
                </a:r>
              </a:p>
              <a:p>
                <a:pPr marL="342900" indent="-342900">
                  <a:buFont typeface="Monotype Sorts" charset="0"/>
                  <a:buChar char="l"/>
                  <a:defRPr/>
                </a:pPr>
                <a:endParaRPr lang="en-US" sz="2400" dirty="0"/>
              </a:p>
              <a:p>
                <a:pPr marL="342900" indent="-342900">
                  <a:buNone/>
                  <a:defRPr/>
                </a:pPr>
                <a:r>
                  <a:rPr lang="en-US" sz="2400" dirty="0"/>
                  <a:t>	</a:t>
                </a:r>
              </a:p>
              <a:p>
                <a:pPr marL="342900" indent="-342900">
                  <a:buNone/>
                  <a:defRPr/>
                </a:pPr>
                <a:endParaRPr lang="en-US" sz="2400" dirty="0"/>
              </a:p>
              <a:p>
                <a:pPr marL="342900" indent="-342900">
                  <a:buNone/>
                  <a:defRPr/>
                </a:pPr>
                <a:r>
                  <a:rPr lang="en-US" sz="2400" dirty="0"/>
                  <a:t>	where,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= number of records at child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,</a:t>
                </a:r>
              </a:p>
              <a:p>
                <a:pPr marL="342900" indent="-342900">
                  <a:buNone/>
                  <a:defRPr/>
                </a:pPr>
                <a:r>
                  <a:rPr lang="en-US" sz="2400" dirty="0"/>
                  <a:t>    			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aseline="-25000" dirty="0"/>
                  <a:t> </a:t>
                </a:r>
                <a:r>
                  <a:rPr lang="en-US" sz="2400" dirty="0"/>
                  <a:t> = number of records at parent node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342900" indent="-342900">
                  <a:buNone/>
                  <a:defRPr/>
                </a:pPr>
                <a:endParaRPr lang="en-US" sz="2400" dirty="0"/>
              </a:p>
              <a:p>
                <a:pPr lvl="4">
                  <a:defRPr/>
                </a:pPr>
                <a:endParaRPr lang="en-US" dirty="0">
                  <a:latin typeface="Times New Roman" charset="0"/>
                </a:endParaRPr>
              </a:p>
            </p:txBody>
          </p:sp>
        </mc:Choice>
        <mc:Fallback xmlns="">
          <p:sp>
            <p:nvSpPr>
              <p:cNvPr id="34819" name="Rectangle 3">
                <a:extLst>
                  <a:ext uri="{FF2B5EF4-FFF2-40B4-BE49-F238E27FC236}">
                    <a16:creationId xmlns:a16="http://schemas.microsoft.com/office/drawing/2014/main" id="{C78661B2-1DB2-4F6B-9671-6CDF09AC0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81000" y="1143000"/>
                <a:ext cx="8382000" cy="5181600"/>
              </a:xfrm>
              <a:blipFill>
                <a:blip r:embed="rId2"/>
                <a:stretch>
                  <a:fillRect l="-509" t="-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EFCDD8-7579-4DB7-906F-22AD38AE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1D0653-2499-4C7B-9D8B-A02FEF796D6A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CC645-64C3-44BD-BEE7-C31BE4C6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1C942-24C4-4751-8197-C600A6C0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3FBC28-9F6C-4917-A5BA-4447E0D72FE2}" type="slidenum">
              <a:rPr lang="en-US"/>
              <a:pPr>
                <a:defRPr/>
              </a:pPr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A50692-1EC5-4230-8B8B-3D1EBF46DC67}"/>
                  </a:ext>
                </a:extLst>
              </p:cNvPr>
              <p:cNvSpPr txBox="1"/>
              <p:nvPr/>
            </p:nvSpPr>
            <p:spPr>
              <a:xfrm>
                <a:off x="3657601" y="2328054"/>
                <a:ext cx="2947089" cy="8717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𝐺𝐼𝑁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𝑠𝑝𝑙𝑖𝑡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𝐺𝐼𝑁𝐼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A50692-1EC5-4230-8B8B-3D1EBF46D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1" y="2328054"/>
                <a:ext cx="2947089" cy="8717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976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B66D3C3-3E0C-4238-B50B-BFD3F70A51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Binary Attributes: Computing GINI Index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AE527C-5809-4F45-B80F-980909BB8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3B6895-6375-4B5A-900C-2E254AFA2EF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DB410-0FF0-4006-B695-FDC7B1C8F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98847-69E2-4C63-8BD6-BC3078F9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A5E14C-141B-412E-97C6-45929F0772CF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849E6610-6D7D-4F29-8DC3-D61330AC9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2689" y="1767136"/>
            <a:ext cx="8178800" cy="142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dirty="0"/>
              <a:t>Splits into two partitions (child nodes)</a:t>
            </a:r>
          </a:p>
          <a:p>
            <a:r>
              <a:rPr lang="en-US" altLang="en-US" sz="2000" dirty="0"/>
              <a:t>Effect of Weighing partitions: </a:t>
            </a:r>
          </a:p>
          <a:p>
            <a:pPr lvl="1"/>
            <a:r>
              <a:rPr lang="en-US" altLang="en-US" sz="2000" dirty="0"/>
              <a:t>Larger and purer partitions are sought</a:t>
            </a:r>
          </a:p>
        </p:txBody>
      </p:sp>
      <p:sp>
        <p:nvSpPr>
          <p:cNvPr id="41987" name="Oval 4">
            <a:extLst>
              <a:ext uri="{FF2B5EF4-FFF2-40B4-BE49-F238E27FC236}">
                <a16:creationId xmlns:a16="http://schemas.microsoft.com/office/drawing/2014/main" id="{F51C8094-CB88-457C-A1ED-FF653053F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862264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B?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1988" name="Line 5">
            <a:extLst>
              <a:ext uri="{FF2B5EF4-FFF2-40B4-BE49-F238E27FC236}">
                <a16:creationId xmlns:a16="http://schemas.microsoft.com/office/drawing/2014/main" id="{C9DB7CD9-D3E9-4E38-915C-69A909A644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06926" y="3319464"/>
            <a:ext cx="1108075" cy="725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9" name="Line 6">
            <a:extLst>
              <a:ext uri="{FF2B5EF4-FFF2-40B4-BE49-F238E27FC236}">
                <a16:creationId xmlns:a16="http://schemas.microsoft.com/office/drawing/2014/main" id="{ABF76B16-1E42-4A1E-91C3-67871D6A52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1" y="3319464"/>
            <a:ext cx="1184275" cy="725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0" name="Text Box 7">
            <a:extLst>
              <a:ext uri="{FF2B5EF4-FFF2-40B4-BE49-F238E27FC236}">
                <a16:creationId xmlns:a16="http://schemas.microsoft.com/office/drawing/2014/main" id="{E0309594-EF85-4A43-92A2-8B28F47F7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75" y="3435351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41991" name="Text Box 8">
            <a:extLst>
              <a:ext uri="{FF2B5EF4-FFF2-40B4-BE49-F238E27FC236}">
                <a16:creationId xmlns:a16="http://schemas.microsoft.com/office/drawing/2014/main" id="{2241E175-F45E-4622-B15A-C4A13B1AB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3075" y="3435351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41992" name="Rectangle 9">
            <a:extLst>
              <a:ext uri="{FF2B5EF4-FFF2-40B4-BE49-F238E27FC236}">
                <a16:creationId xmlns:a16="http://schemas.microsoft.com/office/drawing/2014/main" id="{0E521C3C-2767-44A9-AC39-D4B2FF686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1" y="4044951"/>
            <a:ext cx="936625" cy="3413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Node N1</a:t>
            </a:r>
          </a:p>
        </p:txBody>
      </p:sp>
      <p:sp>
        <p:nvSpPr>
          <p:cNvPr id="41993" name="Rectangle 10">
            <a:extLst>
              <a:ext uri="{FF2B5EF4-FFF2-40B4-BE49-F238E27FC236}">
                <a16:creationId xmlns:a16="http://schemas.microsoft.com/office/drawing/2014/main" id="{3AC3220A-6957-4652-BEBE-EC133C184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576" y="4044951"/>
            <a:ext cx="936625" cy="3413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Node N2</a:t>
            </a:r>
          </a:p>
        </p:txBody>
      </p:sp>
      <p:graphicFrame>
        <p:nvGraphicFramePr>
          <p:cNvPr id="41994" name="Object 11">
            <a:extLst>
              <a:ext uri="{FF2B5EF4-FFF2-40B4-BE49-F238E27FC236}">
                <a16:creationId xmlns:a16="http://schemas.microsoft.com/office/drawing/2014/main" id="{1EB89425-ECB7-4EFB-8642-8035770B13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0" y="2590800"/>
          <a:ext cx="19812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187700" imgH="3048000" progId="Word.Document.8">
                  <p:embed/>
                </p:oleObj>
              </mc:Choice>
              <mc:Fallback>
                <p:oleObj name="Document" r:id="rId2" imgW="3187700" imgH="3048000" progId="Word.Document.8">
                  <p:embed/>
                  <p:pic>
                    <p:nvPicPr>
                      <p:cNvPr id="41994" name="Object 11">
                        <a:extLst>
                          <a:ext uri="{FF2B5EF4-FFF2-40B4-BE49-F238E27FC236}">
                            <a16:creationId xmlns:a16="http://schemas.microsoft.com/office/drawing/2014/main" id="{1EB89425-ECB7-4EFB-8642-8035770B13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2590800"/>
                        <a:ext cx="19812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5" name="Object 12">
            <a:extLst>
              <a:ext uri="{FF2B5EF4-FFF2-40B4-BE49-F238E27FC236}">
                <a16:creationId xmlns:a16="http://schemas.microsoft.com/office/drawing/2014/main" id="{9A97F3B4-C759-4C23-BFFA-C3387C40E6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4648201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65932" imgH="2548128" progId="Word.Document.8">
                  <p:embed/>
                </p:oleObj>
              </mc:Choice>
              <mc:Fallback>
                <p:oleObj name="Document" r:id="rId4" imgW="3265932" imgH="2548128" progId="Word.Document.8">
                  <p:embed/>
                  <p:pic>
                    <p:nvPicPr>
                      <p:cNvPr id="41995" name="Object 12">
                        <a:extLst>
                          <a:ext uri="{FF2B5EF4-FFF2-40B4-BE49-F238E27FC236}">
                            <a16:creationId xmlns:a16="http://schemas.microsoft.com/office/drawing/2014/main" id="{9A97F3B4-C759-4C23-BFFA-C3387C40E6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648201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6" name="Text Box 13">
            <a:extLst>
              <a:ext uri="{FF2B5EF4-FFF2-40B4-BE49-F238E27FC236}">
                <a16:creationId xmlns:a16="http://schemas.microsoft.com/office/drawing/2014/main" id="{4DEE211F-ECA4-4A85-80AF-C396CD4CA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191001"/>
            <a:ext cx="24384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Gini(N1) </a:t>
            </a:r>
            <a:br>
              <a:rPr lang="en-US" altLang="en-US" sz="2000"/>
            </a:br>
            <a:r>
              <a:rPr lang="en-US" altLang="en-US" sz="2000"/>
              <a:t>= 1 – (5/6)</a:t>
            </a:r>
            <a:r>
              <a:rPr lang="en-US" altLang="en-US" sz="2000" baseline="30000"/>
              <a:t>2 </a:t>
            </a:r>
            <a:r>
              <a:rPr lang="en-US" altLang="en-US" sz="2000"/>
              <a:t>– (1/6)</a:t>
            </a:r>
            <a:r>
              <a:rPr lang="en-US" altLang="en-US" sz="2000" baseline="30000"/>
              <a:t>2</a:t>
            </a:r>
            <a:r>
              <a:rPr lang="en-US" altLang="en-US" sz="2000"/>
              <a:t> </a:t>
            </a:r>
            <a:br>
              <a:rPr lang="en-US" altLang="en-US" sz="2000"/>
            </a:br>
            <a:r>
              <a:rPr lang="en-US" altLang="en-US" sz="2000"/>
              <a:t>= 0.278 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Gini(N2) </a:t>
            </a:r>
            <a:br>
              <a:rPr lang="en-US" altLang="en-US" sz="2000"/>
            </a:br>
            <a:r>
              <a:rPr lang="en-US" altLang="en-US" sz="2000"/>
              <a:t>= 1 – (2/6)</a:t>
            </a:r>
            <a:r>
              <a:rPr lang="en-US" altLang="en-US" sz="2000" baseline="30000"/>
              <a:t>2 </a:t>
            </a:r>
            <a:r>
              <a:rPr lang="en-US" altLang="en-US" sz="2000"/>
              <a:t>– (4/6)</a:t>
            </a:r>
            <a:r>
              <a:rPr lang="en-US" altLang="en-US" sz="2000" baseline="30000"/>
              <a:t>2</a:t>
            </a:r>
            <a:r>
              <a:rPr lang="en-US" altLang="en-US" sz="2000"/>
              <a:t> </a:t>
            </a:r>
            <a:br>
              <a:rPr lang="en-US" altLang="en-US" sz="2000"/>
            </a:br>
            <a:r>
              <a:rPr lang="en-US" altLang="en-US" sz="2000"/>
              <a:t>= 0.444</a:t>
            </a:r>
          </a:p>
        </p:txBody>
      </p:sp>
      <p:sp>
        <p:nvSpPr>
          <p:cNvPr id="41997" name="Text Box 14">
            <a:extLst>
              <a:ext uri="{FF2B5EF4-FFF2-40B4-BE49-F238E27FC236}">
                <a16:creationId xmlns:a16="http://schemas.microsoft.com/office/drawing/2014/main" id="{F04FB8AB-9129-477B-9FCE-90DA87982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695825"/>
            <a:ext cx="3352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Weighted Gini of N1 N2</a:t>
            </a:r>
            <a:br>
              <a:rPr lang="en-US" altLang="en-US" sz="2000"/>
            </a:br>
            <a:r>
              <a:rPr lang="en-US" altLang="en-US" sz="1800"/>
              <a:t>= 6/12 * 0.278 + </a:t>
            </a:r>
            <a:br>
              <a:rPr lang="en-US" altLang="en-US" sz="1800"/>
            </a:br>
            <a:r>
              <a:rPr lang="en-US" altLang="en-US" sz="1800"/>
              <a:t>   6/12 * 0.444</a:t>
            </a:r>
            <a:br>
              <a:rPr lang="en-US" altLang="en-US" sz="1800"/>
            </a:br>
            <a:r>
              <a:rPr lang="en-US" altLang="en-US" sz="1800"/>
              <a:t>= 0.361</a:t>
            </a:r>
          </a:p>
        </p:txBody>
      </p:sp>
      <p:sp>
        <p:nvSpPr>
          <p:cNvPr id="41998" name="TextBox 1">
            <a:extLst>
              <a:ext uri="{FF2B5EF4-FFF2-40B4-BE49-F238E27FC236}">
                <a16:creationId xmlns:a16="http://schemas.microsoft.com/office/drawing/2014/main" id="{1016E80E-2819-40DB-960D-12FE83981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5488" y="5867400"/>
            <a:ext cx="3211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Gain = 0.486 – 0.361 = 0.125</a:t>
            </a:r>
          </a:p>
        </p:txBody>
      </p:sp>
    </p:spTree>
    <p:extLst>
      <p:ext uri="{BB962C8B-B14F-4D97-AF65-F5344CB8AC3E}">
        <p14:creationId xmlns:p14="http://schemas.microsoft.com/office/powerpoint/2010/main" val="3297914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F7D86A48-57D6-4F27-90C2-CCAC90C22E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600" dirty="0"/>
              <a:t>Categorical Attributes: Computing Gini Index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25D8AA2-D44D-44D3-8B67-7BD44F713E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sz="2400"/>
              <a:t>For each distinct value, gather counts for each class in the dataset</a:t>
            </a:r>
          </a:p>
          <a:p>
            <a:pPr>
              <a:buFont typeface="Monotype Sorts" charset="0"/>
              <a:buChar char="l"/>
              <a:defRPr/>
            </a:pPr>
            <a:r>
              <a:rPr lang="en-US" sz="2400"/>
              <a:t>Use the count matrix to make decisions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EC730F-DEE4-4F3F-BE43-8CEB3E281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42B721-0863-424A-8995-91A20ADBCCCF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583A6-A1D0-493D-B903-52CBF1B6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55FBF-B186-492F-AE6D-4EB10F27B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0186DF-3DCE-4318-8030-356931D4FA47}" type="slidenum">
              <a:rPr lang="en-US"/>
              <a:pPr>
                <a:defRPr/>
              </a:pPr>
              <a:t>34</a:t>
            </a:fld>
            <a:endParaRPr lang="en-US"/>
          </a:p>
        </p:txBody>
      </p:sp>
      <p:graphicFrame>
        <p:nvGraphicFramePr>
          <p:cNvPr id="43011" name="Object 4">
            <a:extLst>
              <a:ext uri="{FF2B5EF4-FFF2-40B4-BE49-F238E27FC236}">
                <a16:creationId xmlns:a16="http://schemas.microsoft.com/office/drawing/2014/main" id="{B3D2D975-52F5-405B-BEA7-C3D4AC753F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4963" y="3810001"/>
          <a:ext cx="2570162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854700" imgH="4000500" progId="Word.Document.8">
                  <p:embed/>
                </p:oleObj>
              </mc:Choice>
              <mc:Fallback>
                <p:oleObj name="Document" r:id="rId2" imgW="5854700" imgH="4000500" progId="Word.Document.8">
                  <p:embed/>
                  <p:pic>
                    <p:nvPicPr>
                      <p:cNvPr id="43011" name="Object 4">
                        <a:extLst>
                          <a:ext uri="{FF2B5EF4-FFF2-40B4-BE49-F238E27FC236}">
                            <a16:creationId xmlns:a16="http://schemas.microsoft.com/office/drawing/2014/main" id="{B3D2D975-52F5-405B-BEA7-C3D4AC753F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4963" y="3810001"/>
                        <a:ext cx="2570162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5">
            <a:extLst>
              <a:ext uri="{FF2B5EF4-FFF2-40B4-BE49-F238E27FC236}">
                <a16:creationId xmlns:a16="http://schemas.microsoft.com/office/drawing/2014/main" id="{A1470F44-EAB7-460F-AE62-2D26108C26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45438" y="3805238"/>
          <a:ext cx="2570162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854700" imgH="4000500" progId="Word.Document.8">
                  <p:embed/>
                </p:oleObj>
              </mc:Choice>
              <mc:Fallback>
                <p:oleObj name="Document" r:id="rId4" imgW="5854700" imgH="4000500" progId="Word.Document.8">
                  <p:embed/>
                  <p:pic>
                    <p:nvPicPr>
                      <p:cNvPr id="43012" name="Object 5">
                        <a:extLst>
                          <a:ext uri="{FF2B5EF4-FFF2-40B4-BE49-F238E27FC236}">
                            <a16:creationId xmlns:a16="http://schemas.microsoft.com/office/drawing/2014/main" id="{A1470F44-EAB7-460F-AE62-2D26108C26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5438" y="3805238"/>
                        <a:ext cx="2570162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6">
            <a:extLst>
              <a:ext uri="{FF2B5EF4-FFF2-40B4-BE49-F238E27FC236}">
                <a16:creationId xmlns:a16="http://schemas.microsoft.com/office/drawing/2014/main" id="{3C433E6E-3953-4FFB-883E-09A65EB377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3810000"/>
          <a:ext cx="3048000" cy="157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6210300" imgH="3187700" progId="Word.Document.8">
                  <p:embed/>
                </p:oleObj>
              </mc:Choice>
              <mc:Fallback>
                <p:oleObj name="Document" r:id="rId6" imgW="6210300" imgH="3187700" progId="Word.Document.8">
                  <p:embed/>
                  <p:pic>
                    <p:nvPicPr>
                      <p:cNvPr id="43013" name="Object 6">
                        <a:extLst>
                          <a:ext uri="{FF2B5EF4-FFF2-40B4-BE49-F238E27FC236}">
                            <a16:creationId xmlns:a16="http://schemas.microsoft.com/office/drawing/2014/main" id="{3C433E6E-3953-4FFB-883E-09A65EB377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810000"/>
                        <a:ext cx="3048000" cy="157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4" name="Line 7">
            <a:extLst>
              <a:ext uri="{FF2B5EF4-FFF2-40B4-BE49-F238E27FC236}">
                <a16:creationId xmlns:a16="http://schemas.microsoft.com/office/drawing/2014/main" id="{DCD89216-A35E-4F56-99F3-FB714165BC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971800"/>
            <a:ext cx="1588" cy="2438400"/>
          </a:xfrm>
          <a:prstGeom prst="line">
            <a:avLst/>
          </a:prstGeom>
          <a:noFill/>
          <a:ln w="381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5" name="Text Box 8">
            <a:extLst>
              <a:ext uri="{FF2B5EF4-FFF2-40B4-BE49-F238E27FC236}">
                <a16:creationId xmlns:a16="http://schemas.microsoft.com/office/drawing/2014/main" id="{9059DB24-F64E-4FB6-9B9A-C267673A2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9988" y="2868614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Multi-way split</a:t>
            </a:r>
          </a:p>
        </p:txBody>
      </p:sp>
      <p:sp>
        <p:nvSpPr>
          <p:cNvPr id="43016" name="Text Box 9">
            <a:extLst>
              <a:ext uri="{FF2B5EF4-FFF2-40B4-BE49-F238E27FC236}">
                <a16:creationId xmlns:a16="http://schemas.microsoft.com/office/drawing/2014/main" id="{E5591F98-CEC8-49E7-8F52-1692A2633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3639" y="2868614"/>
            <a:ext cx="31384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Two-way split </a:t>
            </a: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(find best partition of values)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E4AC35-59B7-439C-8140-8D47A6D29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1" y="5726113"/>
            <a:ext cx="29546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B050"/>
                </a:solidFill>
              </a:rPr>
              <a:t>Which of these is the best?</a:t>
            </a:r>
          </a:p>
        </p:txBody>
      </p:sp>
    </p:spTree>
    <p:extLst>
      <p:ext uri="{BB962C8B-B14F-4D97-AF65-F5344CB8AC3E}">
        <p14:creationId xmlns:p14="http://schemas.microsoft.com/office/powerpoint/2010/main" val="170198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>
            <a:extLst>
              <a:ext uri="{FF2B5EF4-FFF2-40B4-BE49-F238E27FC236}">
                <a16:creationId xmlns:a16="http://schemas.microsoft.com/office/drawing/2014/main" id="{1BE7B1A8-A0E2-402C-A351-625C1ED624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1467" y="1087453"/>
            <a:ext cx="11040533" cy="5334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4000" dirty="0"/>
              <a:t>Continuous Attributes: Computing Gini Index</a:t>
            </a:r>
          </a:p>
        </p:txBody>
      </p:sp>
      <p:sp>
        <p:nvSpPr>
          <p:cNvPr id="37891" name="Rectangle 5">
            <a:extLst>
              <a:ext uri="{FF2B5EF4-FFF2-40B4-BE49-F238E27FC236}">
                <a16:creationId xmlns:a16="http://schemas.microsoft.com/office/drawing/2014/main" id="{21FB1561-9BA1-4015-A1DF-73E892C3E1A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86666" y="1823259"/>
            <a:ext cx="4999037" cy="4512578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000" dirty="0"/>
              <a:t>Use Binary Decisions based on one value</a:t>
            </a: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000" dirty="0"/>
              <a:t>Several Choices for the splitting value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000" dirty="0"/>
              <a:t>Number of possible splitting values </a:t>
            </a:r>
            <a:br>
              <a:rPr lang="en-US" sz="2000" dirty="0"/>
            </a:br>
            <a:r>
              <a:rPr lang="en-US" sz="2000" dirty="0"/>
              <a:t>= Number of distinct values</a:t>
            </a: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000" dirty="0"/>
              <a:t>Each splitting value has a count matrix associated with it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000" dirty="0"/>
              <a:t>Class counts in each of the partitions, A ≤ v and A </a:t>
            </a:r>
            <a:r>
              <a:rPr lang="en-US" sz="2000" dirty="0">
                <a:sym typeface="Symbol" charset="0"/>
              </a:rPr>
              <a:t>&gt;</a:t>
            </a:r>
            <a:r>
              <a:rPr lang="en-US" sz="2000" dirty="0"/>
              <a:t> v</a:t>
            </a: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000" dirty="0"/>
              <a:t>Simple method to choose best v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000" dirty="0"/>
              <a:t>For each v, scan the database to gather count matrix and compute its Gini index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000" dirty="0"/>
              <a:t>Computationally Inefficient! Repetition of work.</a:t>
            </a:r>
          </a:p>
        </p:txBody>
      </p:sp>
      <p:graphicFrame>
        <p:nvGraphicFramePr>
          <p:cNvPr id="44035" name="Object 6">
            <a:extLst>
              <a:ext uri="{FF2B5EF4-FFF2-40B4-BE49-F238E27FC236}">
                <a16:creationId xmlns:a16="http://schemas.microsoft.com/office/drawing/2014/main" id="{93F0BCF7-30AD-4DA1-B400-93EB09653113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842125" y="1973263"/>
          <a:ext cx="247015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676900" imgH="5778500" progId="Word.Document.8">
                  <p:embed/>
                </p:oleObj>
              </mc:Choice>
              <mc:Fallback>
                <p:oleObj name="Document" r:id="rId3" imgW="5676900" imgH="5778500" progId="Word.Document.8">
                  <p:embed/>
                  <p:pic>
                    <p:nvPicPr>
                      <p:cNvPr id="44035" name="Object 6">
                        <a:extLst>
                          <a:ext uri="{FF2B5EF4-FFF2-40B4-BE49-F238E27FC236}">
                            <a16:creationId xmlns:a16="http://schemas.microsoft.com/office/drawing/2014/main" id="{93F0BCF7-30AD-4DA1-B400-93EB096531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274"/>
                      <a:stretch>
                        <a:fillRect/>
                      </a:stretch>
                    </p:blipFill>
                    <p:spPr bwMode="auto">
                      <a:xfrm>
                        <a:off x="6842125" y="1973263"/>
                        <a:ext cx="247015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03FE7-3FDE-4E79-A43F-D262DD59F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8F82D2-0EFF-4D11-B1CA-2014BF636F86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5D970-98A1-46BD-B515-7DC31392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FAB02-8844-46A3-9E96-2524A4602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5550F7-DE17-4B9E-B3E5-C1A623AA0BCE}" type="slidenum">
              <a:rPr lang="en-US"/>
              <a:pPr>
                <a:defRPr/>
              </a:pPr>
              <a:t>35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DD9AB6-0A13-4417-AD27-18B84A842D2B}"/>
              </a:ext>
            </a:extLst>
          </p:cNvPr>
          <p:cNvGraphicFramePr>
            <a:graphicFrameLocks noGrp="1"/>
          </p:cNvGraphicFramePr>
          <p:nvPr/>
        </p:nvGraphicFramePr>
        <p:xfrm>
          <a:off x="6705600" y="5097464"/>
          <a:ext cx="2743200" cy="1114425"/>
        </p:xfrm>
        <a:graphic>
          <a:graphicData uri="http://schemas.openxmlformats.org/drawingml/2006/table">
            <a:tbl>
              <a:tblPr/>
              <a:tblGrid>
                <a:gridCol w="1538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≤ 80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&gt; 80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Defaulted Yes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Defaulted No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B3733C11-39D7-4387-8275-416A36B10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868988"/>
            <a:ext cx="762000" cy="303212"/>
          </a:xfrm>
          <a:prstGeom prst="ellipse">
            <a:avLst/>
          </a:prstGeom>
          <a:solidFill>
            <a:srgbClr val="FFFF00">
              <a:alpha val="4117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2679E9-4903-40EE-90EF-32767CAFA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495801"/>
            <a:ext cx="1752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Annual Income 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41A5C6-3D0E-4864-93BD-9CA07EA0D6F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610600" y="4800601"/>
            <a:ext cx="304800" cy="3016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E16756A-0D76-4FC5-B51A-8DA9C9178A9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915400" y="4800601"/>
            <a:ext cx="304800" cy="3016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D656BB94-9942-4E31-8473-7B74476D9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4550" y="2706224"/>
            <a:ext cx="1104900" cy="203200"/>
          </a:xfrm>
          <a:prstGeom prst="rect">
            <a:avLst/>
          </a:prstGeom>
          <a:solidFill>
            <a:srgbClr val="FFFF00">
              <a:alpha val="4588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8702BF-672D-420E-8D70-DA1363C6C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4550" y="3341572"/>
            <a:ext cx="1104900" cy="203200"/>
          </a:xfrm>
          <a:prstGeom prst="rect">
            <a:avLst/>
          </a:prstGeom>
          <a:solidFill>
            <a:srgbClr val="FFFF00">
              <a:alpha val="4588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A8674D-B0EE-4C65-972E-27C244A0F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3047" y="3971888"/>
            <a:ext cx="1104900" cy="203200"/>
          </a:xfrm>
          <a:prstGeom prst="rect">
            <a:avLst/>
          </a:prstGeom>
          <a:solidFill>
            <a:srgbClr val="FFFF00">
              <a:alpha val="45882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3FAD8C-F2E9-4362-972F-02100278F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5502276"/>
            <a:ext cx="762000" cy="303213"/>
          </a:xfrm>
          <a:prstGeom prst="ellipse">
            <a:avLst/>
          </a:prstGeom>
          <a:solidFill>
            <a:schemeClr val="accent2">
              <a:lumMod val="60000"/>
              <a:lumOff val="40000"/>
              <a:alpha val="41000"/>
            </a:scheme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8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AFA0B5-9BC6-4D42-A159-BD30C4559CC4}"/>
              </a:ext>
            </a:extLst>
          </p:cNvPr>
          <p:cNvSpPr/>
          <p:nvPr/>
        </p:nvSpPr>
        <p:spPr bwMode="auto">
          <a:xfrm>
            <a:off x="8743047" y="4187032"/>
            <a:ext cx="1104900" cy="203200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DC9519-11BC-40ED-B7BB-AB3C860B090D}"/>
              </a:ext>
            </a:extLst>
          </p:cNvPr>
          <p:cNvSpPr/>
          <p:nvPr/>
        </p:nvSpPr>
        <p:spPr bwMode="auto">
          <a:xfrm>
            <a:off x="8724550" y="3746384"/>
            <a:ext cx="1104900" cy="203200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F14836-9F83-4052-9C61-5777DF3C9FF1}"/>
              </a:ext>
            </a:extLst>
          </p:cNvPr>
          <p:cNvSpPr/>
          <p:nvPr/>
        </p:nvSpPr>
        <p:spPr bwMode="auto">
          <a:xfrm>
            <a:off x="8724550" y="3144838"/>
            <a:ext cx="1104900" cy="203200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624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/>
      <p:bldP spid="13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1" name="Object 4">
            <a:extLst>
              <a:ext uri="{FF2B5EF4-FFF2-40B4-BE49-F238E27FC236}">
                <a16:creationId xmlns:a16="http://schemas.microsoft.com/office/drawing/2014/main" id="{69C639D9-0297-4872-849D-4C6DE43D8A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604500" imgH="3556000" progId="Word.Document.8">
                  <p:embed/>
                </p:oleObj>
              </mc:Choice>
              <mc:Fallback>
                <p:oleObj name="Document" r:id="rId2" imgW="10604500" imgH="3556000" progId="Word.Document.8">
                  <p:embed/>
                  <p:pic>
                    <p:nvPicPr>
                      <p:cNvPr id="46081" name="Object 4">
                        <a:extLst>
                          <a:ext uri="{FF2B5EF4-FFF2-40B4-BE49-F238E27FC236}">
                            <a16:creationId xmlns:a16="http://schemas.microsoft.com/office/drawing/2014/main" id="{69C639D9-0297-4872-849D-4C6DE43D8A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>
            <a:extLst>
              <a:ext uri="{FF2B5EF4-FFF2-40B4-BE49-F238E27FC236}">
                <a16:creationId xmlns:a16="http://schemas.microsoft.com/office/drawing/2014/main" id="{D026142B-1A58-4FF5-8012-D920DF8B02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Continuous Attributes: Computing Gini Index...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908C4C39-763A-4AFC-AF13-8B31CFA31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Monotype Sorts" charset="0"/>
              <a:buChar char="l"/>
              <a:defRPr/>
            </a:pPr>
            <a:r>
              <a:rPr lang="en-US" sz="1800" dirty="0"/>
              <a:t>For efficient computation: for each attribute,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Sort the attribute on values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Linearly scan these values, each time updating the count matrix and computing </a:t>
            </a:r>
            <a:r>
              <a:rPr lang="en-US" dirty="0" err="1"/>
              <a:t>gini</a:t>
            </a:r>
            <a:r>
              <a:rPr lang="en-US" dirty="0"/>
              <a:t> index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Choose the split position that has the least </a:t>
            </a:r>
            <a:r>
              <a:rPr lang="en-US" dirty="0" err="1"/>
              <a:t>gini</a:t>
            </a:r>
            <a:r>
              <a:rPr lang="en-US" dirty="0"/>
              <a:t> index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D38612-2564-4265-AE71-6CB3C8E96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FD287F-0025-4063-BDCF-C2899A807C03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5660F-7400-45CC-BCA8-7CE4B9BF3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75FB0-B6B6-431D-8BB6-A69923431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E75C25-30F7-4D83-8216-643D1301EECA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46084" name="Line 5">
            <a:extLst>
              <a:ext uri="{FF2B5EF4-FFF2-40B4-BE49-F238E27FC236}">
                <a16:creationId xmlns:a16="http://schemas.microsoft.com/office/drawing/2014/main" id="{74F0F7A6-CA20-46E4-9FA3-9C90734692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93" name="Line 8">
            <a:extLst>
              <a:ext uri="{FF2B5EF4-FFF2-40B4-BE49-F238E27FC236}">
                <a16:creationId xmlns:a16="http://schemas.microsoft.com/office/drawing/2014/main" id="{31DCD320-99B3-459A-8773-3169ADB2E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-270074"/>
            <a:ext cx="3048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6" name="Text Box 9">
            <a:extLst>
              <a:ext uri="{FF2B5EF4-FFF2-40B4-BE49-F238E27FC236}">
                <a16:creationId xmlns:a16="http://schemas.microsoft.com/office/drawing/2014/main" id="{1C645363-47E7-42B9-AB7F-8A1C01FAB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Sorted Values</a:t>
            </a:r>
          </a:p>
        </p:txBody>
      </p:sp>
      <p:sp>
        <p:nvSpPr>
          <p:cNvPr id="46087" name="Rectangle 1">
            <a:extLst>
              <a:ext uri="{FF2B5EF4-FFF2-40B4-BE49-F238E27FC236}">
                <a16:creationId xmlns:a16="http://schemas.microsoft.com/office/drawing/2014/main" id="{FBF88ACA-0443-4746-B3A2-42F4D15D3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800600"/>
            <a:ext cx="609600" cy="838200"/>
          </a:xfrm>
          <a:prstGeom prst="rect">
            <a:avLst/>
          </a:prstGeom>
          <a:solidFill>
            <a:srgbClr val="FFFF00">
              <a:alpha val="5215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2C68EE-4BA6-4F83-8A3F-BAC6B4FC7E57}"/>
              </a:ext>
            </a:extLst>
          </p:cNvPr>
          <p:cNvSpPr/>
          <p:nvPr/>
        </p:nvSpPr>
        <p:spPr bwMode="auto">
          <a:xfrm>
            <a:off x="1600200" y="4330700"/>
            <a:ext cx="8763000" cy="18415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47497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5" name="Object 4">
            <a:extLst>
              <a:ext uri="{FF2B5EF4-FFF2-40B4-BE49-F238E27FC236}">
                <a16:creationId xmlns:a16="http://schemas.microsoft.com/office/drawing/2014/main" id="{BA17193C-0E97-491B-BB5B-F87ABC2E92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604500" imgH="3556000" progId="Word.Document.8">
                  <p:embed/>
                </p:oleObj>
              </mc:Choice>
              <mc:Fallback>
                <p:oleObj name="Document" r:id="rId2" imgW="10604500" imgH="3556000" progId="Word.Document.8">
                  <p:embed/>
                  <p:pic>
                    <p:nvPicPr>
                      <p:cNvPr id="47105" name="Object 4">
                        <a:extLst>
                          <a:ext uri="{FF2B5EF4-FFF2-40B4-BE49-F238E27FC236}">
                            <a16:creationId xmlns:a16="http://schemas.microsoft.com/office/drawing/2014/main" id="{BA17193C-0E97-491B-BB5B-F87ABC2E92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>
            <a:extLst>
              <a:ext uri="{FF2B5EF4-FFF2-40B4-BE49-F238E27FC236}">
                <a16:creationId xmlns:a16="http://schemas.microsoft.com/office/drawing/2014/main" id="{ED9188B9-FB8D-4507-B08F-A835779E3B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Continuous Attributes: Computing Gini Index...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37C5DB5B-E6AB-4EDB-B4FE-3B565FFCA0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Monotype Sorts" charset="0"/>
              <a:buChar char="l"/>
              <a:defRPr/>
            </a:pPr>
            <a:r>
              <a:rPr lang="en-US" sz="1800" dirty="0"/>
              <a:t>For efficient computation: for each attribute,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Sort the attribute on values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Linearly scan these values, each time updating the count matrix and computing </a:t>
            </a:r>
            <a:r>
              <a:rPr lang="en-US" dirty="0" err="1"/>
              <a:t>gini</a:t>
            </a:r>
            <a:r>
              <a:rPr lang="en-US" dirty="0"/>
              <a:t> index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Choose the split position that has the least </a:t>
            </a:r>
            <a:r>
              <a:rPr lang="en-US" dirty="0" err="1"/>
              <a:t>gini</a:t>
            </a:r>
            <a:r>
              <a:rPr lang="en-US" dirty="0"/>
              <a:t> index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024CD-78BD-4597-AA93-14F782BAF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DEF61D-31FF-4DF8-8452-EBE6F239CEB3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050E8-BA7F-4007-91D6-6E05EBEB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3FC50-7C46-47F2-A91E-E4B88166E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31389A-83FD-46DA-A36A-55DF4198D2A2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47108" name="Line 5">
            <a:extLst>
              <a:ext uri="{FF2B5EF4-FFF2-40B4-BE49-F238E27FC236}">
                <a16:creationId xmlns:a16="http://schemas.microsoft.com/office/drawing/2014/main" id="{757F8EED-B4C1-452F-9DCC-568CD92557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7109" name="Group 6">
            <a:extLst>
              <a:ext uri="{FF2B5EF4-FFF2-40B4-BE49-F238E27FC236}">
                <a16:creationId xmlns:a16="http://schemas.microsoft.com/office/drawing/2014/main" id="{133FA305-5C0D-49E6-B9F8-725684CCA441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222757"/>
            <a:ext cx="1905000" cy="338138"/>
            <a:chOff x="144" y="2832"/>
            <a:chExt cx="1200" cy="213"/>
          </a:xfrm>
        </p:grpSpPr>
        <p:sp>
          <p:nvSpPr>
            <p:cNvPr id="47115" name="Text Box 7">
              <a:extLst>
                <a:ext uri="{FF2B5EF4-FFF2-40B4-BE49-F238E27FC236}">
                  <a16:creationId xmlns:a16="http://schemas.microsoft.com/office/drawing/2014/main" id="{B042C220-FE66-4B1F-9E76-64FCA27A59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92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Monotype Sorts" pitchFamily="-84" charset="2"/>
                <a:buNone/>
              </a:pPr>
              <a:r>
                <a:rPr kumimoji="1" lang="en-US" altLang="en-US" sz="1600"/>
                <a:t>Split Positions</a:t>
              </a:r>
            </a:p>
          </p:txBody>
        </p:sp>
        <p:sp>
          <p:nvSpPr>
            <p:cNvPr id="47116" name="Line 8">
              <a:extLst>
                <a:ext uri="{FF2B5EF4-FFF2-40B4-BE49-F238E27FC236}">
                  <a16:creationId xmlns:a16="http://schemas.microsoft.com/office/drawing/2014/main" id="{4AC70A99-1A3D-461C-97CC-6FF961380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7110" name="Text Box 9">
            <a:extLst>
              <a:ext uri="{FF2B5EF4-FFF2-40B4-BE49-F238E27FC236}">
                <a16:creationId xmlns:a16="http://schemas.microsoft.com/office/drawing/2014/main" id="{6AD76383-798D-41F8-8402-73BD03969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Sorted Values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7A19D9-F17A-4637-813D-0B6AD2681E5D}"/>
              </a:ext>
            </a:extLst>
          </p:cNvPr>
          <p:cNvSpPr/>
          <p:nvPr/>
        </p:nvSpPr>
        <p:spPr bwMode="auto">
          <a:xfrm>
            <a:off x="1612900" y="4821239"/>
            <a:ext cx="8763000" cy="1387475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262919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29" name="Object 4">
            <a:extLst>
              <a:ext uri="{FF2B5EF4-FFF2-40B4-BE49-F238E27FC236}">
                <a16:creationId xmlns:a16="http://schemas.microsoft.com/office/drawing/2014/main" id="{84DE6308-6C23-411E-AE50-40EA2955D3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604500" imgH="3556000" progId="Word.Document.8">
                  <p:embed/>
                </p:oleObj>
              </mc:Choice>
              <mc:Fallback>
                <p:oleObj name="Document" r:id="rId2" imgW="10604500" imgH="3556000" progId="Word.Document.8">
                  <p:embed/>
                  <p:pic>
                    <p:nvPicPr>
                      <p:cNvPr id="48129" name="Object 4">
                        <a:extLst>
                          <a:ext uri="{FF2B5EF4-FFF2-40B4-BE49-F238E27FC236}">
                            <a16:creationId xmlns:a16="http://schemas.microsoft.com/office/drawing/2014/main" id="{84DE6308-6C23-411E-AE50-40EA2955D3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>
            <a:extLst>
              <a:ext uri="{FF2B5EF4-FFF2-40B4-BE49-F238E27FC236}">
                <a16:creationId xmlns:a16="http://schemas.microsoft.com/office/drawing/2014/main" id="{6D8647AB-1100-41CE-A357-E4DACAD8DE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/>
              <a:t>Continuous Attributes: Computing Gini Index...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6F051C52-AF9D-4D45-B969-6AB23A63D7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Monotype Sorts" charset="0"/>
              <a:buChar char="l"/>
              <a:defRPr/>
            </a:pPr>
            <a:r>
              <a:rPr lang="en-US" sz="1800" dirty="0"/>
              <a:t>For efficient computation: for each attribute,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Sort the attribute on values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Linearly scan these values, each time updating the count matrix and computing </a:t>
            </a:r>
            <a:r>
              <a:rPr lang="en-US" dirty="0" err="1"/>
              <a:t>gini</a:t>
            </a:r>
            <a:r>
              <a:rPr lang="en-US" dirty="0"/>
              <a:t> index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Choose the split position that has the least </a:t>
            </a:r>
            <a:r>
              <a:rPr lang="en-US" dirty="0" err="1"/>
              <a:t>gini</a:t>
            </a:r>
            <a:r>
              <a:rPr lang="en-US" dirty="0"/>
              <a:t> index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2531DF-2A8B-4708-B891-92737D770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0C6F35-C1AE-4903-8E4C-00264DC7B51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81FCA7-765C-40AB-B596-3259D8E7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D4504-D115-43F1-8794-484FB8F4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D98951-D407-43F1-821A-21E573B23752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48132" name="Line 5">
            <a:extLst>
              <a:ext uri="{FF2B5EF4-FFF2-40B4-BE49-F238E27FC236}">
                <a16:creationId xmlns:a16="http://schemas.microsoft.com/office/drawing/2014/main" id="{6CD1AC30-F24B-4A5C-8519-CB819E9A2B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8133" name="Group 6">
            <a:extLst>
              <a:ext uri="{FF2B5EF4-FFF2-40B4-BE49-F238E27FC236}">
                <a16:creationId xmlns:a16="http://schemas.microsoft.com/office/drawing/2014/main" id="{C464FC9F-9540-4CF6-9D01-F768C9DCF2BA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222757"/>
            <a:ext cx="1905000" cy="338138"/>
            <a:chOff x="144" y="2832"/>
            <a:chExt cx="1200" cy="213"/>
          </a:xfrm>
        </p:grpSpPr>
        <p:sp>
          <p:nvSpPr>
            <p:cNvPr id="48142" name="Text Box 7">
              <a:extLst>
                <a:ext uri="{FF2B5EF4-FFF2-40B4-BE49-F238E27FC236}">
                  <a16:creationId xmlns:a16="http://schemas.microsoft.com/office/drawing/2014/main" id="{3BABE279-00CB-4852-B1B9-2D0327876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92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Monotype Sorts" pitchFamily="-84" charset="2"/>
                <a:buNone/>
              </a:pPr>
              <a:r>
                <a:rPr kumimoji="1" lang="en-US" altLang="en-US" sz="1600"/>
                <a:t>Split Positions</a:t>
              </a:r>
            </a:p>
          </p:txBody>
        </p:sp>
        <p:sp>
          <p:nvSpPr>
            <p:cNvPr id="48143" name="Line 8">
              <a:extLst>
                <a:ext uri="{FF2B5EF4-FFF2-40B4-BE49-F238E27FC236}">
                  <a16:creationId xmlns:a16="http://schemas.microsoft.com/office/drawing/2014/main" id="{0B5A6E65-7B98-40B2-B9AD-C2FDABF23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8134" name="Text Box 9">
            <a:extLst>
              <a:ext uri="{FF2B5EF4-FFF2-40B4-BE49-F238E27FC236}">
                <a16:creationId xmlns:a16="http://schemas.microsoft.com/office/drawing/2014/main" id="{C50E5DF1-98E8-4A40-9930-B01B97B15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Sorted Values</a:t>
            </a:r>
          </a:p>
        </p:txBody>
      </p:sp>
      <p:sp>
        <p:nvSpPr>
          <p:cNvPr id="48135" name="Rectangle 1">
            <a:extLst>
              <a:ext uri="{FF2B5EF4-FFF2-40B4-BE49-F238E27FC236}">
                <a16:creationId xmlns:a16="http://schemas.microsoft.com/office/drawing/2014/main" id="{455EFC76-CA8A-46B3-BB12-96F6058CD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800600"/>
            <a:ext cx="609600" cy="838200"/>
          </a:xfrm>
          <a:prstGeom prst="rect">
            <a:avLst/>
          </a:prstGeom>
          <a:solidFill>
            <a:srgbClr val="FFFF00">
              <a:alpha val="5215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C39BC0-BEBD-4D2B-A084-E45DD0EDBE30}"/>
              </a:ext>
            </a:extLst>
          </p:cNvPr>
          <p:cNvSpPr/>
          <p:nvPr/>
        </p:nvSpPr>
        <p:spPr bwMode="auto">
          <a:xfrm>
            <a:off x="3581400" y="4821238"/>
            <a:ext cx="1752600" cy="135096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AD929C-1A20-4747-8A7A-8C8324633E4B}"/>
              </a:ext>
            </a:extLst>
          </p:cNvPr>
          <p:cNvSpPr/>
          <p:nvPr/>
        </p:nvSpPr>
        <p:spPr bwMode="auto">
          <a:xfrm>
            <a:off x="5943600" y="4856164"/>
            <a:ext cx="4267200" cy="1349375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endParaRPr lang="en-US">
              <a:latin typeface="Arial" charset="0"/>
              <a:ea typeface="ＭＳ Ｐゴシック" pitchFamily="-84" charset="-128"/>
            </a:endParaRPr>
          </a:p>
        </p:txBody>
      </p:sp>
      <p:cxnSp>
        <p:nvCxnSpPr>
          <p:cNvPr id="48138" name="Straight Arrow Connector 13">
            <a:extLst>
              <a:ext uri="{FF2B5EF4-FFF2-40B4-BE49-F238E27FC236}">
                <a16:creationId xmlns:a16="http://schemas.microsoft.com/office/drawing/2014/main" id="{34C96217-A87E-4279-89D1-6E37A2374EA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62600" y="3016250"/>
            <a:ext cx="0" cy="457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8833714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4">
            <a:extLst>
              <a:ext uri="{FF2B5EF4-FFF2-40B4-BE49-F238E27FC236}">
                <a16:creationId xmlns:a16="http://schemas.microsoft.com/office/drawing/2014/main" id="{05D6A344-EA6E-42B5-A59B-420D3D9117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604500" imgH="3556000" progId="Word.Document.8">
                  <p:embed/>
                </p:oleObj>
              </mc:Choice>
              <mc:Fallback>
                <p:oleObj name="Document" r:id="rId2" imgW="10604500" imgH="3556000" progId="Word.Document.8">
                  <p:embed/>
                  <p:pic>
                    <p:nvPicPr>
                      <p:cNvPr id="49153" name="Object 4">
                        <a:extLst>
                          <a:ext uri="{FF2B5EF4-FFF2-40B4-BE49-F238E27FC236}">
                            <a16:creationId xmlns:a16="http://schemas.microsoft.com/office/drawing/2014/main" id="{05D6A344-EA6E-42B5-A59B-420D3D9117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>
            <a:extLst>
              <a:ext uri="{FF2B5EF4-FFF2-40B4-BE49-F238E27FC236}">
                <a16:creationId xmlns:a16="http://schemas.microsoft.com/office/drawing/2014/main" id="{A868C089-CF76-474A-BCBF-DCCDF8E58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Continuous Attributes: Computing Gini Index...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5BC11248-511C-4177-97BF-0624238299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Monotype Sorts" charset="0"/>
              <a:buChar char="l"/>
              <a:defRPr/>
            </a:pPr>
            <a:r>
              <a:rPr lang="en-US" sz="1800" dirty="0"/>
              <a:t>For efficient computation: for each attribute,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Sort the attribute on values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Linearly scan these values, each time updating the count matrix and computing </a:t>
            </a:r>
            <a:r>
              <a:rPr lang="en-US" dirty="0" err="1"/>
              <a:t>gini</a:t>
            </a:r>
            <a:r>
              <a:rPr lang="en-US" dirty="0"/>
              <a:t> index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Choose the split position that has the least </a:t>
            </a:r>
            <a:r>
              <a:rPr lang="en-US" dirty="0" err="1"/>
              <a:t>gini</a:t>
            </a:r>
            <a:r>
              <a:rPr lang="en-US" dirty="0"/>
              <a:t> index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B870E9-25E1-40FC-B85B-D2A2772A7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E6AD7A2-81A4-4DB8-AC1F-A827C63381F6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5F5BD-9EA6-4190-AE58-E18698CED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E8FD06-F5E0-459E-93E2-58AF50BB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9B1AAA-9C7F-4D2A-A525-12F7D075D017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49156" name="Line 5">
            <a:extLst>
              <a:ext uri="{FF2B5EF4-FFF2-40B4-BE49-F238E27FC236}">
                <a16:creationId xmlns:a16="http://schemas.microsoft.com/office/drawing/2014/main" id="{C7834F66-BA57-4706-9E5B-0C7DF4A63F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9157" name="Group 6">
            <a:extLst>
              <a:ext uri="{FF2B5EF4-FFF2-40B4-BE49-F238E27FC236}">
                <a16:creationId xmlns:a16="http://schemas.microsoft.com/office/drawing/2014/main" id="{8B1404C8-26DD-46CA-AD6E-C907C920EA33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222757"/>
            <a:ext cx="1905000" cy="338138"/>
            <a:chOff x="144" y="2832"/>
            <a:chExt cx="1200" cy="213"/>
          </a:xfrm>
        </p:grpSpPr>
        <p:sp>
          <p:nvSpPr>
            <p:cNvPr id="49167" name="Text Box 7">
              <a:extLst>
                <a:ext uri="{FF2B5EF4-FFF2-40B4-BE49-F238E27FC236}">
                  <a16:creationId xmlns:a16="http://schemas.microsoft.com/office/drawing/2014/main" id="{59E18D7C-7354-4DE7-9E3A-CC14A1298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92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Monotype Sorts" pitchFamily="-84" charset="2"/>
                <a:buNone/>
              </a:pPr>
              <a:r>
                <a:rPr kumimoji="1" lang="en-US" altLang="en-US" sz="1600"/>
                <a:t>Split Positions</a:t>
              </a:r>
            </a:p>
          </p:txBody>
        </p:sp>
        <p:sp>
          <p:nvSpPr>
            <p:cNvPr id="49168" name="Line 8">
              <a:extLst>
                <a:ext uri="{FF2B5EF4-FFF2-40B4-BE49-F238E27FC236}">
                  <a16:creationId xmlns:a16="http://schemas.microsoft.com/office/drawing/2014/main" id="{7D004139-43BA-46F7-9904-E23614054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158" name="Text Box 9">
            <a:extLst>
              <a:ext uri="{FF2B5EF4-FFF2-40B4-BE49-F238E27FC236}">
                <a16:creationId xmlns:a16="http://schemas.microsoft.com/office/drawing/2014/main" id="{B2A3CD4F-A728-4668-90E1-2469ACDE8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Sorted Values</a:t>
            </a:r>
          </a:p>
        </p:txBody>
      </p:sp>
      <p:sp>
        <p:nvSpPr>
          <p:cNvPr id="49159" name="Rectangle 1">
            <a:extLst>
              <a:ext uri="{FF2B5EF4-FFF2-40B4-BE49-F238E27FC236}">
                <a16:creationId xmlns:a16="http://schemas.microsoft.com/office/drawing/2014/main" id="{8E3AACD9-5EDA-41E0-937C-18486161C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2800" y="4800600"/>
            <a:ext cx="609600" cy="838200"/>
          </a:xfrm>
          <a:prstGeom prst="rect">
            <a:avLst/>
          </a:prstGeom>
          <a:solidFill>
            <a:srgbClr val="FFFF00">
              <a:alpha val="5215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3F877-E96E-45FC-B794-7C324287A89A}"/>
              </a:ext>
            </a:extLst>
          </p:cNvPr>
          <p:cNvSpPr/>
          <p:nvPr/>
        </p:nvSpPr>
        <p:spPr bwMode="auto">
          <a:xfrm>
            <a:off x="3581400" y="4821238"/>
            <a:ext cx="1739900" cy="135096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978912-33C3-4522-9862-0FBDE5299222}"/>
              </a:ext>
            </a:extLst>
          </p:cNvPr>
          <p:cNvSpPr/>
          <p:nvPr/>
        </p:nvSpPr>
        <p:spPr bwMode="auto">
          <a:xfrm>
            <a:off x="6516688" y="4899026"/>
            <a:ext cx="3694112" cy="1349375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endParaRPr lang="en-US">
              <a:latin typeface="Arial" charset="0"/>
              <a:ea typeface="ＭＳ Ｐゴシック" pitchFamily="-84" charset="-128"/>
            </a:endParaRPr>
          </a:p>
        </p:txBody>
      </p:sp>
      <p:sp>
        <p:nvSpPr>
          <p:cNvPr id="49162" name="Oval 12">
            <a:extLst>
              <a:ext uri="{FF2B5EF4-FFF2-40B4-BE49-F238E27FC236}">
                <a16:creationId xmlns:a16="http://schemas.microsoft.com/office/drawing/2014/main" id="{524AC7B4-A92A-4868-856D-41B402A12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4038601"/>
            <a:ext cx="762000" cy="303213"/>
          </a:xfrm>
          <a:prstGeom prst="ellipse">
            <a:avLst/>
          </a:prstGeom>
          <a:solidFill>
            <a:srgbClr val="FFFF00">
              <a:alpha val="61176"/>
            </a:srgbClr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cxnSp>
        <p:nvCxnSpPr>
          <p:cNvPr id="49163" name="Straight Arrow Connector 14">
            <a:extLst>
              <a:ext uri="{FF2B5EF4-FFF2-40B4-BE49-F238E27FC236}">
                <a16:creationId xmlns:a16="http://schemas.microsoft.com/office/drawing/2014/main" id="{F09443E7-D0EF-4969-A61F-713EB03093F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172200" y="3016250"/>
            <a:ext cx="0" cy="457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91015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7" name="Object 4">
            <a:extLst>
              <a:ext uri="{FF2B5EF4-FFF2-40B4-BE49-F238E27FC236}">
                <a16:creationId xmlns:a16="http://schemas.microsoft.com/office/drawing/2014/main" id="{8EED2B0D-5D3E-4A16-9418-A34C366913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10604500" imgH="3556000" progId="Word.Document.8">
                  <p:embed/>
                </p:oleObj>
              </mc:Choice>
              <mc:Fallback>
                <p:oleObj name="Document" r:id="rId2" imgW="10604500" imgH="3556000" progId="Word.Document.8">
                  <p:embed/>
                  <p:pic>
                    <p:nvPicPr>
                      <p:cNvPr id="50177" name="Object 4">
                        <a:extLst>
                          <a:ext uri="{FF2B5EF4-FFF2-40B4-BE49-F238E27FC236}">
                            <a16:creationId xmlns:a16="http://schemas.microsoft.com/office/drawing/2014/main" id="{8EED2B0D-5D3E-4A16-9418-A34C366913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>
            <a:extLst>
              <a:ext uri="{FF2B5EF4-FFF2-40B4-BE49-F238E27FC236}">
                <a16:creationId xmlns:a16="http://schemas.microsoft.com/office/drawing/2014/main" id="{33249CD2-764E-4DF0-8EFB-E091B16D02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Continuous Attributes: Computing Gini Index...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3D9477EE-43E8-4CFF-90E2-FA82E7A623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Monotype Sorts" charset="0"/>
              <a:buChar char="l"/>
              <a:defRPr/>
            </a:pPr>
            <a:r>
              <a:rPr lang="en-US" sz="1800" dirty="0"/>
              <a:t>For efficient computation: for each attribute,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Sort the attribute on values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Linearly scan these values, each time updating the count matrix and computing </a:t>
            </a:r>
            <a:r>
              <a:rPr lang="en-US" dirty="0" err="1"/>
              <a:t>gini</a:t>
            </a:r>
            <a:r>
              <a:rPr lang="en-US" dirty="0"/>
              <a:t> index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dirty="0"/>
              <a:t>Choose the split position that has the least </a:t>
            </a:r>
            <a:r>
              <a:rPr lang="en-US" dirty="0" err="1"/>
              <a:t>gini</a:t>
            </a:r>
            <a:r>
              <a:rPr lang="en-US" dirty="0"/>
              <a:t> index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A49B9-DC36-4F58-B202-6FF0437A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A9DFF-05A2-4A77-AF12-37ED9E658F17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57260-5341-4B0D-B69F-1277B57E8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0E165-E35D-4E5B-B7AC-B8CBEC8D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F20258-E45F-4E65-A1C7-7C0B85C920E7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50180" name="Line 5">
            <a:extLst>
              <a:ext uri="{FF2B5EF4-FFF2-40B4-BE49-F238E27FC236}">
                <a16:creationId xmlns:a16="http://schemas.microsoft.com/office/drawing/2014/main" id="{806B87B3-3C86-4D60-BFED-7EDB6BAB3E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0181" name="Group 6">
            <a:extLst>
              <a:ext uri="{FF2B5EF4-FFF2-40B4-BE49-F238E27FC236}">
                <a16:creationId xmlns:a16="http://schemas.microsoft.com/office/drawing/2014/main" id="{150793B5-D1A7-4328-9DA8-189E9FA14519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222757"/>
            <a:ext cx="1905000" cy="338138"/>
            <a:chOff x="144" y="2832"/>
            <a:chExt cx="1200" cy="213"/>
          </a:xfrm>
        </p:grpSpPr>
        <p:sp>
          <p:nvSpPr>
            <p:cNvPr id="50186" name="Text Box 7">
              <a:extLst>
                <a:ext uri="{FF2B5EF4-FFF2-40B4-BE49-F238E27FC236}">
                  <a16:creationId xmlns:a16="http://schemas.microsoft.com/office/drawing/2014/main" id="{E5347AE4-7684-404F-A832-5C64A6AEE9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832"/>
              <a:ext cx="92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Monotype Sorts" pitchFamily="-84" charset="2"/>
                <a:buNone/>
              </a:pPr>
              <a:r>
                <a:rPr kumimoji="1" lang="en-US" altLang="en-US" sz="1600"/>
                <a:t>Split Positions</a:t>
              </a:r>
            </a:p>
          </p:txBody>
        </p:sp>
        <p:sp>
          <p:nvSpPr>
            <p:cNvPr id="50187" name="Line 8">
              <a:extLst>
                <a:ext uri="{FF2B5EF4-FFF2-40B4-BE49-F238E27FC236}">
                  <a16:creationId xmlns:a16="http://schemas.microsoft.com/office/drawing/2014/main" id="{D593CBA5-8B4F-4699-B575-4B51A539CA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182" name="Text Box 9">
            <a:extLst>
              <a:ext uri="{FF2B5EF4-FFF2-40B4-BE49-F238E27FC236}">
                <a16:creationId xmlns:a16="http://schemas.microsoft.com/office/drawing/2014/main" id="{C63DAE15-874E-4759-B822-24E0E4FC2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Sorted Values</a:t>
            </a:r>
          </a:p>
        </p:txBody>
      </p:sp>
    </p:spTree>
    <p:extLst>
      <p:ext uri="{BB962C8B-B14F-4D97-AF65-F5344CB8AC3E}">
        <p14:creationId xmlns:p14="http://schemas.microsoft.com/office/powerpoint/2010/main" val="15622968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726ED09-ADDF-476D-8780-C37FBA5D16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Measure of Impurity: Entropy</a:t>
            </a:r>
            <a:endParaRPr lang="en-US" sz="6600" dirty="0"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39" name="Rectangle 3">
                <a:extLst>
                  <a:ext uri="{FF2B5EF4-FFF2-40B4-BE49-F238E27FC236}">
                    <a16:creationId xmlns:a16="http://schemas.microsoft.com/office/drawing/2014/main" id="{AB2C2B6F-910C-479E-BDA6-BC8AE1D8559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342900" indent="-342900">
                  <a:buFont typeface="Monotype Sorts" charset="0"/>
                  <a:buChar char="l"/>
                  <a:defRPr/>
                </a:pPr>
                <a:r>
                  <a:rPr lang="en-US" sz="2400" dirty="0"/>
                  <a:t>Entropy at a given node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endParaRPr lang="en-US" dirty="0"/>
              </a:p>
              <a:p>
                <a:pPr lvl="4">
                  <a:lnSpc>
                    <a:spcPct val="90000"/>
                  </a:lnSpc>
                  <a:defRPr/>
                </a:pPr>
                <a:endParaRPr lang="en-US" dirty="0">
                  <a:latin typeface="Times New Roman" charset="0"/>
                </a:endParaRPr>
              </a:p>
              <a:p>
                <a:pPr lvl="4">
                  <a:lnSpc>
                    <a:spcPct val="90000"/>
                  </a:lnSpc>
                  <a:defRPr/>
                </a:pPr>
                <a:endParaRPr lang="en-US" dirty="0">
                  <a:latin typeface="Times New Roman" charset="0"/>
                </a:endParaRPr>
              </a:p>
              <a:p>
                <a:pPr marL="342900" indent="-342900">
                  <a:buNone/>
                  <a:defRPr/>
                </a:pPr>
                <a:r>
                  <a:rPr lang="en-US" sz="2400" dirty="0"/>
                  <a:t>	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dirty="0"/>
                  <a:t> is the probability  of class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dirty="0"/>
                  <a:t> at node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dirty="0"/>
                  <a:t> is the total number of classes </a:t>
                </a:r>
              </a:p>
              <a:p>
                <a:pPr marL="342900" indent="-342900">
                  <a:buNone/>
                  <a:defRPr/>
                </a:pPr>
                <a:endParaRPr lang="en-US" dirty="0"/>
              </a:p>
              <a:p>
                <a:pPr marL="1204913" lvl="2" indent="-347663">
                  <a:buFont typeface="Wingdings" charset="0"/>
                  <a:buChar char="u"/>
                  <a:defRPr/>
                </a:pPr>
                <a:r>
                  <a:rPr lang="en-US" sz="2000" dirty="0"/>
                  <a:t>Maximum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dirty="0"/>
                  <a:t> when records are equally distributed among all classes, implying the least beneficial situation for classification</a:t>
                </a:r>
              </a:p>
              <a:p>
                <a:pPr marL="1204913" lvl="2" indent="-347663">
                  <a:buFont typeface="Wingdings" charset="0"/>
                  <a:buChar char="u"/>
                  <a:defRPr/>
                </a:pPr>
                <a:r>
                  <a:rPr lang="en-US" sz="2000" dirty="0"/>
                  <a:t>Minimum of 0 when all records belong to one class, implying most beneficial situation for classification</a:t>
                </a: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endParaRPr lang="en-US" dirty="0"/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en-US" sz="2000" dirty="0"/>
                  <a:t>Entropy based computations are quite similar to the GINI index computations</a:t>
                </a:r>
              </a:p>
            </p:txBody>
          </p:sp>
        </mc:Choice>
        <mc:Fallback xmlns="">
          <p:sp>
            <p:nvSpPr>
              <p:cNvPr id="39939" name="Rectangle 3">
                <a:extLst>
                  <a:ext uri="{FF2B5EF4-FFF2-40B4-BE49-F238E27FC236}">
                    <a16:creationId xmlns:a16="http://schemas.microsoft.com/office/drawing/2014/main" id="{AB2C2B6F-910C-479E-BDA6-BC8AE1D855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28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4F72C1-8DB5-465A-9A64-7EE78D48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F548D6-F294-4AA7-A769-C0CDA89F0A9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A15321-786A-4187-BDEF-11C03ECF3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7B8A7-B7AA-467D-86BB-FD17E3314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7C351-DC12-45EB-B15E-0B7E4E090EF9}" type="slidenum">
              <a:rPr lang="en-US"/>
              <a:pPr>
                <a:defRPr/>
              </a:pPr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D6B64-16FF-42AA-85B8-5A2F2AB58B86}"/>
                  </a:ext>
                </a:extLst>
              </p:cNvPr>
              <p:cNvSpPr txBox="1"/>
              <p:nvPr/>
            </p:nvSpPr>
            <p:spPr>
              <a:xfrm>
                <a:off x="3139838" y="2328051"/>
                <a:ext cx="3552446" cy="8649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D6B64-16FF-42AA-85B8-5A2F2AB58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838" y="2328051"/>
                <a:ext cx="3552446" cy="8649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6105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F7C2F9D-2C4C-4514-9ABF-3E8CBEF465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Computing Entropy of a Single Node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B12BE-7C81-4EE5-B01E-8F6425C7F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496FA1-3294-4F48-9991-5DA879D66AA6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5981B3-B9E5-4312-A3FF-56AA0D2D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FE711-EDA1-475B-88C2-CA170A969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6DE6C9-B616-47A1-8DF4-C856A4D0ED42}" type="slidenum">
              <a:rPr lang="en-US"/>
              <a:pPr>
                <a:defRPr/>
              </a:pPr>
              <a:t>42</a:t>
            </a:fld>
            <a:endParaRPr lang="en-US"/>
          </a:p>
        </p:txBody>
      </p:sp>
      <p:graphicFrame>
        <p:nvGraphicFramePr>
          <p:cNvPr id="52226" name="Object 3">
            <a:extLst>
              <a:ext uri="{FF2B5EF4-FFF2-40B4-BE49-F238E27FC236}">
                <a16:creationId xmlns:a16="http://schemas.microsoft.com/office/drawing/2014/main" id="{BB637AB3-8F49-4E6B-9419-412DA3CCF0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3087703"/>
          <a:ext cx="2362200" cy="684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238500" imgH="1357884" progId="Word.Document.8">
                  <p:embed/>
                </p:oleObj>
              </mc:Choice>
              <mc:Fallback>
                <p:oleObj name="Document" r:id="rId2" imgW="3238500" imgH="1357884" progId="Word.Document.8">
                  <p:embed/>
                  <p:pic>
                    <p:nvPicPr>
                      <p:cNvPr id="52226" name="Object 3">
                        <a:extLst>
                          <a:ext uri="{FF2B5EF4-FFF2-40B4-BE49-F238E27FC236}">
                            <a16:creationId xmlns:a16="http://schemas.microsoft.com/office/drawing/2014/main" id="{BB637AB3-8F49-4E6B-9419-412DA3CCF0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087703"/>
                        <a:ext cx="2362200" cy="684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7" name="Object 4">
            <a:extLst>
              <a:ext uri="{FF2B5EF4-FFF2-40B4-BE49-F238E27FC236}">
                <a16:creationId xmlns:a16="http://schemas.microsoft.com/office/drawing/2014/main" id="{D03C17F8-5A40-4FD9-B830-C156D7D190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5639220"/>
          <a:ext cx="2286000" cy="685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38500" imgH="1382268" progId="Word.Document.8">
                  <p:embed/>
                </p:oleObj>
              </mc:Choice>
              <mc:Fallback>
                <p:oleObj name="Document" r:id="rId4" imgW="3238500" imgH="1382268" progId="Word.Document.8">
                  <p:embed/>
                  <p:pic>
                    <p:nvPicPr>
                      <p:cNvPr id="52227" name="Object 4">
                        <a:extLst>
                          <a:ext uri="{FF2B5EF4-FFF2-40B4-BE49-F238E27FC236}">
                            <a16:creationId xmlns:a16="http://schemas.microsoft.com/office/drawing/2014/main" id="{D03C17F8-5A40-4FD9-B830-C156D7D190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639220"/>
                        <a:ext cx="2286000" cy="685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5">
            <a:extLst>
              <a:ext uri="{FF2B5EF4-FFF2-40B4-BE49-F238E27FC236}">
                <a16:creationId xmlns:a16="http://schemas.microsoft.com/office/drawing/2014/main" id="{9F26A34F-15A4-44EC-9E82-97915C9F42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4367014"/>
          <a:ext cx="2286000" cy="66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238500" imgH="1357884" progId="Word.Document.8">
                  <p:embed/>
                </p:oleObj>
              </mc:Choice>
              <mc:Fallback>
                <p:oleObj name="Document" r:id="rId6" imgW="3238500" imgH="1357884" progId="Word.Document.8">
                  <p:embed/>
                  <p:pic>
                    <p:nvPicPr>
                      <p:cNvPr id="52228" name="Object 5">
                        <a:extLst>
                          <a:ext uri="{FF2B5EF4-FFF2-40B4-BE49-F238E27FC236}">
                            <a16:creationId xmlns:a16="http://schemas.microsoft.com/office/drawing/2014/main" id="{9F26A34F-15A4-44EC-9E82-97915C9F42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367014"/>
                        <a:ext cx="2286000" cy="66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Text Box 6">
            <a:extLst>
              <a:ext uri="{FF2B5EF4-FFF2-40B4-BE49-F238E27FC236}">
                <a16:creationId xmlns:a16="http://schemas.microsoft.com/office/drawing/2014/main" id="{8F06B79F-C069-4CD0-A9A4-901C4D3CE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955926"/>
            <a:ext cx="594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P(C1) = 0/6 = 0     P(C2) = 6/6 = 1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Entropy = – 0 log 0</a:t>
            </a:r>
            <a:r>
              <a:rPr lang="en-US" altLang="en-US" sz="2000" baseline="30000" dirty="0"/>
              <a:t> </a:t>
            </a:r>
            <a:r>
              <a:rPr lang="en-US" altLang="en-US" sz="2000" dirty="0"/>
              <a:t>– 1 log 1 = – 0 – 0 = 0 </a:t>
            </a:r>
          </a:p>
        </p:txBody>
      </p:sp>
      <p:sp>
        <p:nvSpPr>
          <p:cNvPr id="52230" name="Text Box 8">
            <a:extLst>
              <a:ext uri="{FF2B5EF4-FFF2-40B4-BE49-F238E27FC236}">
                <a16:creationId xmlns:a16="http://schemas.microsoft.com/office/drawing/2014/main" id="{69D354AD-3445-41CE-8F4F-812592CE7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251326"/>
            <a:ext cx="6172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P(C1) = 1/6          P(C2) = 5/6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Entropy = – (1/6) log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(1/6)</a:t>
            </a:r>
            <a:r>
              <a:rPr lang="en-US" altLang="en-US" sz="2000" baseline="30000" dirty="0"/>
              <a:t> </a:t>
            </a:r>
            <a:r>
              <a:rPr lang="en-US" altLang="en-US" sz="2000" dirty="0"/>
              <a:t>– (5/6) log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(5/6) = 0.65</a:t>
            </a:r>
          </a:p>
        </p:txBody>
      </p:sp>
      <p:sp>
        <p:nvSpPr>
          <p:cNvPr id="52231" name="Text Box 9">
            <a:extLst>
              <a:ext uri="{FF2B5EF4-FFF2-40B4-BE49-F238E27FC236}">
                <a16:creationId xmlns:a16="http://schemas.microsoft.com/office/drawing/2014/main" id="{E20961E2-4A1F-4D5A-B0C6-6EDFF2135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470526"/>
            <a:ext cx="6172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2/6          P(C2) = 4/6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Entropy = – (2/6) log</a:t>
            </a:r>
            <a:r>
              <a:rPr lang="en-US" altLang="en-US" sz="2000" baseline="-25000"/>
              <a:t>2</a:t>
            </a:r>
            <a:r>
              <a:rPr lang="en-US" altLang="en-US" sz="2000"/>
              <a:t> (2/6)</a:t>
            </a:r>
            <a:r>
              <a:rPr lang="en-US" altLang="en-US" sz="2000" baseline="30000"/>
              <a:t> </a:t>
            </a:r>
            <a:r>
              <a:rPr lang="en-US" altLang="en-US" sz="2000"/>
              <a:t>– (4/6) log</a:t>
            </a:r>
            <a:r>
              <a:rPr lang="en-US" altLang="en-US" sz="2000" baseline="-25000"/>
              <a:t>2</a:t>
            </a:r>
            <a:r>
              <a:rPr lang="en-US" altLang="en-US" sz="2000"/>
              <a:t> (4/6) = 0.92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C7281B-DF0D-407E-BB2E-ED769EB3DB36}"/>
                  </a:ext>
                </a:extLst>
              </p:cNvPr>
              <p:cNvSpPr txBox="1"/>
              <p:nvPr/>
            </p:nvSpPr>
            <p:spPr>
              <a:xfrm>
                <a:off x="3429000" y="1782892"/>
                <a:ext cx="3552446" cy="8649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C7281B-DF0D-407E-BB2E-ED769EB3D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1782892"/>
                <a:ext cx="3552446" cy="8649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07953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10A1E003-1F58-4368-A5F0-15CBF9E8B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Computing Information Gain After Splitting</a:t>
            </a:r>
            <a:endParaRPr lang="en-US" sz="6600" dirty="0"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5931C173-54DB-4586-961A-FD1AF78D82C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342900" indent="-342900">
                  <a:buFont typeface="Monotype Sorts" charset="0"/>
                  <a:buChar char="l"/>
                  <a:defRPr/>
                </a:pPr>
                <a:r>
                  <a:rPr lang="en-US" sz="2400" dirty="0"/>
                  <a:t>Information Gain: </a:t>
                </a: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endParaRPr lang="en-US" dirty="0"/>
              </a:p>
              <a:p>
                <a:pPr marL="1146175" lvl="2">
                  <a:buNone/>
                  <a:defRPr/>
                </a:pPr>
                <a:endParaRPr lang="en-US" dirty="0"/>
              </a:p>
              <a:p>
                <a:pPr marL="1146175" lvl="2">
                  <a:buNone/>
                  <a:defRPr/>
                </a:pPr>
                <a:endParaRPr lang="en-US" dirty="0"/>
              </a:p>
              <a:p>
                <a:pPr marL="1146175" lvl="2">
                  <a:buNone/>
                  <a:defRPr/>
                </a:pPr>
                <a:r>
                  <a:rPr lang="en-US" dirty="0"/>
                  <a:t>	</a:t>
                </a:r>
                <a:r>
                  <a:rPr lang="en-US" sz="1600" dirty="0"/>
                  <a:t>	Parent Node,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dirty="0"/>
                  <a:t> is split into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 partitions (children)</a:t>
                </a:r>
              </a:p>
              <a:p>
                <a:pPr marL="1146175" lvl="2">
                  <a:buNone/>
                  <a:defRPr/>
                </a:pPr>
                <a:r>
                  <a:rPr lang="en-US" sz="1600" dirty="0"/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is number of records in child node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sz="1800" dirty="0">
                    <a:latin typeface="Times New Roman" charset="0"/>
                  </a:rPr>
                </a:br>
                <a:endParaRPr lang="en-US" sz="1800" dirty="0">
                  <a:latin typeface="Times New Roman" charset="0"/>
                </a:endParaRP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en-US" sz="2000" dirty="0"/>
                  <a:t>Choose the split that achieves most reduction (maximizes GAIN)</a:t>
                </a:r>
              </a:p>
              <a:p>
                <a:pPr lvl="4">
                  <a:defRPr/>
                </a:pPr>
                <a:endParaRPr lang="en-US" sz="1600" dirty="0">
                  <a:latin typeface="Times New Roman" charset="0"/>
                </a:endParaRP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en-US" sz="2000" dirty="0"/>
                  <a:t>Used in the ID3 and C4.5 decision tree algorithms</a:t>
                </a: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endParaRPr lang="en-US" sz="2000" dirty="0"/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en-US" sz="2000" dirty="0"/>
                  <a:t>Information gain is the mutual information between the class variable and the splitting variable  </a:t>
                </a:r>
              </a:p>
            </p:txBody>
          </p:sp>
        </mc:Choice>
        <mc:Fallback xmlns="">
          <p:sp>
            <p:nvSpPr>
              <p:cNvPr id="41987" name="Rectangle 3">
                <a:extLst>
                  <a:ext uri="{FF2B5EF4-FFF2-40B4-BE49-F238E27FC236}">
                    <a16:creationId xmlns:a16="http://schemas.microsoft.com/office/drawing/2014/main" id="{5931C173-54DB-4586-961A-FD1AF78D82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28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838F9-5C30-4C1D-A60C-107CF9C38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08702F-C60F-462E-B178-1079994C3D31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5775EE-0CCC-4CEC-A935-C48915E03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08EC3-4CB2-44AF-B6C9-2BABFBCB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66C636-268E-4FBD-BBA5-0BB0761D90FF}" type="slidenum">
              <a:rPr lang="en-US"/>
              <a:pPr>
                <a:defRPr/>
              </a:pPr>
              <a:t>43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4E59F-A1BF-4E04-995A-7D996319BEEB}"/>
                  </a:ext>
                </a:extLst>
              </p:cNvPr>
              <p:cNvSpPr txBox="1"/>
              <p:nvPr/>
            </p:nvSpPr>
            <p:spPr>
              <a:xfrm>
                <a:off x="3469336" y="2133600"/>
                <a:ext cx="4436407" cy="7845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𝐺𝑎𝑖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𝑠𝑝𝑙𝑖𝑡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𝐸𝑛𝑡𝑟𝑜𝑝𝑦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4E59F-A1BF-4E04-995A-7D996319B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9336" y="2133600"/>
                <a:ext cx="4436407" cy="7845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9390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C6392D93-298C-4A31-954A-AE23DD5FEF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Problem with large number of partitions</a:t>
            </a:r>
          </a:p>
        </p:txBody>
      </p:sp>
      <p:graphicFrame>
        <p:nvGraphicFramePr>
          <p:cNvPr id="54275" name="Object 4">
            <a:extLst>
              <a:ext uri="{FF2B5EF4-FFF2-40B4-BE49-F238E27FC236}">
                <a16:creationId xmlns:a16="http://schemas.microsoft.com/office/drawing/2014/main" id="{483CA67C-C837-4835-9209-42FC7F9F62EF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057400" y="2744788"/>
          <a:ext cx="8001000" cy="186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652000" imgH="2247900" progId="Visio.Drawing.6">
                  <p:embed/>
                </p:oleObj>
              </mc:Choice>
              <mc:Fallback>
                <p:oleObj name="Visio" r:id="rId2" imgW="9652000" imgH="2247900" progId="Visio.Drawing.6">
                  <p:embed/>
                  <p:pic>
                    <p:nvPicPr>
                      <p:cNvPr id="54275" name="Object 4">
                        <a:extLst>
                          <a:ext uri="{FF2B5EF4-FFF2-40B4-BE49-F238E27FC236}">
                            <a16:creationId xmlns:a16="http://schemas.microsoft.com/office/drawing/2014/main" id="{483CA67C-C837-4835-9209-42FC7F9F62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744788"/>
                        <a:ext cx="8001000" cy="186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52416-6DA2-40BE-8B46-D1BDAB47E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D5E5CC-8DF7-428B-AB9B-A67FDB0ECE83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3C572E-C2A4-40AB-98B9-3C34B8E1A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76994-D1A5-4494-82A2-F73BC967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A6884D-0358-41A0-8B86-2E8936DC407F}" type="slidenum">
              <a:rPr lang="en-US"/>
              <a:pPr>
                <a:defRPr/>
              </a:pPr>
              <a:t>44</a:t>
            </a:fld>
            <a:endParaRPr lang="en-US"/>
          </a:p>
        </p:txBody>
      </p:sp>
      <p:sp>
        <p:nvSpPr>
          <p:cNvPr id="957443" name="Rectangle 3">
            <a:extLst>
              <a:ext uri="{FF2B5EF4-FFF2-40B4-BE49-F238E27FC236}">
                <a16:creationId xmlns:a16="http://schemas.microsoft.com/office/drawing/2014/main" id="{BCCB83F4-D583-4983-841D-E1951C9CF4B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222579" y="1737360"/>
            <a:ext cx="9933101" cy="4842006"/>
          </a:xfrm>
        </p:spPr>
        <p:txBody>
          <a:bodyPr/>
          <a:lstStyle/>
          <a:p>
            <a:pPr>
              <a:buFont typeface="Monotype Sorts" pitchFamily="2" charset="2"/>
              <a:buChar char="l"/>
              <a:defRPr/>
            </a:pPr>
            <a:r>
              <a:rPr lang="en-US" dirty="0">
                <a:ea typeface="+mn-ea"/>
                <a:cs typeface="+mn-cs"/>
              </a:rPr>
              <a:t>Node impurity measures tend to prefer splits that result in large number of partitions, each being small but pure</a:t>
            </a:r>
          </a:p>
          <a:p>
            <a:pPr>
              <a:buFont typeface="Monotype Sorts" pitchFamily="2" charset="2"/>
              <a:buChar char="l"/>
              <a:defRPr/>
            </a:pPr>
            <a:endParaRPr lang="en-US" dirty="0">
              <a:ea typeface="+mn-ea"/>
              <a:cs typeface="+mn-cs"/>
            </a:endParaRPr>
          </a:p>
          <a:p>
            <a:pPr>
              <a:buFont typeface="Monotype Sorts" pitchFamily="2" charset="2"/>
              <a:buChar char="l"/>
              <a:defRPr/>
            </a:pPr>
            <a:endParaRPr lang="en-US" dirty="0">
              <a:ea typeface="+mn-ea"/>
              <a:cs typeface="+mn-cs"/>
            </a:endParaRPr>
          </a:p>
          <a:p>
            <a:pPr>
              <a:buFont typeface="Monotype Sorts" pitchFamily="2" charset="2"/>
              <a:buChar char="l"/>
              <a:defRPr/>
            </a:pPr>
            <a:endParaRPr lang="en-US" dirty="0">
              <a:ea typeface="+mn-ea"/>
              <a:cs typeface="+mn-cs"/>
            </a:endParaRPr>
          </a:p>
          <a:p>
            <a:pPr>
              <a:buFont typeface="Monotype Sorts" pitchFamily="2" charset="2"/>
              <a:buChar char="l"/>
              <a:defRPr/>
            </a:pPr>
            <a:endParaRPr lang="en-US" dirty="0">
              <a:ea typeface="+mn-ea"/>
              <a:cs typeface="+mn-cs"/>
            </a:endParaRPr>
          </a:p>
          <a:p>
            <a:pPr marL="0" indent="0"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 typeface="Arial" charset="0"/>
              <a:buChar char="–"/>
              <a:defRPr/>
            </a:pPr>
            <a:endParaRPr lang="en-US" dirty="0"/>
          </a:p>
          <a:p>
            <a:pPr lvl="1">
              <a:buFont typeface="Arial" charset="0"/>
              <a:buChar char="–"/>
              <a:defRPr/>
            </a:pPr>
            <a:r>
              <a:rPr lang="en-US" dirty="0"/>
              <a:t>Customer ID has highest information gain because entropy for all the children is zero</a:t>
            </a:r>
          </a:p>
        </p:txBody>
      </p:sp>
    </p:spTree>
    <p:extLst>
      <p:ext uri="{BB962C8B-B14F-4D97-AF65-F5344CB8AC3E}">
        <p14:creationId xmlns:p14="http://schemas.microsoft.com/office/powerpoint/2010/main" val="5506028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B139C1D-A9DD-4402-9E7C-035A4930C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Gain Ratio</a:t>
            </a:r>
            <a:endParaRPr lang="en-US" sz="6600" dirty="0"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35" name="Rectangle 3">
                <a:extLst>
                  <a:ext uri="{FF2B5EF4-FFF2-40B4-BE49-F238E27FC236}">
                    <a16:creationId xmlns:a16="http://schemas.microsoft.com/office/drawing/2014/main" id="{14EC38C6-8F27-4C54-B15E-875213CD1984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2900" indent="-342900">
                  <a:buFont typeface="Monotype Sorts" charset="0"/>
                  <a:buChar char="l"/>
                  <a:defRPr/>
                </a:pPr>
                <a:r>
                  <a:rPr lang="en-US" sz="2000" dirty="0"/>
                  <a:t>Gain Ratio: </a:t>
                </a: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endParaRPr lang="en-US" sz="2000" dirty="0"/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endParaRPr lang="en-US" sz="2000" dirty="0"/>
              </a:p>
              <a:p>
                <a:pPr marL="1146175" lvl="2">
                  <a:buFont typeface="Wingdings" charset="0"/>
                  <a:buChar char="u"/>
                  <a:defRPr/>
                </a:pPr>
                <a:endParaRPr lang="en-US" sz="1800" dirty="0"/>
              </a:p>
              <a:p>
                <a:pPr marL="1146175" lvl="2">
                  <a:buFont typeface="Wingdings" charset="0"/>
                  <a:buChar char="u"/>
                  <a:defRPr/>
                </a:pPr>
                <a:endParaRPr lang="en-US" sz="1800" dirty="0"/>
              </a:p>
              <a:p>
                <a:pPr marL="457200" lvl="2">
                  <a:buNone/>
                  <a:defRPr/>
                </a:pPr>
                <a:r>
                  <a:rPr lang="en-US" sz="1800" dirty="0"/>
                  <a:t>	Parent Node,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800" dirty="0"/>
                  <a:t> is split into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 partitions (children)</a:t>
                </a:r>
              </a:p>
              <a:p>
                <a:pPr marL="457200" lvl="2">
                  <a:buNone/>
                  <a:defRPr/>
                </a:pPr>
                <a:r>
                  <a:rPr lang="en-US" sz="18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is number of records in child node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sz="1600" dirty="0">
                    <a:latin typeface="Times New Roman" charset="0"/>
                  </a:rPr>
                </a:br>
                <a:endParaRPr lang="en-US" sz="700" dirty="0"/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en-US" sz="2000" dirty="0"/>
                  <a:t>Adjusts Information Gain by the entropy of the partitioning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𝑆𝑝𝑙𝑖𝑡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𝐼𝑛𝑓𝑜</m:t>
                    </m:r>
                  </m:oMath>
                </a14:m>
                <a:r>
                  <a:rPr lang="en-US" sz="2000" dirty="0"/>
                  <a:t>). </a:t>
                </a:r>
              </a:p>
              <a:p>
                <a:pPr marL="1146175" lvl="2">
                  <a:buFont typeface="Wingdings" charset="0"/>
                  <a:buChar char="u"/>
                  <a:defRPr/>
                </a:pPr>
                <a:r>
                  <a:rPr lang="en-US" sz="1800" dirty="0"/>
                  <a:t>Higher entropy partitioning (large number of small partitions) is penalized!</a:t>
                </a: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en-US" sz="2000" dirty="0"/>
                  <a:t>Used in C4.5 algorithm</a:t>
                </a: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en-US" sz="2000" dirty="0"/>
                  <a:t>Designed to overcome the disadvantage of Information Gain</a:t>
                </a:r>
              </a:p>
            </p:txBody>
          </p:sp>
        </mc:Choice>
        <mc:Fallback xmlns="">
          <p:sp>
            <p:nvSpPr>
              <p:cNvPr id="44035" name="Rectangle 3">
                <a:extLst>
                  <a:ext uri="{FF2B5EF4-FFF2-40B4-BE49-F238E27FC236}">
                    <a16:creationId xmlns:a16="http://schemas.microsoft.com/office/drawing/2014/main" id="{14EC38C6-8F27-4C54-B15E-875213CD1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90C68F-7702-4E57-ABCE-34ED6D6A9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F1E5B6-D0FB-4F25-8468-B92227ED4CE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CE5C30-9B5F-4C45-B173-C6E33407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8E488-AD0F-4740-A6A8-8344B45A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367312-112F-4E03-894C-4187335F9BE3}" type="slidenum">
              <a:rPr lang="en-US"/>
              <a:pPr>
                <a:defRPr/>
              </a:pPr>
              <a:t>45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11D27D-8A15-4706-B134-F62DBFCA9F71}"/>
                  </a:ext>
                </a:extLst>
              </p:cNvPr>
              <p:cNvSpPr txBox="1"/>
              <p:nvPr/>
            </p:nvSpPr>
            <p:spPr>
              <a:xfrm>
                <a:off x="2895600" y="2343147"/>
                <a:ext cx="6818662" cy="87171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𝑅𝑎𝑡𝑖𝑜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𝐺𝑎𝑖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𝑠𝑝𝑙𝑖𝑡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𝑆𝑝𝑙𝑖𝑡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𝐼𝑛𝑓𝑜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𝑆𝑝𝑙𝑖𝑡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𝐼𝑛𝑓𝑜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11D27D-8A15-4706-B134-F62DBFCA9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2343147"/>
                <a:ext cx="6818662" cy="8717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1957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E4B08A4D-FAC4-4617-9104-1E9502D34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Gain Ratio</a:t>
            </a:r>
            <a:endParaRPr lang="en-US" sz="6600" dirty="0"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059" name="Rectangle 3">
                <a:extLst>
                  <a:ext uri="{FF2B5EF4-FFF2-40B4-BE49-F238E27FC236}">
                    <a16:creationId xmlns:a16="http://schemas.microsoft.com/office/drawing/2014/main" id="{F56CF081-BF00-4DB6-B3EA-A05FAB22FD90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Monotype Sorts" charset="0"/>
                  <a:buChar char="l"/>
                  <a:defRPr/>
                </a:pPr>
                <a:r>
                  <a:rPr lang="en-US" sz="2000" dirty="0"/>
                  <a:t>Gain Ratio: </a:t>
                </a: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endParaRPr lang="en-US" sz="2000" dirty="0"/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endParaRPr lang="en-US" sz="2000" dirty="0"/>
              </a:p>
              <a:p>
                <a:pPr marL="1146175" lvl="2">
                  <a:buFont typeface="Wingdings" charset="0"/>
                  <a:buChar char="u"/>
                  <a:defRPr/>
                </a:pPr>
                <a:endParaRPr lang="en-US" sz="1800" dirty="0"/>
              </a:p>
              <a:p>
                <a:pPr marL="1146175" lvl="2">
                  <a:buFont typeface="Wingdings" charset="0"/>
                  <a:buChar char="u"/>
                  <a:defRPr/>
                </a:pPr>
                <a:endParaRPr lang="en-US" sz="1800" dirty="0"/>
              </a:p>
              <a:p>
                <a:pPr marL="457200" lvl="2">
                  <a:buNone/>
                  <a:defRPr/>
                </a:pPr>
                <a:r>
                  <a:rPr lang="en-US" sz="1800" dirty="0"/>
                  <a:t>	Parent Node,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800" dirty="0"/>
                  <a:t> is split into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 partitions (children)</a:t>
                </a:r>
              </a:p>
              <a:p>
                <a:pPr marL="457200" lvl="2">
                  <a:buNone/>
                  <a:defRPr/>
                </a:pPr>
                <a:r>
                  <a:rPr lang="en-US" sz="18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is number of records in child node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sz="1600" dirty="0">
                    <a:latin typeface="Times New Roman" charset="0"/>
                  </a:rPr>
                </a:br>
                <a:endParaRPr lang="en-US" sz="700" dirty="0"/>
              </a:p>
              <a:p>
                <a:pPr marL="1146175" lvl="2">
                  <a:buNone/>
                  <a:defRPr/>
                </a:pPr>
                <a:endParaRPr lang="en-US" sz="700" dirty="0"/>
              </a:p>
            </p:txBody>
          </p:sp>
        </mc:Choice>
        <mc:Fallback xmlns="">
          <p:sp>
            <p:nvSpPr>
              <p:cNvPr id="45059" name="Rectangle 3">
                <a:extLst>
                  <a:ext uri="{FF2B5EF4-FFF2-40B4-BE49-F238E27FC236}">
                    <a16:creationId xmlns:a16="http://schemas.microsoft.com/office/drawing/2014/main" id="{F56CF081-BF00-4DB6-B3EA-A05FAB22FD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43000"/>
                <a:ext cx="8382000" cy="5105400"/>
              </a:xfrm>
              <a:blipFill>
                <a:blip r:embed="rId3"/>
                <a:stretch>
                  <a:fillRect l="-73" t="-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FAFC36-C6FD-42D2-AA15-5E50B809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C1E1B3-1477-49B0-9EAD-1393ACBF3EC3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322DD0-FD6E-471C-AF03-F769584C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20CA6-8E96-40B5-810E-1D332608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268759-9D09-4BF4-8B94-60AA69D680E6}" type="slidenum">
              <a:rPr lang="en-US"/>
              <a:pPr>
                <a:defRPr/>
              </a:pPr>
              <a:t>46</a:t>
            </a:fld>
            <a:endParaRPr lang="en-US"/>
          </a:p>
        </p:txBody>
      </p:sp>
      <p:graphicFrame>
        <p:nvGraphicFramePr>
          <p:cNvPr id="56325" name="Object 4">
            <a:extLst>
              <a:ext uri="{FF2B5EF4-FFF2-40B4-BE49-F238E27FC236}">
                <a16:creationId xmlns:a16="http://schemas.microsoft.com/office/drawing/2014/main" id="{82A85856-AB65-4AD2-8217-D0CC0498B3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1" y="4110038"/>
          <a:ext cx="2570163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854700" imgH="4000500" progId="Word.Document.8">
                  <p:embed/>
                </p:oleObj>
              </mc:Choice>
              <mc:Fallback>
                <p:oleObj name="Document" r:id="rId4" imgW="5854700" imgH="4000500" progId="Word.Document.8">
                  <p:embed/>
                  <p:pic>
                    <p:nvPicPr>
                      <p:cNvPr id="56325" name="Object 4">
                        <a:extLst>
                          <a:ext uri="{FF2B5EF4-FFF2-40B4-BE49-F238E27FC236}">
                            <a16:creationId xmlns:a16="http://schemas.microsoft.com/office/drawing/2014/main" id="{82A85856-AB65-4AD2-8217-D0CC0498B3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1" y="4110038"/>
                        <a:ext cx="2570163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5">
            <a:extLst>
              <a:ext uri="{FF2B5EF4-FFF2-40B4-BE49-F238E27FC236}">
                <a16:creationId xmlns:a16="http://schemas.microsoft.com/office/drawing/2014/main" id="{8638D4C7-8914-4DA0-BE51-37BE3BB3E1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45438" y="4105276"/>
          <a:ext cx="2570162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854700" imgH="4000500" progId="Word.Document.8">
                  <p:embed/>
                </p:oleObj>
              </mc:Choice>
              <mc:Fallback>
                <p:oleObj name="Document" r:id="rId6" imgW="5854700" imgH="4000500" progId="Word.Document.8">
                  <p:embed/>
                  <p:pic>
                    <p:nvPicPr>
                      <p:cNvPr id="56326" name="Object 5">
                        <a:extLst>
                          <a:ext uri="{FF2B5EF4-FFF2-40B4-BE49-F238E27FC236}">
                            <a16:creationId xmlns:a16="http://schemas.microsoft.com/office/drawing/2014/main" id="{8638D4C7-8914-4DA0-BE51-37BE3BB3E1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5438" y="4105276"/>
                        <a:ext cx="2570162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6">
            <a:extLst>
              <a:ext uri="{FF2B5EF4-FFF2-40B4-BE49-F238E27FC236}">
                <a16:creationId xmlns:a16="http://schemas.microsoft.com/office/drawing/2014/main" id="{2FB02977-C4A8-457C-A006-90F1908705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110039"/>
          <a:ext cx="3048000" cy="157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6210300" imgH="3187700" progId="Word.Document.8">
                  <p:embed/>
                </p:oleObj>
              </mc:Choice>
              <mc:Fallback>
                <p:oleObj name="Document" r:id="rId8" imgW="6210300" imgH="3187700" progId="Word.Document.8">
                  <p:embed/>
                  <p:pic>
                    <p:nvPicPr>
                      <p:cNvPr id="56327" name="Object 6">
                        <a:extLst>
                          <a:ext uri="{FF2B5EF4-FFF2-40B4-BE49-F238E27FC236}">
                            <a16:creationId xmlns:a16="http://schemas.microsoft.com/office/drawing/2014/main" id="{2FB02977-C4A8-457C-A006-90F1908705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110039"/>
                        <a:ext cx="3048000" cy="157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TextBox 1">
            <a:extLst>
              <a:ext uri="{FF2B5EF4-FFF2-40B4-BE49-F238E27FC236}">
                <a16:creationId xmlns:a16="http://schemas.microsoft.com/office/drawing/2014/main" id="{090AD5D0-5642-42A0-8C88-3BEB7A45A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1" y="5681664"/>
            <a:ext cx="1755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SplitINFO = 1.52</a:t>
            </a:r>
          </a:p>
        </p:txBody>
      </p:sp>
      <p:sp>
        <p:nvSpPr>
          <p:cNvPr id="56329" name="TextBox 12">
            <a:extLst>
              <a:ext uri="{FF2B5EF4-FFF2-40B4-BE49-F238E27FC236}">
                <a16:creationId xmlns:a16="http://schemas.microsoft.com/office/drawing/2014/main" id="{1FC54095-8ED7-4667-8FC3-853D0EC4B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1" y="5681664"/>
            <a:ext cx="1755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SplitINFO = 0.72</a:t>
            </a:r>
          </a:p>
        </p:txBody>
      </p:sp>
      <p:sp>
        <p:nvSpPr>
          <p:cNvPr id="56330" name="TextBox 13">
            <a:extLst>
              <a:ext uri="{FF2B5EF4-FFF2-40B4-BE49-F238E27FC236}">
                <a16:creationId xmlns:a16="http://schemas.microsoft.com/office/drawing/2014/main" id="{837FF49B-9493-4585-B527-212E5EF40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1" y="5638800"/>
            <a:ext cx="17557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SplitINFO = 0.97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5F59673-0A01-497D-9CE4-7A682E61BEA3}"/>
                  </a:ext>
                </a:extLst>
              </p:cNvPr>
              <p:cNvSpPr txBox="1"/>
              <p:nvPr/>
            </p:nvSpPr>
            <p:spPr>
              <a:xfrm>
                <a:off x="2878756" y="2399174"/>
                <a:ext cx="6818662" cy="87171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𝑅𝑎𝑡𝑖𝑜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𝐺𝑎𝑖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𝑠𝑝𝑙𝑖𝑡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𝑆𝑝𝑙𝑖𝑡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𝐼𝑛𝑓𝑜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𝑆𝑝𝑙𝑖𝑡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𝐼𝑛𝑓𝑜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5F59673-0A01-497D-9CE4-7A682E61B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756" y="2399174"/>
                <a:ext cx="6818662" cy="87171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05601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D866F26-FADC-4DC3-8B26-F5BFD39B8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/>
              <a:t>Measure of Impurity: Classification Error</a:t>
            </a:r>
            <a:endParaRPr lang="en-US" sz="6600" dirty="0"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83" name="Rectangle 3">
                <a:extLst>
                  <a:ext uri="{FF2B5EF4-FFF2-40B4-BE49-F238E27FC236}">
                    <a16:creationId xmlns:a16="http://schemas.microsoft.com/office/drawing/2014/main" id="{65C5A524-0CE4-4BF7-9AF0-750C19FE06D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Monotype Sorts" charset="0"/>
                  <a:buChar char="l"/>
                  <a:defRPr/>
                </a:pPr>
                <a:r>
                  <a:rPr lang="en-US" dirty="0">
                    <a:cs typeface="+mn-cs"/>
                  </a:rPr>
                  <a:t>Classification error at a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>
                  <a:cs typeface="+mn-cs"/>
                </a:endParaRPr>
              </a:p>
              <a:p>
                <a:pPr marL="342900" indent="-342900">
                  <a:buFont typeface="Monotype Sorts" charset="0"/>
                  <a:buChar char="l"/>
                  <a:defRPr/>
                </a:pPr>
                <a:endParaRPr lang="en-US" dirty="0">
                  <a:cs typeface="+mn-cs"/>
                </a:endParaRPr>
              </a:p>
              <a:p>
                <a:pPr marL="342900" indent="-342900">
                  <a:buFont typeface="Monotype Sorts" charset="0"/>
                  <a:buChar char="l"/>
                  <a:defRPr/>
                </a:pPr>
                <a:endParaRPr lang="en-US" dirty="0">
                  <a:cs typeface="+mn-cs"/>
                </a:endParaRP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endParaRPr lang="en-US" dirty="0"/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en-US" dirty="0"/>
                  <a:t>Maximum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1−1/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when records are equally distributed among all classes, implying the least interesting situation</a:t>
                </a:r>
              </a:p>
              <a:p>
                <a:pPr marL="742950" lvl="1" indent="-285750">
                  <a:buFont typeface="Arial" charset="0"/>
                  <a:buChar char="–"/>
                  <a:defRPr/>
                </a:pPr>
                <a:r>
                  <a:rPr lang="en-US" dirty="0"/>
                  <a:t>Minimum of 0 when all records belong to one class, implying the most interesting situation</a:t>
                </a:r>
              </a:p>
            </p:txBody>
          </p:sp>
        </mc:Choice>
        <mc:Fallback xmlns="">
          <p:sp>
            <p:nvSpPr>
              <p:cNvPr id="46083" name="Rectangle 3">
                <a:extLst>
                  <a:ext uri="{FF2B5EF4-FFF2-40B4-BE49-F238E27FC236}">
                    <a16:creationId xmlns:a16="http://schemas.microsoft.com/office/drawing/2014/main" id="{65C5A524-0CE4-4BF7-9AF0-750C19FE06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513" t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E94231-EC7E-4712-8238-A33C4AAA4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C67B08-F5DD-4AB5-BFFD-F35628EFF7D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F8608D-BB56-49C4-9747-DF039EF2D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5A85C-18BE-430E-ADFA-9967598E8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93D3DE-3006-4CC2-9A91-7E4C80B6FDC9}" type="slidenum">
              <a:rPr lang="en-US"/>
              <a:pPr>
                <a:defRPr/>
              </a:pPr>
              <a:t>47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AA0C4D-0C59-4BFA-A6F3-3CB425CAB844}"/>
                  </a:ext>
                </a:extLst>
              </p:cNvPr>
              <p:cNvSpPr txBox="1"/>
              <p:nvPr/>
            </p:nvSpPr>
            <p:spPr>
              <a:xfrm>
                <a:off x="3293297" y="2590801"/>
                <a:ext cx="3690048" cy="4832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𝐸𝑟𝑟𝑜𝑟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1 −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lim>
                      </m:limLow>
                      <m:r>
                        <a:rPr lang="en-US" sz="2400" i="1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AA0C4D-0C59-4BFA-A6F3-3CB425CAB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3297" y="2590801"/>
                <a:ext cx="3690048" cy="483209"/>
              </a:xfrm>
              <a:prstGeom prst="rect">
                <a:avLst/>
              </a:prstGeom>
              <a:blipFill>
                <a:blip r:embed="rId3"/>
                <a:stretch>
                  <a:fillRect l="-1155" r="-2310" b="-151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49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BAF0C745-CD98-4A1A-AB30-4315773BB3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000" dirty="0">
                <a:cs typeface="+mj-cs"/>
              </a:rPr>
              <a:t>Computing Error of a Single Node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173E6C-8C53-4DCA-B1CD-98445265A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E2497-6D0B-43DD-81E7-1637A862C646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712EEC-6179-4693-8F5E-28FFB003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5A619-028A-46F1-9A6D-1EB8314F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EFA7E-4E09-40EF-AB70-EBB452ADC926}" type="slidenum">
              <a:rPr lang="en-US"/>
              <a:pPr>
                <a:defRPr/>
              </a:pPr>
              <a:t>48</a:t>
            </a:fld>
            <a:endParaRPr lang="en-US"/>
          </a:p>
        </p:txBody>
      </p:sp>
      <p:graphicFrame>
        <p:nvGraphicFramePr>
          <p:cNvPr id="58370" name="Object 3">
            <a:extLst>
              <a:ext uri="{FF2B5EF4-FFF2-40B4-BE49-F238E27FC236}">
                <a16:creationId xmlns:a16="http://schemas.microsoft.com/office/drawing/2014/main" id="{6A48B403-AB3C-4FD0-8E61-791D9E764E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2852758"/>
          <a:ext cx="2362200" cy="728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238500" imgH="1357884" progId="Word.Document.8">
                  <p:embed/>
                </p:oleObj>
              </mc:Choice>
              <mc:Fallback>
                <p:oleObj name="Document" r:id="rId2" imgW="3238500" imgH="1357884" progId="Word.Document.8">
                  <p:embed/>
                  <p:pic>
                    <p:nvPicPr>
                      <p:cNvPr id="58370" name="Object 3">
                        <a:extLst>
                          <a:ext uri="{FF2B5EF4-FFF2-40B4-BE49-F238E27FC236}">
                            <a16:creationId xmlns:a16="http://schemas.microsoft.com/office/drawing/2014/main" id="{6A48B403-AB3C-4FD0-8E61-791D9E764E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852758"/>
                        <a:ext cx="2362200" cy="7286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1" name="Object 4">
            <a:extLst>
              <a:ext uri="{FF2B5EF4-FFF2-40B4-BE49-F238E27FC236}">
                <a16:creationId xmlns:a16="http://schemas.microsoft.com/office/drawing/2014/main" id="{7F74DCE7-9836-4233-8C29-3FB1164055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5518522"/>
          <a:ext cx="2286000" cy="729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38500" imgH="1382268" progId="Word.Document.8">
                  <p:embed/>
                </p:oleObj>
              </mc:Choice>
              <mc:Fallback>
                <p:oleObj name="Document" r:id="rId4" imgW="3238500" imgH="1382268" progId="Word.Document.8">
                  <p:embed/>
                  <p:pic>
                    <p:nvPicPr>
                      <p:cNvPr id="58371" name="Object 4">
                        <a:extLst>
                          <a:ext uri="{FF2B5EF4-FFF2-40B4-BE49-F238E27FC236}">
                            <a16:creationId xmlns:a16="http://schemas.microsoft.com/office/drawing/2014/main" id="{7F74DCE7-9836-4233-8C29-3FB1164055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518522"/>
                        <a:ext cx="2286000" cy="7298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5">
            <a:extLst>
              <a:ext uri="{FF2B5EF4-FFF2-40B4-BE49-F238E27FC236}">
                <a16:creationId xmlns:a16="http://schemas.microsoft.com/office/drawing/2014/main" id="{125CF67F-23C4-411B-9952-9BE05B9582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4324024"/>
          <a:ext cx="2286000" cy="705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238500" imgH="1357884" progId="Word.Document.8">
                  <p:embed/>
                </p:oleObj>
              </mc:Choice>
              <mc:Fallback>
                <p:oleObj name="Document" r:id="rId6" imgW="3238500" imgH="1357884" progId="Word.Document.8">
                  <p:embed/>
                  <p:pic>
                    <p:nvPicPr>
                      <p:cNvPr id="58372" name="Object 5">
                        <a:extLst>
                          <a:ext uri="{FF2B5EF4-FFF2-40B4-BE49-F238E27FC236}">
                            <a16:creationId xmlns:a16="http://schemas.microsoft.com/office/drawing/2014/main" id="{125CF67F-23C4-411B-9952-9BE05B9582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324024"/>
                        <a:ext cx="2286000" cy="705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Text Box 6">
            <a:extLst>
              <a:ext uri="{FF2B5EF4-FFF2-40B4-BE49-F238E27FC236}">
                <a16:creationId xmlns:a16="http://schemas.microsoft.com/office/drawing/2014/main" id="{DF232E83-3B46-424E-A516-44BC9A1FC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727326"/>
            <a:ext cx="594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P(C1) = 0/6 = 0     P(C2) = 6/6 = 1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Error = 1 – max (0, 1) = 1 – 1 = 0 </a:t>
            </a:r>
          </a:p>
        </p:txBody>
      </p:sp>
      <p:sp>
        <p:nvSpPr>
          <p:cNvPr id="58374" name="Text Box 7">
            <a:extLst>
              <a:ext uri="{FF2B5EF4-FFF2-40B4-BE49-F238E27FC236}">
                <a16:creationId xmlns:a16="http://schemas.microsoft.com/office/drawing/2014/main" id="{C5B8324E-89A1-4D1E-A5A2-326BC8494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251326"/>
            <a:ext cx="5105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P(C1) = 1/6          P(C2) = 5/6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Error = 1 – max (1/6, 5/6) = 1 – 5/6 = 1/6</a:t>
            </a:r>
          </a:p>
        </p:txBody>
      </p:sp>
      <p:sp>
        <p:nvSpPr>
          <p:cNvPr id="58375" name="Text Box 8">
            <a:extLst>
              <a:ext uri="{FF2B5EF4-FFF2-40B4-BE49-F238E27FC236}">
                <a16:creationId xmlns:a16="http://schemas.microsoft.com/office/drawing/2014/main" id="{19CD679F-69B6-4B8A-9098-F1E7BC6B1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394326"/>
            <a:ext cx="6172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P(C1) = 2/6          P(C2) = 4/6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dirty="0"/>
              <a:t>Error = 1 – max (2/6, 4/6) = 1 – 4/6 = 1/3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64493B-930D-455B-9DE3-54A534D6C39F}"/>
                  </a:ext>
                </a:extLst>
              </p:cNvPr>
              <p:cNvSpPr txBox="1"/>
              <p:nvPr/>
            </p:nvSpPr>
            <p:spPr>
              <a:xfrm>
                <a:off x="3429000" y="1954116"/>
                <a:ext cx="4304768" cy="56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𝐸𝑟𝑟𝑜𝑟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1 −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lim>
                      </m:limLow>
                      <m:r>
                        <a:rPr lang="en-US" sz="2800" i="1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964493B-930D-455B-9DE3-54A534D6C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1954116"/>
                <a:ext cx="4304768" cy="5636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747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B8CD58B2-C215-42EA-99AE-465A35C199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Comparison among Impurity Measures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2C0FD-1643-413F-A280-453E21802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331473-0E76-466C-AB6D-37EC6A8C300E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B36D0A-2036-4D71-914C-82F886F18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19EBA-2491-4981-9445-6A292A42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3406A5-55CE-4E30-887A-CB23CAA2D1E5}" type="slidenum">
              <a:rPr lang="en-US"/>
              <a:pPr>
                <a:defRPr/>
              </a:pPr>
              <a:t>49</a:t>
            </a:fld>
            <a:endParaRPr lang="en-US"/>
          </a:p>
        </p:txBody>
      </p:sp>
      <p:pic>
        <p:nvPicPr>
          <p:cNvPr id="59394" name="Picture 3">
            <a:extLst>
              <a:ext uri="{FF2B5EF4-FFF2-40B4-BE49-F238E27FC236}">
                <a16:creationId xmlns:a16="http://schemas.microsoft.com/office/drawing/2014/main" id="{82D9F279-81C1-4787-A9EE-E80B051BA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608996"/>
            <a:ext cx="6248400" cy="3791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Text Box 4">
            <a:extLst>
              <a:ext uri="{FF2B5EF4-FFF2-40B4-BE49-F238E27FC236}">
                <a16:creationId xmlns:a16="http://schemas.microsoft.com/office/drawing/2014/main" id="{71577A7D-B33F-45DB-BD8E-5BC6AF1E3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960" y="1923295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/>
              <a:t>For a 2-class problem:</a:t>
            </a:r>
          </a:p>
        </p:txBody>
      </p:sp>
    </p:spTree>
    <p:extLst>
      <p:ext uri="{BB962C8B-B14F-4D97-AF65-F5344CB8AC3E}">
        <p14:creationId xmlns:p14="http://schemas.microsoft.com/office/powerpoint/2010/main" val="15071238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C50AAA92-139F-4E27-A211-2D918A463E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Misclassification Error vs Gini Index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EB0E44-C254-449D-B370-51531115C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395791-9D2C-4FE1-AAEF-4652A5BC4185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CD1A1-E553-4BBC-AC73-67AC68D82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2DDCC-86D0-43C0-9407-AAAEE5470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A2910C-62C3-4E90-9528-AB415EE2307C}" type="slidenum">
              <a:rPr lang="en-US"/>
              <a:pPr>
                <a:defRPr/>
              </a:pPr>
              <a:t>50</a:t>
            </a:fld>
            <a:endParaRPr lang="en-US"/>
          </a:p>
        </p:txBody>
      </p:sp>
      <p:sp>
        <p:nvSpPr>
          <p:cNvPr id="60418" name="Oval 3">
            <a:extLst>
              <a:ext uri="{FF2B5EF4-FFF2-40B4-BE49-F238E27FC236}">
                <a16:creationId xmlns:a16="http://schemas.microsoft.com/office/drawing/2014/main" id="{521D2FC1-D78E-4856-8B92-C0B61DA0A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811834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A?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0419" name="Line 4">
            <a:extLst>
              <a:ext uri="{FF2B5EF4-FFF2-40B4-BE49-F238E27FC236}">
                <a16:creationId xmlns:a16="http://schemas.microsoft.com/office/drawing/2014/main" id="{06C45276-07CE-4CA0-91E7-F3D02A20A8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49726" y="2269033"/>
            <a:ext cx="11080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0" name="Line 5">
            <a:extLst>
              <a:ext uri="{FF2B5EF4-FFF2-40B4-BE49-F238E27FC236}">
                <a16:creationId xmlns:a16="http://schemas.microsoft.com/office/drawing/2014/main" id="{C2495EB5-DE93-421E-8F23-30090A3954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1" y="2269033"/>
            <a:ext cx="11842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1" name="Text Box 6">
            <a:extLst>
              <a:ext uri="{FF2B5EF4-FFF2-40B4-BE49-F238E27FC236}">
                <a16:creationId xmlns:a16="http://schemas.microsoft.com/office/drawing/2014/main" id="{94D08963-44A0-491A-9F12-26CFFCC80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6675" y="2384921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60422" name="Text Box 7">
            <a:extLst>
              <a:ext uri="{FF2B5EF4-FFF2-40B4-BE49-F238E27FC236}">
                <a16:creationId xmlns:a16="http://schemas.microsoft.com/office/drawing/2014/main" id="{14219415-2588-4D79-9FA5-64555E040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75" y="2384921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60423" name="Rectangle 8">
            <a:extLst>
              <a:ext uri="{FF2B5EF4-FFF2-40B4-BE49-F238E27FC236}">
                <a16:creationId xmlns:a16="http://schemas.microsoft.com/office/drawing/2014/main" id="{BF248E79-A5A2-48FC-82B3-068BB182C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1" y="2994521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Node N1</a:t>
            </a:r>
          </a:p>
        </p:txBody>
      </p:sp>
      <p:sp>
        <p:nvSpPr>
          <p:cNvPr id="60424" name="Rectangle 9">
            <a:extLst>
              <a:ext uri="{FF2B5EF4-FFF2-40B4-BE49-F238E27FC236}">
                <a16:creationId xmlns:a16="http://schemas.microsoft.com/office/drawing/2014/main" id="{C81A9C04-F004-4D25-93FB-79EAA08FD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76" y="2994521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Node N2</a:t>
            </a:r>
          </a:p>
        </p:txBody>
      </p:sp>
      <p:graphicFrame>
        <p:nvGraphicFramePr>
          <p:cNvPr id="60425" name="Object 10">
            <a:extLst>
              <a:ext uri="{FF2B5EF4-FFF2-40B4-BE49-F238E27FC236}">
                <a16:creationId xmlns:a16="http://schemas.microsoft.com/office/drawing/2014/main" id="{278EF872-5ADD-4FBE-BB9A-BEB0E98567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2700" y="1826738"/>
          <a:ext cx="1968500" cy="189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177540" imgH="3054096" progId="Word.Document.8">
                  <p:embed/>
                </p:oleObj>
              </mc:Choice>
              <mc:Fallback>
                <p:oleObj name="Document" r:id="rId2" imgW="3177540" imgH="3054096" progId="Word.Document.8">
                  <p:embed/>
                  <p:pic>
                    <p:nvPicPr>
                      <p:cNvPr id="60425" name="Object 10">
                        <a:extLst>
                          <a:ext uri="{FF2B5EF4-FFF2-40B4-BE49-F238E27FC236}">
                            <a16:creationId xmlns:a16="http://schemas.microsoft.com/office/drawing/2014/main" id="{278EF872-5ADD-4FBE-BB9A-BEB0E98567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1826738"/>
                        <a:ext cx="1968500" cy="189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6" name="Object 11">
            <a:extLst>
              <a:ext uri="{FF2B5EF4-FFF2-40B4-BE49-F238E27FC236}">
                <a16:creationId xmlns:a16="http://schemas.microsoft.com/office/drawing/2014/main" id="{6BF92EE1-84FD-43CF-95D8-C1452CC797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3733801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76600" imgH="2552700" progId="Word.Document.8">
                  <p:embed/>
                </p:oleObj>
              </mc:Choice>
              <mc:Fallback>
                <p:oleObj name="Document" r:id="rId4" imgW="3276600" imgH="2552700" progId="Word.Document.8">
                  <p:embed/>
                  <p:pic>
                    <p:nvPicPr>
                      <p:cNvPr id="60426" name="Object 11">
                        <a:extLst>
                          <a:ext uri="{FF2B5EF4-FFF2-40B4-BE49-F238E27FC236}">
                            <a16:creationId xmlns:a16="http://schemas.microsoft.com/office/drawing/2014/main" id="{6BF92EE1-84FD-43CF-95D8-C1452CC797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733801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7" name="Text Box 12">
            <a:extLst>
              <a:ext uri="{FF2B5EF4-FFF2-40B4-BE49-F238E27FC236}">
                <a16:creationId xmlns:a16="http://schemas.microsoft.com/office/drawing/2014/main" id="{92341F56-3066-4D05-9D52-438BF4234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581401"/>
            <a:ext cx="24384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Gini(N1) </a:t>
            </a:r>
            <a:br>
              <a:rPr lang="en-US" altLang="en-US" sz="2000"/>
            </a:br>
            <a:r>
              <a:rPr lang="en-US" altLang="en-US" sz="2000"/>
              <a:t>= 1 – (3/3)</a:t>
            </a:r>
            <a:r>
              <a:rPr lang="en-US" altLang="en-US" sz="2000" baseline="30000"/>
              <a:t>2 </a:t>
            </a:r>
            <a:r>
              <a:rPr lang="en-US" altLang="en-US" sz="2000"/>
              <a:t>– (0/3)</a:t>
            </a:r>
            <a:r>
              <a:rPr lang="en-US" altLang="en-US" sz="2000" baseline="30000"/>
              <a:t>2</a:t>
            </a:r>
            <a:r>
              <a:rPr lang="en-US" altLang="en-US" sz="2000"/>
              <a:t> </a:t>
            </a:r>
            <a:br>
              <a:rPr lang="en-US" altLang="en-US" sz="2000"/>
            </a:br>
            <a:r>
              <a:rPr lang="en-US" altLang="en-US" sz="2000"/>
              <a:t>= 0 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Gini(N2) </a:t>
            </a:r>
            <a:br>
              <a:rPr lang="en-US" altLang="en-US" sz="2000"/>
            </a:br>
            <a:r>
              <a:rPr lang="en-US" altLang="en-US" sz="2000"/>
              <a:t>= 1 – (4/7)</a:t>
            </a:r>
            <a:r>
              <a:rPr lang="en-US" altLang="en-US" sz="2000" baseline="30000"/>
              <a:t>2 </a:t>
            </a:r>
            <a:r>
              <a:rPr lang="en-US" altLang="en-US" sz="2000"/>
              <a:t>– (3/7)</a:t>
            </a:r>
            <a:r>
              <a:rPr lang="en-US" altLang="en-US" sz="2000" baseline="30000"/>
              <a:t>2</a:t>
            </a:r>
            <a:r>
              <a:rPr lang="en-US" altLang="en-US" sz="2000"/>
              <a:t> </a:t>
            </a:r>
            <a:br>
              <a:rPr lang="en-US" altLang="en-US" sz="2000"/>
            </a:br>
            <a:r>
              <a:rPr lang="en-US" altLang="en-US" sz="2000"/>
              <a:t>= 0.489</a:t>
            </a:r>
          </a:p>
        </p:txBody>
      </p:sp>
      <p:sp>
        <p:nvSpPr>
          <p:cNvPr id="60428" name="Text Box 13">
            <a:extLst>
              <a:ext uri="{FF2B5EF4-FFF2-40B4-BE49-F238E27FC236}">
                <a16:creationId xmlns:a16="http://schemas.microsoft.com/office/drawing/2014/main" id="{7E14F35B-24E8-44E0-9FCE-87AD3920C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3810001"/>
            <a:ext cx="2438400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Gini(Children) </a:t>
            </a:r>
            <a:br>
              <a:rPr lang="en-US" altLang="en-US" sz="2000"/>
            </a:br>
            <a:r>
              <a:rPr lang="en-US" altLang="en-US" sz="2000"/>
              <a:t>= 3/10 * 0 </a:t>
            </a:r>
            <a:br>
              <a:rPr lang="en-US" altLang="en-US" sz="2000"/>
            </a:br>
            <a:r>
              <a:rPr lang="en-US" altLang="en-US" sz="2000"/>
              <a:t>+ 7/10 * 0.489</a:t>
            </a:r>
            <a:br>
              <a:rPr lang="en-US" altLang="en-US" sz="2000"/>
            </a:br>
            <a:r>
              <a:rPr lang="en-US" altLang="en-US" sz="2000"/>
              <a:t>= 0.342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Gini improves but error remains the same!!</a:t>
            </a:r>
          </a:p>
        </p:txBody>
      </p:sp>
    </p:spTree>
    <p:extLst>
      <p:ext uri="{BB962C8B-B14F-4D97-AF65-F5344CB8AC3E}">
        <p14:creationId xmlns:p14="http://schemas.microsoft.com/office/powerpoint/2010/main" val="12053881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43D804FB-F39F-4A31-8110-86F1CC947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Misclassification Error vs Gini Index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3EAF0-DDE0-4C59-AA56-F6B0E9FB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E9B84D-D322-4D03-B2CC-1BE96BB2EF3B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9247A-6C4B-4857-9638-B2D0886F1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B10D9-89A4-4963-B7B5-54D001965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F58235-7CDB-4D69-B45A-EA0C3A971689}" type="slidenum">
              <a:rPr lang="en-US"/>
              <a:pPr>
                <a:defRPr/>
              </a:pPr>
              <a:t>51</a:t>
            </a:fld>
            <a:endParaRPr lang="en-US"/>
          </a:p>
        </p:txBody>
      </p:sp>
      <p:sp>
        <p:nvSpPr>
          <p:cNvPr id="61442" name="Oval 3">
            <a:extLst>
              <a:ext uri="{FF2B5EF4-FFF2-40B4-BE49-F238E27FC236}">
                <a16:creationId xmlns:a16="http://schemas.microsoft.com/office/drawing/2014/main" id="{2350CCC0-71C3-40C2-859C-DCA7846EB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1906588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A?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1443" name="Line 4">
            <a:extLst>
              <a:ext uri="{FF2B5EF4-FFF2-40B4-BE49-F238E27FC236}">
                <a16:creationId xmlns:a16="http://schemas.microsoft.com/office/drawing/2014/main" id="{2A0A5407-5B22-47AE-B968-4BF6E95872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73526" y="2363787"/>
            <a:ext cx="11080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4" name="Line 5">
            <a:extLst>
              <a:ext uri="{FF2B5EF4-FFF2-40B4-BE49-F238E27FC236}">
                <a16:creationId xmlns:a16="http://schemas.microsoft.com/office/drawing/2014/main" id="{A8904E68-A1E2-42F4-9B8F-8A67D289FA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1" y="2363787"/>
            <a:ext cx="11842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5" name="Text Box 6">
            <a:extLst>
              <a:ext uri="{FF2B5EF4-FFF2-40B4-BE49-F238E27FC236}">
                <a16:creationId xmlns:a16="http://schemas.microsoft.com/office/drawing/2014/main" id="{EED1957E-B7AF-4F67-B490-AE2DAF784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0475" y="2479675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61446" name="Text Box 7">
            <a:extLst>
              <a:ext uri="{FF2B5EF4-FFF2-40B4-BE49-F238E27FC236}">
                <a16:creationId xmlns:a16="http://schemas.microsoft.com/office/drawing/2014/main" id="{1C64C75C-7900-40CA-921E-E90EC1E20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9675" y="2479675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61447" name="Rectangle 8">
            <a:extLst>
              <a:ext uri="{FF2B5EF4-FFF2-40B4-BE49-F238E27FC236}">
                <a16:creationId xmlns:a16="http://schemas.microsoft.com/office/drawing/2014/main" id="{2598FD4C-49E8-49DF-8472-D812C4341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1" y="3089275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Node N1</a:t>
            </a:r>
          </a:p>
        </p:txBody>
      </p:sp>
      <p:sp>
        <p:nvSpPr>
          <p:cNvPr id="61448" name="Rectangle 9">
            <a:extLst>
              <a:ext uri="{FF2B5EF4-FFF2-40B4-BE49-F238E27FC236}">
                <a16:creationId xmlns:a16="http://schemas.microsoft.com/office/drawing/2014/main" id="{7B4247D2-1FC7-470E-BFFB-88A1F7B4D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5176" y="3089275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Node N2</a:t>
            </a:r>
          </a:p>
        </p:txBody>
      </p:sp>
      <p:graphicFrame>
        <p:nvGraphicFramePr>
          <p:cNvPr id="61449" name="Object 10">
            <a:extLst>
              <a:ext uri="{FF2B5EF4-FFF2-40B4-BE49-F238E27FC236}">
                <a16:creationId xmlns:a16="http://schemas.microsoft.com/office/drawing/2014/main" id="{EDFD8564-0189-4A7D-942C-14A126A519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67638" y="1828801"/>
          <a:ext cx="1968500" cy="189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177540" imgH="3054096" progId="Word.Document.8">
                  <p:embed/>
                </p:oleObj>
              </mc:Choice>
              <mc:Fallback>
                <p:oleObj name="Document" r:id="rId2" imgW="3177540" imgH="3054096" progId="Word.Document.8">
                  <p:embed/>
                  <p:pic>
                    <p:nvPicPr>
                      <p:cNvPr id="61449" name="Object 10">
                        <a:extLst>
                          <a:ext uri="{FF2B5EF4-FFF2-40B4-BE49-F238E27FC236}">
                            <a16:creationId xmlns:a16="http://schemas.microsoft.com/office/drawing/2014/main" id="{EDFD8564-0189-4A7D-942C-14A126A519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7638" y="1828801"/>
                        <a:ext cx="1968500" cy="189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0" name="Object 11">
            <a:extLst>
              <a:ext uri="{FF2B5EF4-FFF2-40B4-BE49-F238E27FC236}">
                <a16:creationId xmlns:a16="http://schemas.microsoft.com/office/drawing/2014/main" id="{49BCA00E-76E1-4C1F-97F9-52C92EF599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3733801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3276600" imgH="2552700" progId="Word.Document.8">
                  <p:embed/>
                </p:oleObj>
              </mc:Choice>
              <mc:Fallback>
                <p:oleObj name="Document" r:id="rId4" imgW="3276600" imgH="2552700" progId="Word.Document.8">
                  <p:embed/>
                  <p:pic>
                    <p:nvPicPr>
                      <p:cNvPr id="61450" name="Object 11">
                        <a:extLst>
                          <a:ext uri="{FF2B5EF4-FFF2-40B4-BE49-F238E27FC236}">
                            <a16:creationId xmlns:a16="http://schemas.microsoft.com/office/drawing/2014/main" id="{49BCA00E-76E1-4C1F-97F9-52C92EF599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733801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1" name="Object 1">
            <a:extLst>
              <a:ext uri="{FF2B5EF4-FFF2-40B4-BE49-F238E27FC236}">
                <a16:creationId xmlns:a16="http://schemas.microsoft.com/office/drawing/2014/main" id="{28EE0492-72C7-486F-97A8-900351FC45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3733800"/>
          <a:ext cx="18669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3276600" imgH="2552700" progId="Word.Document.8">
                  <p:embed/>
                </p:oleObj>
              </mc:Choice>
              <mc:Fallback>
                <p:oleObj name="Document" r:id="rId6" imgW="3276600" imgH="2552700" progId="Word.Document.8">
                  <p:embed/>
                  <p:pic>
                    <p:nvPicPr>
                      <p:cNvPr id="61451" name="Object 1">
                        <a:extLst>
                          <a:ext uri="{FF2B5EF4-FFF2-40B4-BE49-F238E27FC236}">
                            <a16:creationId xmlns:a16="http://schemas.microsoft.com/office/drawing/2014/main" id="{28EE0492-72C7-486F-97A8-900351FC45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733800"/>
                        <a:ext cx="18669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2" name="TextBox 2">
            <a:extLst>
              <a:ext uri="{FF2B5EF4-FFF2-40B4-BE49-F238E27FC236}">
                <a16:creationId xmlns:a16="http://schemas.microsoft.com/office/drawing/2014/main" id="{13CD9EEA-A238-475D-A016-6AAEFB585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3350" y="5624513"/>
            <a:ext cx="6089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Misclassification error for all three cases = 0.3 ! </a:t>
            </a:r>
          </a:p>
        </p:txBody>
      </p:sp>
    </p:spTree>
    <p:extLst>
      <p:ext uri="{BB962C8B-B14F-4D97-AF65-F5344CB8AC3E}">
        <p14:creationId xmlns:p14="http://schemas.microsoft.com/office/powerpoint/2010/main" val="41422516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00E24C15-58FA-49A4-8662-2087F7A40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Decision Tree Based Classification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65DEAFD4-4EBE-4E06-9D98-38639A5524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sz="2400" dirty="0"/>
              <a:t>Advantages: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1800" dirty="0"/>
              <a:t>Relatively inexpensive to construct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1800" dirty="0"/>
              <a:t>Extremely fast at classifying unknown records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1800" dirty="0"/>
              <a:t>Easy to interpret for small-sized trees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1800" dirty="0"/>
              <a:t>Robust to noise (especially when methods to avoid overfitting are employed)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1800" dirty="0"/>
              <a:t>Can easily handle redundant attributes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1800" dirty="0"/>
              <a:t>Can easily handle irrelevant attributes (unless the attributes are </a:t>
            </a:r>
            <a:r>
              <a:rPr lang="en-US" sz="1800" dirty="0">
                <a:solidFill>
                  <a:srgbClr val="FF0000"/>
                </a:solidFill>
              </a:rPr>
              <a:t>interacting</a:t>
            </a:r>
            <a:r>
              <a:rPr lang="en-US" sz="1800" dirty="0"/>
              <a:t>)</a:t>
            </a:r>
          </a:p>
          <a:p>
            <a:pPr>
              <a:buFont typeface="Monotype Sorts" charset="0"/>
              <a:buChar char="l"/>
              <a:defRPr/>
            </a:pPr>
            <a:r>
              <a:rPr lang="en-US" sz="2400" dirty="0"/>
              <a:t>Disadvantages: </a:t>
            </a:r>
            <a:r>
              <a:rPr lang="en-US" sz="2200" dirty="0"/>
              <a:t>.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1800" dirty="0"/>
              <a:t>Due to the greedy nature of splitting criterion,  </a:t>
            </a:r>
            <a:r>
              <a:rPr lang="en-US" sz="1800" dirty="0">
                <a:solidFill>
                  <a:srgbClr val="FF0000"/>
                </a:solidFill>
              </a:rPr>
              <a:t>interacting</a:t>
            </a:r>
            <a:r>
              <a:rPr lang="en-US" sz="1800" dirty="0"/>
              <a:t> attributes (that can distinguish between classes together but not individually) may be passed over in favor of other attributed that are less discriminating.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1800" dirty="0"/>
              <a:t>Each decision boundary involves only a single attribute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38AFE2-E916-42F8-A85A-3ED6DECD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BD600F-8731-448A-A3AD-FEAC0FE88B93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EDCFFA-53F9-4105-AE62-9992C18D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B0636-CCAF-4D60-9694-05C2B7806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20E007-BACA-4EDA-9D4C-E31FAF01E3B4}" type="slidenum">
              <a:rPr lang="en-US"/>
              <a:pPr>
                <a:defRPr/>
              </a:pPr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0717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92B5CC71-6962-4F09-866D-0D9DB0AD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cs typeface="+mj-cs"/>
              </a:rPr>
              <a:t>Handling interactions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ECBE18-74D9-43DA-9E87-15853FE7F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0B8E1E-2751-465D-8721-323D5DDD00E2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78E8C8-2F8B-4FC4-81FC-9E5915D44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D331A-700F-47F1-BA2F-C8A274721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8E6DBA-7726-4D4D-9332-A60DF1A4A5B7}" type="slidenum">
              <a:rPr lang="en-US"/>
              <a:pPr>
                <a:defRPr/>
              </a:pPr>
              <a:t>53</a:t>
            </a:fld>
            <a:endParaRPr lang="en-US"/>
          </a:p>
        </p:txBody>
      </p:sp>
      <p:pic>
        <p:nvPicPr>
          <p:cNvPr id="63490" name="Content Placeholder 1">
            <a:extLst>
              <a:ext uri="{FF2B5EF4-FFF2-40B4-BE49-F238E27FC236}">
                <a16:creationId xmlns:a16="http://schemas.microsoft.com/office/drawing/2014/main" id="{3B3E73F0-959A-4FB4-AF44-A4C0FE0E1C4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3" b="4614"/>
          <a:stretch>
            <a:fillRect/>
          </a:stretch>
        </p:blipFill>
        <p:spPr bwMode="auto">
          <a:xfrm>
            <a:off x="2586839" y="2286001"/>
            <a:ext cx="340360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1" name="TextBox 14">
            <a:extLst>
              <a:ext uri="{FF2B5EF4-FFF2-40B4-BE49-F238E27FC236}">
                <a16:creationId xmlns:a16="http://schemas.microsoft.com/office/drawing/2014/main" id="{2EFC5933-A3ED-4A1C-89CE-CCD7B5641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9239" y="4700587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X </a:t>
            </a:r>
          </a:p>
        </p:txBody>
      </p:sp>
      <p:sp>
        <p:nvSpPr>
          <p:cNvPr id="63492" name="TextBox 15">
            <a:extLst>
              <a:ext uri="{FF2B5EF4-FFF2-40B4-BE49-F238E27FC236}">
                <a16:creationId xmlns:a16="http://schemas.microsoft.com/office/drawing/2014/main" id="{85EBA5FD-5B67-47F2-85B9-749742CC2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0277" y="3328987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Y</a:t>
            </a:r>
          </a:p>
        </p:txBody>
      </p:sp>
      <p:sp>
        <p:nvSpPr>
          <p:cNvPr id="63493" name="TextBox 16">
            <a:extLst>
              <a:ext uri="{FF2B5EF4-FFF2-40B4-BE49-F238E27FC236}">
                <a16:creationId xmlns:a16="http://schemas.microsoft.com/office/drawing/2014/main" id="{93B16D29-273C-4290-A7FA-A91354ADB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3439" y="2490787"/>
            <a:ext cx="2362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70C0"/>
                </a:solidFill>
              </a:rPr>
              <a:t>+ : 1000 instances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70C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o : 1000 instances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63494" name="TextBox 17">
            <a:extLst>
              <a:ext uri="{FF2B5EF4-FFF2-40B4-BE49-F238E27FC236}">
                <a16:creationId xmlns:a16="http://schemas.microsoft.com/office/drawing/2014/main" id="{2377FC01-AA49-4CB2-8228-D58D50C2B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6439" y="2490788"/>
            <a:ext cx="23622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Entropy (X) : 0.99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Entropy (Y) : 0.99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3332975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BFFAF9-FFF5-4B8D-9FDD-03B78D90D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912" y="1828800"/>
            <a:ext cx="6061896" cy="393479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2B5CC71-6962-4F09-866D-0D9DB0ADE012}"/>
              </a:ext>
            </a:extLst>
          </p:cNvPr>
          <p:cNvSpPr txBox="1">
            <a:spLocks/>
          </p:cNvSpPr>
          <p:nvPr/>
        </p:nvSpPr>
        <p:spPr>
          <a:xfrm>
            <a:off x="1905000" y="31750"/>
            <a:ext cx="8280400" cy="6540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defTabSz="914400" eaLnBrk="1" latinLnBrk="0" hangingPunct="1">
              <a:lnSpc>
                <a:spcPct val="85000"/>
              </a:lnSpc>
              <a:buNone/>
              <a:defRPr sz="48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interactions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768609-1E6B-4A02-9168-69CCDA1C3351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E10A9-468F-43A0-AA1F-444D5252CD82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3177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442E29D4-5500-4AC3-923C-9BE1491B2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Handling interactions given irrelevant attributes</a:t>
            </a:r>
          </a:p>
        </p:txBody>
      </p:sp>
      <p:pic>
        <p:nvPicPr>
          <p:cNvPr id="64514" name="Content Placeholder 1">
            <a:extLst>
              <a:ext uri="{FF2B5EF4-FFF2-40B4-BE49-F238E27FC236}">
                <a16:creationId xmlns:a16="http://schemas.microsoft.com/office/drawing/2014/main" id="{E34332D5-45D5-4D66-AF17-F449925A8D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3" t="-2" b="7790"/>
          <a:stretch>
            <a:fillRect/>
          </a:stretch>
        </p:blipFill>
        <p:spPr>
          <a:xfrm>
            <a:off x="2266942" y="1722565"/>
            <a:ext cx="3403600" cy="2513012"/>
          </a:xfr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91BD1B-5CAF-42B1-ADBE-CB5419515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1D72AE-225A-4768-BE3C-6C2C5893E894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EF8E4F-CBE2-4311-90C0-A4312685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2F92D-E9BA-4EEA-A6E9-24C8CA047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822617-F225-481C-ACCD-76CA721250CA}" type="slidenum">
              <a:rPr lang="en-US"/>
              <a:pPr>
                <a:defRPr/>
              </a:pPr>
              <a:t>55</a:t>
            </a:fld>
            <a:endParaRPr lang="en-US"/>
          </a:p>
        </p:txBody>
      </p:sp>
      <p:sp>
        <p:nvSpPr>
          <p:cNvPr id="64515" name="TextBox 2">
            <a:extLst>
              <a:ext uri="{FF2B5EF4-FFF2-40B4-BE49-F238E27FC236}">
                <a16:creationId xmlns:a16="http://schemas.microsoft.com/office/drawing/2014/main" id="{F2DE8A23-4E6D-4D3E-836F-18200719B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42" y="1927353"/>
            <a:ext cx="23622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70C0"/>
                </a:solidFill>
              </a:rPr>
              <a:t>+ : 1000 instances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70C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o : 1000 instances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Adding Z as a noisy attribute generated from a uniform distribution</a:t>
            </a:r>
          </a:p>
        </p:txBody>
      </p:sp>
      <p:sp>
        <p:nvSpPr>
          <p:cNvPr id="64518" name="TextBox 7">
            <a:extLst>
              <a:ext uri="{FF2B5EF4-FFF2-40B4-BE49-F238E27FC236}">
                <a16:creationId xmlns:a16="http://schemas.microsoft.com/office/drawing/2014/main" id="{0D852AD3-8DD8-4EB8-BC2A-2F13C9810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380" y="2765552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E1AEE2-4C10-471D-AA2C-BE286E89E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5645" y="1930988"/>
            <a:ext cx="243840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Entropy (X) : 0.99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Entropy (Y) : 0.99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Entropy (Z) : 0.98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B050"/>
                </a:solidFill>
              </a:rPr>
              <a:t>Attribute Z will be chosen for splitting!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64524" name="TextBox 14">
            <a:extLst>
              <a:ext uri="{FF2B5EF4-FFF2-40B4-BE49-F238E27FC236}">
                <a16:creationId xmlns:a16="http://schemas.microsoft.com/office/drawing/2014/main" id="{379E2861-FDF3-4B26-9EB0-58817002D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9342" y="4137152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X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407" y="3798115"/>
            <a:ext cx="2743438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46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28B9DE5C-B1E5-46DA-8E9D-030275439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8839200" cy="533400"/>
          </a:xfrm>
        </p:spPr>
        <p:txBody>
          <a:bodyPr/>
          <a:lstStyle/>
          <a:p>
            <a:pPr>
              <a:defRPr/>
            </a:pPr>
            <a:r>
              <a:rPr lang="en-US" sz="2300"/>
              <a:t>Limitations of single attribute-based decision boundaries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5289F7-C102-427A-AE70-6967FA443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945164-3EA5-40DF-9C8D-8A3F9C85861F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1BCD97-90F3-4FDC-94D7-447FE190F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Prasenjit Dey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A9820-9662-46A6-ADDE-3DD2ED14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D22FE4-A033-49DE-ADF8-701A1E3A2782}" type="slidenum">
              <a:rPr lang="en-US"/>
              <a:pPr>
                <a:defRPr/>
              </a:pPr>
              <a:t>56</a:t>
            </a:fld>
            <a:endParaRPr lang="en-US"/>
          </a:p>
        </p:txBody>
      </p:sp>
      <p:sp>
        <p:nvSpPr>
          <p:cNvPr id="65538" name="TextBox 6">
            <a:extLst>
              <a:ext uri="{FF2B5EF4-FFF2-40B4-BE49-F238E27FC236}">
                <a16:creationId xmlns:a16="http://schemas.microsoft.com/office/drawing/2014/main" id="{E95BB08C-0E14-45E2-AC8C-BC881E1BA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0300" y="1828800"/>
            <a:ext cx="28956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Both</a:t>
            </a:r>
            <a:r>
              <a:rPr lang="en-US" altLang="en-US" sz="2000">
                <a:solidFill>
                  <a:srgbClr val="0070C0"/>
                </a:solidFill>
              </a:rPr>
              <a:t> positive (+)</a:t>
            </a:r>
            <a:r>
              <a:rPr lang="en-US" altLang="en-US" sz="2000"/>
              <a:t> and </a:t>
            </a:r>
            <a:r>
              <a:rPr lang="en-US" altLang="en-US" sz="2000">
                <a:solidFill>
                  <a:srgbClr val="FF0000"/>
                </a:solidFill>
              </a:rPr>
              <a:t>negative (o)</a:t>
            </a:r>
            <a:r>
              <a:rPr lang="en-US" altLang="en-US" sz="2000"/>
              <a:t> classes generated from skewed Gaussians with centers at (8,8) and (12,12) respectively.  </a:t>
            </a:r>
          </a:p>
        </p:txBody>
      </p:sp>
      <p:pic>
        <p:nvPicPr>
          <p:cNvPr id="54277" name="Picture 5" descr="C:\Users\Ankush\Desktop\oblique.png">
            <a:extLst>
              <a:ext uri="{FF2B5EF4-FFF2-40B4-BE49-F238E27FC236}">
                <a16:creationId xmlns:a16="http://schemas.microsoft.com/office/drawing/2014/main" id="{93784B9D-FD2B-40CC-9FDB-89EA55059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1524000"/>
            <a:ext cx="6197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8" name="Picture 6" descr="C:\Users\Ankush\Desktop\oblique2.png">
            <a:extLst>
              <a:ext uri="{FF2B5EF4-FFF2-40B4-BE49-F238E27FC236}">
                <a16:creationId xmlns:a16="http://schemas.microsoft.com/office/drawing/2014/main" id="{D841BE94-8CBB-42F3-8704-27D836DF4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0" y="1524001"/>
            <a:ext cx="6184900" cy="463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7246920" y="3593520"/>
              <a:ext cx="210960" cy="1818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39360" y="3587400"/>
                <a:ext cx="22788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/>
              <p14:cNvContentPartPr/>
              <p14:nvPr/>
            </p14:nvContentPartPr>
            <p14:xfrm>
              <a:off x="4162800" y="1735920"/>
              <a:ext cx="1503360" cy="42872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57760" y="1730880"/>
                <a:ext cx="1513080" cy="429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958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2998</Words>
  <Application>Microsoft Office PowerPoint</Application>
  <PresentationFormat>Widescreen</PresentationFormat>
  <Paragraphs>698</Paragraphs>
  <Slides>56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8" baseType="lpstr">
      <vt:lpstr>ＭＳ Ｐゴシック</vt:lpstr>
      <vt:lpstr>Arial</vt:lpstr>
      <vt:lpstr>Calibri</vt:lpstr>
      <vt:lpstr>Calibri Light</vt:lpstr>
      <vt:lpstr>Cambria Math</vt:lpstr>
      <vt:lpstr>Monotype Sorts</vt:lpstr>
      <vt:lpstr>Symbol</vt:lpstr>
      <vt:lpstr>Times New Roman</vt:lpstr>
      <vt:lpstr>Wingdings</vt:lpstr>
      <vt:lpstr>Retrospect</vt:lpstr>
      <vt:lpstr>Document</vt:lpstr>
      <vt:lpstr>Visio</vt:lpstr>
      <vt:lpstr>Classification: Decision Tree </vt:lpstr>
      <vt:lpstr>Classification: Definition</vt:lpstr>
      <vt:lpstr>Examples of Classification Task</vt:lpstr>
      <vt:lpstr>General Approach for Building Classification Model</vt:lpstr>
      <vt:lpstr>Classification Techniques</vt:lpstr>
      <vt:lpstr>Example of a Decision Tree</vt:lpstr>
      <vt:lpstr>Apply Model to Test Data</vt:lpstr>
      <vt:lpstr>Apply Model to Test Data</vt:lpstr>
      <vt:lpstr>Apply Model to Test Data</vt:lpstr>
      <vt:lpstr>Apply Model to Test Data</vt:lpstr>
      <vt:lpstr>Apply Model to Test Data</vt:lpstr>
      <vt:lpstr>Apply Model to Test Data</vt:lpstr>
      <vt:lpstr>Another Example of Decision Tree</vt:lpstr>
      <vt:lpstr>Decision Tree Classification Task</vt:lpstr>
      <vt:lpstr>Decision Tree Induction</vt:lpstr>
      <vt:lpstr>General Structure of Hunt’s Algorithm</vt:lpstr>
      <vt:lpstr>Hunt’s Algorithm</vt:lpstr>
      <vt:lpstr>Design Issues of Decision Tree Induction</vt:lpstr>
      <vt:lpstr>Methods for Expressing Test Conditions</vt:lpstr>
      <vt:lpstr>Test Condition for Nominal Attributes</vt:lpstr>
      <vt:lpstr>Test Condition for Ordinal Attributes</vt:lpstr>
      <vt:lpstr>Test Condition for Continuous Attributes</vt:lpstr>
      <vt:lpstr>Splitting Based on Continuous Attributes</vt:lpstr>
      <vt:lpstr>How to determine the Best Split</vt:lpstr>
      <vt:lpstr>How to determine the Best Split</vt:lpstr>
      <vt:lpstr>Measures of Node Impurity</vt:lpstr>
      <vt:lpstr>Finding the Best Split</vt:lpstr>
      <vt:lpstr>Finding the Best Split</vt:lpstr>
      <vt:lpstr>Measure of Impurity: GINI</vt:lpstr>
      <vt:lpstr>Measure of Impurity: GINI</vt:lpstr>
      <vt:lpstr>Computing Gini Index of a Single Node</vt:lpstr>
      <vt:lpstr>Computing Gini Index for a Collection of Nodes</vt:lpstr>
      <vt:lpstr>Binary Attributes: Computing GINI Index</vt:lpstr>
      <vt:lpstr>Categorical Attributes: Computing Gini Index</vt:lpstr>
      <vt:lpstr>Continuous Attributes: Computing Gini Index</vt:lpstr>
      <vt:lpstr>Continuous Attributes: Computing Gini Index...</vt:lpstr>
      <vt:lpstr>Continuous Attributes: Computing Gini Index...</vt:lpstr>
      <vt:lpstr>Continuous Attributes: Computing Gini Index...</vt:lpstr>
      <vt:lpstr>Continuous Attributes: Computing Gini Index...</vt:lpstr>
      <vt:lpstr>Continuous Attributes: Computing Gini Index...</vt:lpstr>
      <vt:lpstr>Measure of Impurity: Entropy</vt:lpstr>
      <vt:lpstr>Computing Entropy of a Single Node</vt:lpstr>
      <vt:lpstr>Computing Information Gain After Splitting</vt:lpstr>
      <vt:lpstr>Problem with large number of partitions</vt:lpstr>
      <vt:lpstr>Gain Ratio</vt:lpstr>
      <vt:lpstr>Gain Ratio</vt:lpstr>
      <vt:lpstr>Measure of Impurity: Classification Error</vt:lpstr>
      <vt:lpstr>Computing Error of a Single Node</vt:lpstr>
      <vt:lpstr>Comparison among Impurity Measures</vt:lpstr>
      <vt:lpstr>Misclassification Error vs Gini Index</vt:lpstr>
      <vt:lpstr>Misclassification Error vs Gini Index</vt:lpstr>
      <vt:lpstr>Decision Tree Based Classification</vt:lpstr>
      <vt:lpstr>Handling interactions</vt:lpstr>
      <vt:lpstr>Handling interactions</vt:lpstr>
      <vt:lpstr>Handling interactions given irrelevant attributes</vt:lpstr>
      <vt:lpstr>Limitations of single attribute-based decision boundaries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Prayas Das</cp:lastModifiedBy>
  <cp:revision>34</cp:revision>
  <dcterms:created xsi:type="dcterms:W3CDTF">2024-09-02T12:50:06Z</dcterms:created>
  <dcterms:modified xsi:type="dcterms:W3CDTF">2026-02-09T08:17:04Z</dcterms:modified>
</cp:coreProperties>
</file>
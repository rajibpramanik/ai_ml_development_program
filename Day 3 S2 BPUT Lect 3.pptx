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handoutMasterIdLst>
    <p:handoutMasterId r:id="rId89"/>
  </p:handoutMasterIdLst>
  <p:sldIdLst>
    <p:sldId id="256" r:id="rId2"/>
    <p:sldId id="433" r:id="rId3"/>
    <p:sldId id="392" r:id="rId4"/>
    <p:sldId id="395" r:id="rId5"/>
    <p:sldId id="431" r:id="rId6"/>
    <p:sldId id="396" r:id="rId7"/>
    <p:sldId id="432" r:id="rId8"/>
    <p:sldId id="419" r:id="rId9"/>
    <p:sldId id="393" r:id="rId10"/>
    <p:sldId id="394" r:id="rId11"/>
    <p:sldId id="397" r:id="rId12"/>
    <p:sldId id="406" r:id="rId13"/>
    <p:sldId id="425" r:id="rId14"/>
    <p:sldId id="421" r:id="rId15"/>
    <p:sldId id="398" r:id="rId16"/>
    <p:sldId id="278" r:id="rId17"/>
    <p:sldId id="257" r:id="rId18"/>
    <p:sldId id="290" r:id="rId19"/>
    <p:sldId id="291" r:id="rId20"/>
    <p:sldId id="292" r:id="rId21"/>
    <p:sldId id="293" r:id="rId22"/>
    <p:sldId id="294" r:id="rId23"/>
    <p:sldId id="267" r:id="rId24"/>
    <p:sldId id="295" r:id="rId25"/>
    <p:sldId id="296" r:id="rId26"/>
    <p:sldId id="297" r:id="rId27"/>
    <p:sldId id="298" r:id="rId28"/>
    <p:sldId id="299" r:id="rId29"/>
    <p:sldId id="300" r:id="rId30"/>
    <p:sldId id="301" r:id="rId31"/>
    <p:sldId id="302" r:id="rId32"/>
    <p:sldId id="303" r:id="rId33"/>
    <p:sldId id="304" r:id="rId34"/>
    <p:sldId id="305" r:id="rId35"/>
    <p:sldId id="269" r:id="rId36"/>
    <p:sldId id="279" r:id="rId37"/>
    <p:sldId id="280" r:id="rId38"/>
    <p:sldId id="281" r:id="rId39"/>
    <p:sldId id="282" r:id="rId40"/>
    <p:sldId id="308" r:id="rId41"/>
    <p:sldId id="283" r:id="rId42"/>
    <p:sldId id="284" r:id="rId43"/>
    <p:sldId id="285" r:id="rId44"/>
    <p:sldId id="286" r:id="rId45"/>
    <p:sldId id="306" r:id="rId46"/>
    <p:sldId id="287" r:id="rId47"/>
    <p:sldId id="307" r:id="rId48"/>
    <p:sldId id="288" r:id="rId49"/>
    <p:sldId id="323" r:id="rId50"/>
    <p:sldId id="426" r:id="rId51"/>
    <p:sldId id="420" r:id="rId52"/>
    <p:sldId id="399" r:id="rId53"/>
    <p:sldId id="400" r:id="rId54"/>
    <p:sldId id="410" r:id="rId55"/>
    <p:sldId id="411" r:id="rId56"/>
    <p:sldId id="427" r:id="rId57"/>
    <p:sldId id="429" r:id="rId58"/>
    <p:sldId id="412" r:id="rId59"/>
    <p:sldId id="413" r:id="rId60"/>
    <p:sldId id="422" r:id="rId61"/>
    <p:sldId id="414" r:id="rId62"/>
    <p:sldId id="423" r:id="rId63"/>
    <p:sldId id="415" r:id="rId64"/>
    <p:sldId id="416" r:id="rId65"/>
    <p:sldId id="417" r:id="rId66"/>
    <p:sldId id="418" r:id="rId67"/>
    <p:sldId id="424" r:id="rId68"/>
    <p:sldId id="428" r:id="rId69"/>
    <p:sldId id="324" r:id="rId70"/>
    <p:sldId id="325" r:id="rId71"/>
    <p:sldId id="326" r:id="rId72"/>
    <p:sldId id="289" r:id="rId73"/>
    <p:sldId id="322" r:id="rId74"/>
    <p:sldId id="309" r:id="rId75"/>
    <p:sldId id="310" r:id="rId76"/>
    <p:sldId id="311" r:id="rId77"/>
    <p:sldId id="312" r:id="rId78"/>
    <p:sldId id="313" r:id="rId79"/>
    <p:sldId id="320" r:id="rId80"/>
    <p:sldId id="321" r:id="rId81"/>
    <p:sldId id="314" r:id="rId82"/>
    <p:sldId id="315" r:id="rId83"/>
    <p:sldId id="316" r:id="rId84"/>
    <p:sldId id="317" r:id="rId85"/>
    <p:sldId id="318" r:id="rId86"/>
    <p:sldId id="319" r:id="rId87"/>
  </p:sldIdLst>
  <p:sldSz cx="9144000" cy="6858000" type="screen4x3"/>
  <p:notesSz cx="6997700" cy="92837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79" d="100"/>
          <a:sy n="79" d="100"/>
        </p:scale>
        <p:origin x="989" y="62"/>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_rels/viewProps.xml.rels><?xml version="1.0" encoding="UTF-8" standalone="yes"?>
<Relationships xmlns="http://schemas.openxmlformats.org/package/2006/relationships"><Relationship Id="rId3" Type="http://schemas.openxmlformats.org/officeDocument/2006/relationships/slide" Target="slides/slide53.xml"/><Relationship Id="rId2" Type="http://schemas.openxmlformats.org/officeDocument/2006/relationships/slide" Target="slides/slide10.xml"/><Relationship Id="rId1"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4"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 Id="rId4"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4.wmf"/><Relationship Id="rId1" Type="http://schemas.openxmlformats.org/officeDocument/2006/relationships/image" Target="../media/image43.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E7A78B3-2DA4-49CE-9543-4744DC852D90}"/>
              </a:ext>
            </a:extLst>
          </p:cNvPr>
          <p:cNvSpPr>
            <a:spLocks noGrp="1" noChangeArrowheads="1"/>
          </p:cNvSpPr>
          <p:nvPr>
            <p:ph type="hdr" sz="quarte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t" anchorCtr="0" compatLnSpc="1">
            <a:prstTxWarp prst="textNoShape">
              <a:avLst/>
            </a:prstTxWarp>
          </a:bodyPr>
          <a:lstStyle>
            <a:lvl1pPr defTabSz="930275" eaLnBrk="1" hangingPunct="1">
              <a:defRPr sz="1200"/>
            </a:lvl1pPr>
          </a:lstStyle>
          <a:p>
            <a:pPr>
              <a:defRPr/>
            </a:pPr>
            <a:endParaRPr lang="en-US" altLang="en-US"/>
          </a:p>
        </p:txBody>
      </p:sp>
      <p:sp>
        <p:nvSpPr>
          <p:cNvPr id="8195" name="Rectangle 3">
            <a:extLst>
              <a:ext uri="{FF2B5EF4-FFF2-40B4-BE49-F238E27FC236}">
                <a16:creationId xmlns:a16="http://schemas.microsoft.com/office/drawing/2014/main" id="{0A80D82B-512C-4796-B378-332FDFA48FBB}"/>
              </a:ext>
            </a:extLst>
          </p:cNvPr>
          <p:cNvSpPr>
            <a:spLocks noGrp="1" noChangeArrowheads="1"/>
          </p:cNvSpPr>
          <p:nvPr>
            <p:ph type="dt" sz="quarter" idx="1"/>
          </p:nvPr>
        </p:nvSpPr>
        <p:spPr bwMode="auto">
          <a:xfrm>
            <a:off x="3965575"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t" anchorCtr="0" compatLnSpc="1">
            <a:prstTxWarp prst="textNoShape">
              <a:avLst/>
            </a:prstTxWarp>
          </a:bodyPr>
          <a:lstStyle>
            <a:lvl1pPr algn="r" defTabSz="930275" eaLnBrk="1" hangingPunct="1">
              <a:defRPr sz="1200"/>
            </a:lvl1pPr>
          </a:lstStyle>
          <a:p>
            <a:pPr>
              <a:defRPr/>
            </a:pPr>
            <a:endParaRPr lang="en-US" altLang="en-US"/>
          </a:p>
        </p:txBody>
      </p:sp>
      <p:sp>
        <p:nvSpPr>
          <p:cNvPr id="8196" name="Rectangle 4">
            <a:extLst>
              <a:ext uri="{FF2B5EF4-FFF2-40B4-BE49-F238E27FC236}">
                <a16:creationId xmlns:a16="http://schemas.microsoft.com/office/drawing/2014/main" id="{188B21E9-9FFE-47B9-90DF-48BAB9DF6CC6}"/>
              </a:ext>
            </a:extLst>
          </p:cNvPr>
          <p:cNvSpPr>
            <a:spLocks noGrp="1" noChangeArrowheads="1"/>
          </p:cNvSpPr>
          <p:nvPr>
            <p:ph type="ftr" sz="quarter" idx="2"/>
          </p:nvPr>
        </p:nvSpPr>
        <p:spPr bwMode="auto">
          <a:xfrm>
            <a:off x="0"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b" anchorCtr="0" compatLnSpc="1">
            <a:prstTxWarp prst="textNoShape">
              <a:avLst/>
            </a:prstTxWarp>
          </a:bodyPr>
          <a:lstStyle>
            <a:lvl1pPr defTabSz="930275" eaLnBrk="1" hangingPunct="1">
              <a:defRPr sz="1200"/>
            </a:lvl1pPr>
          </a:lstStyle>
          <a:p>
            <a:pPr>
              <a:defRPr/>
            </a:pPr>
            <a:endParaRPr lang="en-US" altLang="en-US"/>
          </a:p>
        </p:txBody>
      </p:sp>
      <p:sp>
        <p:nvSpPr>
          <p:cNvPr id="8197" name="Rectangle 5">
            <a:extLst>
              <a:ext uri="{FF2B5EF4-FFF2-40B4-BE49-F238E27FC236}">
                <a16:creationId xmlns:a16="http://schemas.microsoft.com/office/drawing/2014/main" id="{DDB5C0FE-064D-4101-B6C7-27406DBC103E}"/>
              </a:ext>
            </a:extLst>
          </p:cNvPr>
          <p:cNvSpPr>
            <a:spLocks noGrp="1" noChangeArrowheads="1"/>
          </p:cNvSpPr>
          <p:nvPr>
            <p:ph type="sldNum" sz="quarter" idx="3"/>
          </p:nvPr>
        </p:nvSpPr>
        <p:spPr bwMode="auto">
          <a:xfrm>
            <a:off x="3965575"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b" anchorCtr="0" compatLnSpc="1">
            <a:prstTxWarp prst="textNoShape">
              <a:avLst/>
            </a:prstTxWarp>
          </a:bodyPr>
          <a:lstStyle>
            <a:lvl1pPr algn="r" defTabSz="930275" eaLnBrk="1" hangingPunct="1">
              <a:defRPr sz="1200"/>
            </a:lvl1pPr>
          </a:lstStyle>
          <a:p>
            <a:pPr>
              <a:defRPr/>
            </a:pPr>
            <a:fld id="{DA231902-699B-4B12-9B91-99D71ACD793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235ADE8-D12E-4FAC-89C9-DB98E7DE26E2}"/>
              </a:ext>
            </a:extLst>
          </p:cNvPr>
          <p:cNvSpPr>
            <a:spLocks noGrp="1" noChangeArrowheads="1"/>
          </p:cNvSpPr>
          <p:nvPr>
            <p:ph type="hdr" sz="quarter"/>
          </p:nvPr>
        </p:nvSpPr>
        <p:spPr bwMode="auto">
          <a:xfrm>
            <a:off x="0"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t" anchorCtr="0" compatLnSpc="1">
            <a:prstTxWarp prst="textNoShape">
              <a:avLst/>
            </a:prstTxWarp>
          </a:bodyPr>
          <a:lstStyle>
            <a:lvl1pPr defTabSz="930275" eaLnBrk="1" hangingPunct="1">
              <a:defRPr sz="1200"/>
            </a:lvl1pPr>
          </a:lstStyle>
          <a:p>
            <a:pPr>
              <a:defRPr/>
            </a:pPr>
            <a:endParaRPr lang="en-US" altLang="en-US"/>
          </a:p>
        </p:txBody>
      </p:sp>
      <p:sp>
        <p:nvSpPr>
          <p:cNvPr id="9219" name="Rectangle 3">
            <a:extLst>
              <a:ext uri="{FF2B5EF4-FFF2-40B4-BE49-F238E27FC236}">
                <a16:creationId xmlns:a16="http://schemas.microsoft.com/office/drawing/2014/main" id="{82403FEE-B226-4DBC-A4E2-A66D1C495461}"/>
              </a:ext>
            </a:extLst>
          </p:cNvPr>
          <p:cNvSpPr>
            <a:spLocks noGrp="1" noChangeArrowheads="1"/>
          </p:cNvSpPr>
          <p:nvPr>
            <p:ph type="dt" idx="1"/>
          </p:nvPr>
        </p:nvSpPr>
        <p:spPr bwMode="auto">
          <a:xfrm>
            <a:off x="3965575" y="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t" anchorCtr="0" compatLnSpc="1">
            <a:prstTxWarp prst="textNoShape">
              <a:avLst/>
            </a:prstTxWarp>
          </a:bodyPr>
          <a:lstStyle>
            <a:lvl1pPr algn="r" defTabSz="930275" eaLnBrk="1" hangingPunct="1">
              <a:defRPr sz="1200"/>
            </a:lvl1pPr>
          </a:lstStyle>
          <a:p>
            <a:pPr>
              <a:defRPr/>
            </a:pPr>
            <a:endParaRPr lang="en-US" altLang="en-US"/>
          </a:p>
        </p:txBody>
      </p:sp>
      <p:sp>
        <p:nvSpPr>
          <p:cNvPr id="2052" name="Rectangle 4">
            <a:extLst>
              <a:ext uri="{FF2B5EF4-FFF2-40B4-BE49-F238E27FC236}">
                <a16:creationId xmlns:a16="http://schemas.microsoft.com/office/drawing/2014/main" id="{F52798C0-75F9-4208-B98D-527F36A4978D}"/>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a:extLst>
              <a:ext uri="{FF2B5EF4-FFF2-40B4-BE49-F238E27FC236}">
                <a16:creationId xmlns:a16="http://schemas.microsoft.com/office/drawing/2014/main" id="{956E278A-389F-4A44-A6B6-4D6333B01C86}"/>
              </a:ext>
            </a:extLst>
          </p:cNvPr>
          <p:cNvSpPr>
            <a:spLocks noGrp="1" noChangeArrowheads="1"/>
          </p:cNvSpPr>
          <p:nvPr>
            <p:ph type="body" sz="quarter" idx="3"/>
          </p:nvPr>
        </p:nvSpPr>
        <p:spPr bwMode="auto">
          <a:xfrm>
            <a:off x="933450" y="4410075"/>
            <a:ext cx="5130800" cy="417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9222" name="Rectangle 6">
            <a:extLst>
              <a:ext uri="{FF2B5EF4-FFF2-40B4-BE49-F238E27FC236}">
                <a16:creationId xmlns:a16="http://schemas.microsoft.com/office/drawing/2014/main" id="{0057A9EE-9D33-4F79-9E26-886D244271BC}"/>
              </a:ext>
            </a:extLst>
          </p:cNvPr>
          <p:cNvSpPr>
            <a:spLocks noGrp="1" noChangeArrowheads="1"/>
          </p:cNvSpPr>
          <p:nvPr>
            <p:ph type="ftr" sz="quarter" idx="4"/>
          </p:nvPr>
        </p:nvSpPr>
        <p:spPr bwMode="auto">
          <a:xfrm>
            <a:off x="0"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b" anchorCtr="0" compatLnSpc="1">
            <a:prstTxWarp prst="textNoShape">
              <a:avLst/>
            </a:prstTxWarp>
          </a:bodyPr>
          <a:lstStyle>
            <a:lvl1pPr defTabSz="930275" eaLnBrk="1" hangingPunct="1">
              <a:defRPr sz="1200"/>
            </a:lvl1pPr>
          </a:lstStyle>
          <a:p>
            <a:pPr>
              <a:defRPr/>
            </a:pPr>
            <a:endParaRPr lang="en-US" altLang="en-US"/>
          </a:p>
        </p:txBody>
      </p:sp>
      <p:sp>
        <p:nvSpPr>
          <p:cNvPr id="9223" name="Rectangle 7">
            <a:extLst>
              <a:ext uri="{FF2B5EF4-FFF2-40B4-BE49-F238E27FC236}">
                <a16:creationId xmlns:a16="http://schemas.microsoft.com/office/drawing/2014/main" id="{A33F8506-0790-49E8-B070-FB710DB66F69}"/>
              </a:ext>
            </a:extLst>
          </p:cNvPr>
          <p:cNvSpPr>
            <a:spLocks noGrp="1" noChangeArrowheads="1"/>
          </p:cNvSpPr>
          <p:nvPr>
            <p:ph type="sldNum" sz="quarter" idx="5"/>
          </p:nvPr>
        </p:nvSpPr>
        <p:spPr bwMode="auto">
          <a:xfrm>
            <a:off x="3965575" y="8820150"/>
            <a:ext cx="303212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031" tIns="46516" rIns="93031" bIns="46516" numCol="1" anchor="b" anchorCtr="0" compatLnSpc="1">
            <a:prstTxWarp prst="textNoShape">
              <a:avLst/>
            </a:prstTxWarp>
          </a:bodyPr>
          <a:lstStyle>
            <a:lvl1pPr algn="r" defTabSz="930275" eaLnBrk="1" hangingPunct="1">
              <a:defRPr sz="1200"/>
            </a:lvl1pPr>
          </a:lstStyle>
          <a:p>
            <a:pPr>
              <a:defRPr/>
            </a:pPr>
            <a:fld id="{85AE1F3E-22BC-460E-B8AD-D8DE0538230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43BB3EC1-F419-456F-9C09-FDB3D204B033}"/>
              </a:ext>
            </a:extLst>
          </p:cNvPr>
          <p:cNvSpPr>
            <a:spLocks noGrp="1" noRot="1" noChangeAspect="1" noChangeArrowheads="1" noTextEdit="1"/>
          </p:cNvSpPr>
          <p:nvPr>
            <p:ph type="sldImg"/>
          </p:nvPr>
        </p:nvSpPr>
        <p:spPr>
          <a:ln/>
        </p:spPr>
      </p:sp>
      <p:sp>
        <p:nvSpPr>
          <p:cNvPr id="14339" name="Notes Placeholder 2">
            <a:extLst>
              <a:ext uri="{FF2B5EF4-FFF2-40B4-BE49-F238E27FC236}">
                <a16:creationId xmlns:a16="http://schemas.microsoft.com/office/drawing/2014/main" id="{3E128C8C-B4CF-42EF-87A3-BECB19C56657}"/>
              </a:ext>
            </a:extLst>
          </p:cNvPr>
          <p:cNvSpPr>
            <a:spLocks noGrp="1" noChangeArrowheads="1"/>
          </p:cNvSpPr>
          <p:nvPr>
            <p:ph type="body" idx="1"/>
          </p:nvPr>
        </p:nvSpPr>
        <p:spPr>
          <a:noFill/>
        </p:spPr>
        <p:txBody>
          <a:bodyPr/>
          <a:lstStyle/>
          <a:p>
            <a:endParaRPr lang="en-US" altLang="en-US"/>
          </a:p>
        </p:txBody>
      </p:sp>
      <p:sp>
        <p:nvSpPr>
          <p:cNvPr id="14340" name="Slide Number Placeholder 3">
            <a:extLst>
              <a:ext uri="{FF2B5EF4-FFF2-40B4-BE49-F238E27FC236}">
                <a16:creationId xmlns:a16="http://schemas.microsoft.com/office/drawing/2014/main" id="{23922FA2-C698-471E-9DE1-25CF349DE816}"/>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DB931D0C-392F-4144-B6A5-F9FFABE6AB17}" type="slidenum">
              <a:rPr lang="en-US" altLang="en-US" sz="1200" smtClean="0"/>
              <a:pPr/>
              <a:t>24</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9F2A33B2-2AD2-4C32-984B-6034C06E41A4}"/>
              </a:ext>
            </a:extLst>
          </p:cNvPr>
          <p:cNvSpPr>
            <a:spLocks noGrp="1" noRot="1" noChangeAspect="1" noChangeArrowheads="1" noTextEdit="1"/>
          </p:cNvSpPr>
          <p:nvPr>
            <p:ph type="sldImg"/>
          </p:nvPr>
        </p:nvSpPr>
        <p:spPr>
          <a:ln/>
        </p:spPr>
      </p:sp>
      <p:sp>
        <p:nvSpPr>
          <p:cNvPr id="16387" name="Notes Placeholder 2">
            <a:extLst>
              <a:ext uri="{FF2B5EF4-FFF2-40B4-BE49-F238E27FC236}">
                <a16:creationId xmlns:a16="http://schemas.microsoft.com/office/drawing/2014/main" id="{34CBFDC3-D8A7-470A-A06F-0F32348E89D1}"/>
              </a:ext>
            </a:extLst>
          </p:cNvPr>
          <p:cNvSpPr>
            <a:spLocks noGrp="1" noChangeArrowheads="1"/>
          </p:cNvSpPr>
          <p:nvPr>
            <p:ph type="body" idx="1"/>
          </p:nvPr>
        </p:nvSpPr>
        <p:spPr>
          <a:noFill/>
        </p:spPr>
        <p:txBody>
          <a:bodyPr/>
          <a:lstStyle/>
          <a:p>
            <a:endParaRPr lang="en-US" altLang="en-US"/>
          </a:p>
        </p:txBody>
      </p:sp>
      <p:sp>
        <p:nvSpPr>
          <p:cNvPr id="16388" name="Slide Number Placeholder 3">
            <a:extLst>
              <a:ext uri="{FF2B5EF4-FFF2-40B4-BE49-F238E27FC236}">
                <a16:creationId xmlns:a16="http://schemas.microsoft.com/office/drawing/2014/main" id="{CCEE133E-160E-45B1-813F-D936583C77D5}"/>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09128DD-452D-46D7-9808-B2B02C8B90D6}" type="slidenum">
              <a:rPr lang="en-US" altLang="en-US" sz="1200" smtClean="0"/>
              <a:pPr/>
              <a:t>25</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469904AF-AAC8-47BD-B8FD-FC6834D1CEF2}"/>
              </a:ext>
            </a:extLst>
          </p:cNvPr>
          <p:cNvSpPr>
            <a:spLocks noGrp="1" noRot="1" noChangeAspect="1" noChangeArrowheads="1" noTextEdit="1"/>
          </p:cNvSpPr>
          <p:nvPr>
            <p:ph type="sldImg"/>
          </p:nvPr>
        </p:nvSpPr>
        <p:spPr>
          <a:ln/>
        </p:spPr>
      </p:sp>
      <p:sp>
        <p:nvSpPr>
          <p:cNvPr id="18435" name="Notes Placeholder 2">
            <a:extLst>
              <a:ext uri="{FF2B5EF4-FFF2-40B4-BE49-F238E27FC236}">
                <a16:creationId xmlns:a16="http://schemas.microsoft.com/office/drawing/2014/main" id="{3897CFD6-C4EC-4951-9A2E-AF6D294CD753}"/>
              </a:ext>
            </a:extLst>
          </p:cNvPr>
          <p:cNvSpPr>
            <a:spLocks noGrp="1" noChangeArrowheads="1"/>
          </p:cNvSpPr>
          <p:nvPr>
            <p:ph type="body" idx="1"/>
          </p:nvPr>
        </p:nvSpPr>
        <p:spPr>
          <a:noFill/>
        </p:spPr>
        <p:txBody>
          <a:bodyPr/>
          <a:lstStyle/>
          <a:p>
            <a:endParaRPr lang="en-US" altLang="en-US"/>
          </a:p>
        </p:txBody>
      </p:sp>
      <p:sp>
        <p:nvSpPr>
          <p:cNvPr id="18436" name="Slide Number Placeholder 3">
            <a:extLst>
              <a:ext uri="{FF2B5EF4-FFF2-40B4-BE49-F238E27FC236}">
                <a16:creationId xmlns:a16="http://schemas.microsoft.com/office/drawing/2014/main" id="{40AED042-7EDD-4927-AD3D-CC2EA4A230CA}"/>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5698AE7-297A-4D91-AFFC-95D513BC29FC}" type="slidenum">
              <a:rPr lang="en-US" altLang="en-US" sz="1200" smtClean="0"/>
              <a:pPr/>
              <a:t>26</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AF896EDC-F1B6-4C91-8B2A-6DEE157395F6}"/>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1625B5CE-FB94-4EFC-8EB0-2DF4C5FAA736}"/>
              </a:ext>
            </a:extLst>
          </p:cNvPr>
          <p:cNvSpPr>
            <a:spLocks noGrp="1" noChangeArrowheads="1"/>
          </p:cNvSpPr>
          <p:nvPr>
            <p:ph type="body" idx="1"/>
          </p:nvPr>
        </p:nvSpPr>
        <p:spPr>
          <a:noFill/>
        </p:spPr>
        <p:txBody>
          <a:bodyPr/>
          <a:lstStyle/>
          <a:p>
            <a:endParaRPr lang="en-US" altLang="en-US"/>
          </a:p>
        </p:txBody>
      </p:sp>
      <p:sp>
        <p:nvSpPr>
          <p:cNvPr id="20484" name="Slide Number Placeholder 3">
            <a:extLst>
              <a:ext uri="{FF2B5EF4-FFF2-40B4-BE49-F238E27FC236}">
                <a16:creationId xmlns:a16="http://schemas.microsoft.com/office/drawing/2014/main" id="{A6B666FB-6A85-45A2-95B7-26A610F9FF28}"/>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8ED2707E-1235-4926-A46C-7B2C75F3551E}" type="slidenum">
              <a:rPr lang="en-US" altLang="en-US" sz="1200" smtClean="0"/>
              <a:pPr/>
              <a:t>27</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3933E01E-C2DD-4FF9-8188-3A38E1870905}"/>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8E009FE1-472F-4B2C-8F1A-2030CDEBEA7A}"/>
              </a:ext>
            </a:extLst>
          </p:cNvPr>
          <p:cNvSpPr>
            <a:spLocks noGrp="1" noChangeArrowheads="1"/>
          </p:cNvSpPr>
          <p:nvPr>
            <p:ph type="body" idx="1"/>
          </p:nvPr>
        </p:nvSpPr>
        <p:spPr>
          <a:noFill/>
        </p:spPr>
        <p:txBody>
          <a:bodyPr/>
          <a:lstStyle/>
          <a:p>
            <a:endParaRPr lang="en-US" altLang="en-US"/>
          </a:p>
        </p:txBody>
      </p:sp>
      <p:sp>
        <p:nvSpPr>
          <p:cNvPr id="22532" name="Slide Number Placeholder 3">
            <a:extLst>
              <a:ext uri="{FF2B5EF4-FFF2-40B4-BE49-F238E27FC236}">
                <a16:creationId xmlns:a16="http://schemas.microsoft.com/office/drawing/2014/main" id="{40CC5E92-1A24-4D99-AC8F-D8BD8DE533CF}"/>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3F220F30-17C9-4B2B-A9F3-64A1C69386CE}" type="slidenum">
              <a:rPr lang="en-US" altLang="en-US" sz="1200" smtClean="0"/>
              <a:pPr/>
              <a:t>28</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29B70AD5-A54C-4836-A537-C3FD7A847391}"/>
              </a:ext>
            </a:extLst>
          </p:cNvPr>
          <p:cNvSpPr>
            <a:spLocks noGrp="1" noRot="1" noChangeAspect="1" noChangeArrowheads="1" noTextEdit="1"/>
          </p:cNvSpPr>
          <p:nvPr>
            <p:ph type="sldImg"/>
          </p:nvPr>
        </p:nvSpPr>
        <p:spPr>
          <a:ln/>
        </p:spPr>
      </p:sp>
      <p:sp>
        <p:nvSpPr>
          <p:cNvPr id="24579" name="Notes Placeholder 2">
            <a:extLst>
              <a:ext uri="{FF2B5EF4-FFF2-40B4-BE49-F238E27FC236}">
                <a16:creationId xmlns:a16="http://schemas.microsoft.com/office/drawing/2014/main" id="{B3F731C9-0BCC-46F4-9A7D-E5D84F83112E}"/>
              </a:ext>
            </a:extLst>
          </p:cNvPr>
          <p:cNvSpPr>
            <a:spLocks noGrp="1" noChangeArrowheads="1"/>
          </p:cNvSpPr>
          <p:nvPr>
            <p:ph type="body" idx="1"/>
          </p:nvPr>
        </p:nvSpPr>
        <p:spPr>
          <a:noFill/>
        </p:spPr>
        <p:txBody>
          <a:bodyPr/>
          <a:lstStyle/>
          <a:p>
            <a:endParaRPr lang="en-US" altLang="en-US"/>
          </a:p>
        </p:txBody>
      </p:sp>
      <p:sp>
        <p:nvSpPr>
          <p:cNvPr id="24580" name="Slide Number Placeholder 3">
            <a:extLst>
              <a:ext uri="{FF2B5EF4-FFF2-40B4-BE49-F238E27FC236}">
                <a16:creationId xmlns:a16="http://schemas.microsoft.com/office/drawing/2014/main" id="{14FE114E-1813-4100-BD65-C794661C74A2}"/>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2775AE6F-C1BB-4632-B4E2-C74BB797C315}" type="slidenum">
              <a:rPr lang="en-US" altLang="en-US" sz="1200" smtClean="0"/>
              <a:pPr/>
              <a:t>29</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BF6AB3B3-B9EA-4620-9F40-3842B3922BE1}"/>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4F548FD4-5626-48CB-9768-642F2ED58D3E}"/>
              </a:ext>
            </a:extLst>
          </p:cNvPr>
          <p:cNvSpPr>
            <a:spLocks noGrp="1" noChangeArrowheads="1"/>
          </p:cNvSpPr>
          <p:nvPr>
            <p:ph type="body" idx="1"/>
          </p:nvPr>
        </p:nvSpPr>
        <p:spPr>
          <a:noFill/>
        </p:spPr>
        <p:txBody>
          <a:bodyPr/>
          <a:lstStyle/>
          <a:p>
            <a:endParaRPr lang="en-US" altLang="en-US"/>
          </a:p>
        </p:txBody>
      </p:sp>
      <p:sp>
        <p:nvSpPr>
          <p:cNvPr id="26628" name="Slide Number Placeholder 3">
            <a:extLst>
              <a:ext uri="{FF2B5EF4-FFF2-40B4-BE49-F238E27FC236}">
                <a16:creationId xmlns:a16="http://schemas.microsoft.com/office/drawing/2014/main" id="{04E177E7-8FA5-4DE7-AC6C-FFF8BF0DCADD}"/>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431754B1-A3C0-4C0B-8291-1BFDE69904A3}" type="slidenum">
              <a:rPr lang="en-US" altLang="en-US" sz="1200" smtClean="0"/>
              <a:pPr/>
              <a:t>30</a:t>
            </a:fld>
            <a:endParaRPr lang="en-US"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97B4E828-14FA-4CB2-89A0-79B47275C7F5}"/>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CC98AF7C-3156-492E-9998-F605E57D393E}"/>
              </a:ext>
            </a:extLst>
          </p:cNvPr>
          <p:cNvSpPr>
            <a:spLocks noGrp="1" noChangeArrowheads="1"/>
          </p:cNvSpPr>
          <p:nvPr>
            <p:ph type="body" idx="1"/>
          </p:nvPr>
        </p:nvSpPr>
        <p:spPr>
          <a:noFill/>
        </p:spPr>
        <p:txBody>
          <a:bodyPr/>
          <a:lstStyle/>
          <a:p>
            <a:endParaRPr lang="en-US" altLang="en-US"/>
          </a:p>
        </p:txBody>
      </p:sp>
      <p:sp>
        <p:nvSpPr>
          <p:cNvPr id="28676" name="Slide Number Placeholder 3">
            <a:extLst>
              <a:ext uri="{FF2B5EF4-FFF2-40B4-BE49-F238E27FC236}">
                <a16:creationId xmlns:a16="http://schemas.microsoft.com/office/drawing/2014/main" id="{865C321C-CA90-4FD5-A95E-8C44F8DDA07F}"/>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CCF3A017-01B8-46A7-846B-2F201DDFD9FB}" type="slidenum">
              <a:rPr lang="en-US" altLang="en-US" sz="1200" smtClean="0"/>
              <a:pPr/>
              <a:t>31</a:t>
            </a:fld>
            <a:endParaRPr lang="en-US"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75402320-C423-4BC5-B33D-DB3D2B258289}"/>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81C0AB95-F0ED-4F4B-81B5-1BEFC587D1D1}"/>
              </a:ext>
            </a:extLst>
          </p:cNvPr>
          <p:cNvSpPr>
            <a:spLocks noGrp="1" noChangeArrowheads="1"/>
          </p:cNvSpPr>
          <p:nvPr>
            <p:ph type="body" idx="1"/>
          </p:nvPr>
        </p:nvSpPr>
        <p:spPr>
          <a:noFill/>
        </p:spPr>
        <p:txBody>
          <a:bodyPr/>
          <a:lstStyle/>
          <a:p>
            <a:endParaRPr lang="en-US" altLang="en-US"/>
          </a:p>
        </p:txBody>
      </p:sp>
      <p:sp>
        <p:nvSpPr>
          <p:cNvPr id="30724" name="Slide Number Placeholder 3">
            <a:extLst>
              <a:ext uri="{FF2B5EF4-FFF2-40B4-BE49-F238E27FC236}">
                <a16:creationId xmlns:a16="http://schemas.microsoft.com/office/drawing/2014/main" id="{D82AB209-6BF0-432C-AA65-F4A0D1FB1F5D}"/>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152F215B-3771-4361-91D2-E607C732C05A}" type="slidenum">
              <a:rPr lang="en-US" altLang="en-US" sz="1200" smtClean="0"/>
              <a:pPr/>
              <a:t>32</a:t>
            </a:fld>
            <a:endParaRPr lang="en-US"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F12DD755-3B7A-40E4-A27D-502D050BFEF2}"/>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ACE297C7-521C-4C90-8709-21FB06973A4A}"/>
              </a:ext>
            </a:extLst>
          </p:cNvPr>
          <p:cNvSpPr>
            <a:spLocks noGrp="1" noChangeArrowheads="1"/>
          </p:cNvSpPr>
          <p:nvPr>
            <p:ph type="body" idx="1"/>
          </p:nvPr>
        </p:nvSpPr>
        <p:spPr>
          <a:noFill/>
        </p:spPr>
        <p:txBody>
          <a:bodyPr/>
          <a:lstStyle/>
          <a:p>
            <a:endParaRPr lang="en-US" altLang="en-US"/>
          </a:p>
        </p:txBody>
      </p:sp>
      <p:sp>
        <p:nvSpPr>
          <p:cNvPr id="32772" name="Slide Number Placeholder 3">
            <a:extLst>
              <a:ext uri="{FF2B5EF4-FFF2-40B4-BE49-F238E27FC236}">
                <a16:creationId xmlns:a16="http://schemas.microsoft.com/office/drawing/2014/main" id="{6FB15FB6-7D31-4B0C-B341-D3594E3700D6}"/>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CA94495-B463-4AC0-B1B7-D426540714C3}" type="slidenum">
              <a:rPr lang="en-US" altLang="en-US" sz="1200" smtClean="0"/>
              <a:pPr/>
              <a:t>33</a:t>
            </a:fld>
            <a:endParaRPr lang="en-US"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B5A2CA55-C35A-42CC-B9D7-B2A7962F0975}"/>
              </a:ext>
            </a:extLst>
          </p:cNvPr>
          <p:cNvSpPr>
            <a:spLocks noGrp="1" noRot="1" noChangeAspect="1" noChangeArrowheads="1" noTextEdit="1"/>
          </p:cNvSpPr>
          <p:nvPr>
            <p:ph type="sldImg"/>
          </p:nvPr>
        </p:nvSpPr>
        <p:spPr>
          <a:ln/>
        </p:spPr>
      </p:sp>
      <p:sp>
        <p:nvSpPr>
          <p:cNvPr id="34819" name="Notes Placeholder 2">
            <a:extLst>
              <a:ext uri="{FF2B5EF4-FFF2-40B4-BE49-F238E27FC236}">
                <a16:creationId xmlns:a16="http://schemas.microsoft.com/office/drawing/2014/main" id="{AB12081F-B7EE-4D88-903A-18216B418B58}"/>
              </a:ext>
            </a:extLst>
          </p:cNvPr>
          <p:cNvSpPr>
            <a:spLocks noGrp="1" noChangeArrowheads="1"/>
          </p:cNvSpPr>
          <p:nvPr>
            <p:ph type="body" idx="1"/>
          </p:nvPr>
        </p:nvSpPr>
        <p:spPr>
          <a:noFill/>
        </p:spPr>
        <p:txBody>
          <a:bodyPr/>
          <a:lstStyle/>
          <a:p>
            <a:endParaRPr lang="en-US" altLang="en-US"/>
          </a:p>
        </p:txBody>
      </p:sp>
      <p:sp>
        <p:nvSpPr>
          <p:cNvPr id="34820" name="Slide Number Placeholder 3">
            <a:extLst>
              <a:ext uri="{FF2B5EF4-FFF2-40B4-BE49-F238E27FC236}">
                <a16:creationId xmlns:a16="http://schemas.microsoft.com/office/drawing/2014/main" id="{C3446286-368A-49B3-86A2-C43A3D715F07}"/>
              </a:ext>
            </a:extLst>
          </p:cNvPr>
          <p:cNvSpPr>
            <a:spLocks noGrp="1"/>
          </p:cNvSpPr>
          <p:nvPr>
            <p:ph type="sldNum" sz="quarter" idx="5"/>
          </p:nvPr>
        </p:nvSpPr>
        <p:spPr>
          <a:noFill/>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1036E417-E504-4A02-95D9-F2580558940A}" type="slidenum">
              <a:rPr lang="en-US" altLang="en-US" sz="1200" smtClean="0"/>
              <a:pPr/>
              <a:t>34</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a:extLst>
              <a:ext uri="{FF2B5EF4-FFF2-40B4-BE49-F238E27FC236}">
                <a16:creationId xmlns:a16="http://schemas.microsoft.com/office/drawing/2014/main" id="{6BF57B1E-B713-4407-BE03-181EE5F9F704}"/>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5" name="Rectangle 5">
            <a:extLst>
              <a:ext uri="{FF2B5EF4-FFF2-40B4-BE49-F238E27FC236}">
                <a16:creationId xmlns:a16="http://schemas.microsoft.com/office/drawing/2014/main" id="{0FD20A25-91C4-4993-9219-6C12206FDDB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52E170F-7A9F-4CA5-A6EE-E6D1E03E586E}"/>
              </a:ext>
            </a:extLst>
          </p:cNvPr>
          <p:cNvSpPr>
            <a:spLocks noGrp="1" noChangeArrowheads="1"/>
          </p:cNvSpPr>
          <p:nvPr>
            <p:ph type="sldNum" sz="quarter" idx="12"/>
          </p:nvPr>
        </p:nvSpPr>
        <p:spPr>
          <a:ln/>
        </p:spPr>
        <p:txBody>
          <a:bodyPr/>
          <a:lstStyle>
            <a:lvl1pPr>
              <a:defRPr/>
            </a:lvl1pPr>
          </a:lstStyle>
          <a:p>
            <a:pPr>
              <a:defRPr/>
            </a:pPr>
            <a:fld id="{3D8DC959-EB8A-47B3-A3B8-4E501DB80ED9}" type="slidenum">
              <a:rPr lang="en-US" altLang="en-US"/>
              <a:pPr>
                <a:defRPr/>
              </a:pPr>
              <a:t>‹#›</a:t>
            </a:fld>
            <a:endParaRPr lang="en-US" altLang="en-US"/>
          </a:p>
        </p:txBody>
      </p:sp>
    </p:spTree>
    <p:extLst>
      <p:ext uri="{BB962C8B-B14F-4D97-AF65-F5344CB8AC3E}">
        <p14:creationId xmlns:p14="http://schemas.microsoft.com/office/powerpoint/2010/main" val="2465739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274D374E-E399-4592-988F-250AD8790252}"/>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5" name="Rectangle 5">
            <a:extLst>
              <a:ext uri="{FF2B5EF4-FFF2-40B4-BE49-F238E27FC236}">
                <a16:creationId xmlns:a16="http://schemas.microsoft.com/office/drawing/2014/main" id="{9242779A-185B-4C97-BCCB-520F030D736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A3FA8C1-C3BB-4264-BD2C-C568F568ACA5}"/>
              </a:ext>
            </a:extLst>
          </p:cNvPr>
          <p:cNvSpPr>
            <a:spLocks noGrp="1" noChangeArrowheads="1"/>
          </p:cNvSpPr>
          <p:nvPr>
            <p:ph type="sldNum" sz="quarter" idx="12"/>
          </p:nvPr>
        </p:nvSpPr>
        <p:spPr>
          <a:ln/>
        </p:spPr>
        <p:txBody>
          <a:bodyPr/>
          <a:lstStyle>
            <a:lvl1pPr>
              <a:defRPr/>
            </a:lvl1pPr>
          </a:lstStyle>
          <a:p>
            <a:pPr>
              <a:defRPr/>
            </a:pPr>
            <a:fld id="{A3472AFB-9ED2-4365-9879-9C0E8BD85D32}" type="slidenum">
              <a:rPr lang="en-US" altLang="en-US"/>
              <a:pPr>
                <a:defRPr/>
              </a:pPr>
              <a:t>‹#›</a:t>
            </a:fld>
            <a:endParaRPr lang="en-US" altLang="en-US"/>
          </a:p>
        </p:txBody>
      </p:sp>
    </p:spTree>
    <p:extLst>
      <p:ext uri="{BB962C8B-B14F-4D97-AF65-F5344CB8AC3E}">
        <p14:creationId xmlns:p14="http://schemas.microsoft.com/office/powerpoint/2010/main" val="4225445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4">
            <a:extLst>
              <a:ext uri="{FF2B5EF4-FFF2-40B4-BE49-F238E27FC236}">
                <a16:creationId xmlns:a16="http://schemas.microsoft.com/office/drawing/2014/main" id="{DA4769C9-EE73-4C8D-A53E-6CEF1027AC89}"/>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5" name="Rectangle 5">
            <a:extLst>
              <a:ext uri="{FF2B5EF4-FFF2-40B4-BE49-F238E27FC236}">
                <a16:creationId xmlns:a16="http://schemas.microsoft.com/office/drawing/2014/main" id="{18DB22F3-4A73-4FFA-B00F-B61B077B2BB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8530958-579C-409B-A3BE-89444FC6A15E}"/>
              </a:ext>
            </a:extLst>
          </p:cNvPr>
          <p:cNvSpPr>
            <a:spLocks noGrp="1" noChangeArrowheads="1"/>
          </p:cNvSpPr>
          <p:nvPr>
            <p:ph type="sldNum" sz="quarter" idx="12"/>
          </p:nvPr>
        </p:nvSpPr>
        <p:spPr>
          <a:ln/>
        </p:spPr>
        <p:txBody>
          <a:bodyPr/>
          <a:lstStyle>
            <a:lvl1pPr>
              <a:defRPr/>
            </a:lvl1pPr>
          </a:lstStyle>
          <a:p>
            <a:pPr>
              <a:defRPr/>
            </a:pPr>
            <a:fld id="{148BFFD0-794F-4FC8-954F-C5FE8C59AAE3}" type="slidenum">
              <a:rPr lang="en-US" altLang="en-US"/>
              <a:pPr>
                <a:defRPr/>
              </a:pPr>
              <a:t>‹#›</a:t>
            </a:fld>
            <a:endParaRPr lang="en-US" altLang="en-US"/>
          </a:p>
        </p:txBody>
      </p:sp>
    </p:spTree>
    <p:extLst>
      <p:ext uri="{BB962C8B-B14F-4D97-AF65-F5344CB8AC3E}">
        <p14:creationId xmlns:p14="http://schemas.microsoft.com/office/powerpoint/2010/main" val="3703888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981200"/>
            <a:ext cx="381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60CF711F-D15A-476C-A0E5-0CAC45C44293}"/>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6" name="Rectangle 5">
            <a:extLst>
              <a:ext uri="{FF2B5EF4-FFF2-40B4-BE49-F238E27FC236}">
                <a16:creationId xmlns:a16="http://schemas.microsoft.com/office/drawing/2014/main" id="{7FFB93D0-5077-4394-89AE-107BA88EF90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CED4AC57-4392-4048-9D7F-7B02A3724E28}"/>
              </a:ext>
            </a:extLst>
          </p:cNvPr>
          <p:cNvSpPr>
            <a:spLocks noGrp="1" noChangeArrowheads="1"/>
          </p:cNvSpPr>
          <p:nvPr>
            <p:ph type="sldNum" sz="quarter" idx="12"/>
          </p:nvPr>
        </p:nvSpPr>
        <p:spPr>
          <a:ln/>
        </p:spPr>
        <p:txBody>
          <a:bodyPr/>
          <a:lstStyle>
            <a:lvl1pPr>
              <a:defRPr/>
            </a:lvl1pPr>
          </a:lstStyle>
          <a:p>
            <a:pPr>
              <a:defRPr/>
            </a:pPr>
            <a:fld id="{8F04CD8F-E84D-4C6C-A6B9-B982707B81A5}" type="slidenum">
              <a:rPr lang="en-US" altLang="en-US"/>
              <a:pPr>
                <a:defRPr/>
              </a:pPr>
              <a:t>‹#›</a:t>
            </a:fld>
            <a:endParaRPr lang="en-US" altLang="en-US"/>
          </a:p>
        </p:txBody>
      </p:sp>
    </p:spTree>
    <p:extLst>
      <p:ext uri="{BB962C8B-B14F-4D97-AF65-F5344CB8AC3E}">
        <p14:creationId xmlns:p14="http://schemas.microsoft.com/office/powerpoint/2010/main" val="1866855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a16="http://schemas.microsoft.com/office/drawing/2014/main" id="{8AE1A42F-E3DF-45B8-9601-AF6F8AC62022}"/>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8" name="Rectangle 5">
            <a:extLst>
              <a:ext uri="{FF2B5EF4-FFF2-40B4-BE49-F238E27FC236}">
                <a16:creationId xmlns:a16="http://schemas.microsoft.com/office/drawing/2014/main" id="{6FCF388D-8A2D-47AA-A006-58414C5E518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69485CB5-3FAE-4434-8DC1-2FE90FDF35E3}"/>
              </a:ext>
            </a:extLst>
          </p:cNvPr>
          <p:cNvSpPr>
            <a:spLocks noGrp="1" noChangeArrowheads="1"/>
          </p:cNvSpPr>
          <p:nvPr>
            <p:ph type="sldNum" sz="quarter" idx="12"/>
          </p:nvPr>
        </p:nvSpPr>
        <p:spPr>
          <a:ln/>
        </p:spPr>
        <p:txBody>
          <a:bodyPr/>
          <a:lstStyle>
            <a:lvl1pPr>
              <a:defRPr/>
            </a:lvl1pPr>
          </a:lstStyle>
          <a:p>
            <a:pPr>
              <a:defRPr/>
            </a:pPr>
            <a:fld id="{77B66EB3-3871-471C-A78D-1174579DF621}" type="slidenum">
              <a:rPr lang="en-US" altLang="en-US"/>
              <a:pPr>
                <a:defRPr/>
              </a:pPr>
              <a:t>‹#›</a:t>
            </a:fld>
            <a:endParaRPr lang="en-US" altLang="en-US"/>
          </a:p>
        </p:txBody>
      </p:sp>
    </p:spTree>
    <p:extLst>
      <p:ext uri="{BB962C8B-B14F-4D97-AF65-F5344CB8AC3E}">
        <p14:creationId xmlns:p14="http://schemas.microsoft.com/office/powerpoint/2010/main" val="1131696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a16="http://schemas.microsoft.com/office/drawing/2014/main" id="{DAA6776F-E8FC-42AD-B170-063C65EBB404}"/>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4" name="Rectangle 5">
            <a:extLst>
              <a:ext uri="{FF2B5EF4-FFF2-40B4-BE49-F238E27FC236}">
                <a16:creationId xmlns:a16="http://schemas.microsoft.com/office/drawing/2014/main" id="{DA2C0053-3CDC-454D-8170-C6080239427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752C37C7-218C-4599-A640-5D70AA576559}"/>
              </a:ext>
            </a:extLst>
          </p:cNvPr>
          <p:cNvSpPr>
            <a:spLocks noGrp="1" noChangeArrowheads="1"/>
          </p:cNvSpPr>
          <p:nvPr>
            <p:ph type="sldNum" sz="quarter" idx="12"/>
          </p:nvPr>
        </p:nvSpPr>
        <p:spPr>
          <a:ln/>
        </p:spPr>
        <p:txBody>
          <a:bodyPr/>
          <a:lstStyle>
            <a:lvl1pPr>
              <a:defRPr/>
            </a:lvl1pPr>
          </a:lstStyle>
          <a:p>
            <a:pPr>
              <a:defRPr/>
            </a:pPr>
            <a:fld id="{1CF896FF-88C4-4B3B-BF10-3F90A8170CA6}" type="slidenum">
              <a:rPr lang="en-US" altLang="en-US"/>
              <a:pPr>
                <a:defRPr/>
              </a:pPr>
              <a:t>‹#›</a:t>
            </a:fld>
            <a:endParaRPr lang="en-US" altLang="en-US"/>
          </a:p>
        </p:txBody>
      </p:sp>
    </p:spTree>
    <p:extLst>
      <p:ext uri="{BB962C8B-B14F-4D97-AF65-F5344CB8AC3E}">
        <p14:creationId xmlns:p14="http://schemas.microsoft.com/office/powerpoint/2010/main" val="2298235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AFAC433-9C18-4550-A947-4BB194C68225}"/>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3" name="Rectangle 5">
            <a:extLst>
              <a:ext uri="{FF2B5EF4-FFF2-40B4-BE49-F238E27FC236}">
                <a16:creationId xmlns:a16="http://schemas.microsoft.com/office/drawing/2014/main" id="{B1FB36E0-033B-4001-A4E9-74D67BED4E9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D5C700E2-44CE-4083-98CA-7A60ACDD6D2D}"/>
              </a:ext>
            </a:extLst>
          </p:cNvPr>
          <p:cNvSpPr>
            <a:spLocks noGrp="1" noChangeArrowheads="1"/>
          </p:cNvSpPr>
          <p:nvPr>
            <p:ph type="sldNum" sz="quarter" idx="12"/>
          </p:nvPr>
        </p:nvSpPr>
        <p:spPr>
          <a:ln/>
        </p:spPr>
        <p:txBody>
          <a:bodyPr/>
          <a:lstStyle>
            <a:lvl1pPr>
              <a:defRPr/>
            </a:lvl1pPr>
          </a:lstStyle>
          <a:p>
            <a:pPr>
              <a:defRPr/>
            </a:pPr>
            <a:fld id="{2B33D85D-0750-4E27-8271-A21C8D4FF770}" type="slidenum">
              <a:rPr lang="en-US" altLang="en-US"/>
              <a:pPr>
                <a:defRPr/>
              </a:pPr>
              <a:t>‹#›</a:t>
            </a:fld>
            <a:endParaRPr lang="en-US" altLang="en-US"/>
          </a:p>
        </p:txBody>
      </p:sp>
    </p:spTree>
    <p:extLst>
      <p:ext uri="{BB962C8B-B14F-4D97-AF65-F5344CB8AC3E}">
        <p14:creationId xmlns:p14="http://schemas.microsoft.com/office/powerpoint/2010/main" val="205673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33544026-F551-41D6-AA41-4929CBA8ECFC}"/>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6" name="Rectangle 5">
            <a:extLst>
              <a:ext uri="{FF2B5EF4-FFF2-40B4-BE49-F238E27FC236}">
                <a16:creationId xmlns:a16="http://schemas.microsoft.com/office/drawing/2014/main" id="{69A623DA-8E0B-48F3-A793-40FE445DA98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A157DDAC-0789-44E7-B39D-B1C53AE2D7C6}"/>
              </a:ext>
            </a:extLst>
          </p:cNvPr>
          <p:cNvSpPr>
            <a:spLocks noGrp="1" noChangeArrowheads="1"/>
          </p:cNvSpPr>
          <p:nvPr>
            <p:ph type="sldNum" sz="quarter" idx="12"/>
          </p:nvPr>
        </p:nvSpPr>
        <p:spPr>
          <a:ln/>
        </p:spPr>
        <p:txBody>
          <a:bodyPr/>
          <a:lstStyle>
            <a:lvl1pPr>
              <a:defRPr/>
            </a:lvl1pPr>
          </a:lstStyle>
          <a:p>
            <a:pPr>
              <a:defRPr/>
            </a:pPr>
            <a:fld id="{EC1B36D7-B5EB-4ACC-A688-A31545DC0B0F}" type="slidenum">
              <a:rPr lang="en-US" altLang="en-US"/>
              <a:pPr>
                <a:defRPr/>
              </a:pPr>
              <a:t>‹#›</a:t>
            </a:fld>
            <a:endParaRPr lang="en-US" altLang="en-US"/>
          </a:p>
        </p:txBody>
      </p:sp>
    </p:spTree>
    <p:extLst>
      <p:ext uri="{BB962C8B-B14F-4D97-AF65-F5344CB8AC3E}">
        <p14:creationId xmlns:p14="http://schemas.microsoft.com/office/powerpoint/2010/main" val="1420754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4">
            <a:extLst>
              <a:ext uri="{FF2B5EF4-FFF2-40B4-BE49-F238E27FC236}">
                <a16:creationId xmlns:a16="http://schemas.microsoft.com/office/drawing/2014/main" id="{4E120786-EC07-4133-AB02-0CD68BB957A4}"/>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6" name="Rectangle 5">
            <a:extLst>
              <a:ext uri="{FF2B5EF4-FFF2-40B4-BE49-F238E27FC236}">
                <a16:creationId xmlns:a16="http://schemas.microsoft.com/office/drawing/2014/main" id="{FB077349-3021-4A82-9BC8-860E6CFE413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D644E40B-2C6B-4E23-8D2C-996A33305B79}"/>
              </a:ext>
            </a:extLst>
          </p:cNvPr>
          <p:cNvSpPr>
            <a:spLocks noGrp="1" noChangeArrowheads="1"/>
          </p:cNvSpPr>
          <p:nvPr>
            <p:ph type="sldNum" sz="quarter" idx="12"/>
          </p:nvPr>
        </p:nvSpPr>
        <p:spPr>
          <a:ln/>
        </p:spPr>
        <p:txBody>
          <a:bodyPr/>
          <a:lstStyle>
            <a:lvl1pPr>
              <a:defRPr/>
            </a:lvl1pPr>
          </a:lstStyle>
          <a:p>
            <a:pPr>
              <a:defRPr/>
            </a:pPr>
            <a:fld id="{CFC85E7A-E5EA-4395-889A-8C3C95D4AB89}" type="slidenum">
              <a:rPr lang="en-US" altLang="en-US"/>
              <a:pPr>
                <a:defRPr/>
              </a:pPr>
              <a:t>‹#›</a:t>
            </a:fld>
            <a:endParaRPr lang="en-US" altLang="en-US"/>
          </a:p>
        </p:txBody>
      </p:sp>
    </p:spTree>
    <p:extLst>
      <p:ext uri="{BB962C8B-B14F-4D97-AF65-F5344CB8AC3E}">
        <p14:creationId xmlns:p14="http://schemas.microsoft.com/office/powerpoint/2010/main" val="4080282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E6EC662E-9545-4B22-9D11-74464B6BD83D}"/>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5" name="Rectangle 5">
            <a:extLst>
              <a:ext uri="{FF2B5EF4-FFF2-40B4-BE49-F238E27FC236}">
                <a16:creationId xmlns:a16="http://schemas.microsoft.com/office/drawing/2014/main" id="{D797C2C7-9C00-4DD5-A8D6-9D71ED3B92D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E9A22045-BF42-4922-9641-8D157B11F4F6}"/>
              </a:ext>
            </a:extLst>
          </p:cNvPr>
          <p:cNvSpPr>
            <a:spLocks noGrp="1" noChangeArrowheads="1"/>
          </p:cNvSpPr>
          <p:nvPr>
            <p:ph type="sldNum" sz="quarter" idx="12"/>
          </p:nvPr>
        </p:nvSpPr>
        <p:spPr>
          <a:ln/>
        </p:spPr>
        <p:txBody>
          <a:bodyPr/>
          <a:lstStyle>
            <a:lvl1pPr>
              <a:defRPr/>
            </a:lvl1pPr>
          </a:lstStyle>
          <a:p>
            <a:pPr>
              <a:defRPr/>
            </a:pPr>
            <a:fld id="{9D06E2B9-C007-4A3D-BE5E-DF10F5A8A4EA}" type="slidenum">
              <a:rPr lang="en-US" altLang="en-US"/>
              <a:pPr>
                <a:defRPr/>
              </a:pPr>
              <a:t>‹#›</a:t>
            </a:fld>
            <a:endParaRPr lang="en-US" altLang="en-US"/>
          </a:p>
        </p:txBody>
      </p:sp>
    </p:spTree>
    <p:extLst>
      <p:ext uri="{BB962C8B-B14F-4D97-AF65-F5344CB8AC3E}">
        <p14:creationId xmlns:p14="http://schemas.microsoft.com/office/powerpoint/2010/main" val="1743930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368ACCC0-300D-417A-B24A-A047C5DC5E61}"/>
              </a:ext>
            </a:extLst>
          </p:cNvPr>
          <p:cNvSpPr>
            <a:spLocks noGrp="1" noChangeArrowheads="1"/>
          </p:cNvSpPr>
          <p:nvPr>
            <p:ph type="dt" sz="half" idx="10"/>
          </p:nvPr>
        </p:nvSpPr>
        <p:spPr>
          <a:ln/>
        </p:spPr>
        <p:txBody>
          <a:bodyPr/>
          <a:lstStyle>
            <a:lvl1pPr>
              <a:defRPr/>
            </a:lvl1pPr>
          </a:lstStyle>
          <a:p>
            <a:pPr>
              <a:defRPr/>
            </a:pPr>
            <a:r>
              <a:rPr lang="en-US" altLang="en-US"/>
              <a:t>CSE, IIT Kharagpur</a:t>
            </a:r>
          </a:p>
        </p:txBody>
      </p:sp>
      <p:sp>
        <p:nvSpPr>
          <p:cNvPr id="5" name="Rectangle 5">
            <a:extLst>
              <a:ext uri="{FF2B5EF4-FFF2-40B4-BE49-F238E27FC236}">
                <a16:creationId xmlns:a16="http://schemas.microsoft.com/office/drawing/2014/main" id="{13865954-C87D-475B-A7A9-6818832AF2C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7707DAB5-D6A6-479B-B142-090351A56CAB}"/>
              </a:ext>
            </a:extLst>
          </p:cNvPr>
          <p:cNvSpPr>
            <a:spLocks noGrp="1" noChangeArrowheads="1"/>
          </p:cNvSpPr>
          <p:nvPr>
            <p:ph type="sldNum" sz="quarter" idx="12"/>
          </p:nvPr>
        </p:nvSpPr>
        <p:spPr>
          <a:ln/>
        </p:spPr>
        <p:txBody>
          <a:bodyPr/>
          <a:lstStyle>
            <a:lvl1pPr>
              <a:defRPr/>
            </a:lvl1pPr>
          </a:lstStyle>
          <a:p>
            <a:pPr>
              <a:defRPr/>
            </a:pPr>
            <a:fld id="{A1FDE56E-70E5-498D-9DD3-945CDEC07446}" type="slidenum">
              <a:rPr lang="en-US" altLang="en-US"/>
              <a:pPr>
                <a:defRPr/>
              </a:pPr>
              <a:t>‹#›</a:t>
            </a:fld>
            <a:endParaRPr lang="en-US" altLang="en-US"/>
          </a:p>
        </p:txBody>
      </p:sp>
    </p:spTree>
    <p:extLst>
      <p:ext uri="{BB962C8B-B14F-4D97-AF65-F5344CB8AC3E}">
        <p14:creationId xmlns:p14="http://schemas.microsoft.com/office/powerpoint/2010/main" val="4154368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2FBE063-87EF-45EB-A984-33FFB040423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ADEA9685-F7D8-4BE1-8C25-1C842C88027A}"/>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33774CA-B703-44A4-8308-307803047107}"/>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pPr>
              <a:defRPr/>
            </a:pPr>
            <a:r>
              <a:rPr lang="en-US" altLang="en-US"/>
              <a:t>CSE, IIT Kharagpur</a:t>
            </a:r>
          </a:p>
        </p:txBody>
      </p:sp>
      <p:sp>
        <p:nvSpPr>
          <p:cNvPr id="1029" name="Rectangle 5">
            <a:extLst>
              <a:ext uri="{FF2B5EF4-FFF2-40B4-BE49-F238E27FC236}">
                <a16:creationId xmlns:a16="http://schemas.microsoft.com/office/drawing/2014/main" id="{16EDE947-F9BA-48F2-9359-0B3B8DF0E92D}"/>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en-US"/>
          </a:p>
        </p:txBody>
      </p:sp>
      <p:sp>
        <p:nvSpPr>
          <p:cNvPr id="1030" name="Rectangle 6">
            <a:extLst>
              <a:ext uri="{FF2B5EF4-FFF2-40B4-BE49-F238E27FC236}">
                <a16:creationId xmlns:a16="http://schemas.microsoft.com/office/drawing/2014/main" id="{BD3017CA-E5EA-425D-885C-85C4A3E3CBBE}"/>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mn-lt"/>
              </a:defRPr>
            </a:lvl1pPr>
          </a:lstStyle>
          <a:p>
            <a:pPr>
              <a:defRPr/>
            </a:pPr>
            <a:fld id="{911A9ADB-54D4-4D5E-B571-E9FC6430E7D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3200" kern="1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panose="020B0604020202020204" pitchFamily="34" charset="0"/>
        </a:defRPr>
      </a:lvl2pPr>
      <a:lvl3pPr algn="ctr" rtl="0" eaLnBrk="0" fontAlgn="base" hangingPunct="0">
        <a:spcBef>
          <a:spcPct val="0"/>
        </a:spcBef>
        <a:spcAft>
          <a:spcPct val="0"/>
        </a:spcAft>
        <a:defRPr sz="3200">
          <a:solidFill>
            <a:schemeClr val="tx2"/>
          </a:solidFill>
          <a:latin typeface="Arial" panose="020B0604020202020204" pitchFamily="34" charset="0"/>
        </a:defRPr>
      </a:lvl3pPr>
      <a:lvl4pPr algn="ctr" rtl="0" eaLnBrk="0" fontAlgn="base" hangingPunct="0">
        <a:spcBef>
          <a:spcPct val="0"/>
        </a:spcBef>
        <a:spcAft>
          <a:spcPct val="0"/>
        </a:spcAft>
        <a:defRPr sz="3200">
          <a:solidFill>
            <a:schemeClr val="tx2"/>
          </a:solidFill>
          <a:latin typeface="Arial" panose="020B0604020202020204" pitchFamily="34" charset="0"/>
        </a:defRPr>
      </a:lvl4pPr>
      <a:lvl5pPr algn="ctr" rtl="0" eaLnBrk="0" fontAlgn="base" hangingPunct="0">
        <a:spcBef>
          <a:spcPct val="0"/>
        </a:spcBef>
        <a:spcAft>
          <a:spcPct val="0"/>
        </a:spcAft>
        <a:defRPr sz="3200">
          <a:solidFill>
            <a:schemeClr val="tx2"/>
          </a:solidFill>
          <a:latin typeface="Arial" panose="020B0604020202020204" pitchFamily="34" charset="0"/>
        </a:defRPr>
      </a:lvl5pPr>
      <a:lvl6pPr marL="457200" algn="ctr" rtl="0" fontAlgn="base">
        <a:spcBef>
          <a:spcPct val="0"/>
        </a:spcBef>
        <a:spcAft>
          <a:spcPct val="0"/>
        </a:spcAft>
        <a:defRPr sz="3200">
          <a:solidFill>
            <a:schemeClr val="tx2"/>
          </a:solidFill>
          <a:latin typeface="Arial" panose="020B0604020202020204" pitchFamily="34" charset="0"/>
        </a:defRPr>
      </a:lvl6pPr>
      <a:lvl7pPr marL="914400" algn="ctr" rtl="0" fontAlgn="base">
        <a:spcBef>
          <a:spcPct val="0"/>
        </a:spcBef>
        <a:spcAft>
          <a:spcPct val="0"/>
        </a:spcAft>
        <a:defRPr sz="3200">
          <a:solidFill>
            <a:schemeClr val="tx2"/>
          </a:solidFill>
          <a:latin typeface="Arial" panose="020B0604020202020204" pitchFamily="34" charset="0"/>
        </a:defRPr>
      </a:lvl7pPr>
      <a:lvl8pPr marL="1371600" algn="ctr" rtl="0" fontAlgn="base">
        <a:spcBef>
          <a:spcPct val="0"/>
        </a:spcBef>
        <a:spcAft>
          <a:spcPct val="0"/>
        </a:spcAft>
        <a:defRPr sz="3200">
          <a:solidFill>
            <a:schemeClr val="tx2"/>
          </a:solidFill>
          <a:latin typeface="Arial" panose="020B0604020202020204" pitchFamily="34" charset="0"/>
        </a:defRPr>
      </a:lvl8pPr>
      <a:lvl9pPr marL="1828800" algn="ctr" rtl="0" fontAlgn="base">
        <a:spcBef>
          <a:spcPct val="0"/>
        </a:spcBef>
        <a:spcAft>
          <a:spcPct val="0"/>
        </a:spcAft>
        <a:defRPr sz="32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7.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7.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8.wmf"/></Relationships>
</file>

<file path=ppt/slides/_rels/slide4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3.wmf"/><Relationship Id="rId5" Type="http://schemas.openxmlformats.org/officeDocument/2006/relationships/oleObject" Target="../embeddings/oleObject8.bin"/><Relationship Id="rId4" Type="http://schemas.openxmlformats.org/officeDocument/2006/relationships/image" Target="../media/image32.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image" Target="../media/image34.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5.wmf"/></Relationships>
</file>

<file path=ppt/slides/_rels/slide60.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7.wmf"/><Relationship Id="rId5" Type="http://schemas.openxmlformats.org/officeDocument/2006/relationships/oleObject" Target="../embeddings/oleObject12.bin"/><Relationship Id="rId10" Type="http://schemas.openxmlformats.org/officeDocument/2006/relationships/image" Target="../media/image35.wmf"/><Relationship Id="rId4" Type="http://schemas.openxmlformats.org/officeDocument/2006/relationships/image" Target="../media/image36.wmf"/><Relationship Id="rId9" Type="http://schemas.openxmlformats.org/officeDocument/2006/relationships/oleObject" Target="../embeddings/oleObject14.bin"/></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8.wmf"/><Relationship Id="rId5" Type="http://schemas.openxmlformats.org/officeDocument/2006/relationships/oleObject" Target="../embeddings/oleObject16.bin"/><Relationship Id="rId4" Type="http://schemas.openxmlformats.org/officeDocument/2006/relationships/image" Target="../media/image39.wmf"/></Relationships>
</file>

<file path=ppt/slides/_rels/slide62.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0.wmf"/><Relationship Id="rId5" Type="http://schemas.openxmlformats.org/officeDocument/2006/relationships/oleObject" Target="../embeddings/oleObject18.bin"/><Relationship Id="rId10" Type="http://schemas.openxmlformats.org/officeDocument/2006/relationships/image" Target="../media/image42.wmf"/><Relationship Id="rId4" Type="http://schemas.openxmlformats.org/officeDocument/2006/relationships/image" Target="../media/image39.wmf"/><Relationship Id="rId9" Type="http://schemas.openxmlformats.org/officeDocument/2006/relationships/oleObject" Target="../embeddings/oleObject20.bin"/></Relationships>
</file>

<file path=ppt/slides/_rels/slide63.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4.wmf"/><Relationship Id="rId5" Type="http://schemas.openxmlformats.org/officeDocument/2006/relationships/oleObject" Target="../embeddings/oleObject22.bin"/><Relationship Id="rId4" Type="http://schemas.openxmlformats.org/officeDocument/2006/relationships/image" Target="../media/image43.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image" Target="../media/image46.wmf"/><Relationship Id="rId5" Type="http://schemas.openxmlformats.org/officeDocument/2006/relationships/oleObject" Target="../embeddings/oleObject25.bin"/><Relationship Id="rId4" Type="http://schemas.openxmlformats.org/officeDocument/2006/relationships/image" Target="../media/image45.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F6DD6C1-497D-43C2-B974-CFE426A48886}"/>
              </a:ext>
            </a:extLst>
          </p:cNvPr>
          <p:cNvSpPr>
            <a:spLocks noGrp="1" noChangeArrowheads="1"/>
          </p:cNvSpPr>
          <p:nvPr>
            <p:ph type="ctrTitle"/>
          </p:nvPr>
        </p:nvSpPr>
        <p:spPr>
          <a:xfrm>
            <a:off x="685800" y="2286000"/>
            <a:ext cx="7772400" cy="1143000"/>
          </a:xfrm>
        </p:spPr>
        <p:txBody>
          <a:bodyPr anchor="ctr"/>
          <a:lstStyle/>
          <a:p>
            <a:pPr eaLnBrk="1" hangingPunct="1"/>
            <a:r>
              <a:rPr lang="en-US" altLang="en-US" sz="3200"/>
              <a:t>Inference in First-Order logic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7C3D1F4-345A-475F-A34E-51B24239AE0B}"/>
              </a:ext>
            </a:extLst>
          </p:cNvPr>
          <p:cNvSpPr>
            <a:spLocks noGrp="1" noChangeArrowheads="1"/>
          </p:cNvSpPr>
          <p:nvPr>
            <p:ph type="title"/>
          </p:nvPr>
        </p:nvSpPr>
        <p:spPr>
          <a:xfrm>
            <a:off x="395288" y="115888"/>
            <a:ext cx="7772400" cy="11430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Inference rules</a:t>
            </a:r>
          </a:p>
        </p:txBody>
      </p:sp>
      <p:sp>
        <p:nvSpPr>
          <p:cNvPr id="5123" name="Rectangle 3">
            <a:extLst>
              <a:ext uri="{FF2B5EF4-FFF2-40B4-BE49-F238E27FC236}">
                <a16:creationId xmlns:a16="http://schemas.microsoft.com/office/drawing/2014/main" id="{BC327985-9879-46A0-8630-0CC69D707511}"/>
              </a:ext>
            </a:extLst>
          </p:cNvPr>
          <p:cNvSpPr>
            <a:spLocks noGrp="1" noChangeArrowheads="1"/>
          </p:cNvSpPr>
          <p:nvPr>
            <p:ph type="body" idx="1"/>
          </p:nvPr>
        </p:nvSpPr>
        <p:spPr>
          <a:xfrm>
            <a:off x="395288" y="1628775"/>
            <a:ext cx="8424862" cy="4114800"/>
          </a:xfrm>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Universal elimination:</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Likes( x, IceCream ) with the substitution {x / Einstein} gives us Likes( Einstein, IceCream )</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The substitution has to be done by a ground term</a:t>
            </a:r>
          </a:p>
          <a:p>
            <a:pPr lvl="1"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Existential elimination:</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From  x  Likes( x, IceCream )  we infer Likes( Man, IceCream ) as long as Man does not appear elsewhere in the Knowledge base</a:t>
            </a:r>
          </a:p>
          <a:p>
            <a:pPr lvl="1"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Existential introduction:</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From Likes( Lisa, IceCream ) we can infer </a:t>
            </a:r>
          </a:p>
          <a:p>
            <a:pPr lvl="1"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x  Likes( x, IceCream )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035CBBBD-CC25-4D76-A42C-15B13D5008B6}"/>
              </a:ext>
            </a:extLst>
          </p:cNvPr>
          <p:cNvSpPr>
            <a:spLocks noGrp="1" noChangeArrowheads="1"/>
          </p:cNvSpPr>
          <p:nvPr>
            <p:ph type="title"/>
          </p:nvPr>
        </p:nvSpPr>
        <p:spPr/>
        <p:txBody>
          <a:bodyPr/>
          <a:lstStyle/>
          <a:p>
            <a:r>
              <a:rPr lang="en-US" altLang="en-US"/>
              <a:t>Inference Rules</a:t>
            </a:r>
          </a:p>
        </p:txBody>
      </p:sp>
      <p:sp>
        <p:nvSpPr>
          <p:cNvPr id="164867" name="Rectangle 3" descr="Rectangle: Click to edit Master text styles&#10;Second level&#10;Third level&#10;Fourth level&#10;Fifth level">
            <a:extLst>
              <a:ext uri="{FF2B5EF4-FFF2-40B4-BE49-F238E27FC236}">
                <a16:creationId xmlns:a16="http://schemas.microsoft.com/office/drawing/2014/main" id="{12ADFCED-0E25-4BC1-AA79-4588024A8914}"/>
              </a:ext>
            </a:extLst>
          </p:cNvPr>
          <p:cNvSpPr>
            <a:spLocks noGrp="1" noChangeArrowheads="1"/>
          </p:cNvSpPr>
          <p:nvPr>
            <p:ph type="body" idx="1"/>
          </p:nvPr>
        </p:nvSpPr>
        <p:spPr>
          <a:xfrm>
            <a:off x="533400" y="1600200"/>
            <a:ext cx="8305800" cy="4191000"/>
          </a:xfrm>
        </p:spPr>
        <p:txBody>
          <a:bodyPr/>
          <a:lstStyle/>
          <a:p>
            <a:r>
              <a:rPr lang="en-US" altLang="en-US" b="1" i="1">
                <a:sym typeface="Wingdings" panose="05000000000000000000" pitchFamily="2" charset="2"/>
              </a:rPr>
              <a:t>Universal Instantiation</a:t>
            </a:r>
            <a:r>
              <a:rPr lang="en-US" altLang="en-US">
                <a:sym typeface="Symbol" panose="05050102010706020507" pitchFamily="18" charset="2"/>
              </a:rPr>
              <a:t> </a:t>
            </a:r>
          </a:p>
          <a:p>
            <a:pPr lvl="1"/>
            <a:r>
              <a:rPr lang="en-US" altLang="en-US">
                <a:sym typeface="Symbol" panose="05050102010706020507" pitchFamily="18" charset="2"/>
              </a:rPr>
              <a:t>Infer a sentence obtained by substituting a ground term for the variable.</a:t>
            </a:r>
          </a:p>
          <a:p>
            <a:pPr lvl="1"/>
            <a:r>
              <a:rPr lang="en-US" altLang="en-US">
                <a:sym typeface="Symbol" panose="05050102010706020507" pitchFamily="18" charset="2"/>
              </a:rPr>
              <a:t></a:t>
            </a:r>
            <a:r>
              <a:rPr lang="en-US" altLang="en-US" i="1">
                <a:sym typeface="Symbol" panose="05050102010706020507" pitchFamily="18" charset="2"/>
              </a:rPr>
              <a:t>x </a:t>
            </a:r>
            <a:r>
              <a:rPr lang="en-US" altLang="en-US">
                <a:sym typeface="Symbol" panose="05050102010706020507" pitchFamily="18" charset="2"/>
              </a:rPr>
              <a:t></a:t>
            </a:r>
            <a:r>
              <a:rPr lang="en-US" altLang="en-US" i="1">
                <a:sym typeface="Symbol" panose="05050102010706020507" pitchFamily="18" charset="2"/>
              </a:rPr>
              <a:t>cat(x)  </a:t>
            </a:r>
            <a:r>
              <a:rPr lang="en-US" altLang="en-US" i="1">
                <a:sym typeface="Wingdings" panose="05000000000000000000" pitchFamily="2" charset="2"/>
              </a:rPr>
              <a:t> mammal(x);  cat(Felix), </a:t>
            </a:r>
            <a:r>
              <a:rPr lang="en-US" altLang="en-US">
                <a:sym typeface="Wingdings" panose="05000000000000000000" pitchFamily="2" charset="2"/>
              </a:rPr>
              <a:t>therefore, </a:t>
            </a:r>
            <a:r>
              <a:rPr lang="en-US" altLang="en-US" i="1">
                <a:sym typeface="Wingdings" panose="05000000000000000000" pitchFamily="2" charset="2"/>
              </a:rPr>
              <a:t>mammal(Felix)</a:t>
            </a:r>
            <a:endParaRPr lang="en-US" altLang="en-US" b="1">
              <a:sym typeface="Wingdings" panose="05000000000000000000" pitchFamily="2" charset="2"/>
            </a:endParaRPr>
          </a:p>
          <a:p>
            <a:r>
              <a:rPr lang="en-US" altLang="en-US" b="1" i="1">
                <a:sym typeface="Symbol" panose="05050102010706020507" pitchFamily="18" charset="2"/>
              </a:rPr>
              <a:t>Existential Generalization</a:t>
            </a:r>
          </a:p>
          <a:p>
            <a:pPr lvl="1"/>
            <a:r>
              <a:rPr lang="en-US" altLang="en-US" i="1">
                <a:sym typeface="Wingdings" panose="05000000000000000000" pitchFamily="2" charset="2"/>
              </a:rPr>
              <a:t>Q(A)    </a:t>
            </a:r>
            <a:r>
              <a:rPr lang="en-US" altLang="en-US">
                <a:sym typeface="Symbol" panose="05050102010706020507" pitchFamily="18" charset="2"/>
              </a:rPr>
              <a:t></a:t>
            </a:r>
            <a:r>
              <a:rPr lang="en-US" altLang="en-US" i="1">
                <a:sym typeface="Symbol" panose="05050102010706020507" pitchFamily="18" charset="2"/>
              </a:rPr>
              <a:t>x</a:t>
            </a:r>
            <a:r>
              <a:rPr lang="en-US" altLang="en-US" b="1" i="1">
                <a:sym typeface="Symbol" panose="05050102010706020507" pitchFamily="18" charset="2"/>
              </a:rPr>
              <a:t> </a:t>
            </a:r>
            <a:r>
              <a:rPr lang="en-US" altLang="en-US" i="1">
                <a:sym typeface="Symbol" panose="05050102010706020507" pitchFamily="18" charset="2"/>
              </a:rPr>
              <a:t>Q(x)</a:t>
            </a:r>
            <a:r>
              <a:rPr lang="en-US" altLang="en-US" b="1">
                <a:sym typeface="Symbol" panose="05050102010706020507" pitchFamily="18" charset="2"/>
              </a:rPr>
              <a:t>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4601563C-CFE9-4AA8-87CA-3AB49388220F}"/>
              </a:ext>
            </a:extLst>
          </p:cNvPr>
          <p:cNvSpPr>
            <a:spLocks noGrp="1" noChangeArrowheads="1"/>
          </p:cNvSpPr>
          <p:nvPr>
            <p:ph type="title"/>
          </p:nvPr>
        </p:nvSpPr>
        <p:spPr>
          <a:xfrm>
            <a:off x="609600" y="304800"/>
            <a:ext cx="7772400" cy="1011238"/>
          </a:xfrm>
        </p:spPr>
        <p:txBody>
          <a:bodyPr/>
          <a:lstStyle/>
          <a:p>
            <a:r>
              <a:rPr lang="en-US" altLang="en-US" sz="4000" dirty="0"/>
              <a:t>Inference Rules </a:t>
            </a:r>
          </a:p>
        </p:txBody>
      </p:sp>
      <p:sp>
        <p:nvSpPr>
          <p:cNvPr id="167939" name="Rectangle 3" descr="Rectangle: Click to edit Master text styles&#10;Second level&#10;Third level&#10;Fourth level&#10;Fifth level">
            <a:extLst>
              <a:ext uri="{FF2B5EF4-FFF2-40B4-BE49-F238E27FC236}">
                <a16:creationId xmlns:a16="http://schemas.microsoft.com/office/drawing/2014/main" id="{5072B498-2BD7-41B1-B9B5-D87F40181AB3}"/>
              </a:ext>
            </a:extLst>
          </p:cNvPr>
          <p:cNvSpPr>
            <a:spLocks noGrp="1" noChangeArrowheads="1"/>
          </p:cNvSpPr>
          <p:nvPr>
            <p:ph type="body" idx="1"/>
          </p:nvPr>
        </p:nvSpPr>
        <p:spPr>
          <a:xfrm>
            <a:off x="838200" y="1447800"/>
            <a:ext cx="3657600" cy="4191000"/>
          </a:xfrm>
        </p:spPr>
        <p:txBody>
          <a:bodyPr/>
          <a:lstStyle/>
          <a:p>
            <a:pPr>
              <a:lnSpc>
                <a:spcPct val="150000"/>
              </a:lnSpc>
            </a:pPr>
            <a:r>
              <a:rPr lang="en-US" altLang="en-US"/>
              <a:t>Modus ponens </a:t>
            </a:r>
          </a:p>
          <a:p>
            <a:pPr>
              <a:lnSpc>
                <a:spcPct val="150000"/>
              </a:lnSpc>
            </a:pPr>
            <a:r>
              <a:rPr lang="en-US" altLang="en-US"/>
              <a:t>And elimination</a:t>
            </a:r>
          </a:p>
          <a:p>
            <a:pPr>
              <a:lnSpc>
                <a:spcPct val="150000"/>
              </a:lnSpc>
            </a:pPr>
            <a:r>
              <a:rPr lang="en-US" altLang="en-US"/>
              <a:t>And introduction</a:t>
            </a:r>
          </a:p>
          <a:p>
            <a:pPr>
              <a:lnSpc>
                <a:spcPct val="150000"/>
              </a:lnSpc>
            </a:pPr>
            <a:r>
              <a:rPr lang="en-US" altLang="en-US"/>
              <a:t>Or introduction</a:t>
            </a:r>
          </a:p>
        </p:txBody>
      </p:sp>
      <p:grpSp>
        <p:nvGrpSpPr>
          <p:cNvPr id="167940" name="Group 4">
            <a:extLst>
              <a:ext uri="{FF2B5EF4-FFF2-40B4-BE49-F238E27FC236}">
                <a16:creationId xmlns:a16="http://schemas.microsoft.com/office/drawing/2014/main" id="{47A998FE-0334-40ED-BC26-6C741CE739D1}"/>
              </a:ext>
            </a:extLst>
          </p:cNvPr>
          <p:cNvGrpSpPr>
            <a:grpSpLocks/>
          </p:cNvGrpSpPr>
          <p:nvPr/>
        </p:nvGrpSpPr>
        <p:grpSpPr bwMode="auto">
          <a:xfrm>
            <a:off x="3886200" y="1676400"/>
            <a:ext cx="2667000" cy="762000"/>
            <a:chOff x="3840" y="1344"/>
            <a:chExt cx="1138" cy="529"/>
          </a:xfrm>
        </p:grpSpPr>
        <p:sp>
          <p:nvSpPr>
            <p:cNvPr id="167941" name="Text Box 5">
              <a:extLst>
                <a:ext uri="{FF2B5EF4-FFF2-40B4-BE49-F238E27FC236}">
                  <a16:creationId xmlns:a16="http://schemas.microsoft.com/office/drawing/2014/main" id="{ADDCB3B2-C078-4363-B377-788B78F2BAFB}"/>
                </a:ext>
              </a:extLst>
            </p:cNvPr>
            <p:cNvSpPr txBox="1">
              <a:spLocks noChangeArrowheads="1"/>
            </p:cNvSpPr>
            <p:nvPr/>
          </p:nvSpPr>
          <p:spPr bwMode="auto">
            <a:xfrm>
              <a:off x="3840" y="1344"/>
              <a:ext cx="1138"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000" i="1">
                  <a:latin typeface="Times New Roman" panose="02020603050405020304" pitchFamily="18" charset="0"/>
                  <a:sym typeface="Symbol" panose="05050102010706020507" pitchFamily="18" charset="2"/>
                </a:rPr>
                <a:t>P(x)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Q(x) ,   P(A)</a:t>
              </a:r>
            </a:p>
            <a:p>
              <a:pPr algn="ctr">
                <a:spcBef>
                  <a:spcPct val="20000"/>
                </a:spcBef>
                <a:buSzPct val="85000"/>
              </a:pPr>
              <a:r>
                <a:rPr lang="en-US" altLang="en-US" sz="2000" i="1">
                  <a:latin typeface="Times New Roman" panose="02020603050405020304" pitchFamily="18" charset="0"/>
                  <a:sym typeface="Symbol" panose="05050102010706020507" pitchFamily="18" charset="2"/>
                </a:rPr>
                <a:t>Q(A)</a:t>
              </a:r>
              <a:endParaRPr lang="en-US" altLang="en-US">
                <a:latin typeface="Times New Roman" panose="02020603050405020304" pitchFamily="18" charset="0"/>
              </a:endParaRPr>
            </a:p>
          </p:txBody>
        </p:sp>
        <p:sp>
          <p:nvSpPr>
            <p:cNvPr id="167942" name="Line 6">
              <a:extLst>
                <a:ext uri="{FF2B5EF4-FFF2-40B4-BE49-F238E27FC236}">
                  <a16:creationId xmlns:a16="http://schemas.microsoft.com/office/drawing/2014/main" id="{BD419D2E-4BC2-4EEF-A5F1-98652029C159}"/>
                </a:ext>
              </a:extLst>
            </p:cNvPr>
            <p:cNvSpPr>
              <a:spLocks noChangeShapeType="1"/>
            </p:cNvSpPr>
            <p:nvPr/>
          </p:nvSpPr>
          <p:spPr bwMode="auto">
            <a:xfrm>
              <a:off x="3984" y="1584"/>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167943" name="Group 7">
            <a:extLst>
              <a:ext uri="{FF2B5EF4-FFF2-40B4-BE49-F238E27FC236}">
                <a16:creationId xmlns:a16="http://schemas.microsoft.com/office/drawing/2014/main" id="{646DEBC9-0453-4F1E-B119-607F01A57BC2}"/>
              </a:ext>
            </a:extLst>
          </p:cNvPr>
          <p:cNvGrpSpPr>
            <a:grpSpLocks/>
          </p:cNvGrpSpPr>
          <p:nvPr/>
        </p:nvGrpSpPr>
        <p:grpSpPr bwMode="auto">
          <a:xfrm>
            <a:off x="4191000" y="2438400"/>
            <a:ext cx="3810000" cy="762000"/>
            <a:chOff x="3840" y="1344"/>
            <a:chExt cx="1138" cy="529"/>
          </a:xfrm>
        </p:grpSpPr>
        <p:sp>
          <p:nvSpPr>
            <p:cNvPr id="167944" name="Text Box 8">
              <a:extLst>
                <a:ext uri="{FF2B5EF4-FFF2-40B4-BE49-F238E27FC236}">
                  <a16:creationId xmlns:a16="http://schemas.microsoft.com/office/drawing/2014/main" id="{C5AED48D-1D7E-45AD-90B5-974BD42C06B6}"/>
                </a:ext>
              </a:extLst>
            </p:cNvPr>
            <p:cNvSpPr txBox="1">
              <a:spLocks noChangeArrowheads="1"/>
            </p:cNvSpPr>
            <p:nvPr/>
          </p:nvSpPr>
          <p:spPr bwMode="auto">
            <a:xfrm>
              <a:off x="3840" y="1344"/>
              <a:ext cx="1138"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000" i="1">
                  <a:latin typeface="Times New Roman" panose="02020603050405020304" pitchFamily="18" charset="0"/>
                </a:rPr>
                <a:t>P(A)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R(A)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S(A) </a:t>
              </a:r>
              <a:r>
                <a:rPr lang="en-US" altLang="en-US" sz="2000">
                  <a:latin typeface="Times New Roman" panose="02020603050405020304" pitchFamily="18" charset="0"/>
                  <a:sym typeface="Symbol" panose="05050102010706020507" pitchFamily="18" charset="2"/>
                </a:rPr>
                <a:t> …….</a:t>
              </a:r>
              <a:endParaRPr lang="en-US" altLang="en-US" sz="2000" i="1">
                <a:latin typeface="Times New Roman" panose="02020603050405020304" pitchFamily="18" charset="0"/>
                <a:sym typeface="Symbol" panose="05050102010706020507" pitchFamily="18" charset="2"/>
              </a:endParaRPr>
            </a:p>
            <a:p>
              <a:pPr algn="ctr">
                <a:spcBef>
                  <a:spcPct val="20000"/>
                </a:spcBef>
                <a:buSzPct val="85000"/>
              </a:pPr>
              <a:r>
                <a:rPr lang="en-US" altLang="en-US" sz="2000" i="1">
                  <a:latin typeface="Times New Roman" panose="02020603050405020304" pitchFamily="18" charset="0"/>
                  <a:sym typeface="Symbol" panose="05050102010706020507" pitchFamily="18" charset="2"/>
                </a:rPr>
                <a:t>P(A)</a:t>
              </a:r>
            </a:p>
          </p:txBody>
        </p:sp>
        <p:sp>
          <p:nvSpPr>
            <p:cNvPr id="167945" name="Line 9">
              <a:extLst>
                <a:ext uri="{FF2B5EF4-FFF2-40B4-BE49-F238E27FC236}">
                  <a16:creationId xmlns:a16="http://schemas.microsoft.com/office/drawing/2014/main" id="{E3D6758A-D5C0-4696-82CE-F60ACA014600}"/>
                </a:ext>
              </a:extLst>
            </p:cNvPr>
            <p:cNvSpPr>
              <a:spLocks noChangeShapeType="1"/>
            </p:cNvSpPr>
            <p:nvPr/>
          </p:nvSpPr>
          <p:spPr bwMode="auto">
            <a:xfrm>
              <a:off x="3984" y="1584"/>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167946" name="Group 10">
            <a:extLst>
              <a:ext uri="{FF2B5EF4-FFF2-40B4-BE49-F238E27FC236}">
                <a16:creationId xmlns:a16="http://schemas.microsoft.com/office/drawing/2014/main" id="{C64F37EF-C52A-4883-B273-6C2AD1286E0A}"/>
              </a:ext>
            </a:extLst>
          </p:cNvPr>
          <p:cNvGrpSpPr>
            <a:grpSpLocks/>
          </p:cNvGrpSpPr>
          <p:nvPr/>
        </p:nvGrpSpPr>
        <p:grpSpPr bwMode="auto">
          <a:xfrm>
            <a:off x="4038600" y="3124200"/>
            <a:ext cx="4343400" cy="762000"/>
            <a:chOff x="3840" y="1344"/>
            <a:chExt cx="1138" cy="529"/>
          </a:xfrm>
        </p:grpSpPr>
        <p:sp>
          <p:nvSpPr>
            <p:cNvPr id="167947" name="Text Box 11">
              <a:extLst>
                <a:ext uri="{FF2B5EF4-FFF2-40B4-BE49-F238E27FC236}">
                  <a16:creationId xmlns:a16="http://schemas.microsoft.com/office/drawing/2014/main" id="{691E58FA-52E7-4A4A-BBBA-3C174DEE1657}"/>
                </a:ext>
              </a:extLst>
            </p:cNvPr>
            <p:cNvSpPr txBox="1">
              <a:spLocks noChangeArrowheads="1"/>
            </p:cNvSpPr>
            <p:nvPr/>
          </p:nvSpPr>
          <p:spPr bwMode="auto">
            <a:xfrm>
              <a:off x="3840" y="1344"/>
              <a:ext cx="1138"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000" i="1">
                  <a:latin typeface="Times New Roman" panose="02020603050405020304" pitchFamily="18" charset="0"/>
                </a:rPr>
                <a:t>P(A)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R(A)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S(A) </a:t>
              </a:r>
              <a:r>
                <a:rPr lang="en-US" altLang="en-US" sz="2000">
                  <a:latin typeface="Times New Roman" panose="02020603050405020304" pitchFamily="18" charset="0"/>
                  <a:sym typeface="Symbol" panose="05050102010706020507" pitchFamily="18" charset="2"/>
                </a:rPr>
                <a:t>, …….</a:t>
              </a:r>
              <a:endParaRPr lang="en-US" altLang="en-US" sz="2000" i="1">
                <a:latin typeface="Times New Roman" panose="02020603050405020304" pitchFamily="18" charset="0"/>
                <a:sym typeface="Symbol" panose="05050102010706020507" pitchFamily="18" charset="2"/>
              </a:endParaRPr>
            </a:p>
            <a:p>
              <a:pPr algn="ctr">
                <a:spcBef>
                  <a:spcPct val="20000"/>
                </a:spcBef>
                <a:buSzPct val="85000"/>
              </a:pPr>
              <a:r>
                <a:rPr lang="en-US" altLang="en-US" sz="2000" i="1">
                  <a:latin typeface="Times New Roman" panose="02020603050405020304" pitchFamily="18" charset="0"/>
                </a:rPr>
                <a:t>P(A)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R(A)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S(A) </a:t>
              </a:r>
              <a:r>
                <a:rPr lang="en-US" altLang="en-US" sz="2000">
                  <a:latin typeface="Times New Roman" panose="02020603050405020304" pitchFamily="18" charset="0"/>
                  <a:sym typeface="Symbol" panose="05050102010706020507" pitchFamily="18" charset="2"/>
                </a:rPr>
                <a:t> …….</a:t>
              </a:r>
            </a:p>
          </p:txBody>
        </p:sp>
        <p:sp>
          <p:nvSpPr>
            <p:cNvPr id="167948" name="Line 12">
              <a:extLst>
                <a:ext uri="{FF2B5EF4-FFF2-40B4-BE49-F238E27FC236}">
                  <a16:creationId xmlns:a16="http://schemas.microsoft.com/office/drawing/2014/main" id="{E9CC3192-3923-41B8-B005-D4137C9A3A48}"/>
                </a:ext>
              </a:extLst>
            </p:cNvPr>
            <p:cNvSpPr>
              <a:spLocks noChangeShapeType="1"/>
            </p:cNvSpPr>
            <p:nvPr/>
          </p:nvSpPr>
          <p:spPr bwMode="auto">
            <a:xfrm>
              <a:off x="3984" y="1584"/>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167949" name="Group 13">
            <a:extLst>
              <a:ext uri="{FF2B5EF4-FFF2-40B4-BE49-F238E27FC236}">
                <a16:creationId xmlns:a16="http://schemas.microsoft.com/office/drawing/2014/main" id="{82E7877F-5FA5-4B07-955C-A461F9722053}"/>
              </a:ext>
            </a:extLst>
          </p:cNvPr>
          <p:cNvGrpSpPr>
            <a:grpSpLocks/>
          </p:cNvGrpSpPr>
          <p:nvPr/>
        </p:nvGrpSpPr>
        <p:grpSpPr bwMode="auto">
          <a:xfrm>
            <a:off x="3733800" y="3810000"/>
            <a:ext cx="4343400" cy="762000"/>
            <a:chOff x="3840" y="1344"/>
            <a:chExt cx="1138" cy="529"/>
          </a:xfrm>
        </p:grpSpPr>
        <p:sp>
          <p:nvSpPr>
            <p:cNvPr id="167950" name="Text Box 14">
              <a:extLst>
                <a:ext uri="{FF2B5EF4-FFF2-40B4-BE49-F238E27FC236}">
                  <a16:creationId xmlns:a16="http://schemas.microsoft.com/office/drawing/2014/main" id="{A295A135-8709-4010-8300-9D10CE75F3CE}"/>
                </a:ext>
              </a:extLst>
            </p:cNvPr>
            <p:cNvSpPr txBox="1">
              <a:spLocks noChangeArrowheads="1"/>
            </p:cNvSpPr>
            <p:nvPr/>
          </p:nvSpPr>
          <p:spPr bwMode="auto">
            <a:xfrm>
              <a:off x="3840" y="1344"/>
              <a:ext cx="1138"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000" i="1">
                  <a:latin typeface="Times New Roman" panose="02020603050405020304" pitchFamily="18" charset="0"/>
                </a:rPr>
                <a:t>P(A)       </a:t>
              </a:r>
              <a:endParaRPr lang="en-US" altLang="en-US" sz="2000">
                <a:latin typeface="Times New Roman" panose="02020603050405020304" pitchFamily="18" charset="0"/>
                <a:sym typeface="Symbol" panose="05050102010706020507" pitchFamily="18" charset="2"/>
              </a:endParaRPr>
            </a:p>
            <a:p>
              <a:pPr algn="ctr">
                <a:spcBef>
                  <a:spcPct val="20000"/>
                </a:spcBef>
                <a:buSzPct val="85000"/>
              </a:pPr>
              <a:r>
                <a:rPr lang="en-US" altLang="en-US" sz="2000" i="1">
                  <a:latin typeface="Times New Roman" panose="02020603050405020304" pitchFamily="18" charset="0"/>
                </a:rPr>
                <a:t>P(A)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R(A)</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S(A) </a:t>
              </a:r>
              <a:r>
                <a:rPr lang="en-US" altLang="en-US" sz="2000">
                  <a:latin typeface="Times New Roman" panose="02020603050405020304" pitchFamily="18" charset="0"/>
                  <a:sym typeface="Symbol" panose="05050102010706020507" pitchFamily="18" charset="2"/>
                </a:rPr>
                <a:t> …….</a:t>
              </a:r>
            </a:p>
          </p:txBody>
        </p:sp>
        <p:sp>
          <p:nvSpPr>
            <p:cNvPr id="167951" name="Line 15">
              <a:extLst>
                <a:ext uri="{FF2B5EF4-FFF2-40B4-BE49-F238E27FC236}">
                  <a16:creationId xmlns:a16="http://schemas.microsoft.com/office/drawing/2014/main" id="{8C097AFE-7672-45A1-A7B5-13FC36EB4084}"/>
                </a:ext>
              </a:extLst>
            </p:cNvPr>
            <p:cNvSpPr>
              <a:spLocks noChangeShapeType="1"/>
            </p:cNvSpPr>
            <p:nvPr/>
          </p:nvSpPr>
          <p:spPr bwMode="auto">
            <a:xfrm>
              <a:off x="3984" y="1584"/>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167940"/>
                                        </p:tgtEl>
                                        <p:attrNameLst>
                                          <p:attrName>style.visibility</p:attrName>
                                        </p:attrNameLst>
                                      </p:cBhvr>
                                      <p:to>
                                        <p:strVal val="visible"/>
                                      </p:to>
                                    </p:set>
                                    <p:anim calcmode="lin" valueType="num">
                                      <p:cBhvr additive="base">
                                        <p:cTn id="7" dur="500" fill="hold"/>
                                        <p:tgtEl>
                                          <p:spTgt spid="167940"/>
                                        </p:tgtEl>
                                        <p:attrNameLst>
                                          <p:attrName>ppt_x</p:attrName>
                                        </p:attrNameLst>
                                      </p:cBhvr>
                                      <p:tavLst>
                                        <p:tav tm="0">
                                          <p:val>
                                            <p:strVal val="#ppt_x"/>
                                          </p:val>
                                        </p:tav>
                                        <p:tav tm="100000">
                                          <p:val>
                                            <p:strVal val="#ppt_x"/>
                                          </p:val>
                                        </p:tav>
                                      </p:tavLst>
                                    </p:anim>
                                    <p:anim calcmode="lin" valueType="num">
                                      <p:cBhvr additive="base">
                                        <p:cTn id="8" dur="500" fill="hold"/>
                                        <p:tgtEl>
                                          <p:spTgt spid="16794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67943"/>
                                        </p:tgtEl>
                                        <p:attrNameLst>
                                          <p:attrName>style.visibility</p:attrName>
                                        </p:attrNameLst>
                                      </p:cBhvr>
                                      <p:to>
                                        <p:strVal val="visible"/>
                                      </p:to>
                                    </p:set>
                                    <p:anim calcmode="lin" valueType="num">
                                      <p:cBhvr additive="base">
                                        <p:cTn id="13" dur="500" fill="hold"/>
                                        <p:tgtEl>
                                          <p:spTgt spid="167943"/>
                                        </p:tgtEl>
                                        <p:attrNameLst>
                                          <p:attrName>ppt_x</p:attrName>
                                        </p:attrNameLst>
                                      </p:cBhvr>
                                      <p:tavLst>
                                        <p:tav tm="0">
                                          <p:val>
                                            <p:strVal val="1+#ppt_w/2"/>
                                          </p:val>
                                        </p:tav>
                                        <p:tav tm="100000">
                                          <p:val>
                                            <p:strVal val="#ppt_x"/>
                                          </p:val>
                                        </p:tav>
                                      </p:tavLst>
                                    </p:anim>
                                    <p:anim calcmode="lin" valueType="num">
                                      <p:cBhvr additive="base">
                                        <p:cTn id="14" dur="500" fill="hold"/>
                                        <p:tgtEl>
                                          <p:spTgt spid="16794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67946"/>
                                        </p:tgtEl>
                                        <p:attrNameLst>
                                          <p:attrName>style.visibility</p:attrName>
                                        </p:attrNameLst>
                                      </p:cBhvr>
                                      <p:to>
                                        <p:strVal val="visible"/>
                                      </p:to>
                                    </p:set>
                                    <p:anim calcmode="lin" valueType="num">
                                      <p:cBhvr additive="base">
                                        <p:cTn id="19" dur="500" fill="hold"/>
                                        <p:tgtEl>
                                          <p:spTgt spid="167946"/>
                                        </p:tgtEl>
                                        <p:attrNameLst>
                                          <p:attrName>ppt_x</p:attrName>
                                        </p:attrNameLst>
                                      </p:cBhvr>
                                      <p:tavLst>
                                        <p:tav tm="0">
                                          <p:val>
                                            <p:strVal val="1+#ppt_w/2"/>
                                          </p:val>
                                        </p:tav>
                                        <p:tav tm="100000">
                                          <p:val>
                                            <p:strVal val="#ppt_x"/>
                                          </p:val>
                                        </p:tav>
                                      </p:tavLst>
                                    </p:anim>
                                    <p:anim calcmode="lin" valueType="num">
                                      <p:cBhvr additive="base">
                                        <p:cTn id="20" dur="500" fill="hold"/>
                                        <p:tgtEl>
                                          <p:spTgt spid="16794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167949"/>
                                        </p:tgtEl>
                                        <p:attrNameLst>
                                          <p:attrName>style.visibility</p:attrName>
                                        </p:attrNameLst>
                                      </p:cBhvr>
                                      <p:to>
                                        <p:strVal val="visible"/>
                                      </p:to>
                                    </p:set>
                                    <p:anim calcmode="lin" valueType="num">
                                      <p:cBhvr additive="base">
                                        <p:cTn id="25" dur="500" fill="hold"/>
                                        <p:tgtEl>
                                          <p:spTgt spid="167949"/>
                                        </p:tgtEl>
                                        <p:attrNameLst>
                                          <p:attrName>ppt_x</p:attrName>
                                        </p:attrNameLst>
                                      </p:cBhvr>
                                      <p:tavLst>
                                        <p:tav tm="0">
                                          <p:val>
                                            <p:strVal val="1+#ppt_w/2"/>
                                          </p:val>
                                        </p:tav>
                                        <p:tav tm="100000">
                                          <p:val>
                                            <p:strVal val="#ppt_x"/>
                                          </p:val>
                                        </p:tav>
                                      </p:tavLst>
                                    </p:anim>
                                    <p:anim calcmode="lin" valueType="num">
                                      <p:cBhvr additive="base">
                                        <p:cTn id="26" dur="500" fill="hold"/>
                                        <p:tgtEl>
                                          <p:spTgt spid="1679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a:extLst>
              <a:ext uri="{FF2B5EF4-FFF2-40B4-BE49-F238E27FC236}">
                <a16:creationId xmlns:a16="http://schemas.microsoft.com/office/drawing/2014/main" id="{41425461-B896-47E5-89CA-8E3F912834DB}"/>
              </a:ext>
            </a:extLst>
          </p:cNvPr>
          <p:cNvSpPr>
            <a:spLocks noGrp="1" noChangeArrowheads="1"/>
          </p:cNvSpPr>
          <p:nvPr>
            <p:ph type="title"/>
          </p:nvPr>
        </p:nvSpPr>
        <p:spPr/>
        <p:txBody>
          <a:bodyPr/>
          <a:lstStyle/>
          <a:p>
            <a:r>
              <a:rPr lang="en-US" altLang="en-US" sz="4000" dirty="0"/>
              <a:t>Inference Rules </a:t>
            </a:r>
          </a:p>
        </p:txBody>
      </p:sp>
      <p:sp>
        <p:nvSpPr>
          <p:cNvPr id="242692" name="Rectangle 4">
            <a:extLst>
              <a:ext uri="{FF2B5EF4-FFF2-40B4-BE49-F238E27FC236}">
                <a16:creationId xmlns:a16="http://schemas.microsoft.com/office/drawing/2014/main" id="{3D36A899-F3F8-45F5-898C-0889EFD55278}"/>
              </a:ext>
            </a:extLst>
          </p:cNvPr>
          <p:cNvSpPr>
            <a:spLocks noChangeArrowheads="1"/>
          </p:cNvSpPr>
          <p:nvPr/>
        </p:nvSpPr>
        <p:spPr bwMode="auto">
          <a:xfrm>
            <a:off x="685800" y="1981200"/>
            <a:ext cx="457200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buClr>
                <a:schemeClr val="hlink"/>
              </a:buClr>
              <a:buSzPct val="110000"/>
              <a:buFont typeface="Wingdings" panose="05000000000000000000" pitchFamily="2" charset="2"/>
              <a:buBlip>
                <a:blip r:embed="rId2"/>
              </a:buBlip>
            </a:pPr>
            <a:r>
              <a:rPr lang="en-US" altLang="en-US" sz="2800"/>
              <a:t>Double Negation elimination</a:t>
            </a:r>
          </a:p>
          <a:p>
            <a:pPr>
              <a:lnSpc>
                <a:spcPct val="150000"/>
              </a:lnSpc>
              <a:spcBef>
                <a:spcPct val="50000"/>
              </a:spcBef>
              <a:buClr>
                <a:schemeClr val="hlink"/>
              </a:buClr>
              <a:buSzPct val="110000"/>
              <a:buFont typeface="Wingdings" panose="05000000000000000000" pitchFamily="2" charset="2"/>
              <a:buBlip>
                <a:blip r:embed="rId2"/>
              </a:buBlip>
            </a:pPr>
            <a:r>
              <a:rPr lang="en-US" altLang="en-US" sz="2800"/>
              <a:t>Unit resolution</a:t>
            </a:r>
          </a:p>
          <a:p>
            <a:pPr>
              <a:lnSpc>
                <a:spcPct val="150000"/>
              </a:lnSpc>
              <a:spcBef>
                <a:spcPct val="50000"/>
              </a:spcBef>
              <a:buClr>
                <a:schemeClr val="hlink"/>
              </a:buClr>
              <a:buSzPct val="110000"/>
              <a:buFont typeface="Wingdings" panose="05000000000000000000" pitchFamily="2" charset="2"/>
              <a:buBlip>
                <a:blip r:embed="rId2"/>
              </a:buBlip>
            </a:pPr>
            <a:r>
              <a:rPr lang="en-US" altLang="en-US" sz="2800"/>
              <a:t>Resolution</a:t>
            </a:r>
          </a:p>
        </p:txBody>
      </p:sp>
      <p:grpSp>
        <p:nvGrpSpPr>
          <p:cNvPr id="242693" name="Group 5">
            <a:extLst>
              <a:ext uri="{FF2B5EF4-FFF2-40B4-BE49-F238E27FC236}">
                <a16:creationId xmlns:a16="http://schemas.microsoft.com/office/drawing/2014/main" id="{A8CC0B1A-6559-4C6A-8FEA-AB6ADA7F3189}"/>
              </a:ext>
            </a:extLst>
          </p:cNvPr>
          <p:cNvGrpSpPr>
            <a:grpSpLocks/>
          </p:cNvGrpSpPr>
          <p:nvPr/>
        </p:nvGrpSpPr>
        <p:grpSpPr bwMode="auto">
          <a:xfrm>
            <a:off x="4191000" y="2286000"/>
            <a:ext cx="3124200" cy="762000"/>
            <a:chOff x="3840" y="1344"/>
            <a:chExt cx="1138" cy="529"/>
          </a:xfrm>
        </p:grpSpPr>
        <p:sp>
          <p:nvSpPr>
            <p:cNvPr id="242694" name="Text Box 6">
              <a:extLst>
                <a:ext uri="{FF2B5EF4-FFF2-40B4-BE49-F238E27FC236}">
                  <a16:creationId xmlns:a16="http://schemas.microsoft.com/office/drawing/2014/main" id="{F6487103-D6C8-4D46-BA1E-0025E07DD38C}"/>
                </a:ext>
              </a:extLst>
            </p:cNvPr>
            <p:cNvSpPr txBox="1">
              <a:spLocks noChangeArrowheads="1"/>
            </p:cNvSpPr>
            <p:nvPr/>
          </p:nvSpPr>
          <p:spPr bwMode="auto">
            <a:xfrm>
              <a:off x="3840" y="1344"/>
              <a:ext cx="1138"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000">
                  <a:latin typeface="Times New Roman" panose="02020603050405020304" pitchFamily="18" charset="0"/>
                  <a:sym typeface="Symbol" panose="05050102010706020507" pitchFamily="18" charset="2"/>
                </a:rPr>
                <a:t>  </a:t>
              </a:r>
              <a:r>
                <a:rPr lang="en-US" altLang="en-US" sz="2000" i="1">
                  <a:latin typeface="Times New Roman" panose="02020603050405020304" pitchFamily="18" charset="0"/>
                </a:rPr>
                <a:t>P(x)</a:t>
              </a:r>
            </a:p>
            <a:p>
              <a:pPr algn="ctr">
                <a:spcBef>
                  <a:spcPct val="20000"/>
                </a:spcBef>
                <a:buSzPct val="85000"/>
              </a:pPr>
              <a:r>
                <a:rPr lang="en-US" altLang="en-US" sz="2000" i="1">
                  <a:latin typeface="Times New Roman" panose="02020603050405020304" pitchFamily="18" charset="0"/>
                </a:rPr>
                <a:t>P(x) </a:t>
              </a:r>
              <a:endParaRPr lang="en-US" altLang="en-US" sz="2000">
                <a:latin typeface="Times New Roman" panose="02020603050405020304" pitchFamily="18" charset="0"/>
                <a:sym typeface="Symbol" panose="05050102010706020507" pitchFamily="18" charset="2"/>
              </a:endParaRPr>
            </a:p>
          </p:txBody>
        </p:sp>
        <p:sp>
          <p:nvSpPr>
            <p:cNvPr id="242695" name="Line 7">
              <a:extLst>
                <a:ext uri="{FF2B5EF4-FFF2-40B4-BE49-F238E27FC236}">
                  <a16:creationId xmlns:a16="http://schemas.microsoft.com/office/drawing/2014/main" id="{15D32328-E463-48AD-871D-A4DCFE71CB02}"/>
                </a:ext>
              </a:extLst>
            </p:cNvPr>
            <p:cNvSpPr>
              <a:spLocks noChangeShapeType="1"/>
            </p:cNvSpPr>
            <p:nvPr/>
          </p:nvSpPr>
          <p:spPr bwMode="auto">
            <a:xfrm>
              <a:off x="3984" y="1584"/>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242696" name="Group 8">
            <a:extLst>
              <a:ext uri="{FF2B5EF4-FFF2-40B4-BE49-F238E27FC236}">
                <a16:creationId xmlns:a16="http://schemas.microsoft.com/office/drawing/2014/main" id="{4BB04DB7-BB1B-489A-B82A-9822314D7215}"/>
              </a:ext>
            </a:extLst>
          </p:cNvPr>
          <p:cNvGrpSpPr>
            <a:grpSpLocks/>
          </p:cNvGrpSpPr>
          <p:nvPr/>
        </p:nvGrpSpPr>
        <p:grpSpPr bwMode="auto">
          <a:xfrm>
            <a:off x="4114800" y="3657600"/>
            <a:ext cx="2895600" cy="762000"/>
            <a:chOff x="3840" y="1344"/>
            <a:chExt cx="1138" cy="530"/>
          </a:xfrm>
        </p:grpSpPr>
        <p:sp>
          <p:nvSpPr>
            <p:cNvPr id="242697" name="Text Box 9">
              <a:extLst>
                <a:ext uri="{FF2B5EF4-FFF2-40B4-BE49-F238E27FC236}">
                  <a16:creationId xmlns:a16="http://schemas.microsoft.com/office/drawing/2014/main" id="{B839E2D4-46D5-484D-AA58-CC3B59F52919}"/>
                </a:ext>
              </a:extLst>
            </p:cNvPr>
            <p:cNvSpPr txBox="1">
              <a:spLocks noChangeArrowheads="1"/>
            </p:cNvSpPr>
            <p:nvPr/>
          </p:nvSpPr>
          <p:spPr bwMode="auto">
            <a:xfrm>
              <a:off x="3840" y="1344"/>
              <a:ext cx="1138" cy="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000" i="1">
                  <a:latin typeface="Times New Roman" panose="02020603050405020304" pitchFamily="18" charset="0"/>
                </a:rPr>
                <a:t>P(x)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Q(x)</a:t>
              </a:r>
              <a:r>
                <a:rPr lang="en-US" altLang="en-US" sz="2000" i="1">
                  <a:latin typeface="Times New Roman" panose="02020603050405020304" pitchFamily="18" charset="0"/>
                </a:rPr>
                <a:t>  ,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rPr>
                <a:t>P</a:t>
              </a:r>
              <a:r>
                <a:rPr lang="en-US" altLang="en-US" sz="2000" i="1">
                  <a:latin typeface="Times New Roman" panose="02020603050405020304" pitchFamily="18" charset="0"/>
                  <a:sym typeface="Symbol" panose="05050102010706020507" pitchFamily="18" charset="2"/>
                </a:rPr>
                <a:t>(A)</a:t>
              </a:r>
            </a:p>
            <a:p>
              <a:pPr algn="ctr">
                <a:spcBef>
                  <a:spcPct val="20000"/>
                </a:spcBef>
                <a:buSzPct val="85000"/>
              </a:pPr>
              <a:r>
                <a:rPr lang="en-US" altLang="en-US" sz="2000" i="1">
                  <a:latin typeface="Times New Roman" panose="02020603050405020304" pitchFamily="18" charset="0"/>
                  <a:sym typeface="Symbol" panose="05050102010706020507" pitchFamily="18" charset="2"/>
                </a:rPr>
                <a:t>Q(A)</a:t>
              </a:r>
            </a:p>
          </p:txBody>
        </p:sp>
        <p:sp>
          <p:nvSpPr>
            <p:cNvPr id="242698" name="Line 10">
              <a:extLst>
                <a:ext uri="{FF2B5EF4-FFF2-40B4-BE49-F238E27FC236}">
                  <a16:creationId xmlns:a16="http://schemas.microsoft.com/office/drawing/2014/main" id="{23CB70B3-4A35-4B5B-980B-BF1C7140AFDA}"/>
                </a:ext>
              </a:extLst>
            </p:cNvPr>
            <p:cNvSpPr>
              <a:spLocks noChangeShapeType="1"/>
            </p:cNvSpPr>
            <p:nvPr/>
          </p:nvSpPr>
          <p:spPr bwMode="auto">
            <a:xfrm>
              <a:off x="3984" y="1584"/>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grpSp>
        <p:nvGrpSpPr>
          <p:cNvPr id="242699" name="Group 11">
            <a:extLst>
              <a:ext uri="{FF2B5EF4-FFF2-40B4-BE49-F238E27FC236}">
                <a16:creationId xmlns:a16="http://schemas.microsoft.com/office/drawing/2014/main" id="{1D05DAFF-6A7A-45AD-88E9-98851B183D7B}"/>
              </a:ext>
            </a:extLst>
          </p:cNvPr>
          <p:cNvGrpSpPr>
            <a:grpSpLocks/>
          </p:cNvGrpSpPr>
          <p:nvPr/>
        </p:nvGrpSpPr>
        <p:grpSpPr bwMode="auto">
          <a:xfrm>
            <a:off x="3962400" y="4419600"/>
            <a:ext cx="3505200" cy="762000"/>
            <a:chOff x="3840" y="1344"/>
            <a:chExt cx="1138" cy="530"/>
          </a:xfrm>
        </p:grpSpPr>
        <p:sp>
          <p:nvSpPr>
            <p:cNvPr id="242700" name="Text Box 12">
              <a:extLst>
                <a:ext uri="{FF2B5EF4-FFF2-40B4-BE49-F238E27FC236}">
                  <a16:creationId xmlns:a16="http://schemas.microsoft.com/office/drawing/2014/main" id="{EF5C3D1E-9488-4EB8-B2D5-6B397764244C}"/>
                </a:ext>
              </a:extLst>
            </p:cNvPr>
            <p:cNvSpPr txBox="1">
              <a:spLocks noChangeArrowheads="1"/>
            </p:cNvSpPr>
            <p:nvPr/>
          </p:nvSpPr>
          <p:spPr bwMode="auto">
            <a:xfrm>
              <a:off x="3840" y="1344"/>
              <a:ext cx="1138" cy="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000" i="1">
                  <a:latin typeface="Times New Roman" panose="02020603050405020304" pitchFamily="18" charset="0"/>
                </a:rPr>
                <a:t>P(x)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Q(x)</a:t>
              </a:r>
              <a:r>
                <a:rPr lang="en-US" altLang="en-US" sz="2000" i="1">
                  <a:latin typeface="Times New Roman" panose="02020603050405020304" pitchFamily="18" charset="0"/>
                </a:rPr>
                <a:t>  ,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Q(x)</a:t>
              </a:r>
              <a:r>
                <a:rPr lang="en-US" altLang="en-US" sz="2000" i="1">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R(x)</a:t>
              </a:r>
              <a:r>
                <a:rPr lang="en-US" altLang="en-US" sz="2000" i="1">
                  <a:latin typeface="Times New Roman" panose="02020603050405020304" pitchFamily="18" charset="0"/>
                </a:rPr>
                <a:t> </a:t>
              </a:r>
            </a:p>
            <a:p>
              <a:pPr algn="ctr">
                <a:spcBef>
                  <a:spcPct val="20000"/>
                </a:spcBef>
                <a:buSzPct val="85000"/>
              </a:pPr>
              <a:r>
                <a:rPr lang="en-US" altLang="en-US" sz="2000" i="1">
                  <a:latin typeface="Times New Roman" panose="02020603050405020304" pitchFamily="18" charset="0"/>
                </a:rPr>
                <a:t>P(x)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R(x)</a:t>
              </a:r>
            </a:p>
          </p:txBody>
        </p:sp>
        <p:sp>
          <p:nvSpPr>
            <p:cNvPr id="242701" name="Line 13">
              <a:extLst>
                <a:ext uri="{FF2B5EF4-FFF2-40B4-BE49-F238E27FC236}">
                  <a16:creationId xmlns:a16="http://schemas.microsoft.com/office/drawing/2014/main" id="{293F4DCB-48AE-4622-8DC6-5B6022E98C42}"/>
                </a:ext>
              </a:extLst>
            </p:cNvPr>
            <p:cNvSpPr>
              <a:spLocks noChangeShapeType="1"/>
            </p:cNvSpPr>
            <p:nvPr/>
          </p:nvSpPr>
          <p:spPr bwMode="auto">
            <a:xfrm>
              <a:off x="3984" y="1584"/>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242693"/>
                                        </p:tgtEl>
                                        <p:attrNameLst>
                                          <p:attrName>style.visibility</p:attrName>
                                        </p:attrNameLst>
                                      </p:cBhvr>
                                      <p:to>
                                        <p:strVal val="visible"/>
                                      </p:to>
                                    </p:set>
                                    <p:anim calcmode="lin" valueType="num">
                                      <p:cBhvr additive="base">
                                        <p:cTn id="7" dur="500" fill="hold"/>
                                        <p:tgtEl>
                                          <p:spTgt spid="242693"/>
                                        </p:tgtEl>
                                        <p:attrNameLst>
                                          <p:attrName>ppt_x</p:attrName>
                                        </p:attrNameLst>
                                      </p:cBhvr>
                                      <p:tavLst>
                                        <p:tav tm="0">
                                          <p:val>
                                            <p:strVal val="1+#ppt_w/2"/>
                                          </p:val>
                                        </p:tav>
                                        <p:tav tm="100000">
                                          <p:val>
                                            <p:strVal val="#ppt_x"/>
                                          </p:val>
                                        </p:tav>
                                      </p:tavLst>
                                    </p:anim>
                                    <p:anim calcmode="lin" valueType="num">
                                      <p:cBhvr additive="base">
                                        <p:cTn id="8" dur="500" fill="hold"/>
                                        <p:tgtEl>
                                          <p:spTgt spid="24269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6" fill="hold" nodeType="clickEffect">
                                  <p:stCondLst>
                                    <p:cond delay="0"/>
                                  </p:stCondLst>
                                  <p:childTnLst>
                                    <p:set>
                                      <p:cBhvr>
                                        <p:cTn id="12" dur="1" fill="hold">
                                          <p:stCondLst>
                                            <p:cond delay="0"/>
                                          </p:stCondLst>
                                        </p:cTn>
                                        <p:tgtEl>
                                          <p:spTgt spid="242696"/>
                                        </p:tgtEl>
                                        <p:attrNameLst>
                                          <p:attrName>style.visibility</p:attrName>
                                        </p:attrNameLst>
                                      </p:cBhvr>
                                      <p:to>
                                        <p:strVal val="visible"/>
                                      </p:to>
                                    </p:set>
                                    <p:anim calcmode="lin" valueType="num">
                                      <p:cBhvr additive="base">
                                        <p:cTn id="13" dur="500" fill="hold"/>
                                        <p:tgtEl>
                                          <p:spTgt spid="242696"/>
                                        </p:tgtEl>
                                        <p:attrNameLst>
                                          <p:attrName>ppt_x</p:attrName>
                                        </p:attrNameLst>
                                      </p:cBhvr>
                                      <p:tavLst>
                                        <p:tav tm="0">
                                          <p:val>
                                            <p:strVal val="1+#ppt_w/2"/>
                                          </p:val>
                                        </p:tav>
                                        <p:tav tm="100000">
                                          <p:val>
                                            <p:strVal val="#ppt_x"/>
                                          </p:val>
                                        </p:tav>
                                      </p:tavLst>
                                    </p:anim>
                                    <p:anim calcmode="lin" valueType="num">
                                      <p:cBhvr additive="base">
                                        <p:cTn id="14" dur="500" fill="hold"/>
                                        <p:tgtEl>
                                          <p:spTgt spid="24269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42699"/>
                                        </p:tgtEl>
                                        <p:attrNameLst>
                                          <p:attrName>style.visibility</p:attrName>
                                        </p:attrNameLst>
                                      </p:cBhvr>
                                      <p:to>
                                        <p:strVal val="visible"/>
                                      </p:to>
                                    </p:set>
                                    <p:anim calcmode="lin" valueType="num">
                                      <p:cBhvr additive="base">
                                        <p:cTn id="19" dur="500" fill="hold"/>
                                        <p:tgtEl>
                                          <p:spTgt spid="242699"/>
                                        </p:tgtEl>
                                        <p:attrNameLst>
                                          <p:attrName>ppt_x</p:attrName>
                                        </p:attrNameLst>
                                      </p:cBhvr>
                                      <p:tavLst>
                                        <p:tav tm="0">
                                          <p:val>
                                            <p:strVal val="#ppt_x"/>
                                          </p:val>
                                        </p:tav>
                                        <p:tav tm="100000">
                                          <p:val>
                                            <p:strVal val="#ppt_x"/>
                                          </p:val>
                                        </p:tav>
                                      </p:tavLst>
                                    </p:anim>
                                    <p:anim calcmode="lin" valueType="num">
                                      <p:cBhvr additive="base">
                                        <p:cTn id="20" dur="500" fill="hold"/>
                                        <p:tgtEl>
                                          <p:spTgt spid="242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a:extLst>
              <a:ext uri="{FF2B5EF4-FFF2-40B4-BE49-F238E27FC236}">
                <a16:creationId xmlns:a16="http://schemas.microsoft.com/office/drawing/2014/main" id="{8849B481-A206-46DD-94B1-21D024ADC764}"/>
              </a:ext>
            </a:extLst>
          </p:cNvPr>
          <p:cNvSpPr>
            <a:spLocks noGrp="1" noChangeArrowheads="1"/>
          </p:cNvSpPr>
          <p:nvPr>
            <p:ph type="title"/>
          </p:nvPr>
        </p:nvSpPr>
        <p:spPr>
          <a:xfrm>
            <a:off x="682625" y="12110"/>
            <a:ext cx="7772400" cy="1143000"/>
          </a:xfrm>
        </p:spPr>
        <p:txBody>
          <a:bodyPr/>
          <a:lstStyle/>
          <a:p>
            <a:r>
              <a:rPr lang="en-US" altLang="en-US" dirty="0"/>
              <a:t>Additional Rules of Inference</a:t>
            </a:r>
          </a:p>
        </p:txBody>
      </p:sp>
      <p:sp>
        <p:nvSpPr>
          <p:cNvPr id="168963" name="Rectangle 3" descr="Rectangle: Click to edit Master text styles&#10;Second level&#10;Third level&#10;Fourth level&#10;Fifth level">
            <a:extLst>
              <a:ext uri="{FF2B5EF4-FFF2-40B4-BE49-F238E27FC236}">
                <a16:creationId xmlns:a16="http://schemas.microsoft.com/office/drawing/2014/main" id="{0E5CE9CE-9350-4402-B27B-E258D6ADCFDF}"/>
              </a:ext>
            </a:extLst>
          </p:cNvPr>
          <p:cNvSpPr>
            <a:spLocks noGrp="1" noChangeArrowheads="1"/>
          </p:cNvSpPr>
          <p:nvPr>
            <p:ph type="body" idx="1"/>
          </p:nvPr>
        </p:nvSpPr>
        <p:spPr>
          <a:xfrm>
            <a:off x="609600" y="1417638"/>
            <a:ext cx="8077200" cy="4754562"/>
          </a:xfrm>
        </p:spPr>
        <p:txBody>
          <a:bodyPr/>
          <a:lstStyle/>
          <a:p>
            <a:pPr>
              <a:lnSpc>
                <a:spcPct val="90000"/>
              </a:lnSpc>
            </a:pPr>
            <a:r>
              <a:rPr lang="en-US" altLang="en-US" i="1"/>
              <a:t>substitution</a:t>
            </a:r>
          </a:p>
          <a:p>
            <a:pPr>
              <a:lnSpc>
                <a:spcPct val="90000"/>
              </a:lnSpc>
              <a:buFont typeface="Wingdings" panose="05000000000000000000" pitchFamily="2" charset="2"/>
              <a:buNone/>
            </a:pPr>
            <a:r>
              <a:rPr lang="en-US" altLang="en-US" sz="2800" i="1"/>
              <a:t>	</a:t>
            </a:r>
            <a:r>
              <a:rPr lang="en-US" altLang="en-US" sz="2000"/>
              <a:t>SUBST(</a:t>
            </a:r>
            <a:r>
              <a:rPr lang="en-US" altLang="en-US" sz="2000" i="1">
                <a:sym typeface="Symbol" panose="05050102010706020507" pitchFamily="18" charset="2"/>
              </a:rPr>
              <a:t>,S</a:t>
            </a:r>
            <a:r>
              <a:rPr lang="en-US" altLang="en-US" sz="2000">
                <a:sym typeface="Symbol" panose="05050102010706020507" pitchFamily="18" charset="2"/>
              </a:rPr>
              <a:t>), substituting (or binding list) </a:t>
            </a:r>
            <a:r>
              <a:rPr lang="en-US" altLang="en-US" sz="2000" i="1">
                <a:sym typeface="Symbol" panose="05050102010706020507" pitchFamily="18" charset="2"/>
              </a:rPr>
              <a:t> </a:t>
            </a:r>
            <a:r>
              <a:rPr lang="en-US" altLang="en-US" sz="2000">
                <a:sym typeface="Symbol" panose="05050102010706020507" pitchFamily="18" charset="2"/>
              </a:rPr>
              <a:t>to sentence</a:t>
            </a:r>
            <a:r>
              <a:rPr lang="en-US" altLang="en-US" sz="2000" i="1">
                <a:sym typeface="Symbol" panose="05050102010706020507" pitchFamily="18" charset="2"/>
              </a:rPr>
              <a:t> S</a:t>
            </a:r>
          </a:p>
          <a:p>
            <a:pPr>
              <a:lnSpc>
                <a:spcPct val="90000"/>
              </a:lnSpc>
              <a:buFont typeface="Wingdings" panose="05000000000000000000" pitchFamily="2" charset="2"/>
              <a:buNone/>
            </a:pPr>
            <a:r>
              <a:rPr lang="en-US" altLang="en-US" sz="2000" i="1">
                <a:sym typeface="Symbol" panose="05050102010706020507" pitchFamily="18" charset="2"/>
              </a:rPr>
              <a:t>	</a:t>
            </a:r>
            <a:r>
              <a:rPr lang="en-US" altLang="en-US" sz="2000"/>
              <a:t>SUBST({</a:t>
            </a:r>
            <a:r>
              <a:rPr lang="en-US" altLang="en-US" sz="2000" i="1">
                <a:sym typeface="Symbol" panose="05050102010706020507" pitchFamily="18" charset="2"/>
              </a:rPr>
              <a:t>x/5,y/3</a:t>
            </a:r>
            <a:r>
              <a:rPr lang="en-US" altLang="en-US" sz="2000">
                <a:sym typeface="Symbol" panose="05050102010706020507" pitchFamily="18" charset="2"/>
              </a:rPr>
              <a:t>}</a:t>
            </a:r>
            <a:r>
              <a:rPr lang="en-US" altLang="en-US" sz="2000" i="1">
                <a:sym typeface="Symbol" panose="05050102010706020507" pitchFamily="18" charset="2"/>
              </a:rPr>
              <a:t>, gt(x,y)</a:t>
            </a:r>
            <a:r>
              <a:rPr lang="en-US" altLang="en-US" sz="2000">
                <a:sym typeface="Symbol" panose="05050102010706020507" pitchFamily="18" charset="2"/>
              </a:rPr>
              <a:t>) = </a:t>
            </a:r>
            <a:r>
              <a:rPr lang="en-US" altLang="en-US" sz="2000" i="1">
                <a:sym typeface="Symbol" panose="05050102010706020507" pitchFamily="18" charset="2"/>
              </a:rPr>
              <a:t>gt(5,3)</a:t>
            </a:r>
          </a:p>
          <a:p>
            <a:pPr>
              <a:lnSpc>
                <a:spcPct val="90000"/>
              </a:lnSpc>
              <a:buFont typeface="Wingdings" panose="05000000000000000000" pitchFamily="2" charset="2"/>
              <a:buNone/>
            </a:pPr>
            <a:endParaRPr lang="en-US" altLang="en-US" sz="2000" i="1"/>
          </a:p>
          <a:p>
            <a:pPr>
              <a:lnSpc>
                <a:spcPct val="90000"/>
              </a:lnSpc>
            </a:pPr>
            <a:r>
              <a:rPr lang="en-US" altLang="en-US" sz="2400" i="1"/>
              <a:t>Additional Rules</a:t>
            </a:r>
          </a:p>
          <a:p>
            <a:pPr lvl="1">
              <a:lnSpc>
                <a:spcPct val="90000"/>
              </a:lnSpc>
            </a:pPr>
            <a:r>
              <a:rPr lang="en-US" altLang="en-US" sz="2000" i="1"/>
              <a:t>Universal Elimination</a:t>
            </a:r>
          </a:p>
          <a:p>
            <a:pPr lvl="1">
              <a:lnSpc>
                <a:spcPct val="90000"/>
              </a:lnSpc>
              <a:buFont typeface="Wingdings" panose="05000000000000000000" pitchFamily="2" charset="2"/>
              <a:buNone/>
            </a:pPr>
            <a:endParaRPr lang="en-US" altLang="en-US" sz="2000" i="1"/>
          </a:p>
          <a:p>
            <a:pPr lvl="1">
              <a:lnSpc>
                <a:spcPct val="90000"/>
              </a:lnSpc>
              <a:buFont typeface="Wingdings" panose="05000000000000000000" pitchFamily="2" charset="2"/>
              <a:buNone/>
            </a:pPr>
            <a:endParaRPr lang="en-US" altLang="en-US" sz="2000" i="1"/>
          </a:p>
          <a:p>
            <a:pPr lvl="1">
              <a:lnSpc>
                <a:spcPct val="90000"/>
              </a:lnSpc>
            </a:pPr>
            <a:r>
              <a:rPr lang="en-US" altLang="en-US" sz="2000" i="1"/>
              <a:t>Existential Elimination</a:t>
            </a:r>
          </a:p>
          <a:p>
            <a:pPr lvl="1">
              <a:lnSpc>
                <a:spcPct val="90000"/>
              </a:lnSpc>
              <a:buFont typeface="Wingdings" panose="05000000000000000000" pitchFamily="2" charset="2"/>
              <a:buNone/>
            </a:pPr>
            <a:endParaRPr lang="en-US" altLang="en-US" sz="2000" i="1"/>
          </a:p>
          <a:p>
            <a:pPr lvl="1">
              <a:lnSpc>
                <a:spcPct val="90000"/>
              </a:lnSpc>
              <a:buFont typeface="Wingdings" panose="05000000000000000000" pitchFamily="2" charset="2"/>
              <a:buNone/>
            </a:pPr>
            <a:endParaRPr lang="en-US" altLang="en-US" sz="2000" i="1"/>
          </a:p>
          <a:p>
            <a:pPr lvl="1">
              <a:lnSpc>
                <a:spcPct val="90000"/>
              </a:lnSpc>
            </a:pPr>
            <a:r>
              <a:rPr lang="en-US" altLang="en-US" sz="2000" i="1"/>
              <a:t>Existential Introduction</a:t>
            </a:r>
          </a:p>
          <a:p>
            <a:pPr lvl="1">
              <a:lnSpc>
                <a:spcPct val="90000"/>
              </a:lnSpc>
            </a:pPr>
            <a:endParaRPr lang="en-US" altLang="en-US" sz="2000" i="1"/>
          </a:p>
        </p:txBody>
      </p:sp>
      <p:graphicFrame>
        <p:nvGraphicFramePr>
          <p:cNvPr id="168964" name="Object 4">
            <a:extLst>
              <a:ext uri="{FF2B5EF4-FFF2-40B4-BE49-F238E27FC236}">
                <a16:creationId xmlns:a16="http://schemas.microsoft.com/office/drawing/2014/main" id="{5986CBA8-4388-4292-A50A-7566F90DE00B}"/>
              </a:ext>
            </a:extLst>
          </p:cNvPr>
          <p:cNvGraphicFramePr>
            <a:graphicFrameLocks noChangeAspect="1"/>
          </p:cNvGraphicFramePr>
          <p:nvPr/>
        </p:nvGraphicFramePr>
        <p:xfrm>
          <a:off x="2133600" y="3759200"/>
          <a:ext cx="1981200" cy="769938"/>
        </p:xfrm>
        <a:graphic>
          <a:graphicData uri="http://schemas.openxmlformats.org/presentationml/2006/ole">
            <mc:AlternateContent xmlns:mc="http://schemas.openxmlformats.org/markup-compatibility/2006">
              <mc:Choice xmlns:v="urn:schemas-microsoft-com:vml" Requires="v">
                <p:oleObj spid="_x0000_s80913" name="Equation" r:id="rId3" imgW="1143000" imgH="444240" progId="Equation.3">
                  <p:embed/>
                </p:oleObj>
              </mc:Choice>
              <mc:Fallback>
                <p:oleObj name="Equation" r:id="rId3" imgW="1143000" imgH="444240" progId="Equation.3">
                  <p:embed/>
                  <p:pic>
                    <p:nvPicPr>
                      <p:cNvPr id="168964" name="Object 4">
                        <a:extLst>
                          <a:ext uri="{FF2B5EF4-FFF2-40B4-BE49-F238E27FC236}">
                            <a16:creationId xmlns:a16="http://schemas.microsoft.com/office/drawing/2014/main" id="{5986CBA8-4388-4292-A50A-7566F90DE0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759200"/>
                        <a:ext cx="1981200"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65" name="Object 5">
            <a:extLst>
              <a:ext uri="{FF2B5EF4-FFF2-40B4-BE49-F238E27FC236}">
                <a16:creationId xmlns:a16="http://schemas.microsoft.com/office/drawing/2014/main" id="{16DA5EC9-D2E4-490F-8FD4-C35CA81D1F57}"/>
              </a:ext>
            </a:extLst>
          </p:cNvPr>
          <p:cNvGraphicFramePr>
            <a:graphicFrameLocks noChangeAspect="1"/>
          </p:cNvGraphicFramePr>
          <p:nvPr/>
        </p:nvGraphicFramePr>
        <p:xfrm>
          <a:off x="1524000" y="4724400"/>
          <a:ext cx="1981200" cy="769938"/>
        </p:xfrm>
        <a:graphic>
          <a:graphicData uri="http://schemas.openxmlformats.org/presentationml/2006/ole">
            <mc:AlternateContent xmlns:mc="http://schemas.openxmlformats.org/markup-compatibility/2006">
              <mc:Choice xmlns:v="urn:schemas-microsoft-com:vml" Requires="v">
                <p:oleObj spid="_x0000_s80914" name="Equation" r:id="rId5" imgW="1143000" imgH="444240" progId="Equation.3">
                  <p:embed/>
                </p:oleObj>
              </mc:Choice>
              <mc:Fallback>
                <p:oleObj name="Equation" r:id="rId5" imgW="1143000" imgH="444240" progId="Equation.3">
                  <p:embed/>
                  <p:pic>
                    <p:nvPicPr>
                      <p:cNvPr id="168965" name="Object 5">
                        <a:extLst>
                          <a:ext uri="{FF2B5EF4-FFF2-40B4-BE49-F238E27FC236}">
                            <a16:creationId xmlns:a16="http://schemas.microsoft.com/office/drawing/2014/main" id="{16DA5EC9-D2E4-490F-8FD4-C35CA81D1F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724400"/>
                        <a:ext cx="1981200"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8966" name="Object 6">
            <a:extLst>
              <a:ext uri="{FF2B5EF4-FFF2-40B4-BE49-F238E27FC236}">
                <a16:creationId xmlns:a16="http://schemas.microsoft.com/office/drawing/2014/main" id="{9F61F9A3-BCAF-4B31-9666-4F90777554F9}"/>
              </a:ext>
            </a:extLst>
          </p:cNvPr>
          <p:cNvGraphicFramePr>
            <a:graphicFrameLocks noChangeAspect="1"/>
          </p:cNvGraphicFramePr>
          <p:nvPr/>
        </p:nvGraphicFramePr>
        <p:xfrm>
          <a:off x="2209800" y="5867400"/>
          <a:ext cx="2311400" cy="769938"/>
        </p:xfrm>
        <a:graphic>
          <a:graphicData uri="http://schemas.openxmlformats.org/presentationml/2006/ole">
            <mc:AlternateContent xmlns:mc="http://schemas.openxmlformats.org/markup-compatibility/2006">
              <mc:Choice xmlns:v="urn:schemas-microsoft-com:vml" Requires="v">
                <p:oleObj spid="_x0000_s80915" name="Equation" r:id="rId7" imgW="1333440" imgH="444240" progId="Equation.3">
                  <p:embed/>
                </p:oleObj>
              </mc:Choice>
              <mc:Fallback>
                <p:oleObj name="Equation" r:id="rId7" imgW="1333440" imgH="444240" progId="Equation.3">
                  <p:embed/>
                  <p:pic>
                    <p:nvPicPr>
                      <p:cNvPr id="168966" name="Object 6">
                        <a:extLst>
                          <a:ext uri="{FF2B5EF4-FFF2-40B4-BE49-F238E27FC236}">
                            <a16:creationId xmlns:a16="http://schemas.microsoft.com/office/drawing/2014/main" id="{9F61F9A3-BCAF-4B31-9666-4F90777554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5867400"/>
                        <a:ext cx="2311400"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8969" name="Group 9">
            <a:extLst>
              <a:ext uri="{FF2B5EF4-FFF2-40B4-BE49-F238E27FC236}">
                <a16:creationId xmlns:a16="http://schemas.microsoft.com/office/drawing/2014/main" id="{78E8F059-1303-4F66-BD25-B52D27C4542C}"/>
              </a:ext>
            </a:extLst>
          </p:cNvPr>
          <p:cNvGrpSpPr>
            <a:grpSpLocks/>
          </p:cNvGrpSpPr>
          <p:nvPr/>
        </p:nvGrpSpPr>
        <p:grpSpPr bwMode="auto">
          <a:xfrm>
            <a:off x="4495800" y="3810000"/>
            <a:ext cx="3297238" cy="701675"/>
            <a:chOff x="2976" y="2384"/>
            <a:chExt cx="2077" cy="442"/>
          </a:xfrm>
        </p:grpSpPr>
        <p:sp>
          <p:nvSpPr>
            <p:cNvPr id="168967" name="Text Box 7">
              <a:extLst>
                <a:ext uri="{FF2B5EF4-FFF2-40B4-BE49-F238E27FC236}">
                  <a16:creationId xmlns:a16="http://schemas.microsoft.com/office/drawing/2014/main" id="{0A494691-5CEB-4407-945C-7C7B75B8DF01}"/>
                </a:ext>
              </a:extLst>
            </p:cNvPr>
            <p:cNvSpPr txBox="1">
              <a:spLocks noChangeArrowheads="1"/>
            </p:cNvSpPr>
            <p:nvPr/>
          </p:nvSpPr>
          <p:spPr bwMode="auto">
            <a:xfrm>
              <a:off x="2976" y="2384"/>
              <a:ext cx="2077"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x Likes(x,IceCream)</a:t>
              </a:r>
            </a:p>
            <a:p>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x/Ben</a:t>
              </a:r>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 Likes</a:t>
              </a:r>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Ben,IceCream</a:t>
              </a:r>
              <a:r>
                <a:rPr lang="en-US" altLang="en-US" sz="2000">
                  <a:latin typeface="Times New Roman" panose="02020603050405020304" pitchFamily="18" charset="0"/>
                  <a:sym typeface="Symbol" panose="05050102010706020507" pitchFamily="18" charset="2"/>
                </a:rPr>
                <a:t>)</a:t>
              </a:r>
              <a:endParaRPr lang="en-US" altLang="en-US" sz="2000">
                <a:latin typeface="Times New Roman" panose="02020603050405020304" pitchFamily="18" charset="0"/>
              </a:endParaRPr>
            </a:p>
          </p:txBody>
        </p:sp>
        <p:sp>
          <p:nvSpPr>
            <p:cNvPr id="168968" name="Line 8">
              <a:extLst>
                <a:ext uri="{FF2B5EF4-FFF2-40B4-BE49-F238E27FC236}">
                  <a16:creationId xmlns:a16="http://schemas.microsoft.com/office/drawing/2014/main" id="{B5D70A50-A1A8-4D75-8A09-98BF6C93778A}"/>
                </a:ext>
              </a:extLst>
            </p:cNvPr>
            <p:cNvSpPr>
              <a:spLocks noChangeShapeType="1"/>
            </p:cNvSpPr>
            <p:nvPr/>
          </p:nvSpPr>
          <p:spPr bwMode="auto">
            <a:xfrm>
              <a:off x="2976" y="2616"/>
              <a:ext cx="17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
        <p:nvSpPr>
          <p:cNvPr id="168972" name="Text Box 12">
            <a:extLst>
              <a:ext uri="{FF2B5EF4-FFF2-40B4-BE49-F238E27FC236}">
                <a16:creationId xmlns:a16="http://schemas.microsoft.com/office/drawing/2014/main" id="{F5EAE4B0-FC55-4F20-ACB8-2A9DA3EF855E}"/>
              </a:ext>
            </a:extLst>
          </p:cNvPr>
          <p:cNvSpPr txBox="1">
            <a:spLocks noChangeArrowheads="1"/>
          </p:cNvSpPr>
          <p:nvPr/>
        </p:nvSpPr>
        <p:spPr bwMode="auto">
          <a:xfrm>
            <a:off x="3581400" y="4724400"/>
            <a:ext cx="48736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x Likes(x,Sally) 		   </a:t>
            </a:r>
            <a:r>
              <a:rPr lang="en-US" altLang="en-US" sz="2000">
                <a:latin typeface="Times New Roman" panose="02020603050405020304" pitchFamily="18" charset="0"/>
                <a:sym typeface="Symbol" panose="05050102010706020507" pitchFamily="18" charset="2"/>
              </a:rPr>
              <a:t>If Ben doesn’t</a:t>
            </a:r>
          </a:p>
          <a:p>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x/Ben</a:t>
            </a:r>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 Likes(Ben,Sally)     </a:t>
            </a:r>
            <a:r>
              <a:rPr lang="en-US" altLang="en-US" sz="2000">
                <a:latin typeface="Times New Roman" panose="02020603050405020304" pitchFamily="18" charset="0"/>
                <a:sym typeface="Symbol" panose="05050102010706020507" pitchFamily="18" charset="2"/>
              </a:rPr>
              <a:t>appear elsewhere</a:t>
            </a:r>
            <a:endParaRPr lang="en-US" altLang="en-US" sz="2000">
              <a:latin typeface="Times New Roman" panose="02020603050405020304" pitchFamily="18" charset="0"/>
            </a:endParaRPr>
          </a:p>
        </p:txBody>
      </p:sp>
      <p:sp>
        <p:nvSpPr>
          <p:cNvPr id="168973" name="Line 13">
            <a:extLst>
              <a:ext uri="{FF2B5EF4-FFF2-40B4-BE49-F238E27FC236}">
                <a16:creationId xmlns:a16="http://schemas.microsoft.com/office/drawing/2014/main" id="{74C412F2-8B4D-42E1-A23D-28C668416E2D}"/>
              </a:ext>
            </a:extLst>
          </p:cNvPr>
          <p:cNvSpPr>
            <a:spLocks noChangeShapeType="1"/>
          </p:cNvSpPr>
          <p:nvPr/>
        </p:nvSpPr>
        <p:spPr bwMode="auto">
          <a:xfrm>
            <a:off x="3581400" y="5105400"/>
            <a:ext cx="274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nvGrpSpPr>
          <p:cNvPr id="168977" name="Group 17">
            <a:extLst>
              <a:ext uri="{FF2B5EF4-FFF2-40B4-BE49-F238E27FC236}">
                <a16:creationId xmlns:a16="http://schemas.microsoft.com/office/drawing/2014/main" id="{70C6C2C0-1870-4848-A72A-A89937F5F77E}"/>
              </a:ext>
            </a:extLst>
          </p:cNvPr>
          <p:cNvGrpSpPr>
            <a:grpSpLocks/>
          </p:cNvGrpSpPr>
          <p:nvPr/>
        </p:nvGrpSpPr>
        <p:grpSpPr bwMode="auto">
          <a:xfrm>
            <a:off x="4724400" y="5919788"/>
            <a:ext cx="2743200" cy="701675"/>
            <a:chOff x="3048" y="3633"/>
            <a:chExt cx="1728" cy="442"/>
          </a:xfrm>
        </p:grpSpPr>
        <p:sp>
          <p:nvSpPr>
            <p:cNvPr id="168975" name="Text Box 15">
              <a:extLst>
                <a:ext uri="{FF2B5EF4-FFF2-40B4-BE49-F238E27FC236}">
                  <a16:creationId xmlns:a16="http://schemas.microsoft.com/office/drawing/2014/main" id="{640967A5-8E34-483A-934B-E390F2957B80}"/>
                </a:ext>
              </a:extLst>
            </p:cNvPr>
            <p:cNvSpPr txBox="1">
              <a:spLocks noChangeArrowheads="1"/>
            </p:cNvSpPr>
            <p:nvPr/>
          </p:nvSpPr>
          <p:spPr bwMode="auto">
            <a:xfrm>
              <a:off x="3208" y="3633"/>
              <a:ext cx="1541"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a:latin typeface="Times New Roman" panose="02020603050405020304" pitchFamily="18" charset="0"/>
                  <a:sym typeface="Symbol" panose="05050102010706020507" pitchFamily="18" charset="2"/>
                </a:rPr>
                <a:t>Likes(John,IceCream)</a:t>
              </a:r>
            </a:p>
            <a:p>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x Likes(x,IceCream)</a:t>
              </a:r>
            </a:p>
          </p:txBody>
        </p:sp>
        <p:sp>
          <p:nvSpPr>
            <p:cNvPr id="168976" name="Line 16">
              <a:extLst>
                <a:ext uri="{FF2B5EF4-FFF2-40B4-BE49-F238E27FC236}">
                  <a16:creationId xmlns:a16="http://schemas.microsoft.com/office/drawing/2014/main" id="{28C88AB1-0B22-4FC4-B35A-4ED3345D40DB}"/>
                </a:ext>
              </a:extLst>
            </p:cNvPr>
            <p:cNvSpPr>
              <a:spLocks noChangeShapeType="1"/>
            </p:cNvSpPr>
            <p:nvPr/>
          </p:nvSpPr>
          <p:spPr bwMode="auto">
            <a:xfrm>
              <a:off x="3048" y="3848"/>
              <a:ext cx="17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a:extLst>
              <a:ext uri="{FF2B5EF4-FFF2-40B4-BE49-F238E27FC236}">
                <a16:creationId xmlns:a16="http://schemas.microsoft.com/office/drawing/2014/main" id="{B9C6E779-AAB8-4960-97A6-9662C35E0B9F}"/>
              </a:ext>
            </a:extLst>
          </p:cNvPr>
          <p:cNvSpPr>
            <a:spLocks noGrp="1" noChangeArrowheads="1"/>
          </p:cNvSpPr>
          <p:nvPr>
            <p:ph type="title"/>
          </p:nvPr>
        </p:nvSpPr>
        <p:spPr/>
        <p:txBody>
          <a:bodyPr/>
          <a:lstStyle/>
          <a:p>
            <a:r>
              <a:rPr lang="en-US" altLang="en-US"/>
              <a:t>Additional rules of inference</a:t>
            </a:r>
          </a:p>
        </p:txBody>
      </p:sp>
      <p:sp>
        <p:nvSpPr>
          <p:cNvPr id="243715" name="Rectangle 3" descr="Rectangle: Click to edit Master text styles&#10;Second level&#10;Third level&#10;Fourth level&#10;Fifth level">
            <a:extLst>
              <a:ext uri="{FF2B5EF4-FFF2-40B4-BE49-F238E27FC236}">
                <a16:creationId xmlns:a16="http://schemas.microsoft.com/office/drawing/2014/main" id="{79C87DAB-B54D-44E4-BD17-AAA709B92B85}"/>
              </a:ext>
            </a:extLst>
          </p:cNvPr>
          <p:cNvSpPr>
            <a:spLocks noGrp="1" noChangeArrowheads="1"/>
          </p:cNvSpPr>
          <p:nvPr>
            <p:ph type="body" idx="1"/>
          </p:nvPr>
        </p:nvSpPr>
        <p:spPr>
          <a:xfrm>
            <a:off x="685800" y="1600200"/>
            <a:ext cx="8153400" cy="4114800"/>
          </a:xfrm>
        </p:spPr>
        <p:txBody>
          <a:bodyPr/>
          <a:lstStyle/>
          <a:p>
            <a:r>
              <a:rPr lang="en-US" altLang="en-US" sz="2800"/>
              <a:t>Unification</a:t>
            </a:r>
          </a:p>
          <a:p>
            <a:pPr>
              <a:buFont typeface="Wingdings" panose="05000000000000000000" pitchFamily="2" charset="2"/>
              <a:buNone/>
            </a:pPr>
            <a:r>
              <a:rPr lang="en-US" altLang="en-US" sz="2800"/>
              <a:t>	UNIFY(</a:t>
            </a:r>
            <a:r>
              <a:rPr lang="en-US" altLang="en-US" sz="2800" i="1"/>
              <a:t>p</a:t>
            </a:r>
            <a:r>
              <a:rPr lang="en-US" altLang="en-US" sz="2800"/>
              <a:t>, </a:t>
            </a:r>
            <a:r>
              <a:rPr lang="en-US" altLang="en-US" sz="2800" i="1"/>
              <a:t>q</a:t>
            </a:r>
            <a:r>
              <a:rPr lang="en-US" altLang="en-US" sz="2800"/>
              <a:t>) = </a:t>
            </a:r>
            <a:r>
              <a:rPr lang="en-US" altLang="en-US" sz="2800" i="1">
                <a:latin typeface="Symbol" panose="05050102010706020507" pitchFamily="18" charset="2"/>
              </a:rPr>
              <a:t>q</a:t>
            </a:r>
            <a:r>
              <a:rPr lang="en-US" altLang="en-US" sz="2800"/>
              <a:t> where SUBST(</a:t>
            </a:r>
            <a:r>
              <a:rPr lang="en-US" altLang="en-US" sz="2800" i="1">
                <a:latin typeface="Symbol" panose="05050102010706020507" pitchFamily="18" charset="2"/>
              </a:rPr>
              <a:t>q</a:t>
            </a:r>
            <a:r>
              <a:rPr lang="en-US" altLang="en-US" sz="2800"/>
              <a:t>, </a:t>
            </a:r>
            <a:r>
              <a:rPr lang="en-US" altLang="en-US" sz="2800" i="1"/>
              <a:t>q</a:t>
            </a:r>
            <a:r>
              <a:rPr lang="en-US" altLang="en-US" sz="2800"/>
              <a:t>)</a:t>
            </a:r>
          </a:p>
          <a:p>
            <a:pPr>
              <a:buFont typeface="Wingdings" panose="05000000000000000000" pitchFamily="2" charset="2"/>
              <a:buNone/>
            </a:pPr>
            <a:endParaRPr lang="en-US" altLang="en-US" sz="2800"/>
          </a:p>
          <a:p>
            <a:pPr>
              <a:buFont typeface="Wingdings" panose="05000000000000000000" pitchFamily="2" charset="2"/>
              <a:buNone/>
            </a:pPr>
            <a:r>
              <a:rPr lang="en-US" altLang="en-US" sz="2800"/>
              <a:t>Examples:</a:t>
            </a:r>
          </a:p>
          <a:p>
            <a:pPr>
              <a:buFont typeface="Wingdings" panose="05000000000000000000" pitchFamily="2" charset="2"/>
              <a:buNone/>
            </a:pPr>
            <a:r>
              <a:rPr lang="en-US" altLang="en-US" sz="2400"/>
              <a:t>UNIFY(Knows(John, x), Knows(John, Jane)) = {x/Jane}</a:t>
            </a:r>
          </a:p>
          <a:p>
            <a:pPr>
              <a:buFont typeface="Wingdings" panose="05000000000000000000" pitchFamily="2" charset="2"/>
              <a:buNone/>
            </a:pPr>
            <a:endParaRPr lang="en-US" altLang="en-US" sz="2400"/>
          </a:p>
          <a:p>
            <a:pPr>
              <a:buFont typeface="Wingdings" panose="05000000000000000000" pitchFamily="2" charset="2"/>
              <a:buNone/>
            </a:pPr>
            <a:r>
              <a:rPr lang="en-US" altLang="en-US" sz="2400"/>
              <a:t>UNIFY(Knows(John, x), Knows(y, Mother(y))) = </a:t>
            </a:r>
          </a:p>
          <a:p>
            <a:pPr>
              <a:buFont typeface="Wingdings" panose="05000000000000000000" pitchFamily="2" charset="2"/>
              <a:buNone/>
            </a:pPr>
            <a:r>
              <a:rPr lang="en-US" altLang="en-US" sz="2400"/>
              <a:t>	{y/John, x/Mother(John)}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371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37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6306" name="Rectangle 2">
            <a:extLst>
              <a:ext uri="{FF2B5EF4-FFF2-40B4-BE49-F238E27FC236}">
                <a16:creationId xmlns:a16="http://schemas.microsoft.com/office/drawing/2014/main" id="{2FECF4F8-AC97-42D2-AC13-59439708BC47}"/>
              </a:ext>
            </a:extLst>
          </p:cNvPr>
          <p:cNvSpPr>
            <a:spLocks noGrp="1" noChangeArrowheads="1"/>
          </p:cNvSpPr>
          <p:nvPr>
            <p:ph type="title"/>
          </p:nvPr>
        </p:nvSpPr>
        <p:spPr/>
        <p:txBody>
          <a:bodyPr/>
          <a:lstStyle/>
          <a:p>
            <a:r>
              <a:rPr lang="en-US" altLang="en-US"/>
              <a:t>Forward Chaining</a:t>
            </a:r>
          </a:p>
        </p:txBody>
      </p:sp>
      <p:sp>
        <p:nvSpPr>
          <p:cNvPr id="226307" name="Rectangle 3" descr="Rectangle: Click to edit Master text styles&#10;Second level&#10;Third level&#10;Fourth level&#10;Fifth level">
            <a:extLst>
              <a:ext uri="{FF2B5EF4-FFF2-40B4-BE49-F238E27FC236}">
                <a16:creationId xmlns:a16="http://schemas.microsoft.com/office/drawing/2014/main" id="{1A64FB3A-D57A-4105-B02A-FC3EAAD0E7AF}"/>
              </a:ext>
            </a:extLst>
          </p:cNvPr>
          <p:cNvSpPr>
            <a:spLocks noGrp="1" noChangeArrowheads="1"/>
          </p:cNvSpPr>
          <p:nvPr>
            <p:ph type="body" idx="1"/>
          </p:nvPr>
        </p:nvSpPr>
        <p:spPr>
          <a:xfrm>
            <a:off x="152400" y="1600200"/>
            <a:ext cx="8763000" cy="4525963"/>
          </a:xfrm>
        </p:spPr>
        <p:txBody>
          <a:bodyPr/>
          <a:lstStyle/>
          <a:p>
            <a:pPr lvl="1"/>
            <a:r>
              <a:rPr lang="en-US" altLang="en-US" sz="2400">
                <a:sym typeface="Symbol" panose="05050102010706020507" pitchFamily="18" charset="2"/>
              </a:rPr>
              <a:t>Start with atomic Knowledge base sentences, apply rules of inference, adding new atomic sentences, until no further inferences can be made.</a:t>
            </a:r>
          </a:p>
          <a:p>
            <a:pPr lvl="1"/>
            <a:r>
              <a:rPr lang="en-US" altLang="en-US" sz="2400">
                <a:sym typeface="Symbol" panose="05050102010706020507" pitchFamily="18" charset="2"/>
              </a:rPr>
              <a:t></a:t>
            </a:r>
            <a:r>
              <a:rPr lang="en-US" altLang="en-US" sz="2400" i="1">
                <a:sym typeface="Symbol" panose="05050102010706020507" pitchFamily="18" charset="2"/>
              </a:rPr>
              <a:t>x,y,z </a:t>
            </a:r>
            <a:r>
              <a:rPr lang="en-US" altLang="en-US" sz="2400">
                <a:sym typeface="Symbol" panose="05050102010706020507" pitchFamily="18" charset="2"/>
              </a:rPr>
              <a:t></a:t>
            </a:r>
            <a:r>
              <a:rPr lang="en-US" altLang="en-US" sz="2400" i="1">
                <a:sym typeface="Symbol" panose="05050102010706020507" pitchFamily="18" charset="2"/>
              </a:rPr>
              <a:t>gt(x,y) </a:t>
            </a:r>
            <a:r>
              <a:rPr lang="en-US" altLang="en-US" sz="2400">
                <a:sym typeface="Symbol" panose="05050102010706020507" pitchFamily="18" charset="2"/>
              </a:rPr>
              <a:t> </a:t>
            </a:r>
            <a:r>
              <a:rPr lang="en-US" altLang="en-US" sz="2400" i="1">
                <a:sym typeface="Symbol" panose="05050102010706020507" pitchFamily="18" charset="2"/>
              </a:rPr>
              <a:t>gt(y,z)  gt(x,z) </a:t>
            </a:r>
          </a:p>
          <a:p>
            <a:pPr lvl="1">
              <a:buFont typeface="Wingdings" panose="05000000000000000000" pitchFamily="2" charset="2"/>
              <a:buNone/>
            </a:pPr>
            <a:r>
              <a:rPr lang="en-US" altLang="en-US" sz="2400" i="1">
                <a:sym typeface="Symbol" panose="05050102010706020507" pitchFamily="18" charset="2"/>
              </a:rPr>
              <a:t>	Given: gt(A,B),  gt(B,C), </a:t>
            </a:r>
            <a:r>
              <a:rPr lang="en-US" altLang="en-US" sz="2400">
                <a:sym typeface="Symbol" panose="05050102010706020507" pitchFamily="18" charset="2"/>
              </a:rPr>
              <a:t>and</a:t>
            </a:r>
            <a:r>
              <a:rPr lang="en-US" altLang="en-US" sz="2400" i="1">
                <a:sym typeface="Symbol" panose="05050102010706020507" pitchFamily="18" charset="2"/>
              </a:rPr>
              <a:t>  gt(C,D) </a:t>
            </a:r>
            <a:r>
              <a:rPr lang="en-US" altLang="en-US" sz="2400">
                <a:sym typeface="Symbol" panose="05050102010706020507" pitchFamily="18" charset="2"/>
              </a:rPr>
              <a:t>can we say </a:t>
            </a:r>
            <a:r>
              <a:rPr lang="en-US" altLang="en-US" sz="2400" i="1">
                <a:sym typeface="Symbol" panose="05050102010706020507" pitchFamily="18" charset="2"/>
              </a:rPr>
              <a:t>gt(A,D)?</a:t>
            </a:r>
          </a:p>
          <a:p>
            <a:pPr lvl="1">
              <a:buFont typeface="Wingdings" panose="05000000000000000000" pitchFamily="2" charset="2"/>
              <a:buNone/>
            </a:pPr>
            <a:r>
              <a:rPr lang="en-US" altLang="en-US" i="1">
                <a:sym typeface="Symbol" panose="05050102010706020507" pitchFamily="18" charset="2"/>
              </a:rPr>
              <a:t>	</a:t>
            </a:r>
            <a:r>
              <a:rPr lang="en-US" altLang="en-US" sz="2000" b="1" i="1">
                <a:sym typeface="Symbol" panose="05050102010706020507" pitchFamily="18" charset="2"/>
              </a:rPr>
              <a:t>	</a:t>
            </a:r>
          </a:p>
          <a:p>
            <a:pPr lvl="1">
              <a:buFont typeface="Wingdings" panose="05000000000000000000" pitchFamily="2" charset="2"/>
              <a:buNone/>
            </a:pPr>
            <a:endParaRPr lang="en-US" altLang="en-US" sz="2000" b="1" i="1">
              <a:sym typeface="Symbol" panose="05050102010706020507" pitchFamily="18" charset="2"/>
            </a:endParaRPr>
          </a:p>
          <a:p>
            <a:pPr lvl="1">
              <a:buFont typeface="Wingdings" panose="05000000000000000000" pitchFamily="2" charset="2"/>
              <a:buNone/>
            </a:pPr>
            <a:endParaRPr lang="en-US" altLang="en-US" sz="2000" b="1" i="1">
              <a:sym typeface="Symbol" panose="05050102010706020507" pitchFamily="18" charset="2"/>
            </a:endParaRPr>
          </a:p>
          <a:p>
            <a:pPr>
              <a:buFont typeface="Wingdings" panose="05000000000000000000" pitchFamily="2" charset="2"/>
              <a:buNone/>
            </a:pPr>
            <a:endParaRPr lang="en-US" altLang="en-US" sz="2400" i="1">
              <a:sym typeface="Symbol" panose="05050102010706020507" pitchFamily="18" charset="2"/>
            </a:endParaRPr>
          </a:p>
          <a:p>
            <a:endParaRPr lang="en-US" altLang="en-US"/>
          </a:p>
        </p:txBody>
      </p:sp>
      <p:sp>
        <p:nvSpPr>
          <p:cNvPr id="226309" name="Text Box 5">
            <a:extLst>
              <a:ext uri="{FF2B5EF4-FFF2-40B4-BE49-F238E27FC236}">
                <a16:creationId xmlns:a16="http://schemas.microsoft.com/office/drawing/2014/main" id="{FED9F7C1-85FE-494F-A351-9DB108C9264C}"/>
              </a:ext>
            </a:extLst>
          </p:cNvPr>
          <p:cNvSpPr txBox="1">
            <a:spLocks noChangeArrowheads="1"/>
          </p:cNvSpPr>
          <p:nvPr/>
        </p:nvSpPr>
        <p:spPr bwMode="auto">
          <a:xfrm>
            <a:off x="381000" y="4073525"/>
            <a:ext cx="8150225"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spcBef>
                <a:spcPct val="20000"/>
              </a:spcBef>
            </a:pPr>
            <a:r>
              <a:rPr lang="en-US" altLang="en-US" b="1">
                <a:latin typeface="Arial" panose="020B0604020202020204" pitchFamily="34" charset="0"/>
                <a:sym typeface="Symbol" panose="05050102010706020507" pitchFamily="18" charset="2"/>
              </a:rPr>
              <a:t>Step 1:</a:t>
            </a:r>
            <a:r>
              <a:rPr lang="en-US" altLang="en-US" i="1">
                <a:latin typeface="Arial" panose="020B0604020202020204" pitchFamily="34" charset="0"/>
                <a:sym typeface="Symbol" panose="05050102010706020507" pitchFamily="18" charset="2"/>
              </a:rPr>
              <a:t> gt(A,B) </a:t>
            </a:r>
            <a:r>
              <a:rPr lang="en-US" altLang="en-US">
                <a:latin typeface="Arial" panose="020B0604020202020204" pitchFamily="34" charset="0"/>
                <a:sym typeface="Symbol" panose="05050102010706020507" pitchFamily="18" charset="2"/>
              </a:rPr>
              <a:t></a:t>
            </a:r>
            <a:r>
              <a:rPr lang="en-US" altLang="en-US" i="1">
                <a:latin typeface="Arial" panose="020B0604020202020204" pitchFamily="34" charset="0"/>
                <a:sym typeface="Symbol" panose="05050102010706020507" pitchFamily="18" charset="2"/>
              </a:rPr>
              <a:t> gt(B,C)  gt(A,C) </a:t>
            </a:r>
          </a:p>
          <a:p>
            <a:pPr lvl="1">
              <a:spcBef>
                <a:spcPct val="20000"/>
              </a:spcBef>
            </a:pPr>
            <a:r>
              <a:rPr lang="en-US" altLang="en-US" b="1">
                <a:latin typeface="Arial" panose="020B0604020202020204" pitchFamily="34" charset="0"/>
                <a:sym typeface="Symbol" panose="05050102010706020507" pitchFamily="18" charset="2"/>
              </a:rPr>
              <a:t>Step 2:</a:t>
            </a:r>
            <a:r>
              <a:rPr lang="en-US" altLang="en-US" i="1">
                <a:latin typeface="Arial" panose="020B0604020202020204" pitchFamily="34" charset="0"/>
                <a:sym typeface="Symbol" panose="05050102010706020507" pitchFamily="18" charset="2"/>
              </a:rPr>
              <a:t> gt(A,C) </a:t>
            </a:r>
            <a:r>
              <a:rPr lang="en-US" altLang="en-US">
                <a:latin typeface="Arial" panose="020B0604020202020204" pitchFamily="34" charset="0"/>
                <a:sym typeface="Symbol" panose="05050102010706020507" pitchFamily="18" charset="2"/>
              </a:rPr>
              <a:t></a:t>
            </a:r>
            <a:r>
              <a:rPr lang="en-US" altLang="en-US" i="1">
                <a:latin typeface="Arial" panose="020B0604020202020204" pitchFamily="34" charset="0"/>
                <a:sym typeface="Symbol" panose="05050102010706020507" pitchFamily="18" charset="2"/>
              </a:rPr>
              <a:t> gt(C,D)  gt(A,D); </a:t>
            </a:r>
            <a:r>
              <a:rPr lang="en-US" altLang="en-US">
                <a:latin typeface="Arial" panose="020B0604020202020204" pitchFamily="34" charset="0"/>
                <a:sym typeface="Symbol" panose="05050102010706020507" pitchFamily="18" charset="2"/>
              </a:rPr>
              <a:t>Therefore, </a:t>
            </a:r>
            <a:r>
              <a:rPr lang="en-US" altLang="en-US" b="1" i="1">
                <a:latin typeface="Arial" panose="020B0604020202020204" pitchFamily="34" charset="0"/>
                <a:sym typeface="Symbol" panose="05050102010706020507" pitchFamily="18" charset="2"/>
              </a:rPr>
              <a:t>gt(A,D)</a:t>
            </a:r>
          </a:p>
          <a:p>
            <a:endParaRPr lang="en-US" altLang="en-US">
              <a:latin typeface="Arial" panose="020B0604020202020204" pitchFamily="34" charset="0"/>
            </a:endParaRPr>
          </a:p>
        </p:txBody>
      </p:sp>
      <p:sp>
        <p:nvSpPr>
          <p:cNvPr id="226310" name="Text Box 6">
            <a:extLst>
              <a:ext uri="{FF2B5EF4-FFF2-40B4-BE49-F238E27FC236}">
                <a16:creationId xmlns:a16="http://schemas.microsoft.com/office/drawing/2014/main" id="{FA386895-34D5-463A-B9FA-E6E25A379941}"/>
              </a:ext>
            </a:extLst>
          </p:cNvPr>
          <p:cNvSpPr txBox="1">
            <a:spLocks noChangeArrowheads="1"/>
          </p:cNvSpPr>
          <p:nvPr/>
        </p:nvSpPr>
        <p:spPr bwMode="auto">
          <a:xfrm>
            <a:off x="533400" y="4876800"/>
            <a:ext cx="796290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ct val="20000"/>
              </a:spcBef>
              <a:buFontTx/>
              <a:buChar char="–"/>
            </a:pPr>
            <a:r>
              <a:rPr lang="en-US" altLang="en-US">
                <a:latin typeface="Arial" panose="020B0604020202020204" pitchFamily="34" charset="0"/>
                <a:sym typeface="Symbol" panose="05050102010706020507" pitchFamily="18" charset="2"/>
              </a:rPr>
              <a:t>Typically triggered when a new fact, </a:t>
            </a:r>
            <a:r>
              <a:rPr lang="en-US" altLang="en-US" i="1">
                <a:latin typeface="Arial" panose="020B0604020202020204" pitchFamily="34" charset="0"/>
                <a:sym typeface="Symbol" panose="05050102010706020507" pitchFamily="18" charset="2"/>
              </a:rPr>
              <a:t>p</a:t>
            </a:r>
            <a:r>
              <a:rPr lang="en-US" altLang="en-US">
                <a:latin typeface="Arial" panose="020B0604020202020204" pitchFamily="34" charset="0"/>
                <a:sym typeface="Symbol" panose="05050102010706020507" pitchFamily="18" charset="2"/>
              </a:rPr>
              <a:t>, is added to </a:t>
            </a:r>
          </a:p>
          <a:p>
            <a:pPr lvl="1">
              <a:spcBef>
                <a:spcPct val="20000"/>
              </a:spcBef>
            </a:pPr>
            <a:r>
              <a:rPr lang="en-US" altLang="en-US">
                <a:latin typeface="Arial" panose="020B0604020202020204" pitchFamily="34" charset="0"/>
                <a:sym typeface="Symbol" panose="05050102010706020507" pitchFamily="18" charset="2"/>
              </a:rPr>
              <a:t>the knowledge base.  Then we find all implications </a:t>
            </a:r>
          </a:p>
          <a:p>
            <a:pPr lvl="1">
              <a:spcBef>
                <a:spcPct val="20000"/>
              </a:spcBef>
            </a:pPr>
            <a:r>
              <a:rPr lang="en-US" altLang="en-US">
                <a:latin typeface="Arial" panose="020B0604020202020204" pitchFamily="34" charset="0"/>
                <a:sym typeface="Symbol" panose="05050102010706020507" pitchFamily="18" charset="2"/>
              </a:rPr>
              <a:t>that have </a:t>
            </a:r>
            <a:r>
              <a:rPr lang="en-US" altLang="en-US" i="1">
                <a:latin typeface="Arial" panose="020B0604020202020204" pitchFamily="34" charset="0"/>
                <a:sym typeface="Symbol" panose="05050102010706020507" pitchFamily="18" charset="2"/>
              </a:rPr>
              <a:t>p</a:t>
            </a:r>
            <a:r>
              <a:rPr lang="en-US" altLang="en-US">
                <a:latin typeface="Arial" panose="020B0604020202020204" pitchFamily="34" charset="0"/>
                <a:sym typeface="Symbol" panose="05050102010706020507" pitchFamily="18" charset="2"/>
              </a:rPr>
              <a:t> as premise – can also use other premises </a:t>
            </a:r>
          </a:p>
          <a:p>
            <a:pPr lvl="1">
              <a:spcBef>
                <a:spcPct val="20000"/>
              </a:spcBef>
            </a:pPr>
            <a:r>
              <a:rPr lang="en-US" altLang="en-US">
                <a:latin typeface="Arial" panose="020B0604020202020204" pitchFamily="34" charset="0"/>
                <a:sym typeface="Symbol" panose="05050102010706020507" pitchFamily="18" charset="2"/>
              </a:rPr>
              <a:t>that are known to be true</a:t>
            </a:r>
            <a:endParaRPr lang="en-US" altLang="en-US" b="1" i="1">
              <a:latin typeface="Arial" panose="020B0604020202020204" pitchFamily="34" charset="0"/>
              <a:sym typeface="Symbol" panose="05050102010706020507" pitchFamily="18" charset="2"/>
            </a:endParaRPr>
          </a:p>
          <a:p>
            <a:endParaRPr lang="en-US" altLang="en-US">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63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63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9" grpId="0" autoUpdateAnimBg="0"/>
      <p:bldP spid="22631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5F695D8D-A9A2-4209-A45A-D72631B903AC}"/>
              </a:ext>
            </a:extLst>
          </p:cNvPr>
          <p:cNvSpPr>
            <a:spLocks noGrp="1" noChangeArrowheads="1"/>
          </p:cNvSpPr>
          <p:nvPr>
            <p:ph type="title"/>
          </p:nvPr>
        </p:nvSpPr>
        <p:spPr/>
        <p:txBody>
          <a:bodyPr/>
          <a:lstStyle/>
          <a:p>
            <a:r>
              <a:rPr lang="en-US" altLang="en-US"/>
              <a:t>Example Problem</a:t>
            </a:r>
          </a:p>
        </p:txBody>
      </p:sp>
      <p:sp>
        <p:nvSpPr>
          <p:cNvPr id="165891" name="Rectangle 3" descr="Rectangle: Click to edit Master text styles&#10;Second level&#10;Third level&#10;Fourth level&#10;Fifth level">
            <a:extLst>
              <a:ext uri="{FF2B5EF4-FFF2-40B4-BE49-F238E27FC236}">
                <a16:creationId xmlns:a16="http://schemas.microsoft.com/office/drawing/2014/main" id="{4E676144-7C93-478D-8916-83E8151A6AB1}"/>
              </a:ext>
            </a:extLst>
          </p:cNvPr>
          <p:cNvSpPr>
            <a:spLocks noGrp="1" noChangeArrowheads="1"/>
          </p:cNvSpPr>
          <p:nvPr>
            <p:ph type="body" idx="1"/>
          </p:nvPr>
        </p:nvSpPr>
        <p:spPr>
          <a:xfrm>
            <a:off x="685800" y="1600200"/>
            <a:ext cx="7772400" cy="4114800"/>
          </a:xfrm>
        </p:spPr>
        <p:txBody>
          <a:bodyPr/>
          <a:lstStyle/>
          <a:p>
            <a:r>
              <a:rPr lang="en-US" altLang="en-US"/>
              <a:t>John likes all kinds of food.</a:t>
            </a:r>
          </a:p>
          <a:p>
            <a:r>
              <a:rPr lang="en-US" altLang="en-US"/>
              <a:t>Apples are food.</a:t>
            </a:r>
          </a:p>
          <a:p>
            <a:r>
              <a:rPr lang="en-US" altLang="en-US"/>
              <a:t>Chicken is food.</a:t>
            </a:r>
          </a:p>
          <a:p>
            <a:r>
              <a:rPr lang="en-US" altLang="en-US"/>
              <a:t>Anything anyone eats and isn’t killed by is food.</a:t>
            </a:r>
          </a:p>
          <a:p>
            <a:r>
              <a:rPr lang="en-US" altLang="en-US"/>
              <a:t>Bill eats peanuts, and is still alive.</a:t>
            </a:r>
          </a:p>
          <a:p>
            <a:r>
              <a:rPr lang="en-US" altLang="en-US"/>
              <a:t>Sue eats everything that Bill eats.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a:extLst>
              <a:ext uri="{FF2B5EF4-FFF2-40B4-BE49-F238E27FC236}">
                <a16:creationId xmlns:a16="http://schemas.microsoft.com/office/drawing/2014/main" id="{918556B9-1BA0-4A54-BDAE-3D7889A9864D}"/>
              </a:ext>
            </a:extLst>
          </p:cNvPr>
          <p:cNvSpPr>
            <a:spLocks noGrp="1" noChangeArrowheads="1"/>
          </p:cNvSpPr>
          <p:nvPr>
            <p:ph type="title"/>
          </p:nvPr>
        </p:nvSpPr>
        <p:spPr/>
        <p:txBody>
          <a:bodyPr/>
          <a:lstStyle/>
          <a:p>
            <a:r>
              <a:rPr lang="en-US" altLang="en-US"/>
              <a:t>Example Problem</a:t>
            </a:r>
          </a:p>
        </p:txBody>
      </p:sp>
      <p:sp>
        <p:nvSpPr>
          <p:cNvPr id="166916" name="Text Box 4">
            <a:extLst>
              <a:ext uri="{FF2B5EF4-FFF2-40B4-BE49-F238E27FC236}">
                <a16:creationId xmlns:a16="http://schemas.microsoft.com/office/drawing/2014/main" id="{28BE9569-1730-41E5-AC8F-6D2B7400AE8E}"/>
              </a:ext>
            </a:extLst>
          </p:cNvPr>
          <p:cNvSpPr txBox="1">
            <a:spLocks noChangeArrowheads="1"/>
          </p:cNvSpPr>
          <p:nvPr/>
        </p:nvSpPr>
        <p:spPr bwMode="auto">
          <a:xfrm>
            <a:off x="4724400" y="1423988"/>
            <a:ext cx="419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i="1">
              <a:latin typeface="Times New Roman" panose="02020603050405020304" pitchFamily="18" charset="0"/>
              <a:sym typeface="Symbol" panose="05050102010706020507" pitchFamily="18" charset="2"/>
            </a:endParaRPr>
          </a:p>
        </p:txBody>
      </p:sp>
      <p:graphicFrame>
        <p:nvGraphicFramePr>
          <p:cNvPr id="166973" name="Group 61">
            <a:extLst>
              <a:ext uri="{FF2B5EF4-FFF2-40B4-BE49-F238E27FC236}">
                <a16:creationId xmlns:a16="http://schemas.microsoft.com/office/drawing/2014/main" id="{5E2AA25E-D4BF-45AD-B442-6221BEFAEDC9}"/>
              </a:ext>
            </a:extLst>
          </p:cNvPr>
          <p:cNvGraphicFramePr>
            <a:graphicFrameLocks noGrp="1"/>
          </p:cNvGraphicFramePr>
          <p:nvPr/>
        </p:nvGraphicFramePr>
        <p:xfrm>
          <a:off x="457200" y="1676400"/>
          <a:ext cx="8458200" cy="5025390"/>
        </p:xfrm>
        <a:graphic>
          <a:graphicData uri="http://schemas.openxmlformats.org/drawingml/2006/table">
            <a:tbl>
              <a:tblPr/>
              <a:tblGrid>
                <a:gridCol w="4229100">
                  <a:extLst>
                    <a:ext uri="{9D8B030D-6E8A-4147-A177-3AD203B41FA5}">
                      <a16:colId xmlns:a16="http://schemas.microsoft.com/office/drawing/2014/main" val="1496592141"/>
                    </a:ext>
                  </a:extLst>
                </a:gridCol>
                <a:gridCol w="4229100">
                  <a:extLst>
                    <a:ext uri="{9D8B030D-6E8A-4147-A177-3AD203B41FA5}">
                      <a16:colId xmlns:a16="http://schemas.microsoft.com/office/drawing/2014/main" val="1187409131"/>
                    </a:ext>
                  </a:extLst>
                </a:gridCol>
              </a:tblGrid>
              <a:tr h="4318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ahoma" panose="020B0604030504040204" pitchFamily="34" charset="0"/>
                        </a:rPr>
                        <a:t>John likes all kinds of food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 food (x)</a:t>
                      </a: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eats(John, x)</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7691687"/>
                  </a:ext>
                </a:extLst>
              </a:tr>
              <a:tr h="5334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ahoma" panose="020B0604030504040204" pitchFamily="34" charset="0"/>
                        </a:rPr>
                        <a:t>Apples are food.</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food(apples)</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45843101"/>
                  </a:ext>
                </a:extLst>
              </a:tr>
              <a:tr h="496888">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ahoma" panose="020B0604030504040204" pitchFamily="34" charset="0"/>
                        </a:rPr>
                        <a:t>Chicken is food.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food(chicken)</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6993927"/>
                  </a:ext>
                </a:extLst>
              </a:tr>
              <a:tr h="10160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ahoma" panose="020B0604030504040204" pitchFamily="34" charset="0"/>
                        </a:rPr>
                        <a:t>Anything anyone eats and isn’t killed by is food.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x,y eats(x,y) </a:t>
                      </a: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killed(x)</a:t>
                      </a: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1547851"/>
                  </a:ext>
                </a:extLst>
              </a:tr>
              <a:tr h="99695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ahoma" panose="020B0604030504040204" pitchFamily="34" charset="0"/>
                        </a:rPr>
                        <a:t>Bill eats peanuts, and is still alive.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eats(Bill,Peanuts) </a:t>
                      </a: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killed(Bill)</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37018603"/>
                  </a:ext>
                </a:extLst>
              </a:tr>
              <a:tr h="10160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ahoma" panose="020B0604030504040204" pitchFamily="34" charset="0"/>
                        </a:rPr>
                        <a:t>Sue eats everything that Bill eats.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 eats (Bill,x) </a:t>
                      </a:r>
                      <a:r>
                        <a:rPr kumimoji="0" lang="en-US" altLang="en-US" sz="28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8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eats(Sue,x)</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95008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1D9ED2C6-59A8-4BD9-86F0-3BE4C8C56BC0}"/>
              </a:ext>
            </a:extLst>
          </p:cNvPr>
          <p:cNvSpPr>
            <a:spLocks noGrp="1" noChangeArrowheads="1"/>
          </p:cNvSpPr>
          <p:nvPr>
            <p:ph type="title"/>
          </p:nvPr>
        </p:nvSpPr>
        <p:spPr/>
        <p:txBody>
          <a:bodyPr/>
          <a:lstStyle/>
          <a:p>
            <a:r>
              <a:rPr lang="en-US" altLang="en-US"/>
              <a:t>Answer Questions (by Proof)</a:t>
            </a:r>
          </a:p>
        </p:txBody>
      </p:sp>
      <p:sp>
        <p:nvSpPr>
          <p:cNvPr id="169987" name="Rectangle 3" descr="Rectangle: Click to edit Master text styles&#10;Second level&#10;Third level&#10;Fourth level&#10;Fifth level">
            <a:extLst>
              <a:ext uri="{FF2B5EF4-FFF2-40B4-BE49-F238E27FC236}">
                <a16:creationId xmlns:a16="http://schemas.microsoft.com/office/drawing/2014/main" id="{82D4D2F5-4AA4-4268-B8AE-3961A65AD3D7}"/>
              </a:ext>
            </a:extLst>
          </p:cNvPr>
          <p:cNvSpPr>
            <a:spLocks noGrp="1" noChangeArrowheads="1"/>
          </p:cNvSpPr>
          <p:nvPr>
            <p:ph type="body" idx="1"/>
          </p:nvPr>
        </p:nvSpPr>
        <p:spPr>
          <a:xfrm>
            <a:off x="685800" y="1600200"/>
            <a:ext cx="8077200" cy="4191000"/>
          </a:xfrm>
        </p:spPr>
        <p:txBody>
          <a:bodyPr/>
          <a:lstStyle/>
          <a:p>
            <a:pPr marL="609600" indent="-609600"/>
            <a:r>
              <a:rPr lang="en-US" altLang="en-US" i="1"/>
              <a:t>Does John eat peanuts?</a:t>
            </a:r>
          </a:p>
          <a:p>
            <a:pPr marL="609600" indent="-609600"/>
            <a:endParaRPr lang="en-US" altLang="en-US" i="1"/>
          </a:p>
          <a:p>
            <a:pPr marL="609600" indent="-609600"/>
            <a:endParaRPr lang="en-US" altLang="en-US" i="1"/>
          </a:p>
          <a:p>
            <a:pPr marL="609600" indent="-609600"/>
            <a:endParaRPr lang="en-US" altLang="en-US" i="1"/>
          </a:p>
          <a:p>
            <a:pPr marL="990600" lvl="1" indent="-533400">
              <a:buFont typeface="Wingdings" panose="05000000000000000000" pitchFamily="2" charset="2"/>
              <a:buAutoNum type="arabicParenR" startAt="3"/>
            </a:pPr>
            <a:endParaRPr lang="en-US" altLang="en-US" sz="2000" i="1">
              <a:sym typeface="Symbol" panose="05050102010706020507" pitchFamily="18" charset="2"/>
            </a:endParaRPr>
          </a:p>
          <a:p>
            <a:pPr marL="990600" lvl="1" indent="-533400">
              <a:buFont typeface="Wingdings" panose="05000000000000000000" pitchFamily="2" charset="2"/>
              <a:buNone/>
            </a:pPr>
            <a:r>
              <a:rPr lang="en-US" altLang="en-US" sz="2000" i="1">
                <a:sym typeface="Symbol" panose="05050102010706020507" pitchFamily="18" charset="2"/>
              </a:rPr>
              <a:t>	</a:t>
            </a:r>
          </a:p>
          <a:p>
            <a:pPr marL="990600" lvl="1" indent="-533400"/>
            <a:endParaRPr lang="en-US" altLang="en-US" sz="2000">
              <a:sym typeface="Symbol" panose="05050102010706020507" pitchFamily="18" charset="2"/>
            </a:endParaRPr>
          </a:p>
        </p:txBody>
      </p:sp>
      <p:sp>
        <p:nvSpPr>
          <p:cNvPr id="169989" name="Text Box 5">
            <a:extLst>
              <a:ext uri="{FF2B5EF4-FFF2-40B4-BE49-F238E27FC236}">
                <a16:creationId xmlns:a16="http://schemas.microsoft.com/office/drawing/2014/main" id="{5B712F06-AAC5-4256-893C-BFDEA9E4C866}"/>
              </a:ext>
            </a:extLst>
          </p:cNvPr>
          <p:cNvSpPr txBox="1">
            <a:spLocks noChangeArrowheads="1"/>
          </p:cNvSpPr>
          <p:nvPr/>
        </p:nvSpPr>
        <p:spPr bwMode="auto">
          <a:xfrm>
            <a:off x="1066800" y="6172200"/>
            <a:ext cx="7097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4767F1"/>
                </a:solidFill>
                <a:latin typeface="Times New Roman" panose="02020603050405020304" pitchFamily="18" charset="0"/>
              </a:rPr>
              <a:t>Need search strategies to perform this task efficiently</a:t>
            </a:r>
          </a:p>
        </p:txBody>
      </p:sp>
      <p:sp>
        <p:nvSpPr>
          <p:cNvPr id="169990" name="Text Box 6">
            <a:extLst>
              <a:ext uri="{FF2B5EF4-FFF2-40B4-BE49-F238E27FC236}">
                <a16:creationId xmlns:a16="http://schemas.microsoft.com/office/drawing/2014/main" id="{7CC11B12-9AAE-4714-AFBE-DFF1082479D4}"/>
              </a:ext>
            </a:extLst>
          </p:cNvPr>
          <p:cNvSpPr txBox="1">
            <a:spLocks noChangeArrowheads="1"/>
          </p:cNvSpPr>
          <p:nvPr/>
        </p:nvSpPr>
        <p:spPr bwMode="auto">
          <a:xfrm>
            <a:off x="1371600" y="2117725"/>
            <a:ext cx="4033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eaLnBrk="0" hangingPunct="0">
              <a:defRPr sz="2400">
                <a:solidFill>
                  <a:schemeClr val="tx1"/>
                </a:solidFill>
                <a:latin typeface="Times New Roman" panose="02020603050405020304" pitchFamily="18" charset="0"/>
              </a:defRPr>
            </a:lvl1pPr>
            <a:lvl2pPr marL="914400" indent="-457200" eaLnBrk="0" hangingPunct="0">
              <a:defRPr sz="2400">
                <a:solidFill>
                  <a:schemeClr val="tx1"/>
                </a:solidFill>
                <a:latin typeface="Times New Roman" panose="02020603050405020304" pitchFamily="18" charset="0"/>
              </a:defRPr>
            </a:lvl2pPr>
            <a:lvl3pPr marL="1371600" indent="-457200" eaLnBrk="0" hangingPunct="0">
              <a:defRPr sz="2400">
                <a:solidFill>
                  <a:schemeClr val="tx1"/>
                </a:solidFill>
                <a:latin typeface="Times New Roman" panose="02020603050405020304" pitchFamily="18" charset="0"/>
              </a:defRPr>
            </a:lvl3pPr>
            <a:lvl4pPr marL="1828800" indent="-457200" eaLnBrk="0" hangingPunct="0">
              <a:defRPr sz="2400">
                <a:solidFill>
                  <a:schemeClr val="tx1"/>
                </a:solidFill>
                <a:latin typeface="Times New Roman" panose="02020603050405020304" pitchFamily="18" charset="0"/>
              </a:defRPr>
            </a:lvl4pPr>
            <a:lvl5pPr marL="2286000" indent="-457200" eaLnBrk="0" hangingPunct="0">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a:latin typeface="Arial" panose="020B0604020202020204" pitchFamily="34" charset="0"/>
              </a:rPr>
              <a:t>1) </a:t>
            </a:r>
            <a:r>
              <a:rPr lang="en-US" altLang="en-US" sz="2000" i="1">
                <a:latin typeface="Arial" panose="020B0604020202020204" pitchFamily="34" charset="0"/>
                <a:sym typeface="Symbol" panose="05050102010706020507" pitchFamily="18" charset="2"/>
              </a:rPr>
              <a:t>eats(Bill,Peanuts) </a:t>
            </a:r>
            <a:r>
              <a:rPr lang="en-US" altLang="en-US" sz="2000">
                <a:latin typeface="Arial" panose="020B0604020202020204" pitchFamily="34" charset="0"/>
                <a:sym typeface="Symbol" panose="05050102010706020507" pitchFamily="18" charset="2"/>
              </a:rPr>
              <a:t> killed(Bill)</a:t>
            </a:r>
            <a:endParaRPr lang="en-US" altLang="en-US" sz="2000">
              <a:latin typeface="Arial" panose="020B0604020202020204" pitchFamily="34" charset="0"/>
            </a:endParaRPr>
          </a:p>
        </p:txBody>
      </p:sp>
      <p:sp>
        <p:nvSpPr>
          <p:cNvPr id="169991" name="Text Box 7">
            <a:extLst>
              <a:ext uri="{FF2B5EF4-FFF2-40B4-BE49-F238E27FC236}">
                <a16:creationId xmlns:a16="http://schemas.microsoft.com/office/drawing/2014/main" id="{5C50894F-B13C-476B-99A5-C2371D5EC240}"/>
              </a:ext>
            </a:extLst>
          </p:cNvPr>
          <p:cNvSpPr txBox="1">
            <a:spLocks noChangeArrowheads="1"/>
          </p:cNvSpPr>
          <p:nvPr/>
        </p:nvSpPr>
        <p:spPr bwMode="auto">
          <a:xfrm>
            <a:off x="1371600" y="2438400"/>
            <a:ext cx="7294563" cy="134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Arial" panose="020B0604020202020204" pitchFamily="34" charset="0"/>
              </a:rPr>
              <a:t>2) </a:t>
            </a:r>
            <a:r>
              <a:rPr lang="en-US" altLang="en-US" sz="2000">
                <a:latin typeface="Arial" panose="020B0604020202020204" pitchFamily="34" charset="0"/>
                <a:sym typeface="Symbol" panose="05050102010706020507" pitchFamily="18" charset="2"/>
              </a:rPr>
              <a:t></a:t>
            </a:r>
            <a:r>
              <a:rPr lang="en-US" altLang="en-US" sz="2000" i="1">
                <a:latin typeface="Arial" panose="020B0604020202020204" pitchFamily="34" charset="0"/>
                <a:sym typeface="Symbol" panose="05050102010706020507" pitchFamily="18" charset="2"/>
              </a:rPr>
              <a:t>x,y eats(x,y) </a:t>
            </a:r>
            <a:r>
              <a:rPr lang="en-US" altLang="en-US" sz="2000">
                <a:latin typeface="Arial" panose="020B0604020202020204" pitchFamily="34" charset="0"/>
                <a:sym typeface="Symbol" panose="05050102010706020507" pitchFamily="18" charset="2"/>
              </a:rPr>
              <a:t> killed(x)  </a:t>
            </a:r>
            <a:r>
              <a:rPr lang="en-US" altLang="en-US" sz="2000" i="1">
                <a:latin typeface="Arial" panose="020B0604020202020204" pitchFamily="34" charset="0"/>
                <a:sym typeface="Symbol" panose="05050102010706020507" pitchFamily="18" charset="2"/>
              </a:rPr>
              <a:t>food(y) </a:t>
            </a:r>
          </a:p>
          <a:p>
            <a:r>
              <a:rPr lang="en-US" altLang="en-US" sz="2000" i="1">
                <a:latin typeface="Arial" panose="020B0604020202020204" pitchFamily="34" charset="0"/>
                <a:sym typeface="Symbol" panose="05050102010706020507" pitchFamily="18" charset="2"/>
              </a:rPr>
              <a:t>    </a:t>
            </a:r>
            <a:r>
              <a:rPr lang="en-US" altLang="en-US" sz="2000">
                <a:latin typeface="Arial" panose="020B0604020202020204" pitchFamily="34" charset="0"/>
                <a:sym typeface="Symbol" panose="05050102010706020507" pitchFamily="18" charset="2"/>
              </a:rPr>
              <a:t>SUBST({</a:t>
            </a:r>
            <a:r>
              <a:rPr lang="en-US" altLang="en-US" sz="2000" i="1">
                <a:latin typeface="Arial" panose="020B0604020202020204" pitchFamily="34" charset="0"/>
                <a:sym typeface="Symbol" panose="05050102010706020507" pitchFamily="18" charset="2"/>
              </a:rPr>
              <a:t>x/Bill,y/Peanuts</a:t>
            </a:r>
            <a:r>
              <a:rPr lang="en-US" altLang="en-US" sz="2000">
                <a:latin typeface="Arial" panose="020B0604020202020204" pitchFamily="34" charset="0"/>
                <a:sym typeface="Symbol" panose="05050102010706020507" pitchFamily="18" charset="2"/>
              </a:rPr>
              <a:t>}), universal elimination, and modus </a:t>
            </a:r>
          </a:p>
          <a:p>
            <a:r>
              <a:rPr lang="en-US" altLang="en-US" sz="2000">
                <a:latin typeface="Arial" panose="020B0604020202020204" pitchFamily="34" charset="0"/>
                <a:sym typeface="Symbol" panose="05050102010706020507" pitchFamily="18" charset="2"/>
              </a:rPr>
              <a:t>    ponens to derive </a:t>
            </a:r>
            <a:r>
              <a:rPr lang="en-US" altLang="en-US" sz="2000" i="1">
                <a:latin typeface="Arial" panose="020B0604020202020204" pitchFamily="34" charset="0"/>
                <a:sym typeface="Symbol" panose="05050102010706020507" pitchFamily="18" charset="2"/>
              </a:rPr>
              <a:t>food(peanuts) </a:t>
            </a:r>
            <a:endParaRPr lang="en-US" altLang="en-US" sz="2000">
              <a:latin typeface="Arial" panose="020B0604020202020204" pitchFamily="34" charset="0"/>
              <a:sym typeface="Symbol" panose="05050102010706020507" pitchFamily="18" charset="2"/>
            </a:endParaRPr>
          </a:p>
          <a:p>
            <a:pPr lvl="1">
              <a:lnSpc>
                <a:spcPct val="90000"/>
              </a:lnSpc>
              <a:spcBef>
                <a:spcPct val="20000"/>
              </a:spcBef>
              <a:buFont typeface="Wingdings" panose="05000000000000000000" pitchFamily="2" charset="2"/>
              <a:buNone/>
            </a:pPr>
            <a:endParaRPr lang="en-US" altLang="en-US" sz="2000">
              <a:latin typeface="Arial" panose="020B0604020202020204" pitchFamily="34" charset="0"/>
            </a:endParaRPr>
          </a:p>
        </p:txBody>
      </p:sp>
      <p:sp>
        <p:nvSpPr>
          <p:cNvPr id="169992" name="Text Box 8">
            <a:extLst>
              <a:ext uri="{FF2B5EF4-FFF2-40B4-BE49-F238E27FC236}">
                <a16:creationId xmlns:a16="http://schemas.microsoft.com/office/drawing/2014/main" id="{A8A3E117-44D4-4E21-AFED-A2B8D6317E74}"/>
              </a:ext>
            </a:extLst>
          </p:cNvPr>
          <p:cNvSpPr txBox="1">
            <a:spLocks noChangeArrowheads="1"/>
          </p:cNvSpPr>
          <p:nvPr/>
        </p:nvSpPr>
        <p:spPr bwMode="auto">
          <a:xfrm>
            <a:off x="1371600" y="3429000"/>
            <a:ext cx="7053263"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Arial" panose="020B0604020202020204" pitchFamily="34" charset="0"/>
              </a:rPr>
              <a:t>3) </a:t>
            </a:r>
            <a:r>
              <a:rPr lang="en-US" altLang="en-US" sz="2000">
                <a:latin typeface="Arial" panose="020B0604020202020204" pitchFamily="34" charset="0"/>
                <a:sym typeface="Symbol" panose="05050102010706020507" pitchFamily="18" charset="2"/>
              </a:rPr>
              <a:t></a:t>
            </a:r>
            <a:r>
              <a:rPr lang="en-US" altLang="en-US" sz="2000" i="1">
                <a:latin typeface="Arial" panose="020B0604020202020204" pitchFamily="34" charset="0"/>
                <a:sym typeface="Symbol" panose="05050102010706020507" pitchFamily="18" charset="2"/>
              </a:rPr>
              <a:t>x food (x)</a:t>
            </a:r>
            <a:r>
              <a:rPr lang="en-US" altLang="en-US" sz="2000">
                <a:latin typeface="Arial" panose="020B0604020202020204" pitchFamily="34" charset="0"/>
                <a:sym typeface="Symbol" panose="05050102010706020507" pitchFamily="18" charset="2"/>
              </a:rPr>
              <a:t>  </a:t>
            </a:r>
            <a:r>
              <a:rPr lang="en-US" altLang="en-US" sz="2000" i="1">
                <a:latin typeface="Arial" panose="020B0604020202020204" pitchFamily="34" charset="0"/>
                <a:sym typeface="Symbol" panose="05050102010706020507" pitchFamily="18" charset="2"/>
              </a:rPr>
              <a:t>eats(John, x)</a:t>
            </a:r>
          </a:p>
          <a:p>
            <a:r>
              <a:rPr lang="en-US" altLang="en-US" sz="2000" i="1">
                <a:latin typeface="Arial" panose="020B0604020202020204" pitchFamily="34" charset="0"/>
                <a:sym typeface="Symbol" panose="05050102010706020507" pitchFamily="18" charset="2"/>
              </a:rPr>
              <a:t>   </a:t>
            </a:r>
            <a:r>
              <a:rPr lang="en-US" altLang="en-US" sz="2000">
                <a:latin typeface="Arial" panose="020B0604020202020204" pitchFamily="34" charset="0"/>
                <a:sym typeface="Symbol" panose="05050102010706020507" pitchFamily="18" charset="2"/>
              </a:rPr>
              <a:t>SUBST({</a:t>
            </a:r>
            <a:r>
              <a:rPr lang="en-US" altLang="en-US" sz="2000" i="1">
                <a:latin typeface="Arial" panose="020B0604020202020204" pitchFamily="34" charset="0"/>
                <a:sym typeface="Symbol" panose="05050102010706020507" pitchFamily="18" charset="2"/>
              </a:rPr>
              <a:t>x/Peanuts</a:t>
            </a:r>
            <a:r>
              <a:rPr lang="en-US" altLang="en-US" sz="2000">
                <a:latin typeface="Arial" panose="020B0604020202020204" pitchFamily="34" charset="0"/>
                <a:sym typeface="Symbol" panose="05050102010706020507" pitchFamily="18" charset="2"/>
              </a:rPr>
              <a:t>}) and use (2, universal elimination, and </a:t>
            </a:r>
          </a:p>
          <a:p>
            <a:r>
              <a:rPr lang="en-US" altLang="en-US" sz="2000">
                <a:latin typeface="Arial" panose="020B0604020202020204" pitchFamily="34" charset="0"/>
                <a:sym typeface="Symbol" panose="05050102010706020507" pitchFamily="18" charset="2"/>
              </a:rPr>
              <a:t>  modus ponens to derive </a:t>
            </a:r>
            <a:r>
              <a:rPr lang="en-US" altLang="en-US" sz="2000" i="1">
                <a:latin typeface="Arial" panose="020B0604020202020204" pitchFamily="34" charset="0"/>
                <a:sym typeface="Symbol" panose="05050102010706020507" pitchFamily="18" charset="2"/>
              </a:rPr>
              <a:t>eats(John,peanuts) </a:t>
            </a:r>
          </a:p>
        </p:txBody>
      </p:sp>
      <p:sp>
        <p:nvSpPr>
          <p:cNvPr id="169993" name="Text Box 9">
            <a:extLst>
              <a:ext uri="{FF2B5EF4-FFF2-40B4-BE49-F238E27FC236}">
                <a16:creationId xmlns:a16="http://schemas.microsoft.com/office/drawing/2014/main" id="{4F3F187C-CE2D-453D-A74B-47D9CBCBBA12}"/>
              </a:ext>
            </a:extLst>
          </p:cNvPr>
          <p:cNvSpPr txBox="1">
            <a:spLocks noChangeArrowheads="1"/>
          </p:cNvSpPr>
          <p:nvPr/>
        </p:nvSpPr>
        <p:spPr bwMode="auto">
          <a:xfrm>
            <a:off x="304800" y="4876800"/>
            <a:ext cx="855345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lnSpc>
                <a:spcPct val="90000"/>
              </a:lnSpc>
              <a:spcBef>
                <a:spcPct val="20000"/>
              </a:spcBef>
            </a:pPr>
            <a:r>
              <a:rPr lang="en-US" altLang="en-US" sz="1800" b="1">
                <a:effectLst>
                  <a:outerShdw blurRad="38100" dist="38100" dir="2700000" algn="tl">
                    <a:srgbClr val="C0C0C0"/>
                  </a:outerShdw>
                </a:effectLst>
                <a:latin typeface="Arial" panose="020B0604020202020204" pitchFamily="34" charset="0"/>
                <a:sym typeface="Symbol" panose="05050102010706020507" pitchFamily="18" charset="2"/>
              </a:rPr>
              <a:t>Derived Proof by Forward Chaining</a:t>
            </a:r>
          </a:p>
          <a:p>
            <a:pPr lvl="1">
              <a:lnSpc>
                <a:spcPct val="90000"/>
              </a:lnSpc>
              <a:spcBef>
                <a:spcPct val="20000"/>
              </a:spcBef>
            </a:pPr>
            <a:r>
              <a:rPr lang="en-US" altLang="en-US" sz="1800" b="1">
                <a:effectLst>
                  <a:outerShdw blurRad="38100" dist="38100" dir="2700000" algn="tl">
                    <a:srgbClr val="C0C0C0"/>
                  </a:outerShdw>
                </a:effectLst>
                <a:latin typeface="Arial" panose="020B0604020202020204" pitchFamily="34" charset="0"/>
                <a:sym typeface="Symbol" panose="05050102010706020507" pitchFamily="18" charset="2"/>
              </a:rPr>
              <a:t>	</a:t>
            </a:r>
            <a:r>
              <a:rPr lang="en-US" altLang="en-US" sz="1800">
                <a:latin typeface="Arial" panose="020B0604020202020204" pitchFamily="34" charset="0"/>
                <a:sym typeface="Symbol" panose="05050102010706020507" pitchFamily="18" charset="2"/>
              </a:rPr>
              <a:t>The proof steps could have been longer – if we had tried other derivations</a:t>
            </a:r>
          </a:p>
          <a:p>
            <a:pPr lvl="1">
              <a:lnSpc>
                <a:spcPct val="90000"/>
              </a:lnSpc>
              <a:spcBef>
                <a:spcPct val="20000"/>
              </a:spcBef>
            </a:pPr>
            <a:r>
              <a:rPr lang="en-US" altLang="en-US" sz="1800" b="1">
                <a:effectLst>
                  <a:outerShdw blurRad="38100" dist="38100" dir="2700000" algn="tl">
                    <a:srgbClr val="C0C0C0"/>
                  </a:outerShdw>
                </a:effectLst>
                <a:latin typeface="Arial" panose="020B0604020202020204" pitchFamily="34" charset="0"/>
                <a:sym typeface="Symbol" panose="05050102010706020507" pitchFamily="18" charset="2"/>
              </a:rPr>
              <a:t>	</a:t>
            </a:r>
            <a:r>
              <a:rPr lang="en-US" altLang="en-US" sz="1800">
                <a:latin typeface="Arial" panose="020B0604020202020204" pitchFamily="34" charset="0"/>
                <a:sym typeface="Symbol" panose="05050102010706020507" pitchFamily="18" charset="2"/>
              </a:rPr>
              <a:t>For example, many possibilities for substitution and universal elimination</a:t>
            </a:r>
          </a:p>
          <a:p>
            <a:pPr lvl="1">
              <a:lnSpc>
                <a:spcPct val="90000"/>
              </a:lnSpc>
              <a:spcBef>
                <a:spcPct val="20000"/>
              </a:spcBef>
              <a:buFontTx/>
              <a:buChar char="–"/>
            </a:pPr>
            <a:endParaRPr lang="en-US" altLang="en-US" sz="1800" i="1">
              <a:latin typeface="Arial" panose="020B0604020202020204" pitchFamily="34" charset="0"/>
              <a:sym typeface="Symbol" panose="05050102010706020507" pitchFamily="18" charset="2"/>
            </a:endParaRPr>
          </a:p>
          <a:p>
            <a:endParaRPr lang="en-US"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99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99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999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999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9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9" grpId="0" autoUpdateAnimBg="0"/>
      <p:bldP spid="169990" grpId="0" autoUpdateAnimBg="0"/>
      <p:bldP spid="169991" grpId="0" autoUpdateAnimBg="0"/>
      <p:bldP spid="169992" grpId="0" autoUpdateAnimBg="0"/>
      <p:bldP spid="16999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a:extLst>
              <a:ext uri="{FF2B5EF4-FFF2-40B4-BE49-F238E27FC236}">
                <a16:creationId xmlns:a16="http://schemas.microsoft.com/office/drawing/2014/main" id="{6CE82A24-0A64-4090-90EF-6A25E9AF644B}"/>
              </a:ext>
            </a:extLst>
          </p:cNvPr>
          <p:cNvSpPr>
            <a:spLocks noGrp="1" noChangeArrowheads="1"/>
          </p:cNvSpPr>
          <p:nvPr>
            <p:ph type="title"/>
          </p:nvPr>
        </p:nvSpPr>
        <p:spPr>
          <a:xfrm>
            <a:off x="609600" y="304800"/>
            <a:ext cx="7772400" cy="858838"/>
          </a:xfrm>
        </p:spPr>
        <p:txBody>
          <a:bodyPr/>
          <a:lstStyle/>
          <a:p>
            <a:r>
              <a:rPr lang="en-US" altLang="en-US" sz="4000"/>
              <a:t>Pictorial View: Forward Chaining</a:t>
            </a:r>
          </a:p>
        </p:txBody>
      </p:sp>
      <p:sp>
        <p:nvSpPr>
          <p:cNvPr id="179203" name="Text Box 3">
            <a:extLst>
              <a:ext uri="{FF2B5EF4-FFF2-40B4-BE49-F238E27FC236}">
                <a16:creationId xmlns:a16="http://schemas.microsoft.com/office/drawing/2014/main" id="{217CD04D-AE81-4828-BE97-2F1A2161E2ED}"/>
              </a:ext>
            </a:extLst>
          </p:cNvPr>
          <p:cNvSpPr txBox="1">
            <a:spLocks noChangeArrowheads="1"/>
          </p:cNvSpPr>
          <p:nvPr/>
        </p:nvSpPr>
        <p:spPr bwMode="auto">
          <a:xfrm>
            <a:off x="2463800" y="4178300"/>
            <a:ext cx="2058988"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i="1">
                <a:latin typeface="Times New Roman" panose="02020603050405020304" pitchFamily="18" charset="0"/>
                <a:sym typeface="Symbol" panose="05050102010706020507" pitchFamily="18" charset="2"/>
              </a:rPr>
              <a:t>eats(Bill,Peanuts)</a:t>
            </a:r>
          </a:p>
        </p:txBody>
      </p:sp>
      <p:sp>
        <p:nvSpPr>
          <p:cNvPr id="179204" name="Text Box 4">
            <a:extLst>
              <a:ext uri="{FF2B5EF4-FFF2-40B4-BE49-F238E27FC236}">
                <a16:creationId xmlns:a16="http://schemas.microsoft.com/office/drawing/2014/main" id="{B4288451-3FD3-49AB-B64A-71FBE84EBF50}"/>
              </a:ext>
            </a:extLst>
          </p:cNvPr>
          <p:cNvSpPr txBox="1">
            <a:spLocks noChangeArrowheads="1"/>
          </p:cNvSpPr>
          <p:nvPr/>
        </p:nvSpPr>
        <p:spPr bwMode="auto">
          <a:xfrm>
            <a:off x="5281613" y="4076700"/>
            <a:ext cx="1562100"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latin typeface="Times New Roman" panose="02020603050405020304" pitchFamily="18" charset="0"/>
                <a:sym typeface="Symbol" panose="05050102010706020507" pitchFamily="18" charset="2"/>
              </a:rPr>
              <a:t></a:t>
            </a:r>
            <a:r>
              <a:rPr lang="en-US" altLang="en-US" sz="2000" b="1" i="1">
                <a:latin typeface="Times New Roman" panose="02020603050405020304" pitchFamily="18" charset="0"/>
                <a:sym typeface="Symbol" panose="05050102010706020507" pitchFamily="18" charset="2"/>
              </a:rPr>
              <a:t> killed(Bill)</a:t>
            </a:r>
          </a:p>
        </p:txBody>
      </p:sp>
      <p:sp>
        <p:nvSpPr>
          <p:cNvPr id="179205" name="Text Box 5">
            <a:extLst>
              <a:ext uri="{FF2B5EF4-FFF2-40B4-BE49-F238E27FC236}">
                <a16:creationId xmlns:a16="http://schemas.microsoft.com/office/drawing/2014/main" id="{B418ACF2-E96B-4690-B78A-6E7EF0C1EF28}"/>
              </a:ext>
            </a:extLst>
          </p:cNvPr>
          <p:cNvSpPr txBox="1">
            <a:spLocks noChangeArrowheads="1"/>
          </p:cNvSpPr>
          <p:nvPr/>
        </p:nvSpPr>
        <p:spPr bwMode="auto">
          <a:xfrm>
            <a:off x="3975100" y="2959100"/>
            <a:ext cx="1674813"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b="1" i="1">
                <a:latin typeface="Times New Roman" panose="02020603050405020304" pitchFamily="18" charset="0"/>
                <a:sym typeface="Symbol" panose="05050102010706020507" pitchFamily="18" charset="2"/>
              </a:rPr>
              <a:t>food(Peanuts)</a:t>
            </a:r>
          </a:p>
        </p:txBody>
      </p:sp>
      <p:sp>
        <p:nvSpPr>
          <p:cNvPr id="179206" name="Line 6">
            <a:extLst>
              <a:ext uri="{FF2B5EF4-FFF2-40B4-BE49-F238E27FC236}">
                <a16:creationId xmlns:a16="http://schemas.microsoft.com/office/drawing/2014/main" id="{7B67069A-CFE2-4CDA-A17F-7C0224AC5A09}"/>
              </a:ext>
            </a:extLst>
          </p:cNvPr>
          <p:cNvSpPr>
            <a:spLocks noChangeShapeType="1"/>
          </p:cNvSpPr>
          <p:nvPr/>
        </p:nvSpPr>
        <p:spPr bwMode="auto">
          <a:xfrm flipV="1">
            <a:off x="3454400" y="3378200"/>
            <a:ext cx="1346200" cy="800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9207" name="Line 7">
            <a:extLst>
              <a:ext uri="{FF2B5EF4-FFF2-40B4-BE49-F238E27FC236}">
                <a16:creationId xmlns:a16="http://schemas.microsoft.com/office/drawing/2014/main" id="{CA5DB3E7-69B4-4662-9990-DD2C574233CA}"/>
              </a:ext>
            </a:extLst>
          </p:cNvPr>
          <p:cNvSpPr>
            <a:spLocks noChangeShapeType="1"/>
          </p:cNvSpPr>
          <p:nvPr/>
        </p:nvSpPr>
        <p:spPr bwMode="auto">
          <a:xfrm flipH="1" flipV="1">
            <a:off x="4800600" y="3378200"/>
            <a:ext cx="1166813" cy="7239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9208" name="Freeform 8">
            <a:extLst>
              <a:ext uri="{FF2B5EF4-FFF2-40B4-BE49-F238E27FC236}">
                <a16:creationId xmlns:a16="http://schemas.microsoft.com/office/drawing/2014/main" id="{13D6E4E7-294E-4340-BD35-1C00A4C49E59}"/>
              </a:ext>
            </a:extLst>
          </p:cNvPr>
          <p:cNvSpPr>
            <a:spLocks/>
          </p:cNvSpPr>
          <p:nvPr/>
        </p:nvSpPr>
        <p:spPr bwMode="auto">
          <a:xfrm>
            <a:off x="4521200" y="3568700"/>
            <a:ext cx="608013" cy="88900"/>
          </a:xfrm>
          <a:custGeom>
            <a:avLst/>
            <a:gdLst>
              <a:gd name="T0" fmla="*/ 0 w 384"/>
              <a:gd name="T1" fmla="*/ 0 h 56"/>
              <a:gd name="T2" fmla="*/ 96 w 384"/>
              <a:gd name="T3" fmla="*/ 48 h 56"/>
              <a:gd name="T4" fmla="*/ 288 w 384"/>
              <a:gd name="T5" fmla="*/ 48 h 56"/>
              <a:gd name="T6" fmla="*/ 384 w 384"/>
              <a:gd name="T7" fmla="*/ 0 h 56"/>
            </a:gdLst>
            <a:ahLst/>
            <a:cxnLst>
              <a:cxn ang="0">
                <a:pos x="T0" y="T1"/>
              </a:cxn>
              <a:cxn ang="0">
                <a:pos x="T2" y="T3"/>
              </a:cxn>
              <a:cxn ang="0">
                <a:pos x="T4" y="T5"/>
              </a:cxn>
              <a:cxn ang="0">
                <a:pos x="T6" y="T7"/>
              </a:cxn>
            </a:cxnLst>
            <a:rect l="0" t="0" r="r" b="b"/>
            <a:pathLst>
              <a:path w="384" h="56">
                <a:moveTo>
                  <a:pt x="0" y="0"/>
                </a:moveTo>
                <a:cubicBezTo>
                  <a:pt x="24" y="20"/>
                  <a:pt x="48" y="40"/>
                  <a:pt x="96" y="48"/>
                </a:cubicBezTo>
                <a:cubicBezTo>
                  <a:pt x="144" y="56"/>
                  <a:pt x="240" y="56"/>
                  <a:pt x="288" y="48"/>
                </a:cubicBezTo>
                <a:cubicBezTo>
                  <a:pt x="336" y="40"/>
                  <a:pt x="368" y="8"/>
                  <a:pt x="384" y="0"/>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9209" name="Text Box 9">
            <a:extLst>
              <a:ext uri="{FF2B5EF4-FFF2-40B4-BE49-F238E27FC236}">
                <a16:creationId xmlns:a16="http://schemas.microsoft.com/office/drawing/2014/main" id="{6BB4E089-B58C-4252-BE86-F23EF986D199}"/>
              </a:ext>
            </a:extLst>
          </p:cNvPr>
          <p:cNvSpPr txBox="1">
            <a:spLocks noChangeArrowheads="1"/>
          </p:cNvSpPr>
          <p:nvPr/>
        </p:nvSpPr>
        <p:spPr bwMode="auto">
          <a:xfrm>
            <a:off x="3683000" y="1676400"/>
            <a:ext cx="2279650"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i="1">
                <a:latin typeface="Times New Roman" panose="02020603050405020304" pitchFamily="18" charset="0"/>
                <a:sym typeface="Symbol" panose="05050102010706020507" pitchFamily="18" charset="2"/>
              </a:rPr>
              <a:t>eats(John, Peanuts)</a:t>
            </a:r>
          </a:p>
        </p:txBody>
      </p:sp>
      <p:sp>
        <p:nvSpPr>
          <p:cNvPr id="179210" name="Line 10">
            <a:extLst>
              <a:ext uri="{FF2B5EF4-FFF2-40B4-BE49-F238E27FC236}">
                <a16:creationId xmlns:a16="http://schemas.microsoft.com/office/drawing/2014/main" id="{A5F6C806-8699-47F6-9415-7B80431CF059}"/>
              </a:ext>
            </a:extLst>
          </p:cNvPr>
          <p:cNvSpPr>
            <a:spLocks noChangeShapeType="1"/>
          </p:cNvSpPr>
          <p:nvPr/>
        </p:nvSpPr>
        <p:spPr bwMode="auto">
          <a:xfrm flipV="1">
            <a:off x="4824413" y="2120900"/>
            <a:ext cx="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9211" name="Text Box 11">
            <a:extLst>
              <a:ext uri="{FF2B5EF4-FFF2-40B4-BE49-F238E27FC236}">
                <a16:creationId xmlns:a16="http://schemas.microsoft.com/office/drawing/2014/main" id="{166CE210-AFB6-4314-B7D7-E23ADB0F4CC9}"/>
              </a:ext>
            </a:extLst>
          </p:cNvPr>
          <p:cNvSpPr txBox="1">
            <a:spLocks noChangeArrowheads="1"/>
          </p:cNvSpPr>
          <p:nvPr/>
        </p:nvSpPr>
        <p:spPr bwMode="auto">
          <a:xfrm>
            <a:off x="152400" y="3365500"/>
            <a:ext cx="40243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chemeClr val="hlink"/>
                </a:solidFill>
                <a:latin typeface="Times New Roman" panose="02020603050405020304" pitchFamily="18" charset="0"/>
                <a:sym typeface="Symbol" panose="05050102010706020507" pitchFamily="18" charset="2"/>
              </a:rPr>
              <a:t></a:t>
            </a:r>
            <a:r>
              <a:rPr lang="en-US" altLang="en-US" sz="2000" i="1">
                <a:solidFill>
                  <a:schemeClr val="hlink"/>
                </a:solidFill>
                <a:latin typeface="Times New Roman" panose="02020603050405020304" pitchFamily="18" charset="0"/>
                <a:sym typeface="Symbol" panose="05050102010706020507" pitchFamily="18" charset="2"/>
              </a:rPr>
              <a:t>x,y eats(x,y) </a:t>
            </a:r>
            <a:r>
              <a:rPr lang="en-US" altLang="en-US" sz="2000">
                <a:solidFill>
                  <a:schemeClr val="hlink"/>
                </a:solidFill>
                <a:latin typeface="Times New Roman" panose="02020603050405020304" pitchFamily="18" charset="0"/>
                <a:sym typeface="Symbol" panose="05050102010706020507" pitchFamily="18" charset="2"/>
              </a:rPr>
              <a:t> killed(x)  </a:t>
            </a:r>
            <a:r>
              <a:rPr lang="en-US" altLang="en-US" sz="2000" i="1">
                <a:solidFill>
                  <a:schemeClr val="hlink"/>
                </a:solidFill>
                <a:latin typeface="Times New Roman" panose="02020603050405020304" pitchFamily="18" charset="0"/>
                <a:sym typeface="Symbol" panose="05050102010706020507" pitchFamily="18" charset="2"/>
              </a:rPr>
              <a:t>food(y)</a:t>
            </a:r>
          </a:p>
        </p:txBody>
      </p:sp>
      <p:sp>
        <p:nvSpPr>
          <p:cNvPr id="179212" name="Text Box 12">
            <a:extLst>
              <a:ext uri="{FF2B5EF4-FFF2-40B4-BE49-F238E27FC236}">
                <a16:creationId xmlns:a16="http://schemas.microsoft.com/office/drawing/2014/main" id="{F0960501-A04D-4F25-BDAF-DCC804595ECC}"/>
              </a:ext>
            </a:extLst>
          </p:cNvPr>
          <p:cNvSpPr txBox="1">
            <a:spLocks noChangeArrowheads="1"/>
          </p:cNvSpPr>
          <p:nvPr/>
        </p:nvSpPr>
        <p:spPr bwMode="auto">
          <a:xfrm>
            <a:off x="1206500" y="2286000"/>
            <a:ext cx="3024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chemeClr val="hlink"/>
                </a:solidFill>
                <a:latin typeface="Times New Roman" panose="02020603050405020304" pitchFamily="18" charset="0"/>
                <a:sym typeface="Symbol" panose="05050102010706020507" pitchFamily="18" charset="2"/>
              </a:rPr>
              <a:t></a:t>
            </a:r>
            <a:r>
              <a:rPr lang="en-US" altLang="en-US" sz="2000" i="1">
                <a:solidFill>
                  <a:schemeClr val="hlink"/>
                </a:solidFill>
                <a:latin typeface="Times New Roman" panose="02020603050405020304" pitchFamily="18" charset="0"/>
                <a:sym typeface="Symbol" panose="05050102010706020507" pitchFamily="18" charset="2"/>
              </a:rPr>
              <a:t>x food (x)</a:t>
            </a:r>
            <a:r>
              <a:rPr lang="en-US" altLang="en-US" sz="2000">
                <a:solidFill>
                  <a:schemeClr val="hlink"/>
                </a:solidFill>
                <a:latin typeface="Times New Roman" panose="02020603050405020304" pitchFamily="18" charset="0"/>
                <a:sym typeface="Symbol" panose="05050102010706020507" pitchFamily="18" charset="2"/>
              </a:rPr>
              <a:t>  </a:t>
            </a:r>
            <a:r>
              <a:rPr lang="en-US" altLang="en-US" sz="2000" i="1">
                <a:solidFill>
                  <a:schemeClr val="hlink"/>
                </a:solidFill>
                <a:latin typeface="Times New Roman" panose="02020603050405020304" pitchFamily="18" charset="0"/>
                <a:sym typeface="Symbol" panose="05050102010706020507" pitchFamily="18" charset="2"/>
              </a:rPr>
              <a:t>eats(John, x)</a:t>
            </a:r>
          </a:p>
        </p:txBody>
      </p:sp>
      <p:sp>
        <p:nvSpPr>
          <p:cNvPr id="179213" name="Text Box 13">
            <a:extLst>
              <a:ext uri="{FF2B5EF4-FFF2-40B4-BE49-F238E27FC236}">
                <a16:creationId xmlns:a16="http://schemas.microsoft.com/office/drawing/2014/main" id="{93CADF0E-0835-46B8-9240-86D5C4CAC721}"/>
              </a:ext>
            </a:extLst>
          </p:cNvPr>
          <p:cNvSpPr txBox="1">
            <a:spLocks noChangeArrowheads="1"/>
          </p:cNvSpPr>
          <p:nvPr/>
        </p:nvSpPr>
        <p:spPr bwMode="auto">
          <a:xfrm>
            <a:off x="365125" y="4154488"/>
            <a:ext cx="1539875"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i="1">
                <a:solidFill>
                  <a:srgbClr val="777777"/>
                </a:solidFill>
                <a:latin typeface="Times New Roman" panose="02020603050405020304" pitchFamily="18" charset="0"/>
                <a:sym typeface="Symbol" panose="05050102010706020507" pitchFamily="18" charset="2"/>
              </a:rPr>
              <a:t>food(apples)</a:t>
            </a:r>
            <a:endParaRPr lang="en-US" altLang="en-US" sz="2000">
              <a:solidFill>
                <a:srgbClr val="777777"/>
              </a:solidFill>
              <a:latin typeface="Times New Roman" panose="02020603050405020304" pitchFamily="18" charset="0"/>
            </a:endParaRPr>
          </a:p>
        </p:txBody>
      </p:sp>
      <p:sp>
        <p:nvSpPr>
          <p:cNvPr id="179214" name="Text Box 14">
            <a:extLst>
              <a:ext uri="{FF2B5EF4-FFF2-40B4-BE49-F238E27FC236}">
                <a16:creationId xmlns:a16="http://schemas.microsoft.com/office/drawing/2014/main" id="{B4E37810-169F-4BA4-97B6-CEFF3DA08032}"/>
              </a:ext>
            </a:extLst>
          </p:cNvPr>
          <p:cNvSpPr txBox="1">
            <a:spLocks noChangeArrowheads="1"/>
          </p:cNvSpPr>
          <p:nvPr/>
        </p:nvSpPr>
        <p:spPr bwMode="auto">
          <a:xfrm>
            <a:off x="6994525" y="4002088"/>
            <a:ext cx="1692275"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i="1">
                <a:solidFill>
                  <a:srgbClr val="777777"/>
                </a:solidFill>
                <a:latin typeface="Times New Roman" panose="02020603050405020304" pitchFamily="18" charset="0"/>
                <a:sym typeface="Symbol" panose="05050102010706020507" pitchFamily="18" charset="2"/>
              </a:rPr>
              <a:t>food(chicken)</a:t>
            </a:r>
            <a:endParaRPr lang="en-US" altLang="en-US" sz="2000">
              <a:solidFill>
                <a:srgbClr val="777777"/>
              </a:solidFill>
              <a:latin typeface="Times New Roman" panose="02020603050405020304" pitchFamily="18" charset="0"/>
            </a:endParaRPr>
          </a:p>
        </p:txBody>
      </p:sp>
      <p:sp>
        <p:nvSpPr>
          <p:cNvPr id="179216" name="Text Box 16">
            <a:extLst>
              <a:ext uri="{FF2B5EF4-FFF2-40B4-BE49-F238E27FC236}">
                <a16:creationId xmlns:a16="http://schemas.microsoft.com/office/drawing/2014/main" id="{CDF7A515-1AC9-4735-9A7A-26E962CA8DC5}"/>
              </a:ext>
            </a:extLst>
          </p:cNvPr>
          <p:cNvSpPr txBox="1">
            <a:spLocks noChangeArrowheads="1"/>
          </p:cNvSpPr>
          <p:nvPr/>
        </p:nvSpPr>
        <p:spPr bwMode="auto">
          <a:xfrm>
            <a:off x="365125" y="1868488"/>
            <a:ext cx="2095500"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i="1">
                <a:solidFill>
                  <a:srgbClr val="777777"/>
                </a:solidFill>
                <a:latin typeface="Times New Roman" panose="02020603050405020304" pitchFamily="18" charset="0"/>
                <a:sym typeface="Symbol" panose="05050102010706020507" pitchFamily="18" charset="2"/>
              </a:rPr>
              <a:t>eats(John, apples)</a:t>
            </a:r>
            <a:endParaRPr lang="en-US" altLang="en-US">
              <a:solidFill>
                <a:srgbClr val="777777"/>
              </a:solidFill>
              <a:latin typeface="Times New Roman" panose="02020603050405020304" pitchFamily="18" charset="0"/>
            </a:endParaRPr>
          </a:p>
        </p:txBody>
      </p:sp>
      <p:sp>
        <p:nvSpPr>
          <p:cNvPr id="179217" name="Line 17">
            <a:extLst>
              <a:ext uri="{FF2B5EF4-FFF2-40B4-BE49-F238E27FC236}">
                <a16:creationId xmlns:a16="http://schemas.microsoft.com/office/drawing/2014/main" id="{02AB482F-3A20-40B5-97F1-C850B184BFE1}"/>
              </a:ext>
            </a:extLst>
          </p:cNvPr>
          <p:cNvSpPr>
            <a:spLocks noChangeShapeType="1"/>
          </p:cNvSpPr>
          <p:nvPr/>
        </p:nvSpPr>
        <p:spPr bwMode="auto">
          <a:xfrm flipV="1">
            <a:off x="1143000" y="2286000"/>
            <a:ext cx="0" cy="1905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9218" name="Text Box 18">
            <a:extLst>
              <a:ext uri="{FF2B5EF4-FFF2-40B4-BE49-F238E27FC236}">
                <a16:creationId xmlns:a16="http://schemas.microsoft.com/office/drawing/2014/main" id="{176D6C9F-CC84-48AC-B812-2C2DB2434FD0}"/>
              </a:ext>
            </a:extLst>
          </p:cNvPr>
          <p:cNvSpPr txBox="1">
            <a:spLocks noChangeArrowheads="1"/>
          </p:cNvSpPr>
          <p:nvPr/>
        </p:nvSpPr>
        <p:spPr bwMode="auto">
          <a:xfrm>
            <a:off x="6477000" y="2362200"/>
            <a:ext cx="2251075"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i="1">
                <a:solidFill>
                  <a:srgbClr val="777777"/>
                </a:solidFill>
                <a:latin typeface="Times New Roman" panose="02020603050405020304" pitchFamily="18" charset="0"/>
                <a:sym typeface="Symbol" panose="05050102010706020507" pitchFamily="18" charset="2"/>
              </a:rPr>
              <a:t>eats(John, chicken)</a:t>
            </a:r>
            <a:endParaRPr lang="en-US" altLang="en-US">
              <a:solidFill>
                <a:srgbClr val="777777"/>
              </a:solidFill>
              <a:latin typeface="Times New Roman" panose="02020603050405020304" pitchFamily="18" charset="0"/>
            </a:endParaRPr>
          </a:p>
        </p:txBody>
      </p:sp>
      <p:sp>
        <p:nvSpPr>
          <p:cNvPr id="179219" name="Line 19">
            <a:extLst>
              <a:ext uri="{FF2B5EF4-FFF2-40B4-BE49-F238E27FC236}">
                <a16:creationId xmlns:a16="http://schemas.microsoft.com/office/drawing/2014/main" id="{E52D103F-7D56-4217-B6AA-25250262C5F7}"/>
              </a:ext>
            </a:extLst>
          </p:cNvPr>
          <p:cNvSpPr>
            <a:spLocks noChangeShapeType="1"/>
          </p:cNvSpPr>
          <p:nvPr/>
        </p:nvSpPr>
        <p:spPr bwMode="auto">
          <a:xfrm flipV="1">
            <a:off x="7772400" y="2743200"/>
            <a:ext cx="0"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9203"/>
                                        </p:tgtEl>
                                        <p:attrNameLst>
                                          <p:attrName>style.visibility</p:attrName>
                                        </p:attrNameLst>
                                      </p:cBhvr>
                                      <p:to>
                                        <p:strVal val="visible"/>
                                      </p:to>
                                    </p:set>
                                    <p:anim calcmode="lin" valueType="num">
                                      <p:cBhvr additive="base">
                                        <p:cTn id="7" dur="500" fill="hold"/>
                                        <p:tgtEl>
                                          <p:spTgt spid="179203"/>
                                        </p:tgtEl>
                                        <p:attrNameLst>
                                          <p:attrName>ppt_x</p:attrName>
                                        </p:attrNameLst>
                                      </p:cBhvr>
                                      <p:tavLst>
                                        <p:tav tm="0">
                                          <p:val>
                                            <p:strVal val="#ppt_x"/>
                                          </p:val>
                                        </p:tav>
                                        <p:tav tm="100000">
                                          <p:val>
                                            <p:strVal val="#ppt_x"/>
                                          </p:val>
                                        </p:tav>
                                      </p:tavLst>
                                    </p:anim>
                                    <p:anim calcmode="lin" valueType="num">
                                      <p:cBhvr additive="base">
                                        <p:cTn id="8" dur="500" fill="hold"/>
                                        <p:tgtEl>
                                          <p:spTgt spid="179203"/>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79204"/>
                                        </p:tgtEl>
                                        <p:attrNameLst>
                                          <p:attrName>style.visibility</p:attrName>
                                        </p:attrNameLst>
                                      </p:cBhvr>
                                      <p:to>
                                        <p:strVal val="visible"/>
                                      </p:to>
                                    </p:set>
                                    <p:anim calcmode="lin" valueType="num">
                                      <p:cBhvr additive="base">
                                        <p:cTn id="12" dur="500" fill="hold"/>
                                        <p:tgtEl>
                                          <p:spTgt spid="179204"/>
                                        </p:tgtEl>
                                        <p:attrNameLst>
                                          <p:attrName>ppt_x</p:attrName>
                                        </p:attrNameLst>
                                      </p:cBhvr>
                                      <p:tavLst>
                                        <p:tav tm="0">
                                          <p:val>
                                            <p:strVal val="#ppt_x"/>
                                          </p:val>
                                        </p:tav>
                                        <p:tav tm="100000">
                                          <p:val>
                                            <p:strVal val="#ppt_x"/>
                                          </p:val>
                                        </p:tav>
                                      </p:tavLst>
                                    </p:anim>
                                    <p:anim calcmode="lin" valueType="num">
                                      <p:cBhvr additive="base">
                                        <p:cTn id="13" dur="500" fill="hold"/>
                                        <p:tgtEl>
                                          <p:spTgt spid="179204"/>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8" fill="hold" nodeType="afterEffect">
                                  <p:stCondLst>
                                    <p:cond delay="2000"/>
                                  </p:stCondLst>
                                  <p:childTnLst>
                                    <p:set>
                                      <p:cBhvr>
                                        <p:cTn id="16" dur="1" fill="hold">
                                          <p:stCondLst>
                                            <p:cond delay="0"/>
                                          </p:stCondLst>
                                        </p:cTn>
                                        <p:tgtEl>
                                          <p:spTgt spid="179206"/>
                                        </p:tgtEl>
                                        <p:attrNameLst>
                                          <p:attrName>style.visibility</p:attrName>
                                        </p:attrNameLst>
                                      </p:cBhvr>
                                      <p:to>
                                        <p:strVal val="visible"/>
                                      </p:to>
                                    </p:set>
                                    <p:anim calcmode="lin" valueType="num">
                                      <p:cBhvr additive="base">
                                        <p:cTn id="17" dur="500" fill="hold"/>
                                        <p:tgtEl>
                                          <p:spTgt spid="179206"/>
                                        </p:tgtEl>
                                        <p:attrNameLst>
                                          <p:attrName>ppt_x</p:attrName>
                                        </p:attrNameLst>
                                      </p:cBhvr>
                                      <p:tavLst>
                                        <p:tav tm="0">
                                          <p:val>
                                            <p:strVal val="0-#ppt_w/2"/>
                                          </p:val>
                                        </p:tav>
                                        <p:tav tm="100000">
                                          <p:val>
                                            <p:strVal val="#ppt_x"/>
                                          </p:val>
                                        </p:tav>
                                      </p:tavLst>
                                    </p:anim>
                                    <p:anim calcmode="lin" valueType="num">
                                      <p:cBhvr additive="base">
                                        <p:cTn id="18" dur="500" fill="hold"/>
                                        <p:tgtEl>
                                          <p:spTgt spid="179206"/>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3500"/>
                            </p:stCondLst>
                            <p:childTnLst>
                              <p:par>
                                <p:cTn id="20" presetID="2" presetClass="entr" presetSubtype="2" fill="hold" nodeType="afterEffect">
                                  <p:stCondLst>
                                    <p:cond delay="0"/>
                                  </p:stCondLst>
                                  <p:childTnLst>
                                    <p:set>
                                      <p:cBhvr>
                                        <p:cTn id="21" dur="1" fill="hold">
                                          <p:stCondLst>
                                            <p:cond delay="0"/>
                                          </p:stCondLst>
                                        </p:cTn>
                                        <p:tgtEl>
                                          <p:spTgt spid="179207"/>
                                        </p:tgtEl>
                                        <p:attrNameLst>
                                          <p:attrName>style.visibility</p:attrName>
                                        </p:attrNameLst>
                                      </p:cBhvr>
                                      <p:to>
                                        <p:strVal val="visible"/>
                                      </p:to>
                                    </p:set>
                                    <p:anim calcmode="lin" valueType="num">
                                      <p:cBhvr additive="base">
                                        <p:cTn id="22" dur="500" fill="hold"/>
                                        <p:tgtEl>
                                          <p:spTgt spid="179207"/>
                                        </p:tgtEl>
                                        <p:attrNameLst>
                                          <p:attrName>ppt_x</p:attrName>
                                        </p:attrNameLst>
                                      </p:cBhvr>
                                      <p:tavLst>
                                        <p:tav tm="0">
                                          <p:val>
                                            <p:strVal val="1+#ppt_w/2"/>
                                          </p:val>
                                        </p:tav>
                                        <p:tav tm="100000">
                                          <p:val>
                                            <p:strVal val="#ppt_x"/>
                                          </p:val>
                                        </p:tav>
                                      </p:tavLst>
                                    </p:anim>
                                    <p:anim calcmode="lin" valueType="num">
                                      <p:cBhvr additive="base">
                                        <p:cTn id="23" dur="500" fill="hold"/>
                                        <p:tgtEl>
                                          <p:spTgt spid="179207"/>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4000"/>
                            </p:stCondLst>
                            <p:childTnLst>
                              <p:par>
                                <p:cTn id="25" presetID="2" presetClass="entr" presetSubtype="4" fill="hold" nodeType="afterEffect">
                                  <p:stCondLst>
                                    <p:cond delay="0"/>
                                  </p:stCondLst>
                                  <p:childTnLst>
                                    <p:set>
                                      <p:cBhvr>
                                        <p:cTn id="26" dur="1" fill="hold">
                                          <p:stCondLst>
                                            <p:cond delay="0"/>
                                          </p:stCondLst>
                                        </p:cTn>
                                        <p:tgtEl>
                                          <p:spTgt spid="179208"/>
                                        </p:tgtEl>
                                        <p:attrNameLst>
                                          <p:attrName>style.visibility</p:attrName>
                                        </p:attrNameLst>
                                      </p:cBhvr>
                                      <p:to>
                                        <p:strVal val="visible"/>
                                      </p:to>
                                    </p:set>
                                    <p:anim calcmode="lin" valueType="num">
                                      <p:cBhvr additive="base">
                                        <p:cTn id="27" dur="500" fill="hold"/>
                                        <p:tgtEl>
                                          <p:spTgt spid="179208"/>
                                        </p:tgtEl>
                                        <p:attrNameLst>
                                          <p:attrName>ppt_x</p:attrName>
                                        </p:attrNameLst>
                                      </p:cBhvr>
                                      <p:tavLst>
                                        <p:tav tm="0">
                                          <p:val>
                                            <p:strVal val="#ppt_x"/>
                                          </p:val>
                                        </p:tav>
                                        <p:tav tm="100000">
                                          <p:val>
                                            <p:strVal val="#ppt_x"/>
                                          </p:val>
                                        </p:tav>
                                      </p:tavLst>
                                    </p:anim>
                                    <p:anim calcmode="lin" valueType="num">
                                      <p:cBhvr additive="base">
                                        <p:cTn id="28" dur="500" fill="hold"/>
                                        <p:tgtEl>
                                          <p:spTgt spid="179208"/>
                                        </p:tgtEl>
                                        <p:attrNameLst>
                                          <p:attrName>ppt_y</p:attrName>
                                        </p:attrNameLst>
                                      </p:cBhvr>
                                      <p:tavLst>
                                        <p:tav tm="0">
                                          <p:val>
                                            <p:strVal val="1+#ppt_h/2"/>
                                          </p:val>
                                        </p:tav>
                                        <p:tav tm="100000">
                                          <p:val>
                                            <p:strVal val="#ppt_y"/>
                                          </p:val>
                                        </p:tav>
                                      </p:tavLst>
                                    </p:anim>
                                  </p:childTnLst>
                                </p:cTn>
                              </p:par>
                            </p:childTnLst>
                          </p:cTn>
                        </p:par>
                        <p:par>
                          <p:cTn id="29" fill="hold" nodeType="afterGroup">
                            <p:stCondLst>
                              <p:cond delay="4500"/>
                            </p:stCondLst>
                            <p:childTnLst>
                              <p:par>
                                <p:cTn id="30" presetID="2" presetClass="entr" presetSubtype="8" fill="hold" grpId="0" nodeType="afterEffect">
                                  <p:stCondLst>
                                    <p:cond delay="2000"/>
                                  </p:stCondLst>
                                  <p:childTnLst>
                                    <p:set>
                                      <p:cBhvr>
                                        <p:cTn id="31" dur="1" fill="hold">
                                          <p:stCondLst>
                                            <p:cond delay="0"/>
                                          </p:stCondLst>
                                        </p:cTn>
                                        <p:tgtEl>
                                          <p:spTgt spid="179205"/>
                                        </p:tgtEl>
                                        <p:attrNameLst>
                                          <p:attrName>style.visibility</p:attrName>
                                        </p:attrNameLst>
                                      </p:cBhvr>
                                      <p:to>
                                        <p:strVal val="visible"/>
                                      </p:to>
                                    </p:set>
                                    <p:anim calcmode="lin" valueType="num">
                                      <p:cBhvr additive="base">
                                        <p:cTn id="32" dur="500" fill="hold"/>
                                        <p:tgtEl>
                                          <p:spTgt spid="179205"/>
                                        </p:tgtEl>
                                        <p:attrNameLst>
                                          <p:attrName>ppt_x</p:attrName>
                                        </p:attrNameLst>
                                      </p:cBhvr>
                                      <p:tavLst>
                                        <p:tav tm="0">
                                          <p:val>
                                            <p:strVal val="0-#ppt_w/2"/>
                                          </p:val>
                                        </p:tav>
                                        <p:tav tm="100000">
                                          <p:val>
                                            <p:strVal val="#ppt_x"/>
                                          </p:val>
                                        </p:tav>
                                      </p:tavLst>
                                    </p:anim>
                                    <p:anim calcmode="lin" valueType="num">
                                      <p:cBhvr additive="base">
                                        <p:cTn id="33" dur="500" fill="hold"/>
                                        <p:tgtEl>
                                          <p:spTgt spid="179205"/>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79211"/>
                                        </p:tgtEl>
                                        <p:attrNameLst>
                                          <p:attrName>style.visibility</p:attrName>
                                        </p:attrNameLst>
                                      </p:cBhvr>
                                      <p:to>
                                        <p:strVal val="visible"/>
                                      </p:to>
                                    </p:set>
                                    <p:anim calcmode="lin" valueType="num">
                                      <p:cBhvr additive="base">
                                        <p:cTn id="38" dur="500" fill="hold"/>
                                        <p:tgtEl>
                                          <p:spTgt spid="179211"/>
                                        </p:tgtEl>
                                        <p:attrNameLst>
                                          <p:attrName>ppt_x</p:attrName>
                                        </p:attrNameLst>
                                      </p:cBhvr>
                                      <p:tavLst>
                                        <p:tav tm="0">
                                          <p:val>
                                            <p:strVal val="0-#ppt_w/2"/>
                                          </p:val>
                                        </p:tav>
                                        <p:tav tm="100000">
                                          <p:val>
                                            <p:strVal val="#ppt_x"/>
                                          </p:val>
                                        </p:tav>
                                      </p:tavLst>
                                    </p:anim>
                                    <p:anim calcmode="lin" valueType="num">
                                      <p:cBhvr additive="base">
                                        <p:cTn id="39" dur="500" fill="hold"/>
                                        <p:tgtEl>
                                          <p:spTgt spid="179211"/>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nodeType="clickEffect">
                                  <p:stCondLst>
                                    <p:cond delay="0"/>
                                  </p:stCondLst>
                                  <p:childTnLst>
                                    <p:set>
                                      <p:cBhvr>
                                        <p:cTn id="43" dur="1" fill="hold">
                                          <p:stCondLst>
                                            <p:cond delay="0"/>
                                          </p:stCondLst>
                                        </p:cTn>
                                        <p:tgtEl>
                                          <p:spTgt spid="179210"/>
                                        </p:tgtEl>
                                        <p:attrNameLst>
                                          <p:attrName>style.visibility</p:attrName>
                                        </p:attrNameLst>
                                      </p:cBhvr>
                                      <p:to>
                                        <p:strVal val="visible"/>
                                      </p:to>
                                    </p:set>
                                    <p:anim calcmode="lin" valueType="num">
                                      <p:cBhvr additive="base">
                                        <p:cTn id="44" dur="500" fill="hold"/>
                                        <p:tgtEl>
                                          <p:spTgt spid="179210"/>
                                        </p:tgtEl>
                                        <p:attrNameLst>
                                          <p:attrName>ppt_x</p:attrName>
                                        </p:attrNameLst>
                                      </p:cBhvr>
                                      <p:tavLst>
                                        <p:tav tm="0">
                                          <p:val>
                                            <p:strVal val="0-#ppt_w/2"/>
                                          </p:val>
                                        </p:tav>
                                        <p:tav tm="100000">
                                          <p:val>
                                            <p:strVal val="#ppt_x"/>
                                          </p:val>
                                        </p:tav>
                                      </p:tavLst>
                                    </p:anim>
                                    <p:anim calcmode="lin" valueType="num">
                                      <p:cBhvr additive="base">
                                        <p:cTn id="45" dur="500" fill="hold"/>
                                        <p:tgtEl>
                                          <p:spTgt spid="179210"/>
                                        </p:tgtEl>
                                        <p:attrNameLst>
                                          <p:attrName>ppt_y</p:attrName>
                                        </p:attrNameLst>
                                      </p:cBhvr>
                                      <p:tavLst>
                                        <p:tav tm="0">
                                          <p:val>
                                            <p:strVal val="#ppt_y"/>
                                          </p:val>
                                        </p:tav>
                                        <p:tav tm="100000">
                                          <p:val>
                                            <p:strVal val="#ppt_y"/>
                                          </p:val>
                                        </p:tav>
                                      </p:tavLst>
                                    </p:anim>
                                  </p:childTnLst>
                                </p:cTn>
                              </p:par>
                            </p:childTnLst>
                          </p:cTn>
                        </p:par>
                        <p:par>
                          <p:cTn id="46" fill="hold" nodeType="afterGroup">
                            <p:stCondLst>
                              <p:cond delay="500"/>
                            </p:stCondLst>
                            <p:childTnLst>
                              <p:par>
                                <p:cTn id="47" presetID="2" presetClass="entr" presetSubtype="2" fill="hold" grpId="0" nodeType="afterEffect">
                                  <p:stCondLst>
                                    <p:cond delay="2000"/>
                                  </p:stCondLst>
                                  <p:childTnLst>
                                    <p:set>
                                      <p:cBhvr>
                                        <p:cTn id="48" dur="1" fill="hold">
                                          <p:stCondLst>
                                            <p:cond delay="0"/>
                                          </p:stCondLst>
                                        </p:cTn>
                                        <p:tgtEl>
                                          <p:spTgt spid="179209"/>
                                        </p:tgtEl>
                                        <p:attrNameLst>
                                          <p:attrName>style.visibility</p:attrName>
                                        </p:attrNameLst>
                                      </p:cBhvr>
                                      <p:to>
                                        <p:strVal val="visible"/>
                                      </p:to>
                                    </p:set>
                                    <p:anim calcmode="lin" valueType="num">
                                      <p:cBhvr additive="base">
                                        <p:cTn id="49" dur="500" fill="hold"/>
                                        <p:tgtEl>
                                          <p:spTgt spid="179209"/>
                                        </p:tgtEl>
                                        <p:attrNameLst>
                                          <p:attrName>ppt_x</p:attrName>
                                        </p:attrNameLst>
                                      </p:cBhvr>
                                      <p:tavLst>
                                        <p:tav tm="0">
                                          <p:val>
                                            <p:strVal val="1+#ppt_w/2"/>
                                          </p:val>
                                        </p:tav>
                                        <p:tav tm="100000">
                                          <p:val>
                                            <p:strVal val="#ppt_x"/>
                                          </p:val>
                                        </p:tav>
                                      </p:tavLst>
                                    </p:anim>
                                    <p:anim calcmode="lin" valueType="num">
                                      <p:cBhvr additive="base">
                                        <p:cTn id="50" dur="500" fill="hold"/>
                                        <p:tgtEl>
                                          <p:spTgt spid="17920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79212"/>
                                        </p:tgtEl>
                                        <p:attrNameLst>
                                          <p:attrName>style.visibility</p:attrName>
                                        </p:attrNameLst>
                                      </p:cBhvr>
                                      <p:to>
                                        <p:strVal val="visible"/>
                                      </p:to>
                                    </p:set>
                                    <p:anim calcmode="lin" valueType="num">
                                      <p:cBhvr additive="base">
                                        <p:cTn id="55" dur="500" fill="hold"/>
                                        <p:tgtEl>
                                          <p:spTgt spid="179212"/>
                                        </p:tgtEl>
                                        <p:attrNameLst>
                                          <p:attrName>ppt_x</p:attrName>
                                        </p:attrNameLst>
                                      </p:cBhvr>
                                      <p:tavLst>
                                        <p:tav tm="0">
                                          <p:val>
                                            <p:strVal val="0-#ppt_w/2"/>
                                          </p:val>
                                        </p:tav>
                                        <p:tav tm="100000">
                                          <p:val>
                                            <p:strVal val="#ppt_x"/>
                                          </p:val>
                                        </p:tav>
                                      </p:tavLst>
                                    </p:anim>
                                    <p:anim calcmode="lin" valueType="num">
                                      <p:cBhvr additive="base">
                                        <p:cTn id="56" dur="500" fill="hold"/>
                                        <p:tgtEl>
                                          <p:spTgt spid="179212"/>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79213"/>
                                        </p:tgtEl>
                                        <p:attrNameLst>
                                          <p:attrName>style.visibility</p:attrName>
                                        </p:attrNameLst>
                                      </p:cBhvr>
                                      <p:to>
                                        <p:strVal val="visible"/>
                                      </p:to>
                                    </p:set>
                                    <p:anim calcmode="lin" valueType="num">
                                      <p:cBhvr additive="base">
                                        <p:cTn id="61" dur="500" fill="hold"/>
                                        <p:tgtEl>
                                          <p:spTgt spid="179213"/>
                                        </p:tgtEl>
                                        <p:attrNameLst>
                                          <p:attrName>ppt_x</p:attrName>
                                        </p:attrNameLst>
                                      </p:cBhvr>
                                      <p:tavLst>
                                        <p:tav tm="0">
                                          <p:val>
                                            <p:strVal val="0-#ppt_w/2"/>
                                          </p:val>
                                        </p:tav>
                                        <p:tav tm="100000">
                                          <p:val>
                                            <p:strVal val="#ppt_x"/>
                                          </p:val>
                                        </p:tav>
                                      </p:tavLst>
                                    </p:anim>
                                    <p:anim calcmode="lin" valueType="num">
                                      <p:cBhvr additive="base">
                                        <p:cTn id="62" dur="500" fill="hold"/>
                                        <p:tgtEl>
                                          <p:spTgt spid="179213"/>
                                        </p:tgtEl>
                                        <p:attrNameLst>
                                          <p:attrName>ppt_y</p:attrName>
                                        </p:attrNameLst>
                                      </p:cBhvr>
                                      <p:tavLst>
                                        <p:tav tm="0">
                                          <p:val>
                                            <p:strVal val="#ppt_y"/>
                                          </p:val>
                                        </p:tav>
                                        <p:tav tm="100000">
                                          <p:val>
                                            <p:strVal val="#ppt_y"/>
                                          </p:val>
                                        </p:tav>
                                      </p:tavLst>
                                    </p:anim>
                                  </p:childTnLst>
                                </p:cTn>
                              </p:par>
                            </p:childTnLst>
                          </p:cTn>
                        </p:par>
                        <p:par>
                          <p:cTn id="63" fill="hold" nodeType="afterGroup">
                            <p:stCondLst>
                              <p:cond delay="500"/>
                            </p:stCondLst>
                            <p:childTnLst>
                              <p:par>
                                <p:cTn id="64" presetID="2" presetClass="entr" presetSubtype="2" fill="hold" grpId="0" nodeType="afterEffect">
                                  <p:stCondLst>
                                    <p:cond delay="0"/>
                                  </p:stCondLst>
                                  <p:childTnLst>
                                    <p:set>
                                      <p:cBhvr>
                                        <p:cTn id="65" dur="1" fill="hold">
                                          <p:stCondLst>
                                            <p:cond delay="0"/>
                                          </p:stCondLst>
                                        </p:cTn>
                                        <p:tgtEl>
                                          <p:spTgt spid="179214"/>
                                        </p:tgtEl>
                                        <p:attrNameLst>
                                          <p:attrName>style.visibility</p:attrName>
                                        </p:attrNameLst>
                                      </p:cBhvr>
                                      <p:to>
                                        <p:strVal val="visible"/>
                                      </p:to>
                                    </p:set>
                                    <p:anim calcmode="lin" valueType="num">
                                      <p:cBhvr additive="base">
                                        <p:cTn id="66" dur="500" fill="hold"/>
                                        <p:tgtEl>
                                          <p:spTgt spid="179214"/>
                                        </p:tgtEl>
                                        <p:attrNameLst>
                                          <p:attrName>ppt_x</p:attrName>
                                        </p:attrNameLst>
                                      </p:cBhvr>
                                      <p:tavLst>
                                        <p:tav tm="0">
                                          <p:val>
                                            <p:strVal val="1+#ppt_w/2"/>
                                          </p:val>
                                        </p:tav>
                                        <p:tav tm="100000">
                                          <p:val>
                                            <p:strVal val="#ppt_x"/>
                                          </p:val>
                                        </p:tav>
                                      </p:tavLst>
                                    </p:anim>
                                    <p:anim calcmode="lin" valueType="num">
                                      <p:cBhvr additive="base">
                                        <p:cTn id="67" dur="500" fill="hold"/>
                                        <p:tgtEl>
                                          <p:spTgt spid="179214"/>
                                        </p:tgtEl>
                                        <p:attrNameLst>
                                          <p:attrName>ppt_y</p:attrName>
                                        </p:attrNameLst>
                                      </p:cBhvr>
                                      <p:tavLst>
                                        <p:tav tm="0">
                                          <p:val>
                                            <p:strVal val="#ppt_y"/>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8" fill="hold" nodeType="clickEffect">
                                  <p:stCondLst>
                                    <p:cond delay="0"/>
                                  </p:stCondLst>
                                  <p:childTnLst>
                                    <p:set>
                                      <p:cBhvr>
                                        <p:cTn id="71" dur="1" fill="hold">
                                          <p:stCondLst>
                                            <p:cond delay="0"/>
                                          </p:stCondLst>
                                        </p:cTn>
                                        <p:tgtEl>
                                          <p:spTgt spid="179217"/>
                                        </p:tgtEl>
                                        <p:attrNameLst>
                                          <p:attrName>style.visibility</p:attrName>
                                        </p:attrNameLst>
                                      </p:cBhvr>
                                      <p:to>
                                        <p:strVal val="visible"/>
                                      </p:to>
                                    </p:set>
                                    <p:anim calcmode="lin" valueType="num">
                                      <p:cBhvr additive="base">
                                        <p:cTn id="72" dur="500" fill="hold"/>
                                        <p:tgtEl>
                                          <p:spTgt spid="179217"/>
                                        </p:tgtEl>
                                        <p:attrNameLst>
                                          <p:attrName>ppt_x</p:attrName>
                                        </p:attrNameLst>
                                      </p:cBhvr>
                                      <p:tavLst>
                                        <p:tav tm="0">
                                          <p:val>
                                            <p:strVal val="0-#ppt_w/2"/>
                                          </p:val>
                                        </p:tav>
                                        <p:tav tm="100000">
                                          <p:val>
                                            <p:strVal val="#ppt_x"/>
                                          </p:val>
                                        </p:tav>
                                      </p:tavLst>
                                    </p:anim>
                                    <p:anim calcmode="lin" valueType="num">
                                      <p:cBhvr additive="base">
                                        <p:cTn id="73" dur="500" fill="hold"/>
                                        <p:tgtEl>
                                          <p:spTgt spid="179217"/>
                                        </p:tgtEl>
                                        <p:attrNameLst>
                                          <p:attrName>ppt_y</p:attrName>
                                        </p:attrNameLst>
                                      </p:cBhvr>
                                      <p:tavLst>
                                        <p:tav tm="0">
                                          <p:val>
                                            <p:strVal val="#ppt_y"/>
                                          </p:val>
                                        </p:tav>
                                        <p:tav tm="100000">
                                          <p:val>
                                            <p:strVal val="#ppt_y"/>
                                          </p:val>
                                        </p:tav>
                                      </p:tavLst>
                                    </p:anim>
                                  </p:childTnLst>
                                </p:cTn>
                              </p:par>
                            </p:childTnLst>
                          </p:cTn>
                        </p:par>
                        <p:par>
                          <p:cTn id="74" fill="hold" nodeType="afterGroup">
                            <p:stCondLst>
                              <p:cond delay="500"/>
                            </p:stCondLst>
                            <p:childTnLst>
                              <p:par>
                                <p:cTn id="75" presetID="2" presetClass="entr" presetSubtype="9" fill="hold" grpId="0" nodeType="afterEffect">
                                  <p:stCondLst>
                                    <p:cond delay="1000"/>
                                  </p:stCondLst>
                                  <p:childTnLst>
                                    <p:set>
                                      <p:cBhvr>
                                        <p:cTn id="76" dur="1" fill="hold">
                                          <p:stCondLst>
                                            <p:cond delay="0"/>
                                          </p:stCondLst>
                                        </p:cTn>
                                        <p:tgtEl>
                                          <p:spTgt spid="179216"/>
                                        </p:tgtEl>
                                        <p:attrNameLst>
                                          <p:attrName>style.visibility</p:attrName>
                                        </p:attrNameLst>
                                      </p:cBhvr>
                                      <p:to>
                                        <p:strVal val="visible"/>
                                      </p:to>
                                    </p:set>
                                    <p:anim calcmode="lin" valueType="num">
                                      <p:cBhvr additive="base">
                                        <p:cTn id="77" dur="500" fill="hold"/>
                                        <p:tgtEl>
                                          <p:spTgt spid="179216"/>
                                        </p:tgtEl>
                                        <p:attrNameLst>
                                          <p:attrName>ppt_x</p:attrName>
                                        </p:attrNameLst>
                                      </p:cBhvr>
                                      <p:tavLst>
                                        <p:tav tm="0">
                                          <p:val>
                                            <p:strVal val="0-#ppt_w/2"/>
                                          </p:val>
                                        </p:tav>
                                        <p:tav tm="100000">
                                          <p:val>
                                            <p:strVal val="#ppt_x"/>
                                          </p:val>
                                        </p:tav>
                                      </p:tavLst>
                                    </p:anim>
                                    <p:anim calcmode="lin" valueType="num">
                                      <p:cBhvr additive="base">
                                        <p:cTn id="78" dur="500" fill="hold"/>
                                        <p:tgtEl>
                                          <p:spTgt spid="179216"/>
                                        </p:tgtEl>
                                        <p:attrNameLst>
                                          <p:attrName>ppt_y</p:attrName>
                                        </p:attrNameLst>
                                      </p:cBhvr>
                                      <p:tavLst>
                                        <p:tav tm="0">
                                          <p:val>
                                            <p:strVal val="0-#ppt_h/2"/>
                                          </p:val>
                                        </p:tav>
                                        <p:tav tm="100000">
                                          <p:val>
                                            <p:strVal val="#ppt_y"/>
                                          </p:val>
                                        </p:tav>
                                      </p:tavLst>
                                    </p:anim>
                                  </p:childTnLst>
                                </p:cTn>
                              </p:par>
                            </p:childTnLst>
                          </p:cTn>
                        </p:par>
                        <p:par>
                          <p:cTn id="79" fill="hold" nodeType="afterGroup">
                            <p:stCondLst>
                              <p:cond delay="2000"/>
                            </p:stCondLst>
                            <p:childTnLst>
                              <p:par>
                                <p:cTn id="80" presetID="2" presetClass="entr" presetSubtype="8" fill="hold" nodeType="afterEffect">
                                  <p:stCondLst>
                                    <p:cond delay="2000"/>
                                  </p:stCondLst>
                                  <p:childTnLst>
                                    <p:set>
                                      <p:cBhvr>
                                        <p:cTn id="81" dur="1" fill="hold">
                                          <p:stCondLst>
                                            <p:cond delay="0"/>
                                          </p:stCondLst>
                                        </p:cTn>
                                        <p:tgtEl>
                                          <p:spTgt spid="179219"/>
                                        </p:tgtEl>
                                        <p:attrNameLst>
                                          <p:attrName>style.visibility</p:attrName>
                                        </p:attrNameLst>
                                      </p:cBhvr>
                                      <p:to>
                                        <p:strVal val="visible"/>
                                      </p:to>
                                    </p:set>
                                    <p:anim calcmode="lin" valueType="num">
                                      <p:cBhvr additive="base">
                                        <p:cTn id="82" dur="500" fill="hold"/>
                                        <p:tgtEl>
                                          <p:spTgt spid="179219"/>
                                        </p:tgtEl>
                                        <p:attrNameLst>
                                          <p:attrName>ppt_x</p:attrName>
                                        </p:attrNameLst>
                                      </p:cBhvr>
                                      <p:tavLst>
                                        <p:tav tm="0">
                                          <p:val>
                                            <p:strVal val="0-#ppt_w/2"/>
                                          </p:val>
                                        </p:tav>
                                        <p:tav tm="100000">
                                          <p:val>
                                            <p:strVal val="#ppt_x"/>
                                          </p:val>
                                        </p:tav>
                                      </p:tavLst>
                                    </p:anim>
                                    <p:anim calcmode="lin" valueType="num">
                                      <p:cBhvr additive="base">
                                        <p:cTn id="83" dur="500" fill="hold"/>
                                        <p:tgtEl>
                                          <p:spTgt spid="179219"/>
                                        </p:tgtEl>
                                        <p:attrNameLst>
                                          <p:attrName>ppt_y</p:attrName>
                                        </p:attrNameLst>
                                      </p:cBhvr>
                                      <p:tavLst>
                                        <p:tav tm="0">
                                          <p:val>
                                            <p:strVal val="#ppt_y"/>
                                          </p:val>
                                        </p:tav>
                                        <p:tav tm="100000">
                                          <p:val>
                                            <p:strVal val="#ppt_y"/>
                                          </p:val>
                                        </p:tav>
                                      </p:tavLst>
                                    </p:anim>
                                  </p:childTnLst>
                                </p:cTn>
                              </p:par>
                            </p:childTnLst>
                          </p:cTn>
                        </p:par>
                        <p:par>
                          <p:cTn id="84" fill="hold" nodeType="afterGroup">
                            <p:stCondLst>
                              <p:cond delay="4500"/>
                            </p:stCondLst>
                            <p:childTnLst>
                              <p:par>
                                <p:cTn id="85" presetID="2" presetClass="entr" presetSubtype="8" fill="hold" grpId="0" nodeType="afterEffect">
                                  <p:stCondLst>
                                    <p:cond delay="1000"/>
                                  </p:stCondLst>
                                  <p:childTnLst>
                                    <p:set>
                                      <p:cBhvr>
                                        <p:cTn id="86" dur="1" fill="hold">
                                          <p:stCondLst>
                                            <p:cond delay="0"/>
                                          </p:stCondLst>
                                        </p:cTn>
                                        <p:tgtEl>
                                          <p:spTgt spid="179218"/>
                                        </p:tgtEl>
                                        <p:attrNameLst>
                                          <p:attrName>style.visibility</p:attrName>
                                        </p:attrNameLst>
                                      </p:cBhvr>
                                      <p:to>
                                        <p:strVal val="visible"/>
                                      </p:to>
                                    </p:set>
                                    <p:anim calcmode="lin" valueType="num">
                                      <p:cBhvr additive="base">
                                        <p:cTn id="87" dur="500" fill="hold"/>
                                        <p:tgtEl>
                                          <p:spTgt spid="179218"/>
                                        </p:tgtEl>
                                        <p:attrNameLst>
                                          <p:attrName>ppt_x</p:attrName>
                                        </p:attrNameLst>
                                      </p:cBhvr>
                                      <p:tavLst>
                                        <p:tav tm="0">
                                          <p:val>
                                            <p:strVal val="0-#ppt_w/2"/>
                                          </p:val>
                                        </p:tav>
                                        <p:tav tm="100000">
                                          <p:val>
                                            <p:strVal val="#ppt_x"/>
                                          </p:val>
                                        </p:tav>
                                      </p:tavLst>
                                    </p:anim>
                                    <p:anim calcmode="lin" valueType="num">
                                      <p:cBhvr additive="base">
                                        <p:cTn id="88" dur="500" fill="hold"/>
                                        <p:tgtEl>
                                          <p:spTgt spid="17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animBg="1" autoUpdateAnimBg="0"/>
      <p:bldP spid="179204" grpId="0" animBg="1" autoUpdateAnimBg="0"/>
      <p:bldP spid="179205" grpId="0" animBg="1" autoUpdateAnimBg="0"/>
      <p:bldP spid="179209" grpId="0" animBg="1" autoUpdateAnimBg="0"/>
      <p:bldP spid="179211" grpId="0" autoUpdateAnimBg="0"/>
      <p:bldP spid="179212" grpId="0" autoUpdateAnimBg="0"/>
      <p:bldP spid="179213" grpId="0" animBg="1" autoUpdateAnimBg="0"/>
      <p:bldP spid="179214" grpId="0" animBg="1" autoUpdateAnimBg="0"/>
      <p:bldP spid="179216" grpId="0" animBg="1" autoUpdateAnimBg="0"/>
      <p:bldP spid="179218"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a:extLst>
              <a:ext uri="{FF2B5EF4-FFF2-40B4-BE49-F238E27FC236}">
                <a16:creationId xmlns:a16="http://schemas.microsoft.com/office/drawing/2014/main" id="{8D2978BA-41A1-4938-86D1-A96AB285217F}"/>
              </a:ext>
            </a:extLst>
          </p:cNvPr>
          <p:cNvSpPr>
            <a:spLocks noGrp="1" noChangeArrowheads="1"/>
          </p:cNvSpPr>
          <p:nvPr>
            <p:ph type="title"/>
          </p:nvPr>
        </p:nvSpPr>
        <p:spPr>
          <a:xfrm>
            <a:off x="609600" y="304800"/>
            <a:ext cx="8534400" cy="1143000"/>
          </a:xfrm>
        </p:spPr>
        <p:txBody>
          <a:bodyPr/>
          <a:lstStyle/>
          <a:p>
            <a:r>
              <a:rPr lang="en-US" altLang="en-US"/>
              <a:t>More Efficient Forward Chaining</a:t>
            </a:r>
          </a:p>
        </p:txBody>
      </p:sp>
      <p:sp>
        <p:nvSpPr>
          <p:cNvPr id="233475" name="Rectangle 3" descr="Rectangle: Click to edit Master text styles&#10;Second level&#10;Third level&#10;Fourth level&#10;Fifth level">
            <a:extLst>
              <a:ext uri="{FF2B5EF4-FFF2-40B4-BE49-F238E27FC236}">
                <a16:creationId xmlns:a16="http://schemas.microsoft.com/office/drawing/2014/main" id="{C45B1402-1E9B-45E2-A5A6-BD8B45770FE3}"/>
              </a:ext>
            </a:extLst>
          </p:cNvPr>
          <p:cNvSpPr>
            <a:spLocks noGrp="1" noChangeArrowheads="1"/>
          </p:cNvSpPr>
          <p:nvPr>
            <p:ph type="body" idx="1"/>
          </p:nvPr>
        </p:nvSpPr>
        <p:spPr>
          <a:xfrm>
            <a:off x="609600" y="1600200"/>
            <a:ext cx="8229600" cy="4114800"/>
          </a:xfrm>
        </p:spPr>
        <p:txBody>
          <a:bodyPr/>
          <a:lstStyle/>
          <a:p>
            <a:r>
              <a:rPr lang="en-US" altLang="en-US"/>
              <a:t>Checking all rules will take too much time.</a:t>
            </a:r>
          </a:p>
          <a:p>
            <a:pPr>
              <a:buFont typeface="Wingdings" panose="05000000000000000000" pitchFamily="2" charset="2"/>
              <a:buNone/>
            </a:pPr>
            <a:endParaRPr lang="en-US" altLang="en-US"/>
          </a:p>
          <a:p>
            <a:r>
              <a:rPr lang="en-US" altLang="en-US"/>
              <a:t>Check only rules that include a conjunct that unifies a newly created fact during the previous iteration. </a:t>
            </a:r>
          </a:p>
          <a:p>
            <a:pPr lvl="1"/>
            <a:r>
              <a:rPr lang="en-US" altLang="en-US"/>
              <a:t>Incremental Forward Chaining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a:extLst>
              <a:ext uri="{FF2B5EF4-FFF2-40B4-BE49-F238E27FC236}">
                <a16:creationId xmlns:a16="http://schemas.microsoft.com/office/drawing/2014/main" id="{8B9B7CD5-3EB7-4743-AE1D-4129449A67B8}"/>
              </a:ext>
            </a:extLst>
          </p:cNvPr>
          <p:cNvSpPr>
            <a:spLocks noGrp="1" noChangeArrowheads="1"/>
          </p:cNvSpPr>
          <p:nvPr>
            <p:ph type="title"/>
          </p:nvPr>
        </p:nvSpPr>
        <p:spPr/>
        <p:txBody>
          <a:bodyPr/>
          <a:lstStyle/>
          <a:p>
            <a:r>
              <a:rPr lang="en-US" altLang="en-US"/>
              <a:t>Forward Chaining</a:t>
            </a:r>
          </a:p>
        </p:txBody>
      </p:sp>
      <p:sp>
        <p:nvSpPr>
          <p:cNvPr id="228355" name="Rectangle 3" descr="Rectangle: Click to edit Master text styles&#10;Second level&#10;Third level&#10;Fourth level&#10;Fifth level">
            <a:extLst>
              <a:ext uri="{FF2B5EF4-FFF2-40B4-BE49-F238E27FC236}">
                <a16:creationId xmlns:a16="http://schemas.microsoft.com/office/drawing/2014/main" id="{4580763C-DC72-44FF-BAB9-B4FF3559037F}"/>
              </a:ext>
            </a:extLst>
          </p:cNvPr>
          <p:cNvSpPr>
            <a:spLocks noGrp="1" noChangeArrowheads="1"/>
          </p:cNvSpPr>
          <p:nvPr>
            <p:ph type="body" idx="1"/>
          </p:nvPr>
        </p:nvSpPr>
        <p:spPr>
          <a:xfrm>
            <a:off x="228600" y="1600200"/>
            <a:ext cx="8610600" cy="4525963"/>
          </a:xfrm>
        </p:spPr>
        <p:txBody>
          <a:bodyPr/>
          <a:lstStyle/>
          <a:p>
            <a:pPr>
              <a:lnSpc>
                <a:spcPct val="90000"/>
              </a:lnSpc>
              <a:spcBef>
                <a:spcPct val="50000"/>
              </a:spcBef>
              <a:buClr>
                <a:schemeClr val="bg1"/>
              </a:buClr>
              <a:buFontTx/>
              <a:buChar char="•"/>
            </a:pPr>
            <a:r>
              <a:rPr lang="en-US" altLang="en-US"/>
              <a:t>Data Driven </a:t>
            </a:r>
          </a:p>
          <a:p>
            <a:pPr lvl="1">
              <a:lnSpc>
                <a:spcPct val="90000"/>
              </a:lnSpc>
              <a:spcBef>
                <a:spcPct val="50000"/>
              </a:spcBef>
              <a:buClr>
                <a:schemeClr val="bg1"/>
              </a:buClr>
              <a:buFontTx/>
              <a:buChar char="•"/>
            </a:pPr>
            <a:r>
              <a:rPr lang="en-US" altLang="en-US"/>
              <a:t>not directed at finding particular information – can generate irrelevant conclusions</a:t>
            </a:r>
          </a:p>
          <a:p>
            <a:pPr>
              <a:lnSpc>
                <a:spcPct val="90000"/>
              </a:lnSpc>
              <a:spcBef>
                <a:spcPct val="50000"/>
              </a:spcBef>
              <a:buClr>
                <a:schemeClr val="bg1"/>
              </a:buClr>
              <a:buFontTx/>
              <a:buChar char="•"/>
            </a:pPr>
            <a:r>
              <a:rPr lang="en-US" altLang="en-US"/>
              <a:t>Strategy </a:t>
            </a:r>
          </a:p>
          <a:p>
            <a:pPr lvl="1">
              <a:lnSpc>
                <a:spcPct val="90000"/>
              </a:lnSpc>
              <a:spcBef>
                <a:spcPct val="50000"/>
              </a:spcBef>
              <a:buClr>
                <a:schemeClr val="bg1"/>
              </a:buClr>
              <a:buFontTx/>
              <a:buChar char="•"/>
            </a:pPr>
            <a:r>
              <a:rPr lang="en-US" altLang="en-US"/>
              <a:t>match rules that contain recently added literals</a:t>
            </a:r>
          </a:p>
          <a:p>
            <a:pPr>
              <a:lnSpc>
                <a:spcPct val="90000"/>
              </a:lnSpc>
              <a:spcBef>
                <a:spcPct val="50000"/>
              </a:spcBef>
              <a:buClr>
                <a:schemeClr val="bg1"/>
              </a:buClr>
              <a:buFontTx/>
              <a:buChar char="•"/>
            </a:pPr>
            <a:r>
              <a:rPr lang="en-US" altLang="en-US"/>
              <a:t>Forward chaining may not terminate</a:t>
            </a:r>
          </a:p>
          <a:p>
            <a:pPr lvl="1">
              <a:lnSpc>
                <a:spcPct val="90000"/>
              </a:lnSpc>
              <a:spcBef>
                <a:spcPct val="50000"/>
              </a:spcBef>
              <a:buClr>
                <a:schemeClr val="bg1"/>
              </a:buClr>
              <a:buFontTx/>
              <a:buChar char="•"/>
            </a:pPr>
            <a:r>
              <a:rPr lang="en-US" altLang="en-US"/>
              <a:t>Especially if desired conclusion is not entailed (Incomplete)</a:t>
            </a:r>
          </a:p>
          <a:p>
            <a:pPr>
              <a:lnSpc>
                <a:spcPct val="90000"/>
              </a:lnSpc>
            </a:pP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1010" name="Rectangle 2">
            <a:extLst>
              <a:ext uri="{FF2B5EF4-FFF2-40B4-BE49-F238E27FC236}">
                <a16:creationId xmlns:a16="http://schemas.microsoft.com/office/drawing/2014/main" id="{1BED8891-92A3-4BF5-8381-E8727801EB9F}"/>
              </a:ext>
            </a:extLst>
          </p:cNvPr>
          <p:cNvSpPr>
            <a:spLocks noGrp="1" noChangeArrowheads="1"/>
          </p:cNvSpPr>
          <p:nvPr>
            <p:ph type="title"/>
          </p:nvPr>
        </p:nvSpPr>
        <p:spPr/>
        <p:txBody>
          <a:bodyPr/>
          <a:lstStyle/>
          <a:p>
            <a:r>
              <a:rPr lang="en-US" altLang="en-US"/>
              <a:t>Backward Chaining</a:t>
            </a:r>
          </a:p>
        </p:txBody>
      </p:sp>
      <p:sp>
        <p:nvSpPr>
          <p:cNvPr id="171011" name="Rectangle 3" descr="Rectangle: Click to edit Master text styles&#10;Second level&#10;Third level&#10;Fourth level&#10;Fifth level">
            <a:extLst>
              <a:ext uri="{FF2B5EF4-FFF2-40B4-BE49-F238E27FC236}">
                <a16:creationId xmlns:a16="http://schemas.microsoft.com/office/drawing/2014/main" id="{787B96AD-2C13-42E2-B98A-541716863E5B}"/>
              </a:ext>
            </a:extLst>
          </p:cNvPr>
          <p:cNvSpPr>
            <a:spLocks noGrp="1" noChangeArrowheads="1"/>
          </p:cNvSpPr>
          <p:nvPr>
            <p:ph type="body" idx="1"/>
          </p:nvPr>
        </p:nvSpPr>
        <p:spPr>
          <a:xfrm>
            <a:off x="609600" y="1677988"/>
            <a:ext cx="8305800" cy="4256087"/>
          </a:xfrm>
        </p:spPr>
        <p:txBody>
          <a:bodyPr/>
          <a:lstStyle/>
          <a:p>
            <a:r>
              <a:rPr lang="en-US" altLang="en-US" sz="2800"/>
              <a:t>Start at the goal, chain through inference rules to find known facts that support the proof.</a:t>
            </a:r>
          </a:p>
          <a:p>
            <a:pPr lvl="1"/>
            <a:r>
              <a:rPr lang="en-US" altLang="en-US" sz="2400"/>
              <a:t>Uses Modus Ponens backwards</a:t>
            </a:r>
          </a:p>
          <a:p>
            <a:pPr lvl="1"/>
            <a:r>
              <a:rPr lang="en-US" altLang="en-US" sz="2400"/>
              <a:t>Designed to answer questions posed to a knowledge base</a:t>
            </a:r>
          </a:p>
        </p:txBody>
      </p:sp>
      <p:sp>
        <p:nvSpPr>
          <p:cNvPr id="171012" name="Text Box 4">
            <a:extLst>
              <a:ext uri="{FF2B5EF4-FFF2-40B4-BE49-F238E27FC236}">
                <a16:creationId xmlns:a16="http://schemas.microsoft.com/office/drawing/2014/main" id="{806CFA13-3E96-4C44-9612-4339BCF74603}"/>
              </a:ext>
            </a:extLst>
          </p:cNvPr>
          <p:cNvSpPr txBox="1">
            <a:spLocks noChangeArrowheads="1"/>
          </p:cNvSpPr>
          <p:nvPr/>
        </p:nvSpPr>
        <p:spPr bwMode="auto">
          <a:xfrm>
            <a:off x="3124200" y="3836988"/>
            <a:ext cx="180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i="1">
                <a:latin typeface="Times New Roman" panose="02020603050405020304" pitchFamily="18" charset="0"/>
                <a:sym typeface="Symbol" panose="05050102010706020507" pitchFamily="18" charset="2"/>
              </a:rPr>
              <a:t>eats(John, y)</a:t>
            </a:r>
          </a:p>
        </p:txBody>
      </p:sp>
      <p:sp>
        <p:nvSpPr>
          <p:cNvPr id="171014" name="Text Box 6">
            <a:extLst>
              <a:ext uri="{FF2B5EF4-FFF2-40B4-BE49-F238E27FC236}">
                <a16:creationId xmlns:a16="http://schemas.microsoft.com/office/drawing/2014/main" id="{76B2095C-1237-4EC7-8172-1AD4E9C3769C}"/>
              </a:ext>
            </a:extLst>
          </p:cNvPr>
          <p:cNvSpPr txBox="1">
            <a:spLocks noChangeArrowheads="1"/>
          </p:cNvSpPr>
          <p:nvPr/>
        </p:nvSpPr>
        <p:spPr bwMode="auto">
          <a:xfrm>
            <a:off x="3352800" y="4689475"/>
            <a:ext cx="1157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i="1">
                <a:latin typeface="Times New Roman" panose="02020603050405020304" pitchFamily="18" charset="0"/>
                <a:sym typeface="Symbol" panose="05050102010706020507" pitchFamily="18" charset="2"/>
              </a:rPr>
              <a:t>food (y)</a:t>
            </a:r>
          </a:p>
        </p:txBody>
      </p:sp>
      <p:sp>
        <p:nvSpPr>
          <p:cNvPr id="171016" name="Text Box 8">
            <a:extLst>
              <a:ext uri="{FF2B5EF4-FFF2-40B4-BE49-F238E27FC236}">
                <a16:creationId xmlns:a16="http://schemas.microsoft.com/office/drawing/2014/main" id="{7E8796C3-D9BD-4DD9-AF3F-34C2431461E3}"/>
              </a:ext>
            </a:extLst>
          </p:cNvPr>
          <p:cNvSpPr txBox="1">
            <a:spLocks noChangeArrowheads="1"/>
          </p:cNvSpPr>
          <p:nvPr/>
        </p:nvSpPr>
        <p:spPr bwMode="auto">
          <a:xfrm>
            <a:off x="2819400" y="5360988"/>
            <a:ext cx="3040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i="1">
                <a:latin typeface="Times New Roman" panose="02020603050405020304" pitchFamily="18" charset="0"/>
                <a:sym typeface="Symbol" panose="05050102010706020507" pitchFamily="18" charset="2"/>
              </a:rPr>
              <a:t>eats(x,y)       </a:t>
            </a:r>
            <a:r>
              <a:rPr lang="en-US" altLang="en-US" b="1">
                <a:latin typeface="Times New Roman" panose="02020603050405020304" pitchFamily="18" charset="0"/>
                <a:sym typeface="Symbol" panose="05050102010706020507" pitchFamily="18" charset="2"/>
              </a:rPr>
              <a:t></a:t>
            </a:r>
            <a:r>
              <a:rPr lang="en-US" altLang="en-US" b="1" i="1">
                <a:latin typeface="Times New Roman" panose="02020603050405020304" pitchFamily="18" charset="0"/>
                <a:sym typeface="Symbol" panose="05050102010706020507" pitchFamily="18" charset="2"/>
              </a:rPr>
              <a:t>killed(x)</a:t>
            </a:r>
          </a:p>
        </p:txBody>
      </p:sp>
      <p:sp>
        <p:nvSpPr>
          <p:cNvPr id="171017" name="Line 9">
            <a:extLst>
              <a:ext uri="{FF2B5EF4-FFF2-40B4-BE49-F238E27FC236}">
                <a16:creationId xmlns:a16="http://schemas.microsoft.com/office/drawing/2014/main" id="{7D18C48E-7D76-49A1-A100-566154FBC3FF}"/>
              </a:ext>
            </a:extLst>
          </p:cNvPr>
          <p:cNvSpPr>
            <a:spLocks noChangeShapeType="1"/>
          </p:cNvSpPr>
          <p:nvPr/>
        </p:nvSpPr>
        <p:spPr bwMode="auto">
          <a:xfrm>
            <a:off x="3886200" y="4294188"/>
            <a:ext cx="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1018" name="Line 10">
            <a:extLst>
              <a:ext uri="{FF2B5EF4-FFF2-40B4-BE49-F238E27FC236}">
                <a16:creationId xmlns:a16="http://schemas.microsoft.com/office/drawing/2014/main" id="{62B5E8F7-B64B-4585-BD82-0CD428CC78E4}"/>
              </a:ext>
            </a:extLst>
          </p:cNvPr>
          <p:cNvSpPr>
            <a:spLocks noChangeShapeType="1"/>
          </p:cNvSpPr>
          <p:nvPr/>
        </p:nvSpPr>
        <p:spPr bwMode="auto">
          <a:xfrm flipH="1">
            <a:off x="3429000" y="5056188"/>
            <a:ext cx="4572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1019" name="Line 11">
            <a:extLst>
              <a:ext uri="{FF2B5EF4-FFF2-40B4-BE49-F238E27FC236}">
                <a16:creationId xmlns:a16="http://schemas.microsoft.com/office/drawing/2014/main" id="{61D9FB69-52E6-450D-BEC0-412BDBDB270F}"/>
              </a:ext>
            </a:extLst>
          </p:cNvPr>
          <p:cNvSpPr>
            <a:spLocks noChangeShapeType="1"/>
          </p:cNvSpPr>
          <p:nvPr/>
        </p:nvSpPr>
        <p:spPr bwMode="auto">
          <a:xfrm>
            <a:off x="3886200" y="5056188"/>
            <a:ext cx="8382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1021" name="Arc 13">
            <a:extLst>
              <a:ext uri="{FF2B5EF4-FFF2-40B4-BE49-F238E27FC236}">
                <a16:creationId xmlns:a16="http://schemas.microsoft.com/office/drawing/2014/main" id="{53075A7E-9746-4029-9985-7EF84C639AAB}"/>
              </a:ext>
            </a:extLst>
          </p:cNvPr>
          <p:cNvSpPr>
            <a:spLocks/>
          </p:cNvSpPr>
          <p:nvPr/>
        </p:nvSpPr>
        <p:spPr bwMode="auto">
          <a:xfrm rot="7188621">
            <a:off x="3723482" y="4990306"/>
            <a:ext cx="457200" cy="436563"/>
          </a:xfrm>
          <a:custGeom>
            <a:avLst/>
            <a:gdLst>
              <a:gd name="G0" fmla="+- 0 0 0"/>
              <a:gd name="G1" fmla="+- 20844 0 0"/>
              <a:gd name="G2" fmla="+- 21600 0 0"/>
              <a:gd name="T0" fmla="*/ 5664 w 21600"/>
              <a:gd name="T1" fmla="*/ 0 h 24695"/>
              <a:gd name="T2" fmla="*/ 21254 w 21600"/>
              <a:gd name="T3" fmla="*/ 24695 h 24695"/>
              <a:gd name="T4" fmla="*/ 0 w 21600"/>
              <a:gd name="T5" fmla="*/ 20844 h 24695"/>
            </a:gdLst>
            <a:ahLst/>
            <a:cxnLst>
              <a:cxn ang="0">
                <a:pos x="T0" y="T1"/>
              </a:cxn>
              <a:cxn ang="0">
                <a:pos x="T2" y="T3"/>
              </a:cxn>
              <a:cxn ang="0">
                <a:pos x="T4" y="T5"/>
              </a:cxn>
            </a:cxnLst>
            <a:rect l="0" t="0" r="r" b="b"/>
            <a:pathLst>
              <a:path w="21600" h="24695" fill="none" extrusionOk="0">
                <a:moveTo>
                  <a:pt x="5664" y="-1"/>
                </a:moveTo>
                <a:cubicBezTo>
                  <a:pt x="15070" y="2556"/>
                  <a:pt x="21600" y="11096"/>
                  <a:pt x="21600" y="20844"/>
                </a:cubicBezTo>
                <a:cubicBezTo>
                  <a:pt x="21600" y="22135"/>
                  <a:pt x="21484" y="23424"/>
                  <a:pt x="21253" y="24694"/>
                </a:cubicBezTo>
              </a:path>
              <a:path w="21600" h="24695" stroke="0" extrusionOk="0">
                <a:moveTo>
                  <a:pt x="5664" y="-1"/>
                </a:moveTo>
                <a:cubicBezTo>
                  <a:pt x="15070" y="2556"/>
                  <a:pt x="21600" y="11096"/>
                  <a:pt x="21600" y="20844"/>
                </a:cubicBezTo>
                <a:cubicBezTo>
                  <a:pt x="21600" y="22135"/>
                  <a:pt x="21484" y="23424"/>
                  <a:pt x="21253" y="24694"/>
                </a:cubicBezTo>
                <a:lnTo>
                  <a:pt x="0" y="20844"/>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1022" name="Text Box 14">
            <a:extLst>
              <a:ext uri="{FF2B5EF4-FFF2-40B4-BE49-F238E27FC236}">
                <a16:creationId xmlns:a16="http://schemas.microsoft.com/office/drawing/2014/main" id="{1CE18FBF-5238-40FA-B174-952C4034D81D}"/>
              </a:ext>
            </a:extLst>
          </p:cNvPr>
          <p:cNvSpPr txBox="1">
            <a:spLocks noChangeArrowheads="1"/>
          </p:cNvSpPr>
          <p:nvPr/>
        </p:nvSpPr>
        <p:spPr bwMode="auto">
          <a:xfrm>
            <a:off x="1828800" y="5791200"/>
            <a:ext cx="2362200"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rPr>
              <a:t>Yes, </a:t>
            </a:r>
            <a:r>
              <a:rPr lang="en-US" altLang="en-US" sz="2000" i="1">
                <a:latin typeface="Times New Roman" panose="02020603050405020304" pitchFamily="18" charset="0"/>
              </a:rPr>
              <a:t>x/Bill, y/peanuts</a:t>
            </a:r>
          </a:p>
        </p:txBody>
      </p:sp>
      <p:sp>
        <p:nvSpPr>
          <p:cNvPr id="171023" name="Text Box 15">
            <a:extLst>
              <a:ext uri="{FF2B5EF4-FFF2-40B4-BE49-F238E27FC236}">
                <a16:creationId xmlns:a16="http://schemas.microsoft.com/office/drawing/2014/main" id="{ACB6AFA5-41D1-45BE-B0C6-3C218210EEE8}"/>
              </a:ext>
            </a:extLst>
          </p:cNvPr>
          <p:cNvSpPr txBox="1">
            <a:spLocks noChangeArrowheads="1"/>
          </p:cNvSpPr>
          <p:nvPr/>
        </p:nvSpPr>
        <p:spPr bwMode="auto">
          <a:xfrm>
            <a:off x="4648200" y="5791200"/>
            <a:ext cx="1600200"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Times New Roman" panose="02020603050405020304" pitchFamily="18" charset="0"/>
              </a:rPr>
              <a:t>Yes, </a:t>
            </a:r>
            <a:r>
              <a:rPr lang="en-US" altLang="en-US" sz="2000" i="1">
                <a:latin typeface="Times New Roman" panose="02020603050405020304" pitchFamily="18" charset="0"/>
              </a:rPr>
              <a:t>x/Bill</a:t>
            </a:r>
          </a:p>
        </p:txBody>
      </p:sp>
      <p:sp>
        <p:nvSpPr>
          <p:cNvPr id="171025" name="Text Box 17">
            <a:extLst>
              <a:ext uri="{FF2B5EF4-FFF2-40B4-BE49-F238E27FC236}">
                <a16:creationId xmlns:a16="http://schemas.microsoft.com/office/drawing/2014/main" id="{5348B961-506C-4079-AA54-80D8B4555414}"/>
              </a:ext>
            </a:extLst>
          </p:cNvPr>
          <p:cNvSpPr txBox="1">
            <a:spLocks noChangeArrowheads="1"/>
          </p:cNvSpPr>
          <p:nvPr/>
        </p:nvSpPr>
        <p:spPr bwMode="auto">
          <a:xfrm>
            <a:off x="4572000" y="4676775"/>
            <a:ext cx="1687513"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rPr>
              <a:t>Yes, </a:t>
            </a:r>
            <a:r>
              <a:rPr lang="en-US" altLang="en-US" sz="2000" i="1">
                <a:latin typeface="Times New Roman" panose="02020603050405020304" pitchFamily="18" charset="0"/>
              </a:rPr>
              <a:t>y/peanuts</a:t>
            </a:r>
          </a:p>
        </p:txBody>
      </p:sp>
      <p:sp>
        <p:nvSpPr>
          <p:cNvPr id="171026" name="Text Box 18">
            <a:extLst>
              <a:ext uri="{FF2B5EF4-FFF2-40B4-BE49-F238E27FC236}">
                <a16:creationId xmlns:a16="http://schemas.microsoft.com/office/drawing/2014/main" id="{A61FAF92-A0D8-4798-A683-608299BADD95}"/>
              </a:ext>
            </a:extLst>
          </p:cNvPr>
          <p:cNvSpPr txBox="1">
            <a:spLocks noChangeArrowheads="1"/>
          </p:cNvSpPr>
          <p:nvPr/>
        </p:nvSpPr>
        <p:spPr bwMode="auto">
          <a:xfrm>
            <a:off x="5029200" y="3859213"/>
            <a:ext cx="1687513" cy="40640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rPr>
              <a:t>Yes, </a:t>
            </a:r>
            <a:r>
              <a:rPr lang="en-US" altLang="en-US" sz="2000" i="1">
                <a:latin typeface="Times New Roman" panose="02020603050405020304" pitchFamily="18" charset="0"/>
              </a:rPr>
              <a:t>y/peanuts</a:t>
            </a:r>
          </a:p>
        </p:txBody>
      </p:sp>
      <p:sp>
        <p:nvSpPr>
          <p:cNvPr id="171027" name="Text Box 19">
            <a:extLst>
              <a:ext uri="{FF2B5EF4-FFF2-40B4-BE49-F238E27FC236}">
                <a16:creationId xmlns:a16="http://schemas.microsoft.com/office/drawing/2014/main" id="{96705E36-7480-4939-9C31-5E4C11EB74D1}"/>
              </a:ext>
            </a:extLst>
          </p:cNvPr>
          <p:cNvSpPr txBox="1">
            <a:spLocks noChangeArrowheads="1"/>
          </p:cNvSpPr>
          <p:nvPr/>
        </p:nvSpPr>
        <p:spPr bwMode="auto">
          <a:xfrm>
            <a:off x="152400" y="3962400"/>
            <a:ext cx="31654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In reality, the </a:t>
            </a:r>
          </a:p>
          <a:p>
            <a:r>
              <a:rPr lang="en-US" altLang="en-US"/>
              <a:t>algorithm would </a:t>
            </a:r>
          </a:p>
          <a:p>
            <a:r>
              <a:rPr lang="en-US" altLang="en-US"/>
              <a:t>include all appropriate</a:t>
            </a:r>
          </a:p>
          <a:p>
            <a:r>
              <a:rPr lang="en-US" altLang="en-US"/>
              <a:t>rules.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012"/>
                                        </p:tgtEl>
                                        <p:attrNameLst>
                                          <p:attrName>style.visibility</p:attrName>
                                        </p:attrNameLst>
                                      </p:cBhvr>
                                      <p:to>
                                        <p:strVal val="visible"/>
                                      </p:to>
                                    </p:set>
                                    <p:anim calcmode="lin" valueType="num">
                                      <p:cBhvr additive="base">
                                        <p:cTn id="7" dur="500" fill="hold"/>
                                        <p:tgtEl>
                                          <p:spTgt spid="171012"/>
                                        </p:tgtEl>
                                        <p:attrNameLst>
                                          <p:attrName>ppt_x</p:attrName>
                                        </p:attrNameLst>
                                      </p:cBhvr>
                                      <p:tavLst>
                                        <p:tav tm="0">
                                          <p:val>
                                            <p:strVal val="0-#ppt_w/2"/>
                                          </p:val>
                                        </p:tav>
                                        <p:tav tm="100000">
                                          <p:val>
                                            <p:strVal val="#ppt_x"/>
                                          </p:val>
                                        </p:tav>
                                      </p:tavLst>
                                    </p:anim>
                                    <p:anim calcmode="lin" valueType="num">
                                      <p:cBhvr additive="base">
                                        <p:cTn id="8" dur="500" fill="hold"/>
                                        <p:tgtEl>
                                          <p:spTgt spid="17101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71017"/>
                                        </p:tgtEl>
                                        <p:attrNameLst>
                                          <p:attrName>style.visibility</p:attrName>
                                        </p:attrNameLst>
                                      </p:cBhvr>
                                      <p:to>
                                        <p:strVal val="visible"/>
                                      </p:to>
                                    </p:set>
                                    <p:anim calcmode="lin" valueType="num">
                                      <p:cBhvr additive="base">
                                        <p:cTn id="13" dur="500" fill="hold"/>
                                        <p:tgtEl>
                                          <p:spTgt spid="171017"/>
                                        </p:tgtEl>
                                        <p:attrNameLst>
                                          <p:attrName>ppt_x</p:attrName>
                                        </p:attrNameLst>
                                      </p:cBhvr>
                                      <p:tavLst>
                                        <p:tav tm="0">
                                          <p:val>
                                            <p:strVal val="0-#ppt_w/2"/>
                                          </p:val>
                                        </p:tav>
                                        <p:tav tm="100000">
                                          <p:val>
                                            <p:strVal val="#ppt_x"/>
                                          </p:val>
                                        </p:tav>
                                      </p:tavLst>
                                    </p:anim>
                                    <p:anim calcmode="lin" valueType="num">
                                      <p:cBhvr additive="base">
                                        <p:cTn id="14" dur="500" fill="hold"/>
                                        <p:tgtEl>
                                          <p:spTgt spid="171017"/>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2" presetClass="entr" presetSubtype="2" fill="hold" grpId="0" nodeType="afterEffect">
                                  <p:stCondLst>
                                    <p:cond delay="1000"/>
                                  </p:stCondLst>
                                  <p:childTnLst>
                                    <p:set>
                                      <p:cBhvr>
                                        <p:cTn id="17" dur="1" fill="hold">
                                          <p:stCondLst>
                                            <p:cond delay="0"/>
                                          </p:stCondLst>
                                        </p:cTn>
                                        <p:tgtEl>
                                          <p:spTgt spid="171014"/>
                                        </p:tgtEl>
                                        <p:attrNameLst>
                                          <p:attrName>style.visibility</p:attrName>
                                        </p:attrNameLst>
                                      </p:cBhvr>
                                      <p:to>
                                        <p:strVal val="visible"/>
                                      </p:to>
                                    </p:set>
                                    <p:anim calcmode="lin" valueType="num">
                                      <p:cBhvr additive="base">
                                        <p:cTn id="18" dur="500" fill="hold"/>
                                        <p:tgtEl>
                                          <p:spTgt spid="171014"/>
                                        </p:tgtEl>
                                        <p:attrNameLst>
                                          <p:attrName>ppt_x</p:attrName>
                                        </p:attrNameLst>
                                      </p:cBhvr>
                                      <p:tavLst>
                                        <p:tav tm="0">
                                          <p:val>
                                            <p:strVal val="1+#ppt_w/2"/>
                                          </p:val>
                                        </p:tav>
                                        <p:tav tm="100000">
                                          <p:val>
                                            <p:strVal val="#ppt_x"/>
                                          </p:val>
                                        </p:tav>
                                      </p:tavLst>
                                    </p:anim>
                                    <p:anim calcmode="lin" valueType="num">
                                      <p:cBhvr additive="base">
                                        <p:cTn id="19" dur="500" fill="hold"/>
                                        <p:tgtEl>
                                          <p:spTgt spid="171014"/>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171018"/>
                                        </p:tgtEl>
                                        <p:attrNameLst>
                                          <p:attrName>style.visibility</p:attrName>
                                        </p:attrNameLst>
                                      </p:cBhvr>
                                      <p:to>
                                        <p:strVal val="visible"/>
                                      </p:to>
                                    </p:set>
                                    <p:anim calcmode="lin" valueType="num">
                                      <p:cBhvr additive="base">
                                        <p:cTn id="24" dur="500" fill="hold"/>
                                        <p:tgtEl>
                                          <p:spTgt spid="171018"/>
                                        </p:tgtEl>
                                        <p:attrNameLst>
                                          <p:attrName>ppt_x</p:attrName>
                                        </p:attrNameLst>
                                      </p:cBhvr>
                                      <p:tavLst>
                                        <p:tav tm="0">
                                          <p:val>
                                            <p:strVal val="0-#ppt_w/2"/>
                                          </p:val>
                                        </p:tav>
                                        <p:tav tm="100000">
                                          <p:val>
                                            <p:strVal val="#ppt_x"/>
                                          </p:val>
                                        </p:tav>
                                      </p:tavLst>
                                    </p:anim>
                                    <p:anim calcmode="lin" valueType="num">
                                      <p:cBhvr additive="base">
                                        <p:cTn id="25" dur="500" fill="hold"/>
                                        <p:tgtEl>
                                          <p:spTgt spid="171018"/>
                                        </p:tgtEl>
                                        <p:attrNameLst>
                                          <p:attrName>ppt_y</p:attrName>
                                        </p:attrNameLst>
                                      </p:cBhvr>
                                      <p:tavLst>
                                        <p:tav tm="0">
                                          <p:val>
                                            <p:strVal val="#ppt_y"/>
                                          </p:val>
                                        </p:tav>
                                        <p:tav tm="100000">
                                          <p:val>
                                            <p:strVal val="#ppt_y"/>
                                          </p:val>
                                        </p:tav>
                                      </p:tavLst>
                                    </p:anim>
                                  </p:childTnLst>
                                </p:cTn>
                              </p:par>
                            </p:childTnLst>
                          </p:cTn>
                        </p:par>
                        <p:par>
                          <p:cTn id="26" fill="hold" nodeType="afterGroup">
                            <p:stCondLst>
                              <p:cond delay="500"/>
                            </p:stCondLst>
                            <p:childTnLst>
                              <p:par>
                                <p:cTn id="27" presetID="2" presetClass="entr" presetSubtype="2" fill="hold" nodeType="afterEffect">
                                  <p:stCondLst>
                                    <p:cond delay="1000"/>
                                  </p:stCondLst>
                                  <p:childTnLst>
                                    <p:set>
                                      <p:cBhvr>
                                        <p:cTn id="28" dur="1" fill="hold">
                                          <p:stCondLst>
                                            <p:cond delay="0"/>
                                          </p:stCondLst>
                                        </p:cTn>
                                        <p:tgtEl>
                                          <p:spTgt spid="171019"/>
                                        </p:tgtEl>
                                        <p:attrNameLst>
                                          <p:attrName>style.visibility</p:attrName>
                                        </p:attrNameLst>
                                      </p:cBhvr>
                                      <p:to>
                                        <p:strVal val="visible"/>
                                      </p:to>
                                    </p:set>
                                    <p:anim calcmode="lin" valueType="num">
                                      <p:cBhvr additive="base">
                                        <p:cTn id="29" dur="500" fill="hold"/>
                                        <p:tgtEl>
                                          <p:spTgt spid="171019"/>
                                        </p:tgtEl>
                                        <p:attrNameLst>
                                          <p:attrName>ppt_x</p:attrName>
                                        </p:attrNameLst>
                                      </p:cBhvr>
                                      <p:tavLst>
                                        <p:tav tm="0">
                                          <p:val>
                                            <p:strVal val="1+#ppt_w/2"/>
                                          </p:val>
                                        </p:tav>
                                        <p:tav tm="100000">
                                          <p:val>
                                            <p:strVal val="#ppt_x"/>
                                          </p:val>
                                        </p:tav>
                                      </p:tavLst>
                                    </p:anim>
                                    <p:anim calcmode="lin" valueType="num">
                                      <p:cBhvr additive="base">
                                        <p:cTn id="30" dur="500" fill="hold"/>
                                        <p:tgtEl>
                                          <p:spTgt spid="171019"/>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2000"/>
                            </p:stCondLst>
                            <p:childTnLst>
                              <p:par>
                                <p:cTn id="32" presetID="2" presetClass="entr" presetSubtype="4" fill="hold" nodeType="afterEffect">
                                  <p:stCondLst>
                                    <p:cond delay="0"/>
                                  </p:stCondLst>
                                  <p:childTnLst>
                                    <p:set>
                                      <p:cBhvr>
                                        <p:cTn id="33" dur="1" fill="hold">
                                          <p:stCondLst>
                                            <p:cond delay="0"/>
                                          </p:stCondLst>
                                        </p:cTn>
                                        <p:tgtEl>
                                          <p:spTgt spid="171021"/>
                                        </p:tgtEl>
                                        <p:attrNameLst>
                                          <p:attrName>style.visibility</p:attrName>
                                        </p:attrNameLst>
                                      </p:cBhvr>
                                      <p:to>
                                        <p:strVal val="visible"/>
                                      </p:to>
                                    </p:set>
                                    <p:anim calcmode="lin" valueType="num">
                                      <p:cBhvr additive="base">
                                        <p:cTn id="34" dur="500" fill="hold"/>
                                        <p:tgtEl>
                                          <p:spTgt spid="171021"/>
                                        </p:tgtEl>
                                        <p:attrNameLst>
                                          <p:attrName>ppt_x</p:attrName>
                                        </p:attrNameLst>
                                      </p:cBhvr>
                                      <p:tavLst>
                                        <p:tav tm="0">
                                          <p:val>
                                            <p:strVal val="#ppt_x"/>
                                          </p:val>
                                        </p:tav>
                                        <p:tav tm="100000">
                                          <p:val>
                                            <p:strVal val="#ppt_x"/>
                                          </p:val>
                                        </p:tav>
                                      </p:tavLst>
                                    </p:anim>
                                    <p:anim calcmode="lin" valueType="num">
                                      <p:cBhvr additive="base">
                                        <p:cTn id="35" dur="500" fill="hold"/>
                                        <p:tgtEl>
                                          <p:spTgt spid="171021"/>
                                        </p:tgtEl>
                                        <p:attrNameLst>
                                          <p:attrName>ppt_y</p:attrName>
                                        </p:attrNameLst>
                                      </p:cBhvr>
                                      <p:tavLst>
                                        <p:tav tm="0">
                                          <p:val>
                                            <p:strVal val="1+#ppt_h/2"/>
                                          </p:val>
                                        </p:tav>
                                        <p:tav tm="100000">
                                          <p:val>
                                            <p:strVal val="#ppt_y"/>
                                          </p:val>
                                        </p:tav>
                                      </p:tavLst>
                                    </p:anim>
                                  </p:childTnLst>
                                </p:cTn>
                              </p:par>
                            </p:childTnLst>
                          </p:cTn>
                        </p:par>
                        <p:par>
                          <p:cTn id="36" fill="hold" nodeType="afterGroup">
                            <p:stCondLst>
                              <p:cond delay="2500"/>
                            </p:stCondLst>
                            <p:childTnLst>
                              <p:par>
                                <p:cTn id="37" presetID="2" presetClass="entr" presetSubtype="4" fill="hold" grpId="0" nodeType="afterEffect">
                                  <p:stCondLst>
                                    <p:cond delay="1000"/>
                                  </p:stCondLst>
                                  <p:childTnLst>
                                    <p:set>
                                      <p:cBhvr>
                                        <p:cTn id="38" dur="1" fill="hold">
                                          <p:stCondLst>
                                            <p:cond delay="0"/>
                                          </p:stCondLst>
                                        </p:cTn>
                                        <p:tgtEl>
                                          <p:spTgt spid="171016"/>
                                        </p:tgtEl>
                                        <p:attrNameLst>
                                          <p:attrName>style.visibility</p:attrName>
                                        </p:attrNameLst>
                                      </p:cBhvr>
                                      <p:to>
                                        <p:strVal val="visible"/>
                                      </p:to>
                                    </p:set>
                                    <p:anim calcmode="lin" valueType="num">
                                      <p:cBhvr additive="base">
                                        <p:cTn id="39" dur="500" fill="hold"/>
                                        <p:tgtEl>
                                          <p:spTgt spid="171016"/>
                                        </p:tgtEl>
                                        <p:attrNameLst>
                                          <p:attrName>ppt_x</p:attrName>
                                        </p:attrNameLst>
                                      </p:cBhvr>
                                      <p:tavLst>
                                        <p:tav tm="0">
                                          <p:val>
                                            <p:strVal val="#ppt_x"/>
                                          </p:val>
                                        </p:tav>
                                        <p:tav tm="100000">
                                          <p:val>
                                            <p:strVal val="#ppt_x"/>
                                          </p:val>
                                        </p:tav>
                                      </p:tavLst>
                                    </p:anim>
                                    <p:anim calcmode="lin" valueType="num">
                                      <p:cBhvr additive="base">
                                        <p:cTn id="40" dur="500" fill="hold"/>
                                        <p:tgtEl>
                                          <p:spTgt spid="171016"/>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171022"/>
                                        </p:tgtEl>
                                        <p:attrNameLst>
                                          <p:attrName>style.visibility</p:attrName>
                                        </p:attrNameLst>
                                      </p:cBhvr>
                                      <p:to>
                                        <p:strVal val="visible"/>
                                      </p:to>
                                    </p:set>
                                    <p:anim calcmode="lin" valueType="num">
                                      <p:cBhvr>
                                        <p:cTn id="45" dur="500" fill="hold"/>
                                        <p:tgtEl>
                                          <p:spTgt spid="171022"/>
                                        </p:tgtEl>
                                        <p:attrNameLst>
                                          <p:attrName>ppt_w</p:attrName>
                                        </p:attrNameLst>
                                      </p:cBhvr>
                                      <p:tavLst>
                                        <p:tav tm="0">
                                          <p:val>
                                            <p:fltVal val="0"/>
                                          </p:val>
                                        </p:tav>
                                        <p:tav tm="100000">
                                          <p:val>
                                            <p:strVal val="#ppt_w"/>
                                          </p:val>
                                        </p:tav>
                                      </p:tavLst>
                                    </p:anim>
                                    <p:anim calcmode="lin" valueType="num">
                                      <p:cBhvr>
                                        <p:cTn id="46" dur="500" fill="hold"/>
                                        <p:tgtEl>
                                          <p:spTgt spid="171022"/>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8" presetClass="entr" presetSubtype="12" fill="hold" grpId="0" nodeType="clickEffect">
                                  <p:stCondLst>
                                    <p:cond delay="0"/>
                                  </p:stCondLst>
                                  <p:childTnLst>
                                    <p:set>
                                      <p:cBhvr>
                                        <p:cTn id="50" dur="1" fill="hold">
                                          <p:stCondLst>
                                            <p:cond delay="0"/>
                                          </p:stCondLst>
                                        </p:cTn>
                                        <p:tgtEl>
                                          <p:spTgt spid="171023"/>
                                        </p:tgtEl>
                                        <p:attrNameLst>
                                          <p:attrName>style.visibility</p:attrName>
                                        </p:attrNameLst>
                                      </p:cBhvr>
                                      <p:to>
                                        <p:strVal val="visible"/>
                                      </p:to>
                                    </p:set>
                                    <p:animEffect transition="in" filter="strips(downLeft)">
                                      <p:cBhvr>
                                        <p:cTn id="51" dur="500"/>
                                        <p:tgtEl>
                                          <p:spTgt spid="17102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7" presetClass="entr" presetSubtype="10" fill="hold" grpId="0" nodeType="clickEffect">
                                  <p:stCondLst>
                                    <p:cond delay="0"/>
                                  </p:stCondLst>
                                  <p:childTnLst>
                                    <p:set>
                                      <p:cBhvr>
                                        <p:cTn id="55" dur="1" fill="hold">
                                          <p:stCondLst>
                                            <p:cond delay="0"/>
                                          </p:stCondLst>
                                        </p:cTn>
                                        <p:tgtEl>
                                          <p:spTgt spid="171025"/>
                                        </p:tgtEl>
                                        <p:attrNameLst>
                                          <p:attrName>style.visibility</p:attrName>
                                        </p:attrNameLst>
                                      </p:cBhvr>
                                      <p:to>
                                        <p:strVal val="visible"/>
                                      </p:to>
                                    </p:set>
                                    <p:anim calcmode="lin" valueType="num">
                                      <p:cBhvr>
                                        <p:cTn id="56" dur="500" fill="hold"/>
                                        <p:tgtEl>
                                          <p:spTgt spid="171025"/>
                                        </p:tgtEl>
                                        <p:attrNameLst>
                                          <p:attrName>ppt_w</p:attrName>
                                        </p:attrNameLst>
                                      </p:cBhvr>
                                      <p:tavLst>
                                        <p:tav tm="0">
                                          <p:val>
                                            <p:fltVal val="0"/>
                                          </p:val>
                                        </p:tav>
                                        <p:tav tm="100000">
                                          <p:val>
                                            <p:strVal val="#ppt_w"/>
                                          </p:val>
                                        </p:tav>
                                      </p:tavLst>
                                    </p:anim>
                                    <p:anim calcmode="lin" valueType="num">
                                      <p:cBhvr>
                                        <p:cTn id="57" dur="500" fill="hold"/>
                                        <p:tgtEl>
                                          <p:spTgt spid="171025"/>
                                        </p:tgtEl>
                                        <p:attrNameLst>
                                          <p:attrName>ppt_h</p:attrName>
                                        </p:attrNameLst>
                                      </p:cBhvr>
                                      <p:tavLst>
                                        <p:tav tm="0">
                                          <p:val>
                                            <p:strVal val="#ppt_h"/>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17" presetClass="entr" presetSubtype="10" fill="hold" grpId="0" nodeType="clickEffect">
                                  <p:stCondLst>
                                    <p:cond delay="0"/>
                                  </p:stCondLst>
                                  <p:childTnLst>
                                    <p:set>
                                      <p:cBhvr>
                                        <p:cTn id="61" dur="1" fill="hold">
                                          <p:stCondLst>
                                            <p:cond delay="0"/>
                                          </p:stCondLst>
                                        </p:cTn>
                                        <p:tgtEl>
                                          <p:spTgt spid="171026"/>
                                        </p:tgtEl>
                                        <p:attrNameLst>
                                          <p:attrName>style.visibility</p:attrName>
                                        </p:attrNameLst>
                                      </p:cBhvr>
                                      <p:to>
                                        <p:strVal val="visible"/>
                                      </p:to>
                                    </p:set>
                                    <p:anim calcmode="lin" valueType="num">
                                      <p:cBhvr>
                                        <p:cTn id="62" dur="500" fill="hold"/>
                                        <p:tgtEl>
                                          <p:spTgt spid="171026"/>
                                        </p:tgtEl>
                                        <p:attrNameLst>
                                          <p:attrName>ppt_w</p:attrName>
                                        </p:attrNameLst>
                                      </p:cBhvr>
                                      <p:tavLst>
                                        <p:tav tm="0">
                                          <p:val>
                                            <p:fltVal val="0"/>
                                          </p:val>
                                        </p:tav>
                                        <p:tav tm="100000">
                                          <p:val>
                                            <p:strVal val="#ppt_w"/>
                                          </p:val>
                                        </p:tav>
                                      </p:tavLst>
                                    </p:anim>
                                    <p:anim calcmode="lin" valueType="num">
                                      <p:cBhvr>
                                        <p:cTn id="63" dur="500" fill="hold"/>
                                        <p:tgtEl>
                                          <p:spTgt spid="171026"/>
                                        </p:tgtEl>
                                        <p:attrNameLst>
                                          <p:attrName>ppt_h</p:attrName>
                                        </p:attrNameLst>
                                      </p:cBhvr>
                                      <p:tavLst>
                                        <p:tav tm="0">
                                          <p:val>
                                            <p:strVal val="#ppt_h"/>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7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2" grpId="0" autoUpdateAnimBg="0"/>
      <p:bldP spid="171014" grpId="0" autoUpdateAnimBg="0"/>
      <p:bldP spid="171016" grpId="0" autoUpdateAnimBg="0"/>
      <p:bldP spid="171022" grpId="0" animBg="1" autoUpdateAnimBg="0"/>
      <p:bldP spid="171023" grpId="0" animBg="1" autoUpdateAnimBg="0"/>
      <p:bldP spid="171025" grpId="0" animBg="1" autoUpdateAnimBg="0"/>
      <p:bldP spid="171026" grpId="0" animBg="1" autoUpdateAnimBg="0"/>
      <p:bldP spid="1710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8AF1136-15EF-445D-A9CE-0A7479A34F10}"/>
              </a:ext>
            </a:extLst>
          </p:cNvPr>
          <p:cNvSpPr>
            <a:spLocks noGrp="1" noChangeArrowheads="1"/>
          </p:cNvSpPr>
          <p:nvPr>
            <p:ph type="title"/>
          </p:nvPr>
        </p:nvSpPr>
        <p:spPr>
          <a:xfrm>
            <a:off x="395288" y="115888"/>
            <a:ext cx="7772400" cy="11430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Inference rules</a:t>
            </a:r>
          </a:p>
        </p:txBody>
      </p:sp>
      <p:sp>
        <p:nvSpPr>
          <p:cNvPr id="5123" name="Rectangle 3">
            <a:extLst>
              <a:ext uri="{FF2B5EF4-FFF2-40B4-BE49-F238E27FC236}">
                <a16:creationId xmlns:a16="http://schemas.microsoft.com/office/drawing/2014/main" id="{B1173238-3DA7-418A-9EE6-32AFA69D66FE}"/>
              </a:ext>
            </a:extLst>
          </p:cNvPr>
          <p:cNvSpPr>
            <a:spLocks noGrp="1" noChangeArrowheads="1"/>
          </p:cNvSpPr>
          <p:nvPr>
            <p:ph type="body" idx="1"/>
          </p:nvPr>
        </p:nvSpPr>
        <p:spPr>
          <a:xfrm>
            <a:off x="395288" y="1628775"/>
            <a:ext cx="8424862" cy="4114800"/>
          </a:xfrm>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Universal elimination:</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Likes( x, IceCream ) with the substitution {x / Einstein} gives us Likes( Einstein, IceCream )</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The substitution has to be done by a ground term</a:t>
            </a:r>
          </a:p>
          <a:p>
            <a:pPr lvl="1"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Existential elimination:</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From  x  Likes( x, IceCream )  we infer Likes( Man, IceCream ) as long as Man does not appear elsewhere in the Knowledge base</a:t>
            </a:r>
          </a:p>
          <a:p>
            <a:pPr lvl="1"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Existential introduction:</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From Likes( Lisa, IceCream ) we can infer </a:t>
            </a:r>
          </a:p>
          <a:p>
            <a:pPr lvl="1"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x  Likes( x, IceCream )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C4DCA69-1690-46DB-B4B5-5506BCE70573}"/>
              </a:ext>
            </a:extLst>
          </p:cNvPr>
          <p:cNvSpPr>
            <a:spLocks noGrp="1" noChangeArrowheads="1"/>
          </p:cNvSpPr>
          <p:nvPr>
            <p:ph type="title"/>
          </p:nvPr>
        </p:nvSpPr>
        <p:spPr>
          <a:xfrm>
            <a:off x="323850" y="76200"/>
            <a:ext cx="7772400" cy="9144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Reasoning in first-order logic</a:t>
            </a:r>
          </a:p>
        </p:txBody>
      </p:sp>
      <p:sp>
        <p:nvSpPr>
          <p:cNvPr id="6147" name="Rectangle 3">
            <a:extLst>
              <a:ext uri="{FF2B5EF4-FFF2-40B4-BE49-F238E27FC236}">
                <a16:creationId xmlns:a16="http://schemas.microsoft.com/office/drawing/2014/main" id="{EF2360F5-8441-4EB4-8793-5E4C7CD6B84C}"/>
              </a:ext>
            </a:extLst>
          </p:cNvPr>
          <p:cNvSpPr>
            <a:spLocks noGrp="1" noChangeArrowheads="1"/>
          </p:cNvSpPr>
          <p:nvPr>
            <p:ph type="body" idx="1"/>
          </p:nvPr>
        </p:nvSpPr>
        <p:spPr>
          <a:xfrm>
            <a:off x="323850" y="1628775"/>
            <a:ext cx="8604250" cy="4419600"/>
          </a:xfrm>
        </p:spPr>
        <p:txBody>
          <a:bodyPr/>
          <a:lstStyle/>
          <a:p>
            <a:pPr eaLnBrk="1" hangingPunct="1"/>
            <a:r>
              <a:rPr lang="en-US" altLang="en-US" sz="3200">
                <a:latin typeface="Cambria" panose="02040503050406030204" pitchFamily="18" charset="0"/>
                <a:ea typeface="Cambria" panose="02040503050406030204" pitchFamily="18" charset="0"/>
                <a:cs typeface="Cambria" panose="02040503050406030204" pitchFamily="18" charset="0"/>
              </a:rPr>
              <a:t>The law says that it is a crime for a Gaul to sell potion formulas to hostile nations. </a:t>
            </a:r>
          </a:p>
          <a:p>
            <a:pPr eaLnBrk="1" hangingPunct="1"/>
            <a:r>
              <a:rPr lang="en-US" altLang="en-US" sz="3200">
                <a:latin typeface="Cambria" panose="02040503050406030204" pitchFamily="18" charset="0"/>
                <a:ea typeface="Cambria" panose="02040503050406030204" pitchFamily="18" charset="0"/>
                <a:cs typeface="Cambria" panose="02040503050406030204" pitchFamily="18" charset="0"/>
              </a:rPr>
              <a:t>The country Rome, an enemy of Gaul, has acquired some potion formulas, and all of its formulas were sold to it by Druid Traitorix, </a:t>
            </a:r>
          </a:p>
          <a:p>
            <a:pPr eaLnBrk="1" hangingPunct="1"/>
            <a:r>
              <a:rPr lang="en-US" altLang="en-US" sz="3200">
                <a:latin typeface="Cambria" panose="02040503050406030204" pitchFamily="18" charset="0"/>
                <a:ea typeface="Cambria" panose="02040503050406030204" pitchFamily="18" charset="0"/>
                <a:cs typeface="Cambria" panose="02040503050406030204" pitchFamily="18" charset="0"/>
              </a:rPr>
              <a:t>Traitorix is a Gaul. </a:t>
            </a:r>
          </a:p>
          <a:p>
            <a:pPr eaLnBrk="1" hangingPunct="1"/>
            <a:r>
              <a:rPr lang="en-US" altLang="en-US" sz="3200">
                <a:latin typeface="Cambria" panose="02040503050406030204" pitchFamily="18" charset="0"/>
                <a:ea typeface="Cambria" panose="02040503050406030204" pitchFamily="18" charset="0"/>
                <a:cs typeface="Cambria" panose="02040503050406030204" pitchFamily="18" charset="0"/>
              </a:rPr>
              <a:t>Is Traitorix a criminal?</a:t>
            </a:r>
          </a:p>
          <a:p>
            <a:pPr eaLnBrk="1" hangingPunct="1">
              <a:buFontTx/>
              <a:buNone/>
            </a:pPr>
            <a:endParaRPr lang="en-US" altLang="en-US" sz="3600">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80F4861-CBD7-459F-814D-691FF7BB861B}"/>
              </a:ext>
            </a:extLst>
          </p:cNvPr>
          <p:cNvSpPr>
            <a:spLocks noGrp="1" noChangeArrowheads="1"/>
          </p:cNvSpPr>
          <p:nvPr>
            <p:ph type="title"/>
          </p:nvPr>
        </p:nvSpPr>
        <p:spPr>
          <a:xfrm>
            <a:off x="468313" y="0"/>
            <a:ext cx="7772400" cy="1143000"/>
          </a:xfrm>
        </p:spPr>
        <p:txBody>
          <a:bodyPr/>
          <a:lstStyle/>
          <a:p>
            <a:pPr eaLnBrk="1" hangingPunct="1"/>
            <a:r>
              <a:rPr lang="en-US" altLang="en-US">
                <a:latin typeface="Cambria" panose="02040503050406030204" pitchFamily="18" charset="0"/>
                <a:ea typeface="Cambria" panose="02040503050406030204" pitchFamily="18" charset="0"/>
                <a:cs typeface="Cambria" panose="02040503050406030204" pitchFamily="18" charset="0"/>
              </a:rPr>
              <a:t>FoL Formulation</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3" name="Content Placeholder 2">
            <a:extLst>
              <a:ext uri="{FF2B5EF4-FFF2-40B4-BE49-F238E27FC236}">
                <a16:creationId xmlns:a16="http://schemas.microsoft.com/office/drawing/2014/main" id="{2DC28CC9-63B5-4973-B6C3-BDC900AC78DA}"/>
              </a:ext>
            </a:extLst>
          </p:cNvPr>
          <p:cNvSpPr>
            <a:spLocks noGrp="1" noRot="1" noChangeAspect="1" noMove="1" noResize="1" noEditPoints="1" noAdjustHandles="1" noChangeArrowheads="1" noChangeShapeType="1" noTextEdit="1"/>
          </p:cNvSpPr>
          <p:nvPr>
            <p:ph idx="1"/>
          </p:nvPr>
        </p:nvSpPr>
        <p:spPr>
          <a:xfrm>
            <a:off x="685800" y="1981200"/>
            <a:ext cx="8134672" cy="4114800"/>
          </a:xfrm>
          <a:blipFill>
            <a:blip r:embed="rId2"/>
            <a:stretch>
              <a:fillRect l="-1574"/>
            </a:stretch>
          </a:blipFill>
          <a:extLst/>
        </p:spPr>
        <p:txBody>
          <a:bodyPr/>
          <a:lstStyle/>
          <a:p>
            <a:pPr>
              <a:defRPr/>
            </a:pPr>
            <a:r>
              <a:rPr lang="en-IN" dirty="0">
                <a:noFill/>
              </a:rPr>
              <a:t> </a:t>
            </a:r>
          </a:p>
        </p:txBody>
      </p:sp>
      <p:sp>
        <p:nvSpPr>
          <p:cNvPr id="7172" name="Rectangle 5">
            <a:extLst>
              <a:ext uri="{FF2B5EF4-FFF2-40B4-BE49-F238E27FC236}">
                <a16:creationId xmlns:a16="http://schemas.microsoft.com/office/drawing/2014/main" id="{57C9B3B6-F5A9-46C9-94B2-5D2AAAC7BAF1}"/>
              </a:ext>
            </a:extLst>
          </p:cNvPr>
          <p:cNvSpPr>
            <a:spLocks noChangeArrowheads="1"/>
          </p:cNvSpPr>
          <p:nvPr/>
        </p:nvSpPr>
        <p:spPr bwMode="auto">
          <a:xfrm>
            <a:off x="250825" y="1150938"/>
            <a:ext cx="92535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2400">
                <a:solidFill>
                  <a:srgbClr val="FF0000"/>
                </a:solidFill>
                <a:latin typeface="Cambria" panose="02040503050406030204" pitchFamily="18" charset="0"/>
                <a:ea typeface="Cambria" panose="02040503050406030204" pitchFamily="18" charset="0"/>
                <a:cs typeface="Cambria" panose="02040503050406030204" pitchFamily="18" charset="0"/>
              </a:rPr>
              <a:t>The law says that it is a crime for a Gaul to sell potion formulas to hostile nations. </a:t>
            </a:r>
          </a:p>
        </p:txBody>
      </p:sp>
      <p:sp>
        <p:nvSpPr>
          <p:cNvPr id="4" name="Rectangle 3">
            <a:extLst>
              <a:ext uri="{FF2B5EF4-FFF2-40B4-BE49-F238E27FC236}">
                <a16:creationId xmlns:a16="http://schemas.microsoft.com/office/drawing/2014/main" id="{65A59C59-3813-4306-B6E4-26356E2258E2}"/>
              </a:ext>
            </a:extLst>
          </p:cNvPr>
          <p:cNvSpPr/>
          <p:nvPr/>
        </p:nvSpPr>
        <p:spPr>
          <a:xfrm>
            <a:off x="755650" y="5084763"/>
            <a:ext cx="7993063" cy="936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82C524F6-0D55-468E-A7B8-A4D6FB8F1E50}"/>
              </a:ext>
            </a:extLst>
          </p:cNvPr>
          <p:cNvSpPr>
            <a:spLocks noGrp="1" noChangeArrowheads="1"/>
          </p:cNvSpPr>
          <p:nvPr>
            <p:ph type="title"/>
          </p:nvPr>
        </p:nvSpPr>
        <p:spPr>
          <a:xfrm>
            <a:off x="66675" y="455613"/>
            <a:ext cx="8753475" cy="1143000"/>
          </a:xfrm>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The country Rome, an enemy of Gaul, has acquired some potion formulas, and all of its formulas were sold to it by Druid Traitorix, </a:t>
            </a:r>
            <a:br>
              <a:rPr lang="en-US" altLang="en-US" sz="2400">
                <a:latin typeface="Cambria" panose="02040503050406030204" pitchFamily="18" charset="0"/>
                <a:ea typeface="Cambria" panose="02040503050406030204" pitchFamily="18" charset="0"/>
                <a:cs typeface="Cambria" panose="02040503050406030204" pitchFamily="18" charset="0"/>
              </a:rPr>
            </a:br>
            <a:endParaRPr lang="en-IN" altLang="en-US" sz="2400"/>
          </a:p>
        </p:txBody>
      </p:sp>
      <p:sp>
        <p:nvSpPr>
          <p:cNvPr id="3" name="Content Placeholder 2">
            <a:extLst>
              <a:ext uri="{FF2B5EF4-FFF2-40B4-BE49-F238E27FC236}">
                <a16:creationId xmlns:a16="http://schemas.microsoft.com/office/drawing/2014/main" id="{4CD8D5F8-A3E9-4578-90C0-B7E290B8DD37}"/>
              </a:ext>
            </a:extLst>
          </p:cNvPr>
          <p:cNvSpPr>
            <a:spLocks noGrp="1" noRot="1" noChangeAspect="1" noMove="1" noResize="1" noEditPoints="1" noAdjustHandles="1" noChangeArrowheads="1" noChangeShapeType="1" noTextEdit="1"/>
          </p:cNvSpPr>
          <p:nvPr>
            <p:ph idx="1"/>
          </p:nvPr>
        </p:nvSpPr>
        <p:spPr>
          <a:xfrm>
            <a:off x="374992" y="1776616"/>
            <a:ext cx="7772400" cy="4114800"/>
          </a:xfrm>
          <a:blipFill>
            <a:blip r:embed="rId2"/>
            <a:stretch>
              <a:fillRect l="-1647"/>
            </a:stretch>
          </a:blipFill>
          <a:extLst/>
        </p:spPr>
        <p:txBody>
          <a:bodyPr/>
          <a:lstStyle/>
          <a:p>
            <a:pPr>
              <a:defRPr/>
            </a:pPr>
            <a:r>
              <a:rPr lang="en-IN">
                <a:noFill/>
              </a:rPr>
              <a:t> </a:t>
            </a:r>
          </a:p>
        </p:txBody>
      </p:sp>
      <p:sp>
        <p:nvSpPr>
          <p:cNvPr id="2" name="Rectangle 1">
            <a:extLst>
              <a:ext uri="{FF2B5EF4-FFF2-40B4-BE49-F238E27FC236}">
                <a16:creationId xmlns:a16="http://schemas.microsoft.com/office/drawing/2014/main" id="{2E12E4E5-F2BB-4A05-BA12-A2EC996C19F8}"/>
              </a:ext>
            </a:extLst>
          </p:cNvPr>
          <p:cNvSpPr/>
          <p:nvPr/>
        </p:nvSpPr>
        <p:spPr>
          <a:xfrm>
            <a:off x="374650" y="1989138"/>
            <a:ext cx="3189288" cy="576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6" name="Rectangle 5">
            <a:extLst>
              <a:ext uri="{FF2B5EF4-FFF2-40B4-BE49-F238E27FC236}">
                <a16:creationId xmlns:a16="http://schemas.microsoft.com/office/drawing/2014/main" id="{A3EA6C45-9DC0-4ECD-BD18-2158FAD6BD4F}"/>
              </a:ext>
            </a:extLst>
          </p:cNvPr>
          <p:cNvSpPr/>
          <p:nvPr/>
        </p:nvSpPr>
        <p:spPr>
          <a:xfrm>
            <a:off x="374650" y="2708275"/>
            <a:ext cx="5492750" cy="433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7" name="Rectangle 6">
            <a:extLst>
              <a:ext uri="{FF2B5EF4-FFF2-40B4-BE49-F238E27FC236}">
                <a16:creationId xmlns:a16="http://schemas.microsoft.com/office/drawing/2014/main" id="{A6F8D784-92BA-4159-9D2A-E83DEBD8A5F1}"/>
              </a:ext>
            </a:extLst>
          </p:cNvPr>
          <p:cNvSpPr/>
          <p:nvPr/>
        </p:nvSpPr>
        <p:spPr>
          <a:xfrm>
            <a:off x="374650" y="3357563"/>
            <a:ext cx="6178550" cy="11509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8" name="Rectangle 7">
            <a:extLst>
              <a:ext uri="{FF2B5EF4-FFF2-40B4-BE49-F238E27FC236}">
                <a16:creationId xmlns:a16="http://schemas.microsoft.com/office/drawing/2014/main" id="{565E9663-E9D7-48FB-9692-96F22B1F56FE}"/>
              </a:ext>
            </a:extLst>
          </p:cNvPr>
          <p:cNvSpPr/>
          <p:nvPr/>
        </p:nvSpPr>
        <p:spPr>
          <a:xfrm>
            <a:off x="374650" y="4652963"/>
            <a:ext cx="3189288"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9" name="Rectangle 8">
            <a:extLst>
              <a:ext uri="{FF2B5EF4-FFF2-40B4-BE49-F238E27FC236}">
                <a16:creationId xmlns:a16="http://schemas.microsoft.com/office/drawing/2014/main" id="{A3C8A6A9-9789-4824-A33A-8DF14705BC08}"/>
              </a:ext>
            </a:extLst>
          </p:cNvPr>
          <p:cNvSpPr/>
          <p:nvPr/>
        </p:nvSpPr>
        <p:spPr>
          <a:xfrm>
            <a:off x="2268538" y="5445125"/>
            <a:ext cx="4032250"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FE1231FA-F239-4474-84E0-0219163D7994}"/>
              </a:ext>
            </a:extLst>
          </p:cNvPr>
          <p:cNvSpPr>
            <a:spLocks noGrp="1" noChangeArrowheads="1"/>
          </p:cNvSpPr>
          <p:nvPr>
            <p:ph type="title"/>
          </p:nvPr>
        </p:nvSpPr>
        <p:spPr>
          <a:xfrm>
            <a:off x="611188" y="188913"/>
            <a:ext cx="7772400" cy="1143000"/>
          </a:xfrm>
        </p:spPr>
        <p:txBody>
          <a:bodyPr/>
          <a:lstStyle/>
          <a:p>
            <a:pPr eaLnBrk="1" hangingPunct="1"/>
            <a:r>
              <a:rPr lang="en-US" altLang="en-US"/>
              <a:t>Forward Chaning </a:t>
            </a:r>
            <a:endParaRPr lang="en-IN" altLang="en-US"/>
          </a:p>
        </p:txBody>
      </p:sp>
      <p:pic>
        <p:nvPicPr>
          <p:cNvPr id="7" name="Picture 6">
            <a:extLst>
              <a:ext uri="{FF2B5EF4-FFF2-40B4-BE49-F238E27FC236}">
                <a16:creationId xmlns:a16="http://schemas.microsoft.com/office/drawing/2014/main" id="{AFDC81ED-FF31-4959-A9C8-6C83939A17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628775"/>
            <a:ext cx="43243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F37D7F3C-BBCB-4AC8-B636-7A6D3E654D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3288" y="2882900"/>
            <a:ext cx="29337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40EF112E-A0F7-4740-9050-3A2BDD336B1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2735263"/>
            <a:ext cx="28003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Down Arrow 9">
            <a:extLst>
              <a:ext uri="{FF2B5EF4-FFF2-40B4-BE49-F238E27FC236}">
                <a16:creationId xmlns:a16="http://schemas.microsoft.com/office/drawing/2014/main" id="{42DF4CF0-A5BB-434B-A8AD-84A9A94C047A}"/>
              </a:ext>
            </a:extLst>
          </p:cNvPr>
          <p:cNvSpPr/>
          <p:nvPr/>
        </p:nvSpPr>
        <p:spPr>
          <a:xfrm>
            <a:off x="3348038" y="2219325"/>
            <a:ext cx="360362" cy="6635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cxnSp>
        <p:nvCxnSpPr>
          <p:cNvPr id="12" name="Straight Connector 11">
            <a:extLst>
              <a:ext uri="{FF2B5EF4-FFF2-40B4-BE49-F238E27FC236}">
                <a16:creationId xmlns:a16="http://schemas.microsoft.com/office/drawing/2014/main" id="{A1F01CD0-7734-4305-A522-23598D4F6C1D}"/>
              </a:ext>
            </a:extLst>
          </p:cNvPr>
          <p:cNvCxnSpPr>
            <a:stCxn id="8" idx="2"/>
          </p:cNvCxnSpPr>
          <p:nvPr/>
        </p:nvCxnSpPr>
        <p:spPr>
          <a:xfrm>
            <a:off x="2370138" y="3597275"/>
            <a:ext cx="1033462" cy="8826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31B4917-8257-4000-B6F6-96251EF680C3}"/>
              </a:ext>
            </a:extLst>
          </p:cNvPr>
          <p:cNvCxnSpPr/>
          <p:nvPr/>
        </p:nvCxnSpPr>
        <p:spPr>
          <a:xfrm flipH="1">
            <a:off x="3732213" y="3770313"/>
            <a:ext cx="1847850" cy="738187"/>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528FCF53-E616-46AB-BA5B-EA29F1D2E89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673475" y="3735388"/>
            <a:ext cx="6858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5">
            <a:extLst>
              <a:ext uri="{FF2B5EF4-FFF2-40B4-BE49-F238E27FC236}">
                <a16:creationId xmlns:a16="http://schemas.microsoft.com/office/drawing/2014/main" id="{6E543B8D-1EA8-422C-AAEE-362C545A484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522538" y="4508500"/>
            <a:ext cx="241935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a:extLst>
              <a:ext uri="{FF2B5EF4-FFF2-40B4-BE49-F238E27FC236}">
                <a16:creationId xmlns:a16="http://schemas.microsoft.com/office/drawing/2014/main" id="{C48BCE4C-99BC-4004-A03D-5EFFA6BE1E37}"/>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198563" y="3868738"/>
            <a:ext cx="14859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a:extLst>
              <a:ext uri="{FF2B5EF4-FFF2-40B4-BE49-F238E27FC236}">
                <a16:creationId xmlns:a16="http://schemas.microsoft.com/office/drawing/2014/main" id="{8D2A3BDF-EE79-4844-BBD4-10E102E4CE0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426075" y="4122738"/>
            <a:ext cx="153352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Arc 18">
            <a:extLst>
              <a:ext uri="{FF2B5EF4-FFF2-40B4-BE49-F238E27FC236}">
                <a16:creationId xmlns:a16="http://schemas.microsoft.com/office/drawing/2014/main" id="{385FAD26-2D01-4AF2-9E9E-E13AAF6E99D1}"/>
              </a:ext>
            </a:extLst>
          </p:cNvPr>
          <p:cNvSpPr/>
          <p:nvPr/>
        </p:nvSpPr>
        <p:spPr>
          <a:xfrm rot="14442669">
            <a:off x="183356" y="3598069"/>
            <a:ext cx="2841625" cy="2160588"/>
          </a:xfrm>
          <a:prstGeom prst="arc">
            <a:avLst>
              <a:gd name="adj1" fmla="val 10694956"/>
              <a:gd name="adj2" fmla="val 0"/>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IN"/>
          </a:p>
        </p:txBody>
      </p:sp>
      <p:sp>
        <p:nvSpPr>
          <p:cNvPr id="20" name="Arc 19">
            <a:extLst>
              <a:ext uri="{FF2B5EF4-FFF2-40B4-BE49-F238E27FC236}">
                <a16:creationId xmlns:a16="http://schemas.microsoft.com/office/drawing/2014/main" id="{23EE12A5-A586-4F2B-9F5E-9F97ED628E90}"/>
              </a:ext>
            </a:extLst>
          </p:cNvPr>
          <p:cNvSpPr/>
          <p:nvPr/>
        </p:nvSpPr>
        <p:spPr>
          <a:xfrm rot="14442669">
            <a:off x="1316038" y="4344988"/>
            <a:ext cx="1743075" cy="1444625"/>
          </a:xfrm>
          <a:prstGeom prst="arc">
            <a:avLst>
              <a:gd name="adj1" fmla="val 11568487"/>
              <a:gd name="adj2" fmla="val 0"/>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IN"/>
          </a:p>
        </p:txBody>
      </p:sp>
      <p:cxnSp>
        <p:nvCxnSpPr>
          <p:cNvPr id="22" name="Straight Connector 21">
            <a:extLst>
              <a:ext uri="{FF2B5EF4-FFF2-40B4-BE49-F238E27FC236}">
                <a16:creationId xmlns:a16="http://schemas.microsoft.com/office/drawing/2014/main" id="{EE166D44-4A00-4500-B7C8-3E54CEC17B89}"/>
              </a:ext>
            </a:extLst>
          </p:cNvPr>
          <p:cNvCxnSpPr>
            <a:endCxn id="24" idx="0"/>
          </p:cNvCxnSpPr>
          <p:nvPr/>
        </p:nvCxnSpPr>
        <p:spPr>
          <a:xfrm flipH="1">
            <a:off x="2185988" y="5327650"/>
            <a:ext cx="873125" cy="788988"/>
          </a:xfrm>
          <a:prstGeom prst="line">
            <a:avLst/>
          </a:prstGeom>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83D70F31-BFAE-44FC-9282-3312096CA3F2}"/>
              </a:ext>
            </a:extLst>
          </p:cNvPr>
          <p:cNvSpPr/>
          <p:nvPr/>
        </p:nvSpPr>
        <p:spPr>
          <a:xfrm rot="7036611">
            <a:off x="1842295" y="2326481"/>
            <a:ext cx="3033712" cy="4803775"/>
          </a:xfrm>
          <a:prstGeom prst="arc">
            <a:avLst>
              <a:gd name="adj1" fmla="val 14677261"/>
              <a:gd name="adj2" fmla="val 930546"/>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IN"/>
          </a:p>
        </p:txBody>
      </p:sp>
      <p:pic>
        <p:nvPicPr>
          <p:cNvPr id="24" name="Picture 23">
            <a:extLst>
              <a:ext uri="{FF2B5EF4-FFF2-40B4-BE49-F238E27FC236}">
                <a16:creationId xmlns:a16="http://schemas.microsoft.com/office/drawing/2014/main" id="{5E7EEAB4-F208-473D-B28C-8E75801227DE}"/>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1181100" y="6116638"/>
            <a:ext cx="20097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5">
            <a:extLst>
              <a:ext uri="{FF2B5EF4-FFF2-40B4-BE49-F238E27FC236}">
                <a16:creationId xmlns:a16="http://schemas.microsoft.com/office/drawing/2014/main" id="{90EA8CEC-9A16-4858-8C1A-D6CE83BEBE84}"/>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951538" y="5697538"/>
            <a:ext cx="419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Arc 26">
            <a:extLst>
              <a:ext uri="{FF2B5EF4-FFF2-40B4-BE49-F238E27FC236}">
                <a16:creationId xmlns:a16="http://schemas.microsoft.com/office/drawing/2014/main" id="{EB32B411-7FDA-4D4B-BF47-01C4D43B501F}"/>
              </a:ext>
            </a:extLst>
          </p:cNvPr>
          <p:cNvSpPr/>
          <p:nvPr/>
        </p:nvSpPr>
        <p:spPr>
          <a:xfrm rot="7674709">
            <a:off x="2870994" y="4144169"/>
            <a:ext cx="3506788" cy="2635250"/>
          </a:xfrm>
          <a:prstGeom prst="arc">
            <a:avLst>
              <a:gd name="adj1" fmla="val 14677261"/>
              <a:gd name="adj2" fmla="val 1307799"/>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inVertical)">
                                      <p:cBhvr>
                                        <p:cTn id="14" dur="500"/>
                                        <p:tgtEl>
                                          <p:spTgt spid="10"/>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6" presetClass="entr" presetSubtype="16"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circle(in)">
                                      <p:cBhvr>
                                        <p:cTn id="24" dur="2000"/>
                                        <p:tgtEl>
                                          <p:spTgt spid="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down)">
                                      <p:cBhvr>
                                        <p:cTn id="35" dur="500"/>
                                        <p:tgtEl>
                                          <p:spTgt spid="1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2" presetClass="entr" presetSubtype="0" fill="hold"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6" presetClass="entr" presetSubtype="16"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circle(in)">
                                      <p:cBhvr>
                                        <p:cTn id="47" dur="2000"/>
                                        <p:tgtEl>
                                          <p:spTgt spid="1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21"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barn(inVertical)">
                                      <p:cBhvr>
                                        <p:cTn id="52" dur="500"/>
                                        <p:tgtEl>
                                          <p:spTgt spid="1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21" fill="hold"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barn(inVertical)">
                                      <p:cBhvr>
                                        <p:cTn id="57" dur="500"/>
                                        <p:tgtEl>
                                          <p:spTgt spid="1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2"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1000"/>
                                        <p:tgtEl>
                                          <p:spTgt spid="19"/>
                                        </p:tgtEl>
                                      </p:cBhvr>
                                    </p:animEffect>
                                    <p:anim calcmode="lin" valueType="num">
                                      <p:cBhvr>
                                        <p:cTn id="63" dur="1000" fill="hold"/>
                                        <p:tgtEl>
                                          <p:spTgt spid="19"/>
                                        </p:tgtEl>
                                        <p:attrNameLst>
                                          <p:attrName>ppt_x</p:attrName>
                                        </p:attrNameLst>
                                      </p:cBhvr>
                                      <p:tavLst>
                                        <p:tav tm="0">
                                          <p:val>
                                            <p:strVal val="#ppt_x"/>
                                          </p:val>
                                        </p:tav>
                                        <p:tav tm="100000">
                                          <p:val>
                                            <p:strVal val="#ppt_x"/>
                                          </p:val>
                                        </p:tav>
                                      </p:tavLst>
                                    </p:anim>
                                    <p:anim calcmode="lin" valueType="num">
                                      <p:cBhvr>
                                        <p:cTn id="6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6" presetClass="entr" presetSubtype="21" fill="hold"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barn(inVertical)">
                                      <p:cBhvr>
                                        <p:cTn id="69" dur="500"/>
                                        <p:tgtEl>
                                          <p:spTgt spid="2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wipe(down)">
                                      <p:cBhvr>
                                        <p:cTn id="74" dur="500"/>
                                        <p:tgtEl>
                                          <p:spTgt spid="22"/>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42" presetClass="entr" presetSubtype="0"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fade">
                                      <p:cBhvr>
                                        <p:cTn id="79" dur="1000"/>
                                        <p:tgtEl>
                                          <p:spTgt spid="23"/>
                                        </p:tgtEl>
                                      </p:cBhvr>
                                    </p:animEffect>
                                    <p:anim calcmode="lin" valueType="num">
                                      <p:cBhvr>
                                        <p:cTn id="80" dur="1000" fill="hold"/>
                                        <p:tgtEl>
                                          <p:spTgt spid="23"/>
                                        </p:tgtEl>
                                        <p:attrNameLst>
                                          <p:attrName>ppt_x</p:attrName>
                                        </p:attrNameLst>
                                      </p:cBhvr>
                                      <p:tavLst>
                                        <p:tav tm="0">
                                          <p:val>
                                            <p:strVal val="#ppt_x"/>
                                          </p:val>
                                        </p:tav>
                                        <p:tav tm="100000">
                                          <p:val>
                                            <p:strVal val="#ppt_x"/>
                                          </p:val>
                                        </p:tav>
                                      </p:tavLst>
                                    </p:anim>
                                    <p:anim calcmode="lin" valueType="num">
                                      <p:cBhvr>
                                        <p:cTn id="8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42" presetClass="entr" presetSubtype="0" fill="hold" nodeType="click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1000"/>
                                        <p:tgtEl>
                                          <p:spTgt spid="24"/>
                                        </p:tgtEl>
                                      </p:cBhvr>
                                    </p:animEffect>
                                    <p:anim calcmode="lin" valueType="num">
                                      <p:cBhvr>
                                        <p:cTn id="87" dur="1000" fill="hold"/>
                                        <p:tgtEl>
                                          <p:spTgt spid="24"/>
                                        </p:tgtEl>
                                        <p:attrNameLst>
                                          <p:attrName>ppt_x</p:attrName>
                                        </p:attrNameLst>
                                      </p:cBhvr>
                                      <p:tavLst>
                                        <p:tav tm="0">
                                          <p:val>
                                            <p:strVal val="#ppt_x"/>
                                          </p:val>
                                        </p:tav>
                                        <p:tav tm="100000">
                                          <p:val>
                                            <p:strVal val="#ppt_x"/>
                                          </p:val>
                                        </p:tav>
                                      </p:tavLst>
                                    </p:anim>
                                    <p:anim calcmode="lin" valueType="num">
                                      <p:cBhvr>
                                        <p:cTn id="8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4" fill="hold" nodeType="clickEffect">
                                  <p:stCondLst>
                                    <p:cond delay="0"/>
                                  </p:stCondLst>
                                  <p:childTnLst>
                                    <p:set>
                                      <p:cBhvr>
                                        <p:cTn id="92" dur="1" fill="hold">
                                          <p:stCondLst>
                                            <p:cond delay="0"/>
                                          </p:stCondLst>
                                        </p:cTn>
                                        <p:tgtEl>
                                          <p:spTgt spid="26"/>
                                        </p:tgtEl>
                                        <p:attrNameLst>
                                          <p:attrName>style.visibility</p:attrName>
                                        </p:attrNameLst>
                                      </p:cBhvr>
                                      <p:to>
                                        <p:strVal val="visible"/>
                                      </p:to>
                                    </p:set>
                                    <p:anim calcmode="lin" valueType="num">
                                      <p:cBhvr additive="base">
                                        <p:cTn id="93" dur="500" fill="hold"/>
                                        <p:tgtEl>
                                          <p:spTgt spid="26"/>
                                        </p:tgtEl>
                                        <p:attrNameLst>
                                          <p:attrName>ppt_x</p:attrName>
                                        </p:attrNameLst>
                                      </p:cBhvr>
                                      <p:tavLst>
                                        <p:tav tm="0">
                                          <p:val>
                                            <p:strVal val="#ppt_x"/>
                                          </p:val>
                                        </p:tav>
                                        <p:tav tm="100000">
                                          <p:val>
                                            <p:strVal val="#ppt_x"/>
                                          </p:val>
                                        </p:tav>
                                      </p:tavLst>
                                    </p:anim>
                                    <p:anim calcmode="lin" valueType="num">
                                      <p:cBhvr additive="base">
                                        <p:cTn id="9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42" presetClass="entr" presetSubtype="0" fill="hold" nodeType="click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1000"/>
                                        <p:tgtEl>
                                          <p:spTgt spid="27"/>
                                        </p:tgtEl>
                                      </p:cBhvr>
                                    </p:animEffect>
                                    <p:anim calcmode="lin" valueType="num">
                                      <p:cBhvr>
                                        <p:cTn id="100" dur="1000" fill="hold"/>
                                        <p:tgtEl>
                                          <p:spTgt spid="27"/>
                                        </p:tgtEl>
                                        <p:attrNameLst>
                                          <p:attrName>ppt_x</p:attrName>
                                        </p:attrNameLst>
                                      </p:cBhvr>
                                      <p:tavLst>
                                        <p:tav tm="0">
                                          <p:val>
                                            <p:strVal val="#ppt_x"/>
                                          </p:val>
                                        </p:tav>
                                        <p:tav tm="100000">
                                          <p:val>
                                            <p:strVal val="#ppt_x"/>
                                          </p:val>
                                        </p:tav>
                                      </p:tavLst>
                                    </p:anim>
                                    <p:anim calcmode="lin" valueType="num">
                                      <p:cBhvr>
                                        <p:cTn id="10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7">
            <a:extLst>
              <a:ext uri="{FF2B5EF4-FFF2-40B4-BE49-F238E27FC236}">
                <a16:creationId xmlns:a16="http://schemas.microsoft.com/office/drawing/2014/main" id="{0B40776F-61AE-4440-BF6D-12E2B414E38D}"/>
              </a:ext>
            </a:extLst>
          </p:cNvPr>
          <p:cNvPicPr>
            <a:picLocks noChangeAspect="1"/>
          </p:cNvPicPr>
          <p:nvPr/>
        </p:nvPicPr>
        <p:blipFill>
          <a:blip r:embed="rId2">
            <a:extLst>
              <a:ext uri="{28A0092B-C50C-407E-A947-70E740481C1C}">
                <a14:useLocalDpi xmlns:a14="http://schemas.microsoft.com/office/drawing/2010/main" val="0"/>
              </a:ext>
            </a:extLst>
          </a:blip>
          <a:srcRect t="32150" b="15350"/>
          <a:stretch>
            <a:fillRect/>
          </a:stretch>
        </p:blipFill>
        <p:spPr bwMode="auto">
          <a:xfrm>
            <a:off x="900113" y="1412875"/>
            <a:ext cx="6848475"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Title 1">
            <a:extLst>
              <a:ext uri="{FF2B5EF4-FFF2-40B4-BE49-F238E27FC236}">
                <a16:creationId xmlns:a16="http://schemas.microsoft.com/office/drawing/2014/main" id="{EF8D7C2E-2A23-4C34-BEDA-193E7CE884E7}"/>
              </a:ext>
            </a:extLst>
          </p:cNvPr>
          <p:cNvSpPr>
            <a:spLocks noGrp="1" noChangeArrowheads="1"/>
          </p:cNvSpPr>
          <p:nvPr>
            <p:ph type="title"/>
          </p:nvPr>
        </p:nvSpPr>
        <p:spPr>
          <a:xfrm>
            <a:off x="611188" y="53975"/>
            <a:ext cx="7772400" cy="1143000"/>
          </a:xfrm>
        </p:spPr>
        <p:txBody>
          <a:bodyPr/>
          <a:lstStyle/>
          <a:p>
            <a:pPr eaLnBrk="1" hangingPunct="1"/>
            <a:r>
              <a:rPr lang="en-US" altLang="en-US"/>
              <a:t>Backward Chaning </a:t>
            </a:r>
            <a:endParaRPr lang="en-I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FD6BD76-336C-42B9-AEC6-755F77121321}"/>
              </a:ext>
            </a:extLst>
          </p:cNvPr>
          <p:cNvSpPr>
            <a:spLocks noGrp="1" noChangeArrowheads="1"/>
          </p:cNvSpPr>
          <p:nvPr>
            <p:ph type="title"/>
          </p:nvPr>
        </p:nvSpPr>
        <p:spPr>
          <a:xfrm>
            <a:off x="0" y="115888"/>
            <a:ext cx="7772400" cy="1143000"/>
          </a:xfrm>
        </p:spPr>
        <p:txBody>
          <a:bodyPr/>
          <a:lstStyle/>
          <a:p>
            <a:pPr eaLnBrk="1" hangingPunct="1"/>
            <a:r>
              <a:rPr lang="en-US" altLang="en-US">
                <a:latin typeface="Cambria" panose="02040503050406030204" pitchFamily="18" charset="0"/>
                <a:ea typeface="Cambria" panose="02040503050406030204" pitchFamily="18" charset="0"/>
                <a:cs typeface="Cambria" panose="02040503050406030204" pitchFamily="18" charset="0"/>
              </a:rPr>
              <a:t>Generalized Modus Ponens</a:t>
            </a:r>
          </a:p>
        </p:txBody>
      </p:sp>
      <p:sp>
        <p:nvSpPr>
          <p:cNvPr id="11267" name="Content Placeholder 2">
            <a:extLst>
              <a:ext uri="{FF2B5EF4-FFF2-40B4-BE49-F238E27FC236}">
                <a16:creationId xmlns:a16="http://schemas.microsoft.com/office/drawing/2014/main" id="{2A0C6974-E1D1-4499-8FC5-D55E3CAC8721}"/>
              </a:ext>
            </a:extLst>
          </p:cNvPr>
          <p:cNvSpPr>
            <a:spLocks noGrp="1" noChangeArrowheads="1"/>
          </p:cNvSpPr>
          <p:nvPr>
            <p:ph idx="1"/>
          </p:nvPr>
        </p:nvSpPr>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Generalized Modus Ponens</a:t>
            </a:r>
          </a:p>
          <a:p>
            <a:pPr lvl="1" eaLnBrk="1" hangingPunct="1"/>
            <a:r>
              <a:rPr lang="en-US" altLang="en-US">
                <a:latin typeface="Cambria" panose="02040503050406030204" pitchFamily="18" charset="0"/>
                <a:ea typeface="Cambria" panose="02040503050406030204" pitchFamily="18" charset="0"/>
                <a:cs typeface="Cambria" panose="02040503050406030204" pitchFamily="18" charset="0"/>
              </a:rPr>
              <a:t>For atomic sentences p</a:t>
            </a:r>
            <a:r>
              <a:rPr lang="en-US" altLang="en-US" baseline="-25000">
                <a:latin typeface="Cambria" panose="02040503050406030204" pitchFamily="18" charset="0"/>
                <a:ea typeface="Cambria" panose="02040503050406030204" pitchFamily="18" charset="0"/>
                <a:cs typeface="Cambria" panose="02040503050406030204" pitchFamily="18" charset="0"/>
              </a:rPr>
              <a:t>i</a:t>
            </a:r>
            <a:r>
              <a:rPr lang="en-US" altLang="en-US">
                <a:latin typeface="Cambria" panose="02040503050406030204" pitchFamily="18" charset="0"/>
                <a:ea typeface="Cambria" panose="02040503050406030204" pitchFamily="18" charset="0"/>
                <a:cs typeface="Cambria" panose="02040503050406030204" pitchFamily="18" charset="0"/>
              </a:rPr>
              <a:t>, p</a:t>
            </a:r>
            <a:r>
              <a:rPr lang="en-US" altLang="en-US" baseline="-25000">
                <a:latin typeface="Cambria" panose="02040503050406030204" pitchFamily="18" charset="0"/>
                <a:ea typeface="Cambria" panose="02040503050406030204" pitchFamily="18" charset="0"/>
                <a:cs typeface="Cambria" panose="02040503050406030204" pitchFamily="18" charset="0"/>
              </a:rPr>
              <a:t>i</a:t>
            </a:r>
            <a:r>
              <a:rPr lang="en-US" altLang="en-US">
                <a:latin typeface="Cambria" panose="02040503050406030204" pitchFamily="18" charset="0"/>
                <a:ea typeface="Cambria" panose="02040503050406030204" pitchFamily="18" charset="0"/>
                <a:cs typeface="Cambria" panose="02040503050406030204" pitchFamily="18" charset="0"/>
              </a:rPr>
              <a:t>’, and q, where there is a substitution </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such that SUBST(, p</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SUBST(, p</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a:t>
            </a:r>
          </a:p>
          <a:p>
            <a:pPr lvl="1" eaLnBrk="1" hangingPunct="1">
              <a:buFontTx/>
              <a:buNone/>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for all i:</a:t>
            </a:r>
          </a:p>
          <a:p>
            <a:pPr lvl="1"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a:t>
            </a:r>
            <a:endParaRPr lang="en-US" altLang="en-US" sz="2000">
              <a:latin typeface="Cambria" panose="02040503050406030204" pitchFamily="18" charset="0"/>
              <a:ea typeface="Cambria" panose="02040503050406030204" pitchFamily="18" charset="0"/>
              <a:cs typeface="Cambria" panose="02040503050406030204" pitchFamily="18" charset="0"/>
            </a:endParaRPr>
          </a:p>
          <a:p>
            <a:endParaRPr lang="en-IN" altLang="en-US"/>
          </a:p>
        </p:txBody>
      </p:sp>
      <p:graphicFrame>
        <p:nvGraphicFramePr>
          <p:cNvPr id="11268" name="Object 4">
            <a:extLst>
              <a:ext uri="{FF2B5EF4-FFF2-40B4-BE49-F238E27FC236}">
                <a16:creationId xmlns:a16="http://schemas.microsoft.com/office/drawing/2014/main" id="{7BC0B646-6623-4CAC-AA5F-290CF76A846E}"/>
              </a:ext>
            </a:extLst>
          </p:cNvPr>
          <p:cNvGraphicFramePr>
            <a:graphicFrameLocks noChangeAspect="1"/>
          </p:cNvGraphicFramePr>
          <p:nvPr/>
        </p:nvGraphicFramePr>
        <p:xfrm>
          <a:off x="1979613" y="4365625"/>
          <a:ext cx="4876800" cy="914400"/>
        </p:xfrm>
        <a:graphic>
          <a:graphicData uri="http://schemas.openxmlformats.org/presentationml/2006/ole">
            <mc:AlternateContent xmlns:mc="http://schemas.openxmlformats.org/markup-compatibility/2006">
              <mc:Choice xmlns:v="urn:schemas-microsoft-com:vml" Requires="v">
                <p:oleObj spid="_x0000_s11275" name="Equation" r:id="rId3" imgW="2235200" imgH="419100" progId="Equation.3">
                  <p:embed/>
                </p:oleObj>
              </mc:Choice>
              <mc:Fallback>
                <p:oleObj name="Equation" r:id="rId3" imgW="22352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4365625"/>
                        <a:ext cx="48768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a:extLst>
              <a:ext uri="{FF2B5EF4-FFF2-40B4-BE49-F238E27FC236}">
                <a16:creationId xmlns:a16="http://schemas.microsoft.com/office/drawing/2014/main" id="{9FDA132C-431B-4B64-BFCB-E3373A1E2008}"/>
              </a:ext>
            </a:extLst>
          </p:cNvPr>
          <p:cNvSpPr>
            <a:spLocks noChangeArrowheads="1"/>
          </p:cNvSpPr>
          <p:nvPr/>
        </p:nvSpPr>
        <p:spPr bwMode="auto">
          <a:xfrm>
            <a:off x="395288"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spcBef>
                <a:spcPct val="0"/>
              </a:spcBef>
              <a:buFontTx/>
              <a:buNone/>
            </a:pPr>
            <a:r>
              <a:rPr lang="en-US" altLang="en-US" sz="3200">
                <a:solidFill>
                  <a:schemeClr val="tx2"/>
                </a:solidFill>
                <a:latin typeface="Cambria" panose="02040503050406030204" pitchFamily="18" charset="0"/>
                <a:ea typeface="Cambria" panose="02040503050406030204" pitchFamily="18" charset="0"/>
                <a:cs typeface="Cambria" panose="02040503050406030204" pitchFamily="18" charset="0"/>
              </a:rPr>
              <a:t>Unification</a:t>
            </a:r>
          </a:p>
        </p:txBody>
      </p:sp>
      <p:sp>
        <p:nvSpPr>
          <p:cNvPr id="12291" name="Rectangle 7">
            <a:extLst>
              <a:ext uri="{FF2B5EF4-FFF2-40B4-BE49-F238E27FC236}">
                <a16:creationId xmlns:a16="http://schemas.microsoft.com/office/drawing/2014/main" id="{5C5ACDE9-DE91-4400-9602-4E2EBD8839C6}"/>
              </a:ext>
            </a:extLst>
          </p:cNvPr>
          <p:cNvSpPr>
            <a:spLocks noChangeArrowheads="1"/>
          </p:cNvSpPr>
          <p:nvPr/>
        </p:nvSpPr>
        <p:spPr bwMode="auto">
          <a:xfrm>
            <a:off x="395288" y="1676400"/>
            <a:ext cx="8215312"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eaLnBrk="1" hangingPunct="1">
              <a:buFontTx/>
              <a:buNone/>
            </a:pPr>
            <a:r>
              <a:rPr lang="en-US" altLang="en-US" sz="2400">
                <a:latin typeface="Cambria" panose="02040503050406030204" pitchFamily="18" charset="0"/>
                <a:ea typeface="Cambria" panose="02040503050406030204" pitchFamily="18" charset="0"/>
                <a:cs typeface="Cambria" panose="02040503050406030204" pitchFamily="18" charset="0"/>
              </a:rPr>
              <a:t>UNIFY(p,q) = </a:t>
            </a:r>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where SUBST(,p) = SUBST(,q)</a:t>
            </a:r>
          </a:p>
          <a:p>
            <a:pPr eaLnBrk="1" hangingPunct="1">
              <a:buFontTx/>
              <a:buNone/>
            </a:pPr>
            <a:endPar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Examples:</a:t>
            </a:r>
          </a:p>
          <a:p>
            <a:pPr lvl="1" eaLnBrk="1" hangingPunct="1">
              <a:buFontTx/>
              <a:buChar char="•"/>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UNIFY( Knows(Erdos, x), Knows(Erdos, Godel)) = {x / Godel}</a:t>
            </a:r>
          </a:p>
          <a:p>
            <a:pPr lvl="1" eaLnBrk="1" hangingPunct="1">
              <a:buFontTx/>
              <a:buChar char="•"/>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UNIFY( Knows(Erdos, x), Knows(y,Godel)) = {x/Godel, y/Erdos}</a:t>
            </a:r>
          </a:p>
          <a:p>
            <a:pPr lvl="1" eaLnBrk="1" hangingPunct="1">
              <a:buFontTx/>
              <a:buChar char="•"/>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UNIFY( Knows(Erdos, x), Knows(y, Father(y)))</a:t>
            </a:r>
          </a:p>
          <a:p>
            <a:pPr lvl="1" eaLnBrk="1" hangingPunct="1">
              <a:buFontTx/>
              <a:buNone/>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 y/Erdos, x/Father(Erdos) }</a:t>
            </a:r>
          </a:p>
          <a:p>
            <a:pPr lvl="1" eaLnBrk="1" hangingPunct="1">
              <a:buFontTx/>
              <a:buChar char="•"/>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UNIFY( Knows(Erdos, x), Knows(x, Godel)) = fail</a:t>
            </a:r>
          </a:p>
          <a:p>
            <a:pPr lvl="1" eaLnBrk="1" hangingPunct="1">
              <a:buFontTx/>
              <a:buNone/>
            </a:pPr>
            <a:endPar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41ED7BEB-B646-4A37-A960-58A74CB958B1}"/>
              </a:ext>
            </a:extLst>
          </p:cNvPr>
          <p:cNvSpPr>
            <a:spLocks noGrp="1" noChangeArrowheads="1"/>
          </p:cNvSpPr>
          <p:nvPr>
            <p:ph type="title"/>
          </p:nvPr>
        </p:nvSpPr>
        <p:spPr/>
        <p:txBody>
          <a:bodyPr/>
          <a:lstStyle/>
          <a:p>
            <a:r>
              <a:rPr lang="en-US" altLang="en-US"/>
              <a:t>Example knowledge base</a:t>
            </a:r>
          </a:p>
        </p:txBody>
      </p:sp>
      <p:sp>
        <p:nvSpPr>
          <p:cNvPr id="13315" name="Rectangle 3">
            <a:extLst>
              <a:ext uri="{FF2B5EF4-FFF2-40B4-BE49-F238E27FC236}">
                <a16:creationId xmlns:a16="http://schemas.microsoft.com/office/drawing/2014/main" id="{7714FF02-583E-4023-A0E2-85B5EEC27D5D}"/>
              </a:ext>
            </a:extLst>
          </p:cNvPr>
          <p:cNvSpPr>
            <a:spLocks noGrp="1" noChangeArrowheads="1"/>
          </p:cNvSpPr>
          <p:nvPr>
            <p:ph type="body" idx="1"/>
          </p:nvPr>
        </p:nvSpPr>
        <p:spPr/>
        <p:txBody>
          <a:bodyPr/>
          <a:lstStyle/>
          <a:p>
            <a:r>
              <a:rPr lang="en-US" altLang="en-US" sz="2400"/>
              <a:t>The law says that it is a crime for an American to sell weapons to hostile nations.  The country Nono, an enemy of America, has some missiles, and all of its missiles were sold to it by Colonel West, who is American.</a:t>
            </a:r>
          </a:p>
          <a:p>
            <a:pPr lvl="4"/>
            <a:endParaRPr lang="en-US" altLang="en-US" sz="1600"/>
          </a:p>
          <a:p>
            <a:r>
              <a:rPr lang="en-US" altLang="en-US" sz="2400"/>
              <a:t>Prove that Col. West is a criminal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5EB803C-4AD8-488E-A451-DA6E2CD58BDC}"/>
              </a:ext>
            </a:extLst>
          </p:cNvPr>
          <p:cNvSpPr>
            <a:spLocks noGrp="1" noChangeArrowheads="1"/>
          </p:cNvSpPr>
          <p:nvPr>
            <p:ph type="title"/>
          </p:nvPr>
        </p:nvSpPr>
        <p:spPr/>
        <p:txBody>
          <a:bodyPr/>
          <a:lstStyle/>
          <a:p>
            <a:r>
              <a:rPr lang="en-US" altLang="en-US"/>
              <a:t>Example knowledge base</a:t>
            </a:r>
          </a:p>
        </p:txBody>
      </p:sp>
      <p:sp>
        <p:nvSpPr>
          <p:cNvPr id="22531" name="Rectangle 3">
            <a:extLst>
              <a:ext uri="{FF2B5EF4-FFF2-40B4-BE49-F238E27FC236}">
                <a16:creationId xmlns:a16="http://schemas.microsoft.com/office/drawing/2014/main" id="{2028F045-3DD3-485E-B4B8-7226D2AB1876}"/>
              </a:ext>
            </a:extLst>
          </p:cNvPr>
          <p:cNvSpPr>
            <a:spLocks noGrp="1" noChangeArrowheads="1"/>
          </p:cNvSpPr>
          <p:nvPr>
            <p:ph type="body" idx="1"/>
          </p:nvPr>
        </p:nvSpPr>
        <p:spPr>
          <a:xfrm>
            <a:off x="457200" y="1447800"/>
            <a:ext cx="8229600" cy="4525963"/>
          </a:xfrm>
        </p:spPr>
        <p:txBody>
          <a:bodyPr/>
          <a:lstStyle/>
          <a:p>
            <a:pPr>
              <a:buFontTx/>
              <a:buNone/>
            </a:pPr>
            <a:r>
              <a:rPr lang="en-US" altLang="en-US" sz="2000"/>
              <a:t>It is a crime for an American to sell weapons to hostile nations:</a:t>
            </a:r>
          </a:p>
          <a:p>
            <a:pPr lvl="1">
              <a:buFontTx/>
              <a:buNone/>
            </a:pPr>
            <a:r>
              <a:rPr lang="en-US" altLang="en-US" sz="1800">
                <a:solidFill>
                  <a:srgbClr val="CC0099"/>
                </a:solidFill>
              </a:rPr>
              <a:t>American(x) </a:t>
            </a:r>
            <a:r>
              <a:rPr lang="en-US" altLang="en-US" sz="1800">
                <a:solidFill>
                  <a:srgbClr val="CC0099"/>
                </a:solidFill>
                <a:sym typeface="Symbol" panose="05050102010706020507" pitchFamily="18" charset="2"/>
              </a:rPr>
              <a:t></a:t>
            </a:r>
            <a:r>
              <a:rPr lang="en-US" altLang="en-US" sz="1800">
                <a:solidFill>
                  <a:srgbClr val="CC0099"/>
                </a:solidFill>
              </a:rPr>
              <a:t> Weapon(y) </a:t>
            </a:r>
            <a:r>
              <a:rPr lang="en-US" altLang="en-US" sz="1800">
                <a:solidFill>
                  <a:srgbClr val="CC0099"/>
                </a:solidFill>
                <a:sym typeface="Symbol" panose="05050102010706020507" pitchFamily="18" charset="2"/>
              </a:rPr>
              <a:t></a:t>
            </a:r>
            <a:r>
              <a:rPr lang="en-US" altLang="en-US" sz="1800">
                <a:solidFill>
                  <a:srgbClr val="CC0099"/>
                </a:solidFill>
              </a:rPr>
              <a:t> Sells(x,y,z) </a:t>
            </a:r>
            <a:r>
              <a:rPr lang="en-US" altLang="en-US" sz="1800">
                <a:solidFill>
                  <a:srgbClr val="CC0099"/>
                </a:solidFill>
                <a:sym typeface="Symbol" panose="05050102010706020507" pitchFamily="18" charset="2"/>
              </a:rPr>
              <a:t></a:t>
            </a:r>
            <a:r>
              <a:rPr lang="en-US" altLang="en-US" sz="1800">
                <a:solidFill>
                  <a:srgbClr val="CC0099"/>
                </a:solidFill>
              </a:rPr>
              <a:t> Hostile(z) </a:t>
            </a:r>
            <a:r>
              <a:rPr lang="en-US" altLang="en-US" sz="1800">
                <a:solidFill>
                  <a:srgbClr val="CC0099"/>
                </a:solidFill>
                <a:sym typeface="Symbol" panose="05050102010706020507" pitchFamily="18" charset="2"/>
              </a:rPr>
              <a:t></a:t>
            </a:r>
            <a:r>
              <a:rPr lang="en-US" altLang="en-US" sz="1800">
                <a:solidFill>
                  <a:srgbClr val="CC0099"/>
                </a:solidFill>
              </a:rPr>
              <a:t> Criminal(x)</a:t>
            </a:r>
          </a:p>
          <a:p>
            <a:pPr>
              <a:buFontTx/>
              <a:buNone/>
            </a:pPr>
            <a:r>
              <a:rPr lang="en-US" altLang="en-US" sz="2000"/>
              <a:t>Nono has some missiles</a:t>
            </a:r>
          </a:p>
          <a:p>
            <a:pPr>
              <a:buFontTx/>
              <a:buNone/>
            </a:pPr>
            <a:r>
              <a:rPr lang="en-US" altLang="en-US" sz="2000">
                <a:cs typeface="Arial" panose="020B0604020202020204" pitchFamily="34" charset="0"/>
                <a:sym typeface="Symbol" panose="05050102010706020507" pitchFamily="18" charset="2"/>
              </a:rPr>
              <a:t>	  </a:t>
            </a:r>
            <a:r>
              <a:rPr lang="el-GR" altLang="en-US" sz="1800">
                <a:solidFill>
                  <a:srgbClr val="CC0099"/>
                </a:solidFill>
                <a:cs typeface="Arial" panose="020B0604020202020204" pitchFamily="34" charset="0"/>
                <a:sym typeface="Symbol" panose="05050102010706020507" pitchFamily="18" charset="2"/>
              </a:rPr>
              <a:t></a:t>
            </a:r>
            <a:r>
              <a:rPr lang="en-US" altLang="en-US" sz="1800">
                <a:solidFill>
                  <a:srgbClr val="CC0099"/>
                </a:solidFill>
              </a:rPr>
              <a:t>x Owns(Nono,x) </a:t>
            </a:r>
            <a:r>
              <a:rPr lang="en-US" altLang="en-US" sz="1800">
                <a:solidFill>
                  <a:srgbClr val="CC0099"/>
                </a:solidFill>
                <a:sym typeface="Symbol" panose="05050102010706020507" pitchFamily="18" charset="2"/>
              </a:rPr>
              <a:t></a:t>
            </a:r>
            <a:r>
              <a:rPr lang="en-US" altLang="en-US" sz="1800">
                <a:solidFill>
                  <a:srgbClr val="CC0099"/>
                </a:solidFill>
              </a:rPr>
              <a:t> Missile(x)</a:t>
            </a:r>
          </a:p>
          <a:p>
            <a:pPr lvl="1">
              <a:buFontTx/>
              <a:buNone/>
            </a:pPr>
            <a:r>
              <a:rPr lang="en-US" altLang="en-US" sz="1800">
                <a:solidFill>
                  <a:srgbClr val="CC0099"/>
                </a:solidFill>
              </a:rPr>
              <a:t>Owns(Nono,M</a:t>
            </a:r>
            <a:r>
              <a:rPr lang="en-US" altLang="en-US" sz="1800" baseline="-25000">
                <a:solidFill>
                  <a:srgbClr val="CC0099"/>
                </a:solidFill>
              </a:rPr>
              <a:t>1</a:t>
            </a:r>
            <a:r>
              <a:rPr lang="en-US" altLang="en-US" sz="1800">
                <a:solidFill>
                  <a:srgbClr val="CC0099"/>
                </a:solidFill>
              </a:rPr>
              <a:t>) </a:t>
            </a:r>
            <a:r>
              <a:rPr lang="en-US" altLang="en-US" sz="1800">
                <a:solidFill>
                  <a:srgbClr val="CC0099"/>
                </a:solidFill>
                <a:sym typeface="Symbol" panose="05050102010706020507" pitchFamily="18" charset="2"/>
              </a:rPr>
              <a:t></a:t>
            </a:r>
            <a:r>
              <a:rPr lang="en-US" altLang="en-US" sz="1800">
                <a:solidFill>
                  <a:srgbClr val="CC0099"/>
                </a:solidFill>
              </a:rPr>
              <a:t> Missile(M</a:t>
            </a:r>
            <a:r>
              <a:rPr lang="en-US" altLang="en-US" sz="1800" baseline="-25000">
                <a:solidFill>
                  <a:srgbClr val="CC0099"/>
                </a:solidFill>
              </a:rPr>
              <a:t>1</a:t>
            </a:r>
            <a:r>
              <a:rPr lang="en-US" altLang="en-US" sz="1800">
                <a:solidFill>
                  <a:srgbClr val="CC0099"/>
                </a:solidFill>
              </a:rPr>
              <a:t>)</a:t>
            </a:r>
          </a:p>
          <a:p>
            <a:pPr>
              <a:buFontTx/>
              <a:buNone/>
            </a:pPr>
            <a:r>
              <a:rPr lang="en-US" altLang="en-US" sz="2000"/>
              <a:t>All of its missiles were sold to it by Colonel West</a:t>
            </a:r>
          </a:p>
          <a:p>
            <a:pPr lvl="1">
              <a:buFontTx/>
              <a:buNone/>
            </a:pPr>
            <a:r>
              <a:rPr lang="en-US" altLang="en-US" sz="1800">
                <a:solidFill>
                  <a:srgbClr val="CC0099"/>
                </a:solidFill>
              </a:rPr>
              <a:t>Missile(x) </a:t>
            </a:r>
            <a:r>
              <a:rPr lang="en-US" altLang="en-US" sz="1800">
                <a:solidFill>
                  <a:srgbClr val="CC0099"/>
                </a:solidFill>
                <a:sym typeface="Symbol" panose="05050102010706020507" pitchFamily="18" charset="2"/>
              </a:rPr>
              <a:t></a:t>
            </a:r>
            <a:r>
              <a:rPr lang="en-US" altLang="en-US" sz="1800">
                <a:solidFill>
                  <a:srgbClr val="CC0099"/>
                </a:solidFill>
              </a:rPr>
              <a:t> Owns(Nono,x) </a:t>
            </a:r>
            <a:r>
              <a:rPr lang="en-US" altLang="en-US" sz="1800">
                <a:solidFill>
                  <a:srgbClr val="CC0099"/>
                </a:solidFill>
                <a:sym typeface="Symbol" panose="05050102010706020507" pitchFamily="18" charset="2"/>
              </a:rPr>
              <a:t></a:t>
            </a:r>
            <a:r>
              <a:rPr lang="en-US" altLang="en-US" sz="1800">
                <a:solidFill>
                  <a:srgbClr val="CC0099"/>
                </a:solidFill>
              </a:rPr>
              <a:t> Sells(West,x,Nono)</a:t>
            </a:r>
          </a:p>
          <a:p>
            <a:pPr>
              <a:buFontTx/>
              <a:buNone/>
            </a:pPr>
            <a:r>
              <a:rPr lang="en-US" altLang="en-US" sz="2000"/>
              <a:t>Missiles are weapons:</a:t>
            </a:r>
          </a:p>
          <a:p>
            <a:pPr lvl="1">
              <a:buFontTx/>
              <a:buNone/>
            </a:pPr>
            <a:r>
              <a:rPr lang="en-US" altLang="en-US" sz="1800">
                <a:solidFill>
                  <a:srgbClr val="CC0099"/>
                </a:solidFill>
              </a:rPr>
              <a:t>Missile(x) </a:t>
            </a:r>
            <a:r>
              <a:rPr lang="en-US" altLang="en-US" sz="1800">
                <a:solidFill>
                  <a:srgbClr val="CC0099"/>
                </a:solidFill>
                <a:sym typeface="Symbol" panose="05050102010706020507" pitchFamily="18" charset="2"/>
              </a:rPr>
              <a:t></a:t>
            </a:r>
            <a:r>
              <a:rPr lang="en-US" altLang="en-US" sz="1800">
                <a:solidFill>
                  <a:srgbClr val="CC0099"/>
                </a:solidFill>
              </a:rPr>
              <a:t> Weapon(x)</a:t>
            </a:r>
          </a:p>
          <a:p>
            <a:pPr>
              <a:buFontTx/>
              <a:buNone/>
            </a:pPr>
            <a:r>
              <a:rPr lang="en-US" altLang="en-US" sz="2000"/>
              <a:t>An enemy of America counts as “hostile”:</a:t>
            </a:r>
          </a:p>
          <a:p>
            <a:pPr lvl="1">
              <a:buFontTx/>
              <a:buNone/>
            </a:pPr>
            <a:r>
              <a:rPr lang="en-US" altLang="en-US" sz="1800">
                <a:solidFill>
                  <a:srgbClr val="CC0099"/>
                </a:solidFill>
              </a:rPr>
              <a:t>Enemy(x,America) </a:t>
            </a:r>
            <a:r>
              <a:rPr lang="en-US" altLang="en-US" sz="1800">
                <a:solidFill>
                  <a:srgbClr val="CC0099"/>
                </a:solidFill>
                <a:sym typeface="Symbol" panose="05050102010706020507" pitchFamily="18" charset="2"/>
              </a:rPr>
              <a:t></a:t>
            </a:r>
            <a:r>
              <a:rPr lang="en-US" altLang="en-US" sz="1800">
                <a:solidFill>
                  <a:srgbClr val="CC0099"/>
                </a:solidFill>
              </a:rPr>
              <a:t> Hostile(x)</a:t>
            </a:r>
          </a:p>
          <a:p>
            <a:pPr>
              <a:buFontTx/>
              <a:buNone/>
            </a:pPr>
            <a:r>
              <a:rPr lang="en-US" altLang="en-US" sz="2000"/>
              <a:t>West is American</a:t>
            </a:r>
          </a:p>
          <a:p>
            <a:pPr lvl="1">
              <a:buFontTx/>
              <a:buNone/>
            </a:pPr>
            <a:r>
              <a:rPr lang="en-US" altLang="en-US" sz="1800">
                <a:solidFill>
                  <a:srgbClr val="CC0099"/>
                </a:solidFill>
              </a:rPr>
              <a:t>American(West)</a:t>
            </a:r>
          </a:p>
          <a:p>
            <a:pPr>
              <a:buFontTx/>
              <a:buNone/>
            </a:pPr>
            <a:r>
              <a:rPr lang="en-US" altLang="en-US" sz="2000"/>
              <a:t>The country Nono is an enemy of America </a:t>
            </a:r>
          </a:p>
          <a:p>
            <a:pPr lvl="1">
              <a:buFontTx/>
              <a:buNone/>
            </a:pPr>
            <a:r>
              <a:rPr lang="en-US" altLang="en-US" sz="1800">
                <a:solidFill>
                  <a:srgbClr val="CC0099"/>
                </a:solidFill>
              </a:rPr>
              <a:t>Enemy(Nono,America)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53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53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531">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531">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531">
                                            <p:txEl>
                                              <p:pRg st="9" end="9"/>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531">
                                            <p:txEl>
                                              <p:pRg st="10" end="1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531">
                                            <p:txEl>
                                              <p:pRg st="11" end="11"/>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531">
                                            <p:txEl>
                                              <p:pRg st="12" end="12"/>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531">
                                            <p:txEl>
                                              <p:pRg st="13" end="13"/>
                                            </p:txEl>
                                          </p:spTgt>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531">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DEE7164-1F55-4699-8E7C-2415C413376E}"/>
              </a:ext>
            </a:extLst>
          </p:cNvPr>
          <p:cNvSpPr>
            <a:spLocks noGrp="1" noChangeArrowheads="1"/>
          </p:cNvSpPr>
          <p:nvPr>
            <p:ph type="title"/>
          </p:nvPr>
        </p:nvSpPr>
        <p:spPr/>
        <p:txBody>
          <a:bodyPr/>
          <a:lstStyle/>
          <a:p>
            <a:r>
              <a:rPr lang="en-US" altLang="en-US"/>
              <a:t>Forward chaining proof</a:t>
            </a:r>
          </a:p>
        </p:txBody>
      </p:sp>
      <p:pic>
        <p:nvPicPr>
          <p:cNvPr id="17411" name="Picture 5" descr="crime-fc1c">
            <a:extLst>
              <a:ext uri="{FF2B5EF4-FFF2-40B4-BE49-F238E27FC236}">
                <a16:creationId xmlns:a16="http://schemas.microsoft.com/office/drawing/2014/main" id="{11419F5D-650E-4FEB-B434-1E079B7640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81200"/>
            <a:ext cx="746760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0ACF55A-9C56-4930-B094-06D47276F4BB}"/>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591599A-A426-4330-899A-10ADFF32F5C3}"/>
              </a:ext>
            </a:extLst>
          </p:cNvPr>
          <p:cNvSpPr>
            <a:spLocks noGrp="1" noChangeArrowheads="1"/>
          </p:cNvSpPr>
          <p:nvPr>
            <p:ph type="title"/>
          </p:nvPr>
        </p:nvSpPr>
        <p:spPr/>
        <p:txBody>
          <a:bodyPr/>
          <a:lstStyle/>
          <a:p>
            <a:r>
              <a:rPr lang="en-US" altLang="en-US"/>
              <a:t>Forward chaining proof</a:t>
            </a:r>
          </a:p>
        </p:txBody>
      </p:sp>
      <p:pic>
        <p:nvPicPr>
          <p:cNvPr id="19459" name="Picture 5" descr="crime-fc2c">
            <a:extLst>
              <a:ext uri="{FF2B5EF4-FFF2-40B4-BE49-F238E27FC236}">
                <a16:creationId xmlns:a16="http://schemas.microsoft.com/office/drawing/2014/main" id="{B5AE182E-8072-43C4-A9F6-9BCC61365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81200"/>
            <a:ext cx="746760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B0E06B8A-22D9-4D77-A05F-79D7913F163F}"/>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B931B87-2E9D-4D3D-8DEB-EAF125383B37}"/>
              </a:ext>
            </a:extLst>
          </p:cNvPr>
          <p:cNvSpPr>
            <a:spLocks noGrp="1" noChangeArrowheads="1"/>
          </p:cNvSpPr>
          <p:nvPr>
            <p:ph type="title"/>
          </p:nvPr>
        </p:nvSpPr>
        <p:spPr/>
        <p:txBody>
          <a:bodyPr/>
          <a:lstStyle/>
          <a:p>
            <a:r>
              <a:rPr lang="en-US" altLang="en-US"/>
              <a:t>Forward chaining proof</a:t>
            </a:r>
          </a:p>
        </p:txBody>
      </p:sp>
      <p:pic>
        <p:nvPicPr>
          <p:cNvPr id="21507" name="Picture 5" descr="crime-fc3c">
            <a:extLst>
              <a:ext uri="{FF2B5EF4-FFF2-40B4-BE49-F238E27FC236}">
                <a16:creationId xmlns:a16="http://schemas.microsoft.com/office/drawing/2014/main" id="{105A3EAF-6B1E-4E03-B1BC-DC62F4D346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981200"/>
            <a:ext cx="746760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77A868C-CBA5-4337-A736-0C0163AFDCC5}"/>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209884B7-BE3A-42D0-9262-E8F78C7D936B}"/>
              </a:ext>
            </a:extLst>
          </p:cNvPr>
          <p:cNvSpPr>
            <a:spLocks noGrp="1" noChangeArrowheads="1"/>
          </p:cNvSpPr>
          <p:nvPr>
            <p:ph type="title"/>
          </p:nvPr>
        </p:nvSpPr>
        <p:spPr/>
        <p:txBody>
          <a:bodyPr/>
          <a:lstStyle/>
          <a:p>
            <a:r>
              <a:rPr lang="en-US" altLang="en-US"/>
              <a:t>Backward chaining example</a:t>
            </a:r>
          </a:p>
        </p:txBody>
      </p:sp>
      <p:pic>
        <p:nvPicPr>
          <p:cNvPr id="23555" name="Picture 4" descr="crime-bc01c">
            <a:extLst>
              <a:ext uri="{FF2B5EF4-FFF2-40B4-BE49-F238E27FC236}">
                <a16:creationId xmlns:a16="http://schemas.microsoft.com/office/drawing/2014/main" id="{ACEDEB3C-E9F5-4983-A4A0-2E000FD81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67818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9C525FDE-5EBA-4551-AEE0-7E0E886F735C}"/>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D6C3AA5-FABE-41A8-A3B8-249B24C8CDD4}"/>
              </a:ext>
            </a:extLst>
          </p:cNvPr>
          <p:cNvSpPr>
            <a:spLocks noGrp="1" noChangeArrowheads="1"/>
          </p:cNvSpPr>
          <p:nvPr>
            <p:ph type="title"/>
          </p:nvPr>
        </p:nvSpPr>
        <p:spPr/>
        <p:txBody>
          <a:bodyPr/>
          <a:lstStyle/>
          <a:p>
            <a:r>
              <a:rPr lang="en-US" altLang="en-US"/>
              <a:t>Backward chaining example</a:t>
            </a:r>
          </a:p>
        </p:txBody>
      </p:sp>
      <p:pic>
        <p:nvPicPr>
          <p:cNvPr id="25603" name="Picture 5" descr="crime-bc02c">
            <a:extLst>
              <a:ext uri="{FF2B5EF4-FFF2-40B4-BE49-F238E27FC236}">
                <a16:creationId xmlns:a16="http://schemas.microsoft.com/office/drawing/2014/main" id="{B47DF001-70E4-4D1C-9AC3-CE513E79A9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6858000"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CA96C2D-B394-410F-9B6E-928508F2DF0C}"/>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DDEDAB8-961A-498D-AA53-05ECAF02B8A6}"/>
              </a:ext>
            </a:extLst>
          </p:cNvPr>
          <p:cNvSpPr>
            <a:spLocks noGrp="1" noChangeArrowheads="1"/>
          </p:cNvSpPr>
          <p:nvPr>
            <p:ph type="title"/>
          </p:nvPr>
        </p:nvSpPr>
        <p:spPr/>
        <p:txBody>
          <a:bodyPr/>
          <a:lstStyle/>
          <a:p>
            <a:r>
              <a:rPr lang="en-US" altLang="en-US"/>
              <a:t>Backward chaining example</a:t>
            </a:r>
          </a:p>
        </p:txBody>
      </p:sp>
      <p:pic>
        <p:nvPicPr>
          <p:cNvPr id="27651" name="Picture 5" descr="crime-bc03c">
            <a:extLst>
              <a:ext uri="{FF2B5EF4-FFF2-40B4-BE49-F238E27FC236}">
                <a16:creationId xmlns:a16="http://schemas.microsoft.com/office/drawing/2014/main" id="{AD24666B-861B-4AD9-86F9-0E15E6B737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6858000"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7F468883-56F2-4B5C-BD1F-27EE2F88D2E8}"/>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56C02F19-B1C3-42A8-AED1-16700070C7D1}"/>
              </a:ext>
            </a:extLst>
          </p:cNvPr>
          <p:cNvSpPr>
            <a:spLocks noGrp="1" noChangeArrowheads="1"/>
          </p:cNvSpPr>
          <p:nvPr>
            <p:ph type="title"/>
          </p:nvPr>
        </p:nvSpPr>
        <p:spPr/>
        <p:txBody>
          <a:bodyPr/>
          <a:lstStyle/>
          <a:p>
            <a:r>
              <a:rPr lang="en-US" altLang="en-US"/>
              <a:t>Backward chaining example</a:t>
            </a:r>
          </a:p>
        </p:txBody>
      </p:sp>
      <p:pic>
        <p:nvPicPr>
          <p:cNvPr id="29699" name="Picture 3" descr="crime-bc01c">
            <a:extLst>
              <a:ext uri="{FF2B5EF4-FFF2-40B4-BE49-F238E27FC236}">
                <a16:creationId xmlns:a16="http://schemas.microsoft.com/office/drawing/2014/main" id="{D3A1936D-7AD9-46F8-B348-80AEA29B77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67818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0" name="Picture 5" descr="crime-bc05c">
            <a:extLst>
              <a:ext uri="{FF2B5EF4-FFF2-40B4-BE49-F238E27FC236}">
                <a16:creationId xmlns:a16="http://schemas.microsoft.com/office/drawing/2014/main" id="{252FAF64-6B95-410B-83F3-8369181408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828800"/>
            <a:ext cx="6858000"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34411FB7-EC34-4804-A0A7-2A33460320DF}"/>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5" descr="crime-bc06c">
            <a:extLst>
              <a:ext uri="{FF2B5EF4-FFF2-40B4-BE49-F238E27FC236}">
                <a16:creationId xmlns:a16="http://schemas.microsoft.com/office/drawing/2014/main" id="{A69F36A1-CEF1-4727-B7DB-4EFFF502A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6858000"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Rectangle 2">
            <a:extLst>
              <a:ext uri="{FF2B5EF4-FFF2-40B4-BE49-F238E27FC236}">
                <a16:creationId xmlns:a16="http://schemas.microsoft.com/office/drawing/2014/main" id="{B8B7C08E-4C0B-431B-86AA-7FC10F8B14AE}"/>
              </a:ext>
            </a:extLst>
          </p:cNvPr>
          <p:cNvSpPr>
            <a:spLocks noGrp="1" noChangeArrowheads="1"/>
          </p:cNvSpPr>
          <p:nvPr>
            <p:ph type="title"/>
          </p:nvPr>
        </p:nvSpPr>
        <p:spPr/>
        <p:txBody>
          <a:bodyPr/>
          <a:lstStyle/>
          <a:p>
            <a:r>
              <a:rPr lang="en-US" altLang="en-US"/>
              <a:t>Backward chaining example</a:t>
            </a:r>
          </a:p>
        </p:txBody>
      </p:sp>
      <p:sp>
        <p:nvSpPr>
          <p:cNvPr id="4" name="Rectangle 3">
            <a:extLst>
              <a:ext uri="{FF2B5EF4-FFF2-40B4-BE49-F238E27FC236}">
                <a16:creationId xmlns:a16="http://schemas.microsoft.com/office/drawing/2014/main" id="{04D57652-B28C-4922-8B3A-73FB35F76E45}"/>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5" descr="crime-bc07c">
            <a:extLst>
              <a:ext uri="{FF2B5EF4-FFF2-40B4-BE49-F238E27FC236}">
                <a16:creationId xmlns:a16="http://schemas.microsoft.com/office/drawing/2014/main" id="{2670DE64-CDD6-4DFF-9B70-ADAA91D083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828800"/>
            <a:ext cx="6858000" cy="311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Rectangle 2">
            <a:extLst>
              <a:ext uri="{FF2B5EF4-FFF2-40B4-BE49-F238E27FC236}">
                <a16:creationId xmlns:a16="http://schemas.microsoft.com/office/drawing/2014/main" id="{038D603D-B711-4FC7-8222-4230BE162499}"/>
              </a:ext>
            </a:extLst>
          </p:cNvPr>
          <p:cNvSpPr>
            <a:spLocks noGrp="1" noChangeArrowheads="1"/>
          </p:cNvSpPr>
          <p:nvPr>
            <p:ph type="title"/>
          </p:nvPr>
        </p:nvSpPr>
        <p:spPr/>
        <p:txBody>
          <a:bodyPr/>
          <a:lstStyle/>
          <a:p>
            <a:r>
              <a:rPr lang="en-US" altLang="en-US"/>
              <a:t>Backward chaining example</a:t>
            </a:r>
          </a:p>
        </p:txBody>
      </p:sp>
      <p:sp>
        <p:nvSpPr>
          <p:cNvPr id="4" name="Rectangle 3">
            <a:extLst>
              <a:ext uri="{FF2B5EF4-FFF2-40B4-BE49-F238E27FC236}">
                <a16:creationId xmlns:a16="http://schemas.microsoft.com/office/drawing/2014/main" id="{A32D90C2-5CFA-4564-B1E2-98B40ED3241F}"/>
              </a:ext>
            </a:extLst>
          </p:cNvPr>
          <p:cNvSpPr txBox="1">
            <a:spLocks noChangeArrowheads="1"/>
          </p:cNvSpPr>
          <p:nvPr/>
        </p:nvSpPr>
        <p:spPr bwMode="auto">
          <a:xfrm>
            <a:off x="1066800" y="5257800"/>
            <a:ext cx="7391400" cy="1477963"/>
          </a:xfrm>
          <a:prstGeom prst="rect">
            <a:avLst/>
          </a:prstGeom>
          <a:noFill/>
          <a:ln w="9525">
            <a:noFill/>
            <a:miter lim="800000"/>
            <a:headEnd/>
            <a:tailEnd/>
          </a:ln>
          <a:effectLst/>
        </p:spPr>
        <p:txBody>
          <a:bodyPr/>
          <a:lstStyle/>
          <a:p>
            <a:pPr marL="742950" lvl="1" indent="-285750" eaLnBrk="1" hangingPunct="1">
              <a:spcBef>
                <a:spcPct val="20000"/>
              </a:spcBef>
              <a:defRPr/>
            </a:pPr>
            <a:r>
              <a:rPr lang="en-US" sz="1600" kern="0" dirty="0">
                <a:solidFill>
                  <a:srgbClr val="CC0099"/>
                </a:solidFill>
                <a:latin typeface="+mn-lt"/>
              </a:rPr>
              <a:t>American(x) </a:t>
            </a:r>
            <a:r>
              <a:rPr lang="en-US" sz="1600" kern="0" dirty="0">
                <a:solidFill>
                  <a:srgbClr val="CC0099"/>
                </a:solidFill>
                <a:latin typeface="+mn-lt"/>
                <a:sym typeface="Symbol" pitchFamily="18" charset="2"/>
              </a:rPr>
              <a:t></a:t>
            </a:r>
            <a:r>
              <a:rPr lang="en-US" sz="1600" kern="0" dirty="0">
                <a:solidFill>
                  <a:srgbClr val="CC0099"/>
                </a:solidFill>
                <a:latin typeface="+mn-lt"/>
              </a:rPr>
              <a:t> Weapon(y)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x,y,z</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Hostile(z) </a:t>
            </a:r>
            <a:r>
              <a:rPr lang="en-US" sz="1600" kern="0" dirty="0">
                <a:solidFill>
                  <a:srgbClr val="CC0099"/>
                </a:solidFill>
                <a:latin typeface="+mn-lt"/>
                <a:sym typeface="Symbol" pitchFamily="18" charset="2"/>
              </a:rPr>
              <a:t></a:t>
            </a:r>
            <a:r>
              <a:rPr lang="en-US" sz="1600" kern="0" dirty="0">
                <a:solidFill>
                  <a:srgbClr val="CC0099"/>
                </a:solidFill>
                <a:latin typeface="+mn-lt"/>
              </a:rPr>
              <a:t> Criminal(x)</a:t>
            </a:r>
          </a:p>
          <a:p>
            <a:pPr marL="742950" lvl="1" indent="-285750" eaLnBrk="1" hangingPunct="1">
              <a:spcBef>
                <a:spcPct val="20000"/>
              </a:spcBef>
              <a:defRPr/>
            </a:pPr>
            <a:r>
              <a:rPr lang="en-US" sz="1600" kern="0" dirty="0">
                <a:solidFill>
                  <a:srgbClr val="CC0099"/>
                </a:solidFill>
                <a:latin typeface="+mn-lt"/>
              </a:rPr>
              <a:t>Owns(Nono,M</a:t>
            </a:r>
            <a:r>
              <a:rPr lang="en-US" sz="1600" kern="0" baseline="-25000" dirty="0">
                <a:solidFill>
                  <a:srgbClr val="CC0099"/>
                </a:solidFill>
                <a:latin typeface="+mn-lt"/>
              </a:rPr>
              <a:t>1</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Missile(M</a:t>
            </a:r>
            <a:r>
              <a:rPr lang="en-US" sz="1600" kern="0" baseline="-25000" dirty="0">
                <a:solidFill>
                  <a:srgbClr val="CC0099"/>
                </a:solidFill>
                <a:latin typeface="+mn-lt"/>
              </a:rPr>
              <a:t>1</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Owns(</a:t>
            </a:r>
            <a:r>
              <a:rPr lang="en-US" sz="1600" kern="0" dirty="0" err="1">
                <a:solidFill>
                  <a:srgbClr val="CC0099"/>
                </a:solidFill>
                <a:latin typeface="+mn-lt"/>
              </a:rPr>
              <a:t>Nono,x</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Sells(</a:t>
            </a:r>
            <a:r>
              <a:rPr lang="en-US" sz="1600" kern="0" dirty="0" err="1">
                <a:solidFill>
                  <a:srgbClr val="CC0099"/>
                </a:solidFill>
                <a:latin typeface="+mn-lt"/>
              </a:rPr>
              <a:t>West,x,Nono</a:t>
            </a:r>
            <a:r>
              <a:rPr lang="en-US" sz="1600" kern="0" dirty="0">
                <a:solidFill>
                  <a:srgbClr val="CC0099"/>
                </a:solidFill>
                <a:latin typeface="+mn-lt"/>
              </a:rPr>
              <a:t>)</a:t>
            </a:r>
          </a:p>
          <a:p>
            <a:pPr marL="742950" lvl="1" indent="-285750" eaLnBrk="1" hangingPunct="1">
              <a:spcBef>
                <a:spcPct val="20000"/>
              </a:spcBef>
              <a:defRPr/>
            </a:pPr>
            <a:r>
              <a:rPr lang="en-US" sz="1600" kern="0" dirty="0">
                <a:solidFill>
                  <a:srgbClr val="CC0099"/>
                </a:solidFill>
                <a:latin typeface="+mn-lt"/>
              </a:rPr>
              <a:t>Missile(x) </a:t>
            </a:r>
            <a:r>
              <a:rPr lang="en-US" sz="1600" kern="0" dirty="0">
                <a:solidFill>
                  <a:srgbClr val="CC0099"/>
                </a:solidFill>
                <a:latin typeface="+mn-lt"/>
                <a:sym typeface="Symbol" pitchFamily="18" charset="2"/>
              </a:rPr>
              <a:t></a:t>
            </a:r>
            <a:r>
              <a:rPr lang="en-US" sz="1600" kern="0" dirty="0">
                <a:solidFill>
                  <a:srgbClr val="CC0099"/>
                </a:solidFill>
                <a:latin typeface="+mn-lt"/>
              </a:rPr>
              <a:t> Weapon(x)		Enemy(</a:t>
            </a:r>
            <a:r>
              <a:rPr lang="en-US" sz="1600" kern="0" dirty="0" err="1">
                <a:solidFill>
                  <a:srgbClr val="CC0099"/>
                </a:solidFill>
                <a:latin typeface="+mn-lt"/>
              </a:rPr>
              <a:t>x,America</a:t>
            </a:r>
            <a:r>
              <a:rPr lang="en-US" sz="1600" kern="0" dirty="0">
                <a:solidFill>
                  <a:srgbClr val="CC0099"/>
                </a:solidFill>
                <a:latin typeface="+mn-lt"/>
              </a:rPr>
              <a:t>) </a:t>
            </a:r>
            <a:r>
              <a:rPr lang="en-US" sz="1600" kern="0" dirty="0">
                <a:solidFill>
                  <a:srgbClr val="CC0099"/>
                </a:solidFill>
                <a:latin typeface="+mn-lt"/>
                <a:sym typeface="Symbol" pitchFamily="18" charset="2"/>
              </a:rPr>
              <a:t></a:t>
            </a:r>
            <a:r>
              <a:rPr lang="en-US" sz="1600" kern="0" dirty="0">
                <a:solidFill>
                  <a:srgbClr val="CC0099"/>
                </a:solidFill>
                <a:latin typeface="+mn-lt"/>
              </a:rPr>
              <a:t> Hostile(x)</a:t>
            </a:r>
          </a:p>
          <a:p>
            <a:pPr marL="742950" lvl="1" indent="-285750" eaLnBrk="1" hangingPunct="1">
              <a:spcBef>
                <a:spcPct val="20000"/>
              </a:spcBef>
              <a:defRPr/>
            </a:pPr>
            <a:r>
              <a:rPr lang="en-US" sz="1600" kern="0" dirty="0">
                <a:solidFill>
                  <a:srgbClr val="CC0099"/>
                </a:solidFill>
                <a:latin typeface="+mn-lt"/>
              </a:rPr>
              <a:t>American(West)		Enemy(</a:t>
            </a:r>
            <a:r>
              <a:rPr lang="en-US" sz="1600" kern="0" dirty="0" err="1">
                <a:solidFill>
                  <a:srgbClr val="CC0099"/>
                </a:solidFill>
                <a:latin typeface="+mn-lt"/>
              </a:rPr>
              <a:t>Nono,America</a:t>
            </a:r>
            <a:r>
              <a:rPr lang="en-US" sz="1600" kern="0" dirty="0">
                <a:solidFill>
                  <a:srgbClr val="CC0099"/>
                </a:solidFill>
                <a:latin typeface="+mn-lt"/>
              </a:rPr>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28">
            <a:extLst>
              <a:ext uri="{FF2B5EF4-FFF2-40B4-BE49-F238E27FC236}">
                <a16:creationId xmlns:a16="http://schemas.microsoft.com/office/drawing/2014/main" id="{72496111-0585-463B-B164-6B9458BE1774}"/>
              </a:ext>
            </a:extLst>
          </p:cNvPr>
          <p:cNvSpPr>
            <a:spLocks noGrp="1" noChangeArrowheads="1"/>
          </p:cNvSpPr>
          <p:nvPr>
            <p:ph type="title"/>
          </p:nvPr>
        </p:nvSpPr>
        <p:spPr>
          <a:xfrm>
            <a:off x="395288" y="190500"/>
            <a:ext cx="7772400" cy="8382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Reasoning with Horn Logic</a:t>
            </a:r>
          </a:p>
        </p:txBody>
      </p:sp>
      <p:sp>
        <p:nvSpPr>
          <p:cNvPr id="35843" name="Rectangle 1029">
            <a:extLst>
              <a:ext uri="{FF2B5EF4-FFF2-40B4-BE49-F238E27FC236}">
                <a16:creationId xmlns:a16="http://schemas.microsoft.com/office/drawing/2014/main" id="{B76990BF-4246-4492-B9FA-9EE7B68BE19A}"/>
              </a:ext>
            </a:extLst>
          </p:cNvPr>
          <p:cNvSpPr>
            <a:spLocks noGrp="1" noChangeArrowheads="1"/>
          </p:cNvSpPr>
          <p:nvPr>
            <p:ph type="body" idx="1"/>
          </p:nvPr>
        </p:nvSpPr>
        <p:spPr>
          <a:xfrm>
            <a:off x="685800" y="1676400"/>
            <a:ext cx="7772400" cy="4114800"/>
          </a:xfrm>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If all sentences are Horn sentences, then we can convert them to a canonical form and then use generalized Modus Ponens with unification.</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We skolemize existential formulas and remove the universal ones</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This gives us a conjunction of clauses, that are inserted in the KB</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Modus Ponens help us in infering new clauses</a:t>
            </a:r>
          </a:p>
          <a:p>
            <a:pPr lvl="1" eaLnBrk="1" hangingPunct="1"/>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Forward chaining</a:t>
            </a:r>
          </a:p>
          <a:p>
            <a:pPr eaLnBrk="1" hangingPunct="1"/>
            <a:endParaRPr lang="en-US" altLang="en-US" sz="24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Backward chaining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050">
            <a:extLst>
              <a:ext uri="{FF2B5EF4-FFF2-40B4-BE49-F238E27FC236}">
                <a16:creationId xmlns:a16="http://schemas.microsoft.com/office/drawing/2014/main" id="{B34F3BF4-2833-48B4-9B38-930698FB764E}"/>
              </a:ext>
            </a:extLst>
          </p:cNvPr>
          <p:cNvSpPr>
            <a:spLocks noGrp="1" noChangeArrowheads="1"/>
          </p:cNvSpPr>
          <p:nvPr>
            <p:ph type="title"/>
          </p:nvPr>
        </p:nvSpPr>
        <p:spPr>
          <a:xfrm>
            <a:off x="468313" y="190500"/>
            <a:ext cx="7772400" cy="8382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Completeness issues</a:t>
            </a:r>
          </a:p>
        </p:txBody>
      </p:sp>
      <p:sp>
        <p:nvSpPr>
          <p:cNvPr id="36867" name="Rectangle 2051">
            <a:extLst>
              <a:ext uri="{FF2B5EF4-FFF2-40B4-BE49-F238E27FC236}">
                <a16:creationId xmlns:a16="http://schemas.microsoft.com/office/drawing/2014/main" id="{2A6CA5AF-91BA-46CC-88F1-573A3584E823}"/>
              </a:ext>
            </a:extLst>
          </p:cNvPr>
          <p:cNvSpPr>
            <a:spLocks noGrp="1" noChangeArrowheads="1"/>
          </p:cNvSpPr>
          <p:nvPr>
            <p:ph type="body" idx="1"/>
          </p:nvPr>
        </p:nvSpPr>
        <p:spPr>
          <a:xfrm>
            <a:off x="438150" y="1484313"/>
            <a:ext cx="7772400" cy="4114800"/>
          </a:xfrm>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Reasoning with Modus Ponens is incomplete</a:t>
            </a: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Consider the example –</a:t>
            </a:r>
          </a:p>
          <a:p>
            <a:pPr eaLnBrk="1" hangingPunct="1">
              <a:buFontTx/>
              <a:buNone/>
            </a:pPr>
            <a:endParaRPr lang="en-US" altLang="en-US" sz="24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r>
              <a:rPr lang="en-US" altLang="en-US" sz="2400">
                <a:latin typeface="Cambria" panose="02040503050406030204" pitchFamily="18" charset="0"/>
                <a:ea typeface="Cambria" panose="02040503050406030204" pitchFamily="18" charset="0"/>
                <a:cs typeface="Cambria" panose="02040503050406030204" pitchFamily="18" charset="0"/>
              </a:rPr>
              <a:t>		</a:t>
            </a:r>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 P(x)  Q(x)</a:t>
            </a:r>
          </a:p>
          <a:p>
            <a:pPr eaLnBrk="1" hangingPunct="1">
              <a:buFontTx/>
              <a:buNone/>
            </a:pPr>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R(x)</a:t>
            </a:r>
          </a:p>
          <a:p>
            <a:pPr eaLnBrk="1" hangingPunct="1">
              <a:buFontTx/>
              <a:buNone/>
            </a:pPr>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Q(x)  S(x)</a:t>
            </a:r>
          </a:p>
          <a:p>
            <a:pPr eaLnBrk="1" hangingPunct="1">
              <a:buFontTx/>
              <a:buNone/>
            </a:pPr>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R(x)  S(x)</a:t>
            </a:r>
          </a:p>
          <a:p>
            <a:pPr eaLnBrk="1" hangingPunct="1">
              <a:buFontTx/>
              <a:buNone/>
            </a:pPr>
            <a:endParaRPr lang="en-US" altLang="en-US" sz="24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We should be able to conclude S(A)</a:t>
            </a: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The problem is that </a:t>
            </a:r>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 P(x)  R(x) cannot be converted to Horn form, and thus cannot be used by Modus Ponens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8D255F5E-0C30-4284-A92E-73F9FC8633DB}"/>
              </a:ext>
            </a:extLst>
          </p:cNvPr>
          <p:cNvSpPr>
            <a:spLocks noGrp="1" noChangeArrowheads="1"/>
          </p:cNvSpPr>
          <p:nvPr>
            <p:ph type="title"/>
          </p:nvPr>
        </p:nvSpPr>
        <p:spPr>
          <a:xfrm>
            <a:off x="611188" y="198438"/>
            <a:ext cx="7772400" cy="11430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Godel’s Completeness Theorem</a:t>
            </a:r>
          </a:p>
        </p:txBody>
      </p:sp>
      <p:sp>
        <p:nvSpPr>
          <p:cNvPr id="37891" name="Rectangle 3">
            <a:extLst>
              <a:ext uri="{FF2B5EF4-FFF2-40B4-BE49-F238E27FC236}">
                <a16:creationId xmlns:a16="http://schemas.microsoft.com/office/drawing/2014/main" id="{8BB4B6E2-2007-4E19-A568-59DD965941B7}"/>
              </a:ext>
            </a:extLst>
          </p:cNvPr>
          <p:cNvSpPr>
            <a:spLocks noGrp="1" noChangeArrowheads="1"/>
          </p:cNvSpPr>
          <p:nvPr>
            <p:ph type="body" idx="1"/>
          </p:nvPr>
        </p:nvSpPr>
        <p:spPr>
          <a:xfrm>
            <a:off x="395288" y="1916113"/>
            <a:ext cx="7772400" cy="4114800"/>
          </a:xfrm>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For first-order logic, any sentence that is entailed by another set of sentences can be proved from that set</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Godel did not suggest a proof procedure</a:t>
            </a:r>
          </a:p>
          <a:p>
            <a:pPr lvl="1"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In 1965 Robinson published his resolution algorithm</a:t>
            </a:r>
          </a:p>
          <a:p>
            <a:pPr lvl="1" eaLnBrk="1" hangingPunct="1"/>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Entailment in first-order logic is semi-decidable, that is, we can show that sentences follow from premises if they do, but we cannot always show if they do not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AD7D07E6-9093-4E73-876C-3B0B014748E3}"/>
              </a:ext>
            </a:extLst>
          </p:cNvPr>
          <p:cNvSpPr>
            <a:spLocks noGrp="1" noChangeArrowheads="1"/>
          </p:cNvSpPr>
          <p:nvPr>
            <p:ph type="title"/>
          </p:nvPr>
        </p:nvSpPr>
        <p:spPr>
          <a:xfrm>
            <a:off x="323850" y="190500"/>
            <a:ext cx="7772400" cy="11430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The validity problem of first-order logic</a:t>
            </a:r>
          </a:p>
        </p:txBody>
      </p:sp>
      <p:sp>
        <p:nvSpPr>
          <p:cNvPr id="38915" name="Rectangle 3">
            <a:extLst>
              <a:ext uri="{FF2B5EF4-FFF2-40B4-BE49-F238E27FC236}">
                <a16:creationId xmlns:a16="http://schemas.microsoft.com/office/drawing/2014/main" id="{AA663B20-B334-417B-A2D4-421A6C73B779}"/>
              </a:ext>
            </a:extLst>
          </p:cNvPr>
          <p:cNvSpPr>
            <a:spLocks noGrp="1" noChangeArrowheads="1"/>
          </p:cNvSpPr>
          <p:nvPr>
            <p:ph type="body" idx="1"/>
          </p:nvPr>
        </p:nvSpPr>
        <p:spPr>
          <a:xfrm>
            <a:off x="395288" y="1662113"/>
            <a:ext cx="7772400" cy="4114800"/>
          </a:xfrm>
        </p:spPr>
        <p:txBody>
          <a:bodyPr/>
          <a:lstStyle/>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[Church] The validity problem of the first-order predicate calculus is partially solvable.</a:t>
            </a:r>
          </a:p>
          <a:p>
            <a:pPr eaLnBrk="1" hangingPunct="1"/>
            <a:r>
              <a:rPr lang="en-US" altLang="en-US" sz="2400">
                <a:latin typeface="Cambria" panose="02040503050406030204" pitchFamily="18" charset="0"/>
                <a:ea typeface="Cambria" panose="02040503050406030204" pitchFamily="18" charset="0"/>
                <a:cs typeface="Cambria" panose="02040503050406030204" pitchFamily="18" charset="0"/>
              </a:rPr>
              <a:t>Consider the following formula:</a:t>
            </a:r>
          </a:p>
          <a:p>
            <a:pPr eaLnBrk="1" hangingPunct="1"/>
            <a:endParaRPr lang="en-US" altLang="en-US" sz="24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r>
              <a:rPr lang="en-US" altLang="en-US" sz="2400">
                <a:latin typeface="Cambria" panose="02040503050406030204" pitchFamily="18" charset="0"/>
                <a:ea typeface="Cambria" panose="02040503050406030204" pitchFamily="18" charset="0"/>
                <a:cs typeface="Cambria" panose="02040503050406030204" pitchFamily="18" charset="0"/>
              </a:rPr>
              <a:t>		</a:t>
            </a:r>
          </a:p>
        </p:txBody>
      </p:sp>
      <p:graphicFrame>
        <p:nvGraphicFramePr>
          <p:cNvPr id="38916" name="Object 4">
            <a:extLst>
              <a:ext uri="{FF2B5EF4-FFF2-40B4-BE49-F238E27FC236}">
                <a16:creationId xmlns:a16="http://schemas.microsoft.com/office/drawing/2014/main" id="{6F5531B2-2955-488A-843F-F7B7D2C377D3}"/>
              </a:ext>
            </a:extLst>
          </p:cNvPr>
          <p:cNvGraphicFramePr>
            <a:graphicFrameLocks noChangeAspect="1"/>
          </p:cNvGraphicFramePr>
          <p:nvPr/>
        </p:nvGraphicFramePr>
        <p:xfrm>
          <a:off x="1600200" y="3276600"/>
          <a:ext cx="5105400" cy="2027238"/>
        </p:xfrm>
        <a:graphic>
          <a:graphicData uri="http://schemas.openxmlformats.org/presentationml/2006/ole">
            <mc:AlternateContent xmlns:mc="http://schemas.openxmlformats.org/markup-compatibility/2006">
              <mc:Choice xmlns:v="urn:schemas-microsoft-com:vml" Requires="v">
                <p:oleObj spid="_x0000_s38923" name="Equation" r:id="rId3" imgW="2400300" imgH="952500" progId="Equation.3">
                  <p:embed/>
                </p:oleObj>
              </mc:Choice>
              <mc:Fallback>
                <p:oleObj name="Equation" r:id="rId3" imgW="2400300" imgH="952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276600"/>
                        <a:ext cx="5105400" cy="202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A9F1DD6-AF93-4222-8F6F-28FD669D858A}"/>
              </a:ext>
            </a:extLst>
          </p:cNvPr>
          <p:cNvSpPr>
            <a:spLocks noGrp="1" noChangeArrowheads="1"/>
          </p:cNvSpPr>
          <p:nvPr>
            <p:ph type="title"/>
          </p:nvPr>
        </p:nvSpPr>
        <p:spPr>
          <a:xfrm>
            <a:off x="495300" y="342900"/>
            <a:ext cx="7772400" cy="11430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Resolution</a:t>
            </a:r>
          </a:p>
        </p:txBody>
      </p:sp>
      <p:sp>
        <p:nvSpPr>
          <p:cNvPr id="39939" name="Rectangle 3">
            <a:extLst>
              <a:ext uri="{FF2B5EF4-FFF2-40B4-BE49-F238E27FC236}">
                <a16:creationId xmlns:a16="http://schemas.microsoft.com/office/drawing/2014/main" id="{71F1D554-0FD9-4E6F-AE62-701F765D10AE}"/>
              </a:ext>
            </a:extLst>
          </p:cNvPr>
          <p:cNvSpPr>
            <a:spLocks noGrp="1" noChangeArrowheads="1"/>
          </p:cNvSpPr>
          <p:nvPr>
            <p:ph type="body" idx="1"/>
          </p:nvPr>
        </p:nvSpPr>
        <p:spPr/>
        <p:txBody>
          <a:bodyPr/>
          <a:lstStyle/>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Generalized Resolution Rule:</a:t>
            </a: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rPr>
              <a:t>	For atoms p</a:t>
            </a:r>
            <a:r>
              <a:rPr lang="en-US" altLang="en-US" sz="2000" baseline="-25000">
                <a:latin typeface="Cambria" panose="02040503050406030204" pitchFamily="18" charset="0"/>
                <a:ea typeface="Cambria" panose="02040503050406030204" pitchFamily="18" charset="0"/>
                <a:cs typeface="Cambria" panose="02040503050406030204" pitchFamily="18" charset="0"/>
              </a:rPr>
              <a:t>i</a:t>
            </a:r>
            <a:r>
              <a:rPr lang="en-US" altLang="en-US" sz="2000">
                <a:latin typeface="Cambria" panose="02040503050406030204" pitchFamily="18" charset="0"/>
                <a:ea typeface="Cambria" panose="02040503050406030204" pitchFamily="18" charset="0"/>
                <a:cs typeface="Cambria" panose="02040503050406030204" pitchFamily="18" charset="0"/>
              </a:rPr>
              <a:t>, q</a:t>
            </a:r>
            <a:r>
              <a:rPr lang="en-US" altLang="en-US" sz="2000" baseline="-25000">
                <a:latin typeface="Cambria" panose="02040503050406030204" pitchFamily="18" charset="0"/>
                <a:ea typeface="Cambria" panose="02040503050406030204" pitchFamily="18" charset="0"/>
                <a:cs typeface="Cambria" panose="02040503050406030204" pitchFamily="18" charset="0"/>
              </a:rPr>
              <a:t>i</a:t>
            </a:r>
            <a:r>
              <a:rPr lang="en-US" altLang="en-US" sz="2000">
                <a:latin typeface="Cambria" panose="02040503050406030204" pitchFamily="18" charset="0"/>
                <a:ea typeface="Cambria" panose="02040503050406030204" pitchFamily="18" charset="0"/>
                <a:cs typeface="Cambria" panose="02040503050406030204" pitchFamily="18" charset="0"/>
              </a:rPr>
              <a:t>, r</a:t>
            </a:r>
            <a:r>
              <a:rPr lang="en-US" altLang="en-US" sz="2000" baseline="-25000">
                <a:latin typeface="Cambria" panose="02040503050406030204" pitchFamily="18" charset="0"/>
                <a:ea typeface="Cambria" panose="02040503050406030204" pitchFamily="18" charset="0"/>
                <a:cs typeface="Cambria" panose="02040503050406030204" pitchFamily="18" charset="0"/>
              </a:rPr>
              <a:t>i</a:t>
            </a:r>
            <a:r>
              <a:rPr lang="en-US" altLang="en-US" sz="2000">
                <a:latin typeface="Cambria" panose="02040503050406030204" pitchFamily="18" charset="0"/>
                <a:ea typeface="Cambria" panose="02040503050406030204" pitchFamily="18" charset="0"/>
                <a:cs typeface="Cambria" panose="02040503050406030204" pitchFamily="18" charset="0"/>
              </a:rPr>
              <a:t>, s</a:t>
            </a:r>
            <a:r>
              <a:rPr lang="en-US" altLang="en-US" sz="2000" baseline="-25000">
                <a:latin typeface="Cambria" panose="02040503050406030204" pitchFamily="18" charset="0"/>
                <a:ea typeface="Cambria" panose="02040503050406030204" pitchFamily="18" charset="0"/>
                <a:cs typeface="Cambria" panose="02040503050406030204" pitchFamily="18" charset="0"/>
              </a:rPr>
              <a:t>i</a:t>
            </a:r>
            <a:r>
              <a:rPr lang="en-US" altLang="en-US" sz="2000">
                <a:latin typeface="Cambria" panose="02040503050406030204" pitchFamily="18" charset="0"/>
                <a:ea typeface="Cambria" panose="02040503050406030204" pitchFamily="18" charset="0"/>
                <a:cs typeface="Cambria" panose="02040503050406030204" pitchFamily="18" charset="0"/>
              </a:rPr>
              <a:t>, where Unify(p</a:t>
            </a:r>
            <a:r>
              <a:rPr lang="en-US" altLang="en-US" sz="2000" baseline="-25000">
                <a:latin typeface="Cambria" panose="02040503050406030204" pitchFamily="18" charset="0"/>
                <a:ea typeface="Cambria" panose="02040503050406030204" pitchFamily="18" charset="0"/>
                <a:cs typeface="Cambria" panose="02040503050406030204" pitchFamily="18" charset="0"/>
              </a:rPr>
              <a:t>j</a:t>
            </a:r>
            <a:r>
              <a:rPr lang="en-US" altLang="en-US" sz="2000">
                <a:latin typeface="Cambria" panose="02040503050406030204" pitchFamily="18" charset="0"/>
                <a:ea typeface="Cambria" panose="02040503050406030204" pitchFamily="18" charset="0"/>
                <a:cs typeface="Cambria" panose="02040503050406030204" pitchFamily="18" charset="0"/>
              </a:rPr>
              <a:t>, q</a:t>
            </a:r>
            <a:r>
              <a:rPr lang="en-US" altLang="en-US" sz="2000" baseline="-25000">
                <a:latin typeface="Cambria" panose="02040503050406030204" pitchFamily="18" charset="0"/>
                <a:ea typeface="Cambria" panose="02040503050406030204" pitchFamily="18" charset="0"/>
                <a:cs typeface="Cambria" panose="02040503050406030204" pitchFamily="18" charset="0"/>
              </a:rPr>
              <a:t>k</a:t>
            </a:r>
            <a:r>
              <a:rPr lang="en-US" altLang="en-US" sz="2000">
                <a:latin typeface="Cambria" panose="02040503050406030204" pitchFamily="18" charset="0"/>
                <a:ea typeface="Cambria" panose="02040503050406030204" pitchFamily="18" charset="0"/>
                <a:cs typeface="Cambria" panose="02040503050406030204" pitchFamily="18" charset="0"/>
              </a:rPr>
              <a:t>) =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we have:</a:t>
            </a: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p:txBody>
      </p:sp>
      <p:graphicFrame>
        <p:nvGraphicFramePr>
          <p:cNvPr id="39940" name="Object 4">
            <a:extLst>
              <a:ext uri="{FF2B5EF4-FFF2-40B4-BE49-F238E27FC236}">
                <a16:creationId xmlns:a16="http://schemas.microsoft.com/office/drawing/2014/main" id="{B305BB48-454F-45C6-96A9-3FCABF583DC6}"/>
              </a:ext>
            </a:extLst>
          </p:cNvPr>
          <p:cNvGraphicFramePr>
            <a:graphicFrameLocks noChangeAspect="1"/>
          </p:cNvGraphicFramePr>
          <p:nvPr/>
        </p:nvGraphicFramePr>
        <p:xfrm>
          <a:off x="1447800" y="2971800"/>
          <a:ext cx="5867400" cy="2587625"/>
        </p:xfrm>
        <a:graphic>
          <a:graphicData uri="http://schemas.openxmlformats.org/presentationml/2006/ole">
            <mc:AlternateContent xmlns:mc="http://schemas.openxmlformats.org/markup-compatibility/2006">
              <mc:Choice xmlns:v="urn:schemas-microsoft-com:vml" Requires="v">
                <p:oleObj spid="_x0000_s39947" name="Equation" r:id="rId3" imgW="2717800" imgH="1168400" progId="Equation.3">
                  <p:embed/>
                </p:oleObj>
              </mc:Choice>
              <mc:Fallback>
                <p:oleObj name="Equation" r:id="rId3" imgW="2717800" imgH="1168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971800"/>
                        <a:ext cx="5867400" cy="258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CE61058B-3F45-4910-8946-B50CEF6B5BB0}"/>
              </a:ext>
            </a:extLst>
          </p:cNvPr>
          <p:cNvSpPr>
            <a:spLocks noGrp="1" noChangeArrowheads="1"/>
          </p:cNvSpPr>
          <p:nvPr>
            <p:ph type="title"/>
          </p:nvPr>
        </p:nvSpPr>
        <p:spPr>
          <a:xfrm>
            <a:off x="323850" y="26988"/>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Proof of Resolution </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pic>
        <p:nvPicPr>
          <p:cNvPr id="6" name="Picture 5">
            <a:extLst>
              <a:ext uri="{FF2B5EF4-FFF2-40B4-BE49-F238E27FC236}">
                <a16:creationId xmlns:a16="http://schemas.microsoft.com/office/drawing/2014/main" id="{FD8C2428-CFE4-4909-882C-1A1233B779A1}"/>
              </a:ext>
            </a:extLst>
          </p:cNvPr>
          <p:cNvPicPr>
            <a:picLocks noChangeAspect="1"/>
          </p:cNvPicPr>
          <p:nvPr/>
        </p:nvPicPr>
        <p:blipFill>
          <a:blip r:embed="rId2">
            <a:extLst>
              <a:ext uri="{28A0092B-C50C-407E-A947-70E740481C1C}">
                <a14:useLocalDpi xmlns:a14="http://schemas.microsoft.com/office/drawing/2010/main" val="0"/>
              </a:ext>
            </a:extLst>
          </a:blip>
          <a:srcRect t="9450" b="47501"/>
          <a:stretch>
            <a:fillRect/>
          </a:stretch>
        </p:blipFill>
        <p:spPr bwMode="auto">
          <a:xfrm>
            <a:off x="1979613" y="1169988"/>
            <a:ext cx="5149850" cy="295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6BBB9641-D3D2-4ABB-AA1D-7C8849D86CAF}"/>
              </a:ext>
            </a:extLst>
          </p:cNvPr>
          <p:cNvPicPr>
            <a:picLocks noChangeAspect="1"/>
          </p:cNvPicPr>
          <p:nvPr/>
        </p:nvPicPr>
        <p:blipFill>
          <a:blip r:embed="rId2">
            <a:extLst>
              <a:ext uri="{28A0092B-C50C-407E-A947-70E740481C1C}">
                <a14:useLocalDpi xmlns:a14="http://schemas.microsoft.com/office/drawing/2010/main" val="0"/>
              </a:ext>
            </a:extLst>
          </a:blip>
          <a:srcRect t="53149" b="15350"/>
          <a:stretch>
            <a:fillRect/>
          </a:stretch>
        </p:blipFill>
        <p:spPr bwMode="auto">
          <a:xfrm>
            <a:off x="1951038" y="4325938"/>
            <a:ext cx="5149850"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4"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down)">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BA49416-1AE3-4BA3-8789-0AF4955FD07B}"/>
              </a:ext>
            </a:extLst>
          </p:cNvPr>
          <p:cNvSpPr>
            <a:spLocks noGrp="1" noChangeArrowheads="1"/>
          </p:cNvSpPr>
          <p:nvPr>
            <p:ph type="title"/>
          </p:nvPr>
        </p:nvSpPr>
        <p:spPr>
          <a:xfrm>
            <a:off x="533400" y="76200"/>
            <a:ext cx="7772400" cy="1143000"/>
          </a:xfrm>
        </p:spPr>
        <p:txBody>
          <a:bodyPr/>
          <a:lstStyle/>
          <a:p>
            <a:pPr algn="l" eaLnBrk="1" hangingPunct="1"/>
            <a:r>
              <a:rPr lang="en-US" altLang="en-US"/>
              <a:t>Example</a:t>
            </a:r>
          </a:p>
        </p:txBody>
      </p:sp>
      <p:sp>
        <p:nvSpPr>
          <p:cNvPr id="41987" name="Rectangle 4">
            <a:extLst>
              <a:ext uri="{FF2B5EF4-FFF2-40B4-BE49-F238E27FC236}">
                <a16:creationId xmlns:a16="http://schemas.microsoft.com/office/drawing/2014/main" id="{907BC8E8-88BA-48DE-B059-E4F01B56CFB9}"/>
              </a:ext>
            </a:extLst>
          </p:cNvPr>
          <p:cNvSpPr>
            <a:spLocks noChangeArrowheads="1"/>
          </p:cNvSpPr>
          <p:nvPr/>
        </p:nvSpPr>
        <p:spPr bwMode="auto">
          <a:xfrm>
            <a:off x="990600" y="1828800"/>
            <a:ext cx="1828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t>P(w) </a:t>
            </a:r>
            <a:r>
              <a:rPr lang="en-US" altLang="en-US" sz="2000">
                <a:sym typeface="Symbol" panose="05050102010706020507" pitchFamily="18" charset="2"/>
              </a:rPr>
              <a:t> Q(w)</a:t>
            </a:r>
            <a:endParaRPr lang="en-US" altLang="en-US" sz="2000"/>
          </a:p>
        </p:txBody>
      </p:sp>
      <p:sp>
        <p:nvSpPr>
          <p:cNvPr id="41988" name="Rectangle 5">
            <a:extLst>
              <a:ext uri="{FF2B5EF4-FFF2-40B4-BE49-F238E27FC236}">
                <a16:creationId xmlns:a16="http://schemas.microsoft.com/office/drawing/2014/main" id="{F2990405-8064-48A6-8891-9CF5E0D4E148}"/>
              </a:ext>
            </a:extLst>
          </p:cNvPr>
          <p:cNvSpPr>
            <a:spLocks noChangeArrowheads="1"/>
          </p:cNvSpPr>
          <p:nvPr/>
        </p:nvSpPr>
        <p:spPr bwMode="auto">
          <a:xfrm>
            <a:off x="4419600" y="2971800"/>
            <a:ext cx="23622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t>True </a:t>
            </a:r>
            <a:r>
              <a:rPr lang="en-US" altLang="en-US" sz="2000">
                <a:sym typeface="Symbol" panose="05050102010706020507" pitchFamily="18" charset="2"/>
              </a:rPr>
              <a:t> P(x)  R(x)</a:t>
            </a:r>
            <a:endParaRPr lang="en-US" altLang="en-US" sz="2000"/>
          </a:p>
        </p:txBody>
      </p:sp>
      <p:sp>
        <p:nvSpPr>
          <p:cNvPr id="41989" name="Rectangle 6">
            <a:extLst>
              <a:ext uri="{FF2B5EF4-FFF2-40B4-BE49-F238E27FC236}">
                <a16:creationId xmlns:a16="http://schemas.microsoft.com/office/drawing/2014/main" id="{21762658-8515-4F8A-A4E1-90BA4D31A2A9}"/>
              </a:ext>
            </a:extLst>
          </p:cNvPr>
          <p:cNvSpPr>
            <a:spLocks noChangeArrowheads="1"/>
          </p:cNvSpPr>
          <p:nvPr/>
        </p:nvSpPr>
        <p:spPr bwMode="auto">
          <a:xfrm>
            <a:off x="3276600" y="1828800"/>
            <a:ext cx="1828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t>Q(y) </a:t>
            </a:r>
            <a:r>
              <a:rPr lang="en-US" altLang="en-US" sz="2000">
                <a:sym typeface="Symbol" panose="05050102010706020507" pitchFamily="18" charset="2"/>
              </a:rPr>
              <a:t> S(y)</a:t>
            </a:r>
            <a:endParaRPr lang="en-US" altLang="en-US" sz="2000"/>
          </a:p>
        </p:txBody>
      </p:sp>
      <p:sp>
        <p:nvSpPr>
          <p:cNvPr id="41990" name="Rectangle 7">
            <a:extLst>
              <a:ext uri="{FF2B5EF4-FFF2-40B4-BE49-F238E27FC236}">
                <a16:creationId xmlns:a16="http://schemas.microsoft.com/office/drawing/2014/main" id="{504B3CF9-15D5-443C-B9A0-AF7DBB5AF11C}"/>
              </a:ext>
            </a:extLst>
          </p:cNvPr>
          <p:cNvSpPr>
            <a:spLocks noChangeArrowheads="1"/>
          </p:cNvSpPr>
          <p:nvPr/>
        </p:nvSpPr>
        <p:spPr bwMode="auto">
          <a:xfrm>
            <a:off x="2057400" y="2971800"/>
            <a:ext cx="1828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t>P(w) </a:t>
            </a:r>
            <a:r>
              <a:rPr lang="en-US" altLang="en-US" sz="2000">
                <a:sym typeface="Symbol" panose="05050102010706020507" pitchFamily="18" charset="2"/>
              </a:rPr>
              <a:t> S(w)</a:t>
            </a:r>
            <a:endParaRPr lang="en-US" altLang="en-US" sz="2000"/>
          </a:p>
        </p:txBody>
      </p:sp>
      <p:sp>
        <p:nvSpPr>
          <p:cNvPr id="41991" name="Rectangle 8">
            <a:extLst>
              <a:ext uri="{FF2B5EF4-FFF2-40B4-BE49-F238E27FC236}">
                <a16:creationId xmlns:a16="http://schemas.microsoft.com/office/drawing/2014/main" id="{021FFC6B-B8E9-4DD3-BE3F-0557DA993453}"/>
              </a:ext>
            </a:extLst>
          </p:cNvPr>
          <p:cNvSpPr>
            <a:spLocks noChangeArrowheads="1"/>
          </p:cNvSpPr>
          <p:nvPr/>
        </p:nvSpPr>
        <p:spPr bwMode="auto">
          <a:xfrm>
            <a:off x="3124200" y="4191000"/>
            <a:ext cx="23622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t>True </a:t>
            </a:r>
            <a:r>
              <a:rPr lang="en-US" altLang="en-US" sz="2000">
                <a:sym typeface="Symbol" panose="05050102010706020507" pitchFamily="18" charset="2"/>
              </a:rPr>
              <a:t> S(x)  R(x)</a:t>
            </a:r>
            <a:endParaRPr lang="en-US" altLang="en-US" sz="2000"/>
          </a:p>
        </p:txBody>
      </p:sp>
      <p:sp>
        <p:nvSpPr>
          <p:cNvPr id="41992" name="Rectangle 9">
            <a:extLst>
              <a:ext uri="{FF2B5EF4-FFF2-40B4-BE49-F238E27FC236}">
                <a16:creationId xmlns:a16="http://schemas.microsoft.com/office/drawing/2014/main" id="{8E9FD42D-242E-4723-B5CA-D909AB1CCFE6}"/>
              </a:ext>
            </a:extLst>
          </p:cNvPr>
          <p:cNvSpPr>
            <a:spLocks noChangeArrowheads="1"/>
          </p:cNvSpPr>
          <p:nvPr/>
        </p:nvSpPr>
        <p:spPr bwMode="auto">
          <a:xfrm>
            <a:off x="5943600" y="4191000"/>
            <a:ext cx="1828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t>R(z) </a:t>
            </a:r>
            <a:r>
              <a:rPr lang="en-US" altLang="en-US" sz="2000">
                <a:sym typeface="Symbol" panose="05050102010706020507" pitchFamily="18" charset="2"/>
              </a:rPr>
              <a:t> S(z)</a:t>
            </a:r>
            <a:endParaRPr lang="en-US" altLang="en-US" sz="2000"/>
          </a:p>
        </p:txBody>
      </p:sp>
      <p:sp>
        <p:nvSpPr>
          <p:cNvPr id="41993" name="Rectangle 10">
            <a:extLst>
              <a:ext uri="{FF2B5EF4-FFF2-40B4-BE49-F238E27FC236}">
                <a16:creationId xmlns:a16="http://schemas.microsoft.com/office/drawing/2014/main" id="{D8408669-E4A2-4B9F-B135-90DB67D5B8E9}"/>
              </a:ext>
            </a:extLst>
          </p:cNvPr>
          <p:cNvSpPr>
            <a:spLocks noChangeArrowheads="1"/>
          </p:cNvSpPr>
          <p:nvPr/>
        </p:nvSpPr>
        <p:spPr bwMode="auto">
          <a:xfrm>
            <a:off x="4876800" y="5334000"/>
            <a:ext cx="1828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2000"/>
              <a:t>True </a:t>
            </a:r>
            <a:r>
              <a:rPr lang="en-US" altLang="en-US" sz="2000">
                <a:sym typeface="Symbol" panose="05050102010706020507" pitchFamily="18" charset="2"/>
              </a:rPr>
              <a:t> S(A)</a:t>
            </a:r>
            <a:endParaRPr lang="en-US" altLang="en-US" sz="2000"/>
          </a:p>
        </p:txBody>
      </p:sp>
      <p:cxnSp>
        <p:nvCxnSpPr>
          <p:cNvPr id="41994" name="AutoShape 11">
            <a:extLst>
              <a:ext uri="{FF2B5EF4-FFF2-40B4-BE49-F238E27FC236}">
                <a16:creationId xmlns:a16="http://schemas.microsoft.com/office/drawing/2014/main" id="{1E66F482-BB81-45A0-985B-7942FCC585E6}"/>
              </a:ext>
            </a:extLst>
          </p:cNvPr>
          <p:cNvCxnSpPr>
            <a:cxnSpLocks noChangeShapeType="1"/>
            <a:stCxn id="41987" idx="2"/>
            <a:endCxn id="41990" idx="0"/>
          </p:cNvCxnSpPr>
          <p:nvPr/>
        </p:nvCxnSpPr>
        <p:spPr bwMode="auto">
          <a:xfrm>
            <a:off x="1905000" y="2438400"/>
            <a:ext cx="10668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995" name="AutoShape 12">
            <a:extLst>
              <a:ext uri="{FF2B5EF4-FFF2-40B4-BE49-F238E27FC236}">
                <a16:creationId xmlns:a16="http://schemas.microsoft.com/office/drawing/2014/main" id="{623B2F69-3EEF-4F72-8219-5DDB4AF0C34E}"/>
              </a:ext>
            </a:extLst>
          </p:cNvPr>
          <p:cNvCxnSpPr>
            <a:cxnSpLocks noChangeShapeType="1"/>
            <a:stCxn id="41990" idx="0"/>
            <a:endCxn id="41989" idx="2"/>
          </p:cNvCxnSpPr>
          <p:nvPr/>
        </p:nvCxnSpPr>
        <p:spPr bwMode="auto">
          <a:xfrm flipV="1">
            <a:off x="2971800" y="2438400"/>
            <a:ext cx="12192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996" name="AutoShape 13">
            <a:extLst>
              <a:ext uri="{FF2B5EF4-FFF2-40B4-BE49-F238E27FC236}">
                <a16:creationId xmlns:a16="http://schemas.microsoft.com/office/drawing/2014/main" id="{81B5F5F1-7DD2-4266-82B2-FA9AE6C40B79}"/>
              </a:ext>
            </a:extLst>
          </p:cNvPr>
          <p:cNvCxnSpPr>
            <a:cxnSpLocks noChangeShapeType="1"/>
            <a:stCxn id="41990" idx="2"/>
            <a:endCxn id="41991" idx="0"/>
          </p:cNvCxnSpPr>
          <p:nvPr/>
        </p:nvCxnSpPr>
        <p:spPr bwMode="auto">
          <a:xfrm>
            <a:off x="2971800" y="3581400"/>
            <a:ext cx="1333500" cy="6096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997" name="AutoShape 14">
            <a:extLst>
              <a:ext uri="{FF2B5EF4-FFF2-40B4-BE49-F238E27FC236}">
                <a16:creationId xmlns:a16="http://schemas.microsoft.com/office/drawing/2014/main" id="{9FFB2154-B6F3-4518-8AD1-6115E19F1D40}"/>
              </a:ext>
            </a:extLst>
          </p:cNvPr>
          <p:cNvCxnSpPr>
            <a:cxnSpLocks noChangeShapeType="1"/>
            <a:stCxn id="41988" idx="2"/>
            <a:endCxn id="41991" idx="0"/>
          </p:cNvCxnSpPr>
          <p:nvPr/>
        </p:nvCxnSpPr>
        <p:spPr bwMode="auto">
          <a:xfrm flipH="1">
            <a:off x="4305300" y="3581400"/>
            <a:ext cx="1295400" cy="6096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998" name="AutoShape 15">
            <a:extLst>
              <a:ext uri="{FF2B5EF4-FFF2-40B4-BE49-F238E27FC236}">
                <a16:creationId xmlns:a16="http://schemas.microsoft.com/office/drawing/2014/main" id="{38F91645-BE29-4CF3-B62B-1297278B64DA}"/>
              </a:ext>
            </a:extLst>
          </p:cNvPr>
          <p:cNvCxnSpPr>
            <a:cxnSpLocks noChangeShapeType="1"/>
            <a:stCxn id="41992" idx="2"/>
            <a:endCxn id="41993" idx="0"/>
          </p:cNvCxnSpPr>
          <p:nvPr/>
        </p:nvCxnSpPr>
        <p:spPr bwMode="auto">
          <a:xfrm flipH="1">
            <a:off x="5791200" y="4800600"/>
            <a:ext cx="10668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999" name="AutoShape 16">
            <a:extLst>
              <a:ext uri="{FF2B5EF4-FFF2-40B4-BE49-F238E27FC236}">
                <a16:creationId xmlns:a16="http://schemas.microsoft.com/office/drawing/2014/main" id="{A9EA3123-3E79-4C72-999B-DC1DEB5ECC2F}"/>
              </a:ext>
            </a:extLst>
          </p:cNvPr>
          <p:cNvCxnSpPr>
            <a:cxnSpLocks noChangeShapeType="1"/>
            <a:stCxn id="41991" idx="2"/>
            <a:endCxn id="41993" idx="0"/>
          </p:cNvCxnSpPr>
          <p:nvPr/>
        </p:nvCxnSpPr>
        <p:spPr bwMode="auto">
          <a:xfrm>
            <a:off x="4305300" y="4800600"/>
            <a:ext cx="1485900" cy="5334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2000" name="Text Box 17">
            <a:extLst>
              <a:ext uri="{FF2B5EF4-FFF2-40B4-BE49-F238E27FC236}">
                <a16:creationId xmlns:a16="http://schemas.microsoft.com/office/drawing/2014/main" id="{87641646-E535-41DA-8F25-B666D7D9DBCD}"/>
              </a:ext>
            </a:extLst>
          </p:cNvPr>
          <p:cNvSpPr txBox="1">
            <a:spLocks noChangeArrowheads="1"/>
          </p:cNvSpPr>
          <p:nvPr/>
        </p:nvSpPr>
        <p:spPr bwMode="auto">
          <a:xfrm>
            <a:off x="2576513" y="2490788"/>
            <a:ext cx="806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1800"/>
              <a:t>{y / w}</a:t>
            </a:r>
          </a:p>
        </p:txBody>
      </p:sp>
      <p:sp>
        <p:nvSpPr>
          <p:cNvPr id="42001" name="Text Box 18">
            <a:extLst>
              <a:ext uri="{FF2B5EF4-FFF2-40B4-BE49-F238E27FC236}">
                <a16:creationId xmlns:a16="http://schemas.microsoft.com/office/drawing/2014/main" id="{CFFDA56F-E6B0-4625-930B-FE0CF92D7A72}"/>
              </a:ext>
            </a:extLst>
          </p:cNvPr>
          <p:cNvSpPr txBox="1">
            <a:spLocks noChangeArrowheads="1"/>
          </p:cNvSpPr>
          <p:nvPr/>
        </p:nvSpPr>
        <p:spPr bwMode="auto">
          <a:xfrm>
            <a:off x="3886200" y="3657600"/>
            <a:ext cx="806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1800"/>
              <a:t>{w / x}</a:t>
            </a:r>
          </a:p>
        </p:txBody>
      </p:sp>
      <p:sp>
        <p:nvSpPr>
          <p:cNvPr id="42002" name="Text Box 19">
            <a:extLst>
              <a:ext uri="{FF2B5EF4-FFF2-40B4-BE49-F238E27FC236}">
                <a16:creationId xmlns:a16="http://schemas.microsoft.com/office/drawing/2014/main" id="{EC6BA4C8-4AD4-4D95-B8A5-F58B083788D7}"/>
              </a:ext>
            </a:extLst>
          </p:cNvPr>
          <p:cNvSpPr txBox="1">
            <a:spLocks noChangeArrowheads="1"/>
          </p:cNvSpPr>
          <p:nvPr/>
        </p:nvSpPr>
        <p:spPr bwMode="auto">
          <a:xfrm>
            <a:off x="5175250" y="4800600"/>
            <a:ext cx="1123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lgn="ctr" eaLnBrk="1" hangingPunct="1">
              <a:spcBef>
                <a:spcPct val="0"/>
              </a:spcBef>
              <a:buFontTx/>
              <a:buNone/>
            </a:pPr>
            <a:r>
              <a:rPr lang="en-US" altLang="en-US" sz="1800"/>
              <a:t>{x/A, z/A}</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C21847A9-EA13-46C3-BA03-6E2D8049FF23}"/>
              </a:ext>
            </a:extLst>
          </p:cNvPr>
          <p:cNvSpPr>
            <a:spLocks noGrp="1" noChangeArrowheads="1"/>
          </p:cNvSpPr>
          <p:nvPr>
            <p:ph type="title"/>
          </p:nvPr>
        </p:nvSpPr>
        <p:spPr>
          <a:xfrm>
            <a:off x="539750" y="260350"/>
            <a:ext cx="7772400" cy="11430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Conversion to Normal Form</a:t>
            </a:r>
          </a:p>
        </p:txBody>
      </p:sp>
      <p:sp>
        <p:nvSpPr>
          <p:cNvPr id="43011" name="Rectangle 3">
            <a:extLst>
              <a:ext uri="{FF2B5EF4-FFF2-40B4-BE49-F238E27FC236}">
                <a16:creationId xmlns:a16="http://schemas.microsoft.com/office/drawing/2014/main" id="{7F6E0133-0D86-401A-84E4-AE79D8A23B4D}"/>
              </a:ext>
            </a:extLst>
          </p:cNvPr>
          <p:cNvSpPr>
            <a:spLocks noGrp="1" noChangeArrowheads="1"/>
          </p:cNvSpPr>
          <p:nvPr>
            <p:ph type="body" idx="1"/>
          </p:nvPr>
        </p:nvSpPr>
        <p:spPr>
          <a:xfrm>
            <a:off x="539750" y="1768475"/>
            <a:ext cx="7772400" cy="4114800"/>
          </a:xfrm>
        </p:spPr>
        <p:txBody>
          <a:bodyPr/>
          <a:lstStyle/>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A formula is said to be in clause form if it is of the form:</a:t>
            </a:r>
          </a:p>
          <a:p>
            <a:pPr eaLnBrk="1" hangingPunct="1">
              <a:buFontTx/>
              <a:buNone/>
            </a:pPr>
            <a:endParaRPr lang="en-US" altLang="en-US" sz="2000"/>
          </a:p>
          <a:p>
            <a:pPr eaLnBrk="1" hangingPunct="1">
              <a:buFontTx/>
              <a:buNone/>
            </a:pPr>
            <a:r>
              <a:rPr lang="en-US" altLang="en-US" sz="2000"/>
              <a:t>		</a:t>
            </a:r>
            <a:r>
              <a:rPr lang="en-US" altLang="en-US" sz="2000">
                <a:sym typeface="Symbol" panose="05050102010706020507" pitchFamily="18" charset="2"/>
              </a:rPr>
              <a:t>x</a:t>
            </a:r>
            <a:r>
              <a:rPr lang="en-US" altLang="en-US" sz="2000" baseline="-25000">
                <a:sym typeface="Symbol" panose="05050102010706020507" pitchFamily="18" charset="2"/>
              </a:rPr>
              <a:t>1</a:t>
            </a:r>
            <a:r>
              <a:rPr lang="en-US" altLang="en-US" sz="2000">
                <a:sym typeface="Symbol" panose="05050102010706020507" pitchFamily="18" charset="2"/>
              </a:rPr>
              <a:t> x</a:t>
            </a:r>
            <a:r>
              <a:rPr lang="en-US" altLang="en-US" sz="2000" baseline="-25000">
                <a:sym typeface="Symbol" panose="05050102010706020507" pitchFamily="18" charset="2"/>
              </a:rPr>
              <a:t>2</a:t>
            </a:r>
            <a:r>
              <a:rPr lang="en-US" altLang="en-US" sz="2000">
                <a:sym typeface="Symbol" panose="05050102010706020507" pitchFamily="18" charset="2"/>
              </a:rPr>
              <a:t> … x</a:t>
            </a:r>
            <a:r>
              <a:rPr lang="en-US" altLang="en-US" sz="2000" baseline="-25000">
                <a:sym typeface="Symbol" panose="05050102010706020507" pitchFamily="18" charset="2"/>
              </a:rPr>
              <a:t>n</a:t>
            </a:r>
            <a:r>
              <a:rPr lang="en-US" altLang="en-US" sz="2000">
                <a:sym typeface="Symbol" panose="05050102010706020507" pitchFamily="18" charset="2"/>
              </a:rPr>
              <a:t> [C</a:t>
            </a:r>
            <a:r>
              <a:rPr lang="en-US" altLang="en-US" sz="2000" baseline="-25000">
                <a:sym typeface="Symbol" panose="05050102010706020507" pitchFamily="18" charset="2"/>
              </a:rPr>
              <a:t>1</a:t>
            </a:r>
            <a:r>
              <a:rPr lang="en-US" altLang="en-US" sz="2000">
                <a:sym typeface="Symbol" panose="05050102010706020507" pitchFamily="18" charset="2"/>
              </a:rPr>
              <a:t>  C</a:t>
            </a:r>
            <a:r>
              <a:rPr lang="en-US" altLang="en-US" sz="2000" baseline="-25000">
                <a:sym typeface="Symbol" panose="05050102010706020507" pitchFamily="18" charset="2"/>
              </a:rPr>
              <a:t>2</a:t>
            </a:r>
            <a:r>
              <a:rPr lang="en-US" altLang="en-US" sz="2000">
                <a:sym typeface="Symbol" panose="05050102010706020507" pitchFamily="18" charset="2"/>
              </a:rPr>
              <a:t>  …  C</a:t>
            </a:r>
            <a:r>
              <a:rPr lang="en-US" altLang="en-US" sz="2000" baseline="-25000">
                <a:sym typeface="Symbol" panose="05050102010706020507" pitchFamily="18" charset="2"/>
              </a:rPr>
              <a:t>k</a:t>
            </a:r>
            <a:r>
              <a:rPr lang="en-US" altLang="en-US" sz="2000">
                <a:sym typeface="Symbol" panose="05050102010706020507" pitchFamily="18" charset="2"/>
              </a:rPr>
              <a:t>]</a:t>
            </a:r>
          </a:p>
          <a:p>
            <a:pPr eaLnBrk="1" hangingPunct="1">
              <a:buFontTx/>
              <a:buNone/>
            </a:pPr>
            <a:endParaRPr lang="en-US" altLang="en-US" sz="2000">
              <a:sym typeface="Symbol" panose="05050102010706020507" pitchFamily="18" charset="2"/>
            </a:endParaRPr>
          </a:p>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All first-order logic formulas can be converted to clause form</a:t>
            </a:r>
          </a:p>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We shall demonstrate the conversion on the formula:</a:t>
            </a:r>
          </a:p>
          <a:p>
            <a:pPr eaLnBrk="1" hangingPunct="1">
              <a:buFontTx/>
              <a:buNone/>
            </a:pPr>
            <a:endParaRPr lang="en-US" altLang="en-US" sz="2000"/>
          </a:p>
          <a:p>
            <a:pPr eaLnBrk="1" hangingPunct="1">
              <a:buFontTx/>
              <a:buNone/>
            </a:pPr>
            <a:r>
              <a:rPr lang="en-US" altLang="en-US" sz="2000"/>
              <a:t>	</a:t>
            </a:r>
            <a:r>
              <a:rPr lang="en-US" altLang="en-US" sz="2000">
                <a:sym typeface="Symbol" panose="05050102010706020507" pitchFamily="18" charset="2"/>
              </a:rPr>
              <a:t>x {p(x)  z { y [q(x,y)  p(f(x</a:t>
            </a:r>
            <a:r>
              <a:rPr lang="en-US" altLang="en-US" sz="2000" baseline="-25000">
                <a:sym typeface="Symbol" panose="05050102010706020507" pitchFamily="18" charset="2"/>
              </a:rPr>
              <a:t>1</a:t>
            </a:r>
            <a:r>
              <a:rPr lang="en-US" altLang="en-US" sz="2000">
                <a:sym typeface="Symbol" panose="05050102010706020507" pitchFamily="18" charset="2"/>
              </a:rPr>
              <a:t>))]  y [q(x,y)  p(x)] }}</a:t>
            </a:r>
            <a:endParaRPr lang="en-US" altLang="en-US" sz="2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D328A289-3BC1-48C5-B7D6-388A40B4A648}"/>
              </a:ext>
            </a:extLst>
          </p:cNvPr>
          <p:cNvSpPr>
            <a:spLocks noGrp="1" noChangeArrowheads="1"/>
          </p:cNvSpPr>
          <p:nvPr>
            <p:ph type="title"/>
          </p:nvPr>
        </p:nvSpPr>
        <p:spPr>
          <a:xfrm>
            <a:off x="468313" y="333375"/>
            <a:ext cx="7772400" cy="609600"/>
          </a:xfrm>
        </p:spPr>
        <p:txBody>
          <a:bodyPr/>
          <a:lstStyle/>
          <a:p>
            <a:pPr algn="l" eaLnBrk="1" hangingPunct="1"/>
            <a:r>
              <a:rPr lang="en-US" altLang="en-US" sz="2800">
                <a:latin typeface="Cambria" panose="02040503050406030204" pitchFamily="18" charset="0"/>
                <a:ea typeface="Cambria" panose="02040503050406030204" pitchFamily="18" charset="0"/>
                <a:cs typeface="Cambria" panose="02040503050406030204" pitchFamily="18" charset="0"/>
              </a:rPr>
              <a:t>Conversion to Normal Form</a:t>
            </a:r>
          </a:p>
        </p:txBody>
      </p:sp>
      <p:sp>
        <p:nvSpPr>
          <p:cNvPr id="43012" name="Rectangle 3">
            <a:extLst>
              <a:ext uri="{FF2B5EF4-FFF2-40B4-BE49-F238E27FC236}">
                <a16:creationId xmlns:a16="http://schemas.microsoft.com/office/drawing/2014/main" id="{EB4BF7A9-5629-425E-8479-0D319D8CA6D3}"/>
              </a:ext>
            </a:extLst>
          </p:cNvPr>
          <p:cNvSpPr>
            <a:spLocks noGrp="1" noChangeArrowheads="1"/>
          </p:cNvSpPr>
          <p:nvPr>
            <p:ph type="body" idx="1"/>
          </p:nvPr>
        </p:nvSpPr>
        <p:spPr>
          <a:xfrm>
            <a:off x="684213" y="1690688"/>
            <a:ext cx="8001000" cy="3810000"/>
          </a:xfrm>
        </p:spPr>
        <p:txBody>
          <a:bodyPr/>
          <a:lstStyle/>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Step1: </a:t>
            </a:r>
            <a:r>
              <a:rPr lang="en-US" altLang="en-US" sz="2000" i="1">
                <a:latin typeface="Cambria" panose="02040503050406030204" pitchFamily="18" charset="0"/>
                <a:ea typeface="Cambria" panose="02040503050406030204" pitchFamily="18" charset="0"/>
                <a:cs typeface="Cambria" panose="02040503050406030204" pitchFamily="18" charset="0"/>
              </a:rPr>
              <a:t>Take the existential closure and eliminate redundant 		     quantifiers.</a:t>
            </a:r>
            <a:r>
              <a:rPr lang="en-US" altLang="en-US" sz="2000">
                <a:latin typeface="Cambria" panose="02040503050406030204" pitchFamily="18" charset="0"/>
                <a:ea typeface="Cambria" panose="02040503050406030204" pitchFamily="18" charset="0"/>
                <a:cs typeface="Cambria" panose="02040503050406030204" pitchFamily="18" charset="0"/>
              </a:rPr>
              <a:t> This introduces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and eliminates z, so:</a:t>
            </a:r>
          </a:p>
          <a:p>
            <a:pPr eaLnBrk="1" hangingPunct="1"/>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eaLnBrk="1" hangingPunct="1"/>
            <a:r>
              <a:rPr lang="en-US" altLang="en-US" sz="2000">
                <a:sym typeface="Symbol" panose="05050102010706020507" pitchFamily="18" charset="2"/>
              </a:rPr>
              <a:t>x {p(x)  z { y [q(x,y)  p(f(x</a:t>
            </a:r>
            <a:r>
              <a:rPr lang="en-US" altLang="en-US" sz="2000" baseline="-25000">
                <a:sym typeface="Symbol" panose="05050102010706020507" pitchFamily="18" charset="2"/>
              </a:rPr>
              <a:t>1</a:t>
            </a:r>
            <a:r>
              <a:rPr lang="en-US" altLang="en-US" sz="2000">
                <a:sym typeface="Symbol" panose="05050102010706020507" pitchFamily="18" charset="2"/>
              </a:rPr>
              <a:t>))]  y [q(x,y)  p(x)] }}</a:t>
            </a:r>
            <a:endParaRPr lang="en-US" altLang="en-US" sz="2000"/>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 y [q(x,y)  p(f(x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y [q(x,y)  p(x)] }}</a:t>
            </a: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Step 2: </a:t>
            </a:r>
            <a:r>
              <a:rPr lang="en-US" altLang="en-US" sz="2000" i="1">
                <a:latin typeface="Cambria" panose="02040503050406030204" pitchFamily="18" charset="0"/>
                <a:ea typeface="Cambria" panose="02040503050406030204" pitchFamily="18" charset="0"/>
                <a:cs typeface="Cambria" panose="02040503050406030204" pitchFamily="18" charset="0"/>
              </a:rPr>
              <a:t>Rename any variable that is quantified more than once.</a:t>
            </a: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rPr>
              <a:t>		     y has been quantified twice, so:</a:t>
            </a: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 y [q(x,y)  p(f(x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y [q(x,y)  p(x)] }}</a:t>
            </a: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rPr>
              <a:t>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 y [q(x,y)  p(f(x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z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[q(x,</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z</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p(x)] }}</a:t>
            </a: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3012">
                                            <p:txEl>
                                              <p:pRg st="4" end="4"/>
                                            </p:txEl>
                                          </p:spTgt>
                                        </p:tgtEl>
                                        <p:attrNameLst>
                                          <p:attrName>style.visibility</p:attrName>
                                        </p:attrNameLst>
                                      </p:cBhvr>
                                      <p:to>
                                        <p:strVal val="visible"/>
                                      </p:to>
                                    </p:set>
                                    <p:animEffect transition="in" filter="fade">
                                      <p:cBhvr>
                                        <p:cTn id="7" dur="1000"/>
                                        <p:tgtEl>
                                          <p:spTgt spid="43012">
                                            <p:txEl>
                                              <p:pRg st="4" end="4"/>
                                            </p:txEl>
                                          </p:spTgt>
                                        </p:tgtEl>
                                      </p:cBhvr>
                                    </p:animEffect>
                                    <p:anim calcmode="lin" valueType="num">
                                      <p:cBhvr>
                                        <p:cTn id="8" dur="1000" fill="hold"/>
                                        <p:tgtEl>
                                          <p:spTgt spid="43012">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30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43012">
                                            <p:txEl>
                                              <p:pRg st="11" end="11"/>
                                            </p:txEl>
                                          </p:spTgt>
                                        </p:tgtEl>
                                        <p:attrNameLst>
                                          <p:attrName>style.visibility</p:attrName>
                                        </p:attrNameLst>
                                      </p:cBhvr>
                                      <p:to>
                                        <p:strVal val="visible"/>
                                      </p:to>
                                    </p:set>
                                    <p:animEffect transition="in" filter="fade">
                                      <p:cBhvr>
                                        <p:cTn id="14" dur="1000"/>
                                        <p:tgtEl>
                                          <p:spTgt spid="43012">
                                            <p:txEl>
                                              <p:pRg st="11" end="11"/>
                                            </p:txEl>
                                          </p:spTgt>
                                        </p:tgtEl>
                                      </p:cBhvr>
                                    </p:animEffect>
                                    <p:anim calcmode="lin" valueType="num">
                                      <p:cBhvr>
                                        <p:cTn id="15" dur="1000" fill="hold"/>
                                        <p:tgtEl>
                                          <p:spTgt spid="43012">
                                            <p:txEl>
                                              <p:pRg st="11" end="11"/>
                                            </p:txEl>
                                          </p:spTgt>
                                        </p:tgtEl>
                                        <p:attrNameLst>
                                          <p:attrName>ppt_x</p:attrName>
                                        </p:attrNameLst>
                                      </p:cBhvr>
                                      <p:tavLst>
                                        <p:tav tm="0">
                                          <p:val>
                                            <p:strVal val="#ppt_x"/>
                                          </p:val>
                                        </p:tav>
                                        <p:tav tm="100000">
                                          <p:val>
                                            <p:strVal val="#ppt_x"/>
                                          </p:val>
                                        </p:tav>
                                      </p:tavLst>
                                    </p:anim>
                                    <p:anim calcmode="lin" valueType="num">
                                      <p:cBhvr>
                                        <p:cTn id="16" dur="1000" fill="hold"/>
                                        <p:tgtEl>
                                          <p:spTgt spid="43012">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DA64627-C4A1-4231-BB7D-2E7D3A7A9F67}"/>
              </a:ext>
            </a:extLst>
          </p:cNvPr>
          <p:cNvSpPr>
            <a:spLocks noGrp="1" noChangeArrowheads="1"/>
          </p:cNvSpPr>
          <p:nvPr>
            <p:ph type="title"/>
          </p:nvPr>
        </p:nvSpPr>
        <p:spPr>
          <a:xfrm>
            <a:off x="625475" y="188913"/>
            <a:ext cx="7772400" cy="609600"/>
          </a:xfrm>
        </p:spPr>
        <p:txBody>
          <a:bodyPr/>
          <a:lstStyle/>
          <a:p>
            <a:pPr algn="l" eaLnBrk="1" hangingPunct="1"/>
            <a:r>
              <a:rPr lang="en-US" altLang="en-US" sz="2800">
                <a:latin typeface="Cambria" panose="02040503050406030204" pitchFamily="18" charset="0"/>
                <a:ea typeface="Cambria" panose="02040503050406030204" pitchFamily="18" charset="0"/>
                <a:cs typeface="Cambria" panose="02040503050406030204" pitchFamily="18" charset="0"/>
              </a:rPr>
              <a:t>Conversion to Normal Form</a:t>
            </a:r>
          </a:p>
        </p:txBody>
      </p:sp>
      <p:sp>
        <p:nvSpPr>
          <p:cNvPr id="44036" name="Rectangle 3">
            <a:extLst>
              <a:ext uri="{FF2B5EF4-FFF2-40B4-BE49-F238E27FC236}">
                <a16:creationId xmlns:a16="http://schemas.microsoft.com/office/drawing/2014/main" id="{1924B221-2502-485E-A679-55363A8781D8}"/>
              </a:ext>
            </a:extLst>
          </p:cNvPr>
          <p:cNvSpPr>
            <a:spLocks noGrp="1" noChangeArrowheads="1"/>
          </p:cNvSpPr>
          <p:nvPr>
            <p:ph type="body" idx="1"/>
          </p:nvPr>
        </p:nvSpPr>
        <p:spPr>
          <a:xfrm>
            <a:off x="685800" y="1447800"/>
            <a:ext cx="7772400" cy="4648200"/>
          </a:xfrm>
        </p:spPr>
        <p:txBody>
          <a:bodyPr/>
          <a:lstStyle/>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Step 3: </a:t>
            </a:r>
            <a:r>
              <a:rPr lang="en-US" altLang="en-US" sz="2000" i="1">
                <a:latin typeface="Cambria" panose="02040503050406030204" pitchFamily="18" charset="0"/>
                <a:ea typeface="Cambria" panose="02040503050406030204" pitchFamily="18" charset="0"/>
                <a:cs typeface="Cambria" panose="02040503050406030204" pitchFamily="18" charset="0"/>
              </a:rPr>
              <a:t>Eliminate implication.</a:t>
            </a: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 y [q(x,y)  p(f(x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z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[q(x,</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z</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p(x)] }}</a:t>
            </a: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 y [q(x,y)  p(f(x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z [q(x,z)  p(x)] }}</a:t>
            </a: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Step 4: </a:t>
            </a:r>
            <a:r>
              <a:rPr lang="en-US" altLang="en-US" sz="2000" i="1">
                <a:latin typeface="Cambria" panose="02040503050406030204" pitchFamily="18" charset="0"/>
                <a:ea typeface="Cambria" panose="02040503050406030204" pitchFamily="18" charset="0"/>
                <a:cs typeface="Cambria" panose="02040503050406030204" pitchFamily="18" charset="0"/>
              </a:rPr>
              <a:t>Move </a:t>
            </a:r>
            <a:r>
              <a:rPr lang="en-US" altLang="en-US" sz="24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a:t>
            </a:r>
            <a:r>
              <a:rPr lang="en-US" altLang="en-US" sz="2000"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all the way inwards</a:t>
            </a:r>
            <a:r>
              <a:rPr lang="en-US" altLang="en-US" sz="2000" i="1">
                <a:latin typeface="Cambria" panose="02040503050406030204" pitchFamily="18" charset="0"/>
                <a:ea typeface="Cambria" panose="02040503050406030204" pitchFamily="18" charset="0"/>
                <a:cs typeface="Cambria" panose="02040503050406030204" pitchFamily="18" charset="0"/>
              </a:rPr>
              <a:t>.</a:t>
            </a: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 y [q(x,y)  p(f(x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z [q(x,z)  p(x)] }}</a:t>
            </a: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y [q(x,y</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p(f(x</a:t>
            </a:r>
            <a:r>
              <a:rPr lang="en-US" altLang="en-US" sz="2000" baseline="-25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z [q(x,z)  p(x)] }}</a:t>
            </a: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4036">
                                            <p:txEl>
                                              <p:pRg st="4" end="4"/>
                                            </p:txEl>
                                          </p:spTgt>
                                        </p:tgtEl>
                                        <p:attrNameLst>
                                          <p:attrName>style.visibility</p:attrName>
                                        </p:attrNameLst>
                                      </p:cBhvr>
                                      <p:to>
                                        <p:strVal val="visible"/>
                                      </p:to>
                                    </p:set>
                                    <p:animEffect transition="in" filter="wipe(down)">
                                      <p:cBhvr>
                                        <p:cTn id="7" dur="500"/>
                                        <p:tgtEl>
                                          <p:spTgt spid="44036">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44036">
                                            <p:txEl>
                                              <p:pRg st="10" end="10"/>
                                            </p:txEl>
                                          </p:spTgt>
                                        </p:tgtEl>
                                        <p:attrNameLst>
                                          <p:attrName>style.visibility</p:attrName>
                                        </p:attrNameLst>
                                      </p:cBhvr>
                                      <p:to>
                                        <p:strVal val="visible"/>
                                      </p:to>
                                    </p:set>
                                    <p:animEffect transition="in" filter="fade">
                                      <p:cBhvr>
                                        <p:cTn id="12" dur="1000"/>
                                        <p:tgtEl>
                                          <p:spTgt spid="44036">
                                            <p:txEl>
                                              <p:pRg st="10" end="10"/>
                                            </p:txEl>
                                          </p:spTgt>
                                        </p:tgtEl>
                                      </p:cBhvr>
                                    </p:animEffect>
                                    <p:anim calcmode="lin" valueType="num">
                                      <p:cBhvr>
                                        <p:cTn id="13" dur="1000" fill="hold"/>
                                        <p:tgtEl>
                                          <p:spTgt spid="44036">
                                            <p:txEl>
                                              <p:pRg st="10" end="10"/>
                                            </p:txEl>
                                          </p:spTgt>
                                        </p:tgtEl>
                                        <p:attrNameLst>
                                          <p:attrName>ppt_x</p:attrName>
                                        </p:attrNameLst>
                                      </p:cBhvr>
                                      <p:tavLst>
                                        <p:tav tm="0">
                                          <p:val>
                                            <p:strVal val="#ppt_x"/>
                                          </p:val>
                                        </p:tav>
                                        <p:tav tm="100000">
                                          <p:val>
                                            <p:strVal val="#ppt_x"/>
                                          </p:val>
                                        </p:tav>
                                      </p:tavLst>
                                    </p:anim>
                                    <p:anim calcmode="lin" valueType="num">
                                      <p:cBhvr>
                                        <p:cTn id="14" dur="1000" fill="hold"/>
                                        <p:tgtEl>
                                          <p:spTgt spid="4403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CB2B81-D339-4931-80EF-ED6212E479E5}"/>
              </a:ext>
            </a:extLst>
          </p:cNvPr>
          <p:cNvSpPr>
            <a:spLocks noGrp="1" noChangeArrowheads="1"/>
          </p:cNvSpPr>
          <p:nvPr>
            <p:ph idx="1"/>
          </p:nvPr>
        </p:nvSpPr>
        <p:spPr/>
        <p:txBody>
          <a:bodyPr/>
          <a:lstStyle/>
          <a:p>
            <a:pPr eaLnBrk="1" hangingPunct="1"/>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Step 5: </a:t>
            </a:r>
            <a:r>
              <a:rPr lang="en-US" altLang="en-US"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Push the quantifiers to the right.</a:t>
            </a:r>
          </a:p>
          <a:p>
            <a:pPr eaLnBrk="1" hangingPunct="1"/>
            <a:endParaRPr lang="en-US" altLang="en-US"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eaLnBrk="1" hangingPunct="1"/>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a:t>
            </a:r>
            <a:r>
              <a:rPr lang="en-US" altLang="en-US">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y [q(x,y</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a:t>
            </a:r>
            <a:r>
              <a:rPr lang="en-US" altLang="en-US">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p(f(x</a:t>
            </a:r>
            <a:r>
              <a:rPr lang="en-US" altLang="en-US" baseline="-25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z [q(x,z)  p(x)] }}</a:t>
            </a:r>
          </a:p>
          <a:p>
            <a:pPr eaLnBrk="1" hangingPunct="1"/>
            <a:endParaRPr lang="en-US" altLang="en-US"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eaLnBrk="1" hangingPunct="1">
              <a:buFontTx/>
              <a:buNone/>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a:t>
            </a:r>
            <a:r>
              <a:rPr lang="en-US" altLang="en-US">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{[y q(x,y) </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p(f(x</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a:t>
            </a:r>
            <a:r>
              <a:rPr lang="en-US" altLang="en-US">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z q(x,z) </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p(x)] }}</a:t>
            </a:r>
          </a:p>
          <a:p>
            <a:pPr eaLnBrk="1" hangingPunct="1"/>
            <a:endParaRPr lang="en-US" altLang="en-US"/>
          </a:p>
          <a:p>
            <a:endParaRPr lang="en-IN" altLang="en-US"/>
          </a:p>
        </p:txBody>
      </p:sp>
      <p:sp>
        <p:nvSpPr>
          <p:cNvPr id="46083" name="Rectangle 2">
            <a:extLst>
              <a:ext uri="{FF2B5EF4-FFF2-40B4-BE49-F238E27FC236}">
                <a16:creationId xmlns:a16="http://schemas.microsoft.com/office/drawing/2014/main" id="{568778A0-BE36-4CBF-96AF-C91E575F8B4D}"/>
              </a:ext>
            </a:extLst>
          </p:cNvPr>
          <p:cNvSpPr>
            <a:spLocks noGrp="1" noChangeArrowheads="1"/>
          </p:cNvSpPr>
          <p:nvPr>
            <p:ph type="title"/>
          </p:nvPr>
        </p:nvSpPr>
        <p:spPr>
          <a:xfrm>
            <a:off x="625475" y="188913"/>
            <a:ext cx="7772400" cy="609600"/>
          </a:xfrm>
        </p:spPr>
        <p:txBody>
          <a:bodyPr/>
          <a:lstStyle/>
          <a:p>
            <a:pPr algn="l" eaLnBrk="1" hangingPunct="1"/>
            <a:r>
              <a:rPr lang="en-US" altLang="en-US" sz="2800">
                <a:latin typeface="Cambria" panose="02040503050406030204" pitchFamily="18" charset="0"/>
                <a:ea typeface="Cambria" panose="02040503050406030204" pitchFamily="18" charset="0"/>
                <a:cs typeface="Cambria" panose="02040503050406030204" pitchFamily="18" charset="0"/>
              </a:rPr>
              <a:t>Conversion to Normal Form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304CD63-324C-490C-B915-9F60FEDC0B8C}"/>
              </a:ext>
            </a:extLst>
          </p:cNvPr>
          <p:cNvSpPr>
            <a:spLocks noGrp="1" noChangeArrowheads="1"/>
          </p:cNvSpPr>
          <p:nvPr>
            <p:ph type="title"/>
          </p:nvPr>
        </p:nvSpPr>
        <p:spPr>
          <a:xfrm>
            <a:off x="468313" y="333375"/>
            <a:ext cx="7772400" cy="609600"/>
          </a:xfrm>
        </p:spPr>
        <p:txBody>
          <a:bodyPr/>
          <a:lstStyle/>
          <a:p>
            <a:pPr algn="l" eaLnBrk="1" hangingPunct="1"/>
            <a:r>
              <a:rPr lang="en-US" altLang="en-US" sz="2800">
                <a:latin typeface="Cambria" panose="02040503050406030204" pitchFamily="18" charset="0"/>
                <a:ea typeface="Cambria" panose="02040503050406030204" pitchFamily="18" charset="0"/>
                <a:cs typeface="Cambria" panose="02040503050406030204" pitchFamily="18" charset="0"/>
              </a:rPr>
              <a:t>Conversion to Normal Form</a:t>
            </a:r>
          </a:p>
        </p:txBody>
      </p:sp>
      <p:sp>
        <p:nvSpPr>
          <p:cNvPr id="45060" name="Rectangle 3">
            <a:extLst>
              <a:ext uri="{FF2B5EF4-FFF2-40B4-BE49-F238E27FC236}">
                <a16:creationId xmlns:a16="http://schemas.microsoft.com/office/drawing/2014/main" id="{A3A3A858-49AD-47BF-8A44-66FE68B442A8}"/>
              </a:ext>
            </a:extLst>
          </p:cNvPr>
          <p:cNvSpPr>
            <a:spLocks noGrp="1" noChangeArrowheads="1"/>
          </p:cNvSpPr>
          <p:nvPr>
            <p:ph type="body" idx="1"/>
          </p:nvPr>
        </p:nvSpPr>
        <p:spPr>
          <a:xfrm>
            <a:off x="685800" y="1447800"/>
            <a:ext cx="7772400" cy="4648200"/>
          </a:xfrm>
        </p:spPr>
        <p:txBody>
          <a:bodyPr/>
          <a:lstStyle/>
          <a:p>
            <a:pPr marL="533400" indent="-533400"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Step 6: </a:t>
            </a:r>
            <a:r>
              <a:rPr lang="en-US" altLang="en-US" sz="2000" i="1">
                <a:latin typeface="Cambria" panose="02040503050406030204" pitchFamily="18" charset="0"/>
                <a:ea typeface="Cambria" panose="02040503050406030204" pitchFamily="18" charset="0"/>
                <a:cs typeface="Cambria" panose="02040503050406030204" pitchFamily="18" charset="0"/>
              </a:rPr>
              <a:t>Eliminate existential quantifiers (Skolemization).</a:t>
            </a:r>
          </a:p>
          <a:p>
            <a:pPr marL="914400" lvl="1" indent="-457200" eaLnBrk="1" hangingPunct="1">
              <a:buFontTx/>
              <a:buNone/>
            </a:pPr>
            <a:r>
              <a:rPr lang="en-US" altLang="en-US" sz="1800">
                <a:latin typeface="Cambria" panose="02040503050406030204" pitchFamily="18" charset="0"/>
                <a:ea typeface="Cambria" panose="02040503050406030204" pitchFamily="18" charset="0"/>
                <a:cs typeface="Cambria" panose="02040503050406030204" pitchFamily="18" charset="0"/>
              </a:rPr>
              <a:t>       Pick out the leftmost </a:t>
            </a:r>
            <a:r>
              <a:rPr lang="en-US" altLang="en-US" sz="18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y B(y) and replace it by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B(f(x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i2</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in</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a:t>
            </a:r>
            <a:r>
              <a:rPr lang="en-US" altLang="en-US" sz="18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where:</a:t>
            </a:r>
          </a:p>
          <a:p>
            <a:pPr marL="1295400" lvl="2" indent="-381000" eaLnBrk="1" hangingPunct="1">
              <a:buFontTx/>
              <a:buAutoNum type="alphaLcParenR"/>
            </a:pP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i1</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i2</a:t>
            </a:r>
            <a:r>
              <a:rPr lang="en-US" altLang="en-US">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a:t>
            </a:r>
            <a:r>
              <a:rPr lang="en-US" altLang="en-US"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in</a:t>
            </a:r>
            <a:r>
              <a:rPr lang="en-US" altLang="en-US" sz="18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a:t>
            </a:r>
            <a:r>
              <a:rPr lang="en-US" altLang="en-US" sz="18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are all the distinct free variables of y B(y) which are universally quantified to the left of y B(y), and</a:t>
            </a:r>
          </a:p>
          <a:p>
            <a:pPr marL="1295400" lvl="2" indent="-381000" eaLnBrk="1" hangingPunct="1">
              <a:buFontTx/>
              <a:buAutoNum type="alphaLcParenR"/>
            </a:pPr>
            <a:r>
              <a:rPr lang="en-US" altLang="en-US" sz="18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F is any n-ary function constant which does not occur already </a:t>
            </a:r>
            <a:endParaRPr lang="en-US" altLang="en-US">
              <a:latin typeface="Cambria" panose="02040503050406030204" pitchFamily="18" charset="0"/>
              <a:ea typeface="Cambria" panose="02040503050406030204" pitchFamily="18" charset="0"/>
              <a:cs typeface="Cambria" panose="02040503050406030204" pitchFamily="18" charset="0"/>
            </a:endParaRPr>
          </a:p>
          <a:p>
            <a:pPr marL="533400" indent="-533400"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marL="533400" indent="-533400"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{[y q(x,y)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p(f(</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a:t>
            </a:r>
            <a:r>
              <a:rPr lang="en-US" altLang="en-US" sz="2000" baseline="-25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1</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z q(x,z)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p(x)] }}</a:t>
            </a:r>
          </a:p>
          <a:p>
            <a:pPr marL="533400" indent="-533400"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marL="533400" indent="-533400"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 {p(x)  {[</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q(x,g(x)</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p(f(</a:t>
            </a:r>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a</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[z q(x,z)  p(x)] }}</a:t>
            </a:r>
          </a:p>
          <a:p>
            <a:pPr marL="533400" indent="-533400"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marL="533400" indent="-533400"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Step 7: </a:t>
            </a:r>
            <a:r>
              <a:rPr lang="en-US" altLang="en-US" sz="2000"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Move all universal quantifiers to the left</a:t>
            </a:r>
          </a:p>
          <a:p>
            <a:pPr marL="533400" indent="-533400" eaLnBrk="1" hangingPunct="1"/>
            <a:endParaRPr lang="en-US" altLang="en-US" sz="2000"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marL="533400" indent="-533400"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z {p(x)  {[q(x,g(x))  p(f(a))]  [q(x,z)  p(x)] }}</a:t>
            </a:r>
            <a:endParaRPr lang="en-US" altLang="en-US" sz="2000">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5060">
                                            <p:txEl>
                                              <p:pRg st="7" end="7"/>
                                            </p:txEl>
                                          </p:spTgt>
                                        </p:tgtEl>
                                        <p:attrNameLst>
                                          <p:attrName>style.visibility</p:attrName>
                                        </p:attrNameLst>
                                      </p:cBhvr>
                                      <p:to>
                                        <p:strVal val="visible"/>
                                      </p:to>
                                    </p:set>
                                    <p:animEffect transition="in" filter="fade">
                                      <p:cBhvr>
                                        <p:cTn id="7" dur="1000"/>
                                        <p:tgtEl>
                                          <p:spTgt spid="45060">
                                            <p:txEl>
                                              <p:pRg st="7" end="7"/>
                                            </p:txEl>
                                          </p:spTgt>
                                        </p:tgtEl>
                                      </p:cBhvr>
                                    </p:animEffect>
                                    <p:anim calcmode="lin" valueType="num">
                                      <p:cBhvr>
                                        <p:cTn id="8" dur="1000" fill="hold"/>
                                        <p:tgtEl>
                                          <p:spTgt spid="45060">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506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EE77C96D-181B-40E3-A7C1-9638EAA73B19}"/>
              </a:ext>
            </a:extLst>
          </p:cNvPr>
          <p:cNvSpPr>
            <a:spLocks noGrp="1" noChangeArrowheads="1"/>
          </p:cNvSpPr>
          <p:nvPr>
            <p:ph type="title"/>
          </p:nvPr>
        </p:nvSpPr>
        <p:spPr/>
        <p:txBody>
          <a:bodyPr/>
          <a:lstStyle/>
          <a:p>
            <a:r>
              <a:rPr lang="en-US" altLang="en-US" i="1">
                <a:latin typeface="Cambria" panose="02040503050406030204" pitchFamily="18" charset="0"/>
                <a:ea typeface="Cambria" panose="02040503050406030204" pitchFamily="18" charset="0"/>
                <a:cs typeface="Cambria" panose="02040503050406030204" pitchFamily="18" charset="0"/>
              </a:rPr>
              <a:t>Skolemization</a:t>
            </a:r>
            <a:endParaRPr lang="en-IN" altLang="en-US"/>
          </a:p>
        </p:txBody>
      </p:sp>
      <p:sp>
        <p:nvSpPr>
          <p:cNvPr id="3" name="Content Placeholder 2">
            <a:extLst>
              <a:ext uri="{FF2B5EF4-FFF2-40B4-BE49-F238E27FC236}">
                <a16:creationId xmlns:a16="http://schemas.microsoft.com/office/drawing/2014/main" id="{269EB829-8786-4B3D-9424-F9475CEC3004}"/>
              </a:ext>
            </a:extLst>
          </p:cNvPr>
          <p:cNvSpPr>
            <a:spLocks noGrp="1" noRot="1" noChangeAspect="1" noMove="1" noResize="1" noEditPoints="1" noAdjustHandles="1" noChangeArrowheads="1" noChangeShapeType="1" noTextEdit="1"/>
          </p:cNvSpPr>
          <p:nvPr>
            <p:ph idx="1"/>
          </p:nvPr>
        </p:nvSpPr>
        <p:spPr>
          <a:blipFill>
            <a:blip r:embed="rId2"/>
            <a:stretch>
              <a:fillRect/>
            </a:stretch>
          </a:blipFill>
          <a:extLst/>
        </p:spPr>
        <p:txBody>
          <a:bodyPr/>
          <a:lstStyle/>
          <a:p>
            <a:pPr>
              <a:defRPr/>
            </a:pPr>
            <a:r>
              <a:rPr lang="en-IN">
                <a:noFill/>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2AB8E36C-6874-4F0C-80B4-F16AF886FE4A}"/>
              </a:ext>
            </a:extLst>
          </p:cNvPr>
          <p:cNvSpPr>
            <a:spLocks noGrp="1" noChangeArrowheads="1"/>
          </p:cNvSpPr>
          <p:nvPr>
            <p:ph type="title"/>
          </p:nvPr>
        </p:nvSpPr>
        <p:spPr>
          <a:xfrm>
            <a:off x="539750" y="457200"/>
            <a:ext cx="7772400" cy="609600"/>
          </a:xfrm>
        </p:spPr>
        <p:txBody>
          <a:bodyPr/>
          <a:lstStyle/>
          <a:p>
            <a:pPr algn="l" eaLnBrk="1" hangingPunct="1"/>
            <a:r>
              <a:rPr lang="en-US" altLang="en-US" sz="2800">
                <a:latin typeface="Cambria" panose="02040503050406030204" pitchFamily="18" charset="0"/>
                <a:ea typeface="Cambria" panose="02040503050406030204" pitchFamily="18" charset="0"/>
                <a:cs typeface="Cambria" panose="02040503050406030204" pitchFamily="18" charset="0"/>
              </a:rPr>
              <a:t>Conversion to Normal Form</a:t>
            </a:r>
          </a:p>
        </p:txBody>
      </p:sp>
      <p:sp>
        <p:nvSpPr>
          <p:cNvPr id="49155" name="Rectangle 3">
            <a:extLst>
              <a:ext uri="{FF2B5EF4-FFF2-40B4-BE49-F238E27FC236}">
                <a16:creationId xmlns:a16="http://schemas.microsoft.com/office/drawing/2014/main" id="{9CA5BF6F-26B9-4017-A78D-B5EE911A8C0A}"/>
              </a:ext>
            </a:extLst>
          </p:cNvPr>
          <p:cNvSpPr>
            <a:spLocks noGrp="1" noChangeArrowheads="1"/>
          </p:cNvSpPr>
          <p:nvPr>
            <p:ph type="body" idx="1"/>
          </p:nvPr>
        </p:nvSpPr>
        <p:spPr>
          <a:xfrm>
            <a:off x="685800" y="1447800"/>
            <a:ext cx="7772400" cy="4038600"/>
          </a:xfrm>
        </p:spPr>
        <p:txBody>
          <a:bodyPr/>
          <a:lstStyle/>
          <a:p>
            <a:pPr marL="533400" indent="-533400"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Step 8: </a:t>
            </a:r>
            <a:r>
              <a:rPr lang="en-US" altLang="en-US" sz="2000" i="1">
                <a:latin typeface="Cambria" panose="02040503050406030204" pitchFamily="18" charset="0"/>
                <a:ea typeface="Cambria" panose="02040503050406030204" pitchFamily="18" charset="0"/>
                <a:cs typeface="Cambria" panose="02040503050406030204" pitchFamily="18" charset="0"/>
              </a:rPr>
              <a:t>Distribute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over </a:t>
            </a:r>
            <a:r>
              <a:rPr lang="en-US" altLang="en-US" sz="2000" i="1">
                <a:latin typeface="Cambria" panose="02040503050406030204" pitchFamily="18" charset="0"/>
                <a:ea typeface="Cambria" panose="02040503050406030204" pitchFamily="18" charset="0"/>
                <a:cs typeface="Cambria" panose="02040503050406030204" pitchFamily="18" charset="0"/>
              </a:rPr>
              <a:t>.</a:t>
            </a:r>
          </a:p>
          <a:p>
            <a:pPr marL="914400" lvl="1" indent="-457200" eaLnBrk="1" hangingPunct="1">
              <a:buFontTx/>
              <a:buNone/>
            </a:pPr>
            <a:r>
              <a:rPr lang="en-US" altLang="en-US" sz="1800">
                <a:latin typeface="Cambria" panose="02040503050406030204" pitchFamily="18" charset="0"/>
                <a:ea typeface="Cambria" panose="02040503050406030204" pitchFamily="18" charset="0"/>
                <a:cs typeface="Cambria" panose="02040503050406030204" pitchFamily="18" charset="0"/>
              </a:rPr>
              <a:t>       </a:t>
            </a:r>
          </a:p>
          <a:p>
            <a:pPr marL="533400" indent="-533400"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rPr>
              <a:t>	</a:t>
            </a: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x z {[p(x)  q(x,g(x))] </a:t>
            </a:r>
          </a:p>
          <a:p>
            <a:pPr marL="533400" indent="-533400"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[p(x)  p(f(a))] </a:t>
            </a:r>
          </a:p>
          <a:p>
            <a:pPr marL="533400" indent="-533400"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 [p(x)  q(x,z)  p(x)] }</a:t>
            </a:r>
          </a:p>
          <a:p>
            <a:pPr marL="533400" indent="-533400"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marL="533400" indent="-533400" eaLnBrk="1" hangingPunct="1"/>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Step 9: (Optional) </a:t>
            </a:r>
            <a:r>
              <a:rPr lang="en-US" altLang="en-US" sz="2000"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Simplify</a:t>
            </a: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marL="533400" indent="-533400"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endParaRPr>
          </a:p>
          <a:p>
            <a:pPr marL="533400" indent="-533400" eaLnBrk="1" hangingPunct="1">
              <a:buFontTx/>
              <a:buNone/>
            </a:pPr>
            <a:r>
              <a:rPr lang="en-US" altLang="en-US" sz="20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	x {[p(x)  q(x,g(x))]    p(f(a))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78ABBD2A-53B6-434E-ACD6-1EDB341C2DB7}"/>
              </a:ext>
            </a:extLst>
          </p:cNvPr>
          <p:cNvSpPr>
            <a:spLocks noGrp="1" noChangeArrowheads="1"/>
          </p:cNvSpPr>
          <p:nvPr>
            <p:ph type="title"/>
          </p:nvPr>
        </p:nvSpPr>
        <p:spPr/>
        <p:txBody>
          <a:bodyPr/>
          <a:lstStyle/>
          <a:p>
            <a:r>
              <a:rPr lang="en-US" altLang="en-US"/>
              <a:t>Example </a:t>
            </a:r>
            <a:endParaRPr lang="en-IN" altLang="en-US"/>
          </a:p>
        </p:txBody>
      </p:sp>
      <p:sp>
        <p:nvSpPr>
          <p:cNvPr id="50179" name="Content Placeholder 2">
            <a:extLst>
              <a:ext uri="{FF2B5EF4-FFF2-40B4-BE49-F238E27FC236}">
                <a16:creationId xmlns:a16="http://schemas.microsoft.com/office/drawing/2014/main" id="{1C647233-B296-4C53-93FD-89795CC4F7BD}"/>
              </a:ext>
            </a:extLst>
          </p:cNvPr>
          <p:cNvSpPr>
            <a:spLocks noGrp="1" noChangeArrowheads="1"/>
          </p:cNvSpPr>
          <p:nvPr>
            <p:ph idx="1"/>
          </p:nvPr>
        </p:nvSpPr>
        <p:spPr>
          <a:xfrm>
            <a:off x="539750" y="2060575"/>
            <a:ext cx="7772400" cy="4114800"/>
          </a:xfrm>
        </p:spPr>
        <p:txBody>
          <a:bodyPr/>
          <a:lstStyle/>
          <a:p>
            <a:r>
              <a:rPr lang="en-US" altLang="en-US"/>
              <a:t>“Everyone who loves all animals is </a:t>
            </a:r>
            <a:r>
              <a:rPr lang="en-IN" altLang="en-US"/>
              <a:t>loved by someone,</a:t>
            </a:r>
          </a:p>
        </p:txBody>
      </p:sp>
      <p:pic>
        <p:nvPicPr>
          <p:cNvPr id="6" name="Picture 5">
            <a:extLst>
              <a:ext uri="{FF2B5EF4-FFF2-40B4-BE49-F238E27FC236}">
                <a16:creationId xmlns:a16="http://schemas.microsoft.com/office/drawing/2014/main" id="{06B3BBDF-9F8A-473D-8FF2-29AAEAD31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988" y="3543300"/>
            <a:ext cx="6296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a:extLst>
              <a:ext uri="{FF2B5EF4-FFF2-40B4-BE49-F238E27FC236}">
                <a16:creationId xmlns:a16="http://schemas.microsoft.com/office/drawing/2014/main" id="{3E530E92-537D-4EA0-8DA5-B48BDB683DA1}"/>
              </a:ext>
            </a:extLst>
          </p:cNvPr>
          <p:cNvSpPr>
            <a:spLocks noGrp="1" noChangeArrowheads="1"/>
          </p:cNvSpPr>
          <p:nvPr>
            <p:ph type="title"/>
          </p:nvPr>
        </p:nvSpPr>
        <p:spPr/>
        <p:txBody>
          <a:bodyPr/>
          <a:lstStyle/>
          <a:p>
            <a:r>
              <a:rPr lang="en-US" altLang="en-US"/>
              <a:t>FOL to CNF</a:t>
            </a:r>
          </a:p>
        </p:txBody>
      </p:sp>
      <p:sp>
        <p:nvSpPr>
          <p:cNvPr id="234499" name="Rectangle 3" descr="Rectangle: Click to edit Master text styles&#10;Second level&#10;Third level&#10;Fourth level&#10;Fifth level">
            <a:extLst>
              <a:ext uri="{FF2B5EF4-FFF2-40B4-BE49-F238E27FC236}">
                <a16:creationId xmlns:a16="http://schemas.microsoft.com/office/drawing/2014/main" id="{ABDF9BA4-2121-474F-83FE-4CC61C2C505C}"/>
              </a:ext>
            </a:extLst>
          </p:cNvPr>
          <p:cNvSpPr>
            <a:spLocks noGrp="1" noChangeArrowheads="1"/>
          </p:cNvSpPr>
          <p:nvPr>
            <p:ph type="body" idx="1"/>
          </p:nvPr>
        </p:nvSpPr>
        <p:spPr>
          <a:xfrm>
            <a:off x="533400" y="1600200"/>
            <a:ext cx="8458200" cy="4525963"/>
          </a:xfrm>
        </p:spPr>
        <p:txBody>
          <a:bodyPr/>
          <a:lstStyle/>
          <a:p>
            <a:r>
              <a:rPr lang="en-US" altLang="en-US"/>
              <a:t>Resolution requires that FOL sentences be represented in Conjunctive Normal Form (CNF)</a:t>
            </a:r>
          </a:p>
          <a:p>
            <a:pPr lvl="1"/>
            <a:r>
              <a:rPr lang="en-US" altLang="en-US"/>
              <a:t>Everyone who loves all animals is loved by someone.</a:t>
            </a:r>
          </a:p>
          <a:p>
            <a:pPr lvl="1"/>
            <a:r>
              <a:rPr lang="en-US" altLang="en-US"/>
              <a:t>FOL: </a:t>
            </a:r>
          </a:p>
          <a:p>
            <a:pPr lvl="1"/>
            <a:r>
              <a:rPr lang="en-US" altLang="en-US"/>
              <a:t>CNF:</a:t>
            </a:r>
          </a:p>
        </p:txBody>
      </p:sp>
      <p:graphicFrame>
        <p:nvGraphicFramePr>
          <p:cNvPr id="234500" name="Object 4">
            <a:extLst>
              <a:ext uri="{FF2B5EF4-FFF2-40B4-BE49-F238E27FC236}">
                <a16:creationId xmlns:a16="http://schemas.microsoft.com/office/drawing/2014/main" id="{354F256B-D98B-4031-A3B8-F7273AF63B8F}"/>
              </a:ext>
            </a:extLst>
          </p:cNvPr>
          <p:cNvGraphicFramePr>
            <a:graphicFrameLocks noChangeAspect="1"/>
          </p:cNvGraphicFramePr>
          <p:nvPr/>
        </p:nvGraphicFramePr>
        <p:xfrm>
          <a:off x="2286000" y="4191000"/>
          <a:ext cx="6248400" cy="387350"/>
        </p:xfrm>
        <a:graphic>
          <a:graphicData uri="http://schemas.openxmlformats.org/presentationml/2006/ole">
            <mc:AlternateContent xmlns:mc="http://schemas.openxmlformats.org/markup-compatibility/2006">
              <mc:Choice xmlns:v="urn:schemas-microsoft-com:vml" Requires="v">
                <p:oleObj spid="_x0000_s90120" name="Equation" r:id="rId3" imgW="3276360" imgH="203040" progId="Equation.3">
                  <p:embed/>
                </p:oleObj>
              </mc:Choice>
              <mc:Fallback>
                <p:oleObj name="Equation" r:id="rId3" imgW="3276360" imgH="203040" progId="Equation.3">
                  <p:embed/>
                  <p:pic>
                    <p:nvPicPr>
                      <p:cNvPr id="234500" name="Object 4">
                        <a:extLst>
                          <a:ext uri="{FF2B5EF4-FFF2-40B4-BE49-F238E27FC236}">
                            <a16:creationId xmlns:a16="http://schemas.microsoft.com/office/drawing/2014/main" id="{354F256B-D98B-4031-A3B8-F7273AF63B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191000"/>
                        <a:ext cx="6248400"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01" name="Object 5">
            <a:extLst>
              <a:ext uri="{FF2B5EF4-FFF2-40B4-BE49-F238E27FC236}">
                <a16:creationId xmlns:a16="http://schemas.microsoft.com/office/drawing/2014/main" id="{CE66FF6E-E6B6-4A57-894E-A34921A517E9}"/>
              </a:ext>
            </a:extLst>
          </p:cNvPr>
          <p:cNvGraphicFramePr>
            <a:graphicFrameLocks noChangeAspect="1"/>
          </p:cNvGraphicFramePr>
          <p:nvPr/>
        </p:nvGraphicFramePr>
        <p:xfrm>
          <a:off x="533400" y="5105400"/>
          <a:ext cx="8378825" cy="387350"/>
        </p:xfrm>
        <a:graphic>
          <a:graphicData uri="http://schemas.openxmlformats.org/presentationml/2006/ole">
            <mc:AlternateContent xmlns:mc="http://schemas.openxmlformats.org/markup-compatibility/2006">
              <mc:Choice xmlns:v="urn:schemas-microsoft-com:vml" Requires="v">
                <p:oleObj spid="_x0000_s90121" name="Equation" r:id="rId5" imgW="4394160" imgH="203040" progId="Equation.3">
                  <p:embed/>
                </p:oleObj>
              </mc:Choice>
              <mc:Fallback>
                <p:oleObj name="Equation" r:id="rId5" imgW="4394160" imgH="203040" progId="Equation.3">
                  <p:embed/>
                  <p:pic>
                    <p:nvPicPr>
                      <p:cNvPr id="234501" name="Object 5">
                        <a:extLst>
                          <a:ext uri="{FF2B5EF4-FFF2-40B4-BE49-F238E27FC236}">
                            <a16:creationId xmlns:a16="http://schemas.microsoft.com/office/drawing/2014/main" id="{CE66FF6E-E6B6-4A57-894E-A34921A517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5105400"/>
                        <a:ext cx="8378825"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034628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00ABBF1-6842-4C4F-A6B5-850659325549}"/>
              </a:ext>
            </a:extLst>
          </p:cNvPr>
          <p:cNvSpPr>
            <a:spLocks noGrp="1" noChangeArrowheads="1"/>
          </p:cNvSpPr>
          <p:nvPr>
            <p:ph type="title"/>
          </p:nvPr>
        </p:nvSpPr>
        <p:spPr/>
        <p:txBody>
          <a:bodyPr/>
          <a:lstStyle/>
          <a:p>
            <a:r>
              <a:rPr lang="en-US" altLang="en-US"/>
              <a:t>Resolution</a:t>
            </a:r>
          </a:p>
        </p:txBody>
      </p:sp>
      <p:sp>
        <p:nvSpPr>
          <p:cNvPr id="227331" name="Rectangle 3" descr="Rectangle: Click to edit Master text styles&#10;Second level&#10;Third level&#10;Fourth level&#10;Fifth level">
            <a:extLst>
              <a:ext uri="{FF2B5EF4-FFF2-40B4-BE49-F238E27FC236}">
                <a16:creationId xmlns:a16="http://schemas.microsoft.com/office/drawing/2014/main" id="{2DD7F035-B210-4992-90CA-A9B2A4AB0183}"/>
              </a:ext>
            </a:extLst>
          </p:cNvPr>
          <p:cNvSpPr>
            <a:spLocks noGrp="1" noChangeArrowheads="1"/>
          </p:cNvSpPr>
          <p:nvPr>
            <p:ph type="body" idx="1"/>
          </p:nvPr>
        </p:nvSpPr>
        <p:spPr>
          <a:xfrm>
            <a:off x="609600" y="1524000"/>
            <a:ext cx="7772400" cy="4114800"/>
          </a:xfrm>
        </p:spPr>
        <p:txBody>
          <a:bodyPr/>
          <a:lstStyle/>
          <a:p>
            <a:r>
              <a:rPr lang="en-US" altLang="en-US" i="1"/>
              <a:t>Resolution</a:t>
            </a:r>
            <a:r>
              <a:rPr lang="en-US" altLang="en-US"/>
              <a:t> </a:t>
            </a:r>
          </a:p>
          <a:p>
            <a:pPr lvl="1"/>
            <a:r>
              <a:rPr lang="en-US" altLang="en-US"/>
              <a:t>a single inference rule </a:t>
            </a:r>
          </a:p>
          <a:p>
            <a:pPr lvl="1"/>
            <a:r>
              <a:rPr lang="en-US" altLang="en-US"/>
              <a:t>provides a complete inference algorithm when coupled with any complete search algorithm.</a:t>
            </a:r>
          </a:p>
        </p:txBody>
      </p:sp>
      <p:sp>
        <p:nvSpPr>
          <p:cNvPr id="227333" name="Text Box 5">
            <a:extLst>
              <a:ext uri="{FF2B5EF4-FFF2-40B4-BE49-F238E27FC236}">
                <a16:creationId xmlns:a16="http://schemas.microsoft.com/office/drawing/2014/main" id="{CA8F6F1D-E271-4E79-B42C-FA26188ABC92}"/>
              </a:ext>
            </a:extLst>
          </p:cNvPr>
          <p:cNvSpPr txBox="1">
            <a:spLocks noChangeArrowheads="1"/>
          </p:cNvSpPr>
          <p:nvPr/>
        </p:nvSpPr>
        <p:spPr bwMode="auto">
          <a:xfrm>
            <a:off x="2133600" y="4322763"/>
            <a:ext cx="4572000" cy="154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buSzPct val="85000"/>
            </a:pPr>
            <a:r>
              <a:rPr lang="en-US" altLang="en-US" sz="2800" i="1">
                <a:latin typeface="Times New Roman" panose="02020603050405020304" pitchFamily="18" charset="0"/>
              </a:rPr>
              <a:t>P(x) </a:t>
            </a:r>
            <a:r>
              <a:rPr lang="en-US" altLang="en-US" sz="2800">
                <a:latin typeface="Times New Roman" panose="02020603050405020304" pitchFamily="18" charset="0"/>
                <a:sym typeface="Symbol" panose="05050102010706020507" pitchFamily="18" charset="2"/>
              </a:rPr>
              <a:t> </a:t>
            </a:r>
            <a:r>
              <a:rPr lang="en-US" altLang="en-US" sz="2800" i="1">
                <a:latin typeface="Times New Roman" panose="02020603050405020304" pitchFamily="18" charset="0"/>
                <a:sym typeface="Symbol" panose="05050102010706020507" pitchFamily="18" charset="2"/>
              </a:rPr>
              <a:t>Q(x)</a:t>
            </a:r>
            <a:r>
              <a:rPr lang="en-US" altLang="en-US" sz="2800" i="1">
                <a:latin typeface="Times New Roman" panose="02020603050405020304" pitchFamily="18" charset="0"/>
              </a:rPr>
              <a:t>  ,   </a:t>
            </a:r>
            <a:r>
              <a:rPr lang="en-US" altLang="en-US" sz="2800">
                <a:latin typeface="Times New Roman" panose="02020603050405020304" pitchFamily="18" charset="0"/>
                <a:sym typeface="Symbol" panose="05050102010706020507" pitchFamily="18" charset="2"/>
              </a:rPr>
              <a:t> </a:t>
            </a:r>
            <a:r>
              <a:rPr lang="en-US" altLang="en-US" sz="2800" i="1">
                <a:latin typeface="Times New Roman" panose="02020603050405020304" pitchFamily="18" charset="0"/>
                <a:sym typeface="Symbol" panose="05050102010706020507" pitchFamily="18" charset="2"/>
              </a:rPr>
              <a:t>Q(x)</a:t>
            </a:r>
            <a:r>
              <a:rPr lang="en-US" altLang="en-US" sz="2800" i="1">
                <a:latin typeface="Times New Roman" panose="02020603050405020304" pitchFamily="18" charset="0"/>
              </a:rPr>
              <a:t> </a:t>
            </a:r>
            <a:r>
              <a:rPr lang="en-US" altLang="en-US" sz="2800">
                <a:latin typeface="Times New Roman" panose="02020603050405020304" pitchFamily="18" charset="0"/>
                <a:sym typeface="Symbol" panose="05050102010706020507" pitchFamily="18" charset="2"/>
              </a:rPr>
              <a:t> </a:t>
            </a:r>
            <a:r>
              <a:rPr lang="en-US" altLang="en-US" sz="2800" i="1">
                <a:latin typeface="Times New Roman" panose="02020603050405020304" pitchFamily="18" charset="0"/>
                <a:sym typeface="Symbol" panose="05050102010706020507" pitchFamily="18" charset="2"/>
              </a:rPr>
              <a:t>R(x)</a:t>
            </a:r>
            <a:r>
              <a:rPr lang="en-US" altLang="en-US" sz="2800" i="1">
                <a:latin typeface="Times New Roman" panose="02020603050405020304" pitchFamily="18" charset="0"/>
              </a:rPr>
              <a:t> </a:t>
            </a:r>
          </a:p>
          <a:p>
            <a:pPr algn="ctr">
              <a:spcBef>
                <a:spcPct val="20000"/>
              </a:spcBef>
              <a:buSzPct val="85000"/>
            </a:pPr>
            <a:r>
              <a:rPr lang="en-US" altLang="en-US" sz="2800" i="1">
                <a:latin typeface="Times New Roman" panose="02020603050405020304" pitchFamily="18" charset="0"/>
              </a:rPr>
              <a:t>P(x) </a:t>
            </a:r>
            <a:r>
              <a:rPr lang="en-US" altLang="en-US" sz="2800">
                <a:latin typeface="Times New Roman" panose="02020603050405020304" pitchFamily="18" charset="0"/>
                <a:sym typeface="Symbol" panose="05050102010706020507" pitchFamily="18" charset="2"/>
              </a:rPr>
              <a:t> </a:t>
            </a:r>
            <a:r>
              <a:rPr lang="en-US" altLang="en-US" sz="2800" i="1">
                <a:latin typeface="Times New Roman" panose="02020603050405020304" pitchFamily="18" charset="0"/>
                <a:sym typeface="Symbol" panose="05050102010706020507" pitchFamily="18" charset="2"/>
              </a:rPr>
              <a:t>R(x)</a:t>
            </a:r>
          </a:p>
          <a:p>
            <a:pPr algn="ctr">
              <a:spcBef>
                <a:spcPct val="20000"/>
              </a:spcBef>
              <a:buSzPct val="85000"/>
            </a:pPr>
            <a:endParaRPr lang="en-US" altLang="en-US" sz="2800" i="1">
              <a:latin typeface="Times New Roman" panose="02020603050405020304" pitchFamily="18" charset="0"/>
              <a:sym typeface="Symbol" panose="05050102010706020507" pitchFamily="18" charset="2"/>
            </a:endParaRPr>
          </a:p>
        </p:txBody>
      </p:sp>
      <p:sp>
        <p:nvSpPr>
          <p:cNvPr id="227334" name="Line 6">
            <a:extLst>
              <a:ext uri="{FF2B5EF4-FFF2-40B4-BE49-F238E27FC236}">
                <a16:creationId xmlns:a16="http://schemas.microsoft.com/office/drawing/2014/main" id="{626B8CA6-FC70-4DA0-A380-F4AEF1B86FE5}"/>
              </a:ext>
            </a:extLst>
          </p:cNvPr>
          <p:cNvSpPr>
            <a:spLocks noChangeShapeType="1"/>
          </p:cNvSpPr>
          <p:nvPr/>
        </p:nvSpPr>
        <p:spPr bwMode="auto">
          <a:xfrm>
            <a:off x="2330450" y="4819650"/>
            <a:ext cx="4114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Tree>
    <p:extLst>
      <p:ext uri="{BB962C8B-B14F-4D97-AF65-F5344CB8AC3E}">
        <p14:creationId xmlns:p14="http://schemas.microsoft.com/office/powerpoint/2010/main" val="40677078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20D0A1A2-4800-4A1B-B138-F2CBCEE6E204}"/>
              </a:ext>
            </a:extLst>
          </p:cNvPr>
          <p:cNvSpPr>
            <a:spLocks noGrp="1" noChangeArrowheads="1"/>
          </p:cNvSpPr>
          <p:nvPr>
            <p:ph type="title"/>
          </p:nvPr>
        </p:nvSpPr>
        <p:spPr/>
        <p:txBody>
          <a:bodyPr/>
          <a:lstStyle/>
          <a:p>
            <a:r>
              <a:rPr lang="en-US" altLang="en-US"/>
              <a:t>Resolution</a:t>
            </a:r>
          </a:p>
        </p:txBody>
      </p:sp>
      <p:sp>
        <p:nvSpPr>
          <p:cNvPr id="172035" name="Rectangle 3" descr="Rectangle: Click to edit Master text styles&#10;Second level&#10;Third level&#10;Fourth level&#10;Fifth level">
            <a:extLst>
              <a:ext uri="{FF2B5EF4-FFF2-40B4-BE49-F238E27FC236}">
                <a16:creationId xmlns:a16="http://schemas.microsoft.com/office/drawing/2014/main" id="{19CC94F1-2B16-414B-80CF-3959C2972D7A}"/>
              </a:ext>
            </a:extLst>
          </p:cNvPr>
          <p:cNvSpPr>
            <a:spLocks noGrp="1" noChangeArrowheads="1"/>
          </p:cNvSpPr>
          <p:nvPr>
            <p:ph type="body" idx="1"/>
          </p:nvPr>
        </p:nvSpPr>
        <p:spPr/>
        <p:txBody>
          <a:bodyPr/>
          <a:lstStyle/>
          <a:p>
            <a:endParaRPr lang="en-US" altLang="en-US"/>
          </a:p>
          <a:p>
            <a:endParaRPr lang="en-US" altLang="en-US"/>
          </a:p>
        </p:txBody>
      </p:sp>
      <p:graphicFrame>
        <p:nvGraphicFramePr>
          <p:cNvPr id="172092" name="Group 60">
            <a:extLst>
              <a:ext uri="{FF2B5EF4-FFF2-40B4-BE49-F238E27FC236}">
                <a16:creationId xmlns:a16="http://schemas.microsoft.com/office/drawing/2014/main" id="{EFAEC0C2-0B98-44E8-AD70-F3B89904203B}"/>
              </a:ext>
            </a:extLst>
          </p:cNvPr>
          <p:cNvGraphicFramePr>
            <a:graphicFrameLocks noGrp="1"/>
          </p:cNvGraphicFramePr>
          <p:nvPr/>
        </p:nvGraphicFramePr>
        <p:xfrm>
          <a:off x="685800" y="1676400"/>
          <a:ext cx="8229600" cy="4384358"/>
        </p:xfrm>
        <a:graphic>
          <a:graphicData uri="http://schemas.openxmlformats.org/drawingml/2006/table">
            <a:tbl>
              <a:tblPr/>
              <a:tblGrid>
                <a:gridCol w="4114800">
                  <a:extLst>
                    <a:ext uri="{9D8B030D-6E8A-4147-A177-3AD203B41FA5}">
                      <a16:colId xmlns:a16="http://schemas.microsoft.com/office/drawing/2014/main" val="3401690512"/>
                    </a:ext>
                  </a:extLst>
                </a:gridCol>
                <a:gridCol w="4114800">
                  <a:extLst>
                    <a:ext uri="{9D8B030D-6E8A-4147-A177-3AD203B41FA5}">
                      <a16:colId xmlns:a16="http://schemas.microsoft.com/office/drawing/2014/main" val="1284762212"/>
                    </a:ext>
                  </a:extLst>
                </a:gridCol>
              </a:tblGrid>
              <a:tr h="180975">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ahoma" panose="020B0604030504040204" pitchFamily="34" charset="0"/>
                        </a:rPr>
                        <a:t>Implicative Form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ahoma" panose="020B0604030504040204" pitchFamily="34" charset="0"/>
                        </a:rPr>
                        <a:t>Conjunctive normal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17053587"/>
                  </a:ext>
                </a:extLst>
              </a:tr>
              <a:tr h="549275">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 food (x)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eats(John, 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 (x)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eats(John, x)</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92023575"/>
                  </a:ext>
                </a:extLst>
              </a:tr>
              <a:tr h="5334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food(apples)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food(apples)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13198399"/>
                  </a:ext>
                </a:extLst>
              </a:tr>
              <a:tr h="5080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food(chicken)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food(chicken)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87371549"/>
                  </a:ext>
                </a:extLst>
              </a:tr>
              <a:tr h="7874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x,y eats(x,y)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 eats(x,y)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1787794"/>
                  </a:ext>
                </a:extLst>
              </a:tr>
              <a:tr h="823913">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eats(Bill,Peanuts)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killed(Bill)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eats(Bill,Peanuts)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killed(Bill)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791452"/>
                  </a:ext>
                </a:extLst>
              </a:tr>
              <a:tr h="62865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 eats (Bill,x)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eats(Sue,x)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 eats (Bill,x)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eats(Sue,x)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3282149"/>
                  </a:ext>
                </a:extLst>
              </a:tr>
            </a:tbl>
          </a:graphicData>
        </a:graphic>
      </p:graphicFrame>
      <p:sp>
        <p:nvSpPr>
          <p:cNvPr id="172093" name="Rectangle 61">
            <a:extLst>
              <a:ext uri="{FF2B5EF4-FFF2-40B4-BE49-F238E27FC236}">
                <a16:creationId xmlns:a16="http://schemas.microsoft.com/office/drawing/2014/main" id="{366F39EB-A218-4E6D-AEE8-262C5800DFDE}"/>
              </a:ext>
            </a:extLst>
          </p:cNvPr>
          <p:cNvSpPr>
            <a:spLocks noChangeArrowheads="1"/>
          </p:cNvSpPr>
          <p:nvPr/>
        </p:nvSpPr>
        <p:spPr bwMode="auto">
          <a:xfrm>
            <a:off x="685800" y="6172200"/>
            <a:ext cx="4033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Forward &amp; Backward Chaining</a:t>
            </a:r>
          </a:p>
        </p:txBody>
      </p:sp>
      <p:sp>
        <p:nvSpPr>
          <p:cNvPr id="172094" name="Rectangle 62">
            <a:extLst>
              <a:ext uri="{FF2B5EF4-FFF2-40B4-BE49-F238E27FC236}">
                <a16:creationId xmlns:a16="http://schemas.microsoft.com/office/drawing/2014/main" id="{9DC8E764-E2C3-4FF3-8FD0-2A2D4602C564}"/>
              </a:ext>
            </a:extLst>
          </p:cNvPr>
          <p:cNvSpPr>
            <a:spLocks noChangeArrowheads="1"/>
          </p:cNvSpPr>
          <p:nvPr/>
        </p:nvSpPr>
        <p:spPr bwMode="auto">
          <a:xfrm>
            <a:off x="5791200" y="61722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Times New Roman" panose="02020603050405020304" pitchFamily="18" charset="0"/>
              </a:rPr>
              <a:t>Resolution</a:t>
            </a:r>
          </a:p>
        </p:txBody>
      </p:sp>
    </p:spTree>
    <p:extLst>
      <p:ext uri="{BB962C8B-B14F-4D97-AF65-F5344CB8AC3E}">
        <p14:creationId xmlns:p14="http://schemas.microsoft.com/office/powerpoint/2010/main" val="2705840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0F362B8A-8D7C-4624-9F6E-68A9C9C01B39}"/>
              </a:ext>
            </a:extLst>
          </p:cNvPr>
          <p:cNvSpPr>
            <a:spLocks noGrp="1" noChangeArrowheads="1"/>
          </p:cNvSpPr>
          <p:nvPr>
            <p:ph type="title"/>
          </p:nvPr>
        </p:nvSpPr>
        <p:spPr/>
        <p:txBody>
          <a:bodyPr/>
          <a:lstStyle/>
          <a:p>
            <a:r>
              <a:rPr lang="en-US" altLang="en-US"/>
              <a:t>Resolution Proof</a:t>
            </a:r>
          </a:p>
        </p:txBody>
      </p:sp>
      <p:sp>
        <p:nvSpPr>
          <p:cNvPr id="173060" name="Text Box 4">
            <a:extLst>
              <a:ext uri="{FF2B5EF4-FFF2-40B4-BE49-F238E27FC236}">
                <a16:creationId xmlns:a16="http://schemas.microsoft.com/office/drawing/2014/main" id="{7A6A281F-5913-4982-A187-A46D004B71E1}"/>
              </a:ext>
            </a:extLst>
          </p:cNvPr>
          <p:cNvSpPr txBox="1">
            <a:spLocks noChangeArrowheads="1"/>
          </p:cNvSpPr>
          <p:nvPr/>
        </p:nvSpPr>
        <p:spPr bwMode="auto">
          <a:xfrm>
            <a:off x="1219200" y="2108200"/>
            <a:ext cx="34274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 eats(x,y) </a:t>
            </a:r>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killed(x)</a:t>
            </a:r>
            <a:r>
              <a:rPr lang="en-US" altLang="en-US" sz="2000">
                <a:latin typeface="Times New Roman" panose="02020603050405020304" pitchFamily="18" charset="0"/>
                <a:sym typeface="Symbol" panose="05050102010706020507" pitchFamily="18" charset="2"/>
              </a:rPr>
              <a:t>  </a:t>
            </a:r>
            <a:r>
              <a:rPr lang="en-US" altLang="en-US" sz="2000" i="1">
                <a:latin typeface="Times New Roman" panose="02020603050405020304" pitchFamily="18" charset="0"/>
                <a:sym typeface="Symbol" panose="05050102010706020507" pitchFamily="18" charset="2"/>
              </a:rPr>
              <a:t>food(y)</a:t>
            </a:r>
          </a:p>
        </p:txBody>
      </p:sp>
      <p:sp>
        <p:nvSpPr>
          <p:cNvPr id="173061" name="Text Box 5">
            <a:extLst>
              <a:ext uri="{FF2B5EF4-FFF2-40B4-BE49-F238E27FC236}">
                <a16:creationId xmlns:a16="http://schemas.microsoft.com/office/drawing/2014/main" id="{69FE3385-674C-4C78-AE05-1E086248028B}"/>
              </a:ext>
            </a:extLst>
          </p:cNvPr>
          <p:cNvSpPr txBox="1">
            <a:spLocks noChangeArrowheads="1"/>
          </p:cNvSpPr>
          <p:nvPr/>
        </p:nvSpPr>
        <p:spPr bwMode="auto">
          <a:xfrm>
            <a:off x="4953000" y="2109788"/>
            <a:ext cx="2006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a:latin typeface="Times New Roman" panose="02020603050405020304" pitchFamily="18" charset="0"/>
                <a:sym typeface="Symbol" panose="05050102010706020507" pitchFamily="18" charset="2"/>
              </a:rPr>
              <a:t>eats(Bill,Peanuts)</a:t>
            </a:r>
          </a:p>
        </p:txBody>
      </p:sp>
      <p:sp>
        <p:nvSpPr>
          <p:cNvPr id="173062" name="Line 6">
            <a:extLst>
              <a:ext uri="{FF2B5EF4-FFF2-40B4-BE49-F238E27FC236}">
                <a16:creationId xmlns:a16="http://schemas.microsoft.com/office/drawing/2014/main" id="{5D1162C2-F1FE-4AF2-B041-3FDF6B6F0308}"/>
              </a:ext>
            </a:extLst>
          </p:cNvPr>
          <p:cNvSpPr>
            <a:spLocks noChangeShapeType="1"/>
          </p:cNvSpPr>
          <p:nvPr/>
        </p:nvSpPr>
        <p:spPr bwMode="auto">
          <a:xfrm>
            <a:off x="2667000" y="2590800"/>
            <a:ext cx="990600"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3063" name="Line 7">
            <a:extLst>
              <a:ext uri="{FF2B5EF4-FFF2-40B4-BE49-F238E27FC236}">
                <a16:creationId xmlns:a16="http://schemas.microsoft.com/office/drawing/2014/main" id="{9F162AFC-E481-4DD1-AA56-83EBF84C71CD}"/>
              </a:ext>
            </a:extLst>
          </p:cNvPr>
          <p:cNvSpPr>
            <a:spLocks noChangeShapeType="1"/>
          </p:cNvSpPr>
          <p:nvPr/>
        </p:nvSpPr>
        <p:spPr bwMode="auto">
          <a:xfrm flipH="1">
            <a:off x="3733800" y="2514600"/>
            <a:ext cx="213360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3064" name="Text Box 8">
            <a:extLst>
              <a:ext uri="{FF2B5EF4-FFF2-40B4-BE49-F238E27FC236}">
                <a16:creationId xmlns:a16="http://schemas.microsoft.com/office/drawing/2014/main" id="{114CABB3-380E-4642-8C0C-C5B8611951D0}"/>
              </a:ext>
            </a:extLst>
          </p:cNvPr>
          <p:cNvSpPr txBox="1">
            <a:spLocks noChangeArrowheads="1"/>
          </p:cNvSpPr>
          <p:nvPr/>
        </p:nvSpPr>
        <p:spPr bwMode="auto">
          <a:xfrm>
            <a:off x="1981200" y="3429000"/>
            <a:ext cx="304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i="1">
                <a:latin typeface="Times New Roman" panose="02020603050405020304" pitchFamily="18" charset="0"/>
                <a:sym typeface="Symbol" panose="05050102010706020507" pitchFamily="18" charset="2"/>
              </a:rPr>
              <a:t>killed(Bill)</a:t>
            </a:r>
            <a:r>
              <a:rPr lang="en-US" altLang="en-US" sz="2000">
                <a:latin typeface="Times New Roman" panose="02020603050405020304" pitchFamily="18" charset="0"/>
                <a:sym typeface="Symbol" panose="05050102010706020507" pitchFamily="18" charset="2"/>
              </a:rPr>
              <a:t>  </a:t>
            </a:r>
            <a:r>
              <a:rPr lang="en-US" altLang="en-US" sz="2000" i="1">
                <a:latin typeface="Times New Roman" panose="02020603050405020304" pitchFamily="18" charset="0"/>
                <a:sym typeface="Symbol" panose="05050102010706020507" pitchFamily="18" charset="2"/>
              </a:rPr>
              <a:t>food(peanuts)</a:t>
            </a:r>
          </a:p>
        </p:txBody>
      </p:sp>
      <p:sp>
        <p:nvSpPr>
          <p:cNvPr id="173065" name="Text Box 9">
            <a:extLst>
              <a:ext uri="{FF2B5EF4-FFF2-40B4-BE49-F238E27FC236}">
                <a16:creationId xmlns:a16="http://schemas.microsoft.com/office/drawing/2014/main" id="{42E69C32-9C5A-4BE9-B05B-49E0A1A1F423}"/>
              </a:ext>
            </a:extLst>
          </p:cNvPr>
          <p:cNvSpPr txBox="1">
            <a:spLocks noChangeArrowheads="1"/>
          </p:cNvSpPr>
          <p:nvPr/>
        </p:nvSpPr>
        <p:spPr bwMode="auto">
          <a:xfrm>
            <a:off x="3048000" y="2667000"/>
            <a:ext cx="19018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a:latin typeface="Times New Roman" panose="02020603050405020304" pitchFamily="18" charset="0"/>
              </a:rPr>
              <a:t>{</a:t>
            </a:r>
            <a:r>
              <a:rPr lang="en-US" altLang="en-US" sz="1800" b="1" i="1">
                <a:latin typeface="Times New Roman" panose="02020603050405020304" pitchFamily="18" charset="0"/>
              </a:rPr>
              <a:t>x/Bill, y/peanuts</a:t>
            </a:r>
            <a:r>
              <a:rPr lang="en-US" altLang="en-US" sz="1800" b="1">
                <a:latin typeface="Times New Roman" panose="02020603050405020304" pitchFamily="18" charset="0"/>
              </a:rPr>
              <a:t>}</a:t>
            </a:r>
          </a:p>
        </p:txBody>
      </p:sp>
      <p:sp>
        <p:nvSpPr>
          <p:cNvPr id="173066" name="Text Box 10">
            <a:extLst>
              <a:ext uri="{FF2B5EF4-FFF2-40B4-BE49-F238E27FC236}">
                <a16:creationId xmlns:a16="http://schemas.microsoft.com/office/drawing/2014/main" id="{ADA0F4B1-05BA-4230-AF30-D6FC087AFA16}"/>
              </a:ext>
            </a:extLst>
          </p:cNvPr>
          <p:cNvSpPr txBox="1">
            <a:spLocks noChangeArrowheads="1"/>
          </p:cNvSpPr>
          <p:nvPr/>
        </p:nvSpPr>
        <p:spPr bwMode="auto">
          <a:xfrm>
            <a:off x="5410200" y="3429000"/>
            <a:ext cx="15017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Times New Roman" panose="02020603050405020304" pitchFamily="18" charset="0"/>
                <a:sym typeface="Symbol" panose="05050102010706020507" pitchFamily="18" charset="2"/>
              </a:rPr>
              <a:t></a:t>
            </a:r>
            <a:r>
              <a:rPr lang="en-US" altLang="en-US" sz="2000" i="1">
                <a:latin typeface="Times New Roman" panose="02020603050405020304" pitchFamily="18" charset="0"/>
                <a:sym typeface="Symbol" panose="05050102010706020507" pitchFamily="18" charset="2"/>
              </a:rPr>
              <a:t>killed(Bill)</a:t>
            </a:r>
            <a:endParaRPr lang="en-US" altLang="en-US" sz="2000">
              <a:latin typeface="Times New Roman" panose="02020603050405020304" pitchFamily="18" charset="0"/>
            </a:endParaRPr>
          </a:p>
        </p:txBody>
      </p:sp>
      <p:sp>
        <p:nvSpPr>
          <p:cNvPr id="173067" name="Line 11">
            <a:extLst>
              <a:ext uri="{FF2B5EF4-FFF2-40B4-BE49-F238E27FC236}">
                <a16:creationId xmlns:a16="http://schemas.microsoft.com/office/drawing/2014/main" id="{FCD09C1F-F7D2-4FD9-A5A4-B88040DD5141}"/>
              </a:ext>
            </a:extLst>
          </p:cNvPr>
          <p:cNvSpPr>
            <a:spLocks noChangeShapeType="1"/>
          </p:cNvSpPr>
          <p:nvPr/>
        </p:nvSpPr>
        <p:spPr bwMode="auto">
          <a:xfrm>
            <a:off x="3733800" y="3962400"/>
            <a:ext cx="12192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3068" name="Line 12">
            <a:extLst>
              <a:ext uri="{FF2B5EF4-FFF2-40B4-BE49-F238E27FC236}">
                <a16:creationId xmlns:a16="http://schemas.microsoft.com/office/drawing/2014/main" id="{D3486CAB-ADFB-42BC-8C03-1B3D57081D6D}"/>
              </a:ext>
            </a:extLst>
          </p:cNvPr>
          <p:cNvSpPr>
            <a:spLocks noChangeShapeType="1"/>
          </p:cNvSpPr>
          <p:nvPr/>
        </p:nvSpPr>
        <p:spPr bwMode="auto">
          <a:xfrm flipH="1">
            <a:off x="4953000" y="3810000"/>
            <a:ext cx="1143000"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3069" name="Text Box 13">
            <a:extLst>
              <a:ext uri="{FF2B5EF4-FFF2-40B4-BE49-F238E27FC236}">
                <a16:creationId xmlns:a16="http://schemas.microsoft.com/office/drawing/2014/main" id="{27BE062B-738E-4FED-9E67-AE81C9470CB2}"/>
              </a:ext>
            </a:extLst>
          </p:cNvPr>
          <p:cNvSpPr txBox="1">
            <a:spLocks noChangeArrowheads="1"/>
          </p:cNvSpPr>
          <p:nvPr/>
        </p:nvSpPr>
        <p:spPr bwMode="auto">
          <a:xfrm>
            <a:off x="4191000" y="4495800"/>
            <a:ext cx="1676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i="1">
                <a:latin typeface="Times New Roman" panose="02020603050405020304" pitchFamily="18" charset="0"/>
                <a:sym typeface="Symbol" panose="05050102010706020507" pitchFamily="18" charset="2"/>
              </a:rPr>
              <a:t>food(peanuts)</a:t>
            </a:r>
          </a:p>
        </p:txBody>
      </p:sp>
      <p:sp>
        <p:nvSpPr>
          <p:cNvPr id="173070" name="Text Box 14">
            <a:extLst>
              <a:ext uri="{FF2B5EF4-FFF2-40B4-BE49-F238E27FC236}">
                <a16:creationId xmlns:a16="http://schemas.microsoft.com/office/drawing/2014/main" id="{BB966BC8-2E1B-455D-A20F-EF884379AB23}"/>
              </a:ext>
            </a:extLst>
          </p:cNvPr>
          <p:cNvSpPr txBox="1">
            <a:spLocks noChangeArrowheads="1"/>
          </p:cNvSpPr>
          <p:nvPr/>
        </p:nvSpPr>
        <p:spPr bwMode="auto">
          <a:xfrm>
            <a:off x="1143000" y="4470400"/>
            <a:ext cx="2813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sym typeface="Symbol" panose="05050102010706020507" pitchFamily="18" charset="2"/>
              </a:rPr>
              <a:t> </a:t>
            </a:r>
            <a:r>
              <a:rPr lang="en-US" altLang="en-US" sz="2000" i="1">
                <a:latin typeface="Times New Roman" panose="02020603050405020304" pitchFamily="18" charset="0"/>
                <a:sym typeface="Symbol" panose="05050102010706020507" pitchFamily="18" charset="2"/>
              </a:rPr>
              <a:t>food (x)</a:t>
            </a:r>
            <a:r>
              <a:rPr lang="en-US" altLang="en-US" sz="2000">
                <a:latin typeface="Times New Roman" panose="02020603050405020304" pitchFamily="18" charset="0"/>
                <a:sym typeface="Symbol" panose="05050102010706020507" pitchFamily="18" charset="2"/>
              </a:rPr>
              <a:t>  </a:t>
            </a:r>
            <a:r>
              <a:rPr lang="en-US" altLang="en-US" sz="2000" i="1">
                <a:latin typeface="Times New Roman" panose="02020603050405020304" pitchFamily="18" charset="0"/>
                <a:sym typeface="Symbol" panose="05050102010706020507" pitchFamily="18" charset="2"/>
              </a:rPr>
              <a:t>eats(John, x)</a:t>
            </a:r>
          </a:p>
        </p:txBody>
      </p:sp>
      <p:sp>
        <p:nvSpPr>
          <p:cNvPr id="173071" name="Line 15">
            <a:extLst>
              <a:ext uri="{FF2B5EF4-FFF2-40B4-BE49-F238E27FC236}">
                <a16:creationId xmlns:a16="http://schemas.microsoft.com/office/drawing/2014/main" id="{DC17091C-6E15-475E-BDE9-C0EC81498906}"/>
              </a:ext>
            </a:extLst>
          </p:cNvPr>
          <p:cNvSpPr>
            <a:spLocks noChangeShapeType="1"/>
          </p:cNvSpPr>
          <p:nvPr/>
        </p:nvSpPr>
        <p:spPr bwMode="auto">
          <a:xfrm>
            <a:off x="2286000" y="4876800"/>
            <a:ext cx="1600200"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3072" name="Line 16">
            <a:extLst>
              <a:ext uri="{FF2B5EF4-FFF2-40B4-BE49-F238E27FC236}">
                <a16:creationId xmlns:a16="http://schemas.microsoft.com/office/drawing/2014/main" id="{9E345F5D-6C2F-4896-B312-0AE4D8C2B545}"/>
              </a:ext>
            </a:extLst>
          </p:cNvPr>
          <p:cNvSpPr>
            <a:spLocks noChangeShapeType="1"/>
          </p:cNvSpPr>
          <p:nvPr/>
        </p:nvSpPr>
        <p:spPr bwMode="auto">
          <a:xfrm flipH="1">
            <a:off x="3886200" y="4800600"/>
            <a:ext cx="106680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3074" name="Text Box 18">
            <a:extLst>
              <a:ext uri="{FF2B5EF4-FFF2-40B4-BE49-F238E27FC236}">
                <a16:creationId xmlns:a16="http://schemas.microsoft.com/office/drawing/2014/main" id="{F2EBE8D9-A036-45E8-B47A-2BC7CCAED821}"/>
              </a:ext>
            </a:extLst>
          </p:cNvPr>
          <p:cNvSpPr txBox="1">
            <a:spLocks noChangeArrowheads="1"/>
          </p:cNvSpPr>
          <p:nvPr/>
        </p:nvSpPr>
        <p:spPr bwMode="auto">
          <a:xfrm>
            <a:off x="3124200" y="5005388"/>
            <a:ext cx="1279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a:latin typeface="Times New Roman" panose="02020603050405020304" pitchFamily="18" charset="0"/>
              </a:rPr>
              <a:t>{</a:t>
            </a:r>
            <a:r>
              <a:rPr lang="en-US" altLang="en-US" sz="1800" b="1" i="1">
                <a:latin typeface="Times New Roman" panose="02020603050405020304" pitchFamily="18" charset="0"/>
              </a:rPr>
              <a:t>x/peanuts</a:t>
            </a:r>
            <a:r>
              <a:rPr lang="en-US" altLang="en-US" sz="1800" b="1">
                <a:latin typeface="Times New Roman" panose="02020603050405020304" pitchFamily="18" charset="0"/>
              </a:rPr>
              <a:t>}</a:t>
            </a:r>
          </a:p>
        </p:txBody>
      </p:sp>
      <p:sp>
        <p:nvSpPr>
          <p:cNvPr id="173075" name="Text Box 19">
            <a:extLst>
              <a:ext uri="{FF2B5EF4-FFF2-40B4-BE49-F238E27FC236}">
                <a16:creationId xmlns:a16="http://schemas.microsoft.com/office/drawing/2014/main" id="{6FD993DF-0563-44A2-AFC2-3669DCFF4405}"/>
              </a:ext>
            </a:extLst>
          </p:cNvPr>
          <p:cNvSpPr txBox="1">
            <a:spLocks noChangeArrowheads="1"/>
          </p:cNvSpPr>
          <p:nvPr/>
        </p:nvSpPr>
        <p:spPr bwMode="auto">
          <a:xfrm>
            <a:off x="2819400" y="5638800"/>
            <a:ext cx="21701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i="1">
                <a:latin typeface="Times New Roman" panose="02020603050405020304" pitchFamily="18" charset="0"/>
                <a:sym typeface="Symbol" panose="05050102010706020507" pitchFamily="18" charset="2"/>
              </a:rPr>
              <a:t>eats(John, peanuts)</a:t>
            </a:r>
            <a:endParaRPr lang="en-US" altLang="en-US" sz="2000">
              <a:latin typeface="Times New Roman" panose="02020603050405020304" pitchFamily="18" charset="0"/>
            </a:endParaRPr>
          </a:p>
        </p:txBody>
      </p:sp>
      <p:sp>
        <p:nvSpPr>
          <p:cNvPr id="173076" name="Text Box 20">
            <a:extLst>
              <a:ext uri="{FF2B5EF4-FFF2-40B4-BE49-F238E27FC236}">
                <a16:creationId xmlns:a16="http://schemas.microsoft.com/office/drawing/2014/main" id="{1FE1C4B5-28B5-41E4-B5EE-B7297526EAF6}"/>
              </a:ext>
            </a:extLst>
          </p:cNvPr>
          <p:cNvSpPr txBox="1">
            <a:spLocks noChangeArrowheads="1"/>
          </p:cNvSpPr>
          <p:nvPr/>
        </p:nvSpPr>
        <p:spPr bwMode="auto">
          <a:xfrm>
            <a:off x="5105400" y="5638800"/>
            <a:ext cx="1201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sym typeface="Wingdings" panose="05000000000000000000" pitchFamily="2" charset="2"/>
              </a:rPr>
              <a:t> </a:t>
            </a:r>
            <a:r>
              <a:rPr lang="en-US" altLang="en-US" b="1">
                <a:latin typeface="Times New Roman" panose="02020603050405020304" pitchFamily="18" charset="0"/>
                <a:sym typeface="Wingdings" panose="05000000000000000000" pitchFamily="2" charset="2"/>
              </a:rPr>
              <a:t>True</a:t>
            </a:r>
            <a:endParaRPr lang="en-US" altLang="en-US" b="1">
              <a:latin typeface="Times New Roman" panose="02020603050405020304" pitchFamily="18" charset="0"/>
            </a:endParaRPr>
          </a:p>
        </p:txBody>
      </p:sp>
    </p:spTree>
    <p:extLst>
      <p:ext uri="{BB962C8B-B14F-4D97-AF65-F5344CB8AC3E}">
        <p14:creationId xmlns:p14="http://schemas.microsoft.com/office/powerpoint/2010/main" val="41924192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30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306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30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7306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30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306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306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7306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30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306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307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3074"/>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7307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307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307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7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0" grpId="0"/>
      <p:bldP spid="173061" grpId="0" autoUpdateAnimBg="0"/>
      <p:bldP spid="173064" grpId="0"/>
      <p:bldP spid="173065" grpId="0"/>
      <p:bldP spid="173066" grpId="0"/>
      <p:bldP spid="173069" grpId="0"/>
      <p:bldP spid="173070" grpId="0"/>
      <p:bldP spid="173074" grpId="0"/>
      <p:bldP spid="173075" grpId="0"/>
      <p:bldP spid="17307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075C5329-0385-434E-A41B-DC39F95E6680}"/>
              </a:ext>
            </a:extLst>
          </p:cNvPr>
          <p:cNvSpPr>
            <a:spLocks noGrp="1" noChangeArrowheads="1"/>
          </p:cNvSpPr>
          <p:nvPr>
            <p:ph type="title"/>
          </p:nvPr>
        </p:nvSpPr>
        <p:spPr/>
        <p:txBody>
          <a:bodyPr/>
          <a:lstStyle/>
          <a:p>
            <a:r>
              <a:rPr lang="en-US" altLang="en-US"/>
              <a:t>Resolution uses unification</a:t>
            </a:r>
          </a:p>
        </p:txBody>
      </p:sp>
      <p:sp>
        <p:nvSpPr>
          <p:cNvPr id="183299" name="Rectangle 3" descr="Rectangle: Click to edit Master text styles&#10;Second level&#10;Third level&#10;Fourth level&#10;Fifth level">
            <a:extLst>
              <a:ext uri="{FF2B5EF4-FFF2-40B4-BE49-F238E27FC236}">
                <a16:creationId xmlns:a16="http://schemas.microsoft.com/office/drawing/2014/main" id="{973641DC-8145-4603-81B9-01C8601C3527}"/>
              </a:ext>
            </a:extLst>
          </p:cNvPr>
          <p:cNvSpPr>
            <a:spLocks noGrp="1" noChangeArrowheads="1"/>
          </p:cNvSpPr>
          <p:nvPr>
            <p:ph type="body" idx="1"/>
          </p:nvPr>
        </p:nvSpPr>
        <p:spPr>
          <a:xfrm>
            <a:off x="609600" y="1600200"/>
            <a:ext cx="8534400" cy="4495800"/>
          </a:xfrm>
        </p:spPr>
        <p:txBody>
          <a:bodyPr/>
          <a:lstStyle/>
          <a:p>
            <a:r>
              <a:rPr lang="en-US" altLang="en-US" u="sng"/>
              <a:t>Unification</a:t>
            </a:r>
            <a:r>
              <a:rPr lang="en-US" altLang="en-US"/>
              <a:t>: takes two atomic expressions </a:t>
            </a:r>
            <a:r>
              <a:rPr lang="en-US" altLang="en-US" i="1"/>
              <a:t>p</a:t>
            </a:r>
            <a:r>
              <a:rPr lang="en-US" altLang="en-US"/>
              <a:t> and </a:t>
            </a:r>
            <a:r>
              <a:rPr lang="en-US" altLang="en-US" i="1"/>
              <a:t>q</a:t>
            </a:r>
            <a:r>
              <a:rPr lang="en-US" altLang="en-US"/>
              <a:t>, and generates a substitution that makes </a:t>
            </a:r>
            <a:r>
              <a:rPr lang="en-US" altLang="en-US" i="1"/>
              <a:t>p </a:t>
            </a:r>
            <a:r>
              <a:rPr lang="en-US" altLang="en-US"/>
              <a:t>and </a:t>
            </a:r>
            <a:r>
              <a:rPr lang="en-US" altLang="en-US" i="1"/>
              <a:t>q</a:t>
            </a:r>
            <a:r>
              <a:rPr lang="en-US" altLang="en-US"/>
              <a:t> look the same.</a:t>
            </a:r>
          </a:p>
          <a:p>
            <a:pPr>
              <a:buFont typeface="Wingdings" panose="05000000000000000000" pitchFamily="2" charset="2"/>
              <a:buNone/>
            </a:pPr>
            <a:r>
              <a:rPr lang="en-US" altLang="en-US"/>
              <a:t>		</a:t>
            </a:r>
            <a:r>
              <a:rPr lang="en-US" altLang="en-US" sz="2400"/>
              <a:t>UNIFY(</a:t>
            </a:r>
            <a:r>
              <a:rPr lang="en-US" altLang="en-US" sz="2400" i="1"/>
              <a:t>p,q</a:t>
            </a:r>
            <a:r>
              <a:rPr lang="en-US" altLang="en-US" sz="2400"/>
              <a:t>) = </a:t>
            </a:r>
            <a:r>
              <a:rPr lang="en-US" altLang="en-US" sz="2400">
                <a:sym typeface="Symbol" panose="05050102010706020507" pitchFamily="18" charset="2"/>
              </a:rPr>
              <a:t> where SUBST(,</a:t>
            </a:r>
            <a:r>
              <a:rPr lang="en-US" altLang="en-US" sz="2400" i="1">
                <a:sym typeface="Symbol" panose="05050102010706020507" pitchFamily="18" charset="2"/>
              </a:rPr>
              <a:t>p</a:t>
            </a:r>
            <a:r>
              <a:rPr lang="en-US" altLang="en-US" sz="2400">
                <a:sym typeface="Symbol" panose="05050102010706020507" pitchFamily="18" charset="2"/>
              </a:rPr>
              <a:t>) = SUBST(,</a:t>
            </a:r>
            <a:r>
              <a:rPr lang="en-US" altLang="en-US" sz="2400" i="1">
                <a:sym typeface="Symbol" panose="05050102010706020507" pitchFamily="18" charset="2"/>
              </a:rPr>
              <a:t>q</a:t>
            </a:r>
            <a:r>
              <a:rPr lang="en-US" altLang="en-US" sz="2400">
                <a:sym typeface="Symbol" panose="05050102010706020507" pitchFamily="18" charset="2"/>
              </a:rPr>
              <a:t>)</a:t>
            </a:r>
            <a:r>
              <a:rPr lang="en-US" altLang="en-US">
                <a:sym typeface="Symbol" panose="05050102010706020507" pitchFamily="18" charset="2"/>
              </a:rPr>
              <a:t> </a:t>
            </a:r>
          </a:p>
          <a:p>
            <a:pPr>
              <a:buFont typeface="Wingdings" panose="05000000000000000000" pitchFamily="2" charset="2"/>
              <a:buNone/>
            </a:pPr>
            <a:r>
              <a:rPr lang="en-US" altLang="en-US" i="1">
                <a:sym typeface="Symbol" panose="05050102010706020507" pitchFamily="18" charset="2"/>
              </a:rPr>
              <a:t>       p               </a:t>
            </a:r>
            <a:r>
              <a:rPr lang="en-US" altLang="en-US" i="1"/>
              <a:t>q</a:t>
            </a:r>
            <a:r>
              <a:rPr lang="en-US" altLang="en-US">
                <a:sym typeface="Symbol" panose="05050102010706020507" pitchFamily="18" charset="2"/>
              </a:rPr>
              <a:t>              </a:t>
            </a:r>
            <a:r>
              <a:rPr lang="en-US" altLang="en-US" sz="2400">
                <a:sym typeface="Symbol" panose="05050102010706020507" pitchFamily="18" charset="2"/>
              </a:rPr>
              <a:t></a:t>
            </a:r>
          </a:p>
        </p:txBody>
      </p:sp>
      <p:sp>
        <p:nvSpPr>
          <p:cNvPr id="183300" name="Line 4">
            <a:extLst>
              <a:ext uri="{FF2B5EF4-FFF2-40B4-BE49-F238E27FC236}">
                <a16:creationId xmlns:a16="http://schemas.microsoft.com/office/drawing/2014/main" id="{92E1D3FF-151A-4D0D-A8DE-B4CD3C2C51F9}"/>
              </a:ext>
            </a:extLst>
          </p:cNvPr>
          <p:cNvSpPr>
            <a:spLocks noChangeShapeType="1"/>
          </p:cNvSpPr>
          <p:nvPr/>
        </p:nvSpPr>
        <p:spPr bwMode="auto">
          <a:xfrm>
            <a:off x="1066800" y="4724400"/>
            <a:ext cx="5715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3301" name="Line 5">
            <a:extLst>
              <a:ext uri="{FF2B5EF4-FFF2-40B4-BE49-F238E27FC236}">
                <a16:creationId xmlns:a16="http://schemas.microsoft.com/office/drawing/2014/main" id="{08A7D7FB-74A9-4B62-B37B-7AEB848852F8}"/>
              </a:ext>
            </a:extLst>
          </p:cNvPr>
          <p:cNvSpPr>
            <a:spLocks noChangeShapeType="1"/>
          </p:cNvSpPr>
          <p:nvPr/>
        </p:nvSpPr>
        <p:spPr bwMode="auto">
          <a:xfrm>
            <a:off x="2895600" y="4191000"/>
            <a:ext cx="0" cy="2514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3302" name="Line 6">
            <a:extLst>
              <a:ext uri="{FF2B5EF4-FFF2-40B4-BE49-F238E27FC236}">
                <a16:creationId xmlns:a16="http://schemas.microsoft.com/office/drawing/2014/main" id="{005DBE4B-1037-4B61-9448-F20CEF391885}"/>
              </a:ext>
            </a:extLst>
          </p:cNvPr>
          <p:cNvSpPr>
            <a:spLocks noChangeShapeType="1"/>
          </p:cNvSpPr>
          <p:nvPr/>
        </p:nvSpPr>
        <p:spPr bwMode="auto">
          <a:xfrm>
            <a:off x="5181600" y="4114800"/>
            <a:ext cx="0" cy="2590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3303" name="Text Box 7">
            <a:extLst>
              <a:ext uri="{FF2B5EF4-FFF2-40B4-BE49-F238E27FC236}">
                <a16:creationId xmlns:a16="http://schemas.microsoft.com/office/drawing/2014/main" id="{336A4A12-F0A6-4AE1-849A-9D83EF12631F}"/>
              </a:ext>
            </a:extLst>
          </p:cNvPr>
          <p:cNvSpPr txBox="1">
            <a:spLocks noChangeArrowheads="1"/>
          </p:cNvSpPr>
          <p:nvPr/>
        </p:nvSpPr>
        <p:spPr bwMode="auto">
          <a:xfrm>
            <a:off x="990600" y="4838700"/>
            <a:ext cx="1644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i="1">
                <a:latin typeface="Times New Roman" panose="02020603050405020304" pitchFamily="18" charset="0"/>
              </a:rPr>
              <a:t>knows(John, x)</a:t>
            </a:r>
          </a:p>
        </p:txBody>
      </p:sp>
      <p:sp>
        <p:nvSpPr>
          <p:cNvPr id="183304" name="Text Box 8">
            <a:extLst>
              <a:ext uri="{FF2B5EF4-FFF2-40B4-BE49-F238E27FC236}">
                <a16:creationId xmlns:a16="http://schemas.microsoft.com/office/drawing/2014/main" id="{4DE8A97B-BB03-4B81-9D88-57D030C965C1}"/>
              </a:ext>
            </a:extLst>
          </p:cNvPr>
          <p:cNvSpPr txBox="1">
            <a:spLocks noChangeArrowheads="1"/>
          </p:cNvSpPr>
          <p:nvPr/>
        </p:nvSpPr>
        <p:spPr bwMode="auto">
          <a:xfrm>
            <a:off x="952500" y="5372100"/>
            <a:ext cx="18827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i="1">
                <a:latin typeface="Times New Roman" panose="02020603050405020304" pitchFamily="18" charset="0"/>
              </a:rPr>
              <a:t>knows(John, x)</a:t>
            </a:r>
          </a:p>
        </p:txBody>
      </p:sp>
      <p:sp>
        <p:nvSpPr>
          <p:cNvPr id="183305" name="Text Box 9">
            <a:extLst>
              <a:ext uri="{FF2B5EF4-FFF2-40B4-BE49-F238E27FC236}">
                <a16:creationId xmlns:a16="http://schemas.microsoft.com/office/drawing/2014/main" id="{4DF458CA-8A42-4BDA-8C50-B4BF6CA6B3EC}"/>
              </a:ext>
            </a:extLst>
          </p:cNvPr>
          <p:cNvSpPr txBox="1">
            <a:spLocks noChangeArrowheads="1"/>
          </p:cNvSpPr>
          <p:nvPr/>
        </p:nvSpPr>
        <p:spPr bwMode="auto">
          <a:xfrm>
            <a:off x="952500" y="5867400"/>
            <a:ext cx="1790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b="1" i="1">
                <a:latin typeface="Times New Roman" panose="02020603050405020304" pitchFamily="18" charset="0"/>
              </a:rPr>
              <a:t>knows(John, x)</a:t>
            </a:r>
          </a:p>
        </p:txBody>
      </p:sp>
      <p:sp>
        <p:nvSpPr>
          <p:cNvPr id="183306" name="Text Box 10">
            <a:extLst>
              <a:ext uri="{FF2B5EF4-FFF2-40B4-BE49-F238E27FC236}">
                <a16:creationId xmlns:a16="http://schemas.microsoft.com/office/drawing/2014/main" id="{1E08264E-1454-4E94-B3B5-FAB8F7A55ACF}"/>
              </a:ext>
            </a:extLst>
          </p:cNvPr>
          <p:cNvSpPr txBox="1">
            <a:spLocks noChangeArrowheads="1"/>
          </p:cNvSpPr>
          <p:nvPr/>
        </p:nvSpPr>
        <p:spPr bwMode="auto">
          <a:xfrm>
            <a:off x="952500" y="6318250"/>
            <a:ext cx="1752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i="1">
                <a:latin typeface="Times New Roman" panose="02020603050405020304" pitchFamily="18" charset="0"/>
              </a:rPr>
              <a:t>knows(John, x)</a:t>
            </a:r>
          </a:p>
        </p:txBody>
      </p:sp>
      <p:sp>
        <p:nvSpPr>
          <p:cNvPr id="183307" name="Text Box 11">
            <a:extLst>
              <a:ext uri="{FF2B5EF4-FFF2-40B4-BE49-F238E27FC236}">
                <a16:creationId xmlns:a16="http://schemas.microsoft.com/office/drawing/2014/main" id="{0F8CE26E-F852-49B2-B768-25BC6179C0AB}"/>
              </a:ext>
            </a:extLst>
          </p:cNvPr>
          <p:cNvSpPr txBox="1">
            <a:spLocks noChangeArrowheads="1"/>
          </p:cNvSpPr>
          <p:nvPr/>
        </p:nvSpPr>
        <p:spPr bwMode="auto">
          <a:xfrm>
            <a:off x="3048000" y="4864100"/>
            <a:ext cx="1930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i="1">
                <a:latin typeface="Times New Roman" panose="02020603050405020304" pitchFamily="18" charset="0"/>
              </a:rPr>
              <a:t>knows(John,Jane)</a:t>
            </a:r>
          </a:p>
        </p:txBody>
      </p:sp>
      <p:sp>
        <p:nvSpPr>
          <p:cNvPr id="183308" name="Line 12">
            <a:extLst>
              <a:ext uri="{FF2B5EF4-FFF2-40B4-BE49-F238E27FC236}">
                <a16:creationId xmlns:a16="http://schemas.microsoft.com/office/drawing/2014/main" id="{A7E1CABF-12B6-40A5-9171-75751D47A2EE}"/>
              </a:ext>
            </a:extLst>
          </p:cNvPr>
          <p:cNvSpPr>
            <a:spLocks noChangeShapeType="1"/>
          </p:cNvSpPr>
          <p:nvPr/>
        </p:nvSpPr>
        <p:spPr bwMode="auto">
          <a:xfrm>
            <a:off x="990600" y="5283200"/>
            <a:ext cx="5867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3309" name="Text Box 13">
            <a:extLst>
              <a:ext uri="{FF2B5EF4-FFF2-40B4-BE49-F238E27FC236}">
                <a16:creationId xmlns:a16="http://schemas.microsoft.com/office/drawing/2014/main" id="{B3419473-7779-4C6C-9272-6141A867C11E}"/>
              </a:ext>
            </a:extLst>
          </p:cNvPr>
          <p:cNvSpPr txBox="1">
            <a:spLocks noChangeArrowheads="1"/>
          </p:cNvSpPr>
          <p:nvPr/>
        </p:nvSpPr>
        <p:spPr bwMode="auto">
          <a:xfrm>
            <a:off x="5410200" y="4876800"/>
            <a:ext cx="11144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a:latin typeface="Times New Roman" panose="02020603050405020304" pitchFamily="18" charset="0"/>
              </a:rPr>
              <a:t>{</a:t>
            </a:r>
            <a:r>
              <a:rPr lang="en-US" altLang="en-US" sz="1800" b="1" i="1">
                <a:latin typeface="Times New Roman" panose="02020603050405020304" pitchFamily="18" charset="0"/>
              </a:rPr>
              <a:t>x / Jane</a:t>
            </a:r>
            <a:r>
              <a:rPr lang="en-US" altLang="en-US" sz="1800" b="1">
                <a:latin typeface="Times New Roman" panose="02020603050405020304" pitchFamily="18" charset="0"/>
              </a:rPr>
              <a:t>}</a:t>
            </a:r>
          </a:p>
        </p:txBody>
      </p:sp>
      <p:sp>
        <p:nvSpPr>
          <p:cNvPr id="183310" name="Line 14">
            <a:extLst>
              <a:ext uri="{FF2B5EF4-FFF2-40B4-BE49-F238E27FC236}">
                <a16:creationId xmlns:a16="http://schemas.microsoft.com/office/drawing/2014/main" id="{E53DA001-E924-4260-A704-70CFDC52173D}"/>
              </a:ext>
            </a:extLst>
          </p:cNvPr>
          <p:cNvSpPr>
            <a:spLocks noChangeShapeType="1"/>
          </p:cNvSpPr>
          <p:nvPr/>
        </p:nvSpPr>
        <p:spPr bwMode="auto">
          <a:xfrm>
            <a:off x="1066800" y="5829300"/>
            <a:ext cx="5867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3311" name="Text Box 15">
            <a:extLst>
              <a:ext uri="{FF2B5EF4-FFF2-40B4-BE49-F238E27FC236}">
                <a16:creationId xmlns:a16="http://schemas.microsoft.com/office/drawing/2014/main" id="{49D12ECD-7C87-456C-B9DA-9DF2D6E2B80F}"/>
              </a:ext>
            </a:extLst>
          </p:cNvPr>
          <p:cNvSpPr txBox="1">
            <a:spLocks noChangeArrowheads="1"/>
          </p:cNvSpPr>
          <p:nvPr/>
        </p:nvSpPr>
        <p:spPr bwMode="auto">
          <a:xfrm>
            <a:off x="3108325" y="5299075"/>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latin typeface="Times New Roman" panose="02020603050405020304" pitchFamily="18" charset="0"/>
            </a:endParaRPr>
          </a:p>
        </p:txBody>
      </p:sp>
      <p:sp>
        <p:nvSpPr>
          <p:cNvPr id="183312" name="Text Box 16">
            <a:extLst>
              <a:ext uri="{FF2B5EF4-FFF2-40B4-BE49-F238E27FC236}">
                <a16:creationId xmlns:a16="http://schemas.microsoft.com/office/drawing/2014/main" id="{01F9AD00-8183-474E-805D-31ECBCE5810B}"/>
              </a:ext>
            </a:extLst>
          </p:cNvPr>
          <p:cNvSpPr txBox="1">
            <a:spLocks noChangeArrowheads="1"/>
          </p:cNvSpPr>
          <p:nvPr/>
        </p:nvSpPr>
        <p:spPr bwMode="auto">
          <a:xfrm>
            <a:off x="3162300" y="5334000"/>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i="1">
                <a:latin typeface="Times New Roman" panose="02020603050405020304" pitchFamily="18" charset="0"/>
              </a:rPr>
              <a:t>knows(y, Jack)</a:t>
            </a:r>
          </a:p>
        </p:txBody>
      </p:sp>
      <p:sp>
        <p:nvSpPr>
          <p:cNvPr id="183313" name="Text Box 17">
            <a:extLst>
              <a:ext uri="{FF2B5EF4-FFF2-40B4-BE49-F238E27FC236}">
                <a16:creationId xmlns:a16="http://schemas.microsoft.com/office/drawing/2014/main" id="{2752B55A-C8CC-41FB-8D6B-FF4B16AD6D0F}"/>
              </a:ext>
            </a:extLst>
          </p:cNvPr>
          <p:cNvSpPr txBox="1">
            <a:spLocks noChangeArrowheads="1"/>
          </p:cNvSpPr>
          <p:nvPr/>
        </p:nvSpPr>
        <p:spPr bwMode="auto">
          <a:xfrm>
            <a:off x="5241925" y="5346700"/>
            <a:ext cx="19780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a:latin typeface="Times New Roman" panose="02020603050405020304" pitchFamily="18" charset="0"/>
              </a:rPr>
              <a:t>{</a:t>
            </a:r>
            <a:r>
              <a:rPr lang="en-US" altLang="en-US" sz="1800" b="1" i="1">
                <a:latin typeface="Times New Roman" panose="02020603050405020304" pitchFamily="18" charset="0"/>
              </a:rPr>
              <a:t>x / Jack, y / John</a:t>
            </a:r>
            <a:r>
              <a:rPr lang="en-US" altLang="en-US" sz="1800" b="1">
                <a:latin typeface="Times New Roman" panose="02020603050405020304" pitchFamily="18" charset="0"/>
              </a:rPr>
              <a:t>}</a:t>
            </a:r>
          </a:p>
        </p:txBody>
      </p:sp>
      <p:sp>
        <p:nvSpPr>
          <p:cNvPr id="183314" name="Line 18">
            <a:extLst>
              <a:ext uri="{FF2B5EF4-FFF2-40B4-BE49-F238E27FC236}">
                <a16:creationId xmlns:a16="http://schemas.microsoft.com/office/drawing/2014/main" id="{09D9F59C-40DB-423B-8043-DFEDE32190AB}"/>
              </a:ext>
            </a:extLst>
          </p:cNvPr>
          <p:cNvSpPr>
            <a:spLocks noChangeShapeType="1"/>
          </p:cNvSpPr>
          <p:nvPr/>
        </p:nvSpPr>
        <p:spPr bwMode="auto">
          <a:xfrm>
            <a:off x="1066800" y="6324600"/>
            <a:ext cx="58674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3315" name="Text Box 19">
            <a:extLst>
              <a:ext uri="{FF2B5EF4-FFF2-40B4-BE49-F238E27FC236}">
                <a16:creationId xmlns:a16="http://schemas.microsoft.com/office/drawing/2014/main" id="{6FB56E45-26B5-453E-AB6E-EAB4070E4680}"/>
              </a:ext>
            </a:extLst>
          </p:cNvPr>
          <p:cNvSpPr txBox="1">
            <a:spLocks noChangeArrowheads="1"/>
          </p:cNvSpPr>
          <p:nvPr/>
        </p:nvSpPr>
        <p:spPr bwMode="auto">
          <a:xfrm>
            <a:off x="2955925" y="5854700"/>
            <a:ext cx="2019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i="1">
                <a:latin typeface="Times New Roman" panose="02020603050405020304" pitchFamily="18" charset="0"/>
              </a:rPr>
              <a:t>knows(y,mother(y))</a:t>
            </a:r>
            <a:endParaRPr lang="en-US" altLang="en-US">
              <a:latin typeface="Times New Roman" panose="02020603050405020304" pitchFamily="18" charset="0"/>
            </a:endParaRPr>
          </a:p>
        </p:txBody>
      </p:sp>
      <p:sp>
        <p:nvSpPr>
          <p:cNvPr id="183316" name="Text Box 20">
            <a:extLst>
              <a:ext uri="{FF2B5EF4-FFF2-40B4-BE49-F238E27FC236}">
                <a16:creationId xmlns:a16="http://schemas.microsoft.com/office/drawing/2014/main" id="{10243378-C471-491B-8BE6-B72E7AB02F37}"/>
              </a:ext>
            </a:extLst>
          </p:cNvPr>
          <p:cNvSpPr txBox="1">
            <a:spLocks noChangeArrowheads="1"/>
          </p:cNvSpPr>
          <p:nvPr/>
        </p:nvSpPr>
        <p:spPr bwMode="auto">
          <a:xfrm>
            <a:off x="5241925" y="5829300"/>
            <a:ext cx="28416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a:latin typeface="Times New Roman" panose="02020603050405020304" pitchFamily="18" charset="0"/>
              </a:rPr>
              <a:t>{</a:t>
            </a:r>
            <a:r>
              <a:rPr lang="en-US" altLang="en-US" sz="1800" b="1" i="1">
                <a:latin typeface="Times New Roman" panose="02020603050405020304" pitchFamily="18" charset="0"/>
              </a:rPr>
              <a:t>y / John, x / mother(John)</a:t>
            </a:r>
            <a:r>
              <a:rPr lang="en-US" altLang="en-US" sz="1800" b="1">
                <a:latin typeface="Times New Roman" panose="02020603050405020304" pitchFamily="18" charset="0"/>
              </a:rPr>
              <a:t>}</a:t>
            </a:r>
          </a:p>
        </p:txBody>
      </p:sp>
      <p:sp>
        <p:nvSpPr>
          <p:cNvPr id="183317" name="Text Box 21">
            <a:extLst>
              <a:ext uri="{FF2B5EF4-FFF2-40B4-BE49-F238E27FC236}">
                <a16:creationId xmlns:a16="http://schemas.microsoft.com/office/drawing/2014/main" id="{46305254-4883-4519-BAA7-3D9DB8A43CC7}"/>
              </a:ext>
            </a:extLst>
          </p:cNvPr>
          <p:cNvSpPr txBox="1">
            <a:spLocks noChangeArrowheads="1"/>
          </p:cNvSpPr>
          <p:nvPr/>
        </p:nvSpPr>
        <p:spPr bwMode="auto">
          <a:xfrm>
            <a:off x="3184525" y="6324600"/>
            <a:ext cx="160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US" sz="1800" b="1" i="1">
                <a:latin typeface="Times New Roman" panose="02020603050405020304" pitchFamily="18" charset="0"/>
              </a:rPr>
              <a:t>knows(x, Jack)</a:t>
            </a:r>
            <a:endParaRPr lang="en-US" altLang="en-US">
              <a:latin typeface="Times New Roman" panose="02020603050405020304" pitchFamily="18" charset="0"/>
            </a:endParaRPr>
          </a:p>
        </p:txBody>
      </p:sp>
      <p:sp>
        <p:nvSpPr>
          <p:cNvPr id="183318" name="Text Box 22">
            <a:extLst>
              <a:ext uri="{FF2B5EF4-FFF2-40B4-BE49-F238E27FC236}">
                <a16:creationId xmlns:a16="http://schemas.microsoft.com/office/drawing/2014/main" id="{BC4333A7-99E3-497B-9D96-19201C1B03A5}"/>
              </a:ext>
            </a:extLst>
          </p:cNvPr>
          <p:cNvSpPr txBox="1">
            <a:spLocks noChangeArrowheads="1"/>
          </p:cNvSpPr>
          <p:nvPr/>
        </p:nvSpPr>
        <p:spPr bwMode="auto">
          <a:xfrm>
            <a:off x="5486400" y="6324600"/>
            <a:ext cx="7016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b="1" i="1">
                <a:solidFill>
                  <a:srgbClr val="DD380B"/>
                </a:solidFill>
                <a:latin typeface="Times New Roman" panose="02020603050405020304" pitchFamily="18" charset="0"/>
              </a:rPr>
              <a:t>fail</a:t>
            </a:r>
          </a:p>
        </p:txBody>
      </p:sp>
      <p:sp>
        <p:nvSpPr>
          <p:cNvPr id="183319" name="Text Box 23">
            <a:extLst>
              <a:ext uri="{FF2B5EF4-FFF2-40B4-BE49-F238E27FC236}">
                <a16:creationId xmlns:a16="http://schemas.microsoft.com/office/drawing/2014/main" id="{46F2EF1F-1AFF-4729-AA2D-440E97AAC3C7}"/>
              </a:ext>
            </a:extLst>
          </p:cNvPr>
          <p:cNvSpPr txBox="1">
            <a:spLocks noChangeArrowheads="1"/>
          </p:cNvSpPr>
          <p:nvPr/>
        </p:nvSpPr>
        <p:spPr bwMode="auto">
          <a:xfrm>
            <a:off x="6858000" y="4546600"/>
            <a:ext cx="2257425" cy="65087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i="1">
                <a:latin typeface="Times New Roman" panose="02020603050405020304" pitchFamily="18" charset="0"/>
              </a:rPr>
              <a:t>x,y – implicitly </a:t>
            </a:r>
          </a:p>
          <a:p>
            <a:r>
              <a:rPr lang="en-US" altLang="en-US" sz="1800" b="1" i="1">
                <a:latin typeface="Times New Roman" panose="02020603050405020304" pitchFamily="18" charset="0"/>
              </a:rPr>
              <a:t>universally quantified</a:t>
            </a:r>
          </a:p>
        </p:txBody>
      </p:sp>
      <p:sp>
        <p:nvSpPr>
          <p:cNvPr id="183320" name="Text Box 24">
            <a:extLst>
              <a:ext uri="{FF2B5EF4-FFF2-40B4-BE49-F238E27FC236}">
                <a16:creationId xmlns:a16="http://schemas.microsoft.com/office/drawing/2014/main" id="{43072D9D-944A-41EC-96C8-FC61A83FD516}"/>
              </a:ext>
            </a:extLst>
          </p:cNvPr>
          <p:cNvSpPr txBox="1">
            <a:spLocks noChangeArrowheads="1"/>
          </p:cNvSpPr>
          <p:nvPr/>
        </p:nvSpPr>
        <p:spPr bwMode="auto">
          <a:xfrm>
            <a:off x="6308725" y="6372225"/>
            <a:ext cx="23558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Arial" panose="020B0604020202020204" pitchFamily="34" charset="0"/>
              </a:rPr>
              <a:t>P &amp; Q cannot share </a:t>
            </a:r>
            <a:r>
              <a:rPr lang="en-US" altLang="en-US" sz="1800" i="1">
                <a:latin typeface="Book Antiqua" panose="02040602050305030304" pitchFamily="18" charset="0"/>
              </a:rPr>
              <a:t>x</a:t>
            </a:r>
          </a:p>
        </p:txBody>
      </p:sp>
    </p:spTree>
    <p:extLst>
      <p:ext uri="{BB962C8B-B14F-4D97-AF65-F5344CB8AC3E}">
        <p14:creationId xmlns:p14="http://schemas.microsoft.com/office/powerpoint/2010/main" val="21082812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3300"/>
                                        </p:tgtEl>
                                        <p:attrNameLst>
                                          <p:attrName>style.visibility</p:attrName>
                                        </p:attrNameLst>
                                      </p:cBhvr>
                                      <p:to>
                                        <p:strVal val="visible"/>
                                      </p:to>
                                    </p:set>
                                    <p:anim calcmode="lin" valueType="num">
                                      <p:cBhvr additive="base">
                                        <p:cTn id="7" dur="500" fill="hold"/>
                                        <p:tgtEl>
                                          <p:spTgt spid="183300"/>
                                        </p:tgtEl>
                                        <p:attrNameLst>
                                          <p:attrName>ppt_x</p:attrName>
                                        </p:attrNameLst>
                                      </p:cBhvr>
                                      <p:tavLst>
                                        <p:tav tm="0">
                                          <p:val>
                                            <p:strVal val="0-#ppt_w/2"/>
                                          </p:val>
                                        </p:tav>
                                        <p:tav tm="100000">
                                          <p:val>
                                            <p:strVal val="#ppt_x"/>
                                          </p:val>
                                        </p:tav>
                                      </p:tavLst>
                                    </p:anim>
                                    <p:anim calcmode="lin" valueType="num">
                                      <p:cBhvr additive="base">
                                        <p:cTn id="8" dur="500" fill="hold"/>
                                        <p:tgtEl>
                                          <p:spTgt spid="183300"/>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183301"/>
                                        </p:tgtEl>
                                        <p:attrNameLst>
                                          <p:attrName>style.visibility</p:attrName>
                                        </p:attrNameLst>
                                      </p:cBhvr>
                                      <p:to>
                                        <p:strVal val="visible"/>
                                      </p:to>
                                    </p:set>
                                    <p:anim calcmode="lin" valueType="num">
                                      <p:cBhvr additive="base">
                                        <p:cTn id="12" dur="500" fill="hold"/>
                                        <p:tgtEl>
                                          <p:spTgt spid="183301"/>
                                        </p:tgtEl>
                                        <p:attrNameLst>
                                          <p:attrName>ppt_x</p:attrName>
                                        </p:attrNameLst>
                                      </p:cBhvr>
                                      <p:tavLst>
                                        <p:tav tm="0">
                                          <p:val>
                                            <p:strVal val="#ppt_x"/>
                                          </p:val>
                                        </p:tav>
                                        <p:tav tm="100000">
                                          <p:val>
                                            <p:strVal val="#ppt_x"/>
                                          </p:val>
                                        </p:tav>
                                      </p:tavLst>
                                    </p:anim>
                                    <p:anim calcmode="lin" valueType="num">
                                      <p:cBhvr additive="base">
                                        <p:cTn id="13" dur="500" fill="hold"/>
                                        <p:tgtEl>
                                          <p:spTgt spid="183301"/>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nodeType="afterEffect">
                                  <p:stCondLst>
                                    <p:cond delay="0"/>
                                  </p:stCondLst>
                                  <p:childTnLst>
                                    <p:set>
                                      <p:cBhvr>
                                        <p:cTn id="16" dur="1" fill="hold">
                                          <p:stCondLst>
                                            <p:cond delay="0"/>
                                          </p:stCondLst>
                                        </p:cTn>
                                        <p:tgtEl>
                                          <p:spTgt spid="183302"/>
                                        </p:tgtEl>
                                        <p:attrNameLst>
                                          <p:attrName>style.visibility</p:attrName>
                                        </p:attrNameLst>
                                      </p:cBhvr>
                                      <p:to>
                                        <p:strVal val="visible"/>
                                      </p:to>
                                    </p:set>
                                    <p:anim calcmode="lin" valueType="num">
                                      <p:cBhvr additive="base">
                                        <p:cTn id="17" dur="500" fill="hold"/>
                                        <p:tgtEl>
                                          <p:spTgt spid="183302"/>
                                        </p:tgtEl>
                                        <p:attrNameLst>
                                          <p:attrName>ppt_x</p:attrName>
                                        </p:attrNameLst>
                                      </p:cBhvr>
                                      <p:tavLst>
                                        <p:tav tm="0">
                                          <p:val>
                                            <p:strVal val="#ppt_x"/>
                                          </p:val>
                                        </p:tav>
                                        <p:tav tm="100000">
                                          <p:val>
                                            <p:strVal val="#ppt_x"/>
                                          </p:val>
                                        </p:tav>
                                      </p:tavLst>
                                    </p:anim>
                                    <p:anim calcmode="lin" valueType="num">
                                      <p:cBhvr additive="base">
                                        <p:cTn id="18" dur="500" fill="hold"/>
                                        <p:tgtEl>
                                          <p:spTgt spid="18330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83303"/>
                                        </p:tgtEl>
                                        <p:attrNameLst>
                                          <p:attrName>style.visibility</p:attrName>
                                        </p:attrNameLst>
                                      </p:cBhvr>
                                      <p:to>
                                        <p:strVal val="visible"/>
                                      </p:to>
                                    </p:set>
                                    <p:anim calcmode="lin" valueType="num">
                                      <p:cBhvr additive="base">
                                        <p:cTn id="23" dur="500" fill="hold"/>
                                        <p:tgtEl>
                                          <p:spTgt spid="183303"/>
                                        </p:tgtEl>
                                        <p:attrNameLst>
                                          <p:attrName>ppt_x</p:attrName>
                                        </p:attrNameLst>
                                      </p:cBhvr>
                                      <p:tavLst>
                                        <p:tav tm="0">
                                          <p:val>
                                            <p:strVal val="0-#ppt_w/2"/>
                                          </p:val>
                                        </p:tav>
                                        <p:tav tm="100000">
                                          <p:val>
                                            <p:strVal val="#ppt_x"/>
                                          </p:val>
                                        </p:tav>
                                      </p:tavLst>
                                    </p:anim>
                                    <p:anim calcmode="lin" valueType="num">
                                      <p:cBhvr additive="base">
                                        <p:cTn id="24" dur="500" fill="hold"/>
                                        <p:tgtEl>
                                          <p:spTgt spid="183303"/>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4" fill="hold" grpId="0" nodeType="afterEffect">
                                  <p:stCondLst>
                                    <p:cond delay="0"/>
                                  </p:stCondLst>
                                  <p:childTnLst>
                                    <p:set>
                                      <p:cBhvr>
                                        <p:cTn id="27" dur="1" fill="hold">
                                          <p:stCondLst>
                                            <p:cond delay="0"/>
                                          </p:stCondLst>
                                        </p:cTn>
                                        <p:tgtEl>
                                          <p:spTgt spid="183307"/>
                                        </p:tgtEl>
                                        <p:attrNameLst>
                                          <p:attrName>style.visibility</p:attrName>
                                        </p:attrNameLst>
                                      </p:cBhvr>
                                      <p:to>
                                        <p:strVal val="visible"/>
                                      </p:to>
                                    </p:set>
                                    <p:anim calcmode="lin" valueType="num">
                                      <p:cBhvr additive="base">
                                        <p:cTn id="28" dur="500" fill="hold"/>
                                        <p:tgtEl>
                                          <p:spTgt spid="183307"/>
                                        </p:tgtEl>
                                        <p:attrNameLst>
                                          <p:attrName>ppt_x</p:attrName>
                                        </p:attrNameLst>
                                      </p:cBhvr>
                                      <p:tavLst>
                                        <p:tav tm="0">
                                          <p:val>
                                            <p:strVal val="#ppt_x"/>
                                          </p:val>
                                        </p:tav>
                                        <p:tav tm="100000">
                                          <p:val>
                                            <p:strVal val="#ppt_x"/>
                                          </p:val>
                                        </p:tav>
                                      </p:tavLst>
                                    </p:anim>
                                    <p:anim calcmode="lin" valueType="num">
                                      <p:cBhvr additive="base">
                                        <p:cTn id="29" dur="500" fill="hold"/>
                                        <p:tgtEl>
                                          <p:spTgt spid="183307"/>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183309"/>
                                        </p:tgtEl>
                                        <p:attrNameLst>
                                          <p:attrName>style.visibility</p:attrName>
                                        </p:attrNameLst>
                                      </p:cBhvr>
                                      <p:to>
                                        <p:strVal val="visible"/>
                                      </p:to>
                                    </p:set>
                                    <p:anim calcmode="lin" valueType="num">
                                      <p:cBhvr additive="base">
                                        <p:cTn id="34" dur="500" fill="hold"/>
                                        <p:tgtEl>
                                          <p:spTgt spid="183309"/>
                                        </p:tgtEl>
                                        <p:attrNameLst>
                                          <p:attrName>ppt_x</p:attrName>
                                        </p:attrNameLst>
                                      </p:cBhvr>
                                      <p:tavLst>
                                        <p:tav tm="0">
                                          <p:val>
                                            <p:strVal val="1+#ppt_w/2"/>
                                          </p:val>
                                        </p:tav>
                                        <p:tav tm="100000">
                                          <p:val>
                                            <p:strVal val="#ppt_x"/>
                                          </p:val>
                                        </p:tav>
                                      </p:tavLst>
                                    </p:anim>
                                    <p:anim calcmode="lin" valueType="num">
                                      <p:cBhvr additive="base">
                                        <p:cTn id="35" dur="500" fill="hold"/>
                                        <p:tgtEl>
                                          <p:spTgt spid="183309"/>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500"/>
                            </p:stCondLst>
                            <p:childTnLst>
                              <p:par>
                                <p:cTn id="37" presetID="2" presetClass="entr" presetSubtype="8" fill="hold" nodeType="afterEffect">
                                  <p:stCondLst>
                                    <p:cond delay="0"/>
                                  </p:stCondLst>
                                  <p:childTnLst>
                                    <p:set>
                                      <p:cBhvr>
                                        <p:cTn id="38" dur="1" fill="hold">
                                          <p:stCondLst>
                                            <p:cond delay="0"/>
                                          </p:stCondLst>
                                        </p:cTn>
                                        <p:tgtEl>
                                          <p:spTgt spid="183308"/>
                                        </p:tgtEl>
                                        <p:attrNameLst>
                                          <p:attrName>style.visibility</p:attrName>
                                        </p:attrNameLst>
                                      </p:cBhvr>
                                      <p:to>
                                        <p:strVal val="visible"/>
                                      </p:to>
                                    </p:set>
                                    <p:anim calcmode="lin" valueType="num">
                                      <p:cBhvr additive="base">
                                        <p:cTn id="39" dur="500" fill="hold"/>
                                        <p:tgtEl>
                                          <p:spTgt spid="183308"/>
                                        </p:tgtEl>
                                        <p:attrNameLst>
                                          <p:attrName>ppt_x</p:attrName>
                                        </p:attrNameLst>
                                      </p:cBhvr>
                                      <p:tavLst>
                                        <p:tav tm="0">
                                          <p:val>
                                            <p:strVal val="0-#ppt_w/2"/>
                                          </p:val>
                                        </p:tav>
                                        <p:tav tm="100000">
                                          <p:val>
                                            <p:strVal val="#ppt_x"/>
                                          </p:val>
                                        </p:tav>
                                      </p:tavLst>
                                    </p:anim>
                                    <p:anim calcmode="lin" valueType="num">
                                      <p:cBhvr additive="base">
                                        <p:cTn id="40" dur="500" fill="hold"/>
                                        <p:tgtEl>
                                          <p:spTgt spid="183308"/>
                                        </p:tgtEl>
                                        <p:attrNameLst>
                                          <p:attrName>ppt_y</p:attrName>
                                        </p:attrNameLst>
                                      </p:cBhvr>
                                      <p:tavLst>
                                        <p:tav tm="0">
                                          <p:val>
                                            <p:strVal val="#ppt_y"/>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83304"/>
                                        </p:tgtEl>
                                        <p:attrNameLst>
                                          <p:attrName>style.visibility</p:attrName>
                                        </p:attrNameLst>
                                      </p:cBhvr>
                                      <p:to>
                                        <p:strVal val="visible"/>
                                      </p:to>
                                    </p:set>
                                    <p:anim calcmode="lin" valueType="num">
                                      <p:cBhvr additive="base">
                                        <p:cTn id="45" dur="500" fill="hold"/>
                                        <p:tgtEl>
                                          <p:spTgt spid="183304"/>
                                        </p:tgtEl>
                                        <p:attrNameLst>
                                          <p:attrName>ppt_x</p:attrName>
                                        </p:attrNameLst>
                                      </p:cBhvr>
                                      <p:tavLst>
                                        <p:tav tm="0">
                                          <p:val>
                                            <p:strVal val="0-#ppt_w/2"/>
                                          </p:val>
                                        </p:tav>
                                        <p:tav tm="100000">
                                          <p:val>
                                            <p:strVal val="#ppt_x"/>
                                          </p:val>
                                        </p:tav>
                                      </p:tavLst>
                                    </p:anim>
                                    <p:anim calcmode="lin" valueType="num">
                                      <p:cBhvr additive="base">
                                        <p:cTn id="46" dur="500" fill="hold"/>
                                        <p:tgtEl>
                                          <p:spTgt spid="183304"/>
                                        </p:tgtEl>
                                        <p:attrNameLst>
                                          <p:attrName>ppt_y</p:attrName>
                                        </p:attrNameLst>
                                      </p:cBhvr>
                                      <p:tavLst>
                                        <p:tav tm="0">
                                          <p:val>
                                            <p:strVal val="#ppt_y"/>
                                          </p:val>
                                        </p:tav>
                                        <p:tav tm="100000">
                                          <p:val>
                                            <p:strVal val="#ppt_y"/>
                                          </p:val>
                                        </p:tav>
                                      </p:tavLst>
                                    </p:anim>
                                  </p:childTnLst>
                                </p:cTn>
                              </p:par>
                            </p:childTnLst>
                          </p:cTn>
                        </p:par>
                        <p:par>
                          <p:cTn id="47" fill="hold" nodeType="afterGroup">
                            <p:stCondLst>
                              <p:cond delay="500"/>
                            </p:stCondLst>
                            <p:childTnLst>
                              <p:par>
                                <p:cTn id="48" presetID="2" presetClass="entr" presetSubtype="4" fill="hold" grpId="0" nodeType="afterEffect">
                                  <p:stCondLst>
                                    <p:cond delay="0"/>
                                  </p:stCondLst>
                                  <p:childTnLst>
                                    <p:set>
                                      <p:cBhvr>
                                        <p:cTn id="49" dur="1" fill="hold">
                                          <p:stCondLst>
                                            <p:cond delay="0"/>
                                          </p:stCondLst>
                                        </p:cTn>
                                        <p:tgtEl>
                                          <p:spTgt spid="183312"/>
                                        </p:tgtEl>
                                        <p:attrNameLst>
                                          <p:attrName>style.visibility</p:attrName>
                                        </p:attrNameLst>
                                      </p:cBhvr>
                                      <p:to>
                                        <p:strVal val="visible"/>
                                      </p:to>
                                    </p:set>
                                    <p:anim calcmode="lin" valueType="num">
                                      <p:cBhvr additive="base">
                                        <p:cTn id="50" dur="500" fill="hold"/>
                                        <p:tgtEl>
                                          <p:spTgt spid="183312"/>
                                        </p:tgtEl>
                                        <p:attrNameLst>
                                          <p:attrName>ppt_x</p:attrName>
                                        </p:attrNameLst>
                                      </p:cBhvr>
                                      <p:tavLst>
                                        <p:tav tm="0">
                                          <p:val>
                                            <p:strVal val="#ppt_x"/>
                                          </p:val>
                                        </p:tav>
                                        <p:tav tm="100000">
                                          <p:val>
                                            <p:strVal val="#ppt_x"/>
                                          </p:val>
                                        </p:tav>
                                      </p:tavLst>
                                    </p:anim>
                                    <p:anim calcmode="lin" valueType="num">
                                      <p:cBhvr additive="base">
                                        <p:cTn id="51" dur="500" fill="hold"/>
                                        <p:tgtEl>
                                          <p:spTgt spid="183312"/>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2" fill="hold" grpId="0" nodeType="clickEffect">
                                  <p:stCondLst>
                                    <p:cond delay="0"/>
                                  </p:stCondLst>
                                  <p:childTnLst>
                                    <p:set>
                                      <p:cBhvr>
                                        <p:cTn id="55" dur="1" fill="hold">
                                          <p:stCondLst>
                                            <p:cond delay="0"/>
                                          </p:stCondLst>
                                        </p:cTn>
                                        <p:tgtEl>
                                          <p:spTgt spid="183313"/>
                                        </p:tgtEl>
                                        <p:attrNameLst>
                                          <p:attrName>style.visibility</p:attrName>
                                        </p:attrNameLst>
                                      </p:cBhvr>
                                      <p:to>
                                        <p:strVal val="visible"/>
                                      </p:to>
                                    </p:set>
                                    <p:anim calcmode="lin" valueType="num">
                                      <p:cBhvr additive="base">
                                        <p:cTn id="56" dur="500" fill="hold"/>
                                        <p:tgtEl>
                                          <p:spTgt spid="183313"/>
                                        </p:tgtEl>
                                        <p:attrNameLst>
                                          <p:attrName>ppt_x</p:attrName>
                                        </p:attrNameLst>
                                      </p:cBhvr>
                                      <p:tavLst>
                                        <p:tav tm="0">
                                          <p:val>
                                            <p:strVal val="1+#ppt_w/2"/>
                                          </p:val>
                                        </p:tav>
                                        <p:tav tm="100000">
                                          <p:val>
                                            <p:strVal val="#ppt_x"/>
                                          </p:val>
                                        </p:tav>
                                      </p:tavLst>
                                    </p:anim>
                                    <p:anim calcmode="lin" valueType="num">
                                      <p:cBhvr additive="base">
                                        <p:cTn id="57" dur="500" fill="hold"/>
                                        <p:tgtEl>
                                          <p:spTgt spid="183313"/>
                                        </p:tgtEl>
                                        <p:attrNameLst>
                                          <p:attrName>ppt_y</p:attrName>
                                        </p:attrNameLst>
                                      </p:cBhvr>
                                      <p:tavLst>
                                        <p:tav tm="0">
                                          <p:val>
                                            <p:strVal val="#ppt_y"/>
                                          </p:val>
                                        </p:tav>
                                        <p:tav tm="100000">
                                          <p:val>
                                            <p:strVal val="#ppt_y"/>
                                          </p:val>
                                        </p:tav>
                                      </p:tavLst>
                                    </p:anim>
                                  </p:childTnLst>
                                </p:cTn>
                              </p:par>
                            </p:childTnLst>
                          </p:cTn>
                        </p:par>
                        <p:par>
                          <p:cTn id="58" fill="hold" nodeType="afterGroup">
                            <p:stCondLst>
                              <p:cond delay="500"/>
                            </p:stCondLst>
                            <p:childTnLst>
                              <p:par>
                                <p:cTn id="59" presetID="2" presetClass="entr" presetSubtype="8" fill="hold" nodeType="afterEffect">
                                  <p:stCondLst>
                                    <p:cond delay="0"/>
                                  </p:stCondLst>
                                  <p:childTnLst>
                                    <p:set>
                                      <p:cBhvr>
                                        <p:cTn id="60" dur="1" fill="hold">
                                          <p:stCondLst>
                                            <p:cond delay="0"/>
                                          </p:stCondLst>
                                        </p:cTn>
                                        <p:tgtEl>
                                          <p:spTgt spid="183310"/>
                                        </p:tgtEl>
                                        <p:attrNameLst>
                                          <p:attrName>style.visibility</p:attrName>
                                        </p:attrNameLst>
                                      </p:cBhvr>
                                      <p:to>
                                        <p:strVal val="visible"/>
                                      </p:to>
                                    </p:set>
                                    <p:anim calcmode="lin" valueType="num">
                                      <p:cBhvr additive="base">
                                        <p:cTn id="61" dur="500" fill="hold"/>
                                        <p:tgtEl>
                                          <p:spTgt spid="183310"/>
                                        </p:tgtEl>
                                        <p:attrNameLst>
                                          <p:attrName>ppt_x</p:attrName>
                                        </p:attrNameLst>
                                      </p:cBhvr>
                                      <p:tavLst>
                                        <p:tav tm="0">
                                          <p:val>
                                            <p:strVal val="0-#ppt_w/2"/>
                                          </p:val>
                                        </p:tav>
                                        <p:tav tm="100000">
                                          <p:val>
                                            <p:strVal val="#ppt_x"/>
                                          </p:val>
                                        </p:tav>
                                      </p:tavLst>
                                    </p:anim>
                                    <p:anim calcmode="lin" valueType="num">
                                      <p:cBhvr additive="base">
                                        <p:cTn id="62" dur="500" fill="hold"/>
                                        <p:tgtEl>
                                          <p:spTgt spid="183310"/>
                                        </p:tgtEl>
                                        <p:attrNameLst>
                                          <p:attrName>ppt_y</p:attrName>
                                        </p:attrNameLst>
                                      </p:cBhvr>
                                      <p:tavLst>
                                        <p:tav tm="0">
                                          <p:val>
                                            <p:strVal val="#ppt_y"/>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183305"/>
                                        </p:tgtEl>
                                        <p:attrNameLst>
                                          <p:attrName>style.visibility</p:attrName>
                                        </p:attrNameLst>
                                      </p:cBhvr>
                                      <p:to>
                                        <p:strVal val="visible"/>
                                      </p:to>
                                    </p:set>
                                    <p:anim calcmode="lin" valueType="num">
                                      <p:cBhvr additive="base">
                                        <p:cTn id="67" dur="500" fill="hold"/>
                                        <p:tgtEl>
                                          <p:spTgt spid="183305"/>
                                        </p:tgtEl>
                                        <p:attrNameLst>
                                          <p:attrName>ppt_x</p:attrName>
                                        </p:attrNameLst>
                                      </p:cBhvr>
                                      <p:tavLst>
                                        <p:tav tm="0">
                                          <p:val>
                                            <p:strVal val="0-#ppt_w/2"/>
                                          </p:val>
                                        </p:tav>
                                        <p:tav tm="100000">
                                          <p:val>
                                            <p:strVal val="#ppt_x"/>
                                          </p:val>
                                        </p:tav>
                                      </p:tavLst>
                                    </p:anim>
                                    <p:anim calcmode="lin" valueType="num">
                                      <p:cBhvr additive="base">
                                        <p:cTn id="68" dur="500" fill="hold"/>
                                        <p:tgtEl>
                                          <p:spTgt spid="183305"/>
                                        </p:tgtEl>
                                        <p:attrNameLst>
                                          <p:attrName>ppt_y</p:attrName>
                                        </p:attrNameLst>
                                      </p:cBhvr>
                                      <p:tavLst>
                                        <p:tav tm="0">
                                          <p:val>
                                            <p:strVal val="#ppt_y"/>
                                          </p:val>
                                        </p:tav>
                                        <p:tav tm="100000">
                                          <p:val>
                                            <p:strVal val="#ppt_y"/>
                                          </p:val>
                                        </p:tav>
                                      </p:tavLst>
                                    </p:anim>
                                  </p:childTnLst>
                                </p:cTn>
                              </p:par>
                            </p:childTnLst>
                          </p:cTn>
                        </p:par>
                        <p:par>
                          <p:cTn id="69" fill="hold" nodeType="afterGroup">
                            <p:stCondLst>
                              <p:cond delay="500"/>
                            </p:stCondLst>
                            <p:childTnLst>
                              <p:par>
                                <p:cTn id="70" presetID="2" presetClass="entr" presetSubtype="4" fill="hold" grpId="0" nodeType="afterEffect">
                                  <p:stCondLst>
                                    <p:cond delay="0"/>
                                  </p:stCondLst>
                                  <p:childTnLst>
                                    <p:set>
                                      <p:cBhvr>
                                        <p:cTn id="71" dur="1" fill="hold">
                                          <p:stCondLst>
                                            <p:cond delay="0"/>
                                          </p:stCondLst>
                                        </p:cTn>
                                        <p:tgtEl>
                                          <p:spTgt spid="183315"/>
                                        </p:tgtEl>
                                        <p:attrNameLst>
                                          <p:attrName>style.visibility</p:attrName>
                                        </p:attrNameLst>
                                      </p:cBhvr>
                                      <p:to>
                                        <p:strVal val="visible"/>
                                      </p:to>
                                    </p:set>
                                    <p:anim calcmode="lin" valueType="num">
                                      <p:cBhvr additive="base">
                                        <p:cTn id="72" dur="500" fill="hold"/>
                                        <p:tgtEl>
                                          <p:spTgt spid="183315"/>
                                        </p:tgtEl>
                                        <p:attrNameLst>
                                          <p:attrName>ppt_x</p:attrName>
                                        </p:attrNameLst>
                                      </p:cBhvr>
                                      <p:tavLst>
                                        <p:tav tm="0">
                                          <p:val>
                                            <p:strVal val="#ppt_x"/>
                                          </p:val>
                                        </p:tav>
                                        <p:tav tm="100000">
                                          <p:val>
                                            <p:strVal val="#ppt_x"/>
                                          </p:val>
                                        </p:tav>
                                      </p:tavLst>
                                    </p:anim>
                                    <p:anim calcmode="lin" valueType="num">
                                      <p:cBhvr additive="base">
                                        <p:cTn id="73" dur="500" fill="hold"/>
                                        <p:tgtEl>
                                          <p:spTgt spid="183315"/>
                                        </p:tgtEl>
                                        <p:attrNameLst>
                                          <p:attrName>ppt_y</p:attrName>
                                        </p:attrNameLst>
                                      </p:cBhvr>
                                      <p:tavLst>
                                        <p:tav tm="0">
                                          <p:val>
                                            <p:strVal val="1+#ppt_h/2"/>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2" fill="hold" grpId="0" nodeType="clickEffect">
                                  <p:stCondLst>
                                    <p:cond delay="0"/>
                                  </p:stCondLst>
                                  <p:childTnLst>
                                    <p:set>
                                      <p:cBhvr>
                                        <p:cTn id="77" dur="1" fill="hold">
                                          <p:stCondLst>
                                            <p:cond delay="0"/>
                                          </p:stCondLst>
                                        </p:cTn>
                                        <p:tgtEl>
                                          <p:spTgt spid="183316"/>
                                        </p:tgtEl>
                                        <p:attrNameLst>
                                          <p:attrName>style.visibility</p:attrName>
                                        </p:attrNameLst>
                                      </p:cBhvr>
                                      <p:to>
                                        <p:strVal val="visible"/>
                                      </p:to>
                                    </p:set>
                                    <p:anim calcmode="lin" valueType="num">
                                      <p:cBhvr additive="base">
                                        <p:cTn id="78" dur="500" fill="hold"/>
                                        <p:tgtEl>
                                          <p:spTgt spid="183316"/>
                                        </p:tgtEl>
                                        <p:attrNameLst>
                                          <p:attrName>ppt_x</p:attrName>
                                        </p:attrNameLst>
                                      </p:cBhvr>
                                      <p:tavLst>
                                        <p:tav tm="0">
                                          <p:val>
                                            <p:strVal val="1+#ppt_w/2"/>
                                          </p:val>
                                        </p:tav>
                                        <p:tav tm="100000">
                                          <p:val>
                                            <p:strVal val="#ppt_x"/>
                                          </p:val>
                                        </p:tav>
                                      </p:tavLst>
                                    </p:anim>
                                    <p:anim calcmode="lin" valueType="num">
                                      <p:cBhvr additive="base">
                                        <p:cTn id="79" dur="500" fill="hold"/>
                                        <p:tgtEl>
                                          <p:spTgt spid="183316"/>
                                        </p:tgtEl>
                                        <p:attrNameLst>
                                          <p:attrName>ppt_y</p:attrName>
                                        </p:attrNameLst>
                                      </p:cBhvr>
                                      <p:tavLst>
                                        <p:tav tm="0">
                                          <p:val>
                                            <p:strVal val="#ppt_y"/>
                                          </p:val>
                                        </p:tav>
                                        <p:tav tm="100000">
                                          <p:val>
                                            <p:strVal val="#ppt_y"/>
                                          </p:val>
                                        </p:tav>
                                      </p:tavLst>
                                    </p:anim>
                                  </p:childTnLst>
                                </p:cTn>
                              </p:par>
                            </p:childTnLst>
                          </p:cTn>
                        </p:par>
                        <p:par>
                          <p:cTn id="80" fill="hold" nodeType="afterGroup">
                            <p:stCondLst>
                              <p:cond delay="500"/>
                            </p:stCondLst>
                            <p:childTnLst>
                              <p:par>
                                <p:cTn id="81" presetID="2" presetClass="entr" presetSubtype="4" fill="hold" nodeType="afterEffect">
                                  <p:stCondLst>
                                    <p:cond delay="0"/>
                                  </p:stCondLst>
                                  <p:childTnLst>
                                    <p:set>
                                      <p:cBhvr>
                                        <p:cTn id="82" dur="1" fill="hold">
                                          <p:stCondLst>
                                            <p:cond delay="0"/>
                                          </p:stCondLst>
                                        </p:cTn>
                                        <p:tgtEl>
                                          <p:spTgt spid="183314"/>
                                        </p:tgtEl>
                                        <p:attrNameLst>
                                          <p:attrName>style.visibility</p:attrName>
                                        </p:attrNameLst>
                                      </p:cBhvr>
                                      <p:to>
                                        <p:strVal val="visible"/>
                                      </p:to>
                                    </p:set>
                                    <p:anim calcmode="lin" valueType="num">
                                      <p:cBhvr additive="base">
                                        <p:cTn id="83" dur="500" fill="hold"/>
                                        <p:tgtEl>
                                          <p:spTgt spid="183314"/>
                                        </p:tgtEl>
                                        <p:attrNameLst>
                                          <p:attrName>ppt_x</p:attrName>
                                        </p:attrNameLst>
                                      </p:cBhvr>
                                      <p:tavLst>
                                        <p:tav tm="0">
                                          <p:val>
                                            <p:strVal val="#ppt_x"/>
                                          </p:val>
                                        </p:tav>
                                        <p:tav tm="100000">
                                          <p:val>
                                            <p:strVal val="#ppt_x"/>
                                          </p:val>
                                        </p:tav>
                                      </p:tavLst>
                                    </p:anim>
                                    <p:anim calcmode="lin" valueType="num">
                                      <p:cBhvr additive="base">
                                        <p:cTn id="84" dur="500" fill="hold"/>
                                        <p:tgtEl>
                                          <p:spTgt spid="183314"/>
                                        </p:tgtEl>
                                        <p:attrNameLst>
                                          <p:attrName>ppt_y</p:attrName>
                                        </p:attrNameLst>
                                      </p:cBhvr>
                                      <p:tavLst>
                                        <p:tav tm="0">
                                          <p:val>
                                            <p:strVal val="1+#ppt_h/2"/>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8" fill="hold" grpId="0" nodeType="clickEffect">
                                  <p:stCondLst>
                                    <p:cond delay="0"/>
                                  </p:stCondLst>
                                  <p:childTnLst>
                                    <p:set>
                                      <p:cBhvr>
                                        <p:cTn id="88" dur="1" fill="hold">
                                          <p:stCondLst>
                                            <p:cond delay="0"/>
                                          </p:stCondLst>
                                        </p:cTn>
                                        <p:tgtEl>
                                          <p:spTgt spid="183306"/>
                                        </p:tgtEl>
                                        <p:attrNameLst>
                                          <p:attrName>style.visibility</p:attrName>
                                        </p:attrNameLst>
                                      </p:cBhvr>
                                      <p:to>
                                        <p:strVal val="visible"/>
                                      </p:to>
                                    </p:set>
                                    <p:anim calcmode="lin" valueType="num">
                                      <p:cBhvr additive="base">
                                        <p:cTn id="89" dur="500" fill="hold"/>
                                        <p:tgtEl>
                                          <p:spTgt spid="183306"/>
                                        </p:tgtEl>
                                        <p:attrNameLst>
                                          <p:attrName>ppt_x</p:attrName>
                                        </p:attrNameLst>
                                      </p:cBhvr>
                                      <p:tavLst>
                                        <p:tav tm="0">
                                          <p:val>
                                            <p:strVal val="0-#ppt_w/2"/>
                                          </p:val>
                                        </p:tav>
                                        <p:tav tm="100000">
                                          <p:val>
                                            <p:strVal val="#ppt_x"/>
                                          </p:val>
                                        </p:tav>
                                      </p:tavLst>
                                    </p:anim>
                                    <p:anim calcmode="lin" valueType="num">
                                      <p:cBhvr additive="base">
                                        <p:cTn id="90" dur="500" fill="hold"/>
                                        <p:tgtEl>
                                          <p:spTgt spid="183306"/>
                                        </p:tgtEl>
                                        <p:attrNameLst>
                                          <p:attrName>ppt_y</p:attrName>
                                        </p:attrNameLst>
                                      </p:cBhvr>
                                      <p:tavLst>
                                        <p:tav tm="0">
                                          <p:val>
                                            <p:strVal val="#ppt_y"/>
                                          </p:val>
                                        </p:tav>
                                        <p:tav tm="100000">
                                          <p:val>
                                            <p:strVal val="#ppt_y"/>
                                          </p:val>
                                        </p:tav>
                                      </p:tavLst>
                                    </p:anim>
                                  </p:childTnLst>
                                </p:cTn>
                              </p:par>
                            </p:childTnLst>
                          </p:cTn>
                        </p:par>
                        <p:par>
                          <p:cTn id="91" fill="hold" nodeType="afterGroup">
                            <p:stCondLst>
                              <p:cond delay="500"/>
                            </p:stCondLst>
                            <p:childTnLst>
                              <p:par>
                                <p:cTn id="92" presetID="2" presetClass="entr" presetSubtype="4" fill="hold" grpId="0" nodeType="afterEffect">
                                  <p:stCondLst>
                                    <p:cond delay="0"/>
                                  </p:stCondLst>
                                  <p:childTnLst>
                                    <p:set>
                                      <p:cBhvr>
                                        <p:cTn id="93" dur="1" fill="hold">
                                          <p:stCondLst>
                                            <p:cond delay="0"/>
                                          </p:stCondLst>
                                        </p:cTn>
                                        <p:tgtEl>
                                          <p:spTgt spid="183317"/>
                                        </p:tgtEl>
                                        <p:attrNameLst>
                                          <p:attrName>style.visibility</p:attrName>
                                        </p:attrNameLst>
                                      </p:cBhvr>
                                      <p:to>
                                        <p:strVal val="visible"/>
                                      </p:to>
                                    </p:set>
                                    <p:anim calcmode="lin" valueType="num">
                                      <p:cBhvr additive="base">
                                        <p:cTn id="94" dur="500" fill="hold"/>
                                        <p:tgtEl>
                                          <p:spTgt spid="183317"/>
                                        </p:tgtEl>
                                        <p:attrNameLst>
                                          <p:attrName>ppt_x</p:attrName>
                                        </p:attrNameLst>
                                      </p:cBhvr>
                                      <p:tavLst>
                                        <p:tav tm="0">
                                          <p:val>
                                            <p:strVal val="#ppt_x"/>
                                          </p:val>
                                        </p:tav>
                                        <p:tav tm="100000">
                                          <p:val>
                                            <p:strVal val="#ppt_x"/>
                                          </p:val>
                                        </p:tav>
                                      </p:tavLst>
                                    </p:anim>
                                    <p:anim calcmode="lin" valueType="num">
                                      <p:cBhvr additive="base">
                                        <p:cTn id="95" dur="500" fill="hold"/>
                                        <p:tgtEl>
                                          <p:spTgt spid="183317"/>
                                        </p:tgtEl>
                                        <p:attrNameLst>
                                          <p:attrName>ppt_y</p:attrName>
                                        </p:attrNameLst>
                                      </p:cBhvr>
                                      <p:tavLst>
                                        <p:tav tm="0">
                                          <p:val>
                                            <p:strVal val="1+#ppt_h/2"/>
                                          </p:val>
                                        </p:tav>
                                        <p:tav tm="100000">
                                          <p:val>
                                            <p:strVal val="#ppt_y"/>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2" presetClass="entr" presetSubtype="2" fill="hold" grpId="0" nodeType="clickEffect">
                                  <p:stCondLst>
                                    <p:cond delay="0"/>
                                  </p:stCondLst>
                                  <p:childTnLst>
                                    <p:set>
                                      <p:cBhvr>
                                        <p:cTn id="99" dur="1" fill="hold">
                                          <p:stCondLst>
                                            <p:cond delay="0"/>
                                          </p:stCondLst>
                                        </p:cTn>
                                        <p:tgtEl>
                                          <p:spTgt spid="183318"/>
                                        </p:tgtEl>
                                        <p:attrNameLst>
                                          <p:attrName>style.visibility</p:attrName>
                                        </p:attrNameLst>
                                      </p:cBhvr>
                                      <p:to>
                                        <p:strVal val="visible"/>
                                      </p:to>
                                    </p:set>
                                    <p:anim calcmode="lin" valueType="num">
                                      <p:cBhvr additive="base">
                                        <p:cTn id="100" dur="500" fill="hold"/>
                                        <p:tgtEl>
                                          <p:spTgt spid="183318"/>
                                        </p:tgtEl>
                                        <p:attrNameLst>
                                          <p:attrName>ppt_x</p:attrName>
                                        </p:attrNameLst>
                                      </p:cBhvr>
                                      <p:tavLst>
                                        <p:tav tm="0">
                                          <p:val>
                                            <p:strVal val="1+#ppt_w/2"/>
                                          </p:val>
                                        </p:tav>
                                        <p:tav tm="100000">
                                          <p:val>
                                            <p:strVal val="#ppt_x"/>
                                          </p:val>
                                        </p:tav>
                                      </p:tavLst>
                                    </p:anim>
                                    <p:anim calcmode="lin" valueType="num">
                                      <p:cBhvr additive="base">
                                        <p:cTn id="101" dur="500" fill="hold"/>
                                        <p:tgtEl>
                                          <p:spTgt spid="183318"/>
                                        </p:tgtEl>
                                        <p:attrNameLst>
                                          <p:attrName>ppt_y</p:attrName>
                                        </p:attrNameLst>
                                      </p:cBhvr>
                                      <p:tavLst>
                                        <p:tav tm="0">
                                          <p:val>
                                            <p:strVal val="#ppt_y"/>
                                          </p:val>
                                        </p:tav>
                                        <p:tav tm="100000">
                                          <p:val>
                                            <p:strVal val="#ppt_y"/>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83320"/>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 presetClass="entr" presetSubtype="2" fill="hold" grpId="0" nodeType="clickEffect">
                                  <p:stCondLst>
                                    <p:cond delay="0"/>
                                  </p:stCondLst>
                                  <p:childTnLst>
                                    <p:set>
                                      <p:cBhvr>
                                        <p:cTn id="109" dur="1" fill="hold">
                                          <p:stCondLst>
                                            <p:cond delay="0"/>
                                          </p:stCondLst>
                                        </p:cTn>
                                        <p:tgtEl>
                                          <p:spTgt spid="183319"/>
                                        </p:tgtEl>
                                        <p:attrNameLst>
                                          <p:attrName>style.visibility</p:attrName>
                                        </p:attrNameLst>
                                      </p:cBhvr>
                                      <p:to>
                                        <p:strVal val="visible"/>
                                      </p:to>
                                    </p:set>
                                    <p:anim calcmode="lin" valueType="num">
                                      <p:cBhvr additive="base">
                                        <p:cTn id="110" dur="500" fill="hold"/>
                                        <p:tgtEl>
                                          <p:spTgt spid="183319"/>
                                        </p:tgtEl>
                                        <p:attrNameLst>
                                          <p:attrName>ppt_x</p:attrName>
                                        </p:attrNameLst>
                                      </p:cBhvr>
                                      <p:tavLst>
                                        <p:tav tm="0">
                                          <p:val>
                                            <p:strVal val="1+#ppt_w/2"/>
                                          </p:val>
                                        </p:tav>
                                        <p:tav tm="100000">
                                          <p:val>
                                            <p:strVal val="#ppt_x"/>
                                          </p:val>
                                        </p:tav>
                                      </p:tavLst>
                                    </p:anim>
                                    <p:anim calcmode="lin" valueType="num">
                                      <p:cBhvr additive="base">
                                        <p:cTn id="111" dur="500" fill="hold"/>
                                        <p:tgtEl>
                                          <p:spTgt spid="1833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303" grpId="0" autoUpdateAnimBg="0"/>
      <p:bldP spid="183304" grpId="0" autoUpdateAnimBg="0"/>
      <p:bldP spid="183305" grpId="0" autoUpdateAnimBg="0"/>
      <p:bldP spid="183306" grpId="0" autoUpdateAnimBg="0"/>
      <p:bldP spid="183307" grpId="0" autoUpdateAnimBg="0"/>
      <p:bldP spid="183309" grpId="0" autoUpdateAnimBg="0"/>
      <p:bldP spid="183312" grpId="0" autoUpdateAnimBg="0"/>
      <p:bldP spid="183313" grpId="0" autoUpdateAnimBg="0"/>
      <p:bldP spid="183315" grpId="0" autoUpdateAnimBg="0"/>
      <p:bldP spid="183316" grpId="0" autoUpdateAnimBg="0"/>
      <p:bldP spid="183317" grpId="0" autoUpdateAnimBg="0"/>
      <p:bldP spid="183318" grpId="0" autoUpdateAnimBg="0"/>
      <p:bldP spid="183319" grpId="0" animBg="1" autoUpdateAnimBg="0"/>
      <p:bldP spid="18332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17475E99-A3AF-4F70-A39D-6B1832F43F05}"/>
              </a:ext>
            </a:extLst>
          </p:cNvPr>
          <p:cNvSpPr>
            <a:spLocks noGrp="1" noChangeArrowheads="1"/>
          </p:cNvSpPr>
          <p:nvPr>
            <p:ph type="title"/>
          </p:nvPr>
        </p:nvSpPr>
        <p:spPr/>
        <p:txBody>
          <a:bodyPr/>
          <a:lstStyle/>
          <a:p>
            <a:r>
              <a:rPr lang="en-US" altLang="en-US"/>
              <a:t>Generalized Resolution</a:t>
            </a:r>
          </a:p>
        </p:txBody>
      </p:sp>
      <p:graphicFrame>
        <p:nvGraphicFramePr>
          <p:cNvPr id="184323" name="Object 3">
            <a:extLst>
              <a:ext uri="{FF2B5EF4-FFF2-40B4-BE49-F238E27FC236}">
                <a16:creationId xmlns:a16="http://schemas.microsoft.com/office/drawing/2014/main" id="{7D64C1AD-12F4-4AAC-8494-D0983655EFD3}"/>
              </a:ext>
            </a:extLst>
          </p:cNvPr>
          <p:cNvGraphicFramePr>
            <a:graphicFrameLocks noChangeAspect="1"/>
          </p:cNvGraphicFramePr>
          <p:nvPr/>
        </p:nvGraphicFramePr>
        <p:xfrm>
          <a:off x="152400" y="2057400"/>
          <a:ext cx="8610600" cy="1533525"/>
        </p:xfrm>
        <a:graphic>
          <a:graphicData uri="http://schemas.openxmlformats.org/presentationml/2006/ole">
            <mc:AlternateContent xmlns:mc="http://schemas.openxmlformats.org/markup-compatibility/2006">
              <mc:Choice xmlns:v="urn:schemas-microsoft-com:vml" Requires="v">
                <p:oleObj spid="_x0000_s91141" name="Equation" r:id="rId3" imgW="3924000" imgH="698400" progId="Equation.3">
                  <p:embed/>
                </p:oleObj>
              </mc:Choice>
              <mc:Fallback>
                <p:oleObj name="Equation" r:id="rId3" imgW="3924000" imgH="698400" progId="Equation.3">
                  <p:embed/>
                  <p:pic>
                    <p:nvPicPr>
                      <p:cNvPr id="184323" name="Object 3">
                        <a:extLst>
                          <a:ext uri="{FF2B5EF4-FFF2-40B4-BE49-F238E27FC236}">
                            <a16:creationId xmlns:a16="http://schemas.microsoft.com/office/drawing/2014/main" id="{7D64C1AD-12F4-4AAC-8494-D0983655EF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057400"/>
                        <a:ext cx="8610600" cy="1533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24" name="Text Box 4">
            <a:extLst>
              <a:ext uri="{FF2B5EF4-FFF2-40B4-BE49-F238E27FC236}">
                <a16:creationId xmlns:a16="http://schemas.microsoft.com/office/drawing/2014/main" id="{5942F42F-9224-4A6C-A180-31DEEB7AB335}"/>
              </a:ext>
            </a:extLst>
          </p:cNvPr>
          <p:cNvSpPr txBox="1">
            <a:spLocks noChangeArrowheads="1"/>
          </p:cNvSpPr>
          <p:nvPr/>
        </p:nvSpPr>
        <p:spPr bwMode="auto">
          <a:xfrm>
            <a:off x="1219200" y="4038600"/>
            <a:ext cx="6380163" cy="850900"/>
          </a:xfrm>
          <a:prstGeom prst="rect">
            <a:avLst/>
          </a:prstGeom>
          <a:noFill/>
          <a:ln w="28575">
            <a:solidFill>
              <a:srgbClr val="DD380B"/>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Problem with Resolution: It is </a:t>
            </a:r>
            <a:r>
              <a:rPr lang="en-US" altLang="en-US" b="1" i="1">
                <a:latin typeface="Times New Roman" panose="02020603050405020304" pitchFamily="18" charset="0"/>
              </a:rPr>
              <a:t>incomplete</a:t>
            </a:r>
          </a:p>
          <a:p>
            <a:r>
              <a:rPr lang="en-US" altLang="en-US">
                <a:latin typeface="Times New Roman" panose="02020603050405020304" pitchFamily="18" charset="0"/>
              </a:rPr>
              <a:t>Example: cannot prove </a:t>
            </a:r>
            <a:r>
              <a:rPr lang="en-US" altLang="en-US" i="1">
                <a:latin typeface="Times New Roman" panose="02020603050405020304" pitchFamily="18" charset="0"/>
              </a:rPr>
              <a:t>p</a:t>
            </a:r>
            <a:r>
              <a:rPr lang="en-US" altLang="en-US">
                <a:latin typeface="Times New Roman" panose="02020603050405020304" pitchFamily="18" charset="0"/>
              </a:rPr>
              <a:t> </a:t>
            </a:r>
            <a:r>
              <a:rPr lang="en-US" altLang="en-US">
                <a:latin typeface="Times New Roman" panose="02020603050405020304" pitchFamily="18" charset="0"/>
                <a:sym typeface="Symbol" panose="05050102010706020507" pitchFamily="18" charset="2"/>
              </a:rPr>
              <a:t>  </a:t>
            </a:r>
            <a:r>
              <a:rPr lang="en-US" altLang="en-US" i="1">
                <a:latin typeface="Times New Roman" panose="02020603050405020304" pitchFamily="18" charset="0"/>
                <a:sym typeface="Symbol" panose="05050102010706020507" pitchFamily="18" charset="2"/>
              </a:rPr>
              <a:t>p </a:t>
            </a:r>
            <a:r>
              <a:rPr lang="en-US" altLang="en-US">
                <a:latin typeface="Times New Roman" panose="02020603050405020304" pitchFamily="18" charset="0"/>
                <a:sym typeface="Symbol" panose="05050102010706020507" pitchFamily="18" charset="2"/>
              </a:rPr>
              <a:t>from an empty </a:t>
            </a:r>
            <a:r>
              <a:rPr lang="en-US" altLang="en-US" i="1">
                <a:latin typeface="Times New Roman" panose="02020603050405020304" pitchFamily="18" charset="0"/>
                <a:sym typeface="Symbol" panose="05050102010706020507" pitchFamily="18" charset="2"/>
              </a:rPr>
              <a:t>KB</a:t>
            </a:r>
            <a:endParaRPr lang="en-US" altLang="en-US" i="1">
              <a:latin typeface="Times New Roman" panose="02020603050405020304" pitchFamily="18" charset="0"/>
            </a:endParaRPr>
          </a:p>
        </p:txBody>
      </p:sp>
      <p:sp>
        <p:nvSpPr>
          <p:cNvPr id="184325" name="Text Box 5">
            <a:extLst>
              <a:ext uri="{FF2B5EF4-FFF2-40B4-BE49-F238E27FC236}">
                <a16:creationId xmlns:a16="http://schemas.microsoft.com/office/drawing/2014/main" id="{8D2D86EC-4DC5-4F09-9AD0-33CF696EB5E5}"/>
              </a:ext>
            </a:extLst>
          </p:cNvPr>
          <p:cNvSpPr txBox="1">
            <a:spLocks noChangeArrowheads="1"/>
          </p:cNvSpPr>
          <p:nvPr/>
        </p:nvSpPr>
        <p:spPr bwMode="auto">
          <a:xfrm>
            <a:off x="1203325" y="5124450"/>
            <a:ext cx="7064375" cy="1338263"/>
          </a:xfrm>
          <a:prstGeom prst="rect">
            <a:avLst/>
          </a:prstGeom>
          <a:noFill/>
          <a:ln w="28575">
            <a:solidFill>
              <a:srgbClr val="4767F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However, </a:t>
            </a:r>
            <a:r>
              <a:rPr lang="en-US" altLang="en-US" sz="3200" b="1" i="1">
                <a:effectLst>
                  <a:outerShdw blurRad="38100" dist="38100" dir="2700000" algn="tl">
                    <a:srgbClr val="C0C0C0"/>
                  </a:outerShdw>
                </a:effectLst>
                <a:latin typeface="Times New Roman" panose="02020603050405020304" pitchFamily="18" charset="0"/>
              </a:rPr>
              <a:t>Resolution refutation</a:t>
            </a:r>
            <a:r>
              <a:rPr lang="en-US" altLang="en-US">
                <a:latin typeface="Times New Roman" panose="02020603050405020304" pitchFamily="18" charset="0"/>
              </a:rPr>
              <a:t>, i.e., </a:t>
            </a:r>
          </a:p>
          <a:p>
            <a:r>
              <a:rPr lang="en-US" altLang="en-US" b="1">
                <a:latin typeface="Times New Roman" panose="02020603050405020304" pitchFamily="18" charset="0"/>
              </a:rPr>
              <a:t>proof by contradiction</a:t>
            </a:r>
            <a:r>
              <a:rPr lang="en-US" altLang="en-US">
                <a:latin typeface="Times New Roman" panose="02020603050405020304" pitchFamily="18" charset="0"/>
              </a:rPr>
              <a:t> has been proven to be complete</a:t>
            </a:r>
          </a:p>
          <a:p>
            <a:r>
              <a:rPr lang="en-US" altLang="en-US">
                <a:latin typeface="Times New Roman" panose="02020603050405020304" pitchFamily="18" charset="0"/>
                <a:sym typeface="Symbol" panose="05050102010706020507" pitchFamily="18" charset="2"/>
              </a:rPr>
              <a:t>(</a:t>
            </a:r>
            <a:r>
              <a:rPr lang="en-US" altLang="en-US" i="1">
                <a:latin typeface="Times New Roman" panose="02020603050405020304" pitchFamily="18" charset="0"/>
                <a:sym typeface="Symbol" panose="05050102010706020507" pitchFamily="18" charset="2"/>
              </a:rPr>
              <a:t>KB </a:t>
            </a:r>
            <a:r>
              <a:rPr lang="en-US" altLang="en-US">
                <a:latin typeface="Times New Roman" panose="02020603050405020304" pitchFamily="18" charset="0"/>
                <a:sym typeface="Symbol" panose="05050102010706020507" pitchFamily="18" charset="2"/>
              </a:rPr>
              <a:t> </a:t>
            </a:r>
            <a:r>
              <a:rPr lang="en-US" altLang="en-US" i="1">
                <a:latin typeface="Times New Roman" panose="02020603050405020304" pitchFamily="18" charset="0"/>
                <a:sym typeface="Symbol" panose="05050102010706020507" pitchFamily="18" charset="2"/>
              </a:rPr>
              <a:t>p </a:t>
            </a:r>
            <a:r>
              <a:rPr lang="en-US" altLang="en-US">
                <a:latin typeface="Times New Roman" panose="02020603050405020304" pitchFamily="18" charset="0"/>
                <a:sym typeface="Symbol" panose="05050102010706020507" pitchFamily="18" charset="2"/>
              </a:rPr>
              <a:t> </a:t>
            </a:r>
            <a:r>
              <a:rPr lang="en-US" altLang="en-US" i="1">
                <a:latin typeface="Times New Roman" panose="02020603050405020304" pitchFamily="18" charset="0"/>
                <a:sym typeface="Symbol" panose="05050102010706020507" pitchFamily="18" charset="2"/>
              </a:rPr>
              <a:t>False</a:t>
            </a:r>
            <a:r>
              <a:rPr lang="en-US" altLang="en-US">
                <a:latin typeface="Times New Roman" panose="02020603050405020304" pitchFamily="18" charset="0"/>
                <a:sym typeface="Symbol" panose="05050102010706020507" pitchFamily="18" charset="2"/>
              </a:rPr>
              <a:t>)  (</a:t>
            </a:r>
            <a:r>
              <a:rPr lang="en-US" altLang="en-US" i="1">
                <a:latin typeface="Times New Roman" panose="02020603050405020304" pitchFamily="18" charset="0"/>
                <a:sym typeface="Symbol" panose="05050102010706020507" pitchFamily="18" charset="2"/>
              </a:rPr>
              <a:t>KB </a:t>
            </a:r>
            <a:r>
              <a:rPr lang="en-US" altLang="en-US">
                <a:latin typeface="Times New Roman" panose="02020603050405020304" pitchFamily="18" charset="0"/>
                <a:sym typeface="Symbol" panose="05050102010706020507" pitchFamily="18" charset="2"/>
              </a:rPr>
              <a:t> </a:t>
            </a:r>
            <a:r>
              <a:rPr lang="en-US" altLang="en-US" i="1">
                <a:latin typeface="Times New Roman" panose="02020603050405020304" pitchFamily="18" charset="0"/>
                <a:sym typeface="Symbol" panose="05050102010706020507" pitchFamily="18" charset="2"/>
              </a:rPr>
              <a:t>p</a:t>
            </a:r>
            <a:r>
              <a:rPr lang="en-US" altLang="en-US">
                <a:latin typeface="Times New Roman" panose="02020603050405020304" pitchFamily="18" charset="0"/>
                <a:sym typeface="Symbol" panose="05050102010706020507" pitchFamily="18" charset="2"/>
              </a:rPr>
              <a:t>) </a:t>
            </a:r>
          </a:p>
        </p:txBody>
      </p:sp>
    </p:spTree>
    <p:extLst>
      <p:ext uri="{BB962C8B-B14F-4D97-AF65-F5344CB8AC3E}">
        <p14:creationId xmlns:p14="http://schemas.microsoft.com/office/powerpoint/2010/main" val="20969635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a:extLst>
              <a:ext uri="{FF2B5EF4-FFF2-40B4-BE49-F238E27FC236}">
                <a16:creationId xmlns:a16="http://schemas.microsoft.com/office/drawing/2014/main" id="{8B29BD6A-5D5B-4320-9CD9-EA4978C7AF30}"/>
              </a:ext>
            </a:extLst>
          </p:cNvPr>
          <p:cNvSpPr>
            <a:spLocks noGrp="1" noChangeArrowheads="1"/>
          </p:cNvSpPr>
          <p:nvPr>
            <p:ph type="title"/>
          </p:nvPr>
        </p:nvSpPr>
        <p:spPr/>
        <p:txBody>
          <a:bodyPr/>
          <a:lstStyle/>
          <a:p>
            <a:r>
              <a:rPr lang="en-US" altLang="en-US"/>
              <a:t>Resolution Refutation</a:t>
            </a:r>
          </a:p>
        </p:txBody>
      </p:sp>
      <p:sp>
        <p:nvSpPr>
          <p:cNvPr id="235523" name="Rectangle 3" descr="Rectangle: Click to edit Master text styles&#10;Second level&#10;Third level&#10;Fourth level&#10;Fifth level">
            <a:extLst>
              <a:ext uri="{FF2B5EF4-FFF2-40B4-BE49-F238E27FC236}">
                <a16:creationId xmlns:a16="http://schemas.microsoft.com/office/drawing/2014/main" id="{FD417033-2081-443D-975E-BC7A0186D541}"/>
              </a:ext>
            </a:extLst>
          </p:cNvPr>
          <p:cNvSpPr>
            <a:spLocks noGrp="1" noChangeArrowheads="1"/>
          </p:cNvSpPr>
          <p:nvPr>
            <p:ph type="body" idx="1"/>
          </p:nvPr>
        </p:nvSpPr>
        <p:spPr>
          <a:xfrm>
            <a:off x="609600" y="1524000"/>
            <a:ext cx="7772400" cy="4114800"/>
          </a:xfrm>
        </p:spPr>
        <p:txBody>
          <a:bodyPr/>
          <a:lstStyle/>
          <a:p>
            <a:r>
              <a:rPr lang="en-US" altLang="en-US"/>
              <a:t>If </a:t>
            </a:r>
            <a:r>
              <a:rPr lang="en-US" altLang="en-US" i="1">
                <a:latin typeface="Book Antiqua" panose="02040602050305030304" pitchFamily="18" charset="0"/>
              </a:rPr>
              <a:t>S</a:t>
            </a:r>
            <a:r>
              <a:rPr lang="en-US" altLang="en-US"/>
              <a:t> is an unsatisfiable set of clauses, then the application of a finite number of resolution steps to </a:t>
            </a:r>
            <a:r>
              <a:rPr lang="en-US" altLang="en-US" i="1">
                <a:latin typeface="Book Antiqua" panose="02040602050305030304" pitchFamily="18" charset="0"/>
              </a:rPr>
              <a:t>S</a:t>
            </a:r>
            <a:r>
              <a:rPr lang="en-US" altLang="en-US"/>
              <a:t> will yield a contradiction.</a:t>
            </a:r>
          </a:p>
        </p:txBody>
      </p:sp>
    </p:spTree>
    <p:extLst>
      <p:ext uri="{BB962C8B-B14F-4D97-AF65-F5344CB8AC3E}">
        <p14:creationId xmlns:p14="http://schemas.microsoft.com/office/powerpoint/2010/main" val="8850894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3D00EBFA-0889-477F-A9A2-B42FA6F087D7}"/>
              </a:ext>
            </a:extLst>
          </p:cNvPr>
          <p:cNvSpPr>
            <a:spLocks noGrp="1" noChangeArrowheads="1"/>
          </p:cNvSpPr>
          <p:nvPr>
            <p:ph type="title"/>
          </p:nvPr>
        </p:nvSpPr>
        <p:spPr/>
        <p:txBody>
          <a:bodyPr/>
          <a:lstStyle/>
          <a:p>
            <a:r>
              <a:rPr lang="en-US" altLang="en-US"/>
              <a:t>Resolution</a:t>
            </a:r>
          </a:p>
        </p:txBody>
      </p:sp>
      <p:sp>
        <p:nvSpPr>
          <p:cNvPr id="238595" name="Rectangle 3" descr="Rectangle: Click to edit Master text styles&#10;Second level&#10;Third level&#10;Fourth level&#10;Fifth level">
            <a:extLst>
              <a:ext uri="{FF2B5EF4-FFF2-40B4-BE49-F238E27FC236}">
                <a16:creationId xmlns:a16="http://schemas.microsoft.com/office/drawing/2014/main" id="{23231CB6-C3B4-4117-A47D-F252CD6CED17}"/>
              </a:ext>
            </a:extLst>
          </p:cNvPr>
          <p:cNvSpPr>
            <a:spLocks noGrp="1" noChangeArrowheads="1"/>
          </p:cNvSpPr>
          <p:nvPr>
            <p:ph type="body" idx="1"/>
          </p:nvPr>
        </p:nvSpPr>
        <p:spPr/>
        <p:txBody>
          <a:bodyPr/>
          <a:lstStyle/>
          <a:p>
            <a:endParaRPr lang="en-US" altLang="en-US"/>
          </a:p>
          <a:p>
            <a:endParaRPr lang="en-US" altLang="en-US"/>
          </a:p>
        </p:txBody>
      </p:sp>
      <p:graphicFrame>
        <p:nvGraphicFramePr>
          <p:cNvPr id="238596" name="Group 4">
            <a:extLst>
              <a:ext uri="{FF2B5EF4-FFF2-40B4-BE49-F238E27FC236}">
                <a16:creationId xmlns:a16="http://schemas.microsoft.com/office/drawing/2014/main" id="{ACAA982A-3BE8-4F35-80D2-92C4A3ED1FCB}"/>
              </a:ext>
            </a:extLst>
          </p:cNvPr>
          <p:cNvGraphicFramePr>
            <a:graphicFrameLocks noGrp="1"/>
          </p:cNvGraphicFramePr>
          <p:nvPr/>
        </p:nvGraphicFramePr>
        <p:xfrm>
          <a:off x="609600" y="1676400"/>
          <a:ext cx="8305800" cy="4384358"/>
        </p:xfrm>
        <a:graphic>
          <a:graphicData uri="http://schemas.openxmlformats.org/drawingml/2006/table">
            <a:tbl>
              <a:tblPr/>
              <a:tblGrid>
                <a:gridCol w="4152900">
                  <a:extLst>
                    <a:ext uri="{9D8B030D-6E8A-4147-A177-3AD203B41FA5}">
                      <a16:colId xmlns:a16="http://schemas.microsoft.com/office/drawing/2014/main" val="1634053197"/>
                    </a:ext>
                  </a:extLst>
                </a:gridCol>
                <a:gridCol w="4152900">
                  <a:extLst>
                    <a:ext uri="{9D8B030D-6E8A-4147-A177-3AD203B41FA5}">
                      <a16:colId xmlns:a16="http://schemas.microsoft.com/office/drawing/2014/main" val="2339588105"/>
                    </a:ext>
                  </a:extLst>
                </a:gridCol>
              </a:tblGrid>
              <a:tr h="180975">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ahoma" panose="020B0604030504040204" pitchFamily="34" charset="0"/>
                        </a:rPr>
                        <a:t>Implicative Form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800" b="0" i="0" u="none" strike="noStrike" cap="none" normalizeH="0" baseline="0">
                          <a:ln>
                            <a:noFill/>
                          </a:ln>
                          <a:solidFill>
                            <a:schemeClr val="tx1"/>
                          </a:solidFill>
                          <a:effectLst/>
                          <a:latin typeface="Tahoma" panose="020B0604030504040204" pitchFamily="34" charset="0"/>
                        </a:rPr>
                        <a:t>Conjunctive normal form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5803303"/>
                  </a:ext>
                </a:extLst>
              </a:tr>
              <a:tr h="549275">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 food (x)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eats(John, 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 (x)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eats(John, x)</a:t>
                      </a:r>
                      <a:endParaRPr kumimoji="0" lang="en-US" altLang="en-US" sz="2800" b="0" i="0" u="none" strike="noStrike" cap="none" normalizeH="0" baseline="0">
                        <a:ln>
                          <a:noFill/>
                        </a:ln>
                        <a:solidFill>
                          <a:schemeClr val="tx1"/>
                        </a:solidFill>
                        <a:effectLst/>
                        <a:latin typeface="Tahoma" panose="020B060403050404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98224627"/>
                  </a:ext>
                </a:extLst>
              </a:tr>
              <a:tr h="5334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food(apples)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food(apples)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7100812"/>
                  </a:ext>
                </a:extLst>
              </a:tr>
              <a:tr h="5080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food(chicken)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food(chicken)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53637907"/>
                  </a:ext>
                </a:extLst>
              </a:tr>
              <a:tr h="78740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x,y eats(x,y)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 eats(x,y)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killed(x)</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food(y)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92916004"/>
                  </a:ext>
                </a:extLst>
              </a:tr>
              <a:tr h="823913">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eats(Bill,Peanuts)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killed(Bill)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eats(Bill,Peanuts)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killed(Bill)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95810621"/>
                  </a:ext>
                </a:extLst>
              </a:tr>
              <a:tr h="628650">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x eats (Bill,x)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eats(Sue,x)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SzPct val="11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tx1"/>
                        </a:buClr>
                        <a:buSzPct val="60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hlink"/>
                        </a:buClr>
                        <a:buSzPct val="95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tx1"/>
                        </a:buClr>
                        <a:buSzPct val="6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hlink"/>
                        </a:buClr>
                        <a:buSzPct val="6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hlink"/>
                        </a:buClr>
                        <a:buSzPct val="6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50000"/>
                        </a:spcBef>
                        <a:spcAft>
                          <a:spcPct val="0"/>
                        </a:spcAft>
                        <a:buClr>
                          <a:schemeClr val="bg1"/>
                        </a:buClr>
                        <a:buSzPct val="110000"/>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 eats (Bill,x) </a:t>
                      </a:r>
                      <a:r>
                        <a:rPr kumimoji="0" lang="en-US" altLang="en-US" sz="2400" b="0" i="0" u="none" strike="noStrike" cap="none" normalizeH="0" baseline="0">
                          <a:ln>
                            <a:noFill/>
                          </a:ln>
                          <a:solidFill>
                            <a:schemeClr val="tx1"/>
                          </a:solidFill>
                          <a:effectLst/>
                          <a:latin typeface="Times New Roman" panose="02020603050405020304" pitchFamily="18" charset="0"/>
                          <a:sym typeface="Symbol" panose="05050102010706020507" pitchFamily="18" charset="2"/>
                        </a:rPr>
                        <a:t> </a:t>
                      </a:r>
                      <a:r>
                        <a:rPr kumimoji="0" lang="en-US" altLang="en-US" sz="2400" b="0" i="1" u="none" strike="noStrike" cap="none" normalizeH="0" baseline="0">
                          <a:ln>
                            <a:noFill/>
                          </a:ln>
                          <a:solidFill>
                            <a:schemeClr val="tx1"/>
                          </a:solidFill>
                          <a:effectLst/>
                          <a:latin typeface="Times New Roman" panose="02020603050405020304" pitchFamily="18" charset="0"/>
                          <a:sym typeface="Symbol" panose="05050102010706020507" pitchFamily="18" charset="2"/>
                        </a:rPr>
                        <a:t>eats(Sue,x)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12458343"/>
                  </a:ext>
                </a:extLst>
              </a:tr>
            </a:tbl>
          </a:graphicData>
        </a:graphic>
      </p:graphicFrame>
      <p:sp>
        <p:nvSpPr>
          <p:cNvPr id="238622" name="Rectangle 30">
            <a:extLst>
              <a:ext uri="{FF2B5EF4-FFF2-40B4-BE49-F238E27FC236}">
                <a16:creationId xmlns:a16="http://schemas.microsoft.com/office/drawing/2014/main" id="{602AF5E8-117A-42E3-8F27-DC1732C13ECC}"/>
              </a:ext>
            </a:extLst>
          </p:cNvPr>
          <p:cNvSpPr>
            <a:spLocks noChangeArrowheads="1"/>
          </p:cNvSpPr>
          <p:nvPr/>
        </p:nvSpPr>
        <p:spPr bwMode="auto">
          <a:xfrm>
            <a:off x="762000" y="6096000"/>
            <a:ext cx="4033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Forward &amp; Backward Chaining</a:t>
            </a:r>
          </a:p>
        </p:txBody>
      </p:sp>
      <p:sp>
        <p:nvSpPr>
          <p:cNvPr id="238623" name="Rectangle 31">
            <a:extLst>
              <a:ext uri="{FF2B5EF4-FFF2-40B4-BE49-F238E27FC236}">
                <a16:creationId xmlns:a16="http://schemas.microsoft.com/office/drawing/2014/main" id="{CCDC5858-99FB-411A-ABDB-6FD5A17C4C67}"/>
              </a:ext>
            </a:extLst>
          </p:cNvPr>
          <p:cNvSpPr>
            <a:spLocks noChangeArrowheads="1"/>
          </p:cNvSpPr>
          <p:nvPr/>
        </p:nvSpPr>
        <p:spPr bwMode="auto">
          <a:xfrm>
            <a:off x="5486400" y="60960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Times New Roman" panose="02020603050405020304" pitchFamily="18" charset="0"/>
              </a:rPr>
              <a:t>Resolution</a:t>
            </a:r>
          </a:p>
        </p:txBody>
      </p:sp>
    </p:spTree>
    <p:extLst>
      <p:ext uri="{BB962C8B-B14F-4D97-AF65-F5344CB8AC3E}">
        <p14:creationId xmlns:p14="http://schemas.microsoft.com/office/powerpoint/2010/main" val="3413337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a:extLst>
              <a:ext uri="{FF2B5EF4-FFF2-40B4-BE49-F238E27FC236}">
                <a16:creationId xmlns:a16="http://schemas.microsoft.com/office/drawing/2014/main" id="{3DBA8753-B9A0-474B-BAE0-147FC340923B}"/>
              </a:ext>
            </a:extLst>
          </p:cNvPr>
          <p:cNvSpPr>
            <a:spLocks noGrp="1" noChangeArrowheads="1"/>
          </p:cNvSpPr>
          <p:nvPr>
            <p:ph type="title"/>
          </p:nvPr>
        </p:nvSpPr>
        <p:spPr/>
        <p:txBody>
          <a:bodyPr/>
          <a:lstStyle/>
          <a:p>
            <a:r>
              <a:rPr lang="en-US" altLang="en-US"/>
              <a:t>Resolution refutation proof</a:t>
            </a:r>
          </a:p>
        </p:txBody>
      </p:sp>
      <p:sp>
        <p:nvSpPr>
          <p:cNvPr id="185347" name="Text Box 3">
            <a:extLst>
              <a:ext uri="{FF2B5EF4-FFF2-40B4-BE49-F238E27FC236}">
                <a16:creationId xmlns:a16="http://schemas.microsoft.com/office/drawing/2014/main" id="{9F7C6253-9F01-42DA-841C-910883F69842}"/>
              </a:ext>
            </a:extLst>
          </p:cNvPr>
          <p:cNvSpPr txBox="1">
            <a:spLocks noChangeArrowheads="1"/>
          </p:cNvSpPr>
          <p:nvPr/>
        </p:nvSpPr>
        <p:spPr bwMode="auto">
          <a:xfrm>
            <a:off x="4876800" y="3733800"/>
            <a:ext cx="3113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sym typeface="Symbol" panose="05050102010706020507" pitchFamily="18" charset="2"/>
              </a:rPr>
              <a:t></a:t>
            </a:r>
            <a:r>
              <a:rPr lang="en-US" altLang="en-US" sz="1800" i="1">
                <a:latin typeface="Times New Roman" panose="02020603050405020304" pitchFamily="18" charset="0"/>
                <a:sym typeface="Symbol" panose="05050102010706020507" pitchFamily="18" charset="2"/>
              </a:rPr>
              <a:t> eats(x,y) </a:t>
            </a:r>
            <a:r>
              <a:rPr lang="en-US" altLang="en-US" sz="1800">
                <a:latin typeface="Times New Roman" panose="02020603050405020304" pitchFamily="18" charset="0"/>
                <a:sym typeface="Symbol" panose="05050102010706020507" pitchFamily="18" charset="2"/>
              </a:rPr>
              <a:t> </a:t>
            </a:r>
            <a:r>
              <a:rPr lang="en-US" altLang="en-US" sz="1800" i="1">
                <a:latin typeface="Times New Roman" panose="02020603050405020304" pitchFamily="18" charset="0"/>
                <a:sym typeface="Symbol" panose="05050102010706020507" pitchFamily="18" charset="2"/>
              </a:rPr>
              <a:t>killed(x)</a:t>
            </a:r>
            <a:r>
              <a:rPr lang="en-US" altLang="en-US" sz="1800">
                <a:latin typeface="Times New Roman" panose="02020603050405020304" pitchFamily="18" charset="0"/>
                <a:sym typeface="Symbol" panose="05050102010706020507" pitchFamily="18" charset="2"/>
              </a:rPr>
              <a:t>  </a:t>
            </a:r>
            <a:r>
              <a:rPr lang="en-US" altLang="en-US" sz="1800" i="1">
                <a:latin typeface="Times New Roman" panose="02020603050405020304" pitchFamily="18" charset="0"/>
                <a:sym typeface="Symbol" panose="05050102010706020507" pitchFamily="18" charset="2"/>
              </a:rPr>
              <a:t>food(y)</a:t>
            </a:r>
          </a:p>
        </p:txBody>
      </p:sp>
      <p:sp>
        <p:nvSpPr>
          <p:cNvPr id="185348" name="Text Box 4">
            <a:extLst>
              <a:ext uri="{FF2B5EF4-FFF2-40B4-BE49-F238E27FC236}">
                <a16:creationId xmlns:a16="http://schemas.microsoft.com/office/drawing/2014/main" id="{C7D8CC84-B944-430B-8039-D666164C52CF}"/>
              </a:ext>
            </a:extLst>
          </p:cNvPr>
          <p:cNvSpPr txBox="1">
            <a:spLocks noChangeArrowheads="1"/>
          </p:cNvSpPr>
          <p:nvPr/>
        </p:nvSpPr>
        <p:spPr bwMode="auto">
          <a:xfrm>
            <a:off x="4953000" y="2497138"/>
            <a:ext cx="21637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sym typeface="Symbol" panose="05050102010706020507" pitchFamily="18" charset="2"/>
              </a:rPr>
              <a:t></a:t>
            </a:r>
            <a:r>
              <a:rPr lang="en-US" altLang="en-US" sz="1800" i="1">
                <a:latin typeface="Times New Roman" panose="02020603050405020304" pitchFamily="18" charset="0"/>
                <a:sym typeface="Symbol" panose="05050102010706020507" pitchFamily="18" charset="2"/>
              </a:rPr>
              <a:t> eats(John,Peanuts)</a:t>
            </a:r>
          </a:p>
        </p:txBody>
      </p:sp>
      <p:sp>
        <p:nvSpPr>
          <p:cNvPr id="185349" name="Line 5">
            <a:extLst>
              <a:ext uri="{FF2B5EF4-FFF2-40B4-BE49-F238E27FC236}">
                <a16:creationId xmlns:a16="http://schemas.microsoft.com/office/drawing/2014/main" id="{69A576E9-A3B9-4003-A32E-0D890DC3FCF4}"/>
              </a:ext>
            </a:extLst>
          </p:cNvPr>
          <p:cNvSpPr>
            <a:spLocks noChangeShapeType="1"/>
          </p:cNvSpPr>
          <p:nvPr/>
        </p:nvSpPr>
        <p:spPr bwMode="auto">
          <a:xfrm>
            <a:off x="2667000" y="2959100"/>
            <a:ext cx="990600" cy="762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50" name="Line 6">
            <a:extLst>
              <a:ext uri="{FF2B5EF4-FFF2-40B4-BE49-F238E27FC236}">
                <a16:creationId xmlns:a16="http://schemas.microsoft.com/office/drawing/2014/main" id="{9489D6FD-D35D-47E0-AA2A-F6C73E01DDD2}"/>
              </a:ext>
            </a:extLst>
          </p:cNvPr>
          <p:cNvSpPr>
            <a:spLocks noChangeShapeType="1"/>
          </p:cNvSpPr>
          <p:nvPr/>
        </p:nvSpPr>
        <p:spPr bwMode="auto">
          <a:xfrm flipH="1">
            <a:off x="3733800" y="2882900"/>
            <a:ext cx="213360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51" name="Text Box 7">
            <a:extLst>
              <a:ext uri="{FF2B5EF4-FFF2-40B4-BE49-F238E27FC236}">
                <a16:creationId xmlns:a16="http://schemas.microsoft.com/office/drawing/2014/main" id="{5F3CE892-F1DA-4B39-9157-3883E5401CF8}"/>
              </a:ext>
            </a:extLst>
          </p:cNvPr>
          <p:cNvSpPr txBox="1">
            <a:spLocks noChangeArrowheads="1"/>
          </p:cNvSpPr>
          <p:nvPr/>
        </p:nvSpPr>
        <p:spPr bwMode="auto">
          <a:xfrm>
            <a:off x="3352800" y="3048000"/>
            <a:ext cx="1179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latin typeface="Times New Roman" panose="02020603050405020304" pitchFamily="18" charset="0"/>
              </a:rPr>
              <a:t>{</a:t>
            </a:r>
            <a:r>
              <a:rPr lang="en-US" altLang="en-US" sz="1600" b="1" i="1">
                <a:latin typeface="Times New Roman" panose="02020603050405020304" pitchFamily="18" charset="0"/>
              </a:rPr>
              <a:t>x/Peanuts</a:t>
            </a:r>
            <a:r>
              <a:rPr lang="en-US" altLang="en-US" sz="1600" b="1">
                <a:latin typeface="Times New Roman" panose="02020603050405020304" pitchFamily="18" charset="0"/>
              </a:rPr>
              <a:t>}</a:t>
            </a:r>
          </a:p>
        </p:txBody>
      </p:sp>
      <p:sp>
        <p:nvSpPr>
          <p:cNvPr id="185352" name="Text Box 8">
            <a:extLst>
              <a:ext uri="{FF2B5EF4-FFF2-40B4-BE49-F238E27FC236}">
                <a16:creationId xmlns:a16="http://schemas.microsoft.com/office/drawing/2014/main" id="{431CBA83-9CB3-4497-A8BA-DB5A1733ADF0}"/>
              </a:ext>
            </a:extLst>
          </p:cNvPr>
          <p:cNvSpPr txBox="1">
            <a:spLocks noChangeArrowheads="1"/>
          </p:cNvSpPr>
          <p:nvPr/>
        </p:nvSpPr>
        <p:spPr bwMode="auto">
          <a:xfrm>
            <a:off x="1371600" y="4724400"/>
            <a:ext cx="15017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Times New Roman" panose="02020603050405020304" pitchFamily="18" charset="0"/>
                <a:sym typeface="Symbol" panose="05050102010706020507" pitchFamily="18" charset="2"/>
              </a:rPr>
              <a:t></a:t>
            </a:r>
            <a:r>
              <a:rPr lang="en-US" altLang="en-US" sz="1800" i="1">
                <a:latin typeface="Times New Roman" panose="02020603050405020304" pitchFamily="18" charset="0"/>
                <a:sym typeface="Symbol" panose="05050102010706020507" pitchFamily="18" charset="2"/>
              </a:rPr>
              <a:t>killed(Bill)</a:t>
            </a:r>
            <a:endParaRPr lang="en-US" altLang="en-US">
              <a:latin typeface="Times New Roman" panose="02020603050405020304" pitchFamily="18" charset="0"/>
            </a:endParaRPr>
          </a:p>
        </p:txBody>
      </p:sp>
      <p:sp>
        <p:nvSpPr>
          <p:cNvPr id="185353" name="Line 9">
            <a:extLst>
              <a:ext uri="{FF2B5EF4-FFF2-40B4-BE49-F238E27FC236}">
                <a16:creationId xmlns:a16="http://schemas.microsoft.com/office/drawing/2014/main" id="{50F0DB6B-6B0E-4A2D-8D80-C8A9EF7B2A58}"/>
              </a:ext>
            </a:extLst>
          </p:cNvPr>
          <p:cNvSpPr>
            <a:spLocks noChangeShapeType="1"/>
          </p:cNvSpPr>
          <p:nvPr/>
        </p:nvSpPr>
        <p:spPr bwMode="auto">
          <a:xfrm>
            <a:off x="3733800" y="4330700"/>
            <a:ext cx="12192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54" name="Line 10">
            <a:extLst>
              <a:ext uri="{FF2B5EF4-FFF2-40B4-BE49-F238E27FC236}">
                <a16:creationId xmlns:a16="http://schemas.microsoft.com/office/drawing/2014/main" id="{12B18B81-9B2C-46B6-91B4-DCC741687E26}"/>
              </a:ext>
            </a:extLst>
          </p:cNvPr>
          <p:cNvSpPr>
            <a:spLocks noChangeShapeType="1"/>
          </p:cNvSpPr>
          <p:nvPr/>
        </p:nvSpPr>
        <p:spPr bwMode="auto">
          <a:xfrm flipH="1">
            <a:off x="4953000" y="4178300"/>
            <a:ext cx="1143000"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55" name="Text Box 11">
            <a:extLst>
              <a:ext uri="{FF2B5EF4-FFF2-40B4-BE49-F238E27FC236}">
                <a16:creationId xmlns:a16="http://schemas.microsoft.com/office/drawing/2014/main" id="{3E5ECB7E-2349-43FA-8139-61A749ECEF2A}"/>
              </a:ext>
            </a:extLst>
          </p:cNvPr>
          <p:cNvSpPr txBox="1">
            <a:spLocks noChangeArrowheads="1"/>
          </p:cNvSpPr>
          <p:nvPr/>
        </p:nvSpPr>
        <p:spPr bwMode="auto">
          <a:xfrm>
            <a:off x="2895600" y="3810000"/>
            <a:ext cx="1828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Times New Roman" panose="02020603050405020304" pitchFamily="18" charset="0"/>
                <a:sym typeface="Symbol" panose="05050102010706020507" pitchFamily="18" charset="2"/>
              </a:rPr>
              <a:t></a:t>
            </a:r>
            <a:r>
              <a:rPr lang="en-US" altLang="en-US" sz="1800" i="1">
                <a:latin typeface="Times New Roman" panose="02020603050405020304" pitchFamily="18" charset="0"/>
                <a:sym typeface="Symbol" panose="05050102010706020507" pitchFamily="18" charset="2"/>
              </a:rPr>
              <a:t>  food(peanuts)</a:t>
            </a:r>
          </a:p>
        </p:txBody>
      </p:sp>
      <p:sp>
        <p:nvSpPr>
          <p:cNvPr id="185356" name="Text Box 12">
            <a:extLst>
              <a:ext uri="{FF2B5EF4-FFF2-40B4-BE49-F238E27FC236}">
                <a16:creationId xmlns:a16="http://schemas.microsoft.com/office/drawing/2014/main" id="{7760A410-353E-46C7-8B05-853D868D55A4}"/>
              </a:ext>
            </a:extLst>
          </p:cNvPr>
          <p:cNvSpPr txBox="1">
            <a:spLocks noChangeArrowheads="1"/>
          </p:cNvSpPr>
          <p:nvPr/>
        </p:nvSpPr>
        <p:spPr bwMode="auto">
          <a:xfrm>
            <a:off x="1219200" y="2514600"/>
            <a:ext cx="2555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sym typeface="Symbol" panose="05050102010706020507" pitchFamily="18" charset="2"/>
              </a:rPr>
              <a:t> </a:t>
            </a:r>
            <a:r>
              <a:rPr lang="en-US" altLang="en-US" sz="1800" i="1">
                <a:latin typeface="Times New Roman" panose="02020603050405020304" pitchFamily="18" charset="0"/>
                <a:sym typeface="Symbol" panose="05050102010706020507" pitchFamily="18" charset="2"/>
              </a:rPr>
              <a:t>food (x)</a:t>
            </a:r>
            <a:r>
              <a:rPr lang="en-US" altLang="en-US" sz="1800">
                <a:latin typeface="Times New Roman" panose="02020603050405020304" pitchFamily="18" charset="0"/>
                <a:sym typeface="Symbol" panose="05050102010706020507" pitchFamily="18" charset="2"/>
              </a:rPr>
              <a:t>  </a:t>
            </a:r>
            <a:r>
              <a:rPr lang="en-US" altLang="en-US" sz="1800" i="1">
                <a:latin typeface="Times New Roman" panose="02020603050405020304" pitchFamily="18" charset="0"/>
                <a:sym typeface="Symbol" panose="05050102010706020507" pitchFamily="18" charset="2"/>
              </a:rPr>
              <a:t>eats(John, x)</a:t>
            </a:r>
          </a:p>
        </p:txBody>
      </p:sp>
      <p:sp>
        <p:nvSpPr>
          <p:cNvPr id="185357" name="Line 13">
            <a:extLst>
              <a:ext uri="{FF2B5EF4-FFF2-40B4-BE49-F238E27FC236}">
                <a16:creationId xmlns:a16="http://schemas.microsoft.com/office/drawing/2014/main" id="{EB4C884F-B449-401C-BE14-A7862104F5FC}"/>
              </a:ext>
            </a:extLst>
          </p:cNvPr>
          <p:cNvSpPr>
            <a:spLocks noChangeShapeType="1"/>
          </p:cNvSpPr>
          <p:nvPr/>
        </p:nvSpPr>
        <p:spPr bwMode="auto">
          <a:xfrm>
            <a:off x="2057400" y="5029200"/>
            <a:ext cx="1752600"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58" name="Line 14">
            <a:extLst>
              <a:ext uri="{FF2B5EF4-FFF2-40B4-BE49-F238E27FC236}">
                <a16:creationId xmlns:a16="http://schemas.microsoft.com/office/drawing/2014/main" id="{4837B38B-20C2-4360-B210-E6F3065C271F}"/>
              </a:ext>
            </a:extLst>
          </p:cNvPr>
          <p:cNvSpPr>
            <a:spLocks noChangeShapeType="1"/>
          </p:cNvSpPr>
          <p:nvPr/>
        </p:nvSpPr>
        <p:spPr bwMode="auto">
          <a:xfrm flipH="1">
            <a:off x="3810000" y="5105400"/>
            <a:ext cx="12192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59" name="Text Box 15">
            <a:extLst>
              <a:ext uri="{FF2B5EF4-FFF2-40B4-BE49-F238E27FC236}">
                <a16:creationId xmlns:a16="http://schemas.microsoft.com/office/drawing/2014/main" id="{63AD9A88-01FC-4F90-81A7-727AE758586E}"/>
              </a:ext>
            </a:extLst>
          </p:cNvPr>
          <p:cNvSpPr txBox="1">
            <a:spLocks noChangeArrowheads="1"/>
          </p:cNvSpPr>
          <p:nvPr/>
        </p:nvSpPr>
        <p:spPr bwMode="auto">
          <a:xfrm>
            <a:off x="3378200" y="5207000"/>
            <a:ext cx="8080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latin typeface="Times New Roman" panose="02020603050405020304" pitchFamily="18" charset="0"/>
              </a:rPr>
              <a:t>{</a:t>
            </a:r>
            <a:r>
              <a:rPr lang="en-US" altLang="en-US" sz="1600" b="1" i="1">
                <a:latin typeface="Times New Roman" panose="02020603050405020304" pitchFamily="18" charset="0"/>
              </a:rPr>
              <a:t>x/Bill</a:t>
            </a:r>
            <a:r>
              <a:rPr lang="en-US" altLang="en-US" sz="1600" b="1">
                <a:latin typeface="Times New Roman" panose="02020603050405020304" pitchFamily="18" charset="0"/>
              </a:rPr>
              <a:t>}</a:t>
            </a:r>
          </a:p>
        </p:txBody>
      </p:sp>
      <p:sp>
        <p:nvSpPr>
          <p:cNvPr id="185360" name="Text Box 16">
            <a:extLst>
              <a:ext uri="{FF2B5EF4-FFF2-40B4-BE49-F238E27FC236}">
                <a16:creationId xmlns:a16="http://schemas.microsoft.com/office/drawing/2014/main" id="{89988081-56D2-457A-AD19-8E762C0F4C5E}"/>
              </a:ext>
            </a:extLst>
          </p:cNvPr>
          <p:cNvSpPr txBox="1">
            <a:spLocks noChangeArrowheads="1"/>
          </p:cNvSpPr>
          <p:nvPr/>
        </p:nvSpPr>
        <p:spPr bwMode="auto">
          <a:xfrm>
            <a:off x="685800" y="563880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i="1">
                <a:latin typeface="Times New Roman" panose="02020603050405020304" pitchFamily="18" charset="0"/>
                <a:sym typeface="Symbol" panose="05050102010706020507" pitchFamily="18" charset="2"/>
              </a:rPr>
              <a:t>eats(Bill, peanuts)</a:t>
            </a:r>
            <a:endParaRPr lang="en-US" altLang="en-US">
              <a:latin typeface="Times New Roman" panose="02020603050405020304" pitchFamily="18" charset="0"/>
            </a:endParaRPr>
          </a:p>
        </p:txBody>
      </p:sp>
      <p:sp>
        <p:nvSpPr>
          <p:cNvPr id="185361" name="Text Box 17">
            <a:extLst>
              <a:ext uri="{FF2B5EF4-FFF2-40B4-BE49-F238E27FC236}">
                <a16:creationId xmlns:a16="http://schemas.microsoft.com/office/drawing/2014/main" id="{1A2300F6-2470-4C64-A091-362E330313EF}"/>
              </a:ext>
            </a:extLst>
          </p:cNvPr>
          <p:cNvSpPr txBox="1">
            <a:spLocks noChangeArrowheads="1"/>
          </p:cNvSpPr>
          <p:nvPr/>
        </p:nvSpPr>
        <p:spPr bwMode="auto">
          <a:xfrm>
            <a:off x="3657600" y="6248400"/>
            <a:ext cx="1235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DD380B"/>
                </a:solidFill>
                <a:latin typeface="Times New Roman" panose="02020603050405020304" pitchFamily="18" charset="0"/>
                <a:sym typeface="Wingdings" panose="05000000000000000000" pitchFamily="2" charset="2"/>
              </a:rPr>
              <a:t></a:t>
            </a:r>
            <a:r>
              <a:rPr lang="en-US" altLang="en-US">
                <a:latin typeface="Times New Roman" panose="02020603050405020304" pitchFamily="18" charset="0"/>
                <a:sym typeface="Wingdings" panose="05000000000000000000" pitchFamily="2" charset="2"/>
              </a:rPr>
              <a:t> </a:t>
            </a:r>
            <a:r>
              <a:rPr lang="en-US" altLang="en-US" b="1">
                <a:solidFill>
                  <a:srgbClr val="DD380B"/>
                </a:solidFill>
                <a:latin typeface="Times New Roman" panose="02020603050405020304" pitchFamily="18" charset="0"/>
                <a:sym typeface="Wingdings" panose="05000000000000000000" pitchFamily="2" charset="2"/>
              </a:rPr>
              <a:t>False</a:t>
            </a:r>
            <a:endParaRPr lang="en-US" altLang="en-US" b="1">
              <a:solidFill>
                <a:srgbClr val="DD380B"/>
              </a:solidFill>
              <a:latin typeface="Times New Roman" panose="02020603050405020304" pitchFamily="18" charset="0"/>
            </a:endParaRPr>
          </a:p>
        </p:txBody>
      </p:sp>
      <p:sp>
        <p:nvSpPr>
          <p:cNvPr id="185362" name="Text Box 18">
            <a:extLst>
              <a:ext uri="{FF2B5EF4-FFF2-40B4-BE49-F238E27FC236}">
                <a16:creationId xmlns:a16="http://schemas.microsoft.com/office/drawing/2014/main" id="{F7DF8560-AB7B-402C-9914-44662AC78FEE}"/>
              </a:ext>
            </a:extLst>
          </p:cNvPr>
          <p:cNvSpPr txBox="1">
            <a:spLocks noChangeArrowheads="1"/>
          </p:cNvSpPr>
          <p:nvPr/>
        </p:nvSpPr>
        <p:spPr bwMode="auto">
          <a:xfrm>
            <a:off x="1981200" y="1752600"/>
            <a:ext cx="4046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Start with:  </a:t>
            </a:r>
            <a:r>
              <a:rPr lang="en-US" altLang="en-US" b="1">
                <a:latin typeface="Times New Roman" panose="02020603050405020304" pitchFamily="18" charset="0"/>
                <a:sym typeface="Symbol" panose="05050102010706020507" pitchFamily="18" charset="2"/>
              </a:rPr>
              <a:t></a:t>
            </a:r>
            <a:r>
              <a:rPr lang="en-US" altLang="en-US" b="1">
                <a:latin typeface="Times New Roman" panose="02020603050405020304" pitchFamily="18" charset="0"/>
              </a:rPr>
              <a:t> </a:t>
            </a:r>
            <a:r>
              <a:rPr lang="en-US" altLang="en-US" b="1" i="1">
                <a:latin typeface="Times New Roman" panose="02020603050405020304" pitchFamily="18" charset="0"/>
                <a:sym typeface="Symbol" panose="05050102010706020507" pitchFamily="18" charset="2"/>
              </a:rPr>
              <a:t>eats</a:t>
            </a:r>
            <a:r>
              <a:rPr lang="en-US" altLang="en-US" sz="2000" b="1" i="1">
                <a:latin typeface="Times New Roman" panose="02020603050405020304" pitchFamily="18" charset="0"/>
                <a:sym typeface="Symbol" panose="05050102010706020507" pitchFamily="18" charset="2"/>
              </a:rPr>
              <a:t>(John, peanuts)</a:t>
            </a:r>
            <a:endParaRPr lang="en-US" altLang="en-US" sz="2000">
              <a:latin typeface="Times New Roman" panose="02020603050405020304" pitchFamily="18" charset="0"/>
            </a:endParaRPr>
          </a:p>
        </p:txBody>
      </p:sp>
      <p:sp>
        <p:nvSpPr>
          <p:cNvPr id="185363" name="Text Box 19">
            <a:extLst>
              <a:ext uri="{FF2B5EF4-FFF2-40B4-BE49-F238E27FC236}">
                <a16:creationId xmlns:a16="http://schemas.microsoft.com/office/drawing/2014/main" id="{FA96CBB0-1D3D-4953-B5BE-87D62FC57CD0}"/>
              </a:ext>
            </a:extLst>
          </p:cNvPr>
          <p:cNvSpPr txBox="1">
            <a:spLocks noChangeArrowheads="1"/>
          </p:cNvSpPr>
          <p:nvPr/>
        </p:nvSpPr>
        <p:spPr bwMode="auto">
          <a:xfrm>
            <a:off x="4267200" y="4267200"/>
            <a:ext cx="1168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a:latin typeface="Times New Roman" panose="02020603050405020304" pitchFamily="18" charset="0"/>
              </a:rPr>
              <a:t>{</a:t>
            </a:r>
            <a:r>
              <a:rPr lang="en-US" altLang="en-US" sz="1600" b="1" i="1">
                <a:latin typeface="Times New Roman" panose="02020603050405020304" pitchFamily="18" charset="0"/>
              </a:rPr>
              <a:t>y/Peanuts</a:t>
            </a:r>
            <a:r>
              <a:rPr lang="en-US" altLang="en-US" sz="1600" b="1">
                <a:latin typeface="Times New Roman" panose="02020603050405020304" pitchFamily="18" charset="0"/>
              </a:rPr>
              <a:t>}</a:t>
            </a:r>
          </a:p>
        </p:txBody>
      </p:sp>
      <p:sp>
        <p:nvSpPr>
          <p:cNvPr id="185364" name="Text Box 20">
            <a:extLst>
              <a:ext uri="{FF2B5EF4-FFF2-40B4-BE49-F238E27FC236}">
                <a16:creationId xmlns:a16="http://schemas.microsoft.com/office/drawing/2014/main" id="{67382FC6-7CAC-49B8-81B8-E44BA61B0B4F}"/>
              </a:ext>
            </a:extLst>
          </p:cNvPr>
          <p:cNvSpPr txBox="1">
            <a:spLocks noChangeArrowheads="1"/>
          </p:cNvSpPr>
          <p:nvPr/>
        </p:nvSpPr>
        <p:spPr bwMode="auto">
          <a:xfrm>
            <a:off x="3581400" y="4800600"/>
            <a:ext cx="3048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latin typeface="Times New Roman" panose="02020603050405020304" pitchFamily="18" charset="0"/>
                <a:sym typeface="Symbol" panose="05050102010706020507" pitchFamily="18" charset="2"/>
              </a:rPr>
              <a:t></a:t>
            </a:r>
            <a:r>
              <a:rPr lang="en-US" altLang="en-US" sz="1800" i="1">
                <a:latin typeface="Times New Roman" panose="02020603050405020304" pitchFamily="18" charset="0"/>
                <a:sym typeface="Symbol" panose="05050102010706020507" pitchFamily="18" charset="2"/>
              </a:rPr>
              <a:t> eats(x,Peanuts) </a:t>
            </a:r>
            <a:r>
              <a:rPr lang="en-US" altLang="en-US" sz="1800">
                <a:latin typeface="Times New Roman" panose="02020603050405020304" pitchFamily="18" charset="0"/>
                <a:sym typeface="Symbol" panose="05050102010706020507" pitchFamily="18" charset="2"/>
              </a:rPr>
              <a:t> </a:t>
            </a:r>
            <a:r>
              <a:rPr lang="en-US" altLang="en-US" sz="1800" i="1">
                <a:latin typeface="Times New Roman" panose="02020603050405020304" pitchFamily="18" charset="0"/>
                <a:sym typeface="Symbol" panose="05050102010706020507" pitchFamily="18" charset="2"/>
              </a:rPr>
              <a:t>killed(x)</a:t>
            </a:r>
          </a:p>
        </p:txBody>
      </p:sp>
      <p:sp>
        <p:nvSpPr>
          <p:cNvPr id="185365" name="Text Box 21">
            <a:extLst>
              <a:ext uri="{FF2B5EF4-FFF2-40B4-BE49-F238E27FC236}">
                <a16:creationId xmlns:a16="http://schemas.microsoft.com/office/drawing/2014/main" id="{FA590BF6-055F-44A0-ACBE-0FE58E9A9D6E}"/>
              </a:ext>
            </a:extLst>
          </p:cNvPr>
          <p:cNvSpPr txBox="1">
            <a:spLocks noChangeArrowheads="1"/>
          </p:cNvSpPr>
          <p:nvPr/>
        </p:nvSpPr>
        <p:spPr bwMode="auto">
          <a:xfrm>
            <a:off x="3048000" y="5638800"/>
            <a:ext cx="20494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Times New Roman" panose="02020603050405020304" pitchFamily="18" charset="0"/>
                <a:sym typeface="Symbol" panose="05050102010706020507" pitchFamily="18" charset="2"/>
              </a:rPr>
              <a:t></a:t>
            </a:r>
            <a:r>
              <a:rPr lang="en-US" altLang="en-US" sz="1800" i="1">
                <a:latin typeface="Times New Roman" panose="02020603050405020304" pitchFamily="18" charset="0"/>
                <a:sym typeface="Symbol" panose="05050102010706020507" pitchFamily="18" charset="2"/>
              </a:rPr>
              <a:t> eats(Bill,Peanuts)</a:t>
            </a:r>
          </a:p>
        </p:txBody>
      </p:sp>
      <p:sp>
        <p:nvSpPr>
          <p:cNvPr id="185366" name="Line 22">
            <a:extLst>
              <a:ext uri="{FF2B5EF4-FFF2-40B4-BE49-F238E27FC236}">
                <a16:creationId xmlns:a16="http://schemas.microsoft.com/office/drawing/2014/main" id="{4B86992B-059D-4044-A761-FFF95AC2D3DD}"/>
              </a:ext>
            </a:extLst>
          </p:cNvPr>
          <p:cNvSpPr>
            <a:spLocks noChangeShapeType="1"/>
          </p:cNvSpPr>
          <p:nvPr/>
        </p:nvSpPr>
        <p:spPr bwMode="auto">
          <a:xfrm>
            <a:off x="1828800" y="5943600"/>
            <a:ext cx="16764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67" name="Line 23">
            <a:extLst>
              <a:ext uri="{FF2B5EF4-FFF2-40B4-BE49-F238E27FC236}">
                <a16:creationId xmlns:a16="http://schemas.microsoft.com/office/drawing/2014/main" id="{BD2443A7-D4A4-4528-B561-F6B6604CCE91}"/>
              </a:ext>
            </a:extLst>
          </p:cNvPr>
          <p:cNvSpPr>
            <a:spLocks noChangeShapeType="1"/>
          </p:cNvSpPr>
          <p:nvPr/>
        </p:nvSpPr>
        <p:spPr bwMode="auto">
          <a:xfrm flipH="1">
            <a:off x="3429000" y="5943600"/>
            <a:ext cx="83820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5368" name="Text Box 24">
            <a:extLst>
              <a:ext uri="{FF2B5EF4-FFF2-40B4-BE49-F238E27FC236}">
                <a16:creationId xmlns:a16="http://schemas.microsoft.com/office/drawing/2014/main" id="{C20C33ED-C8A3-4476-8E65-17E101F76783}"/>
              </a:ext>
            </a:extLst>
          </p:cNvPr>
          <p:cNvSpPr txBox="1">
            <a:spLocks noChangeArrowheads="1"/>
          </p:cNvSpPr>
          <p:nvPr/>
        </p:nvSpPr>
        <p:spPr bwMode="auto">
          <a:xfrm>
            <a:off x="5138738" y="5334000"/>
            <a:ext cx="3811587" cy="1025525"/>
          </a:xfrm>
          <a:prstGeom prst="rect">
            <a:avLst/>
          </a:prstGeom>
          <a:noFill/>
          <a:ln w="1905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b="1">
                <a:solidFill>
                  <a:srgbClr val="4767F1"/>
                </a:solidFill>
                <a:latin typeface="Times New Roman" panose="02020603050405020304" pitchFamily="18" charset="0"/>
              </a:rPr>
              <a:t>Conclusion:</a:t>
            </a:r>
            <a:r>
              <a:rPr lang="en-US" altLang="en-US" sz="2000" b="1">
                <a:solidFill>
                  <a:srgbClr val="4767F1"/>
                </a:solidFill>
                <a:latin typeface="Times New Roman" panose="02020603050405020304" pitchFamily="18" charset="0"/>
                <a:sym typeface="Symbol" panose="05050102010706020507" pitchFamily="18" charset="2"/>
              </a:rPr>
              <a:t></a:t>
            </a:r>
            <a:r>
              <a:rPr lang="en-US" altLang="en-US" sz="2000" b="1">
                <a:solidFill>
                  <a:srgbClr val="4767F1"/>
                </a:solidFill>
                <a:latin typeface="Times New Roman" panose="02020603050405020304" pitchFamily="18" charset="0"/>
              </a:rPr>
              <a:t> </a:t>
            </a:r>
            <a:r>
              <a:rPr lang="en-US" altLang="en-US" sz="2000" b="1" i="1">
                <a:solidFill>
                  <a:srgbClr val="4767F1"/>
                </a:solidFill>
                <a:latin typeface="Times New Roman" panose="02020603050405020304" pitchFamily="18" charset="0"/>
                <a:sym typeface="Symbol" panose="05050102010706020507" pitchFamily="18" charset="2"/>
              </a:rPr>
              <a:t>eats(John, peanuts)</a:t>
            </a:r>
          </a:p>
          <a:p>
            <a:pPr algn="ctr"/>
            <a:r>
              <a:rPr lang="en-US" altLang="en-US" sz="2000" b="1">
                <a:solidFill>
                  <a:srgbClr val="4767F1"/>
                </a:solidFill>
                <a:latin typeface="Times New Roman" panose="02020603050405020304" pitchFamily="18" charset="0"/>
                <a:sym typeface="Symbol" panose="05050102010706020507" pitchFamily="18" charset="2"/>
              </a:rPr>
              <a:t>is</a:t>
            </a:r>
            <a:r>
              <a:rPr lang="en-US" altLang="en-US" sz="2000" b="1" i="1">
                <a:solidFill>
                  <a:srgbClr val="4767F1"/>
                </a:solidFill>
                <a:latin typeface="Times New Roman" panose="02020603050405020304" pitchFamily="18" charset="0"/>
                <a:sym typeface="Symbol" panose="05050102010706020507" pitchFamily="18" charset="2"/>
              </a:rPr>
              <a:t> </a:t>
            </a:r>
            <a:r>
              <a:rPr lang="en-US" altLang="en-US" sz="2000" b="1" i="1">
                <a:solidFill>
                  <a:srgbClr val="DD380B"/>
                </a:solidFill>
                <a:latin typeface="Times New Roman" panose="02020603050405020304" pitchFamily="18" charset="0"/>
                <a:sym typeface="Symbol" panose="05050102010706020507" pitchFamily="18" charset="2"/>
              </a:rPr>
              <a:t>false</a:t>
            </a:r>
            <a:r>
              <a:rPr lang="en-US" altLang="en-US" sz="2000" b="1" i="1">
                <a:solidFill>
                  <a:srgbClr val="4767F1"/>
                </a:solidFill>
                <a:latin typeface="Times New Roman" panose="02020603050405020304" pitchFamily="18" charset="0"/>
                <a:sym typeface="Symbol" panose="05050102010706020507" pitchFamily="18" charset="2"/>
              </a:rPr>
              <a:t>. </a:t>
            </a:r>
            <a:r>
              <a:rPr lang="en-US" altLang="en-US" sz="2000" b="1">
                <a:solidFill>
                  <a:srgbClr val="4767F1"/>
                </a:solidFill>
                <a:latin typeface="Times New Roman" panose="02020603050405020304" pitchFamily="18" charset="0"/>
                <a:sym typeface="Symbol" panose="05050102010706020507" pitchFamily="18" charset="2"/>
              </a:rPr>
              <a:t>Therefore, </a:t>
            </a:r>
            <a:endParaRPr lang="en-US" altLang="en-US" sz="2000" b="1">
              <a:solidFill>
                <a:srgbClr val="4767F1"/>
              </a:solidFill>
              <a:latin typeface="Times New Roman" panose="02020603050405020304" pitchFamily="18" charset="0"/>
            </a:endParaRPr>
          </a:p>
          <a:p>
            <a:pPr algn="ctr"/>
            <a:r>
              <a:rPr lang="en-US" altLang="en-US" sz="2000" b="1" i="1">
                <a:solidFill>
                  <a:srgbClr val="4767F1"/>
                </a:solidFill>
                <a:latin typeface="Times New Roman" panose="02020603050405020304" pitchFamily="18" charset="0"/>
                <a:sym typeface="Symbol" panose="05050102010706020507" pitchFamily="18" charset="2"/>
              </a:rPr>
              <a:t>eats(John, peanuts) </a:t>
            </a:r>
            <a:r>
              <a:rPr lang="en-US" altLang="en-US" sz="2000" b="1">
                <a:solidFill>
                  <a:srgbClr val="4767F1"/>
                </a:solidFill>
                <a:latin typeface="Times New Roman" panose="02020603050405020304" pitchFamily="18" charset="0"/>
                <a:sym typeface="Symbol" panose="05050102010706020507" pitchFamily="18" charset="2"/>
              </a:rPr>
              <a:t>must be</a:t>
            </a:r>
            <a:r>
              <a:rPr lang="en-US" altLang="en-US" sz="2000" b="1" i="1">
                <a:solidFill>
                  <a:srgbClr val="4767F1"/>
                </a:solidFill>
                <a:latin typeface="Times New Roman" panose="02020603050405020304" pitchFamily="18" charset="0"/>
                <a:sym typeface="Symbol" panose="05050102010706020507" pitchFamily="18" charset="2"/>
              </a:rPr>
              <a:t> </a:t>
            </a:r>
            <a:r>
              <a:rPr lang="en-US" altLang="en-US" sz="2000" b="1" i="1">
                <a:solidFill>
                  <a:srgbClr val="08D012"/>
                </a:solidFill>
                <a:latin typeface="Times New Roman" panose="02020603050405020304" pitchFamily="18" charset="0"/>
                <a:sym typeface="Symbol" panose="05050102010706020507" pitchFamily="18" charset="2"/>
              </a:rPr>
              <a:t>True</a:t>
            </a:r>
            <a:r>
              <a:rPr lang="en-US" altLang="en-US" sz="2000" b="1" i="1">
                <a:solidFill>
                  <a:srgbClr val="4767F1"/>
                </a:solidFill>
                <a:latin typeface="Times New Roman" panose="02020603050405020304" pitchFamily="18" charset="0"/>
                <a:sym typeface="Symbol" panose="05050102010706020507" pitchFamily="18" charset="2"/>
              </a:rPr>
              <a:t>.</a:t>
            </a:r>
            <a:endParaRPr lang="en-US" altLang="en-US" sz="2000" b="1">
              <a:solidFill>
                <a:srgbClr val="4767F1"/>
              </a:solidFill>
              <a:latin typeface="Times New Roman" panose="02020603050405020304" pitchFamily="18" charset="0"/>
            </a:endParaRPr>
          </a:p>
        </p:txBody>
      </p:sp>
    </p:spTree>
    <p:extLst>
      <p:ext uri="{BB962C8B-B14F-4D97-AF65-F5344CB8AC3E}">
        <p14:creationId xmlns:p14="http://schemas.microsoft.com/office/powerpoint/2010/main" val="4147215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5362"/>
                                        </p:tgtEl>
                                        <p:attrNameLst>
                                          <p:attrName>style.visibility</p:attrName>
                                        </p:attrNameLst>
                                      </p:cBhvr>
                                      <p:to>
                                        <p:strVal val="visible"/>
                                      </p:to>
                                    </p:set>
                                    <p:anim calcmode="lin" valueType="num">
                                      <p:cBhvr additive="base">
                                        <p:cTn id="7" dur="500" fill="hold"/>
                                        <p:tgtEl>
                                          <p:spTgt spid="185362"/>
                                        </p:tgtEl>
                                        <p:attrNameLst>
                                          <p:attrName>ppt_x</p:attrName>
                                        </p:attrNameLst>
                                      </p:cBhvr>
                                      <p:tavLst>
                                        <p:tav tm="0">
                                          <p:val>
                                            <p:strVal val="1+#ppt_w/2"/>
                                          </p:val>
                                        </p:tav>
                                        <p:tav tm="100000">
                                          <p:val>
                                            <p:strVal val="#ppt_x"/>
                                          </p:val>
                                        </p:tav>
                                      </p:tavLst>
                                    </p:anim>
                                    <p:anim calcmode="lin" valueType="num">
                                      <p:cBhvr additive="base">
                                        <p:cTn id="8" dur="500" fill="hold"/>
                                        <p:tgtEl>
                                          <p:spTgt spid="1853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5348"/>
                                        </p:tgtEl>
                                        <p:attrNameLst>
                                          <p:attrName>style.visibility</p:attrName>
                                        </p:attrNameLst>
                                      </p:cBhvr>
                                      <p:to>
                                        <p:strVal val="visible"/>
                                      </p:to>
                                    </p:set>
                                    <p:anim calcmode="lin" valueType="num">
                                      <p:cBhvr additive="base">
                                        <p:cTn id="13" dur="500" fill="hold"/>
                                        <p:tgtEl>
                                          <p:spTgt spid="185348"/>
                                        </p:tgtEl>
                                        <p:attrNameLst>
                                          <p:attrName>ppt_x</p:attrName>
                                        </p:attrNameLst>
                                      </p:cBhvr>
                                      <p:tavLst>
                                        <p:tav tm="0">
                                          <p:val>
                                            <p:strVal val="0-#ppt_w/2"/>
                                          </p:val>
                                        </p:tav>
                                        <p:tav tm="100000">
                                          <p:val>
                                            <p:strVal val="#ppt_x"/>
                                          </p:val>
                                        </p:tav>
                                      </p:tavLst>
                                    </p:anim>
                                    <p:anim calcmode="lin" valueType="num">
                                      <p:cBhvr additive="base">
                                        <p:cTn id="14" dur="500" fill="hold"/>
                                        <p:tgtEl>
                                          <p:spTgt spid="18534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5356"/>
                                        </p:tgtEl>
                                        <p:attrNameLst>
                                          <p:attrName>style.visibility</p:attrName>
                                        </p:attrNameLst>
                                      </p:cBhvr>
                                      <p:to>
                                        <p:strVal val="visible"/>
                                      </p:to>
                                    </p:set>
                                    <p:anim calcmode="lin" valueType="num">
                                      <p:cBhvr additive="base">
                                        <p:cTn id="19" dur="500" fill="hold"/>
                                        <p:tgtEl>
                                          <p:spTgt spid="185356"/>
                                        </p:tgtEl>
                                        <p:attrNameLst>
                                          <p:attrName>ppt_x</p:attrName>
                                        </p:attrNameLst>
                                      </p:cBhvr>
                                      <p:tavLst>
                                        <p:tav tm="0">
                                          <p:val>
                                            <p:strVal val="0-#ppt_w/2"/>
                                          </p:val>
                                        </p:tav>
                                        <p:tav tm="100000">
                                          <p:val>
                                            <p:strVal val="#ppt_x"/>
                                          </p:val>
                                        </p:tav>
                                      </p:tavLst>
                                    </p:anim>
                                    <p:anim calcmode="lin" valueType="num">
                                      <p:cBhvr additive="base">
                                        <p:cTn id="20" dur="500" fill="hold"/>
                                        <p:tgtEl>
                                          <p:spTgt spid="18535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5351"/>
                                        </p:tgtEl>
                                        <p:attrNameLst>
                                          <p:attrName>style.visibility</p:attrName>
                                        </p:attrNameLst>
                                      </p:cBhvr>
                                      <p:to>
                                        <p:strVal val="visible"/>
                                      </p:to>
                                    </p:set>
                                    <p:anim calcmode="lin" valueType="num">
                                      <p:cBhvr additive="base">
                                        <p:cTn id="25" dur="500" fill="hold"/>
                                        <p:tgtEl>
                                          <p:spTgt spid="185351"/>
                                        </p:tgtEl>
                                        <p:attrNameLst>
                                          <p:attrName>ppt_x</p:attrName>
                                        </p:attrNameLst>
                                      </p:cBhvr>
                                      <p:tavLst>
                                        <p:tav tm="0">
                                          <p:val>
                                            <p:strVal val="0-#ppt_w/2"/>
                                          </p:val>
                                        </p:tav>
                                        <p:tav tm="100000">
                                          <p:val>
                                            <p:strVal val="#ppt_x"/>
                                          </p:val>
                                        </p:tav>
                                      </p:tavLst>
                                    </p:anim>
                                    <p:anim calcmode="lin" valueType="num">
                                      <p:cBhvr additive="base">
                                        <p:cTn id="26" dur="500" fill="hold"/>
                                        <p:tgtEl>
                                          <p:spTgt spid="185351"/>
                                        </p:tgtEl>
                                        <p:attrNameLst>
                                          <p:attrName>ppt_y</p:attrName>
                                        </p:attrNameLst>
                                      </p:cBhvr>
                                      <p:tavLst>
                                        <p:tav tm="0">
                                          <p:val>
                                            <p:strVal val="#ppt_y"/>
                                          </p:val>
                                        </p:tav>
                                        <p:tav tm="100000">
                                          <p:val>
                                            <p:strVal val="#ppt_y"/>
                                          </p:val>
                                        </p:tav>
                                      </p:tavLst>
                                    </p:anim>
                                  </p:childTnLst>
                                </p:cTn>
                              </p:par>
                            </p:childTnLst>
                          </p:cTn>
                        </p:par>
                        <p:par>
                          <p:cTn id="27" fill="hold" nodeType="afterGroup">
                            <p:stCondLst>
                              <p:cond delay="500"/>
                            </p:stCondLst>
                            <p:childTnLst>
                              <p:par>
                                <p:cTn id="28" presetID="2" presetClass="entr" presetSubtype="8" fill="hold" nodeType="afterEffect">
                                  <p:stCondLst>
                                    <p:cond delay="2000"/>
                                  </p:stCondLst>
                                  <p:childTnLst>
                                    <p:set>
                                      <p:cBhvr>
                                        <p:cTn id="29" dur="1" fill="hold">
                                          <p:stCondLst>
                                            <p:cond delay="0"/>
                                          </p:stCondLst>
                                        </p:cTn>
                                        <p:tgtEl>
                                          <p:spTgt spid="185349"/>
                                        </p:tgtEl>
                                        <p:attrNameLst>
                                          <p:attrName>style.visibility</p:attrName>
                                        </p:attrNameLst>
                                      </p:cBhvr>
                                      <p:to>
                                        <p:strVal val="visible"/>
                                      </p:to>
                                    </p:set>
                                    <p:anim calcmode="lin" valueType="num">
                                      <p:cBhvr additive="base">
                                        <p:cTn id="30" dur="500" fill="hold"/>
                                        <p:tgtEl>
                                          <p:spTgt spid="185349"/>
                                        </p:tgtEl>
                                        <p:attrNameLst>
                                          <p:attrName>ppt_x</p:attrName>
                                        </p:attrNameLst>
                                      </p:cBhvr>
                                      <p:tavLst>
                                        <p:tav tm="0">
                                          <p:val>
                                            <p:strVal val="0-#ppt_w/2"/>
                                          </p:val>
                                        </p:tav>
                                        <p:tav tm="100000">
                                          <p:val>
                                            <p:strVal val="#ppt_x"/>
                                          </p:val>
                                        </p:tav>
                                      </p:tavLst>
                                    </p:anim>
                                    <p:anim calcmode="lin" valueType="num">
                                      <p:cBhvr additive="base">
                                        <p:cTn id="31" dur="500" fill="hold"/>
                                        <p:tgtEl>
                                          <p:spTgt spid="185349"/>
                                        </p:tgtEl>
                                        <p:attrNameLst>
                                          <p:attrName>ppt_y</p:attrName>
                                        </p:attrNameLst>
                                      </p:cBhvr>
                                      <p:tavLst>
                                        <p:tav tm="0">
                                          <p:val>
                                            <p:strVal val="#ppt_y"/>
                                          </p:val>
                                        </p:tav>
                                        <p:tav tm="100000">
                                          <p:val>
                                            <p:strVal val="#ppt_y"/>
                                          </p:val>
                                        </p:tav>
                                      </p:tavLst>
                                    </p:anim>
                                  </p:childTnLst>
                                </p:cTn>
                              </p:par>
                            </p:childTnLst>
                          </p:cTn>
                        </p:par>
                        <p:par>
                          <p:cTn id="32" fill="hold" nodeType="afterGroup">
                            <p:stCondLst>
                              <p:cond delay="3000"/>
                            </p:stCondLst>
                            <p:childTnLst>
                              <p:par>
                                <p:cTn id="33" presetID="2" presetClass="entr" presetSubtype="8" fill="hold" nodeType="afterEffect">
                                  <p:stCondLst>
                                    <p:cond delay="0"/>
                                  </p:stCondLst>
                                  <p:childTnLst>
                                    <p:set>
                                      <p:cBhvr>
                                        <p:cTn id="34" dur="1" fill="hold">
                                          <p:stCondLst>
                                            <p:cond delay="0"/>
                                          </p:stCondLst>
                                        </p:cTn>
                                        <p:tgtEl>
                                          <p:spTgt spid="185350"/>
                                        </p:tgtEl>
                                        <p:attrNameLst>
                                          <p:attrName>style.visibility</p:attrName>
                                        </p:attrNameLst>
                                      </p:cBhvr>
                                      <p:to>
                                        <p:strVal val="visible"/>
                                      </p:to>
                                    </p:set>
                                    <p:anim calcmode="lin" valueType="num">
                                      <p:cBhvr additive="base">
                                        <p:cTn id="35" dur="500" fill="hold"/>
                                        <p:tgtEl>
                                          <p:spTgt spid="185350"/>
                                        </p:tgtEl>
                                        <p:attrNameLst>
                                          <p:attrName>ppt_x</p:attrName>
                                        </p:attrNameLst>
                                      </p:cBhvr>
                                      <p:tavLst>
                                        <p:tav tm="0">
                                          <p:val>
                                            <p:strVal val="0-#ppt_w/2"/>
                                          </p:val>
                                        </p:tav>
                                        <p:tav tm="100000">
                                          <p:val>
                                            <p:strVal val="#ppt_x"/>
                                          </p:val>
                                        </p:tav>
                                      </p:tavLst>
                                    </p:anim>
                                    <p:anim calcmode="lin" valueType="num">
                                      <p:cBhvr additive="base">
                                        <p:cTn id="36" dur="500" fill="hold"/>
                                        <p:tgtEl>
                                          <p:spTgt spid="185350"/>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3500"/>
                            </p:stCondLst>
                            <p:childTnLst>
                              <p:par>
                                <p:cTn id="38" presetID="2" presetClass="entr" presetSubtype="8" fill="hold" grpId="0" nodeType="afterEffect">
                                  <p:stCondLst>
                                    <p:cond delay="2000"/>
                                  </p:stCondLst>
                                  <p:childTnLst>
                                    <p:set>
                                      <p:cBhvr>
                                        <p:cTn id="39" dur="1" fill="hold">
                                          <p:stCondLst>
                                            <p:cond delay="0"/>
                                          </p:stCondLst>
                                        </p:cTn>
                                        <p:tgtEl>
                                          <p:spTgt spid="185355"/>
                                        </p:tgtEl>
                                        <p:attrNameLst>
                                          <p:attrName>style.visibility</p:attrName>
                                        </p:attrNameLst>
                                      </p:cBhvr>
                                      <p:to>
                                        <p:strVal val="visible"/>
                                      </p:to>
                                    </p:set>
                                    <p:anim calcmode="lin" valueType="num">
                                      <p:cBhvr additive="base">
                                        <p:cTn id="40" dur="500" fill="hold"/>
                                        <p:tgtEl>
                                          <p:spTgt spid="185355"/>
                                        </p:tgtEl>
                                        <p:attrNameLst>
                                          <p:attrName>ppt_x</p:attrName>
                                        </p:attrNameLst>
                                      </p:cBhvr>
                                      <p:tavLst>
                                        <p:tav tm="0">
                                          <p:val>
                                            <p:strVal val="0-#ppt_w/2"/>
                                          </p:val>
                                        </p:tav>
                                        <p:tav tm="100000">
                                          <p:val>
                                            <p:strVal val="#ppt_x"/>
                                          </p:val>
                                        </p:tav>
                                      </p:tavLst>
                                    </p:anim>
                                    <p:anim calcmode="lin" valueType="num">
                                      <p:cBhvr additive="base">
                                        <p:cTn id="41" dur="500" fill="hold"/>
                                        <p:tgtEl>
                                          <p:spTgt spid="185355"/>
                                        </p:tgtEl>
                                        <p:attrNameLst>
                                          <p:attrName>ppt_y</p:attrName>
                                        </p:attrNameLst>
                                      </p:cBhvr>
                                      <p:tavLst>
                                        <p:tav tm="0">
                                          <p:val>
                                            <p:strVal val="#ppt_y"/>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185347"/>
                                        </p:tgtEl>
                                        <p:attrNameLst>
                                          <p:attrName>style.visibility</p:attrName>
                                        </p:attrNameLst>
                                      </p:cBhvr>
                                      <p:to>
                                        <p:strVal val="visible"/>
                                      </p:to>
                                    </p:set>
                                    <p:anim calcmode="lin" valueType="num">
                                      <p:cBhvr additive="base">
                                        <p:cTn id="46" dur="500" fill="hold"/>
                                        <p:tgtEl>
                                          <p:spTgt spid="185347"/>
                                        </p:tgtEl>
                                        <p:attrNameLst>
                                          <p:attrName>ppt_x</p:attrName>
                                        </p:attrNameLst>
                                      </p:cBhvr>
                                      <p:tavLst>
                                        <p:tav tm="0">
                                          <p:val>
                                            <p:strVal val="1+#ppt_w/2"/>
                                          </p:val>
                                        </p:tav>
                                        <p:tav tm="100000">
                                          <p:val>
                                            <p:strVal val="#ppt_x"/>
                                          </p:val>
                                        </p:tav>
                                      </p:tavLst>
                                    </p:anim>
                                    <p:anim calcmode="lin" valueType="num">
                                      <p:cBhvr additive="base">
                                        <p:cTn id="47" dur="500" fill="hold"/>
                                        <p:tgtEl>
                                          <p:spTgt spid="185347"/>
                                        </p:tgtEl>
                                        <p:attrNameLst>
                                          <p:attrName>ppt_y</p:attrName>
                                        </p:attrNameLst>
                                      </p:cBhvr>
                                      <p:tavLst>
                                        <p:tav tm="0">
                                          <p:val>
                                            <p:strVal val="#ppt_y"/>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8" fill="hold" grpId="0" nodeType="clickEffect">
                                  <p:stCondLst>
                                    <p:cond delay="0"/>
                                  </p:stCondLst>
                                  <p:childTnLst>
                                    <p:set>
                                      <p:cBhvr>
                                        <p:cTn id="51" dur="1" fill="hold">
                                          <p:stCondLst>
                                            <p:cond delay="0"/>
                                          </p:stCondLst>
                                        </p:cTn>
                                        <p:tgtEl>
                                          <p:spTgt spid="185363"/>
                                        </p:tgtEl>
                                        <p:attrNameLst>
                                          <p:attrName>style.visibility</p:attrName>
                                        </p:attrNameLst>
                                      </p:cBhvr>
                                      <p:to>
                                        <p:strVal val="visible"/>
                                      </p:to>
                                    </p:set>
                                    <p:anim calcmode="lin" valueType="num">
                                      <p:cBhvr additive="base">
                                        <p:cTn id="52" dur="500" fill="hold"/>
                                        <p:tgtEl>
                                          <p:spTgt spid="185363"/>
                                        </p:tgtEl>
                                        <p:attrNameLst>
                                          <p:attrName>ppt_x</p:attrName>
                                        </p:attrNameLst>
                                      </p:cBhvr>
                                      <p:tavLst>
                                        <p:tav tm="0">
                                          <p:val>
                                            <p:strVal val="0-#ppt_w/2"/>
                                          </p:val>
                                        </p:tav>
                                        <p:tav tm="100000">
                                          <p:val>
                                            <p:strVal val="#ppt_x"/>
                                          </p:val>
                                        </p:tav>
                                      </p:tavLst>
                                    </p:anim>
                                    <p:anim calcmode="lin" valueType="num">
                                      <p:cBhvr additive="base">
                                        <p:cTn id="53" dur="500" fill="hold"/>
                                        <p:tgtEl>
                                          <p:spTgt spid="185363"/>
                                        </p:tgtEl>
                                        <p:attrNameLst>
                                          <p:attrName>ppt_y</p:attrName>
                                        </p:attrNameLst>
                                      </p:cBhvr>
                                      <p:tavLst>
                                        <p:tav tm="0">
                                          <p:val>
                                            <p:strVal val="#ppt_y"/>
                                          </p:val>
                                        </p:tav>
                                        <p:tav tm="100000">
                                          <p:val>
                                            <p:strVal val="#ppt_y"/>
                                          </p:val>
                                        </p:tav>
                                      </p:tavLst>
                                    </p:anim>
                                  </p:childTnLst>
                                </p:cTn>
                              </p:par>
                            </p:childTnLst>
                          </p:cTn>
                        </p:par>
                        <p:par>
                          <p:cTn id="54" fill="hold" nodeType="afterGroup">
                            <p:stCondLst>
                              <p:cond delay="500"/>
                            </p:stCondLst>
                            <p:childTnLst>
                              <p:par>
                                <p:cTn id="55" presetID="2" presetClass="entr" presetSubtype="8" fill="hold" nodeType="afterEffect">
                                  <p:stCondLst>
                                    <p:cond delay="2000"/>
                                  </p:stCondLst>
                                  <p:childTnLst>
                                    <p:set>
                                      <p:cBhvr>
                                        <p:cTn id="56" dur="1" fill="hold">
                                          <p:stCondLst>
                                            <p:cond delay="0"/>
                                          </p:stCondLst>
                                        </p:cTn>
                                        <p:tgtEl>
                                          <p:spTgt spid="185353"/>
                                        </p:tgtEl>
                                        <p:attrNameLst>
                                          <p:attrName>style.visibility</p:attrName>
                                        </p:attrNameLst>
                                      </p:cBhvr>
                                      <p:to>
                                        <p:strVal val="visible"/>
                                      </p:to>
                                    </p:set>
                                    <p:anim calcmode="lin" valueType="num">
                                      <p:cBhvr additive="base">
                                        <p:cTn id="57" dur="500" fill="hold"/>
                                        <p:tgtEl>
                                          <p:spTgt spid="185353"/>
                                        </p:tgtEl>
                                        <p:attrNameLst>
                                          <p:attrName>ppt_x</p:attrName>
                                        </p:attrNameLst>
                                      </p:cBhvr>
                                      <p:tavLst>
                                        <p:tav tm="0">
                                          <p:val>
                                            <p:strVal val="0-#ppt_w/2"/>
                                          </p:val>
                                        </p:tav>
                                        <p:tav tm="100000">
                                          <p:val>
                                            <p:strVal val="#ppt_x"/>
                                          </p:val>
                                        </p:tav>
                                      </p:tavLst>
                                    </p:anim>
                                    <p:anim calcmode="lin" valueType="num">
                                      <p:cBhvr additive="base">
                                        <p:cTn id="58" dur="500" fill="hold"/>
                                        <p:tgtEl>
                                          <p:spTgt spid="185353"/>
                                        </p:tgtEl>
                                        <p:attrNameLst>
                                          <p:attrName>ppt_y</p:attrName>
                                        </p:attrNameLst>
                                      </p:cBhvr>
                                      <p:tavLst>
                                        <p:tav tm="0">
                                          <p:val>
                                            <p:strVal val="#ppt_y"/>
                                          </p:val>
                                        </p:tav>
                                        <p:tav tm="100000">
                                          <p:val>
                                            <p:strVal val="#ppt_y"/>
                                          </p:val>
                                        </p:tav>
                                      </p:tavLst>
                                    </p:anim>
                                  </p:childTnLst>
                                </p:cTn>
                              </p:par>
                            </p:childTnLst>
                          </p:cTn>
                        </p:par>
                        <p:par>
                          <p:cTn id="59" fill="hold" nodeType="afterGroup">
                            <p:stCondLst>
                              <p:cond delay="3000"/>
                            </p:stCondLst>
                            <p:childTnLst>
                              <p:par>
                                <p:cTn id="60" presetID="2" presetClass="entr" presetSubtype="8" fill="hold" nodeType="afterEffect">
                                  <p:stCondLst>
                                    <p:cond delay="0"/>
                                  </p:stCondLst>
                                  <p:childTnLst>
                                    <p:set>
                                      <p:cBhvr>
                                        <p:cTn id="61" dur="1" fill="hold">
                                          <p:stCondLst>
                                            <p:cond delay="0"/>
                                          </p:stCondLst>
                                        </p:cTn>
                                        <p:tgtEl>
                                          <p:spTgt spid="185354"/>
                                        </p:tgtEl>
                                        <p:attrNameLst>
                                          <p:attrName>style.visibility</p:attrName>
                                        </p:attrNameLst>
                                      </p:cBhvr>
                                      <p:to>
                                        <p:strVal val="visible"/>
                                      </p:to>
                                    </p:set>
                                    <p:anim calcmode="lin" valueType="num">
                                      <p:cBhvr additive="base">
                                        <p:cTn id="62" dur="500" fill="hold"/>
                                        <p:tgtEl>
                                          <p:spTgt spid="185354"/>
                                        </p:tgtEl>
                                        <p:attrNameLst>
                                          <p:attrName>ppt_x</p:attrName>
                                        </p:attrNameLst>
                                      </p:cBhvr>
                                      <p:tavLst>
                                        <p:tav tm="0">
                                          <p:val>
                                            <p:strVal val="0-#ppt_w/2"/>
                                          </p:val>
                                        </p:tav>
                                        <p:tav tm="100000">
                                          <p:val>
                                            <p:strVal val="#ppt_x"/>
                                          </p:val>
                                        </p:tav>
                                      </p:tavLst>
                                    </p:anim>
                                    <p:anim calcmode="lin" valueType="num">
                                      <p:cBhvr additive="base">
                                        <p:cTn id="63" dur="500" fill="hold"/>
                                        <p:tgtEl>
                                          <p:spTgt spid="185354"/>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3500"/>
                            </p:stCondLst>
                            <p:childTnLst>
                              <p:par>
                                <p:cTn id="65" presetID="2" presetClass="entr" presetSubtype="2" fill="hold" grpId="0" nodeType="afterEffect">
                                  <p:stCondLst>
                                    <p:cond delay="2000"/>
                                  </p:stCondLst>
                                  <p:childTnLst>
                                    <p:set>
                                      <p:cBhvr>
                                        <p:cTn id="66" dur="1" fill="hold">
                                          <p:stCondLst>
                                            <p:cond delay="0"/>
                                          </p:stCondLst>
                                        </p:cTn>
                                        <p:tgtEl>
                                          <p:spTgt spid="185364"/>
                                        </p:tgtEl>
                                        <p:attrNameLst>
                                          <p:attrName>style.visibility</p:attrName>
                                        </p:attrNameLst>
                                      </p:cBhvr>
                                      <p:to>
                                        <p:strVal val="visible"/>
                                      </p:to>
                                    </p:set>
                                    <p:anim calcmode="lin" valueType="num">
                                      <p:cBhvr additive="base">
                                        <p:cTn id="67" dur="500" fill="hold"/>
                                        <p:tgtEl>
                                          <p:spTgt spid="185364"/>
                                        </p:tgtEl>
                                        <p:attrNameLst>
                                          <p:attrName>ppt_x</p:attrName>
                                        </p:attrNameLst>
                                      </p:cBhvr>
                                      <p:tavLst>
                                        <p:tav tm="0">
                                          <p:val>
                                            <p:strVal val="1+#ppt_w/2"/>
                                          </p:val>
                                        </p:tav>
                                        <p:tav tm="100000">
                                          <p:val>
                                            <p:strVal val="#ppt_x"/>
                                          </p:val>
                                        </p:tav>
                                      </p:tavLst>
                                    </p:anim>
                                    <p:anim calcmode="lin" valueType="num">
                                      <p:cBhvr additive="base">
                                        <p:cTn id="68" dur="500" fill="hold"/>
                                        <p:tgtEl>
                                          <p:spTgt spid="185364"/>
                                        </p:tgtEl>
                                        <p:attrNameLst>
                                          <p:attrName>ppt_y</p:attrName>
                                        </p:attrNameLst>
                                      </p:cBhvr>
                                      <p:tavLst>
                                        <p:tav tm="0">
                                          <p:val>
                                            <p:strVal val="#ppt_y"/>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85352"/>
                                        </p:tgtEl>
                                        <p:attrNameLst>
                                          <p:attrName>style.visibility</p:attrName>
                                        </p:attrNameLst>
                                      </p:cBhvr>
                                      <p:to>
                                        <p:strVal val="visible"/>
                                      </p:to>
                                    </p:set>
                                    <p:anim calcmode="lin" valueType="num">
                                      <p:cBhvr additive="base">
                                        <p:cTn id="73" dur="500" fill="hold"/>
                                        <p:tgtEl>
                                          <p:spTgt spid="185352"/>
                                        </p:tgtEl>
                                        <p:attrNameLst>
                                          <p:attrName>ppt_x</p:attrName>
                                        </p:attrNameLst>
                                      </p:cBhvr>
                                      <p:tavLst>
                                        <p:tav tm="0">
                                          <p:val>
                                            <p:strVal val="0-#ppt_w/2"/>
                                          </p:val>
                                        </p:tav>
                                        <p:tav tm="100000">
                                          <p:val>
                                            <p:strVal val="#ppt_x"/>
                                          </p:val>
                                        </p:tav>
                                      </p:tavLst>
                                    </p:anim>
                                    <p:anim calcmode="lin" valueType="num">
                                      <p:cBhvr additive="base">
                                        <p:cTn id="74" dur="500" fill="hold"/>
                                        <p:tgtEl>
                                          <p:spTgt spid="185352"/>
                                        </p:tgtEl>
                                        <p:attrNameLst>
                                          <p:attrName>ppt_y</p:attrName>
                                        </p:attrNameLst>
                                      </p:cBhvr>
                                      <p:tavLst>
                                        <p:tav tm="0">
                                          <p:val>
                                            <p:strVal val="#ppt_y"/>
                                          </p:val>
                                        </p:tav>
                                        <p:tav tm="100000">
                                          <p:val>
                                            <p:strVal val="#ppt_y"/>
                                          </p:val>
                                        </p:tav>
                                      </p:tavLst>
                                    </p:anim>
                                  </p:childTnLst>
                                </p:cTn>
                              </p:par>
                            </p:childTnLst>
                          </p:cTn>
                        </p:par>
                        <p:par>
                          <p:cTn id="75" fill="hold" nodeType="afterGroup">
                            <p:stCondLst>
                              <p:cond delay="500"/>
                            </p:stCondLst>
                            <p:childTnLst>
                              <p:par>
                                <p:cTn id="76" presetID="2" presetClass="entr" presetSubtype="4" fill="hold" nodeType="afterEffect">
                                  <p:stCondLst>
                                    <p:cond delay="2000"/>
                                  </p:stCondLst>
                                  <p:childTnLst>
                                    <p:set>
                                      <p:cBhvr>
                                        <p:cTn id="77" dur="1" fill="hold">
                                          <p:stCondLst>
                                            <p:cond delay="0"/>
                                          </p:stCondLst>
                                        </p:cTn>
                                        <p:tgtEl>
                                          <p:spTgt spid="185357"/>
                                        </p:tgtEl>
                                        <p:attrNameLst>
                                          <p:attrName>style.visibility</p:attrName>
                                        </p:attrNameLst>
                                      </p:cBhvr>
                                      <p:to>
                                        <p:strVal val="visible"/>
                                      </p:to>
                                    </p:set>
                                    <p:anim calcmode="lin" valueType="num">
                                      <p:cBhvr additive="base">
                                        <p:cTn id="78" dur="500" fill="hold"/>
                                        <p:tgtEl>
                                          <p:spTgt spid="185357"/>
                                        </p:tgtEl>
                                        <p:attrNameLst>
                                          <p:attrName>ppt_x</p:attrName>
                                        </p:attrNameLst>
                                      </p:cBhvr>
                                      <p:tavLst>
                                        <p:tav tm="0">
                                          <p:val>
                                            <p:strVal val="#ppt_x"/>
                                          </p:val>
                                        </p:tav>
                                        <p:tav tm="100000">
                                          <p:val>
                                            <p:strVal val="#ppt_x"/>
                                          </p:val>
                                        </p:tav>
                                      </p:tavLst>
                                    </p:anim>
                                    <p:anim calcmode="lin" valueType="num">
                                      <p:cBhvr additive="base">
                                        <p:cTn id="79" dur="500" fill="hold"/>
                                        <p:tgtEl>
                                          <p:spTgt spid="185357"/>
                                        </p:tgtEl>
                                        <p:attrNameLst>
                                          <p:attrName>ppt_y</p:attrName>
                                        </p:attrNameLst>
                                      </p:cBhvr>
                                      <p:tavLst>
                                        <p:tav tm="0">
                                          <p:val>
                                            <p:strVal val="1+#ppt_h/2"/>
                                          </p:val>
                                        </p:tav>
                                        <p:tav tm="100000">
                                          <p:val>
                                            <p:strVal val="#ppt_y"/>
                                          </p:val>
                                        </p:tav>
                                      </p:tavLst>
                                    </p:anim>
                                  </p:childTnLst>
                                </p:cTn>
                              </p:par>
                            </p:childTnLst>
                          </p:cTn>
                        </p:par>
                        <p:par>
                          <p:cTn id="80" fill="hold" nodeType="afterGroup">
                            <p:stCondLst>
                              <p:cond delay="3000"/>
                            </p:stCondLst>
                            <p:childTnLst>
                              <p:par>
                                <p:cTn id="81" presetID="2" presetClass="entr" presetSubtype="2" fill="hold" nodeType="afterEffect">
                                  <p:stCondLst>
                                    <p:cond delay="0"/>
                                  </p:stCondLst>
                                  <p:childTnLst>
                                    <p:set>
                                      <p:cBhvr>
                                        <p:cTn id="82" dur="1" fill="hold">
                                          <p:stCondLst>
                                            <p:cond delay="0"/>
                                          </p:stCondLst>
                                        </p:cTn>
                                        <p:tgtEl>
                                          <p:spTgt spid="185358"/>
                                        </p:tgtEl>
                                        <p:attrNameLst>
                                          <p:attrName>style.visibility</p:attrName>
                                        </p:attrNameLst>
                                      </p:cBhvr>
                                      <p:to>
                                        <p:strVal val="visible"/>
                                      </p:to>
                                    </p:set>
                                    <p:anim calcmode="lin" valueType="num">
                                      <p:cBhvr additive="base">
                                        <p:cTn id="83" dur="500" fill="hold"/>
                                        <p:tgtEl>
                                          <p:spTgt spid="185358"/>
                                        </p:tgtEl>
                                        <p:attrNameLst>
                                          <p:attrName>ppt_x</p:attrName>
                                        </p:attrNameLst>
                                      </p:cBhvr>
                                      <p:tavLst>
                                        <p:tav tm="0">
                                          <p:val>
                                            <p:strVal val="1+#ppt_w/2"/>
                                          </p:val>
                                        </p:tav>
                                        <p:tav tm="100000">
                                          <p:val>
                                            <p:strVal val="#ppt_x"/>
                                          </p:val>
                                        </p:tav>
                                      </p:tavLst>
                                    </p:anim>
                                    <p:anim calcmode="lin" valueType="num">
                                      <p:cBhvr additive="base">
                                        <p:cTn id="84" dur="500" fill="hold"/>
                                        <p:tgtEl>
                                          <p:spTgt spid="185358"/>
                                        </p:tgtEl>
                                        <p:attrNameLst>
                                          <p:attrName>ppt_y</p:attrName>
                                        </p:attrNameLst>
                                      </p:cBhvr>
                                      <p:tavLst>
                                        <p:tav tm="0">
                                          <p:val>
                                            <p:strVal val="#ppt_y"/>
                                          </p:val>
                                        </p:tav>
                                        <p:tav tm="100000">
                                          <p:val>
                                            <p:strVal val="#ppt_y"/>
                                          </p:val>
                                        </p:tav>
                                      </p:tavLst>
                                    </p:anim>
                                  </p:childTnLst>
                                </p:cTn>
                              </p:par>
                            </p:childTnLst>
                          </p:cTn>
                        </p:par>
                        <p:par>
                          <p:cTn id="85" fill="hold" nodeType="afterGroup">
                            <p:stCondLst>
                              <p:cond delay="3500"/>
                            </p:stCondLst>
                            <p:childTnLst>
                              <p:par>
                                <p:cTn id="86" presetID="2" presetClass="entr" presetSubtype="6" fill="hold" grpId="0" nodeType="afterEffect">
                                  <p:stCondLst>
                                    <p:cond delay="2000"/>
                                  </p:stCondLst>
                                  <p:childTnLst>
                                    <p:set>
                                      <p:cBhvr>
                                        <p:cTn id="87" dur="1" fill="hold">
                                          <p:stCondLst>
                                            <p:cond delay="0"/>
                                          </p:stCondLst>
                                        </p:cTn>
                                        <p:tgtEl>
                                          <p:spTgt spid="185359"/>
                                        </p:tgtEl>
                                        <p:attrNameLst>
                                          <p:attrName>style.visibility</p:attrName>
                                        </p:attrNameLst>
                                      </p:cBhvr>
                                      <p:to>
                                        <p:strVal val="visible"/>
                                      </p:to>
                                    </p:set>
                                    <p:anim calcmode="lin" valueType="num">
                                      <p:cBhvr additive="base">
                                        <p:cTn id="88" dur="500" fill="hold"/>
                                        <p:tgtEl>
                                          <p:spTgt spid="185359"/>
                                        </p:tgtEl>
                                        <p:attrNameLst>
                                          <p:attrName>ppt_x</p:attrName>
                                        </p:attrNameLst>
                                      </p:cBhvr>
                                      <p:tavLst>
                                        <p:tav tm="0">
                                          <p:val>
                                            <p:strVal val="1+#ppt_w/2"/>
                                          </p:val>
                                        </p:tav>
                                        <p:tav tm="100000">
                                          <p:val>
                                            <p:strVal val="#ppt_x"/>
                                          </p:val>
                                        </p:tav>
                                      </p:tavLst>
                                    </p:anim>
                                    <p:anim calcmode="lin" valueType="num">
                                      <p:cBhvr additive="base">
                                        <p:cTn id="89" dur="500" fill="hold"/>
                                        <p:tgtEl>
                                          <p:spTgt spid="185359"/>
                                        </p:tgtEl>
                                        <p:attrNameLst>
                                          <p:attrName>ppt_y</p:attrName>
                                        </p:attrNameLst>
                                      </p:cBhvr>
                                      <p:tavLst>
                                        <p:tav tm="0">
                                          <p:val>
                                            <p:strVal val="1+#ppt_h/2"/>
                                          </p:val>
                                        </p:tav>
                                        <p:tav tm="100000">
                                          <p:val>
                                            <p:strVal val="#ppt_y"/>
                                          </p:val>
                                        </p:tav>
                                      </p:tavLst>
                                    </p:anim>
                                  </p:childTnLst>
                                </p:cTn>
                              </p:par>
                            </p:childTnLst>
                          </p:cTn>
                        </p:par>
                        <p:par>
                          <p:cTn id="90" fill="hold" nodeType="afterGroup">
                            <p:stCondLst>
                              <p:cond delay="6000"/>
                            </p:stCondLst>
                            <p:childTnLst>
                              <p:par>
                                <p:cTn id="91" presetID="2" presetClass="entr" presetSubtype="4" fill="hold" grpId="0" nodeType="afterEffect">
                                  <p:stCondLst>
                                    <p:cond delay="2000"/>
                                  </p:stCondLst>
                                  <p:childTnLst>
                                    <p:set>
                                      <p:cBhvr>
                                        <p:cTn id="92" dur="1" fill="hold">
                                          <p:stCondLst>
                                            <p:cond delay="0"/>
                                          </p:stCondLst>
                                        </p:cTn>
                                        <p:tgtEl>
                                          <p:spTgt spid="185365"/>
                                        </p:tgtEl>
                                        <p:attrNameLst>
                                          <p:attrName>style.visibility</p:attrName>
                                        </p:attrNameLst>
                                      </p:cBhvr>
                                      <p:to>
                                        <p:strVal val="visible"/>
                                      </p:to>
                                    </p:set>
                                    <p:anim calcmode="lin" valueType="num">
                                      <p:cBhvr additive="base">
                                        <p:cTn id="93" dur="500" fill="hold"/>
                                        <p:tgtEl>
                                          <p:spTgt spid="185365"/>
                                        </p:tgtEl>
                                        <p:attrNameLst>
                                          <p:attrName>ppt_x</p:attrName>
                                        </p:attrNameLst>
                                      </p:cBhvr>
                                      <p:tavLst>
                                        <p:tav tm="0">
                                          <p:val>
                                            <p:strVal val="#ppt_x"/>
                                          </p:val>
                                        </p:tav>
                                        <p:tav tm="100000">
                                          <p:val>
                                            <p:strVal val="#ppt_x"/>
                                          </p:val>
                                        </p:tav>
                                      </p:tavLst>
                                    </p:anim>
                                    <p:anim calcmode="lin" valueType="num">
                                      <p:cBhvr additive="base">
                                        <p:cTn id="94" dur="500" fill="hold"/>
                                        <p:tgtEl>
                                          <p:spTgt spid="185365"/>
                                        </p:tgtEl>
                                        <p:attrNameLst>
                                          <p:attrName>ppt_y</p:attrName>
                                        </p:attrNameLst>
                                      </p:cBhvr>
                                      <p:tavLst>
                                        <p:tav tm="0">
                                          <p:val>
                                            <p:strVal val="1+#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8" fill="hold" grpId="0" nodeType="clickEffect">
                                  <p:stCondLst>
                                    <p:cond delay="0"/>
                                  </p:stCondLst>
                                  <p:childTnLst>
                                    <p:set>
                                      <p:cBhvr>
                                        <p:cTn id="98" dur="1" fill="hold">
                                          <p:stCondLst>
                                            <p:cond delay="0"/>
                                          </p:stCondLst>
                                        </p:cTn>
                                        <p:tgtEl>
                                          <p:spTgt spid="185360"/>
                                        </p:tgtEl>
                                        <p:attrNameLst>
                                          <p:attrName>style.visibility</p:attrName>
                                        </p:attrNameLst>
                                      </p:cBhvr>
                                      <p:to>
                                        <p:strVal val="visible"/>
                                      </p:to>
                                    </p:set>
                                    <p:anim calcmode="lin" valueType="num">
                                      <p:cBhvr additive="base">
                                        <p:cTn id="99" dur="500" fill="hold"/>
                                        <p:tgtEl>
                                          <p:spTgt spid="185360"/>
                                        </p:tgtEl>
                                        <p:attrNameLst>
                                          <p:attrName>ppt_x</p:attrName>
                                        </p:attrNameLst>
                                      </p:cBhvr>
                                      <p:tavLst>
                                        <p:tav tm="0">
                                          <p:val>
                                            <p:strVal val="0-#ppt_w/2"/>
                                          </p:val>
                                        </p:tav>
                                        <p:tav tm="100000">
                                          <p:val>
                                            <p:strVal val="#ppt_x"/>
                                          </p:val>
                                        </p:tav>
                                      </p:tavLst>
                                    </p:anim>
                                    <p:anim calcmode="lin" valueType="num">
                                      <p:cBhvr additive="base">
                                        <p:cTn id="100" dur="500" fill="hold"/>
                                        <p:tgtEl>
                                          <p:spTgt spid="185360"/>
                                        </p:tgtEl>
                                        <p:attrNameLst>
                                          <p:attrName>ppt_y</p:attrName>
                                        </p:attrNameLst>
                                      </p:cBhvr>
                                      <p:tavLst>
                                        <p:tav tm="0">
                                          <p:val>
                                            <p:strVal val="#ppt_y"/>
                                          </p:val>
                                        </p:tav>
                                        <p:tav tm="100000">
                                          <p:val>
                                            <p:strVal val="#ppt_y"/>
                                          </p:val>
                                        </p:tav>
                                      </p:tavLst>
                                    </p:anim>
                                  </p:childTnLst>
                                </p:cTn>
                              </p:par>
                            </p:childTnLst>
                          </p:cTn>
                        </p:par>
                        <p:par>
                          <p:cTn id="101" fill="hold" nodeType="afterGroup">
                            <p:stCondLst>
                              <p:cond delay="500"/>
                            </p:stCondLst>
                            <p:childTnLst>
                              <p:par>
                                <p:cTn id="102" presetID="2" presetClass="entr" presetSubtype="8" fill="hold" nodeType="afterEffect">
                                  <p:stCondLst>
                                    <p:cond delay="2000"/>
                                  </p:stCondLst>
                                  <p:childTnLst>
                                    <p:set>
                                      <p:cBhvr>
                                        <p:cTn id="103" dur="1" fill="hold">
                                          <p:stCondLst>
                                            <p:cond delay="0"/>
                                          </p:stCondLst>
                                        </p:cTn>
                                        <p:tgtEl>
                                          <p:spTgt spid="185366"/>
                                        </p:tgtEl>
                                        <p:attrNameLst>
                                          <p:attrName>style.visibility</p:attrName>
                                        </p:attrNameLst>
                                      </p:cBhvr>
                                      <p:to>
                                        <p:strVal val="visible"/>
                                      </p:to>
                                    </p:set>
                                    <p:anim calcmode="lin" valueType="num">
                                      <p:cBhvr additive="base">
                                        <p:cTn id="104" dur="500" fill="hold"/>
                                        <p:tgtEl>
                                          <p:spTgt spid="185366"/>
                                        </p:tgtEl>
                                        <p:attrNameLst>
                                          <p:attrName>ppt_x</p:attrName>
                                        </p:attrNameLst>
                                      </p:cBhvr>
                                      <p:tavLst>
                                        <p:tav tm="0">
                                          <p:val>
                                            <p:strVal val="0-#ppt_w/2"/>
                                          </p:val>
                                        </p:tav>
                                        <p:tav tm="100000">
                                          <p:val>
                                            <p:strVal val="#ppt_x"/>
                                          </p:val>
                                        </p:tav>
                                      </p:tavLst>
                                    </p:anim>
                                    <p:anim calcmode="lin" valueType="num">
                                      <p:cBhvr additive="base">
                                        <p:cTn id="105" dur="500" fill="hold"/>
                                        <p:tgtEl>
                                          <p:spTgt spid="185366"/>
                                        </p:tgtEl>
                                        <p:attrNameLst>
                                          <p:attrName>ppt_y</p:attrName>
                                        </p:attrNameLst>
                                      </p:cBhvr>
                                      <p:tavLst>
                                        <p:tav tm="0">
                                          <p:val>
                                            <p:strVal val="#ppt_y"/>
                                          </p:val>
                                        </p:tav>
                                        <p:tav tm="100000">
                                          <p:val>
                                            <p:strVal val="#ppt_y"/>
                                          </p:val>
                                        </p:tav>
                                      </p:tavLst>
                                    </p:anim>
                                  </p:childTnLst>
                                </p:cTn>
                              </p:par>
                            </p:childTnLst>
                          </p:cTn>
                        </p:par>
                        <p:par>
                          <p:cTn id="106" fill="hold" nodeType="afterGroup">
                            <p:stCondLst>
                              <p:cond delay="3000"/>
                            </p:stCondLst>
                            <p:childTnLst>
                              <p:par>
                                <p:cTn id="107" presetID="2" presetClass="entr" presetSubtype="8" fill="hold" nodeType="afterEffect">
                                  <p:stCondLst>
                                    <p:cond delay="0"/>
                                  </p:stCondLst>
                                  <p:childTnLst>
                                    <p:set>
                                      <p:cBhvr>
                                        <p:cTn id="108" dur="1" fill="hold">
                                          <p:stCondLst>
                                            <p:cond delay="0"/>
                                          </p:stCondLst>
                                        </p:cTn>
                                        <p:tgtEl>
                                          <p:spTgt spid="185367"/>
                                        </p:tgtEl>
                                        <p:attrNameLst>
                                          <p:attrName>style.visibility</p:attrName>
                                        </p:attrNameLst>
                                      </p:cBhvr>
                                      <p:to>
                                        <p:strVal val="visible"/>
                                      </p:to>
                                    </p:set>
                                    <p:anim calcmode="lin" valueType="num">
                                      <p:cBhvr additive="base">
                                        <p:cTn id="109" dur="500" fill="hold"/>
                                        <p:tgtEl>
                                          <p:spTgt spid="185367"/>
                                        </p:tgtEl>
                                        <p:attrNameLst>
                                          <p:attrName>ppt_x</p:attrName>
                                        </p:attrNameLst>
                                      </p:cBhvr>
                                      <p:tavLst>
                                        <p:tav tm="0">
                                          <p:val>
                                            <p:strVal val="0-#ppt_w/2"/>
                                          </p:val>
                                        </p:tav>
                                        <p:tav tm="100000">
                                          <p:val>
                                            <p:strVal val="#ppt_x"/>
                                          </p:val>
                                        </p:tav>
                                      </p:tavLst>
                                    </p:anim>
                                    <p:anim calcmode="lin" valueType="num">
                                      <p:cBhvr additive="base">
                                        <p:cTn id="110" dur="500" fill="hold"/>
                                        <p:tgtEl>
                                          <p:spTgt spid="185367"/>
                                        </p:tgtEl>
                                        <p:attrNameLst>
                                          <p:attrName>ppt_y</p:attrName>
                                        </p:attrNameLst>
                                      </p:cBhvr>
                                      <p:tavLst>
                                        <p:tav tm="0">
                                          <p:val>
                                            <p:strVal val="#ppt_y"/>
                                          </p:val>
                                        </p:tav>
                                        <p:tav tm="100000">
                                          <p:val>
                                            <p:strVal val="#ppt_y"/>
                                          </p:val>
                                        </p:tav>
                                      </p:tavLst>
                                    </p:anim>
                                  </p:childTnLst>
                                </p:cTn>
                              </p:par>
                            </p:childTnLst>
                          </p:cTn>
                        </p:par>
                        <p:par>
                          <p:cTn id="111" fill="hold" nodeType="afterGroup">
                            <p:stCondLst>
                              <p:cond delay="3500"/>
                            </p:stCondLst>
                            <p:childTnLst>
                              <p:par>
                                <p:cTn id="112" presetID="2" presetClass="entr" presetSubtype="8" fill="hold" grpId="0" nodeType="afterEffect">
                                  <p:stCondLst>
                                    <p:cond delay="2000"/>
                                  </p:stCondLst>
                                  <p:childTnLst>
                                    <p:set>
                                      <p:cBhvr>
                                        <p:cTn id="113" dur="1" fill="hold">
                                          <p:stCondLst>
                                            <p:cond delay="0"/>
                                          </p:stCondLst>
                                        </p:cTn>
                                        <p:tgtEl>
                                          <p:spTgt spid="185361"/>
                                        </p:tgtEl>
                                        <p:attrNameLst>
                                          <p:attrName>style.visibility</p:attrName>
                                        </p:attrNameLst>
                                      </p:cBhvr>
                                      <p:to>
                                        <p:strVal val="visible"/>
                                      </p:to>
                                    </p:set>
                                    <p:anim calcmode="lin" valueType="num">
                                      <p:cBhvr additive="base">
                                        <p:cTn id="114" dur="500" fill="hold"/>
                                        <p:tgtEl>
                                          <p:spTgt spid="185361"/>
                                        </p:tgtEl>
                                        <p:attrNameLst>
                                          <p:attrName>ppt_x</p:attrName>
                                        </p:attrNameLst>
                                      </p:cBhvr>
                                      <p:tavLst>
                                        <p:tav tm="0">
                                          <p:val>
                                            <p:strVal val="0-#ppt_w/2"/>
                                          </p:val>
                                        </p:tav>
                                        <p:tav tm="100000">
                                          <p:val>
                                            <p:strVal val="#ppt_x"/>
                                          </p:val>
                                        </p:tav>
                                      </p:tavLst>
                                    </p:anim>
                                    <p:anim calcmode="lin" valueType="num">
                                      <p:cBhvr additive="base">
                                        <p:cTn id="115" dur="500" fill="hold"/>
                                        <p:tgtEl>
                                          <p:spTgt spid="185361"/>
                                        </p:tgtEl>
                                        <p:attrNameLst>
                                          <p:attrName>ppt_y</p:attrName>
                                        </p:attrNameLst>
                                      </p:cBhvr>
                                      <p:tavLst>
                                        <p:tav tm="0">
                                          <p:val>
                                            <p:strVal val="#ppt_y"/>
                                          </p:val>
                                        </p:tav>
                                        <p:tav tm="100000">
                                          <p:val>
                                            <p:strVal val="#ppt_y"/>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 presetClass="entr" presetSubtype="6" fill="hold" grpId="0" nodeType="clickEffect">
                                  <p:stCondLst>
                                    <p:cond delay="0"/>
                                  </p:stCondLst>
                                  <p:childTnLst>
                                    <p:set>
                                      <p:cBhvr>
                                        <p:cTn id="119" dur="1" fill="hold">
                                          <p:stCondLst>
                                            <p:cond delay="0"/>
                                          </p:stCondLst>
                                        </p:cTn>
                                        <p:tgtEl>
                                          <p:spTgt spid="185368"/>
                                        </p:tgtEl>
                                        <p:attrNameLst>
                                          <p:attrName>style.visibility</p:attrName>
                                        </p:attrNameLst>
                                      </p:cBhvr>
                                      <p:to>
                                        <p:strVal val="visible"/>
                                      </p:to>
                                    </p:set>
                                    <p:anim calcmode="lin" valueType="num">
                                      <p:cBhvr additive="base">
                                        <p:cTn id="120" dur="500" fill="hold"/>
                                        <p:tgtEl>
                                          <p:spTgt spid="185368"/>
                                        </p:tgtEl>
                                        <p:attrNameLst>
                                          <p:attrName>ppt_x</p:attrName>
                                        </p:attrNameLst>
                                      </p:cBhvr>
                                      <p:tavLst>
                                        <p:tav tm="0">
                                          <p:val>
                                            <p:strVal val="1+#ppt_w/2"/>
                                          </p:val>
                                        </p:tav>
                                        <p:tav tm="100000">
                                          <p:val>
                                            <p:strVal val="#ppt_x"/>
                                          </p:val>
                                        </p:tav>
                                      </p:tavLst>
                                    </p:anim>
                                    <p:anim calcmode="lin" valueType="num">
                                      <p:cBhvr additive="base">
                                        <p:cTn id="121" dur="500" fill="hold"/>
                                        <p:tgtEl>
                                          <p:spTgt spid="1853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7" grpId="0" autoUpdateAnimBg="0"/>
      <p:bldP spid="185348" grpId="0" autoUpdateAnimBg="0"/>
      <p:bldP spid="185351" grpId="0" autoUpdateAnimBg="0"/>
      <p:bldP spid="185352" grpId="0" autoUpdateAnimBg="0"/>
      <p:bldP spid="185355" grpId="0" autoUpdateAnimBg="0"/>
      <p:bldP spid="185356" grpId="0" autoUpdateAnimBg="0"/>
      <p:bldP spid="185359" grpId="0" autoUpdateAnimBg="0"/>
      <p:bldP spid="185360" grpId="0" autoUpdateAnimBg="0"/>
      <p:bldP spid="185361" grpId="0" autoUpdateAnimBg="0"/>
      <p:bldP spid="185362" grpId="0" autoUpdateAnimBg="0"/>
      <p:bldP spid="185363" grpId="0" autoUpdateAnimBg="0"/>
      <p:bldP spid="185364" grpId="0" autoUpdateAnimBg="0"/>
      <p:bldP spid="185365" grpId="0" autoUpdateAnimBg="0"/>
      <p:bldP spid="185368"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41BE77DD-8731-40C1-9A96-68C27B89746D}"/>
              </a:ext>
            </a:extLst>
          </p:cNvPr>
          <p:cNvSpPr>
            <a:spLocks noGrp="1" noChangeArrowheads="1"/>
          </p:cNvSpPr>
          <p:nvPr>
            <p:ph type="title"/>
          </p:nvPr>
        </p:nvSpPr>
        <p:spPr>
          <a:xfrm>
            <a:off x="609600" y="304800"/>
            <a:ext cx="7772400" cy="935038"/>
          </a:xfrm>
        </p:spPr>
        <p:txBody>
          <a:bodyPr/>
          <a:lstStyle/>
          <a:p>
            <a:r>
              <a:rPr lang="en-US" altLang="en-US"/>
              <a:t>Resolution Refutation – Step 1</a:t>
            </a:r>
          </a:p>
        </p:txBody>
      </p:sp>
      <p:sp>
        <p:nvSpPr>
          <p:cNvPr id="186371" name="Rectangle 3" descr="Rectangle: Click to edit Master text styles&#10;Second level&#10;Third level&#10;Fourth level&#10;Fifth level">
            <a:extLst>
              <a:ext uri="{FF2B5EF4-FFF2-40B4-BE49-F238E27FC236}">
                <a16:creationId xmlns:a16="http://schemas.microsoft.com/office/drawing/2014/main" id="{E2F092AC-ED22-4BB0-987D-3A07C477108E}"/>
              </a:ext>
            </a:extLst>
          </p:cNvPr>
          <p:cNvSpPr>
            <a:spLocks noGrp="1" noChangeArrowheads="1"/>
          </p:cNvSpPr>
          <p:nvPr>
            <p:ph type="body" idx="1"/>
          </p:nvPr>
        </p:nvSpPr>
        <p:spPr>
          <a:xfrm>
            <a:off x="609600" y="1524000"/>
            <a:ext cx="8382000" cy="4648200"/>
          </a:xfrm>
        </p:spPr>
        <p:txBody>
          <a:bodyPr/>
          <a:lstStyle/>
          <a:p>
            <a:pPr marL="609600" indent="-609600"/>
            <a:r>
              <a:rPr lang="en-US" altLang="en-US"/>
              <a:t>Assume:Can convert all FOL statements to conjunctive normal form (CNF). </a:t>
            </a:r>
          </a:p>
          <a:p>
            <a:pPr marL="609600" indent="-609600"/>
            <a:endParaRPr lang="en-US" altLang="en-US"/>
          </a:p>
          <a:p>
            <a:pPr marL="609600" indent="-609600">
              <a:buFont typeface="Wingdings" panose="05000000000000000000" pitchFamily="2" charset="2"/>
              <a:buNone/>
            </a:pPr>
            <a:r>
              <a:rPr lang="en-US" altLang="en-US"/>
              <a:t>	Example: </a:t>
            </a:r>
            <a:r>
              <a:rPr lang="en-US" altLang="en-US" sz="2800" i="1"/>
              <a:t>Everyone who loves all animals is loved by someone.</a:t>
            </a:r>
            <a:endParaRPr lang="en-US" altLang="en-US"/>
          </a:p>
          <a:p>
            <a:pPr marL="609600" indent="-609600">
              <a:buFont typeface="Wingdings" panose="05000000000000000000" pitchFamily="2" charset="2"/>
              <a:buNone/>
            </a:pPr>
            <a:endParaRPr lang="en-US" altLang="en-US"/>
          </a:p>
        </p:txBody>
      </p:sp>
      <p:graphicFrame>
        <p:nvGraphicFramePr>
          <p:cNvPr id="186372" name="Object 4">
            <a:extLst>
              <a:ext uri="{FF2B5EF4-FFF2-40B4-BE49-F238E27FC236}">
                <a16:creationId xmlns:a16="http://schemas.microsoft.com/office/drawing/2014/main" id="{914432FC-5659-474F-91D3-3780F35BE5B1}"/>
              </a:ext>
            </a:extLst>
          </p:cNvPr>
          <p:cNvGraphicFramePr>
            <a:graphicFrameLocks noChangeAspect="1"/>
          </p:cNvGraphicFramePr>
          <p:nvPr/>
        </p:nvGraphicFramePr>
        <p:xfrm>
          <a:off x="609600" y="4267200"/>
          <a:ext cx="7543800" cy="476250"/>
        </p:xfrm>
        <a:graphic>
          <a:graphicData uri="http://schemas.openxmlformats.org/presentationml/2006/ole">
            <mc:AlternateContent xmlns:mc="http://schemas.openxmlformats.org/markup-compatibility/2006">
              <mc:Choice xmlns:v="urn:schemas-microsoft-com:vml" Requires="v">
                <p:oleObj spid="_x0000_s92165" name="Equation" r:id="rId3" imgW="3213000" imgH="203040" progId="Equation.3">
                  <p:embed/>
                </p:oleObj>
              </mc:Choice>
              <mc:Fallback>
                <p:oleObj name="Equation" r:id="rId3" imgW="3213000" imgH="203040" progId="Equation.3">
                  <p:embed/>
                  <p:pic>
                    <p:nvPicPr>
                      <p:cNvPr id="186372" name="Object 4">
                        <a:extLst>
                          <a:ext uri="{FF2B5EF4-FFF2-40B4-BE49-F238E27FC236}">
                            <a16:creationId xmlns:a16="http://schemas.microsoft.com/office/drawing/2014/main" id="{914432FC-5659-474F-91D3-3780F35BE5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267200"/>
                        <a:ext cx="75438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945324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a:extLst>
              <a:ext uri="{FF2B5EF4-FFF2-40B4-BE49-F238E27FC236}">
                <a16:creationId xmlns:a16="http://schemas.microsoft.com/office/drawing/2014/main" id="{9DDC0995-4DD7-4012-936D-63F3D4DE8E87}"/>
              </a:ext>
            </a:extLst>
          </p:cNvPr>
          <p:cNvSpPr>
            <a:spLocks noGrp="1" noChangeArrowheads="1"/>
          </p:cNvSpPr>
          <p:nvPr>
            <p:ph type="title"/>
          </p:nvPr>
        </p:nvSpPr>
        <p:spPr/>
        <p:txBody>
          <a:bodyPr/>
          <a:lstStyle/>
          <a:p>
            <a:r>
              <a:rPr lang="en-US" altLang="en-US"/>
              <a:t>Resolution Refutation</a:t>
            </a:r>
          </a:p>
        </p:txBody>
      </p:sp>
      <p:sp>
        <p:nvSpPr>
          <p:cNvPr id="229379" name="Rectangle 3" descr="Rectangle: Click to edit Master text styles&#10;Second level&#10;Third level&#10;Fourth level&#10;Fifth level">
            <a:extLst>
              <a:ext uri="{FF2B5EF4-FFF2-40B4-BE49-F238E27FC236}">
                <a16:creationId xmlns:a16="http://schemas.microsoft.com/office/drawing/2014/main" id="{AD55B8D3-268F-4DB8-8921-11BB14873B86}"/>
              </a:ext>
            </a:extLst>
          </p:cNvPr>
          <p:cNvSpPr>
            <a:spLocks noGrp="1" noChangeArrowheads="1"/>
          </p:cNvSpPr>
          <p:nvPr>
            <p:ph type="body" idx="1"/>
          </p:nvPr>
        </p:nvSpPr>
        <p:spPr>
          <a:xfrm>
            <a:off x="533400" y="1447800"/>
            <a:ext cx="8229600" cy="5029200"/>
          </a:xfrm>
        </p:spPr>
        <p:txBody>
          <a:bodyPr/>
          <a:lstStyle/>
          <a:p>
            <a:pPr marL="609600" indent="-609600"/>
            <a:endParaRPr lang="en-US" altLang="en-US" sz="2800"/>
          </a:p>
          <a:p>
            <a:pPr marL="609600" indent="-609600"/>
            <a:r>
              <a:rPr lang="en-US" altLang="en-US" sz="2800"/>
              <a:t>Procedure</a:t>
            </a:r>
          </a:p>
          <a:p>
            <a:pPr marL="990600" lvl="1" indent="-533400">
              <a:buFont typeface="Wingdings" panose="05000000000000000000" pitchFamily="2" charset="2"/>
              <a:buAutoNum type="arabicPeriod"/>
            </a:pPr>
            <a:r>
              <a:rPr lang="en-US" altLang="en-US" sz="2400"/>
              <a:t>Eliminate implications</a:t>
            </a:r>
          </a:p>
          <a:p>
            <a:pPr marL="990600" lvl="1" indent="-533400">
              <a:buFont typeface="Wingdings" panose="05000000000000000000" pitchFamily="2" charset="2"/>
              <a:buAutoNum type="arabicPeriod"/>
            </a:pPr>
            <a:endParaRPr lang="en-US" altLang="en-US" sz="2400"/>
          </a:p>
          <a:p>
            <a:pPr marL="990600" lvl="1" indent="-533400">
              <a:buFont typeface="Wingdings" panose="05000000000000000000" pitchFamily="2" charset="2"/>
              <a:buAutoNum type="arabicPeriod"/>
            </a:pPr>
            <a:endParaRPr lang="en-US" altLang="en-US" sz="2400"/>
          </a:p>
          <a:p>
            <a:pPr marL="990600" lvl="1" indent="-533400">
              <a:buFont typeface="Wingdings" panose="05000000000000000000" pitchFamily="2" charset="2"/>
              <a:buAutoNum type="arabicPeriod"/>
            </a:pPr>
            <a:r>
              <a:rPr lang="en-US" altLang="en-US" sz="2400"/>
              <a:t>Reduce scope of negations (move </a:t>
            </a:r>
            <a:r>
              <a:rPr lang="en-US" altLang="en-US" sz="2400">
                <a:sym typeface="Symbol" panose="05050102010706020507" pitchFamily="18" charset="2"/>
              </a:rPr>
              <a:t> inwards)</a:t>
            </a:r>
          </a:p>
          <a:p>
            <a:pPr marL="990600" lvl="1" indent="-533400">
              <a:buFont typeface="Wingdings" panose="05000000000000000000" pitchFamily="2" charset="2"/>
              <a:buAutoNum type="arabicPeriod"/>
            </a:pPr>
            <a:endParaRPr lang="en-US" altLang="en-US" sz="2400">
              <a:sym typeface="Symbol" panose="05050102010706020507" pitchFamily="18" charset="2"/>
            </a:endParaRPr>
          </a:p>
          <a:p>
            <a:pPr marL="990600" lvl="1" indent="-533400">
              <a:buFont typeface="Wingdings" panose="05000000000000000000" pitchFamily="2" charset="2"/>
              <a:buAutoNum type="arabicPeriod"/>
            </a:pPr>
            <a:endParaRPr lang="en-US" altLang="en-US" sz="2400">
              <a:sym typeface="Symbol" panose="05050102010706020507" pitchFamily="18" charset="2"/>
            </a:endParaRPr>
          </a:p>
          <a:p>
            <a:pPr marL="990600" lvl="1" indent="-533400">
              <a:buFont typeface="Wingdings" panose="05000000000000000000" pitchFamily="2" charset="2"/>
              <a:buAutoNum type="arabicPeriod"/>
            </a:pPr>
            <a:endParaRPr lang="en-US" altLang="en-US" sz="2400">
              <a:sym typeface="Symbol" panose="05050102010706020507" pitchFamily="18" charset="2"/>
            </a:endParaRPr>
          </a:p>
          <a:p>
            <a:pPr marL="990600" lvl="1" indent="-533400">
              <a:buFont typeface="Wingdings" panose="05000000000000000000" pitchFamily="2" charset="2"/>
              <a:buAutoNum type="arabicPeriod"/>
            </a:pPr>
            <a:r>
              <a:rPr lang="en-US" altLang="en-US" sz="2400"/>
              <a:t>Standardize variables – each quantifier has a different one</a:t>
            </a:r>
          </a:p>
          <a:p>
            <a:pPr marL="990600" lvl="1" indent="-533400">
              <a:buFont typeface="Wingdings" panose="05000000000000000000" pitchFamily="2" charset="2"/>
              <a:buAutoNum type="arabicPeriod"/>
            </a:pPr>
            <a:endParaRPr lang="en-US" altLang="en-US" sz="2400"/>
          </a:p>
          <a:p>
            <a:pPr marL="609600" indent="-609600"/>
            <a:endParaRPr lang="en-US" altLang="en-US" sz="2800"/>
          </a:p>
        </p:txBody>
      </p:sp>
      <p:graphicFrame>
        <p:nvGraphicFramePr>
          <p:cNvPr id="229381" name="Object 5">
            <a:extLst>
              <a:ext uri="{FF2B5EF4-FFF2-40B4-BE49-F238E27FC236}">
                <a16:creationId xmlns:a16="http://schemas.microsoft.com/office/drawing/2014/main" id="{5CEB3301-F957-4D18-83EC-E9E9533C6C9B}"/>
              </a:ext>
            </a:extLst>
          </p:cNvPr>
          <p:cNvGraphicFramePr>
            <a:graphicFrameLocks noChangeAspect="1"/>
          </p:cNvGraphicFramePr>
          <p:nvPr/>
        </p:nvGraphicFramePr>
        <p:xfrm>
          <a:off x="1371600" y="3048000"/>
          <a:ext cx="7315200" cy="446088"/>
        </p:xfrm>
        <a:graphic>
          <a:graphicData uri="http://schemas.openxmlformats.org/presentationml/2006/ole">
            <mc:AlternateContent xmlns:mc="http://schemas.openxmlformats.org/markup-compatibility/2006">
              <mc:Choice xmlns:v="urn:schemas-microsoft-com:vml" Requires="v">
                <p:oleObj spid="_x0000_s93198" name="Equation" r:id="rId3" imgW="3327120" imgH="203040" progId="Equation.3">
                  <p:embed/>
                </p:oleObj>
              </mc:Choice>
              <mc:Fallback>
                <p:oleObj name="Equation" r:id="rId3" imgW="3327120" imgH="203040" progId="Equation.3">
                  <p:embed/>
                  <p:pic>
                    <p:nvPicPr>
                      <p:cNvPr id="229381" name="Object 5">
                        <a:extLst>
                          <a:ext uri="{FF2B5EF4-FFF2-40B4-BE49-F238E27FC236}">
                            <a16:creationId xmlns:a16="http://schemas.microsoft.com/office/drawing/2014/main" id="{5CEB3301-F957-4D18-83EC-E9E9533C6C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048000"/>
                        <a:ext cx="7315200" cy="446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2" name="Object 6">
            <a:extLst>
              <a:ext uri="{FF2B5EF4-FFF2-40B4-BE49-F238E27FC236}">
                <a16:creationId xmlns:a16="http://schemas.microsoft.com/office/drawing/2014/main" id="{C7F7BD69-118D-49D5-9488-79B2F2825FBA}"/>
              </a:ext>
            </a:extLst>
          </p:cNvPr>
          <p:cNvGraphicFramePr>
            <a:graphicFrameLocks noChangeAspect="1"/>
          </p:cNvGraphicFramePr>
          <p:nvPr/>
        </p:nvGraphicFramePr>
        <p:xfrm>
          <a:off x="1295400" y="4419600"/>
          <a:ext cx="7239000" cy="862013"/>
        </p:xfrm>
        <a:graphic>
          <a:graphicData uri="http://schemas.openxmlformats.org/presentationml/2006/ole">
            <mc:AlternateContent xmlns:mc="http://schemas.openxmlformats.org/markup-compatibility/2006">
              <mc:Choice xmlns:v="urn:schemas-microsoft-com:vml" Requires="v">
                <p:oleObj spid="_x0000_s93199" name="Equation" r:id="rId5" imgW="3429000" imgH="431640" progId="Equation.3">
                  <p:embed/>
                </p:oleObj>
              </mc:Choice>
              <mc:Fallback>
                <p:oleObj name="Equation" r:id="rId5" imgW="3429000" imgH="431640" progId="Equation.3">
                  <p:embed/>
                  <p:pic>
                    <p:nvPicPr>
                      <p:cNvPr id="229382" name="Object 6">
                        <a:extLst>
                          <a:ext uri="{FF2B5EF4-FFF2-40B4-BE49-F238E27FC236}">
                            <a16:creationId xmlns:a16="http://schemas.microsoft.com/office/drawing/2014/main" id="{C7F7BD69-118D-49D5-9488-79B2F2825F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4419600"/>
                        <a:ext cx="7239000" cy="862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3" name="Object 7">
            <a:extLst>
              <a:ext uri="{FF2B5EF4-FFF2-40B4-BE49-F238E27FC236}">
                <a16:creationId xmlns:a16="http://schemas.microsoft.com/office/drawing/2014/main" id="{B397E3BD-0B10-455B-AEC9-18B2629389ED}"/>
              </a:ext>
            </a:extLst>
          </p:cNvPr>
          <p:cNvGraphicFramePr>
            <a:graphicFrameLocks noChangeAspect="1"/>
          </p:cNvGraphicFramePr>
          <p:nvPr/>
        </p:nvGraphicFramePr>
        <p:xfrm>
          <a:off x="1371600" y="6248400"/>
          <a:ext cx="7086600" cy="449263"/>
        </p:xfrm>
        <a:graphic>
          <a:graphicData uri="http://schemas.openxmlformats.org/presentationml/2006/ole">
            <mc:AlternateContent xmlns:mc="http://schemas.openxmlformats.org/markup-compatibility/2006">
              <mc:Choice xmlns:v="urn:schemas-microsoft-com:vml" Requires="v">
                <p:oleObj spid="_x0000_s93200" name="Equation" r:id="rId7" imgW="3200400" imgH="203040" progId="Equation.3">
                  <p:embed/>
                </p:oleObj>
              </mc:Choice>
              <mc:Fallback>
                <p:oleObj name="Equation" r:id="rId7" imgW="3200400" imgH="203040" progId="Equation.3">
                  <p:embed/>
                  <p:pic>
                    <p:nvPicPr>
                      <p:cNvPr id="229383" name="Object 7">
                        <a:extLst>
                          <a:ext uri="{FF2B5EF4-FFF2-40B4-BE49-F238E27FC236}">
                            <a16:creationId xmlns:a16="http://schemas.microsoft.com/office/drawing/2014/main" id="{B397E3BD-0B10-455B-AEC9-18B2629389E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0" y="6248400"/>
                        <a:ext cx="7086600"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9384" name="Object 8">
            <a:extLst>
              <a:ext uri="{FF2B5EF4-FFF2-40B4-BE49-F238E27FC236}">
                <a16:creationId xmlns:a16="http://schemas.microsoft.com/office/drawing/2014/main" id="{5F4799BD-8ECF-4BE6-B6A1-D40A407BAAEF}"/>
              </a:ext>
            </a:extLst>
          </p:cNvPr>
          <p:cNvGraphicFramePr>
            <a:graphicFrameLocks noChangeAspect="1"/>
          </p:cNvGraphicFramePr>
          <p:nvPr/>
        </p:nvGraphicFramePr>
        <p:xfrm>
          <a:off x="685800" y="1600200"/>
          <a:ext cx="7543800" cy="476250"/>
        </p:xfrm>
        <a:graphic>
          <a:graphicData uri="http://schemas.openxmlformats.org/presentationml/2006/ole">
            <mc:AlternateContent xmlns:mc="http://schemas.openxmlformats.org/markup-compatibility/2006">
              <mc:Choice xmlns:v="urn:schemas-microsoft-com:vml" Requires="v">
                <p:oleObj spid="_x0000_s93201" name="Equation" r:id="rId9" imgW="3213000" imgH="203040" progId="Equation.3">
                  <p:embed/>
                </p:oleObj>
              </mc:Choice>
              <mc:Fallback>
                <p:oleObj name="Equation" r:id="rId9" imgW="3213000" imgH="203040" progId="Equation.3">
                  <p:embed/>
                  <p:pic>
                    <p:nvPicPr>
                      <p:cNvPr id="229384" name="Object 8">
                        <a:extLst>
                          <a:ext uri="{FF2B5EF4-FFF2-40B4-BE49-F238E27FC236}">
                            <a16:creationId xmlns:a16="http://schemas.microsoft.com/office/drawing/2014/main" id="{5F4799BD-8ECF-4BE6-B6A1-D40A407BAAE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 y="1600200"/>
                        <a:ext cx="75438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0096095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a:extLst>
              <a:ext uri="{FF2B5EF4-FFF2-40B4-BE49-F238E27FC236}">
                <a16:creationId xmlns:a16="http://schemas.microsoft.com/office/drawing/2014/main" id="{B6E19A46-4614-4328-AB32-C0EADCFDA24F}"/>
              </a:ext>
            </a:extLst>
          </p:cNvPr>
          <p:cNvSpPr>
            <a:spLocks noGrp="1" noChangeArrowheads="1"/>
          </p:cNvSpPr>
          <p:nvPr>
            <p:ph type="title"/>
          </p:nvPr>
        </p:nvSpPr>
        <p:spPr>
          <a:xfrm>
            <a:off x="609600" y="304800"/>
            <a:ext cx="7772400" cy="935038"/>
          </a:xfrm>
        </p:spPr>
        <p:txBody>
          <a:bodyPr/>
          <a:lstStyle/>
          <a:p>
            <a:r>
              <a:rPr lang="en-US" altLang="en-US"/>
              <a:t>Conversion to clause form</a:t>
            </a:r>
          </a:p>
        </p:txBody>
      </p:sp>
      <p:sp>
        <p:nvSpPr>
          <p:cNvPr id="187395" name="Rectangle 3" descr="Rectangle: Click to edit Master text styles&#10;Second level&#10;Third level&#10;Fourth level&#10;Fifth level">
            <a:extLst>
              <a:ext uri="{FF2B5EF4-FFF2-40B4-BE49-F238E27FC236}">
                <a16:creationId xmlns:a16="http://schemas.microsoft.com/office/drawing/2014/main" id="{468C489E-92F2-41D8-8AD6-E34EF5FA5811}"/>
              </a:ext>
            </a:extLst>
          </p:cNvPr>
          <p:cNvSpPr>
            <a:spLocks noGrp="1" noChangeArrowheads="1"/>
          </p:cNvSpPr>
          <p:nvPr>
            <p:ph type="body" idx="1"/>
          </p:nvPr>
        </p:nvSpPr>
        <p:spPr>
          <a:xfrm>
            <a:off x="228600" y="2057400"/>
            <a:ext cx="8763000" cy="4191000"/>
          </a:xfrm>
        </p:spPr>
        <p:txBody>
          <a:bodyPr/>
          <a:lstStyle/>
          <a:p>
            <a:pPr marL="990600" lvl="1" indent="-533400">
              <a:buFont typeface="Wingdings" panose="05000000000000000000" pitchFamily="2" charset="2"/>
              <a:buAutoNum type="arabicPeriod" startAt="4"/>
            </a:pPr>
            <a:r>
              <a:rPr lang="en-US" altLang="en-US" sz="2400"/>
              <a:t>Eliminate existential quantifiers by skolemization</a:t>
            </a:r>
          </a:p>
          <a:p>
            <a:pPr marL="1371600" lvl="2" indent="-457200">
              <a:buClr>
                <a:schemeClr val="tx1"/>
              </a:buClr>
              <a:buFontTx/>
              <a:buChar char="•"/>
            </a:pPr>
            <a:r>
              <a:rPr lang="en-US" altLang="en-US" sz="2000"/>
              <a:t>The process of removing existential quantifiers.</a:t>
            </a:r>
          </a:p>
          <a:p>
            <a:pPr marL="1371600" lvl="2" indent="-457200">
              <a:buClr>
                <a:schemeClr val="tx1"/>
              </a:buClr>
              <a:buFontTx/>
              <a:buChar char="•"/>
            </a:pPr>
            <a:r>
              <a:rPr lang="en-US" altLang="en-US" sz="2000" i="1"/>
              <a:t>if unqualified existential quantifier, then replace by constant.</a:t>
            </a:r>
          </a:p>
          <a:p>
            <a:pPr marL="1371600" lvl="2" indent="-457200">
              <a:buClr>
                <a:schemeClr val="tx1"/>
              </a:buClr>
              <a:buFontTx/>
              <a:buChar char="•"/>
            </a:pPr>
            <a:r>
              <a:rPr lang="en-US" altLang="en-US" sz="2000" i="1"/>
              <a:t>if quantifier is within scope of universal quantifier, have to use </a:t>
            </a:r>
            <a:r>
              <a:rPr lang="en-US" altLang="en-US" sz="2000" b="1" i="1"/>
              <a:t>skolem</a:t>
            </a:r>
            <a:r>
              <a:rPr lang="en-US" altLang="en-US" sz="2000" i="1"/>
              <a:t> function, e.g., z = G(x)</a:t>
            </a:r>
          </a:p>
          <a:p>
            <a:pPr marL="990600" lvl="1" indent="-533400">
              <a:buFont typeface="Wingdings" panose="05000000000000000000" pitchFamily="2" charset="2"/>
              <a:buNone/>
            </a:pPr>
            <a:endParaRPr lang="en-US" altLang="en-US" sz="2400"/>
          </a:p>
        </p:txBody>
      </p:sp>
      <p:graphicFrame>
        <p:nvGraphicFramePr>
          <p:cNvPr id="187398" name="Object 6">
            <a:extLst>
              <a:ext uri="{FF2B5EF4-FFF2-40B4-BE49-F238E27FC236}">
                <a16:creationId xmlns:a16="http://schemas.microsoft.com/office/drawing/2014/main" id="{9CC00DB9-C6B1-4004-B04E-3D430D77C0A9}"/>
              </a:ext>
            </a:extLst>
          </p:cNvPr>
          <p:cNvGraphicFramePr>
            <a:graphicFrameLocks noChangeAspect="1"/>
          </p:cNvGraphicFramePr>
          <p:nvPr/>
        </p:nvGraphicFramePr>
        <p:xfrm>
          <a:off x="914400" y="3962400"/>
          <a:ext cx="7391400" cy="428625"/>
        </p:xfrm>
        <a:graphic>
          <a:graphicData uri="http://schemas.openxmlformats.org/presentationml/2006/ole">
            <mc:AlternateContent xmlns:mc="http://schemas.openxmlformats.org/markup-compatibility/2006">
              <mc:Choice xmlns:v="urn:schemas-microsoft-com:vml" Requires="v">
                <p:oleObj spid="_x0000_s94216" name="Equation" r:id="rId3" imgW="3492360" imgH="203040" progId="Equation.3">
                  <p:embed/>
                </p:oleObj>
              </mc:Choice>
              <mc:Fallback>
                <p:oleObj name="Equation" r:id="rId3" imgW="3492360" imgH="203040" progId="Equation.3">
                  <p:embed/>
                  <p:pic>
                    <p:nvPicPr>
                      <p:cNvPr id="187398" name="Object 6">
                        <a:extLst>
                          <a:ext uri="{FF2B5EF4-FFF2-40B4-BE49-F238E27FC236}">
                            <a16:creationId xmlns:a16="http://schemas.microsoft.com/office/drawing/2014/main" id="{9CC00DB9-C6B1-4004-B04E-3D430D77C0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962400"/>
                        <a:ext cx="739140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401" name="Object 9">
            <a:extLst>
              <a:ext uri="{FF2B5EF4-FFF2-40B4-BE49-F238E27FC236}">
                <a16:creationId xmlns:a16="http://schemas.microsoft.com/office/drawing/2014/main" id="{A120408D-2308-42AA-9AEC-A58CA81EB573}"/>
              </a:ext>
            </a:extLst>
          </p:cNvPr>
          <p:cNvGraphicFramePr>
            <a:graphicFrameLocks noChangeAspect="1"/>
          </p:cNvGraphicFramePr>
          <p:nvPr/>
        </p:nvGraphicFramePr>
        <p:xfrm>
          <a:off x="914400" y="1600200"/>
          <a:ext cx="7086600" cy="449263"/>
        </p:xfrm>
        <a:graphic>
          <a:graphicData uri="http://schemas.openxmlformats.org/presentationml/2006/ole">
            <mc:AlternateContent xmlns:mc="http://schemas.openxmlformats.org/markup-compatibility/2006">
              <mc:Choice xmlns:v="urn:schemas-microsoft-com:vml" Requires="v">
                <p:oleObj spid="_x0000_s94217" name="Equation" r:id="rId5" imgW="3200400" imgH="203040" progId="Equation.3">
                  <p:embed/>
                </p:oleObj>
              </mc:Choice>
              <mc:Fallback>
                <p:oleObj name="Equation" r:id="rId5" imgW="3200400" imgH="203040" progId="Equation.3">
                  <p:embed/>
                  <p:pic>
                    <p:nvPicPr>
                      <p:cNvPr id="187401" name="Object 9">
                        <a:extLst>
                          <a:ext uri="{FF2B5EF4-FFF2-40B4-BE49-F238E27FC236}">
                            <a16:creationId xmlns:a16="http://schemas.microsoft.com/office/drawing/2014/main" id="{A120408D-2308-42AA-9AEC-A58CA81EB5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1600200"/>
                        <a:ext cx="7086600"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148616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5133F134-F02E-4A85-89FE-FEEBB39CAA21}"/>
              </a:ext>
            </a:extLst>
          </p:cNvPr>
          <p:cNvSpPr>
            <a:spLocks noGrp="1" noChangeArrowheads="1"/>
          </p:cNvSpPr>
          <p:nvPr>
            <p:ph type="title"/>
          </p:nvPr>
        </p:nvSpPr>
        <p:spPr/>
        <p:txBody>
          <a:bodyPr/>
          <a:lstStyle/>
          <a:p>
            <a:r>
              <a:rPr lang="en-US" altLang="en-US"/>
              <a:t>Conversion to Clause Form</a:t>
            </a:r>
          </a:p>
        </p:txBody>
      </p:sp>
      <p:sp>
        <p:nvSpPr>
          <p:cNvPr id="230403" name="Rectangle 3" descr="Rectangle: Click to edit Master text styles&#10;Second level&#10;Third level&#10;Fourth level&#10;Fifth level">
            <a:extLst>
              <a:ext uri="{FF2B5EF4-FFF2-40B4-BE49-F238E27FC236}">
                <a16:creationId xmlns:a16="http://schemas.microsoft.com/office/drawing/2014/main" id="{0B289BB2-7F14-4EAA-BD65-83C40EA08EA2}"/>
              </a:ext>
            </a:extLst>
          </p:cNvPr>
          <p:cNvSpPr>
            <a:spLocks noGrp="1" noChangeArrowheads="1"/>
          </p:cNvSpPr>
          <p:nvPr>
            <p:ph type="body" idx="1"/>
          </p:nvPr>
        </p:nvSpPr>
        <p:spPr>
          <a:xfrm>
            <a:off x="457200" y="1951038"/>
            <a:ext cx="8229600" cy="4525962"/>
          </a:xfrm>
        </p:spPr>
        <p:txBody>
          <a:bodyPr/>
          <a:lstStyle/>
          <a:p>
            <a:pPr marL="990600" lvl="1" indent="-533400">
              <a:buFont typeface="Wingdings" panose="05000000000000000000" pitchFamily="2" charset="2"/>
              <a:buAutoNum type="arabicPeriod" startAt="5"/>
            </a:pPr>
            <a:r>
              <a:rPr lang="en-US" altLang="en-US" sz="2400"/>
              <a:t>Convert to prenex form – move all universal quantifiers out</a:t>
            </a:r>
          </a:p>
          <a:p>
            <a:pPr marL="990600" lvl="1" indent="-533400">
              <a:buFont typeface="Wingdings" panose="05000000000000000000" pitchFamily="2" charset="2"/>
              <a:buAutoNum type="arabicPeriod" startAt="5"/>
            </a:pPr>
            <a:endParaRPr lang="en-US" altLang="en-US" sz="2400"/>
          </a:p>
          <a:p>
            <a:pPr marL="990600" lvl="1" indent="-533400">
              <a:buFont typeface="Wingdings" panose="05000000000000000000" pitchFamily="2" charset="2"/>
              <a:buAutoNum type="arabicPeriod" startAt="5"/>
            </a:pPr>
            <a:endParaRPr lang="en-US" altLang="en-US" sz="2400"/>
          </a:p>
          <a:p>
            <a:pPr marL="990600" lvl="1" indent="-533400">
              <a:buFont typeface="Wingdings" panose="05000000000000000000" pitchFamily="2" charset="2"/>
              <a:buAutoNum type="arabicPeriod" startAt="5"/>
            </a:pPr>
            <a:endParaRPr lang="en-US" altLang="en-US" sz="1800"/>
          </a:p>
          <a:p>
            <a:pPr marL="990600" lvl="1" indent="-533400">
              <a:buFont typeface="Wingdings" panose="05000000000000000000" pitchFamily="2" charset="2"/>
              <a:buAutoNum type="arabicPeriod" startAt="5"/>
            </a:pPr>
            <a:r>
              <a:rPr lang="en-US" altLang="en-US" sz="2400"/>
              <a:t>Put expression in CNF (distribute </a:t>
            </a:r>
            <a:r>
              <a:rPr lang="en-US" altLang="en-US">
                <a:sym typeface="Symbol" panose="05050102010706020507" pitchFamily="18" charset="2"/>
              </a:rPr>
              <a:t></a:t>
            </a:r>
            <a:r>
              <a:rPr lang="en-US" altLang="en-US" sz="2400">
                <a:sym typeface="Symbol" panose="05050102010706020507" pitchFamily="18" charset="2"/>
              </a:rPr>
              <a:t> over </a:t>
            </a:r>
            <a:r>
              <a:rPr lang="en-US" altLang="en-US">
                <a:sym typeface="Symbol" panose="05050102010706020507" pitchFamily="18" charset="2"/>
              </a:rPr>
              <a:t>)</a:t>
            </a:r>
          </a:p>
          <a:p>
            <a:pPr marL="990600" lvl="1" indent="-533400">
              <a:buFont typeface="Wingdings" panose="05000000000000000000" pitchFamily="2" charset="2"/>
              <a:buAutoNum type="arabicPeriod" startAt="5"/>
            </a:pPr>
            <a:endParaRPr lang="en-US" altLang="en-US">
              <a:sym typeface="Symbol" panose="05050102010706020507" pitchFamily="18" charset="2"/>
            </a:endParaRPr>
          </a:p>
          <a:p>
            <a:pPr marL="990600" lvl="1" indent="-533400">
              <a:buFont typeface="Wingdings" panose="05000000000000000000" pitchFamily="2" charset="2"/>
              <a:buAutoNum type="arabicPeriod" startAt="5"/>
            </a:pPr>
            <a:endParaRPr lang="en-US" altLang="en-US" sz="1800">
              <a:sym typeface="Symbol" panose="05050102010706020507" pitchFamily="18" charset="2"/>
            </a:endParaRPr>
          </a:p>
          <a:p>
            <a:pPr marL="990600" lvl="1" indent="-533400">
              <a:buFont typeface="Wingdings" panose="05000000000000000000" pitchFamily="2" charset="2"/>
              <a:buAutoNum type="arabicPeriod" startAt="5"/>
            </a:pPr>
            <a:r>
              <a:rPr lang="en-US" altLang="en-US" sz="2400"/>
              <a:t>Eliminate universal  quantifiers</a:t>
            </a:r>
          </a:p>
          <a:p>
            <a:pPr marL="990600" lvl="1" indent="-533400">
              <a:buFont typeface="Wingdings" panose="05000000000000000000" pitchFamily="2" charset="2"/>
              <a:buAutoNum type="arabicPeriod" startAt="5"/>
            </a:pPr>
            <a:endParaRPr lang="en-US" altLang="en-US"/>
          </a:p>
          <a:p>
            <a:pPr marL="990600" lvl="1" indent="-533400">
              <a:buFont typeface="Wingdings" panose="05000000000000000000" pitchFamily="2" charset="2"/>
              <a:buAutoNum type="arabicPeriod" startAt="5"/>
            </a:pPr>
            <a:endParaRPr lang="en-US" altLang="en-US" sz="2400"/>
          </a:p>
          <a:p>
            <a:pPr marL="609600" indent="-609600"/>
            <a:endParaRPr lang="en-US" altLang="en-US"/>
          </a:p>
        </p:txBody>
      </p:sp>
      <p:graphicFrame>
        <p:nvGraphicFramePr>
          <p:cNvPr id="230404" name="Object 4">
            <a:extLst>
              <a:ext uri="{FF2B5EF4-FFF2-40B4-BE49-F238E27FC236}">
                <a16:creationId xmlns:a16="http://schemas.microsoft.com/office/drawing/2014/main" id="{DD9A982D-E9F2-464E-8985-E124930C2167}"/>
              </a:ext>
            </a:extLst>
          </p:cNvPr>
          <p:cNvGraphicFramePr>
            <a:graphicFrameLocks noChangeAspect="1"/>
          </p:cNvGraphicFramePr>
          <p:nvPr/>
        </p:nvGraphicFramePr>
        <p:xfrm>
          <a:off x="990600" y="1555750"/>
          <a:ext cx="7315200" cy="425450"/>
        </p:xfrm>
        <a:graphic>
          <a:graphicData uri="http://schemas.openxmlformats.org/presentationml/2006/ole">
            <mc:AlternateContent xmlns:mc="http://schemas.openxmlformats.org/markup-compatibility/2006">
              <mc:Choice xmlns:v="urn:schemas-microsoft-com:vml" Requires="v">
                <p:oleObj spid="_x0000_s95246" name="Equation" r:id="rId3" imgW="3492360" imgH="203040" progId="Equation.3">
                  <p:embed/>
                </p:oleObj>
              </mc:Choice>
              <mc:Fallback>
                <p:oleObj name="Equation" r:id="rId3" imgW="3492360" imgH="203040" progId="Equation.3">
                  <p:embed/>
                  <p:pic>
                    <p:nvPicPr>
                      <p:cNvPr id="230404" name="Object 4">
                        <a:extLst>
                          <a:ext uri="{FF2B5EF4-FFF2-40B4-BE49-F238E27FC236}">
                            <a16:creationId xmlns:a16="http://schemas.microsoft.com/office/drawing/2014/main" id="{DD9A982D-E9F2-464E-8985-E124930C21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555750"/>
                        <a:ext cx="731520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0405" name="Object 5">
            <a:extLst>
              <a:ext uri="{FF2B5EF4-FFF2-40B4-BE49-F238E27FC236}">
                <a16:creationId xmlns:a16="http://schemas.microsoft.com/office/drawing/2014/main" id="{B8D74151-C7D6-4AAE-8246-94310FE6E728}"/>
              </a:ext>
            </a:extLst>
          </p:cNvPr>
          <p:cNvGraphicFramePr>
            <a:graphicFrameLocks noChangeAspect="1"/>
          </p:cNvGraphicFramePr>
          <p:nvPr/>
        </p:nvGraphicFramePr>
        <p:xfrm>
          <a:off x="1036638" y="3232150"/>
          <a:ext cx="7529512" cy="447675"/>
        </p:xfrm>
        <a:graphic>
          <a:graphicData uri="http://schemas.openxmlformats.org/presentationml/2006/ole">
            <mc:AlternateContent xmlns:mc="http://schemas.openxmlformats.org/markup-compatibility/2006">
              <mc:Choice xmlns:v="urn:schemas-microsoft-com:vml" Requires="v">
                <p:oleObj spid="_x0000_s95247" name="Equation" r:id="rId5" imgW="3416040" imgH="203040" progId="Equation.3">
                  <p:embed/>
                </p:oleObj>
              </mc:Choice>
              <mc:Fallback>
                <p:oleObj name="Equation" r:id="rId5" imgW="3416040" imgH="203040" progId="Equation.3">
                  <p:embed/>
                  <p:pic>
                    <p:nvPicPr>
                      <p:cNvPr id="230405" name="Object 5">
                        <a:extLst>
                          <a:ext uri="{FF2B5EF4-FFF2-40B4-BE49-F238E27FC236}">
                            <a16:creationId xmlns:a16="http://schemas.microsoft.com/office/drawing/2014/main" id="{B8D74151-C7D6-4AAE-8246-94310FE6E7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6638" y="3232150"/>
                        <a:ext cx="7529512"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0407" name="Object 7">
            <a:extLst>
              <a:ext uri="{FF2B5EF4-FFF2-40B4-BE49-F238E27FC236}">
                <a16:creationId xmlns:a16="http://schemas.microsoft.com/office/drawing/2014/main" id="{10AA9582-88B7-4968-AFCA-38548FC3F83F}"/>
              </a:ext>
            </a:extLst>
          </p:cNvPr>
          <p:cNvGraphicFramePr>
            <a:graphicFrameLocks noChangeAspect="1"/>
          </p:cNvGraphicFramePr>
          <p:nvPr/>
        </p:nvGraphicFramePr>
        <p:xfrm>
          <a:off x="152400" y="4495800"/>
          <a:ext cx="8748713" cy="392113"/>
        </p:xfrm>
        <a:graphic>
          <a:graphicData uri="http://schemas.openxmlformats.org/presentationml/2006/ole">
            <mc:AlternateContent xmlns:mc="http://schemas.openxmlformats.org/markup-compatibility/2006">
              <mc:Choice xmlns:v="urn:schemas-microsoft-com:vml" Requires="v">
                <p:oleObj spid="_x0000_s95248" name="Equation" r:id="rId7" imgW="4520880" imgH="203040" progId="Equation.3">
                  <p:embed/>
                </p:oleObj>
              </mc:Choice>
              <mc:Fallback>
                <p:oleObj name="Equation" r:id="rId7" imgW="4520880" imgH="203040" progId="Equation.3">
                  <p:embed/>
                  <p:pic>
                    <p:nvPicPr>
                      <p:cNvPr id="230407" name="Object 7">
                        <a:extLst>
                          <a:ext uri="{FF2B5EF4-FFF2-40B4-BE49-F238E27FC236}">
                            <a16:creationId xmlns:a16="http://schemas.microsoft.com/office/drawing/2014/main" id="{10AA9582-88B7-4968-AFCA-38548FC3F83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4495800"/>
                        <a:ext cx="8748713"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0408" name="Object 8">
            <a:extLst>
              <a:ext uri="{FF2B5EF4-FFF2-40B4-BE49-F238E27FC236}">
                <a16:creationId xmlns:a16="http://schemas.microsoft.com/office/drawing/2014/main" id="{597B397D-8216-4882-BEFF-47A5939FD396}"/>
              </a:ext>
            </a:extLst>
          </p:cNvPr>
          <p:cNvGraphicFramePr>
            <a:graphicFrameLocks noChangeAspect="1"/>
          </p:cNvGraphicFramePr>
          <p:nvPr/>
        </p:nvGraphicFramePr>
        <p:xfrm>
          <a:off x="381000" y="5791200"/>
          <a:ext cx="8305800" cy="388938"/>
        </p:xfrm>
        <a:graphic>
          <a:graphicData uri="http://schemas.openxmlformats.org/presentationml/2006/ole">
            <mc:AlternateContent xmlns:mc="http://schemas.openxmlformats.org/markup-compatibility/2006">
              <mc:Choice xmlns:v="urn:schemas-microsoft-com:vml" Requires="v">
                <p:oleObj spid="_x0000_s95249" name="Equation" r:id="rId9" imgW="4330440" imgH="203040" progId="Equation.3">
                  <p:embed/>
                </p:oleObj>
              </mc:Choice>
              <mc:Fallback>
                <p:oleObj name="Equation" r:id="rId9" imgW="4330440" imgH="203040" progId="Equation.3">
                  <p:embed/>
                  <p:pic>
                    <p:nvPicPr>
                      <p:cNvPr id="230408" name="Object 8">
                        <a:extLst>
                          <a:ext uri="{FF2B5EF4-FFF2-40B4-BE49-F238E27FC236}">
                            <a16:creationId xmlns:a16="http://schemas.microsoft.com/office/drawing/2014/main" id="{597B397D-8216-4882-BEFF-47A5939FD3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5791200"/>
                        <a:ext cx="8305800"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255456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4BDA91EC-6DC7-4EAC-8D70-B55939FF1E05}"/>
              </a:ext>
            </a:extLst>
          </p:cNvPr>
          <p:cNvSpPr>
            <a:spLocks noGrp="1" noChangeArrowheads="1"/>
          </p:cNvSpPr>
          <p:nvPr>
            <p:ph type="title"/>
          </p:nvPr>
        </p:nvSpPr>
        <p:spPr>
          <a:xfrm>
            <a:off x="609600" y="304800"/>
            <a:ext cx="7772400" cy="935038"/>
          </a:xfrm>
        </p:spPr>
        <p:txBody>
          <a:bodyPr/>
          <a:lstStyle/>
          <a:p>
            <a:r>
              <a:rPr lang="en-US" altLang="en-US"/>
              <a:t>Conversion to clause form (2)</a:t>
            </a:r>
          </a:p>
        </p:txBody>
      </p:sp>
      <p:sp>
        <p:nvSpPr>
          <p:cNvPr id="188419" name="Rectangle 3" descr="Rectangle: Click to edit Master text styles&#10;Second level&#10;Third level&#10;Fourth level&#10;Fifth level">
            <a:extLst>
              <a:ext uri="{FF2B5EF4-FFF2-40B4-BE49-F238E27FC236}">
                <a16:creationId xmlns:a16="http://schemas.microsoft.com/office/drawing/2014/main" id="{FA76322C-60CC-401F-950E-2F847584CF85}"/>
              </a:ext>
            </a:extLst>
          </p:cNvPr>
          <p:cNvSpPr>
            <a:spLocks noGrp="1" noChangeArrowheads="1"/>
          </p:cNvSpPr>
          <p:nvPr>
            <p:ph type="body" idx="1"/>
          </p:nvPr>
        </p:nvSpPr>
        <p:spPr>
          <a:xfrm>
            <a:off x="228600" y="1905000"/>
            <a:ext cx="8763000" cy="4191000"/>
          </a:xfrm>
        </p:spPr>
        <p:txBody>
          <a:bodyPr/>
          <a:lstStyle/>
          <a:p>
            <a:pPr marL="990600" lvl="1" indent="-533400">
              <a:buFont typeface="Wingdings" panose="05000000000000000000" pitchFamily="2" charset="2"/>
              <a:buAutoNum type="arabicPeriod" startAt="8"/>
            </a:pPr>
            <a:r>
              <a:rPr lang="en-US" altLang="en-US" sz="2400"/>
              <a:t>Write out as separate clauses (i.e., eliminate </a:t>
            </a:r>
            <a:r>
              <a:rPr lang="en-US" altLang="en-US">
                <a:sym typeface="Symbol" panose="05050102010706020507" pitchFamily="18" charset="2"/>
              </a:rPr>
              <a:t> </a:t>
            </a:r>
            <a:r>
              <a:rPr lang="en-US" altLang="en-US" sz="2400">
                <a:sym typeface="Symbol" panose="05050102010706020507" pitchFamily="18" charset="2"/>
              </a:rPr>
              <a:t>symbols)</a:t>
            </a:r>
          </a:p>
          <a:p>
            <a:pPr marL="990600" lvl="1" indent="-533400">
              <a:buFont typeface="Wingdings" panose="05000000000000000000" pitchFamily="2" charset="2"/>
              <a:buNone/>
            </a:pPr>
            <a:r>
              <a:rPr lang="en-US" altLang="en-US" sz="2400">
                <a:sym typeface="Symbol" panose="05050102010706020507" pitchFamily="18" charset="2"/>
              </a:rPr>
              <a:t>	 </a:t>
            </a:r>
            <a:r>
              <a:rPr lang="en-US" altLang="en-US" sz="2400"/>
              <a:t>In this example, there are two clauses:</a:t>
            </a:r>
          </a:p>
          <a:p>
            <a:pPr marL="990600" lvl="1" indent="-533400">
              <a:buFont typeface="Wingdings" panose="05000000000000000000" pitchFamily="2" charset="2"/>
              <a:buNone/>
            </a:pPr>
            <a:endParaRPr lang="en-US" altLang="en-US" sz="2400">
              <a:sym typeface="Symbol" panose="05050102010706020507" pitchFamily="18" charset="2"/>
            </a:endParaRPr>
          </a:p>
          <a:p>
            <a:pPr marL="990600" lvl="1" indent="-533400">
              <a:buFont typeface="Wingdings" panose="05000000000000000000" pitchFamily="2" charset="2"/>
              <a:buNone/>
            </a:pPr>
            <a:endParaRPr lang="en-US" altLang="en-US" sz="2400">
              <a:sym typeface="Symbol" panose="05050102010706020507" pitchFamily="18" charset="2"/>
            </a:endParaRPr>
          </a:p>
          <a:p>
            <a:pPr marL="990600" lvl="1" indent="-533400">
              <a:buFont typeface="Wingdings" panose="05000000000000000000" pitchFamily="2" charset="2"/>
              <a:buNone/>
            </a:pPr>
            <a:endParaRPr lang="en-US" altLang="en-US" sz="2400">
              <a:sym typeface="Symbol" panose="05050102010706020507" pitchFamily="18" charset="2"/>
            </a:endParaRPr>
          </a:p>
          <a:p>
            <a:pPr marL="990600" lvl="1" indent="-533400">
              <a:buFont typeface="Wingdings" panose="05000000000000000000" pitchFamily="2" charset="2"/>
              <a:buAutoNum type="arabicPeriod" startAt="9"/>
            </a:pPr>
            <a:r>
              <a:rPr lang="en-US" altLang="en-US" sz="2400">
                <a:sym typeface="Symbol" panose="05050102010706020507" pitchFamily="18" charset="2"/>
              </a:rPr>
              <a:t>Rename variables</a:t>
            </a:r>
          </a:p>
          <a:p>
            <a:pPr marL="990600" lvl="1" indent="-533400">
              <a:buFont typeface="Wingdings" panose="05000000000000000000" pitchFamily="2" charset="2"/>
              <a:buNone/>
            </a:pPr>
            <a:r>
              <a:rPr lang="en-US" altLang="en-US" sz="2400"/>
              <a:t>	</a:t>
            </a:r>
          </a:p>
          <a:p>
            <a:pPr marL="990600" lvl="1" indent="-533400">
              <a:buFont typeface="Wingdings" panose="05000000000000000000" pitchFamily="2" charset="2"/>
              <a:buNone/>
            </a:pPr>
            <a:r>
              <a:rPr lang="en-US" altLang="en-US" sz="2400"/>
              <a:t>	</a:t>
            </a:r>
          </a:p>
        </p:txBody>
      </p:sp>
      <p:graphicFrame>
        <p:nvGraphicFramePr>
          <p:cNvPr id="188423" name="Object 7">
            <a:extLst>
              <a:ext uri="{FF2B5EF4-FFF2-40B4-BE49-F238E27FC236}">
                <a16:creationId xmlns:a16="http://schemas.microsoft.com/office/drawing/2014/main" id="{6222BDF8-CA90-4476-8E7A-7B3BF94AC80A}"/>
              </a:ext>
            </a:extLst>
          </p:cNvPr>
          <p:cNvGraphicFramePr>
            <a:graphicFrameLocks noChangeAspect="1"/>
          </p:cNvGraphicFramePr>
          <p:nvPr/>
        </p:nvGraphicFramePr>
        <p:xfrm>
          <a:off x="1828800" y="3276600"/>
          <a:ext cx="4648200" cy="882650"/>
        </p:xfrm>
        <a:graphic>
          <a:graphicData uri="http://schemas.openxmlformats.org/presentationml/2006/ole">
            <mc:AlternateContent xmlns:mc="http://schemas.openxmlformats.org/markup-compatibility/2006">
              <mc:Choice xmlns:v="urn:schemas-microsoft-com:vml" Requires="v">
                <p:oleObj spid="_x0000_s96267" name="Equation" r:id="rId3" imgW="2349360" imgH="431640" progId="Equation.3">
                  <p:embed/>
                </p:oleObj>
              </mc:Choice>
              <mc:Fallback>
                <p:oleObj name="Equation" r:id="rId3" imgW="2349360" imgH="431640" progId="Equation.3">
                  <p:embed/>
                  <p:pic>
                    <p:nvPicPr>
                      <p:cNvPr id="188423" name="Object 7">
                        <a:extLst>
                          <a:ext uri="{FF2B5EF4-FFF2-40B4-BE49-F238E27FC236}">
                            <a16:creationId xmlns:a16="http://schemas.microsoft.com/office/drawing/2014/main" id="{6222BDF8-CA90-4476-8E7A-7B3BF94AC8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3276600"/>
                        <a:ext cx="4648200"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8424" name="Object 8">
            <a:extLst>
              <a:ext uri="{FF2B5EF4-FFF2-40B4-BE49-F238E27FC236}">
                <a16:creationId xmlns:a16="http://schemas.microsoft.com/office/drawing/2014/main" id="{7915D807-8E7C-490A-A615-771A322FB1F7}"/>
              </a:ext>
            </a:extLst>
          </p:cNvPr>
          <p:cNvGraphicFramePr>
            <a:graphicFrameLocks noChangeAspect="1"/>
          </p:cNvGraphicFramePr>
          <p:nvPr/>
        </p:nvGraphicFramePr>
        <p:xfrm>
          <a:off x="1905000" y="5029200"/>
          <a:ext cx="5334000" cy="976313"/>
        </p:xfrm>
        <a:graphic>
          <a:graphicData uri="http://schemas.openxmlformats.org/presentationml/2006/ole">
            <mc:AlternateContent xmlns:mc="http://schemas.openxmlformats.org/markup-compatibility/2006">
              <mc:Choice xmlns:v="urn:schemas-microsoft-com:vml" Requires="v">
                <p:oleObj spid="_x0000_s96268" name="Equation" r:id="rId5" imgW="2577960" imgH="457200" progId="Equation.3">
                  <p:embed/>
                </p:oleObj>
              </mc:Choice>
              <mc:Fallback>
                <p:oleObj name="Equation" r:id="rId5" imgW="2577960" imgH="457200" progId="Equation.3">
                  <p:embed/>
                  <p:pic>
                    <p:nvPicPr>
                      <p:cNvPr id="188424" name="Object 8">
                        <a:extLst>
                          <a:ext uri="{FF2B5EF4-FFF2-40B4-BE49-F238E27FC236}">
                            <a16:creationId xmlns:a16="http://schemas.microsoft.com/office/drawing/2014/main" id="{7915D807-8E7C-490A-A615-771A322FB1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5029200"/>
                        <a:ext cx="5334000" cy="976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8425" name="Object 9">
            <a:extLst>
              <a:ext uri="{FF2B5EF4-FFF2-40B4-BE49-F238E27FC236}">
                <a16:creationId xmlns:a16="http://schemas.microsoft.com/office/drawing/2014/main" id="{ECC143BF-FBD3-4DE0-B7E4-16E22B7F7EA0}"/>
              </a:ext>
            </a:extLst>
          </p:cNvPr>
          <p:cNvGraphicFramePr>
            <a:graphicFrameLocks noChangeAspect="1"/>
          </p:cNvGraphicFramePr>
          <p:nvPr/>
        </p:nvGraphicFramePr>
        <p:xfrm>
          <a:off x="609600" y="1592263"/>
          <a:ext cx="8305800" cy="388937"/>
        </p:xfrm>
        <a:graphic>
          <a:graphicData uri="http://schemas.openxmlformats.org/presentationml/2006/ole">
            <mc:AlternateContent xmlns:mc="http://schemas.openxmlformats.org/markup-compatibility/2006">
              <mc:Choice xmlns:v="urn:schemas-microsoft-com:vml" Requires="v">
                <p:oleObj spid="_x0000_s96269" name="Equation" r:id="rId7" imgW="4330440" imgH="203040" progId="Equation.3">
                  <p:embed/>
                </p:oleObj>
              </mc:Choice>
              <mc:Fallback>
                <p:oleObj name="Equation" r:id="rId7" imgW="4330440" imgH="203040" progId="Equation.3">
                  <p:embed/>
                  <p:pic>
                    <p:nvPicPr>
                      <p:cNvPr id="188425" name="Object 9">
                        <a:extLst>
                          <a:ext uri="{FF2B5EF4-FFF2-40B4-BE49-F238E27FC236}">
                            <a16:creationId xmlns:a16="http://schemas.microsoft.com/office/drawing/2014/main" id="{ECC143BF-FBD3-4DE0-B7E4-16E22B7F7EA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1592263"/>
                        <a:ext cx="8305800" cy="388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292139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5CAFEAB9-F67D-44D6-A252-4DE85ACAB050}"/>
              </a:ext>
            </a:extLst>
          </p:cNvPr>
          <p:cNvSpPr>
            <a:spLocks noGrp="1" noChangeArrowheads="1"/>
          </p:cNvSpPr>
          <p:nvPr>
            <p:ph type="title"/>
          </p:nvPr>
        </p:nvSpPr>
        <p:spPr>
          <a:xfrm>
            <a:off x="609600" y="304800"/>
            <a:ext cx="7772400" cy="1011238"/>
          </a:xfrm>
        </p:spPr>
        <p:txBody>
          <a:bodyPr/>
          <a:lstStyle/>
          <a:p>
            <a:r>
              <a:rPr lang="en-US" altLang="en-US" sz="4000"/>
              <a:t>Conversion to Clause Form (HW)</a:t>
            </a:r>
          </a:p>
        </p:txBody>
      </p:sp>
      <p:sp>
        <p:nvSpPr>
          <p:cNvPr id="189443" name="Text Box 3">
            <a:extLst>
              <a:ext uri="{FF2B5EF4-FFF2-40B4-BE49-F238E27FC236}">
                <a16:creationId xmlns:a16="http://schemas.microsoft.com/office/drawing/2014/main" id="{EE26CCA6-A384-4390-A215-73F6E60A8CF7}"/>
              </a:ext>
            </a:extLst>
          </p:cNvPr>
          <p:cNvSpPr txBox="1">
            <a:spLocks noChangeArrowheads="1"/>
          </p:cNvSpPr>
          <p:nvPr/>
        </p:nvSpPr>
        <p:spPr bwMode="auto">
          <a:xfrm>
            <a:off x="1355725" y="1946275"/>
            <a:ext cx="3608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Work through this example:</a:t>
            </a:r>
          </a:p>
        </p:txBody>
      </p:sp>
      <p:graphicFrame>
        <p:nvGraphicFramePr>
          <p:cNvPr id="189444" name="Object 4">
            <a:extLst>
              <a:ext uri="{FF2B5EF4-FFF2-40B4-BE49-F238E27FC236}">
                <a16:creationId xmlns:a16="http://schemas.microsoft.com/office/drawing/2014/main" id="{2D3586A7-1BED-4791-8E75-BBE7268E01F1}"/>
              </a:ext>
            </a:extLst>
          </p:cNvPr>
          <p:cNvGraphicFramePr>
            <a:graphicFrameLocks noChangeAspect="1"/>
          </p:cNvGraphicFramePr>
          <p:nvPr/>
        </p:nvGraphicFramePr>
        <p:xfrm>
          <a:off x="241300" y="2641600"/>
          <a:ext cx="8686800" cy="481013"/>
        </p:xfrm>
        <a:graphic>
          <a:graphicData uri="http://schemas.openxmlformats.org/presentationml/2006/ole">
            <mc:AlternateContent xmlns:mc="http://schemas.openxmlformats.org/markup-compatibility/2006">
              <mc:Choice xmlns:v="urn:schemas-microsoft-com:vml" Requires="v">
                <p:oleObj spid="_x0000_s97288" name="Equation" r:id="rId3" imgW="3670200" imgH="203040" progId="Equation.3">
                  <p:embed/>
                </p:oleObj>
              </mc:Choice>
              <mc:Fallback>
                <p:oleObj name="Equation" r:id="rId3" imgW="3670200" imgH="203040" progId="Equation.3">
                  <p:embed/>
                  <p:pic>
                    <p:nvPicPr>
                      <p:cNvPr id="189444" name="Object 4">
                        <a:extLst>
                          <a:ext uri="{FF2B5EF4-FFF2-40B4-BE49-F238E27FC236}">
                            <a16:creationId xmlns:a16="http://schemas.microsoft.com/office/drawing/2014/main" id="{2D3586A7-1BED-4791-8E75-BBE7268E01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00" y="2641600"/>
                        <a:ext cx="8686800"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9445" name="Text Box 5">
            <a:extLst>
              <a:ext uri="{FF2B5EF4-FFF2-40B4-BE49-F238E27FC236}">
                <a16:creationId xmlns:a16="http://schemas.microsoft.com/office/drawing/2014/main" id="{FD5FF9A1-37A4-401A-A020-9C72BF72ED8F}"/>
              </a:ext>
            </a:extLst>
          </p:cNvPr>
          <p:cNvSpPr txBox="1">
            <a:spLocks noChangeArrowheads="1"/>
          </p:cNvSpPr>
          <p:nvPr/>
        </p:nvSpPr>
        <p:spPr bwMode="auto">
          <a:xfrm>
            <a:off x="1774825" y="3802063"/>
            <a:ext cx="5159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Times New Roman" panose="02020603050405020304" pitchFamily="18" charset="0"/>
              </a:rPr>
              <a:t>Solution: 3 clauses</a:t>
            </a:r>
          </a:p>
        </p:txBody>
      </p:sp>
      <p:graphicFrame>
        <p:nvGraphicFramePr>
          <p:cNvPr id="189446" name="Object 6">
            <a:extLst>
              <a:ext uri="{FF2B5EF4-FFF2-40B4-BE49-F238E27FC236}">
                <a16:creationId xmlns:a16="http://schemas.microsoft.com/office/drawing/2014/main" id="{7957D75E-618E-43BA-8734-23DAAB78B565}"/>
              </a:ext>
            </a:extLst>
          </p:cNvPr>
          <p:cNvGraphicFramePr>
            <a:graphicFrameLocks noChangeAspect="1"/>
          </p:cNvGraphicFramePr>
          <p:nvPr/>
        </p:nvGraphicFramePr>
        <p:xfrm>
          <a:off x="2139950" y="4495800"/>
          <a:ext cx="4408488" cy="1508125"/>
        </p:xfrm>
        <a:graphic>
          <a:graphicData uri="http://schemas.openxmlformats.org/presentationml/2006/ole">
            <mc:AlternateContent xmlns:mc="http://schemas.openxmlformats.org/markup-compatibility/2006">
              <mc:Choice xmlns:v="urn:schemas-microsoft-com:vml" Requires="v">
                <p:oleObj spid="_x0000_s97289" name="Equation" r:id="rId5" imgW="2006280" imgH="685800" progId="Equation.3">
                  <p:embed/>
                </p:oleObj>
              </mc:Choice>
              <mc:Fallback>
                <p:oleObj name="Equation" r:id="rId5" imgW="2006280" imgH="685800" progId="Equation.3">
                  <p:embed/>
                  <p:pic>
                    <p:nvPicPr>
                      <p:cNvPr id="189446" name="Object 6">
                        <a:extLst>
                          <a:ext uri="{FF2B5EF4-FFF2-40B4-BE49-F238E27FC236}">
                            <a16:creationId xmlns:a16="http://schemas.microsoft.com/office/drawing/2014/main" id="{7957D75E-618E-43BA-8734-23DAAB78B5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9950" y="4495800"/>
                        <a:ext cx="4408488" cy="1508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791350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E81B9CAF-FEF9-4016-ABE6-CBCF8503E678}"/>
              </a:ext>
            </a:extLst>
          </p:cNvPr>
          <p:cNvSpPr>
            <a:spLocks noGrp="1" noChangeArrowheads="1"/>
          </p:cNvSpPr>
          <p:nvPr>
            <p:ph type="title"/>
          </p:nvPr>
        </p:nvSpPr>
        <p:spPr>
          <a:xfrm>
            <a:off x="609600" y="588963"/>
            <a:ext cx="8382000" cy="858837"/>
          </a:xfrm>
        </p:spPr>
        <p:txBody>
          <a:bodyPr/>
          <a:lstStyle/>
          <a:p>
            <a:r>
              <a:rPr lang="en-US" altLang="en-US" sz="3600"/>
              <a:t>Resolution Refutation Theorem Proving</a:t>
            </a:r>
          </a:p>
        </p:txBody>
      </p:sp>
      <p:sp>
        <p:nvSpPr>
          <p:cNvPr id="190467" name="Rectangle 3" descr="Rectangle: Click to edit Master text styles&#10;Second level&#10;Third level&#10;Fourth level&#10;Fifth level">
            <a:extLst>
              <a:ext uri="{FF2B5EF4-FFF2-40B4-BE49-F238E27FC236}">
                <a16:creationId xmlns:a16="http://schemas.microsoft.com/office/drawing/2014/main" id="{B9449549-7462-4DAC-958C-0478353BD69A}"/>
              </a:ext>
            </a:extLst>
          </p:cNvPr>
          <p:cNvSpPr>
            <a:spLocks noGrp="1" noChangeArrowheads="1"/>
          </p:cNvSpPr>
          <p:nvPr>
            <p:ph type="body" idx="1"/>
          </p:nvPr>
        </p:nvSpPr>
        <p:spPr>
          <a:xfrm>
            <a:off x="609600" y="1600200"/>
            <a:ext cx="8305800" cy="4525963"/>
          </a:xfrm>
        </p:spPr>
        <p:txBody>
          <a:bodyPr/>
          <a:lstStyle/>
          <a:p>
            <a:pPr marL="609600" indent="-609600"/>
            <a:r>
              <a:rPr lang="en-US" altLang="en-US"/>
              <a:t>Procedure:</a:t>
            </a:r>
          </a:p>
          <a:p>
            <a:pPr marL="990600" lvl="1" indent="-533400">
              <a:buFont typeface="Wingdings" panose="05000000000000000000" pitchFamily="2" charset="2"/>
              <a:buAutoNum type="arabicParenR"/>
            </a:pPr>
            <a:r>
              <a:rPr lang="en-US" altLang="en-US"/>
              <a:t>Put all sentences in KB into clause (CNF) form (</a:t>
            </a:r>
            <a:r>
              <a:rPr lang="en-US" altLang="en-US" u="sng"/>
              <a:t>Step 1</a:t>
            </a:r>
            <a:r>
              <a:rPr lang="en-US" altLang="en-US"/>
              <a:t>)</a:t>
            </a:r>
          </a:p>
          <a:p>
            <a:pPr marL="990600" lvl="1" indent="-533400">
              <a:buFont typeface="Wingdings" panose="05000000000000000000" pitchFamily="2" charset="2"/>
              <a:buAutoNum type="arabicParenR"/>
            </a:pPr>
            <a:r>
              <a:rPr lang="en-US" altLang="en-US"/>
              <a:t>Negate goal state, put into KB in clause form, and add to KB</a:t>
            </a:r>
          </a:p>
          <a:p>
            <a:pPr marL="990600" lvl="1" indent="-533400">
              <a:buFont typeface="Wingdings" panose="05000000000000000000" pitchFamily="2" charset="2"/>
              <a:buAutoNum type="arabicParenR"/>
            </a:pPr>
            <a:r>
              <a:rPr lang="en-US" altLang="en-US"/>
              <a:t>Resolve clauses</a:t>
            </a:r>
          </a:p>
          <a:p>
            <a:pPr marL="990600" lvl="1" indent="-533400">
              <a:buFont typeface="Wingdings" panose="05000000000000000000" pitchFamily="2" charset="2"/>
              <a:buAutoNum type="arabicParenR"/>
            </a:pPr>
            <a:r>
              <a:rPr lang="en-US" altLang="en-US"/>
              <a:t>Produce contradiction, i.e., the empty clause</a:t>
            </a:r>
          </a:p>
          <a:p>
            <a:pPr marL="990600" lvl="1" indent="-533400">
              <a:buFont typeface="Wingdings" panose="05000000000000000000" pitchFamily="2" charset="2"/>
              <a:buAutoNum type="arabicParenR"/>
            </a:pPr>
            <a:r>
              <a:rPr lang="en-US" altLang="en-US"/>
              <a:t>Therefore, </a:t>
            </a:r>
            <a:r>
              <a:rPr lang="en-US" altLang="en-US">
                <a:sym typeface="Symbol" panose="05050102010706020507" pitchFamily="18" charset="2"/>
              </a:rPr>
              <a:t> (negated goal) is true.</a:t>
            </a:r>
            <a:endParaRPr lang="en-US" altLang="en-US"/>
          </a:p>
          <a:p>
            <a:pPr marL="990600" lvl="1" indent="-533400">
              <a:buFont typeface="Wingdings" panose="05000000000000000000" pitchFamily="2" charset="2"/>
              <a:buAutoNum type="arabicParenR"/>
            </a:pPr>
            <a:endParaRPr lang="en-US" altLang="en-US"/>
          </a:p>
        </p:txBody>
      </p:sp>
    </p:spTree>
    <p:extLst>
      <p:ext uri="{BB962C8B-B14F-4D97-AF65-F5344CB8AC3E}">
        <p14:creationId xmlns:p14="http://schemas.microsoft.com/office/powerpoint/2010/main" val="24549031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a:extLst>
              <a:ext uri="{FF2B5EF4-FFF2-40B4-BE49-F238E27FC236}">
                <a16:creationId xmlns:a16="http://schemas.microsoft.com/office/drawing/2014/main" id="{D27C4943-F5E2-4602-9CB6-61D766CEB328}"/>
              </a:ext>
            </a:extLst>
          </p:cNvPr>
          <p:cNvSpPr>
            <a:spLocks noGrp="1" noChangeArrowheads="1"/>
          </p:cNvSpPr>
          <p:nvPr>
            <p:ph type="title"/>
          </p:nvPr>
        </p:nvSpPr>
        <p:spPr>
          <a:xfrm>
            <a:off x="152400" y="274638"/>
            <a:ext cx="8763000" cy="858837"/>
          </a:xfrm>
        </p:spPr>
        <p:txBody>
          <a:bodyPr/>
          <a:lstStyle/>
          <a:p>
            <a:r>
              <a:rPr lang="en-US" altLang="en-US"/>
              <a:t>Resolution Refutation: Properties</a:t>
            </a:r>
          </a:p>
        </p:txBody>
      </p:sp>
      <p:sp>
        <p:nvSpPr>
          <p:cNvPr id="191491" name="Rectangle 3" descr="Rectangle: Click to edit Master text styles&#10;Second level&#10;Third level&#10;Fourth level&#10;Fifth level">
            <a:extLst>
              <a:ext uri="{FF2B5EF4-FFF2-40B4-BE49-F238E27FC236}">
                <a16:creationId xmlns:a16="http://schemas.microsoft.com/office/drawing/2014/main" id="{5B4D8E33-CF8D-4EED-9C90-2FD5DCC81209}"/>
              </a:ext>
            </a:extLst>
          </p:cNvPr>
          <p:cNvSpPr>
            <a:spLocks noGrp="1" noChangeArrowheads="1"/>
          </p:cNvSpPr>
          <p:nvPr>
            <p:ph type="body" idx="1"/>
          </p:nvPr>
        </p:nvSpPr>
        <p:spPr>
          <a:xfrm>
            <a:off x="609600" y="1676400"/>
            <a:ext cx="8305800" cy="4191000"/>
          </a:xfrm>
        </p:spPr>
        <p:txBody>
          <a:bodyPr/>
          <a:lstStyle/>
          <a:p>
            <a:pPr marL="609600" indent="-609600"/>
            <a:r>
              <a:rPr lang="en-US" altLang="en-US"/>
              <a:t>Sound</a:t>
            </a:r>
          </a:p>
          <a:p>
            <a:pPr marL="990600" lvl="1" indent="-533400"/>
            <a:r>
              <a:rPr lang="en-US" altLang="en-US"/>
              <a:t>any conclusion reached is true.</a:t>
            </a:r>
          </a:p>
          <a:p>
            <a:pPr marL="609600" indent="-609600"/>
            <a:r>
              <a:rPr lang="en-US" altLang="en-US"/>
              <a:t>Complete </a:t>
            </a:r>
          </a:p>
          <a:p>
            <a:pPr marL="990600" lvl="1" indent="-533400"/>
            <a:r>
              <a:rPr lang="en-US" altLang="en-US"/>
              <a:t>inference will eventually provide true conclusion</a:t>
            </a:r>
          </a:p>
          <a:p>
            <a:pPr marL="609600" indent="-609600"/>
            <a:r>
              <a:rPr lang="en-US" altLang="en-US"/>
              <a:t>Tractability or Feasibility  </a:t>
            </a:r>
          </a:p>
          <a:p>
            <a:pPr marL="990600" lvl="1" indent="-533400"/>
            <a:r>
              <a:rPr lang="en-US" altLang="en-US"/>
              <a:t>Inference procedure may never terminate if expression to be proved is </a:t>
            </a:r>
            <a:r>
              <a:rPr lang="en-US" altLang="en-US" b="1"/>
              <a:t>not</a:t>
            </a:r>
            <a:r>
              <a:rPr lang="en-US" altLang="en-US"/>
              <a:t> true.</a:t>
            </a:r>
          </a:p>
        </p:txBody>
      </p:sp>
    </p:spTree>
    <p:extLst>
      <p:ext uri="{BB962C8B-B14F-4D97-AF65-F5344CB8AC3E}">
        <p14:creationId xmlns:p14="http://schemas.microsoft.com/office/powerpoint/2010/main" val="18163329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a:extLst>
              <a:ext uri="{FF2B5EF4-FFF2-40B4-BE49-F238E27FC236}">
                <a16:creationId xmlns:a16="http://schemas.microsoft.com/office/drawing/2014/main" id="{0540385D-3902-4B05-B990-BC76AE21E6C7}"/>
              </a:ext>
            </a:extLst>
          </p:cNvPr>
          <p:cNvSpPr>
            <a:spLocks noGrp="1" noChangeArrowheads="1"/>
          </p:cNvSpPr>
          <p:nvPr>
            <p:ph type="title"/>
          </p:nvPr>
        </p:nvSpPr>
        <p:spPr>
          <a:xfrm>
            <a:off x="228600" y="274638"/>
            <a:ext cx="8686800" cy="1143000"/>
          </a:xfrm>
        </p:spPr>
        <p:txBody>
          <a:bodyPr/>
          <a:lstStyle/>
          <a:p>
            <a:r>
              <a:rPr lang="en-US" altLang="en-US"/>
              <a:t>Resolution Refutation: Properties</a:t>
            </a:r>
          </a:p>
        </p:txBody>
      </p:sp>
      <p:sp>
        <p:nvSpPr>
          <p:cNvPr id="231427" name="Rectangle 3" descr="Rectangle: Click to edit Master text styles&#10;Second level&#10;Third level&#10;Fourth level&#10;Fifth level">
            <a:extLst>
              <a:ext uri="{FF2B5EF4-FFF2-40B4-BE49-F238E27FC236}">
                <a16:creationId xmlns:a16="http://schemas.microsoft.com/office/drawing/2014/main" id="{1C19E987-CB17-443F-8C72-861E240F3F59}"/>
              </a:ext>
            </a:extLst>
          </p:cNvPr>
          <p:cNvSpPr>
            <a:spLocks noGrp="1" noChangeArrowheads="1"/>
          </p:cNvSpPr>
          <p:nvPr>
            <p:ph type="body" idx="1"/>
          </p:nvPr>
        </p:nvSpPr>
        <p:spPr>
          <a:xfrm>
            <a:off x="609600" y="1600200"/>
            <a:ext cx="8305800" cy="4525963"/>
          </a:xfrm>
        </p:spPr>
        <p:txBody>
          <a:bodyPr/>
          <a:lstStyle/>
          <a:p>
            <a:r>
              <a:rPr lang="en-US" altLang="en-US"/>
              <a:t>Resolution Strategies</a:t>
            </a:r>
          </a:p>
          <a:p>
            <a:pPr lvl="1"/>
            <a:r>
              <a:rPr lang="en-US" altLang="en-US"/>
              <a:t> improve efficiency of process</a:t>
            </a:r>
          </a:p>
          <a:p>
            <a:pPr lvl="1"/>
            <a:r>
              <a:rPr lang="en-US" altLang="en-US" b="1"/>
              <a:t>Unit preference</a:t>
            </a:r>
            <a:endParaRPr lang="en-US" altLang="en-US"/>
          </a:p>
          <a:p>
            <a:pPr lvl="2"/>
            <a:r>
              <a:rPr lang="en-US" altLang="en-US"/>
              <a:t>prefer to do resolutions with unit clauses. </a:t>
            </a:r>
            <a:endParaRPr lang="en-US" altLang="en-US">
              <a:sym typeface="Wingdings" panose="05000000000000000000" pitchFamily="2" charset="2"/>
            </a:endParaRPr>
          </a:p>
          <a:p>
            <a:pPr lvl="2"/>
            <a:r>
              <a:rPr lang="en-US" altLang="en-US">
                <a:sym typeface="Wingdings" panose="05000000000000000000" pitchFamily="2" charset="2"/>
              </a:rPr>
              <a:t>idea: produce short sentences, reduce them to null (false).</a:t>
            </a:r>
          </a:p>
          <a:p>
            <a:pPr lvl="2"/>
            <a:r>
              <a:rPr lang="en-US" altLang="en-US"/>
              <a:t>Restricted form of resolution refutation where every step must involve a unit clause.</a:t>
            </a:r>
          </a:p>
          <a:p>
            <a:endParaRPr lang="en-US" altLang="en-US"/>
          </a:p>
        </p:txBody>
      </p:sp>
    </p:spTree>
    <p:extLst>
      <p:ext uri="{BB962C8B-B14F-4D97-AF65-F5344CB8AC3E}">
        <p14:creationId xmlns:p14="http://schemas.microsoft.com/office/powerpoint/2010/main" val="15212713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a:extLst>
              <a:ext uri="{FF2B5EF4-FFF2-40B4-BE49-F238E27FC236}">
                <a16:creationId xmlns:a16="http://schemas.microsoft.com/office/drawing/2014/main" id="{3732118A-4CB1-4171-87D4-0FFE63D1D375}"/>
              </a:ext>
            </a:extLst>
          </p:cNvPr>
          <p:cNvSpPr>
            <a:spLocks noGrp="1" noChangeArrowheads="1"/>
          </p:cNvSpPr>
          <p:nvPr>
            <p:ph type="title"/>
          </p:nvPr>
        </p:nvSpPr>
        <p:spPr/>
        <p:txBody>
          <a:bodyPr/>
          <a:lstStyle/>
          <a:p>
            <a:r>
              <a:rPr lang="en-US" altLang="en-US" sz="4000"/>
              <a:t>Resolution Refutation: Properties</a:t>
            </a:r>
          </a:p>
        </p:txBody>
      </p:sp>
      <p:sp>
        <p:nvSpPr>
          <p:cNvPr id="236547" name="Rectangle 3" descr="Rectangle: Click to edit Master text styles&#10;Second level&#10;Third level&#10;Fourth level&#10;Fifth level">
            <a:extLst>
              <a:ext uri="{FF2B5EF4-FFF2-40B4-BE49-F238E27FC236}">
                <a16:creationId xmlns:a16="http://schemas.microsoft.com/office/drawing/2014/main" id="{3E81990F-2BD5-45C8-8821-C7BFFCBF32E6}"/>
              </a:ext>
            </a:extLst>
          </p:cNvPr>
          <p:cNvSpPr>
            <a:spLocks noGrp="1" noChangeArrowheads="1"/>
          </p:cNvSpPr>
          <p:nvPr>
            <p:ph type="body" idx="1"/>
          </p:nvPr>
        </p:nvSpPr>
        <p:spPr>
          <a:xfrm>
            <a:off x="609600" y="1524000"/>
            <a:ext cx="8229600" cy="5029200"/>
          </a:xfrm>
        </p:spPr>
        <p:txBody>
          <a:bodyPr/>
          <a:lstStyle/>
          <a:p>
            <a:r>
              <a:rPr lang="en-US" altLang="en-US" b="1"/>
              <a:t>Resolution Strategies</a:t>
            </a:r>
          </a:p>
          <a:p>
            <a:pPr lvl="1"/>
            <a:r>
              <a:rPr lang="en-US" altLang="en-US" b="1"/>
              <a:t>Set of support</a:t>
            </a:r>
          </a:p>
          <a:p>
            <a:pPr lvl="2"/>
            <a:r>
              <a:rPr lang="en-US" altLang="en-US"/>
              <a:t>Eliminate some potential resolutions.</a:t>
            </a:r>
          </a:p>
          <a:p>
            <a:pPr lvl="2"/>
            <a:r>
              <a:rPr lang="en-US" altLang="en-US"/>
              <a:t>Use a</a:t>
            </a:r>
            <a:r>
              <a:rPr lang="en-US" altLang="en-US" b="1"/>
              <a:t> </a:t>
            </a:r>
            <a:r>
              <a:rPr lang="en-US" altLang="en-US"/>
              <a:t>small set of clauses called set of support. </a:t>
            </a:r>
          </a:p>
          <a:p>
            <a:pPr lvl="2"/>
            <a:r>
              <a:rPr lang="en-US" altLang="en-US"/>
              <a:t>Combine a sentence from the set with another sentence via resolution, then add the new resolved sentence to the set.</a:t>
            </a:r>
          </a:p>
          <a:p>
            <a:pPr lvl="2"/>
            <a:r>
              <a:rPr lang="en-US" altLang="en-US"/>
              <a:t>Works well if the set of support is small relative to the KB.</a:t>
            </a:r>
          </a:p>
          <a:p>
            <a:pPr lvl="2"/>
            <a:r>
              <a:rPr lang="en-US" altLang="en-US"/>
              <a:t>Choosing a bad support set can make the algorithm incomplete.</a:t>
            </a:r>
          </a:p>
          <a:p>
            <a:pPr lvl="2"/>
            <a:endParaRPr lang="en-US" altLang="en-US"/>
          </a:p>
          <a:p>
            <a:endParaRPr lang="en-US" altLang="en-US"/>
          </a:p>
        </p:txBody>
      </p:sp>
    </p:spTree>
    <p:extLst>
      <p:ext uri="{BB962C8B-B14F-4D97-AF65-F5344CB8AC3E}">
        <p14:creationId xmlns:p14="http://schemas.microsoft.com/office/powerpoint/2010/main" val="40667664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FD8D36F2-27C9-4CD9-9F00-D2783FD827E2}"/>
              </a:ext>
            </a:extLst>
          </p:cNvPr>
          <p:cNvSpPr>
            <a:spLocks noGrp="1" noChangeArrowheads="1"/>
          </p:cNvSpPr>
          <p:nvPr>
            <p:ph type="title"/>
          </p:nvPr>
        </p:nvSpPr>
        <p:spPr>
          <a:xfrm>
            <a:off x="323850" y="0"/>
            <a:ext cx="7772400" cy="1143000"/>
          </a:xfrm>
        </p:spPr>
        <p:txBody>
          <a:bodyPr/>
          <a:lstStyle/>
          <a:p>
            <a:r>
              <a:rPr lang="en-US" altLang="en-US"/>
              <a:t>Steps to be followed</a:t>
            </a:r>
            <a:endParaRPr lang="en-IN" altLang="en-US"/>
          </a:p>
        </p:txBody>
      </p:sp>
      <p:sp>
        <p:nvSpPr>
          <p:cNvPr id="3" name="Content Placeholder 2">
            <a:extLst>
              <a:ext uri="{FF2B5EF4-FFF2-40B4-BE49-F238E27FC236}">
                <a16:creationId xmlns:a16="http://schemas.microsoft.com/office/drawing/2014/main" id="{D56052EA-A40F-4372-99A5-E56F98EB5E57}"/>
              </a:ext>
            </a:extLst>
          </p:cNvPr>
          <p:cNvSpPr>
            <a:spLocks noGrp="1"/>
          </p:cNvSpPr>
          <p:nvPr>
            <p:ph idx="1"/>
          </p:nvPr>
        </p:nvSpPr>
        <p:spPr>
          <a:xfrm>
            <a:off x="293688" y="1371600"/>
            <a:ext cx="7772400" cy="4114800"/>
          </a:xfrm>
        </p:spPr>
        <p:txBody>
          <a:bodyPr/>
          <a:lstStyle/>
          <a:p>
            <a:pPr>
              <a:defRPr/>
            </a:pPr>
            <a:r>
              <a:rPr lang="en-IN" b="1" dirty="0"/>
              <a:t>Eliminate implications</a:t>
            </a:r>
            <a:r>
              <a:rPr lang="en-IN" dirty="0"/>
              <a:t>:</a:t>
            </a:r>
          </a:p>
          <a:p>
            <a:pPr>
              <a:defRPr/>
            </a:pPr>
            <a:endParaRPr lang="en-US" dirty="0"/>
          </a:p>
          <a:p>
            <a:pPr>
              <a:defRPr/>
            </a:pPr>
            <a:endParaRPr lang="en-US" dirty="0"/>
          </a:p>
          <a:p>
            <a:pPr>
              <a:defRPr/>
            </a:pPr>
            <a:r>
              <a:rPr lang="en-IN" b="1" dirty="0"/>
              <a:t>Move </a:t>
            </a:r>
            <a:r>
              <a:rPr lang="en-IN" dirty="0"/>
              <a:t>￢ </a:t>
            </a:r>
            <a:r>
              <a:rPr lang="en-IN" b="1" dirty="0"/>
              <a:t>inwards</a:t>
            </a:r>
            <a:r>
              <a:rPr lang="en-IN" dirty="0"/>
              <a:t>:</a:t>
            </a:r>
          </a:p>
          <a:p>
            <a:pPr>
              <a:defRPr/>
            </a:pPr>
            <a:endParaRPr lang="en-IN" dirty="0"/>
          </a:p>
          <a:p>
            <a:pPr marL="0" indent="0">
              <a:buFontTx/>
              <a:buNone/>
              <a:defRPr/>
            </a:pPr>
            <a:endParaRPr lang="en-IN" dirty="0"/>
          </a:p>
          <a:p>
            <a:pPr>
              <a:defRPr/>
            </a:pPr>
            <a:endParaRPr lang="en-US" dirty="0"/>
          </a:p>
          <a:p>
            <a:pPr>
              <a:defRPr/>
            </a:pPr>
            <a:endParaRPr lang="en-IN" dirty="0"/>
          </a:p>
        </p:txBody>
      </p:sp>
      <p:pic>
        <p:nvPicPr>
          <p:cNvPr id="6" name="Picture 5">
            <a:extLst>
              <a:ext uri="{FF2B5EF4-FFF2-40B4-BE49-F238E27FC236}">
                <a16:creationId xmlns:a16="http://schemas.microsoft.com/office/drawing/2014/main" id="{9667A58C-54AC-4163-A3E0-44C59BA15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349500"/>
            <a:ext cx="8362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754CD1FF-6B5F-49B9-9F16-17BD8843E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49688"/>
            <a:ext cx="9144000"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circle(in)">
                                      <p:cBhvr>
                                        <p:cTn id="1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0D1E1C-0472-4E88-B701-812C7F029C5F}"/>
              </a:ext>
            </a:extLst>
          </p:cNvPr>
          <p:cNvSpPr>
            <a:spLocks noGrp="1" noChangeArrowheads="1"/>
          </p:cNvSpPr>
          <p:nvPr>
            <p:ph idx="1"/>
          </p:nvPr>
        </p:nvSpPr>
        <p:spPr>
          <a:xfrm>
            <a:off x="515938" y="666750"/>
            <a:ext cx="8112125" cy="4114800"/>
          </a:xfrm>
        </p:spPr>
        <p:txBody>
          <a:bodyPr/>
          <a:lstStyle/>
          <a:p>
            <a:r>
              <a:rPr lang="en-IN" altLang="en-US" b="1"/>
              <a:t>Standardize variables</a:t>
            </a:r>
            <a:r>
              <a:rPr lang="en-IN" altLang="en-US"/>
              <a:t>:</a:t>
            </a:r>
          </a:p>
          <a:p>
            <a:endParaRPr lang="en-US" altLang="en-US"/>
          </a:p>
          <a:p>
            <a:endParaRPr lang="en-US" altLang="en-US"/>
          </a:p>
          <a:p>
            <a:r>
              <a:rPr lang="en-US" altLang="en-US"/>
              <a:t> </a:t>
            </a:r>
            <a:r>
              <a:rPr lang="en-IN" altLang="en-US" b="1"/>
              <a:t>Skolemize</a:t>
            </a:r>
            <a:r>
              <a:rPr lang="en-IN" altLang="en-US"/>
              <a:t>: </a:t>
            </a:r>
            <a:r>
              <a:rPr lang="en-IN" altLang="en-US" b="1"/>
              <a:t>Skolemization</a:t>
            </a:r>
          </a:p>
          <a:p>
            <a:endParaRPr lang="en-US" altLang="en-US" b="1"/>
          </a:p>
          <a:p>
            <a:endParaRPr lang="en-US" altLang="en-US" b="1"/>
          </a:p>
          <a:p>
            <a:pPr algn="just"/>
            <a:r>
              <a:rPr lang="en-US" altLang="en-US"/>
              <a:t>Here F and G are </a:t>
            </a:r>
            <a:r>
              <a:rPr lang="en-US" altLang="en-US" b="1"/>
              <a:t>Skolem functions</a:t>
            </a:r>
            <a:r>
              <a:rPr lang="en-US" altLang="en-US"/>
              <a:t>. the arguments of the Skolem function are all the universally quantified variables in whose scope the existential quantifier appears</a:t>
            </a:r>
            <a:endParaRPr lang="en-IN" altLang="en-US"/>
          </a:p>
        </p:txBody>
      </p:sp>
      <p:pic>
        <p:nvPicPr>
          <p:cNvPr id="6" name="Picture 5">
            <a:extLst>
              <a:ext uri="{FF2B5EF4-FFF2-40B4-BE49-F238E27FC236}">
                <a16:creationId xmlns:a16="http://schemas.microsoft.com/office/drawing/2014/main" id="{6B0E0FA5-EA73-4044-B88A-33DF03C06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88" y="1341438"/>
            <a:ext cx="84010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CAB6911A-A362-4BF2-ABB9-6DFB4126D5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75" y="2954338"/>
            <a:ext cx="86772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2">
            <a:extLst>
              <a:ext uri="{FF2B5EF4-FFF2-40B4-BE49-F238E27FC236}">
                <a16:creationId xmlns:a16="http://schemas.microsoft.com/office/drawing/2014/main" id="{29C264E3-76FB-4060-A07F-DA9EFAE1C722}"/>
              </a:ext>
            </a:extLst>
          </p:cNvPr>
          <p:cNvSpPr>
            <a:spLocks noGrp="1" noChangeArrowheads="1"/>
          </p:cNvSpPr>
          <p:nvPr>
            <p:ph idx="1"/>
          </p:nvPr>
        </p:nvSpPr>
        <p:spPr>
          <a:xfrm>
            <a:off x="323850" y="620713"/>
            <a:ext cx="7772400" cy="4114800"/>
          </a:xfrm>
        </p:spPr>
        <p:txBody>
          <a:bodyPr/>
          <a:lstStyle/>
          <a:p>
            <a:r>
              <a:rPr lang="en-IN" altLang="en-US" b="1"/>
              <a:t>Drop universal quantifiers</a:t>
            </a:r>
            <a:r>
              <a:rPr lang="en-IN" altLang="en-US"/>
              <a:t>:</a:t>
            </a:r>
          </a:p>
          <a:p>
            <a:endParaRPr lang="en-US" altLang="en-US"/>
          </a:p>
          <a:p>
            <a:endParaRPr lang="en-US" altLang="en-US"/>
          </a:p>
          <a:p>
            <a:endParaRPr lang="en-US" altLang="en-US"/>
          </a:p>
          <a:p>
            <a:r>
              <a:rPr lang="en-IN" altLang="en-US" b="1"/>
              <a:t>Distribute </a:t>
            </a:r>
            <a:r>
              <a:rPr lang="en-IN" altLang="en-US"/>
              <a:t>∨ </a:t>
            </a:r>
            <a:r>
              <a:rPr lang="en-IN" altLang="en-US" b="1"/>
              <a:t>over </a:t>
            </a:r>
            <a:r>
              <a:rPr lang="en-IN" altLang="en-US"/>
              <a:t>∧:</a:t>
            </a:r>
          </a:p>
          <a:p>
            <a:endParaRPr lang="en-IN" altLang="en-US"/>
          </a:p>
        </p:txBody>
      </p:sp>
      <p:pic>
        <p:nvPicPr>
          <p:cNvPr id="53251" name="Picture 5">
            <a:extLst>
              <a:ext uri="{FF2B5EF4-FFF2-40B4-BE49-F238E27FC236}">
                <a16:creationId xmlns:a16="http://schemas.microsoft.com/office/drawing/2014/main" id="{4D9073DE-4AF2-4A57-B6EB-944120129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474788"/>
            <a:ext cx="77438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6">
            <a:extLst>
              <a:ext uri="{FF2B5EF4-FFF2-40B4-BE49-F238E27FC236}">
                <a16:creationId xmlns:a16="http://schemas.microsoft.com/office/drawing/2014/main" id="{F6994AFE-24E1-44C0-A111-A5D86CE618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16338"/>
            <a:ext cx="91440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8CA359E5-475C-4BDE-892F-048BF5D48A27}"/>
              </a:ext>
            </a:extLst>
          </p:cNvPr>
          <p:cNvSpPr>
            <a:spLocks noGrp="1" noChangeArrowheads="1"/>
          </p:cNvSpPr>
          <p:nvPr>
            <p:ph type="title"/>
          </p:nvPr>
        </p:nvSpPr>
        <p:spPr>
          <a:xfrm>
            <a:off x="323850" y="190500"/>
            <a:ext cx="7772400" cy="1143000"/>
          </a:xfrm>
        </p:spPr>
        <p:txBody>
          <a:bodyPr/>
          <a:lstStyle/>
          <a:p>
            <a:pPr algn="l" eaLnBrk="1" hangingPunct="1"/>
            <a:r>
              <a:rPr lang="en-US" altLang="en-US">
                <a:latin typeface="Cambria" panose="02040503050406030204" pitchFamily="18" charset="0"/>
                <a:ea typeface="Cambria" panose="02040503050406030204" pitchFamily="18" charset="0"/>
                <a:cs typeface="Cambria" panose="02040503050406030204" pitchFamily="18" charset="0"/>
              </a:rPr>
              <a:t>Resolution Refutation Proofs</a:t>
            </a:r>
          </a:p>
        </p:txBody>
      </p:sp>
      <p:sp>
        <p:nvSpPr>
          <p:cNvPr id="54275" name="Rectangle 3">
            <a:extLst>
              <a:ext uri="{FF2B5EF4-FFF2-40B4-BE49-F238E27FC236}">
                <a16:creationId xmlns:a16="http://schemas.microsoft.com/office/drawing/2014/main" id="{CEBDE813-F416-4CC0-B2C9-9F7DDB22E9D4}"/>
              </a:ext>
            </a:extLst>
          </p:cNvPr>
          <p:cNvSpPr>
            <a:spLocks noGrp="1" noChangeArrowheads="1"/>
          </p:cNvSpPr>
          <p:nvPr>
            <p:ph type="body" idx="1"/>
          </p:nvPr>
        </p:nvSpPr>
        <p:spPr>
          <a:xfrm>
            <a:off x="179388" y="1330325"/>
            <a:ext cx="7772400" cy="4114800"/>
          </a:xfrm>
        </p:spPr>
        <p:txBody>
          <a:bodyPr/>
          <a:lstStyle/>
          <a:p>
            <a:pPr eaLnBrk="1" hangingPunct="1"/>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rPr>
              <a:t>Convert the set of rules and facts into clause form (conjunction of clauses)</a:t>
            </a:r>
          </a:p>
          <a:p>
            <a:pPr eaLnBrk="1" hangingPunct="1"/>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rPr>
              <a:t>Insert the negation of the goal as another clause</a:t>
            </a:r>
          </a:p>
          <a:p>
            <a:pPr eaLnBrk="1" hangingPunct="1"/>
            <a:r>
              <a:rPr lang="en-US" altLang="en-US" sz="2000">
                <a:solidFill>
                  <a:srgbClr val="0000FF"/>
                </a:solidFill>
                <a:latin typeface="Cambria" panose="02040503050406030204" pitchFamily="18" charset="0"/>
                <a:ea typeface="Cambria" panose="02040503050406030204" pitchFamily="18" charset="0"/>
                <a:cs typeface="Cambria" panose="02040503050406030204" pitchFamily="18" charset="0"/>
              </a:rPr>
              <a:t>Use resolution to deduce refutation </a:t>
            </a:r>
          </a:p>
          <a:p>
            <a:pPr eaLnBrk="1" hangingPunct="1"/>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In refutation proofs, we add the negation of the goal to the set of clauses and then attempt to deduce </a:t>
            </a:r>
            <a:r>
              <a:rPr lang="en-US" altLang="en-US" sz="2000" i="1">
                <a:latin typeface="Cambria" panose="02040503050406030204" pitchFamily="18" charset="0"/>
                <a:ea typeface="Cambria" panose="02040503050406030204" pitchFamily="18" charset="0"/>
                <a:cs typeface="Cambria" panose="02040503050406030204" pitchFamily="18" charset="0"/>
              </a:rPr>
              <a:t>False</a:t>
            </a:r>
          </a:p>
          <a:p>
            <a:pPr eaLnBrk="1" hangingPunct="1">
              <a:buFontTx/>
              <a:buNone/>
            </a:pPr>
            <a:endParaRPr lang="en-US" altLang="en-US" sz="2000">
              <a:latin typeface="Cambria" panose="02040503050406030204" pitchFamily="18" charset="0"/>
              <a:ea typeface="Cambria" panose="02040503050406030204" pitchFamily="18" charset="0"/>
              <a:cs typeface="Cambria" panose="02040503050406030204" pitchFamily="18" charset="0"/>
            </a:endParaRPr>
          </a:p>
          <a:p>
            <a:pPr eaLnBrk="1" hangingPunct="1"/>
            <a:r>
              <a:rPr lang="en-US" altLang="en-US" sz="2000">
                <a:latin typeface="Cambria" panose="02040503050406030204" pitchFamily="18" charset="0"/>
                <a:ea typeface="Cambria" panose="02040503050406030204" pitchFamily="18" charset="0"/>
                <a:cs typeface="Cambria" panose="02040503050406030204" pitchFamily="18" charset="0"/>
              </a:rPr>
              <a:t>Example:</a:t>
            </a:r>
          </a:p>
          <a:p>
            <a:pPr lvl="1" eaLnBrk="1" hangingPunct="1"/>
            <a:r>
              <a:rPr lang="en-US" altLang="en-US" sz="1800">
                <a:latin typeface="Cambria" panose="02040503050406030204" pitchFamily="18" charset="0"/>
                <a:ea typeface="Cambria" panose="02040503050406030204" pitchFamily="18" charset="0"/>
                <a:cs typeface="Cambria" panose="02040503050406030204" pitchFamily="18" charset="0"/>
              </a:rPr>
              <a:t>Jack owns a dog</a:t>
            </a:r>
          </a:p>
          <a:p>
            <a:pPr lvl="1" eaLnBrk="1" hangingPunct="1"/>
            <a:r>
              <a:rPr lang="en-US" altLang="en-US" sz="1800">
                <a:latin typeface="Cambria" panose="02040503050406030204" pitchFamily="18" charset="0"/>
                <a:ea typeface="Cambria" panose="02040503050406030204" pitchFamily="18" charset="0"/>
                <a:cs typeface="Cambria" panose="02040503050406030204" pitchFamily="18" charset="0"/>
              </a:rPr>
              <a:t>Every dog owner is an animal lover</a:t>
            </a:r>
          </a:p>
          <a:p>
            <a:pPr lvl="1" eaLnBrk="1" hangingPunct="1"/>
            <a:r>
              <a:rPr lang="en-US" altLang="en-US" sz="1800">
                <a:latin typeface="Cambria" panose="02040503050406030204" pitchFamily="18" charset="0"/>
                <a:ea typeface="Cambria" panose="02040503050406030204" pitchFamily="18" charset="0"/>
                <a:cs typeface="Cambria" panose="02040503050406030204" pitchFamily="18" charset="0"/>
              </a:rPr>
              <a:t>No animal lover kills an animal</a:t>
            </a:r>
          </a:p>
          <a:p>
            <a:pPr lvl="1" eaLnBrk="1" hangingPunct="1"/>
            <a:r>
              <a:rPr lang="en-US" altLang="en-US" sz="1800">
                <a:latin typeface="Cambria" panose="02040503050406030204" pitchFamily="18" charset="0"/>
                <a:ea typeface="Cambria" panose="02040503050406030204" pitchFamily="18" charset="0"/>
                <a:cs typeface="Cambria" panose="02040503050406030204" pitchFamily="18" charset="0"/>
              </a:rPr>
              <a:t>Either Jack or Curiosity killed the cat, who is named Tuna</a:t>
            </a:r>
          </a:p>
          <a:p>
            <a:pPr lvl="1" eaLnBrk="1" hangingPunct="1"/>
            <a:r>
              <a:rPr lang="en-US" altLang="en-US" sz="1800">
                <a:latin typeface="Cambria" panose="02040503050406030204" pitchFamily="18" charset="0"/>
                <a:ea typeface="Cambria" panose="02040503050406030204" pitchFamily="18" charset="0"/>
                <a:cs typeface="Cambria" panose="02040503050406030204" pitchFamily="18" charset="0"/>
              </a:rPr>
              <a:t>Goal:	Did curiosity kill the cat?</a:t>
            </a:r>
          </a:p>
          <a:p>
            <a:pPr lvl="1" eaLnBrk="1" hangingPunct="1"/>
            <a:endParaRPr lang="en-US" altLang="en-US" sz="1800">
              <a:latin typeface="Cambria" panose="02040503050406030204" pitchFamily="18" charset="0"/>
              <a:ea typeface="Cambria" panose="02040503050406030204" pitchFamily="18" charset="0"/>
              <a:cs typeface="Cambria" panose="02040503050406030204" pitchFamily="18" charset="0"/>
            </a:endParaRPr>
          </a:p>
          <a:p>
            <a:pPr lvl="1" eaLnBrk="1" hangingPunct="1"/>
            <a:r>
              <a:rPr lang="en-US" altLang="en-US" sz="1800">
                <a:latin typeface="Cambria" panose="02040503050406030204" pitchFamily="18" charset="0"/>
                <a:ea typeface="Cambria" panose="02040503050406030204" pitchFamily="18" charset="0"/>
                <a:cs typeface="Cambria" panose="02040503050406030204" pitchFamily="18" charset="0"/>
              </a:rPr>
              <a:t>We will add </a:t>
            </a:r>
            <a:r>
              <a:rPr lang="en-US" altLang="en-US" sz="1800">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Kills(Curiosity, Tuna) and try to deduce </a:t>
            </a:r>
            <a:r>
              <a:rPr lang="en-US" altLang="en-US" sz="1800" i="1">
                <a:latin typeface="Cambria" panose="02040503050406030204" pitchFamily="18" charset="0"/>
                <a:ea typeface="Cambria" panose="02040503050406030204" pitchFamily="18" charset="0"/>
                <a:cs typeface="Cambria" panose="02040503050406030204" pitchFamily="18" charset="0"/>
                <a:sym typeface="Symbol" panose="05050102010706020507" pitchFamily="18" charset="2"/>
              </a:rPr>
              <a:t>False</a:t>
            </a:r>
            <a:endParaRPr lang="en-US" altLang="en-US" sz="1800">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7F62A965-861D-4811-9777-E992B4CE4851}"/>
              </a:ext>
            </a:extLst>
          </p:cNvPr>
          <p:cNvSpPr>
            <a:spLocks noGrp="1" noChangeArrowheads="1"/>
          </p:cNvSpPr>
          <p:nvPr>
            <p:ph type="title"/>
          </p:nvPr>
        </p:nvSpPr>
        <p:spPr>
          <a:xfrm>
            <a:off x="323850" y="-50800"/>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Concept </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3" name="Content Placeholder 2">
            <a:extLst>
              <a:ext uri="{FF2B5EF4-FFF2-40B4-BE49-F238E27FC236}">
                <a16:creationId xmlns:a16="http://schemas.microsoft.com/office/drawing/2014/main" id="{6BB14B54-419D-440B-9004-47CB24BC598A}"/>
              </a:ext>
            </a:extLst>
          </p:cNvPr>
          <p:cNvSpPr>
            <a:spLocks noGrp="1" noRot="1" noChangeAspect="1" noMove="1" noResize="1" noEditPoints="1" noAdjustHandles="1" noChangeArrowheads="1" noChangeShapeType="1" noTextEdit="1"/>
          </p:cNvSpPr>
          <p:nvPr>
            <p:ph idx="1"/>
          </p:nvPr>
        </p:nvSpPr>
        <p:spPr>
          <a:xfrm>
            <a:off x="611560" y="1124744"/>
            <a:ext cx="7772400" cy="4114800"/>
          </a:xfrm>
          <a:blipFill>
            <a:blip r:embed="rId2"/>
            <a:stretch>
              <a:fillRect l="-1569" b="-26667"/>
            </a:stretch>
          </a:blipFill>
          <a:extLst/>
        </p:spPr>
        <p:txBody>
          <a:bodyPr/>
          <a:lstStyle/>
          <a:p>
            <a:pPr>
              <a:defRPr/>
            </a:pPr>
            <a:r>
              <a:rPr lang="en-IN">
                <a:noFill/>
              </a:rPr>
              <a:t> </a:t>
            </a:r>
          </a:p>
        </p:txBody>
      </p:sp>
      <p:cxnSp>
        <p:nvCxnSpPr>
          <p:cNvPr id="7" name="Straight Arrow Connector 6">
            <a:extLst>
              <a:ext uri="{FF2B5EF4-FFF2-40B4-BE49-F238E27FC236}">
                <a16:creationId xmlns:a16="http://schemas.microsoft.com/office/drawing/2014/main" id="{1A34806E-CF00-4F2F-A5A2-1DBA213CF516}"/>
              </a:ext>
            </a:extLst>
          </p:cNvPr>
          <p:cNvCxnSpPr/>
          <p:nvPr/>
        </p:nvCxnSpPr>
        <p:spPr>
          <a:xfrm>
            <a:off x="2484438" y="4149725"/>
            <a:ext cx="0" cy="647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54C1B3DD-4DA1-4B56-BEA9-475347A5DDC8}"/>
              </a:ext>
            </a:extLst>
          </p:cNvPr>
          <p:cNvSpPr>
            <a:spLocks noGrp="1" noChangeArrowheads="1"/>
          </p:cNvSpPr>
          <p:nvPr>
            <p:ph type="title"/>
          </p:nvPr>
        </p:nvSpPr>
        <p:spPr>
          <a:xfrm>
            <a:off x="323850" y="-100013"/>
            <a:ext cx="7772400" cy="1143001"/>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Example</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56323" name="Content Placeholder 2">
            <a:extLst>
              <a:ext uri="{FF2B5EF4-FFF2-40B4-BE49-F238E27FC236}">
                <a16:creationId xmlns:a16="http://schemas.microsoft.com/office/drawing/2014/main" id="{2C861173-1AE9-449C-B1CF-A6A88B15198C}"/>
              </a:ext>
            </a:extLst>
          </p:cNvPr>
          <p:cNvSpPr>
            <a:spLocks noGrp="1" noChangeArrowheads="1"/>
          </p:cNvSpPr>
          <p:nvPr>
            <p:ph idx="1"/>
          </p:nvPr>
        </p:nvSpPr>
        <p:spPr>
          <a:xfrm>
            <a:off x="0" y="1341438"/>
            <a:ext cx="8964613" cy="4114800"/>
          </a:xfrm>
        </p:spPr>
        <p:txBody>
          <a:bodyPr/>
          <a:lstStyle/>
          <a:p>
            <a:r>
              <a:rPr lang="en-US" altLang="en-US" sz="2200">
                <a:latin typeface="Cambria" panose="02040503050406030204" pitchFamily="18" charset="0"/>
                <a:ea typeface="Cambria" panose="02040503050406030204" pitchFamily="18" charset="0"/>
                <a:cs typeface="Cambria" panose="02040503050406030204" pitchFamily="18" charset="0"/>
              </a:rPr>
              <a:t>Harry, Ron and Draco are students of the Hogwarts school for Wizards</a:t>
            </a:r>
          </a:p>
          <a:p>
            <a:endParaRPr lang="en-US" altLang="en-US" sz="2200">
              <a:latin typeface="Cambria" panose="02040503050406030204" pitchFamily="18" charset="0"/>
              <a:ea typeface="Cambria" panose="02040503050406030204" pitchFamily="18" charset="0"/>
              <a:cs typeface="Cambria" panose="02040503050406030204" pitchFamily="18" charset="0"/>
            </a:endParaRPr>
          </a:p>
          <a:p>
            <a:r>
              <a:rPr lang="en-US" altLang="en-US" sz="2200">
                <a:latin typeface="Cambria" panose="02040503050406030204" pitchFamily="18" charset="0"/>
                <a:ea typeface="Cambria" panose="02040503050406030204" pitchFamily="18" charset="0"/>
                <a:cs typeface="Cambria" panose="02040503050406030204" pitchFamily="18" charset="0"/>
              </a:rPr>
              <a:t>Every student is either wicked or is a good Quidditch player or both</a:t>
            </a:r>
          </a:p>
          <a:p>
            <a:endParaRPr lang="en-US" altLang="en-US" sz="2200">
              <a:latin typeface="Cambria" panose="02040503050406030204" pitchFamily="18" charset="0"/>
              <a:ea typeface="Cambria" panose="02040503050406030204" pitchFamily="18" charset="0"/>
              <a:cs typeface="Cambria" panose="02040503050406030204" pitchFamily="18" charset="0"/>
            </a:endParaRPr>
          </a:p>
          <a:p>
            <a:r>
              <a:rPr lang="en-US" altLang="en-US" sz="2200">
                <a:latin typeface="Cambria" panose="02040503050406030204" pitchFamily="18" charset="0"/>
                <a:ea typeface="Cambria" panose="02040503050406030204" pitchFamily="18" charset="0"/>
                <a:cs typeface="Cambria" panose="02040503050406030204" pitchFamily="18" charset="0"/>
              </a:rPr>
              <a:t>No Quidditch player likes rain and all wicked students like potions</a:t>
            </a:r>
          </a:p>
          <a:p>
            <a:endParaRPr lang="en-US" altLang="en-US" sz="2200">
              <a:latin typeface="Cambria" panose="02040503050406030204" pitchFamily="18" charset="0"/>
              <a:ea typeface="Cambria" panose="02040503050406030204" pitchFamily="18" charset="0"/>
              <a:cs typeface="Cambria" panose="02040503050406030204" pitchFamily="18" charset="0"/>
            </a:endParaRPr>
          </a:p>
          <a:p>
            <a:r>
              <a:rPr lang="en-US" altLang="en-US" sz="2200">
                <a:latin typeface="Cambria" panose="02040503050406030204" pitchFamily="18" charset="0"/>
                <a:ea typeface="Cambria" panose="02040503050406030204" pitchFamily="18" charset="0"/>
                <a:cs typeface="Cambria" panose="02040503050406030204" pitchFamily="18" charset="0"/>
              </a:rPr>
              <a:t>Draco dislikes whatever Harry likes and likes whatever Harry dislikes</a:t>
            </a:r>
          </a:p>
          <a:p>
            <a:endParaRPr lang="en-US" altLang="en-US" sz="2200">
              <a:latin typeface="Cambria" panose="02040503050406030204" pitchFamily="18" charset="0"/>
              <a:ea typeface="Cambria" panose="02040503050406030204" pitchFamily="18" charset="0"/>
              <a:cs typeface="Cambria" panose="02040503050406030204" pitchFamily="18" charset="0"/>
            </a:endParaRPr>
          </a:p>
          <a:p>
            <a:r>
              <a:rPr lang="en-US" altLang="en-US" sz="2200">
                <a:latin typeface="Cambria" panose="02040503050406030204" pitchFamily="18" charset="0"/>
                <a:ea typeface="Cambria" panose="02040503050406030204" pitchFamily="18" charset="0"/>
                <a:cs typeface="Cambria" panose="02040503050406030204" pitchFamily="18" charset="0"/>
              </a:rPr>
              <a:t>Draco likes rain and potions</a:t>
            </a:r>
          </a:p>
          <a:p>
            <a:endParaRPr lang="en-US" altLang="en-US" sz="2200">
              <a:latin typeface="Cambria" panose="02040503050406030204" pitchFamily="18" charset="0"/>
              <a:ea typeface="Cambria" panose="02040503050406030204" pitchFamily="18" charset="0"/>
              <a:cs typeface="Cambria" panose="02040503050406030204" pitchFamily="18" charset="0"/>
            </a:endParaRPr>
          </a:p>
          <a:p>
            <a:r>
              <a:rPr lang="en-US" altLang="en-US" sz="2200">
                <a:latin typeface="Cambria" panose="02040503050406030204" pitchFamily="18" charset="0"/>
                <a:ea typeface="Cambria" panose="02040503050406030204" pitchFamily="18" charset="0"/>
                <a:cs typeface="Cambria" panose="02040503050406030204" pitchFamily="18" charset="0"/>
              </a:rPr>
              <a:t>Is there a student who is good in Quidditch but not in potions</a:t>
            </a:r>
          </a:p>
          <a:p>
            <a:endParaRPr lang="en-IN" altLang="en-US" sz="2200">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E2A39C87-10F4-4351-911F-6B2493C5B04C}"/>
              </a:ext>
            </a:extLst>
          </p:cNvPr>
          <p:cNvSpPr>
            <a:spLocks noGrp="1" noChangeArrowheads="1"/>
          </p:cNvSpPr>
          <p:nvPr>
            <p:ph type="title"/>
          </p:nvPr>
        </p:nvSpPr>
        <p:spPr>
          <a:xfrm>
            <a:off x="539750" y="334963"/>
            <a:ext cx="7772400" cy="1143000"/>
          </a:xfrm>
        </p:spPr>
        <p:txBody>
          <a:bodyPr/>
          <a:lstStyle/>
          <a:p>
            <a:r>
              <a:rPr lang="en-US" altLang="en-US"/>
              <a:t>Formulation </a:t>
            </a:r>
            <a:endParaRPr lang="en-IN" altLang="en-US"/>
          </a:p>
        </p:txBody>
      </p:sp>
      <p:sp>
        <p:nvSpPr>
          <p:cNvPr id="3" name="Content Placeholder 2">
            <a:extLst>
              <a:ext uri="{FF2B5EF4-FFF2-40B4-BE49-F238E27FC236}">
                <a16:creationId xmlns:a16="http://schemas.microsoft.com/office/drawing/2014/main" id="{D7680370-B42F-489C-B1AE-0FBD3F4302F8}"/>
              </a:ext>
            </a:extLst>
          </p:cNvPr>
          <p:cNvSpPr>
            <a:spLocks noGrp="1" noRot="1" noChangeAspect="1" noMove="1" noResize="1" noEditPoints="1" noAdjustHandles="1" noChangeArrowheads="1" noChangeShapeType="1" noTextEdit="1"/>
          </p:cNvSpPr>
          <p:nvPr>
            <p:ph idx="1"/>
          </p:nvPr>
        </p:nvSpPr>
        <p:spPr>
          <a:xfrm>
            <a:off x="761328" y="2133600"/>
            <a:ext cx="8350696" cy="4114800"/>
          </a:xfrm>
          <a:blipFill>
            <a:blip r:embed="rId2"/>
            <a:stretch>
              <a:fillRect l="-1168" t="-1037" r="-803"/>
            </a:stretch>
          </a:blipFill>
          <a:extLst/>
        </p:spPr>
        <p:txBody>
          <a:bodyPr/>
          <a:lstStyle/>
          <a:p>
            <a:pPr>
              <a:defRPr/>
            </a:pPr>
            <a:r>
              <a:rPr lang="en-IN">
                <a:noFill/>
              </a:rPr>
              <a:t> </a:t>
            </a:r>
          </a:p>
        </p:txBody>
      </p:sp>
      <p:sp>
        <p:nvSpPr>
          <p:cNvPr id="57348" name="Rectangle 5">
            <a:extLst>
              <a:ext uri="{FF2B5EF4-FFF2-40B4-BE49-F238E27FC236}">
                <a16:creationId xmlns:a16="http://schemas.microsoft.com/office/drawing/2014/main" id="{39A1154F-CF7D-4AD0-BC9F-5FA117147A49}"/>
              </a:ext>
            </a:extLst>
          </p:cNvPr>
          <p:cNvSpPr>
            <a:spLocks noChangeArrowheads="1"/>
          </p:cNvSpPr>
          <p:nvPr/>
        </p:nvSpPr>
        <p:spPr bwMode="auto">
          <a:xfrm>
            <a:off x="323850" y="1196975"/>
            <a:ext cx="86407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FontTx/>
              <a:buNone/>
            </a:pPr>
            <a:r>
              <a:rPr lang="en-US" altLang="en-US" sz="2400">
                <a:latin typeface="Cambria" panose="02040503050406030204" pitchFamily="18" charset="0"/>
                <a:ea typeface="Cambria" panose="02040503050406030204" pitchFamily="18" charset="0"/>
                <a:cs typeface="Cambria" panose="02040503050406030204" pitchFamily="18" charset="0"/>
              </a:rPr>
              <a:t>Harry, Ron and Draco are students of the Hogwarts school for Wizards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charRg st="2" end="2"/>
                                            </p:txEl>
                                          </p:spTgt>
                                        </p:tgtEl>
                                        <p:attrNameLst>
                                          <p:attrName>style.visibility</p:attrName>
                                        </p:attrNameLst>
                                      </p:cBhvr>
                                      <p:to>
                                        <p:strVal val="visible"/>
                                      </p:to>
                                    </p:set>
                                    <p:animEffect transition="in" filter="fade">
                                      <p:cBhvr>
                                        <p:cTn id="14" dur="1000"/>
                                        <p:tgtEl>
                                          <p:spTgt spid="3">
                                            <p:txEl>
                                              <p:charRg st="2" end="2"/>
                                            </p:txEl>
                                          </p:spTgt>
                                        </p:tgtEl>
                                      </p:cBhvr>
                                    </p:animEffect>
                                    <p:anim calcmode="lin" valueType="num">
                                      <p:cBhvr>
                                        <p:cTn id="15" dur="1000" fill="hold"/>
                                        <p:tgtEl>
                                          <p:spTgt spid="3">
                                            <p:txEl>
                                              <p:char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char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charRg st="2" end="2"/>
                                            </p:txEl>
                                          </p:spTgt>
                                        </p:tgtEl>
                                        <p:attrNameLst>
                                          <p:attrName>style.visibility</p:attrName>
                                        </p:attrNameLst>
                                      </p:cBhvr>
                                      <p:to>
                                        <p:strVal val="visible"/>
                                      </p:to>
                                    </p:set>
                                    <p:animEffect transition="in" filter="barn(inVertical)">
                                      <p:cBhvr>
                                        <p:cTn id="21" dur="500"/>
                                        <p:tgtEl>
                                          <p:spTgt spid="3">
                                            <p:txEl>
                                              <p:char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3">
                                            <p:txEl>
                                              <p:charRg st="2" end="2"/>
                                            </p:txEl>
                                          </p:spTgt>
                                        </p:tgtEl>
                                        <p:attrNameLst>
                                          <p:attrName>style.visibility</p:attrName>
                                        </p:attrNameLst>
                                      </p:cBhvr>
                                      <p:to>
                                        <p:strVal val="visible"/>
                                      </p:to>
                                    </p:set>
                                    <p:animEffect transition="in" filter="circle(in)">
                                      <p:cBhvr>
                                        <p:cTn id="26" dur="2000"/>
                                        <p:tgtEl>
                                          <p:spTgt spid="3">
                                            <p:txEl>
                                              <p:char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F98D258B-2131-4973-914F-A8DB7E1FA61E}"/>
              </a:ext>
            </a:extLst>
          </p:cNvPr>
          <p:cNvSpPr>
            <a:spLocks noGrp="1" noChangeArrowheads="1"/>
          </p:cNvSpPr>
          <p:nvPr>
            <p:ph type="title"/>
          </p:nvPr>
        </p:nvSpPr>
        <p:spPr>
          <a:xfrm>
            <a:off x="715963" y="-139700"/>
            <a:ext cx="7772400" cy="1143000"/>
          </a:xfrm>
        </p:spPr>
        <p:txBody>
          <a:bodyPr/>
          <a:lstStyle/>
          <a:p>
            <a:r>
              <a:rPr lang="en-US" altLang="en-US"/>
              <a:t>Formulation </a:t>
            </a:r>
            <a:endParaRPr lang="en-IN" altLang="en-US"/>
          </a:p>
        </p:txBody>
      </p:sp>
      <p:sp>
        <p:nvSpPr>
          <p:cNvPr id="3" name="Content Placeholder 2">
            <a:extLst>
              <a:ext uri="{FF2B5EF4-FFF2-40B4-BE49-F238E27FC236}">
                <a16:creationId xmlns:a16="http://schemas.microsoft.com/office/drawing/2014/main" id="{DB65F347-487D-48BC-984A-717C279F6DC6}"/>
              </a:ext>
            </a:extLst>
          </p:cNvPr>
          <p:cNvSpPr>
            <a:spLocks noGrp="1" noRot="1" noChangeAspect="1" noMove="1" noResize="1" noEditPoints="1" noAdjustHandles="1" noChangeArrowheads="1" noChangeShapeType="1" noTextEdit="1"/>
          </p:cNvSpPr>
          <p:nvPr>
            <p:ph idx="1"/>
          </p:nvPr>
        </p:nvSpPr>
        <p:spPr>
          <a:blipFill>
            <a:blip r:embed="rId2"/>
            <a:stretch>
              <a:fillRect/>
            </a:stretch>
          </a:blipFill>
          <a:extLst/>
        </p:spPr>
        <p:txBody>
          <a:bodyPr/>
          <a:lstStyle/>
          <a:p>
            <a:pPr>
              <a:defRPr/>
            </a:pPr>
            <a:r>
              <a:rPr lang="en-IN">
                <a:noFill/>
              </a:rPr>
              <a:t> </a:t>
            </a:r>
          </a:p>
        </p:txBody>
      </p:sp>
      <p:sp>
        <p:nvSpPr>
          <p:cNvPr id="58372" name="Rectangle 5">
            <a:extLst>
              <a:ext uri="{FF2B5EF4-FFF2-40B4-BE49-F238E27FC236}">
                <a16:creationId xmlns:a16="http://schemas.microsoft.com/office/drawing/2014/main" id="{2DE60987-0908-4464-8AEE-86A93A7920EE}"/>
              </a:ext>
            </a:extLst>
          </p:cNvPr>
          <p:cNvSpPr>
            <a:spLocks noChangeArrowheads="1"/>
          </p:cNvSpPr>
          <p:nvPr/>
        </p:nvSpPr>
        <p:spPr bwMode="auto">
          <a:xfrm>
            <a:off x="211138" y="1155700"/>
            <a:ext cx="87836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FontTx/>
              <a:buNone/>
            </a:pPr>
            <a:r>
              <a:rPr lang="en-US" altLang="en-US" sz="2400">
                <a:latin typeface="Cambria" panose="02040503050406030204" pitchFamily="18" charset="0"/>
                <a:ea typeface="Cambria" panose="02040503050406030204" pitchFamily="18" charset="0"/>
                <a:cs typeface="Cambria" panose="02040503050406030204" pitchFamily="18" charset="0"/>
              </a:rPr>
              <a:t>No Quidditch player likes rain and all wicked students like potions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charRg st="2" end="2"/>
                                            </p:txEl>
                                          </p:spTgt>
                                        </p:tgtEl>
                                        <p:attrNameLst>
                                          <p:attrName>style.visibility</p:attrName>
                                        </p:attrNameLst>
                                      </p:cBhvr>
                                      <p:to>
                                        <p:strVal val="visible"/>
                                      </p:to>
                                    </p:set>
                                    <p:animEffect transition="in" filter="wheel(1)">
                                      <p:cBhvr>
                                        <p:cTn id="12" dur="2000"/>
                                        <p:tgtEl>
                                          <p:spTgt spid="3">
                                            <p:txEl>
                                              <p:char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charRg st="2" end="2"/>
                                            </p:txEl>
                                          </p:spTgt>
                                        </p:tgtEl>
                                        <p:attrNameLst>
                                          <p:attrName>style.visibility</p:attrName>
                                        </p:attrNameLst>
                                      </p:cBhvr>
                                      <p:to>
                                        <p:strVal val="visible"/>
                                      </p:to>
                                    </p:set>
                                    <p:animEffect transition="in" filter="circle(in)">
                                      <p:cBhvr>
                                        <p:cTn id="17" dur="2000"/>
                                        <p:tgtEl>
                                          <p:spTgt spid="3">
                                            <p:txEl>
                                              <p:char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charRg st="2" end="2"/>
                                            </p:txEl>
                                          </p:spTgt>
                                        </p:tgtEl>
                                        <p:attrNameLst>
                                          <p:attrName>style.visibility</p:attrName>
                                        </p:attrNameLst>
                                      </p:cBhvr>
                                      <p:to>
                                        <p:strVal val="visible"/>
                                      </p:to>
                                    </p:set>
                                    <p:animEffect transition="in" filter="circle(in)">
                                      <p:cBhvr>
                                        <p:cTn id="22" dur="2000"/>
                                        <p:tgtEl>
                                          <p:spTgt spid="3">
                                            <p:txEl>
                                              <p:char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7B8FFBE5-526B-4782-A344-2F7CB3382027}"/>
              </a:ext>
            </a:extLst>
          </p:cNvPr>
          <p:cNvSpPr>
            <a:spLocks noGrp="1" noChangeArrowheads="1"/>
          </p:cNvSpPr>
          <p:nvPr>
            <p:ph type="title"/>
          </p:nvPr>
        </p:nvSpPr>
        <p:spPr>
          <a:xfrm>
            <a:off x="250825" y="-61913"/>
            <a:ext cx="7772400" cy="1143001"/>
          </a:xfrm>
        </p:spPr>
        <p:txBody>
          <a:bodyPr/>
          <a:lstStyle/>
          <a:p>
            <a:r>
              <a:rPr lang="en-US" altLang="en-US"/>
              <a:t>Formulation</a:t>
            </a:r>
            <a:endParaRPr lang="en-IN" altLang="en-US"/>
          </a:p>
        </p:txBody>
      </p:sp>
      <p:sp>
        <p:nvSpPr>
          <p:cNvPr id="3" name="Content Placeholder 2">
            <a:extLst>
              <a:ext uri="{FF2B5EF4-FFF2-40B4-BE49-F238E27FC236}">
                <a16:creationId xmlns:a16="http://schemas.microsoft.com/office/drawing/2014/main" id="{79F93A79-8531-4B58-8469-9A346107D71A}"/>
              </a:ext>
            </a:extLst>
          </p:cNvPr>
          <p:cNvSpPr>
            <a:spLocks noGrp="1" noRot="1" noChangeAspect="1" noMove="1" noResize="1" noEditPoints="1" noAdjustHandles="1" noChangeArrowheads="1" noChangeShapeType="1" noTextEdit="1"/>
          </p:cNvSpPr>
          <p:nvPr>
            <p:ph idx="1"/>
          </p:nvPr>
        </p:nvSpPr>
        <p:spPr>
          <a:blipFill>
            <a:blip r:embed="rId2"/>
            <a:stretch>
              <a:fillRect l="-1647" b="-11111"/>
            </a:stretch>
          </a:blipFill>
          <a:extLst/>
        </p:spPr>
        <p:txBody>
          <a:bodyPr/>
          <a:lstStyle/>
          <a:p>
            <a:pPr>
              <a:defRPr/>
            </a:pPr>
            <a:r>
              <a:rPr lang="en-IN">
                <a:noFill/>
              </a:rPr>
              <a:t> </a:t>
            </a:r>
          </a:p>
        </p:txBody>
      </p:sp>
      <p:sp>
        <p:nvSpPr>
          <p:cNvPr id="59396" name="Rectangle 5">
            <a:extLst>
              <a:ext uri="{FF2B5EF4-FFF2-40B4-BE49-F238E27FC236}">
                <a16:creationId xmlns:a16="http://schemas.microsoft.com/office/drawing/2014/main" id="{ABC4F7D5-15CB-4706-BD3A-4964D8D24AA4}"/>
              </a:ext>
            </a:extLst>
          </p:cNvPr>
          <p:cNvSpPr>
            <a:spLocks noChangeArrowheads="1"/>
          </p:cNvSpPr>
          <p:nvPr/>
        </p:nvSpPr>
        <p:spPr bwMode="auto">
          <a:xfrm>
            <a:off x="231775" y="1116013"/>
            <a:ext cx="90725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a:solidFill>
                  <a:schemeClr val="tx1"/>
                </a:solidFill>
                <a:latin typeface="Arial" panose="020B0604020202020204" pitchFamily="34" charset="0"/>
              </a:defRPr>
            </a:lvl4pPr>
            <a:lvl5pPr marL="2057400" indent="-228600">
              <a:spcBef>
                <a:spcPct val="20000"/>
              </a:spcBef>
              <a:buChar char="»"/>
              <a:defRPr>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defRPr>
            </a:lvl9pPr>
          </a:lstStyle>
          <a:p>
            <a:pPr>
              <a:spcBef>
                <a:spcPct val="0"/>
              </a:spcBef>
              <a:buFontTx/>
              <a:buNone/>
            </a:pPr>
            <a:r>
              <a:rPr lang="en-US" altLang="en-US" sz="2400">
                <a:latin typeface="Cambria" panose="02040503050406030204" pitchFamily="18" charset="0"/>
                <a:ea typeface="Cambria" panose="02040503050406030204" pitchFamily="18" charset="0"/>
                <a:cs typeface="Cambria" panose="02040503050406030204" pitchFamily="18" charset="0"/>
              </a:rPr>
              <a:t>Draco dislikes whatever Harry likes and likes whatever Harry dislikes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charRg st="2" end="2"/>
                                            </p:txEl>
                                          </p:spTgt>
                                        </p:tgtEl>
                                        <p:attrNameLst>
                                          <p:attrName>style.visibility</p:attrName>
                                        </p:attrNameLst>
                                      </p:cBhvr>
                                      <p:to>
                                        <p:strVal val="visible"/>
                                      </p:to>
                                    </p:set>
                                    <p:animEffect transition="in" filter="barn(inVertical)">
                                      <p:cBhvr>
                                        <p:cTn id="12" dur="500"/>
                                        <p:tgtEl>
                                          <p:spTgt spid="3">
                                            <p:txEl>
                                              <p:char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
                                            <p:txEl>
                                              <p:charRg st="2" end="2"/>
                                            </p:txEl>
                                          </p:spTgt>
                                        </p:tgtEl>
                                        <p:attrNameLst>
                                          <p:attrName>style.visibility</p:attrName>
                                        </p:attrNameLst>
                                      </p:cBhvr>
                                      <p:to>
                                        <p:strVal val="visible"/>
                                      </p:to>
                                    </p:set>
                                    <p:animEffect transition="in" filter="wheel(1)">
                                      <p:cBhvr>
                                        <p:cTn id="17" dur="2000"/>
                                        <p:tgtEl>
                                          <p:spTgt spid="3">
                                            <p:txEl>
                                              <p:char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
                                            <p:txEl>
                                              <p:charRg st="2" end="2"/>
                                            </p:txEl>
                                          </p:spTgt>
                                        </p:tgtEl>
                                        <p:attrNameLst>
                                          <p:attrName>style.visibility</p:attrName>
                                        </p:attrNameLst>
                                      </p:cBhvr>
                                      <p:to>
                                        <p:strVal val="visible"/>
                                      </p:to>
                                    </p:set>
                                    <p:animEffect transition="in" filter="wheel(1)">
                                      <p:cBhvr>
                                        <p:cTn id="22" dur="2000"/>
                                        <p:tgtEl>
                                          <p:spTgt spid="3">
                                            <p:txEl>
                                              <p:char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charRg st="2" end="2"/>
                                            </p:txEl>
                                          </p:spTgt>
                                        </p:tgtEl>
                                        <p:attrNameLst>
                                          <p:attrName>style.visibility</p:attrName>
                                        </p:attrNameLst>
                                      </p:cBhvr>
                                      <p:to>
                                        <p:strVal val="visible"/>
                                      </p:to>
                                    </p:set>
                                    <p:animEffect transition="in" filter="circle(in)">
                                      <p:cBhvr>
                                        <p:cTn id="27" dur="2000"/>
                                        <p:tgtEl>
                                          <p:spTgt spid="3">
                                            <p:txEl>
                                              <p:char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charRg st="2" end="2"/>
                                            </p:txEl>
                                          </p:spTgt>
                                        </p:tgtEl>
                                        <p:attrNameLst>
                                          <p:attrName>style.visibility</p:attrName>
                                        </p:attrNameLst>
                                      </p:cBhvr>
                                      <p:to>
                                        <p:strVal val="visible"/>
                                      </p:to>
                                    </p:set>
                                    <p:animEffect transition="in" filter="circle(in)">
                                      <p:cBhvr>
                                        <p:cTn id="32" dur="2000"/>
                                        <p:tgtEl>
                                          <p:spTgt spid="3">
                                            <p:txEl>
                                              <p:char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BCBF346-3E13-4BB5-94F9-DE3193F2E55E}"/>
              </a:ext>
            </a:extLst>
          </p:cNvPr>
          <p:cNvSpPr>
            <a:spLocks noGrp="1" noChangeArrowheads="1"/>
          </p:cNvSpPr>
          <p:nvPr>
            <p:ph type="title"/>
          </p:nvPr>
        </p:nvSpPr>
        <p:spPr>
          <a:xfrm>
            <a:off x="323850" y="260350"/>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Formulation</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3" name="Content Placeholder 2">
            <a:extLst>
              <a:ext uri="{FF2B5EF4-FFF2-40B4-BE49-F238E27FC236}">
                <a16:creationId xmlns:a16="http://schemas.microsoft.com/office/drawing/2014/main" id="{AD191E27-C384-4890-8BBA-73AEEF9D00B9}"/>
              </a:ext>
            </a:extLst>
          </p:cNvPr>
          <p:cNvSpPr>
            <a:spLocks noGrp="1" noRot="1" noChangeAspect="1" noMove="1" noResize="1" noEditPoints="1" noAdjustHandles="1" noChangeArrowheads="1" noChangeShapeType="1" noTextEdit="1"/>
          </p:cNvSpPr>
          <p:nvPr>
            <p:ph idx="1"/>
          </p:nvPr>
        </p:nvSpPr>
        <p:spPr>
          <a:blipFill>
            <a:blip r:embed="rId2"/>
            <a:stretch>
              <a:fillRect/>
            </a:stretch>
          </a:blipFill>
          <a:extLst/>
        </p:spPr>
        <p:txBody>
          <a:bodyPr/>
          <a:lstStyle/>
          <a:p>
            <a:pPr>
              <a:defRPr/>
            </a:pPr>
            <a:r>
              <a:rPr lang="en-IN">
                <a:noFill/>
              </a:rPr>
              <a:t> </a:t>
            </a:r>
          </a:p>
        </p:txBody>
      </p:sp>
      <p:cxnSp>
        <p:nvCxnSpPr>
          <p:cNvPr id="7" name="Straight Arrow Connector 6">
            <a:extLst>
              <a:ext uri="{FF2B5EF4-FFF2-40B4-BE49-F238E27FC236}">
                <a16:creationId xmlns:a16="http://schemas.microsoft.com/office/drawing/2014/main" id="{510EBB7D-4452-46D9-95E4-B0D261B385C9}"/>
              </a:ext>
            </a:extLst>
          </p:cNvPr>
          <p:cNvCxnSpPr/>
          <p:nvPr/>
        </p:nvCxnSpPr>
        <p:spPr>
          <a:xfrm flipV="1">
            <a:off x="1331913" y="3933825"/>
            <a:ext cx="144462" cy="2873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9CF684BF-51C0-4025-ADCA-A3A60589F044}"/>
              </a:ext>
            </a:extLst>
          </p:cNvPr>
          <p:cNvSpPr>
            <a:spLocks noGrp="1" noChangeArrowheads="1"/>
          </p:cNvSpPr>
          <p:nvPr>
            <p:ph type="title"/>
          </p:nvPr>
        </p:nvSpPr>
        <p:spPr>
          <a:xfrm>
            <a:off x="236538" y="260350"/>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Formulation </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pic>
        <p:nvPicPr>
          <p:cNvPr id="61443" name="Picture 5">
            <a:extLst>
              <a:ext uri="{FF2B5EF4-FFF2-40B4-BE49-F238E27FC236}">
                <a16:creationId xmlns:a16="http://schemas.microsoft.com/office/drawing/2014/main" id="{8CDAA685-356A-4558-A609-2A8006F36860}"/>
              </a:ext>
            </a:extLst>
          </p:cNvPr>
          <p:cNvPicPr>
            <a:picLocks noChangeAspect="1"/>
          </p:cNvPicPr>
          <p:nvPr/>
        </p:nvPicPr>
        <p:blipFill>
          <a:blip r:embed="rId2">
            <a:extLst>
              <a:ext uri="{28A0092B-C50C-407E-A947-70E740481C1C}">
                <a14:useLocalDpi xmlns:a14="http://schemas.microsoft.com/office/drawing/2010/main" val="0"/>
              </a:ext>
            </a:extLst>
          </a:blip>
          <a:srcRect t="24802" b="15350"/>
          <a:stretch>
            <a:fillRect/>
          </a:stretch>
        </p:blipFill>
        <p:spPr bwMode="auto">
          <a:xfrm>
            <a:off x="1547813" y="1916113"/>
            <a:ext cx="514985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0D67B6A6-EF14-405E-B8BA-54310F4D1DE5}"/>
              </a:ext>
            </a:extLst>
          </p:cNvPr>
          <p:cNvSpPr>
            <a:spLocks noGrp="1" noChangeArrowheads="1"/>
          </p:cNvSpPr>
          <p:nvPr>
            <p:ph type="title"/>
          </p:nvPr>
        </p:nvSpPr>
        <p:spPr>
          <a:xfrm>
            <a:off x="379413" y="-317500"/>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Formulation </a:t>
            </a:r>
            <a:endParaRPr lang="en-IN" altLang="en-US"/>
          </a:p>
        </p:txBody>
      </p:sp>
      <p:pic>
        <p:nvPicPr>
          <p:cNvPr id="6" name="Picture 5">
            <a:extLst>
              <a:ext uri="{FF2B5EF4-FFF2-40B4-BE49-F238E27FC236}">
                <a16:creationId xmlns:a16="http://schemas.microsoft.com/office/drawing/2014/main" id="{84BFF7DA-EEC2-466F-B2B6-B3188DCDEFDA}"/>
              </a:ext>
            </a:extLst>
          </p:cNvPr>
          <p:cNvPicPr>
            <a:picLocks noChangeAspect="1"/>
          </p:cNvPicPr>
          <p:nvPr/>
        </p:nvPicPr>
        <p:blipFill>
          <a:blip r:embed="rId2">
            <a:extLst>
              <a:ext uri="{28A0092B-C50C-407E-A947-70E740481C1C}">
                <a14:useLocalDpi xmlns:a14="http://schemas.microsoft.com/office/drawing/2010/main" val="0"/>
              </a:ext>
            </a:extLst>
          </a:blip>
          <a:srcRect t="40549" b="15350"/>
          <a:stretch>
            <a:fillRect/>
          </a:stretch>
        </p:blipFill>
        <p:spPr bwMode="auto">
          <a:xfrm>
            <a:off x="2051050" y="644525"/>
            <a:ext cx="4781550"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3AE28D87-68F6-475E-AD23-9EE40B215238}"/>
              </a:ext>
            </a:extLst>
          </p:cNvPr>
          <p:cNvPicPr>
            <a:picLocks noChangeAspect="1"/>
          </p:cNvPicPr>
          <p:nvPr/>
        </p:nvPicPr>
        <p:blipFill>
          <a:blip r:embed="rId3">
            <a:extLst>
              <a:ext uri="{28A0092B-C50C-407E-A947-70E740481C1C}">
                <a14:useLocalDpi xmlns:a14="http://schemas.microsoft.com/office/drawing/2010/main" val="0"/>
              </a:ext>
            </a:extLst>
          </a:blip>
          <a:srcRect l="2457" t="23750" r="2457" b="26901"/>
          <a:stretch>
            <a:fillRect/>
          </a:stretch>
        </p:blipFill>
        <p:spPr bwMode="auto">
          <a:xfrm>
            <a:off x="2051050" y="3465513"/>
            <a:ext cx="4687888"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834EB1E6-8DAE-42C6-B72E-F4C7F31E5257}"/>
              </a:ext>
            </a:extLst>
          </p:cNvPr>
          <p:cNvSpPr>
            <a:spLocks noGrp="1" noChangeArrowheads="1"/>
          </p:cNvSpPr>
          <p:nvPr>
            <p:ph type="title"/>
          </p:nvPr>
        </p:nvSpPr>
        <p:spPr>
          <a:xfrm>
            <a:off x="539750" y="190500"/>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Resolution Strategies </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63491" name="Content Placeholder 2">
            <a:extLst>
              <a:ext uri="{FF2B5EF4-FFF2-40B4-BE49-F238E27FC236}">
                <a16:creationId xmlns:a16="http://schemas.microsoft.com/office/drawing/2014/main" id="{645B80ED-5F7C-4ED4-9214-D3BE3BDA1017}"/>
              </a:ext>
            </a:extLst>
          </p:cNvPr>
          <p:cNvSpPr>
            <a:spLocks noGrp="1" noChangeArrowheads="1"/>
          </p:cNvSpPr>
          <p:nvPr>
            <p:ph idx="1"/>
          </p:nvPr>
        </p:nvSpPr>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Unit Resolution </a:t>
            </a:r>
          </a:p>
          <a:p>
            <a:r>
              <a:rPr lang="en-US" altLang="en-US">
                <a:latin typeface="Cambria" panose="02040503050406030204" pitchFamily="18" charset="0"/>
                <a:ea typeface="Cambria" panose="02040503050406030204" pitchFamily="18" charset="0"/>
                <a:cs typeface="Cambria" panose="02040503050406030204" pitchFamily="18" charset="0"/>
              </a:rPr>
              <a:t>Every resolution step must involve a unit clause. </a:t>
            </a:r>
          </a:p>
          <a:p>
            <a:r>
              <a:rPr lang="en-US" altLang="en-US">
                <a:latin typeface="Cambria" panose="02040503050406030204" pitchFamily="18" charset="0"/>
                <a:ea typeface="Cambria" panose="02040503050406030204" pitchFamily="18" charset="0"/>
                <a:cs typeface="Cambria" panose="02040503050406030204" pitchFamily="18" charset="0"/>
              </a:rPr>
              <a:t>Leads to a good speed up</a:t>
            </a:r>
          </a:p>
          <a:p>
            <a:endParaRPr lang="en-US" altLang="en-US">
              <a:latin typeface="Cambria" panose="02040503050406030204" pitchFamily="18" charset="0"/>
              <a:ea typeface="Cambria" panose="02040503050406030204" pitchFamily="18" charset="0"/>
              <a:cs typeface="Cambria" panose="02040503050406030204" pitchFamily="18" charset="0"/>
            </a:endParaRPr>
          </a:p>
          <a:p>
            <a:r>
              <a:rPr lang="en-US" altLang="en-US">
                <a:latin typeface="Cambria" panose="02040503050406030204" pitchFamily="18" charset="0"/>
                <a:ea typeface="Cambria" panose="02040503050406030204" pitchFamily="18" charset="0"/>
                <a:cs typeface="Cambria" panose="02040503050406030204" pitchFamily="18" charset="0"/>
              </a:rPr>
              <a:t>Incomplete in general</a:t>
            </a:r>
          </a:p>
          <a:p>
            <a:endParaRPr lang="en-US" altLang="en-US">
              <a:latin typeface="Cambria" panose="02040503050406030204" pitchFamily="18" charset="0"/>
              <a:ea typeface="Cambria" panose="02040503050406030204" pitchFamily="18" charset="0"/>
              <a:cs typeface="Cambria" panose="02040503050406030204" pitchFamily="18" charset="0"/>
            </a:endParaRPr>
          </a:p>
          <a:p>
            <a:r>
              <a:rPr lang="en-US" altLang="en-US">
                <a:latin typeface="Cambria" panose="02040503050406030204" pitchFamily="18" charset="0"/>
                <a:ea typeface="Cambria" panose="02040503050406030204" pitchFamily="18" charset="0"/>
                <a:cs typeface="Cambria" panose="02040503050406030204" pitchFamily="18" charset="0"/>
              </a:rPr>
              <a:t>Complete for Horn knowledge bases</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3F3A463E-A9FE-4708-8DC2-E9BD32CB595C}"/>
              </a:ext>
            </a:extLst>
          </p:cNvPr>
          <p:cNvSpPr>
            <a:spLocks noGrp="1" noChangeArrowheads="1"/>
          </p:cNvSpPr>
          <p:nvPr>
            <p:ph type="title"/>
          </p:nvPr>
        </p:nvSpPr>
        <p:spPr>
          <a:xfrm>
            <a:off x="468313" y="190500"/>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Resolution Strategies </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64515" name="Content Placeholder 2">
            <a:extLst>
              <a:ext uri="{FF2B5EF4-FFF2-40B4-BE49-F238E27FC236}">
                <a16:creationId xmlns:a16="http://schemas.microsoft.com/office/drawing/2014/main" id="{1D99EF12-3754-4E64-BA73-3D8A73FB5CDF}"/>
              </a:ext>
            </a:extLst>
          </p:cNvPr>
          <p:cNvSpPr>
            <a:spLocks noGrp="1" noChangeArrowheads="1"/>
          </p:cNvSpPr>
          <p:nvPr>
            <p:ph idx="1"/>
          </p:nvPr>
        </p:nvSpPr>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Input Resolution </a:t>
            </a:r>
          </a:p>
          <a:p>
            <a:r>
              <a:rPr lang="en-US" altLang="en-US">
                <a:latin typeface="Cambria" panose="02040503050406030204" pitchFamily="18" charset="0"/>
                <a:ea typeface="Cambria" panose="02040503050406030204" pitchFamily="18" charset="0"/>
                <a:cs typeface="Cambria" panose="02040503050406030204" pitchFamily="18" charset="0"/>
              </a:rPr>
              <a:t>Every resolution step must involve a input sequence (from the query or the KB). </a:t>
            </a:r>
          </a:p>
          <a:p>
            <a:r>
              <a:rPr lang="en-US" altLang="en-US">
                <a:latin typeface="Cambria" panose="02040503050406030204" pitchFamily="18" charset="0"/>
                <a:ea typeface="Cambria" panose="02040503050406030204" pitchFamily="18" charset="0"/>
                <a:cs typeface="Cambria" panose="02040503050406030204" pitchFamily="18" charset="0"/>
              </a:rPr>
              <a:t>In Horn knowledge bases, Modus Ponens is a kind of input resolution strategy   </a:t>
            </a:r>
          </a:p>
          <a:p>
            <a:r>
              <a:rPr lang="en-US" altLang="en-US">
                <a:latin typeface="Cambria" panose="02040503050406030204" pitchFamily="18" charset="0"/>
                <a:ea typeface="Cambria" panose="02040503050406030204" pitchFamily="18" charset="0"/>
                <a:cs typeface="Cambria" panose="02040503050406030204" pitchFamily="18" charset="0"/>
              </a:rPr>
              <a:t>Incomplete in general</a:t>
            </a:r>
          </a:p>
          <a:p>
            <a:r>
              <a:rPr lang="en-US" altLang="en-US">
                <a:latin typeface="Cambria" panose="02040503050406030204" pitchFamily="18" charset="0"/>
                <a:ea typeface="Cambria" panose="02040503050406030204" pitchFamily="18" charset="0"/>
                <a:cs typeface="Cambria" panose="02040503050406030204" pitchFamily="18" charset="0"/>
              </a:rPr>
              <a:t>Complete for Horn knowledge bases</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F71328F6-196F-48AB-A0F4-A3F35BCB9BD4}"/>
              </a:ext>
            </a:extLst>
          </p:cNvPr>
          <p:cNvSpPr>
            <a:spLocks noGrp="1" noChangeArrowheads="1"/>
          </p:cNvSpPr>
          <p:nvPr>
            <p:ph type="title"/>
          </p:nvPr>
        </p:nvSpPr>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Resolution Strategies </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3" name="Content Placeholder 2">
            <a:extLst>
              <a:ext uri="{FF2B5EF4-FFF2-40B4-BE49-F238E27FC236}">
                <a16:creationId xmlns:a16="http://schemas.microsoft.com/office/drawing/2014/main" id="{06BB62FC-8B8D-485B-B311-9A64AA58213A}"/>
              </a:ext>
            </a:extLst>
          </p:cNvPr>
          <p:cNvSpPr>
            <a:spLocks noGrp="1"/>
          </p:cNvSpPr>
          <p:nvPr>
            <p:ph idx="1"/>
          </p:nvPr>
        </p:nvSpPr>
        <p:spPr/>
        <p:txBody>
          <a:bodyPr/>
          <a:lstStyle/>
          <a:p>
            <a:pPr marL="0" indent="0">
              <a:buFontTx/>
              <a:buNone/>
              <a:defRPr/>
            </a:pPr>
            <a:r>
              <a:rPr lang="en-US" dirty="0">
                <a:latin typeface="Cambria" panose="02040503050406030204" pitchFamily="18" charset="0"/>
                <a:ea typeface="Cambria" panose="02040503050406030204" pitchFamily="18" charset="0"/>
              </a:rPr>
              <a:t>Linear Resolution </a:t>
            </a:r>
          </a:p>
          <a:p>
            <a:pPr>
              <a:defRPr/>
            </a:pPr>
            <a:r>
              <a:rPr lang="en-US" dirty="0">
                <a:latin typeface="Cambria" panose="02040503050406030204" pitchFamily="18" charset="0"/>
                <a:ea typeface="Cambria" panose="02040503050406030204" pitchFamily="18" charset="0"/>
              </a:rPr>
              <a:t>Slight generalization of input resolution </a:t>
            </a:r>
          </a:p>
          <a:p>
            <a:pPr>
              <a:defRPr/>
            </a:pPr>
            <a:r>
              <a:rPr lang="en-US" dirty="0">
                <a:latin typeface="Cambria" panose="02040503050406030204" pitchFamily="18" charset="0"/>
                <a:ea typeface="Cambria" panose="02040503050406030204" pitchFamily="18" charset="0"/>
              </a:rPr>
              <a:t>Allows P and Q to be resolved together either if P is in original KB, or if P is an ancestor of Q in proof tree.</a:t>
            </a:r>
          </a:p>
          <a:p>
            <a:pPr>
              <a:defRPr/>
            </a:pPr>
            <a:r>
              <a:rPr lang="en-US" dirty="0">
                <a:latin typeface="Cambria" panose="02040503050406030204" pitchFamily="18" charset="0"/>
                <a:ea typeface="Cambria" panose="02040503050406030204" pitchFamily="18" charset="0"/>
              </a:rPr>
              <a:t>Linear resolution is complete</a:t>
            </a:r>
            <a:endParaRPr lang="en-IN" dirty="0">
              <a:latin typeface="Cambria" panose="02040503050406030204" pitchFamily="18" charset="0"/>
              <a:ea typeface="Cambria" panose="02040503050406030204" pitchFamily="18" charset="0"/>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34A62981-2578-4048-BA0F-AACB4BD2BADF}"/>
              </a:ext>
            </a:extLst>
          </p:cNvPr>
          <p:cNvSpPr>
            <a:spLocks noGrp="1" noChangeArrowheads="1"/>
          </p:cNvSpPr>
          <p:nvPr>
            <p:ph type="title"/>
          </p:nvPr>
        </p:nvSpPr>
        <p:spPr>
          <a:xfrm>
            <a:off x="395288" y="260350"/>
            <a:ext cx="7772400" cy="1143000"/>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General Term</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66563" name="Content Placeholder 2">
            <a:extLst>
              <a:ext uri="{FF2B5EF4-FFF2-40B4-BE49-F238E27FC236}">
                <a16:creationId xmlns:a16="http://schemas.microsoft.com/office/drawing/2014/main" id="{1F297CC3-C97F-45E3-90CD-728866BA761C}"/>
              </a:ext>
            </a:extLst>
          </p:cNvPr>
          <p:cNvSpPr>
            <a:spLocks noGrp="1" noChangeArrowheads="1"/>
          </p:cNvSpPr>
          <p:nvPr>
            <p:ph idx="1"/>
          </p:nvPr>
        </p:nvSpPr>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Everyone who loves all animals is loved by someone.</a:t>
            </a:r>
          </a:p>
          <a:p>
            <a:r>
              <a:rPr lang="en-US" altLang="en-US">
                <a:latin typeface="Cambria" panose="02040503050406030204" pitchFamily="18" charset="0"/>
                <a:ea typeface="Cambria" panose="02040503050406030204" pitchFamily="18" charset="0"/>
                <a:cs typeface="Cambria" panose="02040503050406030204" pitchFamily="18" charset="0"/>
              </a:rPr>
              <a:t>Anyone who kills an animal is loved by no one.</a:t>
            </a:r>
          </a:p>
          <a:p>
            <a:r>
              <a:rPr lang="en-IN" altLang="en-US">
                <a:latin typeface="Cambria" panose="02040503050406030204" pitchFamily="18" charset="0"/>
                <a:ea typeface="Cambria" panose="02040503050406030204" pitchFamily="18" charset="0"/>
                <a:cs typeface="Cambria" panose="02040503050406030204" pitchFamily="18" charset="0"/>
              </a:rPr>
              <a:t>Jack loves all animals.</a:t>
            </a:r>
          </a:p>
          <a:p>
            <a:r>
              <a:rPr lang="en-US" altLang="en-US">
                <a:latin typeface="Cambria" panose="02040503050406030204" pitchFamily="18" charset="0"/>
                <a:ea typeface="Cambria" panose="02040503050406030204" pitchFamily="18" charset="0"/>
                <a:cs typeface="Cambria" panose="02040503050406030204" pitchFamily="18" charset="0"/>
              </a:rPr>
              <a:t>Either Jack or Curiosity killed the cat, who is named Tuna.</a:t>
            </a:r>
          </a:p>
          <a:p>
            <a:r>
              <a:rPr lang="en-US" altLang="en-US">
                <a:latin typeface="Cambria" panose="02040503050406030204" pitchFamily="18" charset="0"/>
                <a:ea typeface="Cambria" panose="02040503050406030204" pitchFamily="18" charset="0"/>
                <a:cs typeface="Cambria" panose="02040503050406030204" pitchFamily="18" charset="0"/>
              </a:rPr>
              <a:t>Did Curiosity kill the cat?</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F21EC9AD-B464-4A0B-8B17-A88E5B7F4BCE}"/>
              </a:ext>
            </a:extLst>
          </p:cNvPr>
          <p:cNvSpPr>
            <a:spLocks noGrp="1" noChangeArrowheads="1"/>
          </p:cNvSpPr>
          <p:nvPr>
            <p:ph type="title"/>
          </p:nvPr>
        </p:nvSpPr>
        <p:spPr>
          <a:xfrm>
            <a:off x="323850" y="87313"/>
            <a:ext cx="7772400" cy="1143000"/>
          </a:xfrm>
        </p:spPr>
        <p:txBody>
          <a:bodyPr/>
          <a:lstStyle/>
          <a:p>
            <a:r>
              <a:rPr lang="en-US" altLang="en-US" sz="3600">
                <a:latin typeface="Cambria" panose="02040503050406030204" pitchFamily="18" charset="0"/>
                <a:ea typeface="Cambria" panose="02040503050406030204" pitchFamily="18" charset="0"/>
                <a:cs typeface="Cambria" panose="02040503050406030204" pitchFamily="18" charset="0"/>
              </a:rPr>
              <a:t>Proof</a:t>
            </a:r>
            <a:endParaRPr lang="en-IN" altLang="en-US" sz="3600">
              <a:latin typeface="Cambria" panose="02040503050406030204" pitchFamily="18" charset="0"/>
              <a:ea typeface="Cambria" panose="02040503050406030204" pitchFamily="18" charset="0"/>
              <a:cs typeface="Cambria" panose="02040503050406030204" pitchFamily="18" charset="0"/>
            </a:endParaRPr>
          </a:p>
        </p:txBody>
      </p:sp>
      <p:sp>
        <p:nvSpPr>
          <p:cNvPr id="67587" name="Content Placeholder 2">
            <a:extLst>
              <a:ext uri="{FF2B5EF4-FFF2-40B4-BE49-F238E27FC236}">
                <a16:creationId xmlns:a16="http://schemas.microsoft.com/office/drawing/2014/main" id="{4540C5C3-7156-4411-8B57-02A8977D4713}"/>
              </a:ext>
            </a:extLst>
          </p:cNvPr>
          <p:cNvSpPr>
            <a:spLocks noGrp="1" noChangeArrowheads="1"/>
          </p:cNvSpPr>
          <p:nvPr>
            <p:ph idx="1"/>
          </p:nvPr>
        </p:nvSpPr>
        <p:spPr>
          <a:xfrm>
            <a:off x="195263" y="1412875"/>
            <a:ext cx="8820150" cy="4114800"/>
          </a:xfrm>
        </p:spPr>
        <p:txBody>
          <a:bodyPr/>
          <a:lstStyle/>
          <a:p>
            <a:r>
              <a:rPr lang="en-US" altLang="en-US" sz="2000">
                <a:latin typeface="Cambria" panose="02040503050406030204" pitchFamily="18" charset="0"/>
                <a:ea typeface="Cambria" panose="02040503050406030204" pitchFamily="18" charset="0"/>
                <a:cs typeface="Cambria" panose="02040503050406030204" pitchFamily="18" charset="0"/>
              </a:rPr>
              <a:t>First, we express the original sentences, some background knowledge, and the negated goal </a:t>
            </a:r>
            <a:r>
              <a:rPr lang="en-IN" altLang="en-US" sz="2000">
                <a:latin typeface="Cambria" panose="02040503050406030204" pitchFamily="18" charset="0"/>
                <a:ea typeface="Cambria" panose="02040503050406030204" pitchFamily="18" charset="0"/>
                <a:cs typeface="Cambria" panose="02040503050406030204" pitchFamily="18" charset="0"/>
              </a:rPr>
              <a:t>G in first-order logic:</a:t>
            </a:r>
          </a:p>
        </p:txBody>
      </p:sp>
      <p:pic>
        <p:nvPicPr>
          <p:cNvPr id="67588" name="Picture 5">
            <a:extLst>
              <a:ext uri="{FF2B5EF4-FFF2-40B4-BE49-F238E27FC236}">
                <a16:creationId xmlns:a16="http://schemas.microsoft.com/office/drawing/2014/main" id="{BEB6256A-ABEA-403E-81FC-9407D5749AB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5900" y="2997200"/>
            <a:ext cx="8928100" cy="271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E55DAA85-A539-44CC-B06B-BFCDBE6DCC4D}"/>
              </a:ext>
            </a:extLst>
          </p:cNvPr>
          <p:cNvSpPr>
            <a:spLocks noGrp="1" noChangeArrowheads="1"/>
          </p:cNvSpPr>
          <p:nvPr>
            <p:ph type="title"/>
          </p:nvPr>
        </p:nvSpPr>
        <p:spPr>
          <a:xfrm>
            <a:off x="468313" y="-26988"/>
            <a:ext cx="7772400" cy="1143001"/>
          </a:xfrm>
        </p:spPr>
        <p:txBody>
          <a:bodyPr/>
          <a:lstStyle/>
          <a:p>
            <a:r>
              <a:rPr lang="en-US" altLang="en-US">
                <a:latin typeface="Cambria" panose="02040503050406030204" pitchFamily="18" charset="0"/>
                <a:ea typeface="Cambria" panose="02040503050406030204" pitchFamily="18" charset="0"/>
                <a:cs typeface="Cambria" panose="02040503050406030204" pitchFamily="18" charset="0"/>
              </a:rPr>
              <a:t>Formulation </a:t>
            </a:r>
            <a:endParaRPr lang="en-IN" altLang="en-US">
              <a:latin typeface="Cambria" panose="02040503050406030204" pitchFamily="18" charset="0"/>
              <a:ea typeface="Cambria" panose="02040503050406030204" pitchFamily="18" charset="0"/>
              <a:cs typeface="Cambria" panose="02040503050406030204" pitchFamily="18" charset="0"/>
            </a:endParaRPr>
          </a:p>
        </p:txBody>
      </p:sp>
      <p:sp>
        <p:nvSpPr>
          <p:cNvPr id="68611" name="Content Placeholder 2">
            <a:extLst>
              <a:ext uri="{FF2B5EF4-FFF2-40B4-BE49-F238E27FC236}">
                <a16:creationId xmlns:a16="http://schemas.microsoft.com/office/drawing/2014/main" id="{BCB99687-19C2-4456-8173-E202D73905F9}"/>
              </a:ext>
            </a:extLst>
          </p:cNvPr>
          <p:cNvSpPr>
            <a:spLocks noGrp="1" noChangeArrowheads="1"/>
          </p:cNvSpPr>
          <p:nvPr>
            <p:ph idx="1"/>
          </p:nvPr>
        </p:nvSpPr>
        <p:spPr>
          <a:xfrm>
            <a:off x="506413" y="1268413"/>
            <a:ext cx="7772400" cy="4114800"/>
          </a:xfrm>
        </p:spPr>
        <p:txBody>
          <a:bodyPr/>
          <a:lstStyle/>
          <a:p>
            <a:r>
              <a:rPr lang="en-US" altLang="en-US" sz="2400">
                <a:latin typeface="Cambria" panose="02040503050406030204" pitchFamily="18" charset="0"/>
                <a:ea typeface="Cambria" panose="02040503050406030204" pitchFamily="18" charset="0"/>
                <a:cs typeface="Cambria" panose="02040503050406030204" pitchFamily="18" charset="0"/>
              </a:rPr>
              <a:t>Now we apply the conversion procedure to convert each sentence to CNF:</a:t>
            </a:r>
            <a:endParaRPr lang="en-IN" altLang="en-US" sz="2400">
              <a:latin typeface="Cambria" panose="02040503050406030204" pitchFamily="18" charset="0"/>
              <a:ea typeface="Cambria" panose="02040503050406030204" pitchFamily="18" charset="0"/>
              <a:cs typeface="Cambria" panose="02040503050406030204" pitchFamily="18" charset="0"/>
            </a:endParaRPr>
          </a:p>
        </p:txBody>
      </p:sp>
      <p:pic>
        <p:nvPicPr>
          <p:cNvPr id="68612" name="Picture 5">
            <a:extLst>
              <a:ext uri="{FF2B5EF4-FFF2-40B4-BE49-F238E27FC236}">
                <a16:creationId xmlns:a16="http://schemas.microsoft.com/office/drawing/2014/main" id="{719C4739-3FD9-4AD6-9F86-8833BA17110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363788"/>
            <a:ext cx="7704138"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1983</TotalTime>
  <Words>5747</Words>
  <Application>Microsoft Office PowerPoint</Application>
  <PresentationFormat>On-screen Show (4:3)</PresentationFormat>
  <Paragraphs>654</Paragraphs>
  <Slides>86</Slides>
  <Notes>11</Notes>
  <HiddenSlides>2</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86</vt:i4>
      </vt:variant>
    </vt:vector>
  </HeadingPairs>
  <TitlesOfParts>
    <vt:vector size="95" baseType="lpstr">
      <vt:lpstr>Arial</vt:lpstr>
      <vt:lpstr>Book Antiqua</vt:lpstr>
      <vt:lpstr>Cambria</vt:lpstr>
      <vt:lpstr>Symbol</vt:lpstr>
      <vt:lpstr>Tahoma</vt:lpstr>
      <vt:lpstr>Times New Roman</vt:lpstr>
      <vt:lpstr>Wingdings</vt:lpstr>
      <vt:lpstr>Default Design</vt:lpstr>
      <vt:lpstr>Equation</vt:lpstr>
      <vt:lpstr>Inference in First-Order logic</vt:lpstr>
      <vt:lpstr>Inference rules</vt:lpstr>
      <vt:lpstr>Inference Rules</vt:lpstr>
      <vt:lpstr>Inference Rules </vt:lpstr>
      <vt:lpstr>Inference Rules </vt:lpstr>
      <vt:lpstr>Additional Rules of Inference</vt:lpstr>
      <vt:lpstr>Additional rules of inference</vt:lpstr>
      <vt:lpstr>Forward Chaining</vt:lpstr>
      <vt:lpstr>Example Problem</vt:lpstr>
      <vt:lpstr>Example Problem</vt:lpstr>
      <vt:lpstr>Answer Questions (by Proof)</vt:lpstr>
      <vt:lpstr>Pictorial View: Forward Chaining</vt:lpstr>
      <vt:lpstr>More Efficient Forward Chaining</vt:lpstr>
      <vt:lpstr>Forward Chaining</vt:lpstr>
      <vt:lpstr>Backward Chaining</vt:lpstr>
      <vt:lpstr>Inference rules</vt:lpstr>
      <vt:lpstr>Reasoning in first-order logic</vt:lpstr>
      <vt:lpstr>FoL Formulation</vt:lpstr>
      <vt:lpstr>The country Rome, an enemy of Gaul, has acquired some potion formulas, and all of its formulas were sold to it by Druid Traitorix,  </vt:lpstr>
      <vt:lpstr>Forward Chaning </vt:lpstr>
      <vt:lpstr>Backward Chaning </vt:lpstr>
      <vt:lpstr>Generalized Modus Ponens</vt:lpstr>
      <vt:lpstr>PowerPoint Presentation</vt:lpstr>
      <vt:lpstr>Example knowledge base</vt:lpstr>
      <vt:lpstr>Example knowledge base</vt:lpstr>
      <vt:lpstr>Forward chaining proof</vt:lpstr>
      <vt:lpstr>Forward chaining proof</vt:lpstr>
      <vt:lpstr>Forward chaining proof</vt:lpstr>
      <vt:lpstr>Backward chaining example</vt:lpstr>
      <vt:lpstr>Backward chaining example</vt:lpstr>
      <vt:lpstr>Backward chaining example</vt:lpstr>
      <vt:lpstr>Backward chaining example</vt:lpstr>
      <vt:lpstr>Backward chaining example</vt:lpstr>
      <vt:lpstr>Backward chaining example</vt:lpstr>
      <vt:lpstr>Reasoning with Horn Logic</vt:lpstr>
      <vt:lpstr>Completeness issues</vt:lpstr>
      <vt:lpstr>Godel’s Completeness Theorem</vt:lpstr>
      <vt:lpstr>The validity problem of first-order logic</vt:lpstr>
      <vt:lpstr>Resolution</vt:lpstr>
      <vt:lpstr>Proof of Resolution </vt:lpstr>
      <vt:lpstr>Example</vt:lpstr>
      <vt:lpstr>Conversion to Normal Form</vt:lpstr>
      <vt:lpstr>Conversion to Normal Form</vt:lpstr>
      <vt:lpstr>Conversion to Normal Form</vt:lpstr>
      <vt:lpstr>Conversion to Normal Form</vt:lpstr>
      <vt:lpstr>Conversion to Normal Form</vt:lpstr>
      <vt:lpstr>Skolemization</vt:lpstr>
      <vt:lpstr>Conversion to Normal Form</vt:lpstr>
      <vt:lpstr>Example </vt:lpstr>
      <vt:lpstr>FOL to CNF</vt:lpstr>
      <vt:lpstr>Resolution</vt:lpstr>
      <vt:lpstr>Resolution</vt:lpstr>
      <vt:lpstr>Resolution Proof</vt:lpstr>
      <vt:lpstr>Resolution uses unification</vt:lpstr>
      <vt:lpstr>Generalized Resolution</vt:lpstr>
      <vt:lpstr>Resolution Refutation</vt:lpstr>
      <vt:lpstr>Resolution</vt:lpstr>
      <vt:lpstr>Resolution refutation proof</vt:lpstr>
      <vt:lpstr>Resolution Refutation – Step 1</vt:lpstr>
      <vt:lpstr>Resolution Refutation</vt:lpstr>
      <vt:lpstr>Conversion to clause form</vt:lpstr>
      <vt:lpstr>Conversion to Clause Form</vt:lpstr>
      <vt:lpstr>Conversion to clause form (2)</vt:lpstr>
      <vt:lpstr>Conversion to Clause Form (HW)</vt:lpstr>
      <vt:lpstr>Resolution Refutation Theorem Proving</vt:lpstr>
      <vt:lpstr>Resolution Refutation: Properties</vt:lpstr>
      <vt:lpstr>Resolution Refutation: Properties</vt:lpstr>
      <vt:lpstr>Resolution Refutation: Properties</vt:lpstr>
      <vt:lpstr>Steps to be followed</vt:lpstr>
      <vt:lpstr>PowerPoint Presentation</vt:lpstr>
      <vt:lpstr>PowerPoint Presentation</vt:lpstr>
      <vt:lpstr>Resolution Refutation Proofs</vt:lpstr>
      <vt:lpstr>Concept </vt:lpstr>
      <vt:lpstr>Example</vt:lpstr>
      <vt:lpstr>Formulation </vt:lpstr>
      <vt:lpstr>Formulation </vt:lpstr>
      <vt:lpstr>Formulation</vt:lpstr>
      <vt:lpstr>Formulation</vt:lpstr>
      <vt:lpstr>Formulation </vt:lpstr>
      <vt:lpstr>Formulation </vt:lpstr>
      <vt:lpstr>Resolution Strategies </vt:lpstr>
      <vt:lpstr>Resolution Strategies </vt:lpstr>
      <vt:lpstr>Resolution Strategies </vt:lpstr>
      <vt:lpstr>General Term</vt:lpstr>
      <vt:lpstr>Proof</vt:lpstr>
      <vt:lpstr>Formulation </vt:lpstr>
    </vt:vector>
  </TitlesOfParts>
  <Company>IIT,KGP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Introduction</dc:title>
  <dc:creator>PALLAB</dc:creator>
  <cp:lastModifiedBy>Prof. Anup Nandy</cp:lastModifiedBy>
  <cp:revision>127</cp:revision>
  <dcterms:created xsi:type="dcterms:W3CDTF">2003-01-13T05:11:17Z</dcterms:created>
  <dcterms:modified xsi:type="dcterms:W3CDTF">2026-02-07T02:10:54Z</dcterms:modified>
</cp:coreProperties>
</file>
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72"/>
  </p:notesMasterIdLst>
  <p:handoutMasterIdLst>
    <p:handoutMasterId r:id="rId73"/>
  </p:handoutMasterIdLst>
  <p:sldIdLst>
    <p:sldId id="256" r:id="rId2"/>
    <p:sldId id="340" r:id="rId3"/>
    <p:sldId id="339" r:id="rId4"/>
    <p:sldId id="349" r:id="rId5"/>
    <p:sldId id="341" r:id="rId6"/>
    <p:sldId id="342" r:id="rId7"/>
    <p:sldId id="343" r:id="rId8"/>
    <p:sldId id="344" r:id="rId9"/>
    <p:sldId id="345" r:id="rId10"/>
    <p:sldId id="350" r:id="rId11"/>
    <p:sldId id="351" r:id="rId12"/>
    <p:sldId id="377" r:id="rId13"/>
    <p:sldId id="378" r:id="rId14"/>
    <p:sldId id="348" r:id="rId15"/>
    <p:sldId id="379" r:id="rId16"/>
    <p:sldId id="401" r:id="rId17"/>
    <p:sldId id="353" r:id="rId18"/>
    <p:sldId id="363" r:id="rId19"/>
    <p:sldId id="364" r:id="rId20"/>
    <p:sldId id="380" r:id="rId21"/>
    <p:sldId id="368" r:id="rId22"/>
    <p:sldId id="365" r:id="rId23"/>
    <p:sldId id="372" r:id="rId24"/>
    <p:sldId id="369" r:id="rId25"/>
    <p:sldId id="370" r:id="rId26"/>
    <p:sldId id="371" r:id="rId27"/>
    <p:sldId id="400" r:id="rId28"/>
    <p:sldId id="354" r:id="rId29"/>
    <p:sldId id="357" r:id="rId30"/>
    <p:sldId id="381" r:id="rId31"/>
    <p:sldId id="382" r:id="rId32"/>
    <p:sldId id="383" r:id="rId33"/>
    <p:sldId id="384" r:id="rId34"/>
    <p:sldId id="385" r:id="rId35"/>
    <p:sldId id="386" r:id="rId36"/>
    <p:sldId id="387" r:id="rId37"/>
    <p:sldId id="388" r:id="rId38"/>
    <p:sldId id="389" r:id="rId39"/>
    <p:sldId id="390" r:id="rId40"/>
    <p:sldId id="391" r:id="rId41"/>
    <p:sldId id="392" r:id="rId42"/>
    <p:sldId id="393" r:id="rId43"/>
    <p:sldId id="394" r:id="rId44"/>
    <p:sldId id="395" r:id="rId45"/>
    <p:sldId id="396" r:id="rId46"/>
    <p:sldId id="397" r:id="rId47"/>
    <p:sldId id="402" r:id="rId48"/>
    <p:sldId id="415" r:id="rId49"/>
    <p:sldId id="416" r:id="rId50"/>
    <p:sldId id="427" r:id="rId51"/>
    <p:sldId id="403" r:id="rId52"/>
    <p:sldId id="405" r:id="rId53"/>
    <p:sldId id="406" r:id="rId54"/>
    <p:sldId id="410" r:id="rId55"/>
    <p:sldId id="411" r:id="rId56"/>
    <p:sldId id="412" r:id="rId57"/>
    <p:sldId id="413" r:id="rId58"/>
    <p:sldId id="409" r:id="rId59"/>
    <p:sldId id="418" r:id="rId60"/>
    <p:sldId id="420" r:id="rId61"/>
    <p:sldId id="421" r:id="rId62"/>
    <p:sldId id="422" r:id="rId63"/>
    <p:sldId id="367" r:id="rId64"/>
    <p:sldId id="366" r:id="rId65"/>
    <p:sldId id="373" r:id="rId66"/>
    <p:sldId id="374" r:id="rId67"/>
    <p:sldId id="356" r:id="rId68"/>
    <p:sldId id="376" r:id="rId69"/>
    <p:sldId id="320" r:id="rId70"/>
    <p:sldId id="321" r:id="rId71"/>
  </p:sldIdLst>
  <p:sldSz cx="9144000" cy="6858000" type="screen4x3"/>
  <p:notesSz cx="6858000" cy="9144000"/>
  <p:defaultTextStyle>
    <a:defPPr>
      <a:defRPr lang="fr-FR"/>
    </a:defPPr>
    <a:lvl1pPr algn="l" rtl="0" fontAlgn="base">
      <a:spcBef>
        <a:spcPct val="0"/>
      </a:spcBef>
      <a:spcAft>
        <a:spcPct val="0"/>
      </a:spcAft>
      <a:defRPr sz="24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4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4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4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a:srgbClr val="99FF99"/>
    <a:srgbClr val="99CCFF"/>
    <a:srgbClr val="5F5F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90929"/>
  </p:normalViewPr>
  <p:slideViewPr>
    <p:cSldViewPr>
      <p:cViewPr varScale="1">
        <p:scale>
          <a:sx n="79" d="100"/>
          <a:sy n="79" d="100"/>
        </p:scale>
        <p:origin x="1589" y="6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361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361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361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553956FC-B23C-4CD4-81CB-960A4936F715}"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fr-FR"/>
          </a:p>
        </p:txBody>
      </p:sp>
      <p:sp>
        <p:nvSpPr>
          <p:cNvPr id="8499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fr-FR"/>
          </a:p>
        </p:txBody>
      </p:sp>
      <p:sp>
        <p:nvSpPr>
          <p:cNvPr id="348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fr-FR" noProof="0"/>
              <a:t>Click to edit Master text styles</a:t>
            </a:r>
          </a:p>
          <a:p>
            <a:pPr lvl="1"/>
            <a:r>
              <a:rPr lang="fr-FR" noProof="0"/>
              <a:t>Second level</a:t>
            </a:r>
          </a:p>
          <a:p>
            <a:pPr lvl="2"/>
            <a:r>
              <a:rPr lang="fr-FR" noProof="0"/>
              <a:t>Third level</a:t>
            </a:r>
          </a:p>
          <a:p>
            <a:pPr lvl="3"/>
            <a:r>
              <a:rPr lang="fr-FR" noProof="0"/>
              <a:t>Fourth level</a:t>
            </a:r>
          </a:p>
          <a:p>
            <a:pPr lvl="4"/>
            <a:r>
              <a:rPr lang="fr-FR" noProof="0"/>
              <a:t>Fifth level</a:t>
            </a:r>
          </a:p>
        </p:txBody>
      </p:sp>
      <p:sp>
        <p:nvSpPr>
          <p:cNvPr id="8499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fr-FR"/>
          </a:p>
        </p:txBody>
      </p:sp>
      <p:sp>
        <p:nvSpPr>
          <p:cNvPr id="8499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62A1846-3463-48FE-AFF5-BBBAEF3F0BF8}" type="slidenum">
              <a:rPr lang="fr-FR" altLang="en-US"/>
              <a:pPr/>
              <a:t>‹#›</a:t>
            </a:fld>
            <a:endParaRPr lang="fr-FR"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solidFill>
                  <a:schemeClr val="tx2"/>
                </a:solidFill>
                <a:cs typeface="Times New Roman" panose="02020603050405020304" pitchFamily="18" charset="0"/>
                <a:sym typeface="Symbol" panose="05050102010706020507" pitchFamily="18" charset="2"/>
              </a:rPr>
              <a:t>Antecedents-background, previous history, experience., etc.</a:t>
            </a:r>
            <a:endParaRPr lang="en-IN" altLang="en-US"/>
          </a:p>
        </p:txBody>
      </p:sp>
      <p:sp>
        <p:nvSpPr>
          <p:cNvPr id="358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99F81D00-1D61-45CD-8D7E-4F71377A9F16}" type="slidenum">
              <a:rPr lang="fr-FR" altLang="en-US" sz="1200"/>
              <a:pPr eaLnBrk="1" hangingPunct="1"/>
              <a:t>14</a:t>
            </a:fld>
            <a:endParaRPr lang="fr-FR"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p:spPr>
            <p:txBody>
              <a:bodyPr wrap="none" anchor="ctr"/>
              <a:lstStyle/>
              <a:p>
                <a:pPr>
                  <a:defRPr/>
                </a:pPr>
                <a:endParaRPr lang="en-IN"/>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defRPr/>
                </a:pPr>
                <a:endParaRPr lang="en-IN"/>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p:spPr>
            <p:txBody>
              <a:bodyPr wrap="none" anchor="ctr"/>
              <a:lstStyle/>
              <a:p>
                <a:pPr>
                  <a:defRPr/>
                </a:pPr>
                <a:endParaRPr lang="en-IN"/>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defRPr/>
                </a:pPr>
                <a:endParaRPr lang="en-IN"/>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defRPr/>
              </a:pPr>
              <a:endParaRPr lang="en-IN"/>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p:spPr>
          <p:txBody>
            <a:bodyPr wrap="none" anchor="ctr"/>
            <a:lstStyle/>
            <a:p>
              <a:pPr>
                <a:defRPr/>
              </a:pPr>
              <a:endParaRPr lang="en-IN"/>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defRPr/>
              </a:pPr>
              <a:endParaRPr lang="en-IN"/>
            </a:p>
          </p:txBody>
        </p:sp>
      </p:grpSp>
      <p:sp>
        <p:nvSpPr>
          <p:cNvPr id="4108" name="Rectangle 12"/>
          <p:cNvSpPr>
            <a:spLocks noGrp="1" noChangeArrowheads="1"/>
          </p:cNvSpPr>
          <p:nvPr>
            <p:ph type="ctrTitle"/>
          </p:nvPr>
        </p:nvSpPr>
        <p:spPr>
          <a:xfrm>
            <a:off x="990600" y="1828800"/>
            <a:ext cx="7772400" cy="1143000"/>
          </a:xfrm>
        </p:spPr>
        <p:txBody>
          <a:bodyPr/>
          <a:lstStyle>
            <a:lvl1pPr>
              <a:defRPr/>
            </a:lvl1pPr>
          </a:lstStyle>
          <a:p>
            <a:r>
              <a:rPr lang="ro-RO"/>
              <a:t>Click to edit Master title style</a:t>
            </a:r>
          </a:p>
        </p:txBody>
      </p:sp>
      <p:sp>
        <p:nvSpPr>
          <p:cNvPr id="410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ro-RO"/>
              <a:t>Click to edit Master subtitle style</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ro-RO"/>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ro-RO"/>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E0664115-428D-4406-9975-EFA75CEB85D6}" type="slidenum">
              <a:rPr lang="ro-RO" altLang="en-US"/>
              <a:pPr/>
              <a:t>‹#›</a:t>
            </a:fld>
            <a:endParaRPr lang="ro-RO" altLang="en-US"/>
          </a:p>
        </p:txBody>
      </p:sp>
    </p:spTree>
    <p:extLst>
      <p:ext uri="{BB962C8B-B14F-4D97-AF65-F5344CB8AC3E}">
        <p14:creationId xmlns:p14="http://schemas.microsoft.com/office/powerpoint/2010/main" val="3174416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1"/>
          <p:cNvSpPr>
            <a:spLocks noGrp="1" noChangeArrowheads="1"/>
          </p:cNvSpPr>
          <p:nvPr>
            <p:ph type="dt" sz="half" idx="10"/>
          </p:nvPr>
        </p:nvSpPr>
        <p:spPr>
          <a:ln/>
        </p:spPr>
        <p:txBody>
          <a:bodyPr/>
          <a:lstStyle>
            <a:lvl1pPr>
              <a:defRPr/>
            </a:lvl1pPr>
          </a:lstStyle>
          <a:p>
            <a:pPr>
              <a:defRPr/>
            </a:pPr>
            <a:endParaRPr lang="ro-RO"/>
          </a:p>
        </p:txBody>
      </p:sp>
      <p:sp>
        <p:nvSpPr>
          <p:cNvPr id="5" name="Rectangle 12"/>
          <p:cNvSpPr>
            <a:spLocks noGrp="1" noChangeArrowheads="1"/>
          </p:cNvSpPr>
          <p:nvPr>
            <p:ph type="ftr" sz="quarter" idx="11"/>
          </p:nvPr>
        </p:nvSpPr>
        <p:spPr>
          <a:ln/>
        </p:spPr>
        <p:txBody>
          <a:bodyPr/>
          <a:lstStyle>
            <a:lvl1pPr>
              <a:defRPr/>
            </a:lvl1pPr>
          </a:lstStyle>
          <a:p>
            <a:pPr>
              <a:defRPr/>
            </a:pPr>
            <a:endParaRPr lang="ro-RO"/>
          </a:p>
        </p:txBody>
      </p:sp>
      <p:sp>
        <p:nvSpPr>
          <p:cNvPr id="6" name="Rectangle 13"/>
          <p:cNvSpPr>
            <a:spLocks noGrp="1" noChangeArrowheads="1"/>
          </p:cNvSpPr>
          <p:nvPr>
            <p:ph type="sldNum" sz="quarter" idx="12"/>
          </p:nvPr>
        </p:nvSpPr>
        <p:spPr>
          <a:ln/>
        </p:spPr>
        <p:txBody>
          <a:bodyPr/>
          <a:lstStyle>
            <a:lvl1pPr>
              <a:defRPr/>
            </a:lvl1pPr>
          </a:lstStyle>
          <a:p>
            <a:fld id="{E2F30E13-8CED-460B-90DC-34EF94AA3EC5}" type="slidenum">
              <a:rPr lang="ro-RO" altLang="en-US"/>
              <a:pPr/>
              <a:t>‹#›</a:t>
            </a:fld>
            <a:endParaRPr lang="ro-RO" altLang="en-US"/>
          </a:p>
        </p:txBody>
      </p:sp>
    </p:spTree>
    <p:extLst>
      <p:ext uri="{BB962C8B-B14F-4D97-AF65-F5344CB8AC3E}">
        <p14:creationId xmlns:p14="http://schemas.microsoft.com/office/powerpoint/2010/main" val="1444408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endParaRPr lang="ro-RO"/>
          </a:p>
        </p:txBody>
      </p:sp>
      <p:sp>
        <p:nvSpPr>
          <p:cNvPr id="5" name="Rectangle 12"/>
          <p:cNvSpPr>
            <a:spLocks noGrp="1" noChangeArrowheads="1"/>
          </p:cNvSpPr>
          <p:nvPr>
            <p:ph type="ftr" sz="quarter" idx="11"/>
          </p:nvPr>
        </p:nvSpPr>
        <p:spPr>
          <a:ln/>
        </p:spPr>
        <p:txBody>
          <a:bodyPr/>
          <a:lstStyle>
            <a:lvl1pPr>
              <a:defRPr/>
            </a:lvl1pPr>
          </a:lstStyle>
          <a:p>
            <a:pPr>
              <a:defRPr/>
            </a:pPr>
            <a:endParaRPr lang="ro-RO"/>
          </a:p>
        </p:txBody>
      </p:sp>
      <p:sp>
        <p:nvSpPr>
          <p:cNvPr id="6" name="Rectangle 13"/>
          <p:cNvSpPr>
            <a:spLocks noGrp="1" noChangeArrowheads="1"/>
          </p:cNvSpPr>
          <p:nvPr>
            <p:ph type="sldNum" sz="quarter" idx="12"/>
          </p:nvPr>
        </p:nvSpPr>
        <p:spPr>
          <a:ln/>
        </p:spPr>
        <p:txBody>
          <a:bodyPr/>
          <a:lstStyle>
            <a:lvl1pPr>
              <a:defRPr/>
            </a:lvl1pPr>
          </a:lstStyle>
          <a:p>
            <a:fld id="{732DE771-1DA6-462C-8362-4952E47D5DF7}" type="slidenum">
              <a:rPr lang="ro-RO" altLang="en-US"/>
              <a:pPr/>
              <a:t>‹#›</a:t>
            </a:fld>
            <a:endParaRPr lang="ro-RO" altLang="en-US"/>
          </a:p>
        </p:txBody>
      </p:sp>
    </p:spTree>
    <p:extLst>
      <p:ext uri="{BB962C8B-B14F-4D97-AF65-F5344CB8AC3E}">
        <p14:creationId xmlns:p14="http://schemas.microsoft.com/office/powerpoint/2010/main" val="677964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1182688" y="1487488"/>
            <a:ext cx="3810000" cy="4760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5145088" y="1487488"/>
            <a:ext cx="3810000" cy="4760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1"/>
          <p:cNvSpPr>
            <a:spLocks noGrp="1" noChangeArrowheads="1"/>
          </p:cNvSpPr>
          <p:nvPr>
            <p:ph type="dt" sz="half" idx="10"/>
          </p:nvPr>
        </p:nvSpPr>
        <p:spPr>
          <a:ln/>
        </p:spPr>
        <p:txBody>
          <a:bodyPr/>
          <a:lstStyle>
            <a:lvl1pPr>
              <a:defRPr/>
            </a:lvl1pPr>
          </a:lstStyle>
          <a:p>
            <a:pPr>
              <a:defRPr/>
            </a:pPr>
            <a:endParaRPr lang="ro-RO"/>
          </a:p>
        </p:txBody>
      </p:sp>
      <p:sp>
        <p:nvSpPr>
          <p:cNvPr id="6" name="Rectangle 12"/>
          <p:cNvSpPr>
            <a:spLocks noGrp="1" noChangeArrowheads="1"/>
          </p:cNvSpPr>
          <p:nvPr>
            <p:ph type="ftr" sz="quarter" idx="11"/>
          </p:nvPr>
        </p:nvSpPr>
        <p:spPr>
          <a:ln/>
        </p:spPr>
        <p:txBody>
          <a:bodyPr/>
          <a:lstStyle>
            <a:lvl1pPr>
              <a:defRPr/>
            </a:lvl1pPr>
          </a:lstStyle>
          <a:p>
            <a:pPr>
              <a:defRPr/>
            </a:pPr>
            <a:endParaRPr lang="ro-RO"/>
          </a:p>
        </p:txBody>
      </p:sp>
      <p:sp>
        <p:nvSpPr>
          <p:cNvPr id="7" name="Rectangle 13"/>
          <p:cNvSpPr>
            <a:spLocks noGrp="1" noChangeArrowheads="1"/>
          </p:cNvSpPr>
          <p:nvPr>
            <p:ph type="sldNum" sz="quarter" idx="12"/>
          </p:nvPr>
        </p:nvSpPr>
        <p:spPr>
          <a:ln/>
        </p:spPr>
        <p:txBody>
          <a:bodyPr/>
          <a:lstStyle>
            <a:lvl1pPr>
              <a:defRPr/>
            </a:lvl1pPr>
          </a:lstStyle>
          <a:p>
            <a:fld id="{FDF4A457-D90C-4A05-9C70-EE7BA7E9E63E}" type="slidenum">
              <a:rPr lang="ro-RO" altLang="en-US"/>
              <a:pPr/>
              <a:t>‹#›</a:t>
            </a:fld>
            <a:endParaRPr lang="ro-RO" altLang="en-US"/>
          </a:p>
        </p:txBody>
      </p:sp>
    </p:spTree>
    <p:extLst>
      <p:ext uri="{BB962C8B-B14F-4D97-AF65-F5344CB8AC3E}">
        <p14:creationId xmlns:p14="http://schemas.microsoft.com/office/powerpoint/2010/main" val="1705837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11"/>
          <p:cNvSpPr>
            <a:spLocks noGrp="1" noChangeArrowheads="1"/>
          </p:cNvSpPr>
          <p:nvPr>
            <p:ph type="dt" sz="half" idx="10"/>
          </p:nvPr>
        </p:nvSpPr>
        <p:spPr>
          <a:ln/>
        </p:spPr>
        <p:txBody>
          <a:bodyPr/>
          <a:lstStyle>
            <a:lvl1pPr>
              <a:defRPr/>
            </a:lvl1pPr>
          </a:lstStyle>
          <a:p>
            <a:pPr>
              <a:defRPr/>
            </a:pPr>
            <a:endParaRPr lang="ro-RO"/>
          </a:p>
        </p:txBody>
      </p:sp>
      <p:sp>
        <p:nvSpPr>
          <p:cNvPr id="8" name="Rectangle 12"/>
          <p:cNvSpPr>
            <a:spLocks noGrp="1" noChangeArrowheads="1"/>
          </p:cNvSpPr>
          <p:nvPr>
            <p:ph type="ftr" sz="quarter" idx="11"/>
          </p:nvPr>
        </p:nvSpPr>
        <p:spPr>
          <a:ln/>
        </p:spPr>
        <p:txBody>
          <a:bodyPr/>
          <a:lstStyle>
            <a:lvl1pPr>
              <a:defRPr/>
            </a:lvl1pPr>
          </a:lstStyle>
          <a:p>
            <a:pPr>
              <a:defRPr/>
            </a:pPr>
            <a:endParaRPr lang="ro-RO"/>
          </a:p>
        </p:txBody>
      </p:sp>
      <p:sp>
        <p:nvSpPr>
          <p:cNvPr id="9" name="Rectangle 13"/>
          <p:cNvSpPr>
            <a:spLocks noGrp="1" noChangeArrowheads="1"/>
          </p:cNvSpPr>
          <p:nvPr>
            <p:ph type="sldNum" sz="quarter" idx="12"/>
          </p:nvPr>
        </p:nvSpPr>
        <p:spPr>
          <a:ln/>
        </p:spPr>
        <p:txBody>
          <a:bodyPr/>
          <a:lstStyle>
            <a:lvl1pPr>
              <a:defRPr/>
            </a:lvl1pPr>
          </a:lstStyle>
          <a:p>
            <a:fld id="{54EEB120-F2B2-4EED-A3F8-BBAD51F86E2B}" type="slidenum">
              <a:rPr lang="ro-RO" altLang="en-US"/>
              <a:pPr/>
              <a:t>‹#›</a:t>
            </a:fld>
            <a:endParaRPr lang="ro-RO" altLang="en-US"/>
          </a:p>
        </p:txBody>
      </p:sp>
    </p:spTree>
    <p:extLst>
      <p:ext uri="{BB962C8B-B14F-4D97-AF65-F5344CB8AC3E}">
        <p14:creationId xmlns:p14="http://schemas.microsoft.com/office/powerpoint/2010/main" val="2699175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11"/>
          <p:cNvSpPr>
            <a:spLocks noGrp="1" noChangeArrowheads="1"/>
          </p:cNvSpPr>
          <p:nvPr>
            <p:ph type="dt" sz="half" idx="10"/>
          </p:nvPr>
        </p:nvSpPr>
        <p:spPr>
          <a:ln/>
        </p:spPr>
        <p:txBody>
          <a:bodyPr/>
          <a:lstStyle>
            <a:lvl1pPr>
              <a:defRPr/>
            </a:lvl1pPr>
          </a:lstStyle>
          <a:p>
            <a:pPr>
              <a:defRPr/>
            </a:pPr>
            <a:endParaRPr lang="ro-RO"/>
          </a:p>
        </p:txBody>
      </p:sp>
      <p:sp>
        <p:nvSpPr>
          <p:cNvPr id="4" name="Rectangle 12"/>
          <p:cNvSpPr>
            <a:spLocks noGrp="1" noChangeArrowheads="1"/>
          </p:cNvSpPr>
          <p:nvPr>
            <p:ph type="ftr" sz="quarter" idx="11"/>
          </p:nvPr>
        </p:nvSpPr>
        <p:spPr>
          <a:ln/>
        </p:spPr>
        <p:txBody>
          <a:bodyPr/>
          <a:lstStyle>
            <a:lvl1pPr>
              <a:defRPr/>
            </a:lvl1pPr>
          </a:lstStyle>
          <a:p>
            <a:pPr>
              <a:defRPr/>
            </a:pPr>
            <a:endParaRPr lang="ro-RO"/>
          </a:p>
        </p:txBody>
      </p:sp>
      <p:sp>
        <p:nvSpPr>
          <p:cNvPr id="5" name="Rectangle 13"/>
          <p:cNvSpPr>
            <a:spLocks noGrp="1" noChangeArrowheads="1"/>
          </p:cNvSpPr>
          <p:nvPr>
            <p:ph type="sldNum" sz="quarter" idx="12"/>
          </p:nvPr>
        </p:nvSpPr>
        <p:spPr>
          <a:ln/>
        </p:spPr>
        <p:txBody>
          <a:bodyPr/>
          <a:lstStyle>
            <a:lvl1pPr>
              <a:defRPr/>
            </a:lvl1pPr>
          </a:lstStyle>
          <a:p>
            <a:fld id="{77E1795D-EC4F-425F-8A9A-97457C5F4BED}" type="slidenum">
              <a:rPr lang="ro-RO" altLang="en-US"/>
              <a:pPr/>
              <a:t>‹#›</a:t>
            </a:fld>
            <a:endParaRPr lang="ro-RO" altLang="en-US"/>
          </a:p>
        </p:txBody>
      </p:sp>
    </p:spTree>
    <p:extLst>
      <p:ext uri="{BB962C8B-B14F-4D97-AF65-F5344CB8AC3E}">
        <p14:creationId xmlns:p14="http://schemas.microsoft.com/office/powerpoint/2010/main" val="3494802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ro-RO"/>
          </a:p>
        </p:txBody>
      </p:sp>
      <p:sp>
        <p:nvSpPr>
          <p:cNvPr id="3" name="Rectangle 12"/>
          <p:cNvSpPr>
            <a:spLocks noGrp="1" noChangeArrowheads="1"/>
          </p:cNvSpPr>
          <p:nvPr>
            <p:ph type="ftr" sz="quarter" idx="11"/>
          </p:nvPr>
        </p:nvSpPr>
        <p:spPr>
          <a:ln/>
        </p:spPr>
        <p:txBody>
          <a:bodyPr/>
          <a:lstStyle>
            <a:lvl1pPr>
              <a:defRPr/>
            </a:lvl1pPr>
          </a:lstStyle>
          <a:p>
            <a:pPr>
              <a:defRPr/>
            </a:pPr>
            <a:endParaRPr lang="ro-RO"/>
          </a:p>
        </p:txBody>
      </p:sp>
      <p:sp>
        <p:nvSpPr>
          <p:cNvPr id="4" name="Rectangle 13"/>
          <p:cNvSpPr>
            <a:spLocks noGrp="1" noChangeArrowheads="1"/>
          </p:cNvSpPr>
          <p:nvPr>
            <p:ph type="sldNum" sz="quarter" idx="12"/>
          </p:nvPr>
        </p:nvSpPr>
        <p:spPr>
          <a:ln/>
        </p:spPr>
        <p:txBody>
          <a:bodyPr/>
          <a:lstStyle>
            <a:lvl1pPr>
              <a:defRPr/>
            </a:lvl1pPr>
          </a:lstStyle>
          <a:p>
            <a:fld id="{795C5E38-5C38-45C2-82CB-BC48F09AB310}" type="slidenum">
              <a:rPr lang="ro-RO" altLang="en-US"/>
              <a:pPr/>
              <a:t>‹#›</a:t>
            </a:fld>
            <a:endParaRPr lang="ro-RO" altLang="en-US"/>
          </a:p>
        </p:txBody>
      </p:sp>
    </p:spTree>
    <p:extLst>
      <p:ext uri="{BB962C8B-B14F-4D97-AF65-F5344CB8AC3E}">
        <p14:creationId xmlns:p14="http://schemas.microsoft.com/office/powerpoint/2010/main" val="2268001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ro-RO"/>
          </a:p>
        </p:txBody>
      </p:sp>
      <p:sp>
        <p:nvSpPr>
          <p:cNvPr id="6" name="Rectangle 12"/>
          <p:cNvSpPr>
            <a:spLocks noGrp="1" noChangeArrowheads="1"/>
          </p:cNvSpPr>
          <p:nvPr>
            <p:ph type="ftr" sz="quarter" idx="11"/>
          </p:nvPr>
        </p:nvSpPr>
        <p:spPr>
          <a:ln/>
        </p:spPr>
        <p:txBody>
          <a:bodyPr/>
          <a:lstStyle>
            <a:lvl1pPr>
              <a:defRPr/>
            </a:lvl1pPr>
          </a:lstStyle>
          <a:p>
            <a:pPr>
              <a:defRPr/>
            </a:pPr>
            <a:endParaRPr lang="ro-RO"/>
          </a:p>
        </p:txBody>
      </p:sp>
      <p:sp>
        <p:nvSpPr>
          <p:cNvPr id="7" name="Rectangle 13"/>
          <p:cNvSpPr>
            <a:spLocks noGrp="1" noChangeArrowheads="1"/>
          </p:cNvSpPr>
          <p:nvPr>
            <p:ph type="sldNum" sz="quarter" idx="12"/>
          </p:nvPr>
        </p:nvSpPr>
        <p:spPr>
          <a:ln/>
        </p:spPr>
        <p:txBody>
          <a:bodyPr/>
          <a:lstStyle>
            <a:lvl1pPr>
              <a:defRPr/>
            </a:lvl1pPr>
          </a:lstStyle>
          <a:p>
            <a:fld id="{E4466C27-5436-46E2-945E-FDFD171A68C4}" type="slidenum">
              <a:rPr lang="ro-RO" altLang="en-US"/>
              <a:pPr/>
              <a:t>‹#›</a:t>
            </a:fld>
            <a:endParaRPr lang="ro-RO" altLang="en-US"/>
          </a:p>
        </p:txBody>
      </p:sp>
    </p:spTree>
    <p:extLst>
      <p:ext uri="{BB962C8B-B14F-4D97-AF65-F5344CB8AC3E}">
        <p14:creationId xmlns:p14="http://schemas.microsoft.com/office/powerpoint/2010/main" val="1563506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ro-RO"/>
          </a:p>
        </p:txBody>
      </p:sp>
      <p:sp>
        <p:nvSpPr>
          <p:cNvPr id="6" name="Rectangle 12"/>
          <p:cNvSpPr>
            <a:spLocks noGrp="1" noChangeArrowheads="1"/>
          </p:cNvSpPr>
          <p:nvPr>
            <p:ph type="ftr" sz="quarter" idx="11"/>
          </p:nvPr>
        </p:nvSpPr>
        <p:spPr>
          <a:ln/>
        </p:spPr>
        <p:txBody>
          <a:bodyPr/>
          <a:lstStyle>
            <a:lvl1pPr>
              <a:defRPr/>
            </a:lvl1pPr>
          </a:lstStyle>
          <a:p>
            <a:pPr>
              <a:defRPr/>
            </a:pPr>
            <a:endParaRPr lang="ro-RO"/>
          </a:p>
        </p:txBody>
      </p:sp>
      <p:sp>
        <p:nvSpPr>
          <p:cNvPr id="7" name="Rectangle 13"/>
          <p:cNvSpPr>
            <a:spLocks noGrp="1" noChangeArrowheads="1"/>
          </p:cNvSpPr>
          <p:nvPr>
            <p:ph type="sldNum" sz="quarter" idx="12"/>
          </p:nvPr>
        </p:nvSpPr>
        <p:spPr>
          <a:ln/>
        </p:spPr>
        <p:txBody>
          <a:bodyPr/>
          <a:lstStyle>
            <a:lvl1pPr>
              <a:defRPr/>
            </a:lvl1pPr>
          </a:lstStyle>
          <a:p>
            <a:fld id="{E9218E1E-B900-416C-BC57-9EE078444A56}" type="slidenum">
              <a:rPr lang="ro-RO" altLang="en-US"/>
              <a:pPr/>
              <a:t>‹#›</a:t>
            </a:fld>
            <a:endParaRPr lang="ro-RO" altLang="en-US"/>
          </a:p>
        </p:txBody>
      </p:sp>
    </p:spTree>
    <p:extLst>
      <p:ext uri="{BB962C8B-B14F-4D97-AF65-F5344CB8AC3E}">
        <p14:creationId xmlns:p14="http://schemas.microsoft.com/office/powerpoint/2010/main" val="873946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1"/>
          <p:cNvSpPr>
            <a:spLocks noGrp="1" noChangeArrowheads="1"/>
          </p:cNvSpPr>
          <p:nvPr>
            <p:ph type="dt" sz="half" idx="10"/>
          </p:nvPr>
        </p:nvSpPr>
        <p:spPr>
          <a:ln/>
        </p:spPr>
        <p:txBody>
          <a:bodyPr/>
          <a:lstStyle>
            <a:lvl1pPr>
              <a:defRPr/>
            </a:lvl1pPr>
          </a:lstStyle>
          <a:p>
            <a:pPr>
              <a:defRPr/>
            </a:pPr>
            <a:endParaRPr lang="ro-RO"/>
          </a:p>
        </p:txBody>
      </p:sp>
      <p:sp>
        <p:nvSpPr>
          <p:cNvPr id="5" name="Rectangle 12"/>
          <p:cNvSpPr>
            <a:spLocks noGrp="1" noChangeArrowheads="1"/>
          </p:cNvSpPr>
          <p:nvPr>
            <p:ph type="ftr" sz="quarter" idx="11"/>
          </p:nvPr>
        </p:nvSpPr>
        <p:spPr>
          <a:ln/>
        </p:spPr>
        <p:txBody>
          <a:bodyPr/>
          <a:lstStyle>
            <a:lvl1pPr>
              <a:defRPr/>
            </a:lvl1pPr>
          </a:lstStyle>
          <a:p>
            <a:pPr>
              <a:defRPr/>
            </a:pPr>
            <a:endParaRPr lang="ro-RO"/>
          </a:p>
        </p:txBody>
      </p:sp>
      <p:sp>
        <p:nvSpPr>
          <p:cNvPr id="6" name="Rectangle 13"/>
          <p:cNvSpPr>
            <a:spLocks noGrp="1" noChangeArrowheads="1"/>
          </p:cNvSpPr>
          <p:nvPr>
            <p:ph type="sldNum" sz="quarter" idx="12"/>
          </p:nvPr>
        </p:nvSpPr>
        <p:spPr>
          <a:ln/>
        </p:spPr>
        <p:txBody>
          <a:bodyPr/>
          <a:lstStyle>
            <a:lvl1pPr>
              <a:defRPr/>
            </a:lvl1pPr>
          </a:lstStyle>
          <a:p>
            <a:fld id="{59FAED7F-CCA1-498C-93E8-E6B644B70752}" type="slidenum">
              <a:rPr lang="ro-RO" altLang="en-US"/>
              <a:pPr/>
              <a:t>‹#›</a:t>
            </a:fld>
            <a:endParaRPr lang="ro-RO" altLang="en-US"/>
          </a:p>
        </p:txBody>
      </p:sp>
    </p:spTree>
    <p:extLst>
      <p:ext uri="{BB962C8B-B14F-4D97-AF65-F5344CB8AC3E}">
        <p14:creationId xmlns:p14="http://schemas.microsoft.com/office/powerpoint/2010/main" val="3391797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152400"/>
            <a:ext cx="1951038" cy="60960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1150938" y="152400"/>
            <a:ext cx="5700712"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1"/>
          <p:cNvSpPr>
            <a:spLocks noGrp="1" noChangeArrowheads="1"/>
          </p:cNvSpPr>
          <p:nvPr>
            <p:ph type="dt" sz="half" idx="10"/>
          </p:nvPr>
        </p:nvSpPr>
        <p:spPr>
          <a:ln/>
        </p:spPr>
        <p:txBody>
          <a:bodyPr/>
          <a:lstStyle>
            <a:lvl1pPr>
              <a:defRPr/>
            </a:lvl1pPr>
          </a:lstStyle>
          <a:p>
            <a:pPr>
              <a:defRPr/>
            </a:pPr>
            <a:endParaRPr lang="ro-RO"/>
          </a:p>
        </p:txBody>
      </p:sp>
      <p:sp>
        <p:nvSpPr>
          <p:cNvPr id="5" name="Rectangle 12"/>
          <p:cNvSpPr>
            <a:spLocks noGrp="1" noChangeArrowheads="1"/>
          </p:cNvSpPr>
          <p:nvPr>
            <p:ph type="ftr" sz="quarter" idx="11"/>
          </p:nvPr>
        </p:nvSpPr>
        <p:spPr>
          <a:ln/>
        </p:spPr>
        <p:txBody>
          <a:bodyPr/>
          <a:lstStyle>
            <a:lvl1pPr>
              <a:defRPr/>
            </a:lvl1pPr>
          </a:lstStyle>
          <a:p>
            <a:pPr>
              <a:defRPr/>
            </a:pPr>
            <a:endParaRPr lang="ro-RO"/>
          </a:p>
        </p:txBody>
      </p:sp>
      <p:sp>
        <p:nvSpPr>
          <p:cNvPr id="6" name="Rectangle 13"/>
          <p:cNvSpPr>
            <a:spLocks noGrp="1" noChangeArrowheads="1"/>
          </p:cNvSpPr>
          <p:nvPr>
            <p:ph type="sldNum" sz="quarter" idx="12"/>
          </p:nvPr>
        </p:nvSpPr>
        <p:spPr>
          <a:ln/>
        </p:spPr>
        <p:txBody>
          <a:bodyPr/>
          <a:lstStyle>
            <a:lvl1pPr>
              <a:defRPr/>
            </a:lvl1pPr>
          </a:lstStyle>
          <a:p>
            <a:fld id="{BAB5AA59-8DE8-4F71-9E68-7E1B2C5E2732}" type="slidenum">
              <a:rPr lang="ro-RO" altLang="en-US"/>
              <a:pPr/>
              <a:t>‹#›</a:t>
            </a:fld>
            <a:endParaRPr lang="ro-RO" altLang="en-US"/>
          </a:p>
        </p:txBody>
      </p:sp>
    </p:spTree>
    <p:extLst>
      <p:ext uri="{BB962C8B-B14F-4D97-AF65-F5344CB8AC3E}">
        <p14:creationId xmlns:p14="http://schemas.microsoft.com/office/powerpoint/2010/main" val="24772727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152400"/>
            <a:ext cx="7793037" cy="9906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1182688" y="1487488"/>
            <a:ext cx="3810000" cy="47609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5145088" y="1487488"/>
            <a:ext cx="3810000" cy="47609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1"/>
          <p:cNvSpPr>
            <a:spLocks noGrp="1" noChangeArrowheads="1"/>
          </p:cNvSpPr>
          <p:nvPr>
            <p:ph type="dt" sz="half" idx="10"/>
          </p:nvPr>
        </p:nvSpPr>
        <p:spPr>
          <a:ln/>
        </p:spPr>
        <p:txBody>
          <a:bodyPr/>
          <a:lstStyle>
            <a:lvl1pPr>
              <a:defRPr/>
            </a:lvl1pPr>
          </a:lstStyle>
          <a:p>
            <a:pPr>
              <a:defRPr/>
            </a:pPr>
            <a:endParaRPr lang="ro-RO"/>
          </a:p>
        </p:txBody>
      </p:sp>
      <p:sp>
        <p:nvSpPr>
          <p:cNvPr id="6" name="Rectangle 12"/>
          <p:cNvSpPr>
            <a:spLocks noGrp="1" noChangeArrowheads="1"/>
          </p:cNvSpPr>
          <p:nvPr>
            <p:ph type="ftr" sz="quarter" idx="11"/>
          </p:nvPr>
        </p:nvSpPr>
        <p:spPr>
          <a:ln/>
        </p:spPr>
        <p:txBody>
          <a:bodyPr/>
          <a:lstStyle>
            <a:lvl1pPr>
              <a:defRPr/>
            </a:lvl1pPr>
          </a:lstStyle>
          <a:p>
            <a:pPr>
              <a:defRPr/>
            </a:pPr>
            <a:endParaRPr lang="ro-RO"/>
          </a:p>
        </p:txBody>
      </p:sp>
      <p:sp>
        <p:nvSpPr>
          <p:cNvPr id="7" name="Rectangle 13"/>
          <p:cNvSpPr>
            <a:spLocks noGrp="1" noChangeArrowheads="1"/>
          </p:cNvSpPr>
          <p:nvPr>
            <p:ph type="sldNum" sz="quarter" idx="12"/>
          </p:nvPr>
        </p:nvSpPr>
        <p:spPr>
          <a:ln/>
        </p:spPr>
        <p:txBody>
          <a:bodyPr/>
          <a:lstStyle>
            <a:lvl1pPr>
              <a:defRPr/>
            </a:lvl1pPr>
          </a:lstStyle>
          <a:p>
            <a:fld id="{90497EA9-CCB7-4D3B-A1C5-471CC5B89EA0}" type="slidenum">
              <a:rPr lang="ro-RO" altLang="en-US"/>
              <a:pPr/>
              <a:t>‹#›</a:t>
            </a:fld>
            <a:endParaRPr lang="ro-RO" altLang="en-US"/>
          </a:p>
        </p:txBody>
      </p:sp>
    </p:spTree>
    <p:extLst>
      <p:ext uri="{BB962C8B-B14F-4D97-AF65-F5344CB8AC3E}">
        <p14:creationId xmlns:p14="http://schemas.microsoft.com/office/powerpoint/2010/main" val="2938598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533400"/>
            <a:ext cx="438150" cy="474663"/>
          </a:xfrm>
          <a:prstGeom prst="rect">
            <a:avLst/>
          </a:prstGeom>
          <a:solidFill>
            <a:schemeClr val="accent2"/>
          </a:solidFill>
          <a:ln w="9525">
            <a:noFill/>
            <a:miter lim="800000"/>
            <a:headEnd/>
            <a:tailEnd/>
          </a:ln>
        </p:spPr>
        <p:txBody>
          <a:bodyPr wrap="none" anchor="ctr"/>
          <a:lstStyle/>
          <a:p>
            <a:pPr algn="ctr">
              <a:defRPr/>
            </a:pPr>
            <a:endParaRPr kumimoji="1" lang="en-US"/>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defRPr/>
            </a:pPr>
            <a:endParaRPr kumimoji="1" lang="en-US"/>
          </a:p>
        </p:txBody>
      </p:sp>
      <p:sp>
        <p:nvSpPr>
          <p:cNvPr id="1028" name="Rectangle 4"/>
          <p:cNvSpPr>
            <a:spLocks noChangeArrowheads="1"/>
          </p:cNvSpPr>
          <p:nvPr/>
        </p:nvSpPr>
        <p:spPr bwMode="ltGray">
          <a:xfrm>
            <a:off x="541338" y="955675"/>
            <a:ext cx="422275" cy="474663"/>
          </a:xfrm>
          <a:prstGeom prst="rect">
            <a:avLst/>
          </a:prstGeom>
          <a:solidFill>
            <a:schemeClr val="folHlink"/>
          </a:solidFill>
          <a:ln w="9525">
            <a:noFill/>
            <a:miter lim="800000"/>
            <a:headEnd/>
            <a:tailEnd/>
          </a:ln>
        </p:spPr>
        <p:txBody>
          <a:bodyPr wrap="none" anchor="ctr"/>
          <a:lstStyle/>
          <a:p>
            <a:pPr algn="ctr">
              <a:defRPr/>
            </a:pPr>
            <a:endParaRPr kumimoji="1" lang="en-US"/>
          </a:p>
        </p:txBody>
      </p:sp>
      <p:sp>
        <p:nvSpPr>
          <p:cNvPr id="1029" name="Rectangle 5"/>
          <p:cNvSpPr>
            <a:spLocks noChangeArrowheads="1"/>
          </p:cNvSpPr>
          <p:nvPr/>
        </p:nvSpPr>
        <p:spPr bwMode="ltGray">
          <a:xfrm>
            <a:off x="911225" y="95567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defRPr/>
            </a:pPr>
            <a:endParaRPr kumimoji="1" lang="en-US"/>
          </a:p>
        </p:txBody>
      </p:sp>
      <p:sp>
        <p:nvSpPr>
          <p:cNvPr id="1030" name="Rectangle 6"/>
          <p:cNvSpPr>
            <a:spLocks noChangeArrowheads="1"/>
          </p:cNvSpPr>
          <p:nvPr/>
        </p:nvSpPr>
        <p:spPr bwMode="ltGray">
          <a:xfrm>
            <a:off x="127000" y="88265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defRPr/>
            </a:pPr>
            <a:endParaRPr kumimoji="1" lang="en-US"/>
          </a:p>
        </p:txBody>
      </p:sp>
      <p:sp>
        <p:nvSpPr>
          <p:cNvPr id="1031" name="Rectangle 7"/>
          <p:cNvSpPr>
            <a:spLocks noChangeArrowheads="1"/>
          </p:cNvSpPr>
          <p:nvPr/>
        </p:nvSpPr>
        <p:spPr bwMode="gray">
          <a:xfrm>
            <a:off x="762000" y="471488"/>
            <a:ext cx="31750" cy="1052512"/>
          </a:xfrm>
          <a:prstGeom prst="rect">
            <a:avLst/>
          </a:prstGeom>
          <a:solidFill>
            <a:schemeClr val="bg2"/>
          </a:solidFill>
          <a:ln w="9525">
            <a:noFill/>
            <a:miter lim="800000"/>
            <a:headEnd/>
            <a:tailEnd/>
          </a:ln>
        </p:spPr>
        <p:txBody>
          <a:bodyPr wrap="none" anchor="ctr"/>
          <a:lstStyle/>
          <a:p>
            <a:pPr algn="ctr">
              <a:defRPr/>
            </a:pPr>
            <a:endParaRPr kumimoji="1" lang="en-US"/>
          </a:p>
        </p:txBody>
      </p:sp>
      <p:sp>
        <p:nvSpPr>
          <p:cNvPr id="1032" name="Rectangle 8"/>
          <p:cNvSpPr>
            <a:spLocks noChangeArrowheads="1"/>
          </p:cNvSpPr>
          <p:nvPr/>
        </p:nvSpPr>
        <p:spPr bwMode="gray">
          <a:xfrm>
            <a:off x="442913" y="1216025"/>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defRPr/>
            </a:pPr>
            <a:endParaRPr kumimoji="1" lang="en-US"/>
          </a:p>
        </p:txBody>
      </p:sp>
      <p:sp>
        <p:nvSpPr>
          <p:cNvPr id="1033" name="Rectangle 9"/>
          <p:cNvSpPr>
            <a:spLocks noGrp="1" noChangeArrowheads="1"/>
          </p:cNvSpPr>
          <p:nvPr>
            <p:ph type="title"/>
          </p:nvPr>
        </p:nvSpPr>
        <p:spPr bwMode="auto">
          <a:xfrm>
            <a:off x="1150938" y="152400"/>
            <a:ext cx="7793037"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ro-RO" altLang="en-US"/>
              <a:t>Click to edit Master title style</a:t>
            </a:r>
          </a:p>
        </p:txBody>
      </p:sp>
      <p:sp>
        <p:nvSpPr>
          <p:cNvPr id="1034" name="Rectangle 10"/>
          <p:cNvSpPr>
            <a:spLocks noGrp="1" noChangeArrowheads="1"/>
          </p:cNvSpPr>
          <p:nvPr>
            <p:ph type="body" idx="1"/>
          </p:nvPr>
        </p:nvSpPr>
        <p:spPr bwMode="auto">
          <a:xfrm>
            <a:off x="1182688" y="1487488"/>
            <a:ext cx="7772400" cy="476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o-RO" altLang="en-US"/>
              <a:t>Click to edit Master text styles</a:t>
            </a:r>
          </a:p>
          <a:p>
            <a:pPr lvl="1"/>
            <a:r>
              <a:rPr lang="ro-RO" altLang="en-US"/>
              <a:t>Second level</a:t>
            </a:r>
          </a:p>
          <a:p>
            <a:pPr lvl="2"/>
            <a:r>
              <a:rPr lang="ro-RO" altLang="en-US"/>
              <a:t>Third level</a:t>
            </a:r>
          </a:p>
          <a:p>
            <a:pPr lvl="3"/>
            <a:r>
              <a:rPr lang="ro-RO" altLang="en-US"/>
              <a:t>Fourth level</a:t>
            </a:r>
          </a:p>
          <a:p>
            <a:pPr lvl="4"/>
            <a:r>
              <a:rPr lang="ro-RO" altLang="en-US"/>
              <a:t>Fifth level</a:t>
            </a:r>
          </a:p>
        </p:txBody>
      </p:sp>
      <p:sp>
        <p:nvSpPr>
          <p:cNvPr id="3083" name="Rectangle 11"/>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vl1pPr>
          </a:lstStyle>
          <a:p>
            <a:pPr>
              <a:defRPr/>
            </a:pPr>
            <a:endParaRPr lang="ro-RO"/>
          </a:p>
        </p:txBody>
      </p:sp>
      <p:sp>
        <p:nvSpPr>
          <p:cNvPr id="3084" name="Rectangle 12"/>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vl1pPr>
          </a:lstStyle>
          <a:p>
            <a:pPr>
              <a:defRPr/>
            </a:pPr>
            <a:endParaRPr lang="ro-RO"/>
          </a:p>
        </p:txBody>
      </p:sp>
      <p:sp>
        <p:nvSpPr>
          <p:cNvPr id="3085" name="Rectangle 13"/>
          <p:cNvSpPr>
            <a:spLocks noGrp="1" noChangeArrowheads="1"/>
          </p:cNvSpPr>
          <p:nvPr>
            <p:ph type="sldNum" sz="quarter" idx="4"/>
          </p:nvPr>
        </p:nvSpPr>
        <p:spPr bwMode="auto">
          <a:xfrm>
            <a:off x="6781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fld id="{55F8AF44-D53B-4EDC-911F-FDCF89846FC1}" type="slidenum">
              <a:rPr lang="ro-RO" altLang="en-US"/>
              <a:pPr/>
              <a:t>‹#›</a:t>
            </a:fld>
            <a:endParaRPr lang="ro-RO" altLang="en-US"/>
          </a:p>
        </p:txBody>
      </p:sp>
    </p:spTree>
  </p:cSld>
  <p:clrMap bg1="lt1" tx1="dk1" bg2="lt2" tx2="dk2" accent1="accent1" accent2="accent2" accent3="accent3" accent4="accent4" accent5="accent5" accent6="accent6" hlink="hlink" folHlink="folHlink"/>
  <p:sldLayoutIdLst>
    <p:sldLayoutId id="2147483843"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imes New Roman" pitchFamily="18" charset="0"/>
        </a:defRPr>
      </a:lvl2pPr>
      <a:lvl3pPr algn="l" rtl="0" eaLnBrk="0" fontAlgn="base" hangingPunct="0">
        <a:spcBef>
          <a:spcPct val="0"/>
        </a:spcBef>
        <a:spcAft>
          <a:spcPct val="0"/>
        </a:spcAft>
        <a:defRPr sz="4400">
          <a:solidFill>
            <a:schemeClr val="tx2"/>
          </a:solidFill>
          <a:latin typeface="Times New Roman" pitchFamily="18" charset="0"/>
        </a:defRPr>
      </a:lvl3pPr>
      <a:lvl4pPr algn="l" rtl="0" eaLnBrk="0" fontAlgn="base" hangingPunct="0">
        <a:spcBef>
          <a:spcPct val="0"/>
        </a:spcBef>
        <a:spcAft>
          <a:spcPct val="0"/>
        </a:spcAft>
        <a:defRPr sz="4400">
          <a:solidFill>
            <a:schemeClr val="tx2"/>
          </a:solidFill>
          <a:latin typeface="Times New Roman" pitchFamily="18" charset="0"/>
        </a:defRPr>
      </a:lvl4pPr>
      <a:lvl5pPr algn="l" rtl="0" eaLnBrk="0" fontAlgn="base" hangingPunct="0">
        <a:spcBef>
          <a:spcPct val="0"/>
        </a:spcBef>
        <a:spcAft>
          <a:spcPct val="0"/>
        </a:spcAft>
        <a:defRPr sz="4400">
          <a:solidFill>
            <a:schemeClr val="tx2"/>
          </a:solidFill>
          <a:latin typeface="Times New Roman" pitchFamily="18" charset="0"/>
        </a:defRPr>
      </a:lvl5pPr>
      <a:lvl6pPr marL="457200" algn="l" rtl="0" fontAlgn="base">
        <a:spcBef>
          <a:spcPct val="0"/>
        </a:spcBef>
        <a:spcAft>
          <a:spcPct val="0"/>
        </a:spcAft>
        <a:defRPr sz="4400">
          <a:solidFill>
            <a:schemeClr val="tx2"/>
          </a:solidFill>
          <a:latin typeface="Times New Roman" pitchFamily="18" charset="0"/>
        </a:defRPr>
      </a:lvl6pPr>
      <a:lvl7pPr marL="914400" algn="l" rtl="0" fontAlgn="base">
        <a:spcBef>
          <a:spcPct val="0"/>
        </a:spcBef>
        <a:spcAft>
          <a:spcPct val="0"/>
        </a:spcAft>
        <a:defRPr sz="4400">
          <a:solidFill>
            <a:schemeClr val="tx2"/>
          </a:solidFill>
          <a:latin typeface="Times New Roman" pitchFamily="18" charset="0"/>
        </a:defRPr>
      </a:lvl7pPr>
      <a:lvl8pPr marL="1371600" algn="l" rtl="0" fontAlgn="base">
        <a:spcBef>
          <a:spcPct val="0"/>
        </a:spcBef>
        <a:spcAft>
          <a:spcPct val="0"/>
        </a:spcAft>
        <a:defRPr sz="4400">
          <a:solidFill>
            <a:schemeClr val="tx2"/>
          </a:solidFill>
          <a:latin typeface="Times New Roman" pitchFamily="18" charset="0"/>
        </a:defRPr>
      </a:lvl8pPr>
      <a:lvl9pPr marL="1828800" algn="l"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4.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61.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9" Type="http://schemas.openxmlformats.org/officeDocument/2006/relationships/image" Target="../media/image6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algn="ctr" eaLnBrk="1" hangingPunct="1">
              <a:defRPr/>
            </a:pPr>
            <a:r>
              <a:rPr lang="en-US" sz="5400" b="1" dirty="0">
                <a:solidFill>
                  <a:schemeClr val="accent2"/>
                </a:solidFill>
                <a:cs typeface="Times New Roman" pitchFamily="18" charset="0"/>
              </a:rPr>
              <a:t>Uncertain knowledge and reasoning</a:t>
            </a:r>
            <a:endParaRPr lang="fr-FR" sz="5400" b="1" dirty="0">
              <a:solidFill>
                <a:schemeClr val="bg1"/>
              </a:solidFill>
              <a:effectLst>
                <a:outerShdw blurRad="38100" dist="38100" dir="2700000" algn="tl">
                  <a:srgbClr val="C0C0C0"/>
                </a:outerShdw>
              </a:effectLst>
            </a:endParaRPr>
          </a:p>
        </p:txBody>
      </p:sp>
      <p:sp>
        <p:nvSpPr>
          <p:cNvPr id="3075" name="Rectangle 3"/>
          <p:cNvSpPr>
            <a:spLocks noGrp="1" noChangeArrowheads="1"/>
          </p:cNvSpPr>
          <p:nvPr>
            <p:ph type="subTitle" idx="1"/>
          </p:nvPr>
        </p:nvSpPr>
        <p:spPr>
          <a:xfrm>
            <a:off x="1371600" y="3886200"/>
            <a:ext cx="6400800" cy="2286000"/>
          </a:xfrm>
        </p:spPr>
        <p:txBody>
          <a:bodyPr/>
          <a:lstStyle/>
          <a:p>
            <a:pPr eaLnBrk="1" hangingPunct="1"/>
            <a:endParaRPr lang="en-US" altLang="en-US">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214438" y="500063"/>
            <a:ext cx="7929562" cy="642937"/>
          </a:xfrm>
        </p:spPr>
        <p:txBody>
          <a:bodyPr/>
          <a:lstStyle/>
          <a:p>
            <a:pPr eaLnBrk="1" hangingPunct="1"/>
            <a:br>
              <a:rPr lang="en-US" altLang="en-US" sz="2800" b="1"/>
            </a:br>
            <a:br>
              <a:rPr lang="en-US" altLang="en-US" sz="2800" b="1"/>
            </a:br>
            <a:br>
              <a:rPr lang="en-US" altLang="en-US" sz="2800" b="1"/>
            </a:br>
            <a:r>
              <a:rPr lang="en-US" altLang="en-US" b="1"/>
              <a:t>Outline: </a:t>
            </a:r>
            <a:endParaRPr lang="fr-FR" altLang="en-US" b="1"/>
          </a:p>
        </p:txBody>
      </p:sp>
      <p:sp>
        <p:nvSpPr>
          <p:cNvPr id="4099" name="Rectangle 3"/>
          <p:cNvSpPr>
            <a:spLocks noGrp="1" noChangeArrowheads="1"/>
          </p:cNvSpPr>
          <p:nvPr>
            <p:ph type="body" idx="1"/>
          </p:nvPr>
        </p:nvSpPr>
        <p:spPr>
          <a:xfrm>
            <a:off x="714375" y="1487488"/>
            <a:ext cx="7500938" cy="3597275"/>
          </a:xfrm>
          <a:ln>
            <a:solidFill>
              <a:schemeClr val="tx1"/>
            </a:solidFill>
            <a:miter lim="800000"/>
            <a:headEnd/>
            <a:tailEnd/>
          </a:ln>
        </p:spPr>
        <p:txBody>
          <a:bodyPr/>
          <a:lstStyle/>
          <a:p>
            <a:pPr eaLnBrk="1" hangingPunct="1"/>
            <a:r>
              <a:rPr lang="en-US" altLang="en-US">
                <a:cs typeface="Times New Roman" panose="02020603050405020304" pitchFamily="18" charset="0"/>
              </a:rPr>
              <a:t>Uncertainty</a:t>
            </a:r>
          </a:p>
          <a:p>
            <a:pPr eaLnBrk="1" hangingPunct="1"/>
            <a:r>
              <a:rPr lang="en-US" altLang="en-US">
                <a:cs typeface="Times New Roman" panose="02020603050405020304" pitchFamily="18" charset="0"/>
              </a:rPr>
              <a:t>Representing Knowledge in an Uncertain Domain</a:t>
            </a:r>
          </a:p>
          <a:p>
            <a:pPr eaLnBrk="1" hangingPunct="1"/>
            <a:r>
              <a:rPr lang="en-US" altLang="en-US">
                <a:cs typeface="Times New Roman" panose="02020603050405020304" pitchFamily="18" charset="0"/>
              </a:rPr>
              <a:t>Belief Networks</a:t>
            </a:r>
          </a:p>
          <a:p>
            <a:pPr eaLnBrk="1" hangingPunct="1"/>
            <a:r>
              <a:rPr lang="en-US" altLang="en-US">
                <a:cs typeface="Times New Roman" panose="02020603050405020304" pitchFamily="18" charset="0"/>
              </a:rPr>
              <a:t>Simple Inference in Belief Network</a:t>
            </a:r>
          </a:p>
          <a:p>
            <a:pPr eaLnBrk="1" hangingPunct="1"/>
            <a:r>
              <a:rPr lang="en-US" altLang="en-US">
                <a:cs typeface="Times New Roman" panose="02020603050405020304" pitchFamily="18" charset="0"/>
              </a:rPr>
              <a:t>Bayesian networks</a:t>
            </a:r>
          </a:p>
        </p:txBody>
      </p:sp>
      <p:sp>
        <p:nvSpPr>
          <p:cNvPr id="4100" name="Rectangle 4"/>
          <p:cNvSpPr>
            <a:spLocks noChangeArrowheads="1"/>
          </p:cNvSpPr>
          <p:nvPr/>
        </p:nvSpPr>
        <p:spPr bwMode="auto">
          <a:xfrm>
            <a:off x="8534400" y="65532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6B7B6C92-36DF-4DBC-AA4A-F43487E81068}" type="slidenum">
              <a:rPr lang="ro-RO" altLang="en-US" sz="1400"/>
              <a:pPr algn="r" eaLnBrk="1" hangingPunct="1"/>
              <a:t>2</a:t>
            </a:fld>
            <a:endParaRPr lang="ro-RO" altLang="en-US"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altLang="en-US" dirty="0"/>
              <a:t>Questions:</a:t>
            </a:r>
            <a:endParaRPr lang="en-IN" altLang="en-US" dirty="0"/>
          </a:p>
        </p:txBody>
      </p:sp>
      <p:sp>
        <p:nvSpPr>
          <p:cNvPr id="3" name="Content Placeholder 2"/>
          <p:cNvSpPr>
            <a:spLocks noGrp="1"/>
          </p:cNvSpPr>
          <p:nvPr>
            <p:ph idx="1"/>
          </p:nvPr>
        </p:nvSpPr>
        <p:spPr>
          <a:xfrm>
            <a:off x="214313" y="1428750"/>
            <a:ext cx="8740775" cy="5357813"/>
          </a:xfrm>
          <a:ln>
            <a:solidFill>
              <a:schemeClr val="tx1"/>
            </a:solidFill>
          </a:ln>
        </p:spPr>
        <p:txBody>
          <a:bodyPr/>
          <a:lstStyle/>
          <a:p>
            <a:pPr marL="457200" indent="-457200" algn="just" eaLnBrk="1" hangingPunct="1">
              <a:buFont typeface="+mj-lt"/>
              <a:buAutoNum type="arabicPeriod"/>
              <a:defRPr/>
            </a:pPr>
            <a:r>
              <a:rPr lang="en-US" sz="2600" dirty="0"/>
              <a:t>Explain with example </a:t>
            </a:r>
            <a:r>
              <a:rPr lang="en-US" sz="2600" dirty="0" err="1"/>
              <a:t>Baye’s</a:t>
            </a:r>
            <a:r>
              <a:rPr lang="en-US" sz="2600" dirty="0"/>
              <a:t> Belief network and simple Inference in belief Network. </a:t>
            </a:r>
            <a:endParaRPr lang="en-IN" sz="2600" dirty="0"/>
          </a:p>
          <a:p>
            <a:pPr marL="457200" indent="-457200" algn="just" eaLnBrk="1" hangingPunct="1">
              <a:buFont typeface="+mj-lt"/>
              <a:buAutoNum type="arabicPeriod"/>
              <a:defRPr/>
            </a:pPr>
            <a:r>
              <a:rPr lang="en-US" sz="2600" dirty="0"/>
              <a:t>You have two neighbors, John and Mary, who have promised to call you at work when they hear the alarm. John always calls when he hears the alarm, but sometimes confuses the telephone ringing with the alarm and calls then, too. Marry on the other hand, likes rather loud music and sometimes misses the alarm altogether. Given the evidence of who has or has not called, we would like to estimate the probability of a burglary. Draw a Bayesian network for this domain with suitable tables.</a:t>
            </a:r>
            <a:endParaRPr lang="en-IN" sz="2600" dirty="0"/>
          </a:p>
          <a:p>
            <a:pPr marL="457200" indent="-457200" algn="just" eaLnBrk="1" hangingPunct="1">
              <a:buFont typeface="+mj-lt"/>
              <a:buAutoNum type="arabicPeriod"/>
              <a:defRPr/>
            </a:pPr>
            <a:r>
              <a:rPr lang="en-US" sz="2600" dirty="0"/>
              <a:t>What is Uncertainty? Explain Bayesian network with example.</a:t>
            </a:r>
            <a:endParaRPr lang="en-IN" sz="2600" dirty="0"/>
          </a:p>
          <a:p>
            <a:pPr eaLnBrk="1" hangingPunct="1">
              <a:defRPr/>
            </a:pP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dirty="0"/>
              <a:t>Uncertainty-</a:t>
            </a:r>
            <a:endParaRPr lang="en-IN" altLang="en-US" dirty="0">
              <a:solidFill>
                <a:srgbClr val="FF0000"/>
              </a:solidFill>
            </a:endParaRPr>
          </a:p>
        </p:txBody>
      </p:sp>
      <p:sp>
        <p:nvSpPr>
          <p:cNvPr id="6147" name="Content Placeholder 2"/>
          <p:cNvSpPr>
            <a:spLocks noGrp="1"/>
          </p:cNvSpPr>
          <p:nvPr>
            <p:ph idx="1"/>
          </p:nvPr>
        </p:nvSpPr>
        <p:spPr>
          <a:xfrm>
            <a:off x="214313" y="1357313"/>
            <a:ext cx="8740775" cy="5286375"/>
          </a:xfrm>
          <a:ln>
            <a:solidFill>
              <a:schemeClr val="tx1"/>
            </a:solidFill>
            <a:miter lim="800000"/>
            <a:headEnd/>
            <a:tailEnd/>
          </a:ln>
        </p:spPr>
        <p:txBody>
          <a:bodyPr/>
          <a:lstStyle/>
          <a:p>
            <a:pPr algn="just"/>
            <a:r>
              <a:rPr lang="en-US" altLang="en-US"/>
              <a:t>Problems with First-order logic and Logic agent approach-</a:t>
            </a:r>
          </a:p>
          <a:p>
            <a:pPr lvl="1" algn="just"/>
            <a:r>
              <a:rPr lang="en-US" altLang="en-US"/>
              <a:t>Agents almost never have access to the whole truth about their environment</a:t>
            </a:r>
          </a:p>
          <a:p>
            <a:pPr lvl="1" algn="just"/>
            <a:r>
              <a:rPr lang="en-US" altLang="en-US"/>
              <a:t>So Agent cannot find a categorical answer to some important questions.</a:t>
            </a:r>
          </a:p>
          <a:p>
            <a:pPr lvl="2" algn="just"/>
            <a:r>
              <a:rPr lang="en-US" altLang="en-US" b="1">
                <a:solidFill>
                  <a:schemeClr val="tx2"/>
                </a:solidFill>
              </a:rPr>
              <a:t>The agent therefore act under Uncertainty</a:t>
            </a:r>
          </a:p>
          <a:p>
            <a:pPr algn="just"/>
            <a:r>
              <a:rPr lang="en-US" altLang="en-US" b="1">
                <a:solidFill>
                  <a:schemeClr val="tx2"/>
                </a:solidFill>
              </a:rPr>
              <a:t>For Example, </a:t>
            </a:r>
            <a:r>
              <a:rPr lang="en-US" altLang="en-US" sz="2800"/>
              <a:t>a wumpus agent often will find unable to discover which of two squares contains a pit. If those squares en route to the gold then agent might take a chance and enter one of the two squares.</a:t>
            </a:r>
            <a:endParaRPr lang="en-IN" altLang="en-US" sz="2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Oval 57"/>
          <p:cNvSpPr>
            <a:spLocks noChangeArrowheads="1"/>
          </p:cNvSpPr>
          <p:nvPr/>
        </p:nvSpPr>
        <p:spPr bwMode="auto">
          <a:xfrm>
            <a:off x="5638800" y="2576513"/>
            <a:ext cx="2133600" cy="1447800"/>
          </a:xfrm>
          <a:prstGeom prst="ellipse">
            <a:avLst/>
          </a:prstGeom>
          <a:solidFill>
            <a:schemeClr val="folHlink"/>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t>environment</a:t>
            </a:r>
          </a:p>
        </p:txBody>
      </p:sp>
      <p:grpSp>
        <p:nvGrpSpPr>
          <p:cNvPr id="7171" name="Group 51"/>
          <p:cNvGrpSpPr>
            <a:grpSpLocks/>
          </p:cNvGrpSpPr>
          <p:nvPr/>
        </p:nvGrpSpPr>
        <p:grpSpPr bwMode="auto">
          <a:xfrm>
            <a:off x="6248400" y="3448050"/>
            <a:ext cx="685800" cy="381000"/>
            <a:chOff x="1632" y="1248"/>
            <a:chExt cx="2682" cy="2286"/>
          </a:xfrm>
        </p:grpSpPr>
        <p:sp>
          <p:nvSpPr>
            <p:cNvPr id="7219" name="Gear"/>
            <p:cNvSpPr>
              <a:spLocks noEditPoints="1" noChangeArrowheads="1"/>
            </p:cNvSpPr>
            <p:nvPr/>
          </p:nvSpPr>
          <p:spPr bwMode="auto">
            <a:xfrm>
              <a:off x="3119" y="1248"/>
              <a:ext cx="1195" cy="104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4 w 21600"/>
                <a:gd name="T13" fmla="*/ 3957 h 21600"/>
                <a:gd name="T14" fmla="*/ 17840 w 21600"/>
                <a:gd name="T15" fmla="*/ 17643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5F5F5F"/>
            </a:solidFill>
            <a:ln w="9525">
              <a:round/>
              <a:headEnd/>
              <a:tailEnd/>
            </a:ln>
            <a:scene3d>
              <a:camera prst="legacyPerspectiveFront">
                <a:rot lat="20099978" lon="1500000" rev="0"/>
              </a:camera>
              <a:lightRig rig="legacyFlat4" dir="b"/>
            </a:scene3d>
            <a:sp3d extrusionH="430200" prstMaterial="legacyMatte">
              <a:bevelT w="13500" h="13500" prst="angle"/>
              <a:bevelB w="13500" h="13500" prst="angle"/>
              <a:extrusionClr>
                <a:srgbClr val="5F5F5F"/>
              </a:extrusionClr>
              <a:contourClr>
                <a:srgbClr val="5F5F5F"/>
              </a:contourClr>
            </a:sp3d>
          </p:spPr>
          <p:txBody>
            <a:bodyPr>
              <a:flatTx/>
            </a:bodyPr>
            <a:lstStyle/>
            <a:p>
              <a:endParaRPr lang="en-IN"/>
            </a:p>
          </p:txBody>
        </p:sp>
        <p:sp>
          <p:nvSpPr>
            <p:cNvPr id="7220" name="AutoShape 53"/>
            <p:cNvSpPr>
              <a:spLocks noEditPoints="1" noChangeArrowheads="1"/>
            </p:cNvSpPr>
            <p:nvPr/>
          </p:nvSpPr>
          <p:spPr bwMode="auto">
            <a:xfrm>
              <a:off x="1632" y="1680"/>
              <a:ext cx="1429" cy="125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68 w 21600"/>
                <a:gd name="T13" fmla="*/ 3965 h 21600"/>
                <a:gd name="T14" fmla="*/ 17836 w 21600"/>
                <a:gd name="T15" fmla="*/ 17635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chemeClr val="hlink"/>
            </a:solidFill>
            <a:ln w="9525">
              <a:round/>
              <a:headEnd/>
              <a:tailEnd/>
            </a:ln>
            <a:scene3d>
              <a:camera prst="legacyPerspectiveFront">
                <a:rot lat="20099978" lon="1500000" rev="0"/>
              </a:camera>
              <a:lightRig rig="legacyFlat4" dir="b"/>
            </a:scene3d>
            <a:sp3d extrusionH="430200" prstMaterial="legacyMatte">
              <a:bevelT w="13500" h="13500" prst="angle"/>
              <a:bevelB w="13500" h="13500" prst="angle"/>
              <a:extrusionClr>
                <a:schemeClr val="hlink"/>
              </a:extrusionClr>
              <a:contourClr>
                <a:schemeClr val="hlink"/>
              </a:contourClr>
            </a:sp3d>
          </p:spPr>
          <p:txBody>
            <a:bodyPr>
              <a:flatTx/>
            </a:bodyPr>
            <a:lstStyle/>
            <a:p>
              <a:endParaRPr lang="en-IN"/>
            </a:p>
          </p:txBody>
        </p:sp>
        <p:sp>
          <p:nvSpPr>
            <p:cNvPr id="7221" name="AutoShape 54"/>
            <p:cNvSpPr>
              <a:spLocks noEditPoints="1" noChangeArrowheads="1"/>
            </p:cNvSpPr>
            <p:nvPr/>
          </p:nvSpPr>
          <p:spPr bwMode="auto">
            <a:xfrm>
              <a:off x="2559" y="2142"/>
              <a:ext cx="1588"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80 w 21600"/>
                <a:gd name="T13" fmla="*/ 3957 h 21600"/>
                <a:gd name="T14" fmla="*/ 17846 w 21600"/>
                <a:gd name="T15" fmla="*/ 17628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E05B00"/>
            </a:solidFill>
            <a:ln w="9525">
              <a:round/>
              <a:headEnd/>
              <a:tailEnd/>
            </a:ln>
            <a:scene3d>
              <a:camera prst="legacyPerspectiveFront">
                <a:rot lat="20099978" lon="1500000" rev="0"/>
              </a:camera>
              <a:lightRig rig="legacyFlat4" dir="b"/>
            </a:scene3d>
            <a:sp3d extrusionH="430200" prstMaterial="legacyMatte">
              <a:bevelT w="13500" h="13500" prst="angle"/>
              <a:bevelB w="13500" h="13500" prst="angle"/>
              <a:extrusionClr>
                <a:srgbClr val="E05B00"/>
              </a:extrusionClr>
              <a:contourClr>
                <a:srgbClr val="E05B00"/>
              </a:contourClr>
            </a:sp3d>
          </p:spPr>
          <p:txBody>
            <a:bodyPr>
              <a:flatTx/>
            </a:bodyPr>
            <a:lstStyle/>
            <a:p>
              <a:endParaRPr lang="en-IN"/>
            </a:p>
          </p:txBody>
        </p:sp>
      </p:grpSp>
      <p:sp>
        <p:nvSpPr>
          <p:cNvPr id="118786" name="Rectangle 2"/>
          <p:cNvSpPr>
            <a:spLocks noGrp="1" noChangeArrowheads="1"/>
          </p:cNvSpPr>
          <p:nvPr>
            <p:ph type="title"/>
          </p:nvPr>
        </p:nvSpPr>
        <p:spPr/>
        <p:txBody>
          <a:bodyPr/>
          <a:lstStyle/>
          <a:p>
            <a:pPr>
              <a:defRPr/>
            </a:pPr>
            <a:r>
              <a:rPr lang="en-US" sz="4800" b="1">
                <a:solidFill>
                  <a:schemeClr val="tx1"/>
                </a:solidFill>
                <a:effectLst>
                  <a:outerShdw blurRad="38100" dist="38100" dir="2700000" algn="tl">
                    <a:srgbClr val="C0C0C0"/>
                  </a:outerShdw>
                </a:effectLst>
              </a:rPr>
              <a:t>Uncertain Agent</a:t>
            </a:r>
          </a:p>
        </p:txBody>
      </p:sp>
      <p:sp>
        <p:nvSpPr>
          <p:cNvPr id="7173" name="Freeform 11"/>
          <p:cNvSpPr>
            <a:spLocks/>
          </p:cNvSpPr>
          <p:nvPr/>
        </p:nvSpPr>
        <p:spPr bwMode="auto">
          <a:xfrm>
            <a:off x="3429000" y="2000250"/>
            <a:ext cx="2514600" cy="774700"/>
          </a:xfrm>
          <a:custGeom>
            <a:avLst/>
            <a:gdLst>
              <a:gd name="T0" fmla="*/ 2147483647 w 1584"/>
              <a:gd name="T1" fmla="*/ 2147483647 h 488"/>
              <a:gd name="T2" fmla="*/ 2147483647 w 1584"/>
              <a:gd name="T3" fmla="*/ 2147483647 h 488"/>
              <a:gd name="T4" fmla="*/ 2147483647 w 1584"/>
              <a:gd name="T5" fmla="*/ 2147483647 h 488"/>
              <a:gd name="T6" fmla="*/ 2147483647 w 1584"/>
              <a:gd name="T7" fmla="*/ 2147483647 h 488"/>
              <a:gd name="T8" fmla="*/ 0 w 1584"/>
              <a:gd name="T9" fmla="*/ 2147483647 h 488"/>
              <a:gd name="T10" fmla="*/ 0 60000 65536"/>
              <a:gd name="T11" fmla="*/ 0 60000 65536"/>
              <a:gd name="T12" fmla="*/ 0 60000 65536"/>
              <a:gd name="T13" fmla="*/ 0 60000 65536"/>
              <a:gd name="T14" fmla="*/ 0 60000 65536"/>
              <a:gd name="T15" fmla="*/ 0 w 1584"/>
              <a:gd name="T16" fmla="*/ 0 h 488"/>
              <a:gd name="T17" fmla="*/ 1584 w 1584"/>
              <a:gd name="T18" fmla="*/ 488 h 488"/>
            </a:gdLst>
            <a:ahLst/>
            <a:cxnLst>
              <a:cxn ang="T10">
                <a:pos x="T0" y="T1"/>
              </a:cxn>
              <a:cxn ang="T11">
                <a:pos x="T2" y="T3"/>
              </a:cxn>
              <a:cxn ang="T12">
                <a:pos x="T4" y="T5"/>
              </a:cxn>
              <a:cxn ang="T13">
                <a:pos x="T6" y="T7"/>
              </a:cxn>
              <a:cxn ang="T14">
                <a:pos x="T8" y="T9"/>
              </a:cxn>
            </a:cxnLst>
            <a:rect l="T15" t="T16" r="T17" b="T18"/>
            <a:pathLst>
              <a:path w="1584" h="488">
                <a:moveTo>
                  <a:pt x="1584" y="488"/>
                </a:moveTo>
                <a:cubicBezTo>
                  <a:pt x="1508" y="360"/>
                  <a:pt x="1432" y="232"/>
                  <a:pt x="1296" y="152"/>
                </a:cubicBezTo>
                <a:cubicBezTo>
                  <a:pt x="1160" y="72"/>
                  <a:pt x="936" y="16"/>
                  <a:pt x="768" y="8"/>
                </a:cubicBezTo>
                <a:cubicBezTo>
                  <a:pt x="600" y="0"/>
                  <a:pt x="416" y="64"/>
                  <a:pt x="288" y="104"/>
                </a:cubicBezTo>
                <a:cubicBezTo>
                  <a:pt x="160" y="144"/>
                  <a:pt x="48" y="224"/>
                  <a:pt x="0" y="248"/>
                </a:cubicBezTo>
              </a:path>
            </a:pathLst>
          </a:custGeom>
          <a:noFill/>
          <a:ln w="57150">
            <a:solidFill>
              <a:srgbClr val="F81706"/>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IN"/>
          </a:p>
        </p:txBody>
      </p:sp>
      <p:sp>
        <p:nvSpPr>
          <p:cNvPr id="7174" name="Freeform 12"/>
          <p:cNvSpPr>
            <a:spLocks/>
          </p:cNvSpPr>
          <p:nvPr/>
        </p:nvSpPr>
        <p:spPr bwMode="auto">
          <a:xfrm>
            <a:off x="3810000" y="3600450"/>
            <a:ext cx="1905000" cy="431800"/>
          </a:xfrm>
          <a:custGeom>
            <a:avLst/>
            <a:gdLst>
              <a:gd name="T0" fmla="*/ 0 w 1200"/>
              <a:gd name="T1" fmla="*/ 0 h 272"/>
              <a:gd name="T2" fmla="*/ 2147483647 w 1200"/>
              <a:gd name="T3" fmla="*/ 2147483647 h 272"/>
              <a:gd name="T4" fmla="*/ 2147483647 w 1200"/>
              <a:gd name="T5" fmla="*/ 2147483647 h 272"/>
              <a:gd name="T6" fmla="*/ 2147483647 w 1200"/>
              <a:gd name="T7" fmla="*/ 0 h 272"/>
              <a:gd name="T8" fmla="*/ 0 60000 65536"/>
              <a:gd name="T9" fmla="*/ 0 60000 65536"/>
              <a:gd name="T10" fmla="*/ 0 60000 65536"/>
              <a:gd name="T11" fmla="*/ 0 60000 65536"/>
              <a:gd name="T12" fmla="*/ 0 w 1200"/>
              <a:gd name="T13" fmla="*/ 0 h 272"/>
              <a:gd name="T14" fmla="*/ 1200 w 1200"/>
              <a:gd name="T15" fmla="*/ 272 h 272"/>
            </a:gdLst>
            <a:ahLst/>
            <a:cxnLst>
              <a:cxn ang="T8">
                <a:pos x="T0" y="T1"/>
              </a:cxn>
              <a:cxn ang="T9">
                <a:pos x="T2" y="T3"/>
              </a:cxn>
              <a:cxn ang="T10">
                <a:pos x="T4" y="T5"/>
              </a:cxn>
              <a:cxn ang="T11">
                <a:pos x="T6" y="T7"/>
              </a:cxn>
            </a:cxnLst>
            <a:rect l="T12" t="T13" r="T14" b="T15"/>
            <a:pathLst>
              <a:path w="1200" h="272">
                <a:moveTo>
                  <a:pt x="0" y="0"/>
                </a:moveTo>
                <a:cubicBezTo>
                  <a:pt x="120" y="104"/>
                  <a:pt x="240" y="208"/>
                  <a:pt x="384" y="240"/>
                </a:cubicBezTo>
                <a:cubicBezTo>
                  <a:pt x="528" y="272"/>
                  <a:pt x="728" y="232"/>
                  <a:pt x="864" y="192"/>
                </a:cubicBezTo>
                <a:cubicBezTo>
                  <a:pt x="1000" y="152"/>
                  <a:pt x="1144" y="32"/>
                  <a:pt x="1200" y="0"/>
                </a:cubicBezTo>
              </a:path>
            </a:pathLst>
          </a:custGeom>
          <a:noFill/>
          <a:ln w="57150">
            <a:solidFill>
              <a:srgbClr val="339933"/>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IN"/>
          </a:p>
        </p:txBody>
      </p:sp>
      <p:grpSp>
        <p:nvGrpSpPr>
          <p:cNvPr id="7175" name="Group 13"/>
          <p:cNvGrpSpPr>
            <a:grpSpLocks/>
          </p:cNvGrpSpPr>
          <p:nvPr/>
        </p:nvGrpSpPr>
        <p:grpSpPr bwMode="auto">
          <a:xfrm>
            <a:off x="1828800" y="2271713"/>
            <a:ext cx="1219200" cy="1981200"/>
            <a:chOff x="960" y="1632"/>
            <a:chExt cx="768" cy="1248"/>
          </a:xfrm>
        </p:grpSpPr>
        <p:sp>
          <p:nvSpPr>
            <p:cNvPr id="7217" name="Rectangle 14"/>
            <p:cNvSpPr>
              <a:spLocks noChangeArrowheads="1"/>
            </p:cNvSpPr>
            <p:nvPr/>
          </p:nvSpPr>
          <p:spPr bwMode="auto">
            <a:xfrm>
              <a:off x="960" y="1632"/>
              <a:ext cx="768" cy="1248"/>
            </a:xfrm>
            <a:prstGeom prst="rect">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endParaRPr lang="en-US" altLang="en-US">
                <a:solidFill>
                  <a:srgbClr val="CC6600"/>
                </a:solidFill>
              </a:endParaRPr>
            </a:p>
          </p:txBody>
        </p:sp>
        <p:sp>
          <p:nvSpPr>
            <p:cNvPr id="7218" name="Text Box 15"/>
            <p:cNvSpPr txBox="1">
              <a:spLocks noChangeArrowheads="1"/>
            </p:cNvSpPr>
            <p:nvPr/>
          </p:nvSpPr>
          <p:spPr bwMode="auto">
            <a:xfrm>
              <a:off x="1056" y="2352"/>
              <a:ext cx="59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solidFill>
                    <a:srgbClr val="CC6600"/>
                  </a:solidFill>
                </a:rPr>
                <a:t>agent</a:t>
              </a:r>
            </a:p>
          </p:txBody>
        </p:sp>
      </p:grpSp>
      <p:grpSp>
        <p:nvGrpSpPr>
          <p:cNvPr id="7176" name="Group 16"/>
          <p:cNvGrpSpPr>
            <a:grpSpLocks/>
          </p:cNvGrpSpPr>
          <p:nvPr/>
        </p:nvGrpSpPr>
        <p:grpSpPr bwMode="auto">
          <a:xfrm>
            <a:off x="2057400" y="2652713"/>
            <a:ext cx="762000" cy="519112"/>
            <a:chOff x="1104" y="1872"/>
            <a:chExt cx="480" cy="327"/>
          </a:xfrm>
        </p:grpSpPr>
        <p:sp>
          <p:nvSpPr>
            <p:cNvPr id="7215" name="Rectangle 17"/>
            <p:cNvSpPr>
              <a:spLocks noChangeArrowheads="1"/>
            </p:cNvSpPr>
            <p:nvPr/>
          </p:nvSpPr>
          <p:spPr bwMode="auto">
            <a:xfrm>
              <a:off x="1104" y="1872"/>
              <a:ext cx="480" cy="288"/>
            </a:xfrm>
            <a:prstGeom prst="rect">
              <a:avLst/>
            </a:prstGeom>
            <a:solidFill>
              <a:schemeClr val="bg1"/>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7216" name="Text Box 18"/>
            <p:cNvSpPr txBox="1">
              <a:spLocks noChangeArrowheads="1"/>
            </p:cNvSpPr>
            <p:nvPr/>
          </p:nvSpPr>
          <p:spPr bwMode="auto">
            <a:xfrm>
              <a:off x="1200" y="1872"/>
              <a:ext cx="2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800" b="1">
                  <a:solidFill>
                    <a:srgbClr val="CC6600"/>
                  </a:solidFill>
                </a:rPr>
                <a:t>?</a:t>
              </a:r>
            </a:p>
          </p:txBody>
        </p:sp>
      </p:grpSp>
      <p:grpSp>
        <p:nvGrpSpPr>
          <p:cNvPr id="7177" name="Group 19"/>
          <p:cNvGrpSpPr>
            <a:grpSpLocks/>
          </p:cNvGrpSpPr>
          <p:nvPr/>
        </p:nvGrpSpPr>
        <p:grpSpPr bwMode="auto">
          <a:xfrm>
            <a:off x="2133600" y="1785938"/>
            <a:ext cx="2405063" cy="3667125"/>
            <a:chOff x="1152" y="1146"/>
            <a:chExt cx="1515" cy="2310"/>
          </a:xfrm>
        </p:grpSpPr>
        <p:grpSp>
          <p:nvGrpSpPr>
            <p:cNvPr id="7198" name="Group 20"/>
            <p:cNvGrpSpPr>
              <a:grpSpLocks/>
            </p:cNvGrpSpPr>
            <p:nvPr/>
          </p:nvGrpSpPr>
          <p:grpSpPr bwMode="auto">
            <a:xfrm>
              <a:off x="1536" y="2208"/>
              <a:ext cx="912" cy="432"/>
              <a:chOff x="1536" y="2112"/>
              <a:chExt cx="912" cy="432"/>
            </a:xfrm>
          </p:grpSpPr>
          <p:grpSp>
            <p:nvGrpSpPr>
              <p:cNvPr id="7208" name="Group 21"/>
              <p:cNvGrpSpPr>
                <a:grpSpLocks/>
              </p:cNvGrpSpPr>
              <p:nvPr/>
            </p:nvGrpSpPr>
            <p:grpSpPr bwMode="auto">
              <a:xfrm>
                <a:off x="1536" y="2160"/>
                <a:ext cx="816" cy="384"/>
                <a:chOff x="1536" y="2160"/>
                <a:chExt cx="816" cy="384"/>
              </a:xfrm>
            </p:grpSpPr>
            <p:sp>
              <p:nvSpPr>
                <p:cNvPr id="7213" name="Line 22"/>
                <p:cNvSpPr>
                  <a:spLocks noChangeShapeType="1"/>
                </p:cNvSpPr>
                <p:nvPr/>
              </p:nvSpPr>
              <p:spPr bwMode="auto">
                <a:xfrm>
                  <a:off x="1536" y="2160"/>
                  <a:ext cx="384" cy="384"/>
                </a:xfrm>
                <a:prstGeom prst="line">
                  <a:avLst/>
                </a:prstGeom>
                <a:noFill/>
                <a:ln w="57150">
                  <a:solidFill>
                    <a:srgbClr val="339933"/>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7214" name="Line 23"/>
                <p:cNvSpPr>
                  <a:spLocks noChangeShapeType="1"/>
                </p:cNvSpPr>
                <p:nvPr/>
              </p:nvSpPr>
              <p:spPr bwMode="auto">
                <a:xfrm flipV="1">
                  <a:off x="1920" y="2208"/>
                  <a:ext cx="432" cy="336"/>
                </a:xfrm>
                <a:prstGeom prst="line">
                  <a:avLst/>
                </a:prstGeom>
                <a:noFill/>
                <a:ln w="57150">
                  <a:solidFill>
                    <a:srgbClr val="339933"/>
                  </a:solidFill>
                  <a:round/>
                  <a:headEnd/>
                  <a:tailEnd/>
                </a:ln>
                <a:extLst>
                  <a:ext uri="{909E8E84-426E-40DD-AFC4-6F175D3DCCD1}">
                    <a14:hiddenFill xmlns:a14="http://schemas.microsoft.com/office/drawing/2010/main">
                      <a:noFill/>
                    </a14:hiddenFill>
                  </a:ext>
                </a:extLst>
              </p:spPr>
              <p:txBody>
                <a:bodyPr wrap="none"/>
                <a:lstStyle/>
                <a:p>
                  <a:endParaRPr lang="en-IN"/>
                </a:p>
              </p:txBody>
            </p:sp>
          </p:grpSp>
          <p:grpSp>
            <p:nvGrpSpPr>
              <p:cNvPr id="7209" name="Group 24"/>
              <p:cNvGrpSpPr>
                <a:grpSpLocks/>
              </p:cNvGrpSpPr>
              <p:nvPr/>
            </p:nvGrpSpPr>
            <p:grpSpPr bwMode="auto">
              <a:xfrm>
                <a:off x="2304" y="2112"/>
                <a:ext cx="144" cy="144"/>
                <a:chOff x="2304" y="2112"/>
                <a:chExt cx="144" cy="144"/>
              </a:xfrm>
            </p:grpSpPr>
            <p:sp>
              <p:nvSpPr>
                <p:cNvPr id="7210" name="Line 25"/>
                <p:cNvSpPr>
                  <a:spLocks noChangeShapeType="1"/>
                </p:cNvSpPr>
                <p:nvPr/>
              </p:nvSpPr>
              <p:spPr bwMode="auto">
                <a:xfrm>
                  <a:off x="2304" y="2160"/>
                  <a:ext cx="96" cy="96"/>
                </a:xfrm>
                <a:prstGeom prst="line">
                  <a:avLst/>
                </a:prstGeom>
                <a:noFill/>
                <a:ln w="57150">
                  <a:solidFill>
                    <a:srgbClr val="339933"/>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7211" name="Line 26"/>
                <p:cNvSpPr>
                  <a:spLocks noChangeShapeType="1"/>
                </p:cNvSpPr>
                <p:nvPr/>
              </p:nvSpPr>
              <p:spPr bwMode="auto">
                <a:xfrm flipV="1">
                  <a:off x="2304" y="2112"/>
                  <a:ext cx="48" cy="48"/>
                </a:xfrm>
                <a:prstGeom prst="line">
                  <a:avLst/>
                </a:prstGeom>
                <a:noFill/>
                <a:ln w="57150">
                  <a:solidFill>
                    <a:srgbClr val="339933"/>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7212" name="Line 27"/>
                <p:cNvSpPr>
                  <a:spLocks noChangeShapeType="1"/>
                </p:cNvSpPr>
                <p:nvPr/>
              </p:nvSpPr>
              <p:spPr bwMode="auto">
                <a:xfrm flipV="1">
                  <a:off x="2400" y="2208"/>
                  <a:ext cx="48" cy="48"/>
                </a:xfrm>
                <a:prstGeom prst="line">
                  <a:avLst/>
                </a:prstGeom>
                <a:noFill/>
                <a:ln w="57150">
                  <a:solidFill>
                    <a:srgbClr val="339933"/>
                  </a:solidFill>
                  <a:round/>
                  <a:headEnd/>
                  <a:tailEnd/>
                </a:ln>
                <a:extLst>
                  <a:ext uri="{909E8E84-426E-40DD-AFC4-6F175D3DCCD1}">
                    <a14:hiddenFill xmlns:a14="http://schemas.microsoft.com/office/drawing/2010/main">
                      <a:noFill/>
                    </a14:hiddenFill>
                  </a:ext>
                </a:extLst>
              </p:spPr>
              <p:txBody>
                <a:bodyPr wrap="none"/>
                <a:lstStyle/>
                <a:p>
                  <a:endParaRPr lang="en-IN"/>
                </a:p>
              </p:txBody>
            </p:sp>
          </p:grpSp>
        </p:grpSp>
        <p:grpSp>
          <p:nvGrpSpPr>
            <p:cNvPr id="7199" name="Group 28"/>
            <p:cNvGrpSpPr>
              <a:grpSpLocks/>
            </p:cNvGrpSpPr>
            <p:nvPr/>
          </p:nvGrpSpPr>
          <p:grpSpPr bwMode="auto">
            <a:xfrm>
              <a:off x="1152" y="2784"/>
              <a:ext cx="96" cy="672"/>
              <a:chOff x="1152" y="2784"/>
              <a:chExt cx="96" cy="672"/>
            </a:xfrm>
          </p:grpSpPr>
          <p:sp>
            <p:nvSpPr>
              <p:cNvPr id="7206" name="Line 29"/>
              <p:cNvSpPr>
                <a:spLocks noChangeShapeType="1"/>
              </p:cNvSpPr>
              <p:nvPr/>
            </p:nvSpPr>
            <p:spPr bwMode="auto">
              <a:xfrm flipV="1">
                <a:off x="1152" y="2784"/>
                <a:ext cx="0" cy="672"/>
              </a:xfrm>
              <a:prstGeom prst="line">
                <a:avLst/>
              </a:prstGeom>
              <a:noFill/>
              <a:ln w="57150">
                <a:solidFill>
                  <a:srgbClr val="339933"/>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7207" name="Line 30"/>
              <p:cNvSpPr>
                <a:spLocks noChangeShapeType="1"/>
              </p:cNvSpPr>
              <p:nvPr/>
            </p:nvSpPr>
            <p:spPr bwMode="auto">
              <a:xfrm>
                <a:off x="1152" y="3456"/>
                <a:ext cx="96" cy="0"/>
              </a:xfrm>
              <a:prstGeom prst="line">
                <a:avLst/>
              </a:prstGeom>
              <a:noFill/>
              <a:ln w="57150">
                <a:solidFill>
                  <a:srgbClr val="339933"/>
                </a:solidFill>
                <a:round/>
                <a:headEnd/>
                <a:tailEnd/>
              </a:ln>
              <a:extLst>
                <a:ext uri="{909E8E84-426E-40DD-AFC4-6F175D3DCCD1}">
                  <a14:hiddenFill xmlns:a14="http://schemas.microsoft.com/office/drawing/2010/main">
                    <a:noFill/>
                  </a14:hiddenFill>
                </a:ext>
              </a:extLst>
            </p:spPr>
            <p:txBody>
              <a:bodyPr wrap="none"/>
              <a:lstStyle/>
              <a:p>
                <a:endParaRPr lang="en-IN"/>
              </a:p>
            </p:txBody>
          </p:sp>
        </p:grpSp>
        <p:grpSp>
          <p:nvGrpSpPr>
            <p:cNvPr id="7200" name="Group 31"/>
            <p:cNvGrpSpPr>
              <a:grpSpLocks/>
            </p:cNvGrpSpPr>
            <p:nvPr/>
          </p:nvGrpSpPr>
          <p:grpSpPr bwMode="auto">
            <a:xfrm>
              <a:off x="1536" y="2784"/>
              <a:ext cx="96" cy="672"/>
              <a:chOff x="1152" y="2784"/>
              <a:chExt cx="96" cy="672"/>
            </a:xfrm>
          </p:grpSpPr>
          <p:sp>
            <p:nvSpPr>
              <p:cNvPr id="7204" name="Line 32"/>
              <p:cNvSpPr>
                <a:spLocks noChangeShapeType="1"/>
              </p:cNvSpPr>
              <p:nvPr/>
            </p:nvSpPr>
            <p:spPr bwMode="auto">
              <a:xfrm flipV="1">
                <a:off x="1152" y="2784"/>
                <a:ext cx="0" cy="672"/>
              </a:xfrm>
              <a:prstGeom prst="line">
                <a:avLst/>
              </a:prstGeom>
              <a:noFill/>
              <a:ln w="57150">
                <a:solidFill>
                  <a:srgbClr val="339933"/>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7205" name="Line 33"/>
              <p:cNvSpPr>
                <a:spLocks noChangeShapeType="1"/>
              </p:cNvSpPr>
              <p:nvPr/>
            </p:nvSpPr>
            <p:spPr bwMode="auto">
              <a:xfrm>
                <a:off x="1152" y="3456"/>
                <a:ext cx="96" cy="0"/>
              </a:xfrm>
              <a:prstGeom prst="line">
                <a:avLst/>
              </a:prstGeom>
              <a:noFill/>
              <a:ln w="57150">
                <a:solidFill>
                  <a:srgbClr val="339933"/>
                </a:solidFill>
                <a:round/>
                <a:headEnd/>
                <a:tailEnd/>
              </a:ln>
              <a:extLst>
                <a:ext uri="{909E8E84-426E-40DD-AFC4-6F175D3DCCD1}">
                  <a14:hiddenFill xmlns:a14="http://schemas.microsoft.com/office/drawing/2010/main">
                    <a:noFill/>
                  </a14:hiddenFill>
                </a:ext>
              </a:extLst>
            </p:spPr>
            <p:txBody>
              <a:bodyPr wrap="none"/>
              <a:lstStyle/>
              <a:p>
                <a:endParaRPr lang="en-IN"/>
              </a:p>
            </p:txBody>
          </p:sp>
        </p:grpSp>
        <p:sp>
          <p:nvSpPr>
            <p:cNvPr id="7201" name="Freeform 34"/>
            <p:cNvSpPr>
              <a:spLocks/>
            </p:cNvSpPr>
            <p:nvPr/>
          </p:nvSpPr>
          <p:spPr bwMode="auto">
            <a:xfrm>
              <a:off x="1536" y="1632"/>
              <a:ext cx="384" cy="197"/>
            </a:xfrm>
            <a:custGeom>
              <a:avLst/>
              <a:gdLst>
                <a:gd name="T0" fmla="*/ 0 w 384"/>
                <a:gd name="T1" fmla="*/ 96 h 197"/>
                <a:gd name="T2" fmla="*/ 384 w 384"/>
                <a:gd name="T3" fmla="*/ 0 h 197"/>
                <a:gd name="T4" fmla="*/ 365 w 384"/>
                <a:gd name="T5" fmla="*/ 197 h 197"/>
                <a:gd name="T6" fmla="*/ 0 w 384"/>
                <a:gd name="T7" fmla="*/ 96 h 197"/>
                <a:gd name="T8" fmla="*/ 0 60000 65536"/>
                <a:gd name="T9" fmla="*/ 0 60000 65536"/>
                <a:gd name="T10" fmla="*/ 0 60000 65536"/>
                <a:gd name="T11" fmla="*/ 0 60000 65536"/>
                <a:gd name="T12" fmla="*/ 0 w 384"/>
                <a:gd name="T13" fmla="*/ 0 h 197"/>
                <a:gd name="T14" fmla="*/ 384 w 384"/>
                <a:gd name="T15" fmla="*/ 197 h 197"/>
              </a:gdLst>
              <a:ahLst/>
              <a:cxnLst>
                <a:cxn ang="T8">
                  <a:pos x="T0" y="T1"/>
                </a:cxn>
                <a:cxn ang="T9">
                  <a:pos x="T2" y="T3"/>
                </a:cxn>
                <a:cxn ang="T10">
                  <a:pos x="T4" y="T5"/>
                </a:cxn>
                <a:cxn ang="T11">
                  <a:pos x="T6" y="T7"/>
                </a:cxn>
              </a:cxnLst>
              <a:rect l="T12" t="T13" r="T14" b="T15"/>
              <a:pathLst>
                <a:path w="384" h="197">
                  <a:moveTo>
                    <a:pt x="0" y="96"/>
                  </a:moveTo>
                  <a:lnTo>
                    <a:pt x="384" y="0"/>
                  </a:lnTo>
                  <a:cubicBezTo>
                    <a:pt x="378" y="66"/>
                    <a:pt x="371" y="131"/>
                    <a:pt x="365" y="197"/>
                  </a:cubicBezTo>
                  <a:lnTo>
                    <a:pt x="0" y="96"/>
                  </a:lnTo>
                  <a:close/>
                </a:path>
              </a:pathLst>
            </a:custGeom>
            <a:solidFill>
              <a:srgbClr val="F81706"/>
            </a:solidFill>
            <a:ln w="9525">
              <a:solidFill>
                <a:srgbClr val="F81706"/>
              </a:solidFill>
              <a:round/>
              <a:headEnd/>
              <a:tailEnd/>
            </a:ln>
          </p:spPr>
          <p:txBody>
            <a:bodyPr wrap="none"/>
            <a:lstStyle/>
            <a:p>
              <a:endParaRPr lang="en-IN"/>
            </a:p>
          </p:txBody>
        </p:sp>
        <p:sp>
          <p:nvSpPr>
            <p:cNvPr id="7202" name="Text Box 35"/>
            <p:cNvSpPr txBox="1">
              <a:spLocks noChangeArrowheads="1"/>
            </p:cNvSpPr>
            <p:nvPr/>
          </p:nvSpPr>
          <p:spPr bwMode="auto">
            <a:xfrm>
              <a:off x="1478" y="1146"/>
              <a:ext cx="7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solidFill>
                    <a:srgbClr val="F81706"/>
                  </a:solidFill>
                </a:rPr>
                <a:t>sensors</a:t>
              </a:r>
            </a:p>
          </p:txBody>
        </p:sp>
        <p:sp>
          <p:nvSpPr>
            <p:cNvPr id="7203" name="Text Box 36"/>
            <p:cNvSpPr txBox="1">
              <a:spLocks noChangeArrowheads="1"/>
            </p:cNvSpPr>
            <p:nvPr/>
          </p:nvSpPr>
          <p:spPr bwMode="auto">
            <a:xfrm>
              <a:off x="1766" y="2757"/>
              <a:ext cx="9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solidFill>
                    <a:srgbClr val="339933"/>
                  </a:solidFill>
                </a:rPr>
                <a:t>actuators</a:t>
              </a:r>
            </a:p>
          </p:txBody>
        </p:sp>
      </p:grpSp>
      <p:sp>
        <p:nvSpPr>
          <p:cNvPr id="118822" name="Text Box 38"/>
          <p:cNvSpPr txBox="1">
            <a:spLocks noChangeArrowheads="1"/>
          </p:cNvSpPr>
          <p:nvPr/>
        </p:nvSpPr>
        <p:spPr bwMode="auto">
          <a:xfrm>
            <a:off x="4495800" y="1571625"/>
            <a:ext cx="414338" cy="579438"/>
          </a:xfrm>
          <a:prstGeom prst="rect">
            <a:avLst/>
          </a:prstGeom>
          <a:noFill/>
          <a:ln w="9525">
            <a:noFill/>
            <a:miter lim="800000"/>
            <a:headEnd/>
            <a:tailEnd/>
          </a:ln>
          <a:effectLst/>
        </p:spPr>
        <p:txBody>
          <a:bodyPr wrap="none">
            <a:spAutoFit/>
          </a:bodyPr>
          <a:lstStyle/>
          <a:p>
            <a:pPr>
              <a:defRPr/>
            </a:pPr>
            <a:r>
              <a:rPr lang="en-US" b="1" dirty="0">
                <a:solidFill>
                  <a:srgbClr val="FF0000"/>
                </a:solidFill>
                <a:effectLst>
                  <a:outerShdw blurRad="38100" dist="38100" dir="2700000" algn="tl">
                    <a:srgbClr val="C0C0C0"/>
                  </a:outerShdw>
                </a:effectLst>
              </a:rPr>
              <a:t>?</a:t>
            </a:r>
          </a:p>
        </p:txBody>
      </p:sp>
      <p:sp>
        <p:nvSpPr>
          <p:cNvPr id="118825" name="Text Box 41"/>
          <p:cNvSpPr txBox="1">
            <a:spLocks noChangeArrowheads="1"/>
          </p:cNvSpPr>
          <p:nvPr/>
        </p:nvSpPr>
        <p:spPr bwMode="auto">
          <a:xfrm>
            <a:off x="4495800" y="3448050"/>
            <a:ext cx="414338" cy="579438"/>
          </a:xfrm>
          <a:prstGeom prst="rect">
            <a:avLst/>
          </a:prstGeom>
          <a:noFill/>
          <a:ln w="9525">
            <a:noFill/>
            <a:miter lim="800000"/>
            <a:headEnd/>
            <a:tailEnd/>
          </a:ln>
          <a:effectLst/>
        </p:spPr>
        <p:txBody>
          <a:bodyPr wrap="none">
            <a:spAutoFit/>
          </a:bodyPr>
          <a:lstStyle/>
          <a:p>
            <a:pPr>
              <a:defRPr/>
            </a:pPr>
            <a:r>
              <a:rPr lang="en-US" b="1">
                <a:solidFill>
                  <a:srgbClr val="008000"/>
                </a:solidFill>
                <a:effectLst>
                  <a:outerShdw blurRad="38100" dist="38100" dir="2700000" algn="tl">
                    <a:srgbClr val="C0C0C0"/>
                  </a:outerShdw>
                </a:effectLst>
              </a:rPr>
              <a:t>?</a:t>
            </a:r>
          </a:p>
        </p:txBody>
      </p:sp>
      <p:grpSp>
        <p:nvGrpSpPr>
          <p:cNvPr id="7180" name="Group 63"/>
          <p:cNvGrpSpPr>
            <a:grpSpLocks/>
          </p:cNvGrpSpPr>
          <p:nvPr/>
        </p:nvGrpSpPr>
        <p:grpSpPr bwMode="auto">
          <a:xfrm>
            <a:off x="2057400" y="2652713"/>
            <a:ext cx="762000" cy="519112"/>
            <a:chOff x="1104" y="1872"/>
            <a:chExt cx="480" cy="327"/>
          </a:xfrm>
        </p:grpSpPr>
        <p:sp>
          <p:nvSpPr>
            <p:cNvPr id="7196" name="Rectangle 64"/>
            <p:cNvSpPr>
              <a:spLocks noChangeArrowheads="1"/>
            </p:cNvSpPr>
            <p:nvPr/>
          </p:nvSpPr>
          <p:spPr bwMode="auto">
            <a:xfrm>
              <a:off x="1104" y="1872"/>
              <a:ext cx="480" cy="288"/>
            </a:xfrm>
            <a:prstGeom prst="rect">
              <a:avLst/>
            </a:prstGeom>
            <a:solidFill>
              <a:schemeClr val="bg1"/>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7197" name="Text Box 65"/>
            <p:cNvSpPr txBox="1">
              <a:spLocks noChangeArrowheads="1"/>
            </p:cNvSpPr>
            <p:nvPr/>
          </p:nvSpPr>
          <p:spPr bwMode="auto">
            <a:xfrm>
              <a:off x="1200" y="1872"/>
              <a:ext cx="2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800" b="1">
                  <a:solidFill>
                    <a:srgbClr val="CC6600"/>
                  </a:solidFill>
                </a:rPr>
                <a:t>?</a:t>
              </a:r>
            </a:p>
          </p:txBody>
        </p:sp>
      </p:grpSp>
      <p:grpSp>
        <p:nvGrpSpPr>
          <p:cNvPr id="12" name="Group 92"/>
          <p:cNvGrpSpPr>
            <a:grpSpLocks/>
          </p:cNvGrpSpPr>
          <p:nvPr/>
        </p:nvGrpSpPr>
        <p:grpSpPr bwMode="auto">
          <a:xfrm>
            <a:off x="2076450" y="2601913"/>
            <a:ext cx="4424363" cy="3617912"/>
            <a:chOff x="1308" y="1819"/>
            <a:chExt cx="2787" cy="2279"/>
          </a:xfrm>
        </p:grpSpPr>
        <p:grpSp>
          <p:nvGrpSpPr>
            <p:cNvPr id="7188" name="Group 84"/>
            <p:cNvGrpSpPr>
              <a:grpSpLocks/>
            </p:cNvGrpSpPr>
            <p:nvPr/>
          </p:nvGrpSpPr>
          <p:grpSpPr bwMode="auto">
            <a:xfrm>
              <a:off x="3120" y="3696"/>
              <a:ext cx="432" cy="240"/>
              <a:chOff x="1632" y="1248"/>
              <a:chExt cx="2682" cy="2286"/>
            </a:xfrm>
          </p:grpSpPr>
          <p:sp>
            <p:nvSpPr>
              <p:cNvPr id="7193" name="Gear"/>
              <p:cNvSpPr>
                <a:spLocks noEditPoints="1" noChangeArrowheads="1"/>
              </p:cNvSpPr>
              <p:nvPr/>
            </p:nvSpPr>
            <p:spPr bwMode="auto">
              <a:xfrm>
                <a:off x="3119" y="1248"/>
                <a:ext cx="1195" cy="104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4 w 21600"/>
                  <a:gd name="T13" fmla="*/ 3957 h 21600"/>
                  <a:gd name="T14" fmla="*/ 17840 w 21600"/>
                  <a:gd name="T15" fmla="*/ 17643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5F5F5F"/>
              </a:solidFill>
              <a:ln w="9525">
                <a:round/>
                <a:headEnd/>
                <a:tailEnd/>
              </a:ln>
              <a:scene3d>
                <a:camera prst="legacyPerspectiveFront">
                  <a:rot lat="20099978" lon="1500000" rev="0"/>
                </a:camera>
                <a:lightRig rig="legacyFlat4" dir="b"/>
              </a:scene3d>
              <a:sp3d extrusionH="430200" prstMaterial="legacyMatte">
                <a:bevelT w="13500" h="13500" prst="angle"/>
                <a:bevelB w="13500" h="13500" prst="angle"/>
                <a:extrusionClr>
                  <a:srgbClr val="5F5F5F"/>
                </a:extrusionClr>
                <a:contourClr>
                  <a:srgbClr val="5F5F5F"/>
                </a:contourClr>
              </a:sp3d>
            </p:spPr>
            <p:txBody>
              <a:bodyPr>
                <a:flatTx/>
              </a:bodyPr>
              <a:lstStyle/>
              <a:p>
                <a:endParaRPr lang="en-IN"/>
              </a:p>
            </p:txBody>
          </p:sp>
          <p:sp>
            <p:nvSpPr>
              <p:cNvPr id="7194" name="AutoShape 86"/>
              <p:cNvSpPr>
                <a:spLocks noEditPoints="1" noChangeArrowheads="1"/>
              </p:cNvSpPr>
              <p:nvPr/>
            </p:nvSpPr>
            <p:spPr bwMode="auto">
              <a:xfrm>
                <a:off x="1632" y="1680"/>
                <a:ext cx="1429" cy="125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68 w 21600"/>
                  <a:gd name="T13" fmla="*/ 3965 h 21600"/>
                  <a:gd name="T14" fmla="*/ 17836 w 21600"/>
                  <a:gd name="T15" fmla="*/ 17635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chemeClr val="hlink"/>
              </a:solidFill>
              <a:ln w="9525">
                <a:round/>
                <a:headEnd/>
                <a:tailEnd/>
              </a:ln>
              <a:scene3d>
                <a:camera prst="legacyPerspectiveFront">
                  <a:rot lat="20099978" lon="1500000" rev="0"/>
                </a:camera>
                <a:lightRig rig="legacyFlat4" dir="b"/>
              </a:scene3d>
              <a:sp3d extrusionH="430200" prstMaterial="legacyMatte">
                <a:bevelT w="13500" h="13500" prst="angle"/>
                <a:bevelB w="13500" h="13500" prst="angle"/>
                <a:extrusionClr>
                  <a:schemeClr val="hlink"/>
                </a:extrusionClr>
                <a:contourClr>
                  <a:schemeClr val="hlink"/>
                </a:contourClr>
              </a:sp3d>
            </p:spPr>
            <p:txBody>
              <a:bodyPr>
                <a:flatTx/>
              </a:bodyPr>
              <a:lstStyle/>
              <a:p>
                <a:endParaRPr lang="en-IN"/>
              </a:p>
            </p:txBody>
          </p:sp>
          <p:sp>
            <p:nvSpPr>
              <p:cNvPr id="7195" name="AutoShape 87"/>
              <p:cNvSpPr>
                <a:spLocks noEditPoints="1" noChangeArrowheads="1"/>
              </p:cNvSpPr>
              <p:nvPr/>
            </p:nvSpPr>
            <p:spPr bwMode="auto">
              <a:xfrm>
                <a:off x="2559" y="2142"/>
                <a:ext cx="1588"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80 w 21600"/>
                  <a:gd name="T13" fmla="*/ 3957 h 21600"/>
                  <a:gd name="T14" fmla="*/ 17846 w 21600"/>
                  <a:gd name="T15" fmla="*/ 17628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E05B00"/>
              </a:solidFill>
              <a:ln w="9525">
                <a:round/>
                <a:headEnd/>
                <a:tailEnd/>
              </a:ln>
              <a:scene3d>
                <a:camera prst="legacyPerspectiveFront">
                  <a:rot lat="20099978" lon="1500000" rev="0"/>
                </a:camera>
                <a:lightRig rig="legacyFlat4" dir="b"/>
              </a:scene3d>
              <a:sp3d extrusionH="430200" prstMaterial="legacyMatte">
                <a:bevelT w="13500" h="13500" prst="angle"/>
                <a:bevelB w="13500" h="13500" prst="angle"/>
                <a:extrusionClr>
                  <a:srgbClr val="E05B00"/>
                </a:extrusionClr>
                <a:contourClr>
                  <a:srgbClr val="E05B00"/>
                </a:contourClr>
              </a:sp3d>
            </p:spPr>
            <p:txBody>
              <a:bodyPr>
                <a:flatTx/>
              </a:bodyPr>
              <a:lstStyle/>
              <a:p>
                <a:endParaRPr lang="en-IN"/>
              </a:p>
            </p:txBody>
          </p:sp>
        </p:grpSp>
        <p:grpSp>
          <p:nvGrpSpPr>
            <p:cNvPr id="7189" name="Group 91"/>
            <p:cNvGrpSpPr>
              <a:grpSpLocks/>
            </p:cNvGrpSpPr>
            <p:nvPr/>
          </p:nvGrpSpPr>
          <p:grpSpPr bwMode="auto">
            <a:xfrm>
              <a:off x="1308" y="1819"/>
              <a:ext cx="2787" cy="2279"/>
              <a:chOff x="1308" y="1819"/>
              <a:chExt cx="2787" cy="2279"/>
            </a:xfrm>
          </p:grpSpPr>
          <p:sp>
            <p:nvSpPr>
              <p:cNvPr id="7190" name="Cloud"/>
              <p:cNvSpPr>
                <a:spLocks noChangeAspect="1" noEditPoints="1" noChangeArrowheads="1"/>
              </p:cNvSpPr>
              <p:nvPr/>
            </p:nvSpPr>
            <p:spPr bwMode="auto">
              <a:xfrm>
                <a:off x="2703" y="3015"/>
                <a:ext cx="1392" cy="108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979 w 21600"/>
                  <a:gd name="T13" fmla="*/ 3271 h 21600"/>
                  <a:gd name="T14" fmla="*/ 17084 w 21600"/>
                  <a:gd name="T15" fmla="*/ 17332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alpha val="58038"/>
                </a:schemeClr>
              </a:solidFill>
              <a:ln w="9525">
                <a:solidFill>
                  <a:srgbClr val="A44200"/>
                </a:solidFill>
                <a:miter lim="800000"/>
                <a:headEnd/>
                <a:tailEnd/>
              </a:ln>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a:p>
                <a:pPr algn="ctr" eaLnBrk="1" hangingPunct="1"/>
                <a:r>
                  <a:rPr lang="en-US" altLang="en-US"/>
                  <a:t>model</a:t>
                </a:r>
              </a:p>
            </p:txBody>
          </p:sp>
          <p:sp>
            <p:nvSpPr>
              <p:cNvPr id="7191" name="Line 89"/>
              <p:cNvSpPr>
                <a:spLocks noChangeShapeType="1"/>
              </p:cNvSpPr>
              <p:nvPr/>
            </p:nvSpPr>
            <p:spPr bwMode="auto">
              <a:xfrm>
                <a:off x="1308" y="2123"/>
                <a:ext cx="1490" cy="1777"/>
              </a:xfrm>
              <a:prstGeom prst="line">
                <a:avLst/>
              </a:prstGeom>
              <a:noFill/>
              <a:ln w="9525">
                <a:solidFill>
                  <a:srgbClr val="A44200"/>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7192" name="Line 90"/>
              <p:cNvSpPr>
                <a:spLocks noChangeShapeType="1"/>
              </p:cNvSpPr>
              <p:nvPr/>
            </p:nvSpPr>
            <p:spPr bwMode="auto">
              <a:xfrm>
                <a:off x="1744" y="1819"/>
                <a:ext cx="2148" cy="1242"/>
              </a:xfrm>
              <a:prstGeom prst="line">
                <a:avLst/>
              </a:prstGeom>
              <a:noFill/>
              <a:ln w="9525">
                <a:solidFill>
                  <a:srgbClr val="A44200"/>
                </a:solidFill>
                <a:round/>
                <a:headEnd/>
                <a:tailEnd/>
              </a:ln>
              <a:extLst>
                <a:ext uri="{909E8E84-426E-40DD-AFC4-6F175D3DCCD1}">
                  <a14:hiddenFill xmlns:a14="http://schemas.microsoft.com/office/drawing/2010/main">
                    <a:noFill/>
                  </a14:hiddenFill>
                </a:ext>
              </a:extLst>
            </p:spPr>
            <p:txBody>
              <a:bodyPr wrap="none"/>
              <a:lstStyle/>
              <a:p>
                <a:endParaRPr lang="en-IN"/>
              </a:p>
            </p:txBody>
          </p:sp>
        </p:grpSp>
      </p:grpSp>
      <p:sp>
        <p:nvSpPr>
          <p:cNvPr id="7182" name="TextBox 47"/>
          <p:cNvSpPr txBox="1">
            <a:spLocks noChangeArrowheads="1"/>
          </p:cNvSpPr>
          <p:nvPr/>
        </p:nvSpPr>
        <p:spPr bwMode="auto">
          <a:xfrm>
            <a:off x="2000250" y="1285875"/>
            <a:ext cx="6500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Some sentences can be assumed directly from agents percept</a:t>
            </a:r>
            <a:endParaRPr lang="en-IN" altLang="en-US" sz="1800"/>
          </a:p>
        </p:txBody>
      </p:sp>
      <p:cxnSp>
        <p:nvCxnSpPr>
          <p:cNvPr id="7183" name="Straight Arrow Connector 51"/>
          <p:cNvCxnSpPr>
            <a:cxnSpLocks noChangeShapeType="1"/>
          </p:cNvCxnSpPr>
          <p:nvPr/>
        </p:nvCxnSpPr>
        <p:spPr bwMode="auto">
          <a:xfrm rot="5400000">
            <a:off x="4787106" y="1856582"/>
            <a:ext cx="428625" cy="1588"/>
          </a:xfrm>
          <a:prstGeom prst="straightConnector1">
            <a:avLst/>
          </a:prstGeom>
          <a:noFill/>
          <a:ln w="9525" algn="ctr">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11280" name="TextBox 54"/>
          <p:cNvSpPr txBox="1">
            <a:spLocks noChangeArrowheads="1"/>
          </p:cNvSpPr>
          <p:nvPr/>
        </p:nvSpPr>
        <p:spPr bwMode="auto">
          <a:xfrm>
            <a:off x="0" y="6143625"/>
            <a:ext cx="87010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buFont typeface="Arial" panose="020B0604020202020204" pitchFamily="34" charset="0"/>
              <a:buChar char="•"/>
            </a:pPr>
            <a:r>
              <a:rPr lang="en-US" altLang="en-US" sz="1800"/>
              <a:t>Some sentences can be inferred from current and previous percepts together with </a:t>
            </a:r>
          </a:p>
          <a:p>
            <a:pPr lvl="1" eaLnBrk="1" hangingPunct="1">
              <a:buFont typeface="Arial" panose="020B0604020202020204" pitchFamily="34" charset="0"/>
              <a:buChar char="•"/>
            </a:pPr>
            <a:r>
              <a:rPr lang="en-US" altLang="en-US" sz="1800"/>
              <a:t>  knowledge about the properties of the environment</a:t>
            </a:r>
            <a:endParaRPr lang="en-IN" altLang="en-US" sz="1800"/>
          </a:p>
        </p:txBody>
      </p:sp>
      <p:sp>
        <p:nvSpPr>
          <p:cNvPr id="7185" name="Rectangle 55"/>
          <p:cNvSpPr>
            <a:spLocks noChangeArrowheads="1"/>
          </p:cNvSpPr>
          <p:nvPr/>
        </p:nvSpPr>
        <p:spPr bwMode="auto">
          <a:xfrm>
            <a:off x="214313" y="1643063"/>
            <a:ext cx="8358187" cy="4500562"/>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cxnSp>
        <p:nvCxnSpPr>
          <p:cNvPr id="11282" name="Straight Arrow Connector 57"/>
          <p:cNvCxnSpPr>
            <a:cxnSpLocks noChangeShapeType="1"/>
          </p:cNvCxnSpPr>
          <p:nvPr/>
        </p:nvCxnSpPr>
        <p:spPr bwMode="auto">
          <a:xfrm flipV="1">
            <a:off x="2428875" y="5643563"/>
            <a:ext cx="2071688" cy="571500"/>
          </a:xfrm>
          <a:prstGeom prst="straightConnector1">
            <a:avLst/>
          </a:prstGeom>
          <a:noFill/>
          <a:ln w="9525" algn="ctr">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53" name="Text Box 6"/>
          <p:cNvSpPr txBox="1">
            <a:spLocks noChangeArrowheads="1"/>
          </p:cNvSpPr>
          <p:nvPr/>
        </p:nvSpPr>
        <p:spPr bwMode="auto">
          <a:xfrm>
            <a:off x="428625" y="357188"/>
            <a:ext cx="8143875" cy="1200150"/>
          </a:xfrm>
          <a:prstGeom prst="rect">
            <a:avLst/>
          </a:prstGeom>
          <a:solidFill>
            <a:srgbClr val="E6FFCD"/>
          </a:solidFill>
          <a:ln w="38100">
            <a:solidFill>
              <a:srgbClr val="336600"/>
            </a:solidFill>
            <a:miter lim="800000"/>
            <a:headEnd/>
            <a:tailEnd/>
          </a:ln>
          <a:effectLst>
            <a:outerShdw dist="117088" dir="7836078" algn="ctr" rotWithShape="0">
              <a:srgbClr val="336600">
                <a:alpha val="50000"/>
              </a:srgbClr>
            </a:outerShdw>
          </a:effectLst>
        </p:spPr>
        <p:txBody>
          <a:bodyPr>
            <a:spAutoFit/>
          </a:bodyPr>
          <a:lstStyle/>
          <a:p>
            <a:pPr algn="just">
              <a:defRPr/>
            </a:pPr>
            <a:r>
              <a:rPr lang="en-US" dirty="0">
                <a:solidFill>
                  <a:srgbClr val="336600"/>
                </a:solidFill>
              </a:rPr>
              <a:t>What we call </a:t>
            </a:r>
            <a:r>
              <a:rPr lang="en-US" b="1" dirty="0">
                <a:solidFill>
                  <a:srgbClr val="336600"/>
                </a:solidFill>
              </a:rPr>
              <a:t>uncertainty</a:t>
            </a:r>
            <a:r>
              <a:rPr lang="en-US" dirty="0">
                <a:solidFill>
                  <a:srgbClr val="336600"/>
                </a:solidFill>
              </a:rPr>
              <a:t> is a summary </a:t>
            </a:r>
            <a:br>
              <a:rPr lang="en-US" dirty="0">
                <a:solidFill>
                  <a:srgbClr val="336600"/>
                </a:solidFill>
              </a:rPr>
            </a:br>
            <a:r>
              <a:rPr lang="en-US" dirty="0">
                <a:solidFill>
                  <a:srgbClr val="336600"/>
                </a:solidFill>
              </a:rPr>
              <a:t>of all that is not explicitly taken into account </a:t>
            </a:r>
            <a:br>
              <a:rPr lang="en-US" dirty="0">
                <a:solidFill>
                  <a:srgbClr val="336600"/>
                </a:solidFill>
              </a:rPr>
            </a:br>
            <a:r>
              <a:rPr lang="en-US" dirty="0">
                <a:solidFill>
                  <a:srgbClr val="336600"/>
                </a:solidFill>
              </a:rPr>
              <a:t>in the agent’s KB</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11282"/>
                                        </p:tgtEl>
                                        <p:attrNameLst>
                                          <p:attrName>style.visibility</p:attrName>
                                        </p:attrNameLst>
                                      </p:cBhvr>
                                      <p:to>
                                        <p:strVal val="visible"/>
                                      </p:to>
                                    </p:set>
                                    <p:animEffect transition="in" filter="blinds(horizontal)">
                                      <p:cBhvr>
                                        <p:cTn id="11" dur="500"/>
                                        <p:tgtEl>
                                          <p:spTgt spid="11282"/>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11280"/>
                                        </p:tgtEl>
                                        <p:attrNameLst>
                                          <p:attrName>style.visibility</p:attrName>
                                        </p:attrNameLst>
                                      </p:cBhvr>
                                      <p:to>
                                        <p:strVal val="visible"/>
                                      </p:to>
                                    </p:set>
                                    <p:animEffect transition="in" filter="blinds(horizontal)">
                                      <p:cBhvr>
                                        <p:cTn id="14" dur="500"/>
                                        <p:tgtEl>
                                          <p:spTgt spid="11280"/>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0" grpId="0"/>
      <p:bldP spid="53"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p:txBody>
          <a:bodyPr/>
          <a:lstStyle/>
          <a:p>
            <a:pPr>
              <a:defRPr/>
            </a:pPr>
            <a:r>
              <a:rPr lang="en-US" sz="4000" b="1">
                <a:effectLst>
                  <a:outerShdw blurRad="38100" dist="38100" dir="2700000" algn="tl">
                    <a:srgbClr val="C0C0C0"/>
                  </a:outerShdw>
                </a:effectLst>
              </a:rPr>
              <a:t>Types of Uncertainty</a:t>
            </a:r>
          </a:p>
        </p:txBody>
      </p:sp>
      <p:sp>
        <p:nvSpPr>
          <p:cNvPr id="8195" name="Rectangle 3" descr="Rectangle: Click to edit Master text styles&#10;Second level&#10;Third level&#10;Fourth level&#10;Fifth level"/>
          <p:cNvSpPr>
            <a:spLocks noGrp="1" noChangeArrowheads="1"/>
          </p:cNvSpPr>
          <p:nvPr>
            <p:ph type="body" idx="1"/>
          </p:nvPr>
        </p:nvSpPr>
        <p:spPr>
          <a:xfrm>
            <a:off x="714375" y="1714500"/>
            <a:ext cx="7896225" cy="1428750"/>
          </a:xfrm>
        </p:spPr>
        <p:txBody>
          <a:bodyPr/>
          <a:lstStyle/>
          <a:p>
            <a:pPr>
              <a:lnSpc>
                <a:spcPct val="80000"/>
              </a:lnSpc>
            </a:pPr>
            <a:r>
              <a:rPr lang="en-US" altLang="en-US" sz="2800">
                <a:solidFill>
                  <a:srgbClr val="990000"/>
                </a:solidFill>
              </a:rPr>
              <a:t>Uncertainty in prior knowledge</a:t>
            </a:r>
            <a:br>
              <a:rPr lang="en-US" altLang="en-US" sz="2800"/>
            </a:br>
            <a:r>
              <a:rPr lang="en-US" altLang="en-US" sz="2400"/>
              <a:t>E.g., some causes of a disease are unknown and are not represented in the background knowledge of a medical-assistant agent</a:t>
            </a:r>
          </a:p>
          <a:p>
            <a:pPr>
              <a:lnSpc>
                <a:spcPct val="80000"/>
              </a:lnSpc>
              <a:buFont typeface="Wingdings" panose="05000000000000000000" pitchFamily="2" charset="2"/>
              <a:buNone/>
            </a:pPr>
            <a:endParaRPr lang="en-US" alt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pPr>
              <a:defRPr/>
            </a:pPr>
            <a:r>
              <a:rPr lang="en-US" sz="4000" b="1">
                <a:effectLst>
                  <a:outerShdw blurRad="38100" dist="38100" dir="2700000" algn="tl">
                    <a:srgbClr val="C0C0C0"/>
                  </a:outerShdw>
                </a:effectLst>
              </a:rPr>
              <a:t>Types of Uncertainty</a:t>
            </a:r>
          </a:p>
        </p:txBody>
      </p:sp>
      <p:sp>
        <p:nvSpPr>
          <p:cNvPr id="9219" name="Rectangle 3" descr="Rectangle: Click to edit Master text styles&#10;Second level&#10;Third level&#10;Fourth level&#10;Fifth level"/>
          <p:cNvSpPr>
            <a:spLocks noGrp="1" noChangeArrowheads="1"/>
          </p:cNvSpPr>
          <p:nvPr>
            <p:ph type="body" idx="1"/>
          </p:nvPr>
        </p:nvSpPr>
        <p:spPr>
          <a:xfrm>
            <a:off x="838200" y="1981200"/>
            <a:ext cx="7772400" cy="2667000"/>
          </a:xfrm>
        </p:spPr>
        <p:txBody>
          <a:bodyPr/>
          <a:lstStyle/>
          <a:p>
            <a:pPr>
              <a:lnSpc>
                <a:spcPct val="80000"/>
              </a:lnSpc>
            </a:pPr>
            <a:r>
              <a:rPr lang="en-US" altLang="en-US" sz="2400">
                <a:solidFill>
                  <a:srgbClr val="5F5F5F"/>
                </a:solidFill>
              </a:rPr>
              <a:t>Uncertainty in prior knowledge</a:t>
            </a:r>
            <a:br>
              <a:rPr lang="en-US" altLang="en-US" sz="2400">
                <a:solidFill>
                  <a:srgbClr val="5F5F5F"/>
                </a:solidFill>
              </a:rPr>
            </a:br>
            <a:r>
              <a:rPr lang="en-US" altLang="en-US" sz="2400">
                <a:solidFill>
                  <a:srgbClr val="5F5F5F"/>
                </a:solidFill>
              </a:rPr>
              <a:t>E.g., some causes of a disease are unknown and are not represented in the background knowledge of a medical-assistant agent</a:t>
            </a:r>
          </a:p>
          <a:p>
            <a:pPr>
              <a:lnSpc>
                <a:spcPct val="80000"/>
              </a:lnSpc>
            </a:pPr>
            <a:r>
              <a:rPr lang="en-US" altLang="en-US" sz="2400">
                <a:solidFill>
                  <a:srgbClr val="990000"/>
                </a:solidFill>
              </a:rPr>
              <a:t>Uncertainty in actions</a:t>
            </a:r>
            <a:r>
              <a:rPr lang="en-US" altLang="en-US" sz="2400"/>
              <a:t> </a:t>
            </a:r>
            <a:br>
              <a:rPr lang="en-US" altLang="en-US" sz="2400"/>
            </a:br>
            <a:r>
              <a:rPr lang="en-US" altLang="en-US" sz="2400"/>
              <a:t>E.g., actions are represented with relatively short lists of preconditions, while these lists are in fact arbitrary long</a:t>
            </a:r>
          </a:p>
          <a:p>
            <a:pPr>
              <a:lnSpc>
                <a:spcPct val="80000"/>
              </a:lnSpc>
              <a:buFont typeface="Wingdings" panose="05000000000000000000" pitchFamily="2" charset="2"/>
              <a:buNone/>
            </a:pPr>
            <a:endParaRPr lang="en-US" altLang="en-US" sz="2400"/>
          </a:p>
        </p:txBody>
      </p:sp>
      <p:sp>
        <p:nvSpPr>
          <p:cNvPr id="215045" name="Text Box 5"/>
          <p:cNvSpPr txBox="1">
            <a:spLocks noChangeArrowheads="1"/>
          </p:cNvSpPr>
          <p:nvPr/>
        </p:nvSpPr>
        <p:spPr bwMode="auto">
          <a:xfrm>
            <a:off x="914400" y="1643063"/>
            <a:ext cx="7772400" cy="4848225"/>
          </a:xfrm>
          <a:prstGeom prst="rect">
            <a:avLst/>
          </a:prstGeom>
          <a:solidFill>
            <a:srgbClr val="E6FFCD"/>
          </a:solidFill>
          <a:ln w="9525">
            <a:solidFill>
              <a:srgbClr val="336600"/>
            </a:solidFill>
            <a:miter lim="800000"/>
            <a:headEnd/>
            <a:tailEnd/>
          </a:ln>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solidFill>
                  <a:srgbClr val="336600"/>
                </a:solidFill>
              </a:rPr>
              <a:t>For example, to drive my car in the morning:</a:t>
            </a:r>
          </a:p>
          <a:p>
            <a:pPr eaLnBrk="1" hangingPunct="1">
              <a:buFontTx/>
              <a:buChar char="•"/>
            </a:pPr>
            <a:r>
              <a:rPr lang="en-US" altLang="en-US">
                <a:solidFill>
                  <a:srgbClr val="336600"/>
                </a:solidFill>
              </a:rPr>
              <a:t> It must not have been stolen during the night</a:t>
            </a:r>
          </a:p>
          <a:p>
            <a:pPr eaLnBrk="1" hangingPunct="1">
              <a:buFontTx/>
              <a:buChar char="•"/>
            </a:pPr>
            <a:r>
              <a:rPr lang="en-US" altLang="en-US">
                <a:solidFill>
                  <a:srgbClr val="336600"/>
                </a:solidFill>
              </a:rPr>
              <a:t> It must not have flat tires</a:t>
            </a:r>
          </a:p>
          <a:p>
            <a:pPr eaLnBrk="1" hangingPunct="1">
              <a:buFontTx/>
              <a:buChar char="•"/>
            </a:pPr>
            <a:r>
              <a:rPr lang="en-US" altLang="en-US">
                <a:solidFill>
                  <a:srgbClr val="336600"/>
                </a:solidFill>
              </a:rPr>
              <a:t> There must be gas/petrol in the tank</a:t>
            </a:r>
          </a:p>
          <a:p>
            <a:pPr eaLnBrk="1" hangingPunct="1">
              <a:buFontTx/>
              <a:buChar char="•"/>
            </a:pPr>
            <a:r>
              <a:rPr lang="en-US" altLang="en-US">
                <a:solidFill>
                  <a:srgbClr val="336600"/>
                </a:solidFill>
              </a:rPr>
              <a:t> The battery must not be dead</a:t>
            </a:r>
          </a:p>
          <a:p>
            <a:pPr eaLnBrk="1" hangingPunct="1">
              <a:buFontTx/>
              <a:buChar char="•"/>
            </a:pPr>
            <a:r>
              <a:rPr lang="en-US" altLang="en-US">
                <a:solidFill>
                  <a:srgbClr val="336600"/>
                </a:solidFill>
              </a:rPr>
              <a:t> The ignition must work</a:t>
            </a:r>
          </a:p>
          <a:p>
            <a:pPr eaLnBrk="1" hangingPunct="1">
              <a:buFontTx/>
              <a:buChar char="•"/>
            </a:pPr>
            <a:r>
              <a:rPr lang="en-US" altLang="en-US">
                <a:solidFill>
                  <a:srgbClr val="336600"/>
                </a:solidFill>
              </a:rPr>
              <a:t> I must not have lost the car keys</a:t>
            </a:r>
          </a:p>
          <a:p>
            <a:pPr eaLnBrk="1" hangingPunct="1">
              <a:buFontTx/>
              <a:buChar char="•"/>
            </a:pPr>
            <a:r>
              <a:rPr lang="en-US" altLang="en-US">
                <a:solidFill>
                  <a:srgbClr val="336600"/>
                </a:solidFill>
              </a:rPr>
              <a:t> No truck should obstruct the driveway</a:t>
            </a:r>
          </a:p>
          <a:p>
            <a:pPr eaLnBrk="1" hangingPunct="1">
              <a:buFontTx/>
              <a:buChar char="•"/>
            </a:pPr>
            <a:r>
              <a:rPr lang="en-US" altLang="en-US">
                <a:solidFill>
                  <a:srgbClr val="336600"/>
                </a:solidFill>
              </a:rPr>
              <a:t> I must not have suddenly become blind or paralytic</a:t>
            </a:r>
          </a:p>
          <a:p>
            <a:pPr eaLnBrk="1" hangingPunct="1"/>
            <a:r>
              <a:rPr lang="en-US" altLang="en-US">
                <a:solidFill>
                  <a:srgbClr val="336600"/>
                </a:solidFill>
              </a:rPr>
              <a:t>Etc…</a:t>
            </a:r>
          </a:p>
          <a:p>
            <a:pPr eaLnBrk="1" hangingPunct="1"/>
            <a:endParaRPr lang="en-US" altLang="en-US">
              <a:solidFill>
                <a:srgbClr val="336600"/>
              </a:solidFill>
            </a:endParaRPr>
          </a:p>
          <a:p>
            <a:pPr eaLnBrk="1" hangingPunct="1"/>
            <a:r>
              <a:rPr lang="en-US" altLang="en-US">
                <a:solidFill>
                  <a:srgbClr val="336600"/>
                </a:solidFill>
              </a:rPr>
              <a:t>Not only would it not be possible to list all of them, but would trying to do so be efficient?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5"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lstStyle/>
          <a:p>
            <a:pPr>
              <a:defRPr/>
            </a:pPr>
            <a:r>
              <a:rPr lang="en-US" sz="4000" b="1">
                <a:effectLst>
                  <a:outerShdw blurRad="38100" dist="38100" dir="2700000" algn="tl">
                    <a:srgbClr val="C0C0C0"/>
                  </a:outerShdw>
                </a:effectLst>
              </a:rPr>
              <a:t>Types of Uncertainty</a:t>
            </a:r>
          </a:p>
        </p:txBody>
      </p:sp>
      <p:sp>
        <p:nvSpPr>
          <p:cNvPr id="10243" name="Rectangle 3" descr="Rectangle: Click to edit Master text styles&#10;Second level&#10;Third level&#10;Fourth level&#10;Fifth level"/>
          <p:cNvSpPr>
            <a:spLocks noGrp="1" noChangeArrowheads="1"/>
          </p:cNvSpPr>
          <p:nvPr>
            <p:ph type="body" idx="1"/>
          </p:nvPr>
        </p:nvSpPr>
        <p:spPr>
          <a:xfrm>
            <a:off x="838200" y="1981200"/>
            <a:ext cx="7772400" cy="4662488"/>
          </a:xfrm>
          <a:ln>
            <a:solidFill>
              <a:schemeClr val="tx1"/>
            </a:solidFill>
            <a:miter lim="800000"/>
            <a:headEnd/>
            <a:tailEnd/>
          </a:ln>
        </p:spPr>
        <p:txBody>
          <a:bodyPr/>
          <a:lstStyle/>
          <a:p>
            <a:pPr>
              <a:lnSpc>
                <a:spcPct val="80000"/>
              </a:lnSpc>
            </a:pPr>
            <a:r>
              <a:rPr lang="en-US" altLang="en-US" sz="2400">
                <a:solidFill>
                  <a:srgbClr val="5F5F5F"/>
                </a:solidFill>
              </a:rPr>
              <a:t>Uncertainty in prior knowledge</a:t>
            </a:r>
            <a:br>
              <a:rPr lang="en-US" altLang="en-US" sz="2400">
                <a:solidFill>
                  <a:srgbClr val="5F5F5F"/>
                </a:solidFill>
              </a:rPr>
            </a:br>
            <a:r>
              <a:rPr lang="en-US" altLang="en-US" sz="2400">
                <a:solidFill>
                  <a:srgbClr val="5F5F5F"/>
                </a:solidFill>
              </a:rPr>
              <a:t>E.g., some causes of a disease are unknown and are not represented in the background knowledge of a medical-assistant agent</a:t>
            </a:r>
          </a:p>
          <a:p>
            <a:pPr>
              <a:lnSpc>
                <a:spcPct val="80000"/>
              </a:lnSpc>
            </a:pPr>
            <a:r>
              <a:rPr lang="en-US" altLang="en-US" sz="2400">
                <a:solidFill>
                  <a:srgbClr val="5F5F5F"/>
                </a:solidFill>
              </a:rPr>
              <a:t>Uncertainty in actions </a:t>
            </a:r>
            <a:br>
              <a:rPr lang="en-US" altLang="en-US" sz="2400">
                <a:solidFill>
                  <a:srgbClr val="5F5F5F"/>
                </a:solidFill>
              </a:rPr>
            </a:br>
            <a:r>
              <a:rPr lang="en-US" altLang="en-US" sz="2400">
                <a:solidFill>
                  <a:srgbClr val="5F5F5F"/>
                </a:solidFill>
              </a:rPr>
              <a:t>E.g., actions are represented with relatively short lists of preconditions, while these lists are in fact arbitrary long</a:t>
            </a:r>
          </a:p>
          <a:p>
            <a:pPr>
              <a:lnSpc>
                <a:spcPct val="80000"/>
              </a:lnSpc>
            </a:pPr>
            <a:r>
              <a:rPr lang="en-US" altLang="en-US" sz="2400">
                <a:solidFill>
                  <a:srgbClr val="990000"/>
                </a:solidFill>
              </a:rPr>
              <a:t>Uncertainty in perception</a:t>
            </a:r>
            <a:br>
              <a:rPr lang="en-US" altLang="en-US" sz="2400"/>
            </a:br>
            <a:r>
              <a:rPr lang="en-US" altLang="en-US" sz="2400"/>
              <a:t>E.g., sensors do not return exact or complete information about the world; a robot never knows exactly its position</a:t>
            </a:r>
          </a:p>
          <a:p>
            <a:pPr>
              <a:lnSpc>
                <a:spcPct val="80000"/>
              </a:lnSpc>
              <a:buFont typeface="Wingdings" panose="05000000000000000000" pitchFamily="2" charset="2"/>
              <a:buNone/>
            </a:pPr>
            <a:endParaRPr lang="en-US" altLang="en-US" sz="2400"/>
          </a:p>
        </p:txBody>
      </p:sp>
      <p:grpSp>
        <p:nvGrpSpPr>
          <p:cNvPr id="2" name="Group 13"/>
          <p:cNvGrpSpPr>
            <a:grpSpLocks/>
          </p:cNvGrpSpPr>
          <p:nvPr/>
        </p:nvGrpSpPr>
        <p:grpSpPr bwMode="auto">
          <a:xfrm>
            <a:off x="1285875" y="5286375"/>
            <a:ext cx="6892925" cy="1285875"/>
            <a:chOff x="672" y="1200"/>
            <a:chExt cx="4342" cy="1556"/>
          </a:xfrm>
        </p:grpSpPr>
        <p:pic>
          <p:nvPicPr>
            <p:cNvPr id="9221" name="Picture 11"/>
            <p:cNvPicPr>
              <a:picLocks noChangeAspect="1" noChangeArrowheads="1"/>
            </p:cNvPicPr>
            <p:nvPr/>
          </p:nvPicPr>
          <p:blipFill>
            <a:blip r:embed="rId2"/>
            <a:srcRect/>
            <a:stretch>
              <a:fillRect/>
            </a:stretch>
          </p:blipFill>
          <p:spPr bwMode="auto">
            <a:xfrm>
              <a:off x="672" y="1200"/>
              <a:ext cx="4342" cy="1554"/>
            </a:xfrm>
            <a:prstGeom prst="rect">
              <a:avLst/>
            </a:prstGeom>
            <a:solidFill>
              <a:schemeClr val="folHlink"/>
            </a:solidFill>
            <a:ln w="28575">
              <a:solidFill>
                <a:schemeClr val="tx1"/>
              </a:solidFill>
              <a:miter lim="800000"/>
              <a:headEnd/>
              <a:tailEnd/>
            </a:ln>
            <a:effectLst>
              <a:outerShdw dist="107763" dir="2700000" algn="ctr" rotWithShape="0">
                <a:schemeClr val="bg2">
                  <a:alpha val="50000"/>
                </a:schemeClr>
              </a:outerShdw>
            </a:effectLst>
          </p:spPr>
        </p:pic>
        <p:sp>
          <p:nvSpPr>
            <p:cNvPr id="10246" name="Text Box 12"/>
            <p:cNvSpPr txBox="1">
              <a:spLocks noChangeArrowheads="1"/>
            </p:cNvSpPr>
            <p:nvPr/>
          </p:nvSpPr>
          <p:spPr bwMode="auto">
            <a:xfrm>
              <a:off x="3744" y="2544"/>
              <a:ext cx="11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Courtesy R. Chatila</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p:txBody>
          <a:bodyPr/>
          <a:lstStyle/>
          <a:p>
            <a:pPr>
              <a:defRPr/>
            </a:pPr>
            <a:r>
              <a:rPr lang="en-US" sz="4000" b="1">
                <a:effectLst>
                  <a:outerShdw blurRad="38100" dist="38100" dir="2700000" algn="tl">
                    <a:srgbClr val="C0C0C0"/>
                  </a:outerShdw>
                </a:effectLst>
              </a:rPr>
              <a:t>Types of Uncertainty</a:t>
            </a:r>
          </a:p>
        </p:txBody>
      </p:sp>
      <p:sp>
        <p:nvSpPr>
          <p:cNvPr id="11267" name="Rectangle 3" descr="Rectangle: Click to edit Master text styles&#10;Second level&#10;Third level&#10;Fourth level&#10;Fifth level"/>
          <p:cNvSpPr>
            <a:spLocks noGrp="1" noChangeArrowheads="1"/>
          </p:cNvSpPr>
          <p:nvPr>
            <p:ph type="body" idx="1"/>
          </p:nvPr>
        </p:nvSpPr>
        <p:spPr>
          <a:xfrm>
            <a:off x="838200" y="1981200"/>
            <a:ext cx="7772400" cy="4114800"/>
          </a:xfrm>
        </p:spPr>
        <p:txBody>
          <a:bodyPr/>
          <a:lstStyle/>
          <a:p>
            <a:pPr>
              <a:lnSpc>
                <a:spcPct val="80000"/>
              </a:lnSpc>
            </a:pPr>
            <a:r>
              <a:rPr lang="en-US" altLang="en-US" sz="2400">
                <a:solidFill>
                  <a:srgbClr val="5F5F5F"/>
                </a:solidFill>
              </a:rPr>
              <a:t>Uncertainty in prior knowledge</a:t>
            </a:r>
            <a:br>
              <a:rPr lang="en-US" altLang="en-US" sz="2400">
                <a:solidFill>
                  <a:srgbClr val="5F5F5F"/>
                </a:solidFill>
              </a:rPr>
            </a:br>
            <a:r>
              <a:rPr lang="en-US" altLang="en-US" sz="2400">
                <a:solidFill>
                  <a:srgbClr val="5F5F5F"/>
                </a:solidFill>
              </a:rPr>
              <a:t>E.g., some causes of a disease are unknown and are not represented in the background knowledge of a medical-assistant agent</a:t>
            </a:r>
          </a:p>
          <a:p>
            <a:pPr>
              <a:lnSpc>
                <a:spcPct val="80000"/>
              </a:lnSpc>
            </a:pPr>
            <a:r>
              <a:rPr lang="en-US" altLang="en-US" sz="2400">
                <a:solidFill>
                  <a:srgbClr val="5F5F5F"/>
                </a:solidFill>
              </a:rPr>
              <a:t>Uncertainty in actions </a:t>
            </a:r>
            <a:br>
              <a:rPr lang="en-US" altLang="en-US" sz="2400">
                <a:solidFill>
                  <a:srgbClr val="5F5F5F"/>
                </a:solidFill>
              </a:rPr>
            </a:br>
            <a:r>
              <a:rPr lang="en-US" altLang="en-US" sz="2400">
                <a:solidFill>
                  <a:srgbClr val="5F5F5F"/>
                </a:solidFill>
              </a:rPr>
              <a:t>E.g., actions are represented with relatively short lists of preconditions, while these lists are in fact arbitrary long</a:t>
            </a:r>
          </a:p>
          <a:p>
            <a:pPr>
              <a:lnSpc>
                <a:spcPct val="80000"/>
              </a:lnSpc>
            </a:pPr>
            <a:r>
              <a:rPr lang="en-US" altLang="en-US" sz="2400">
                <a:solidFill>
                  <a:srgbClr val="5F5F5F"/>
                </a:solidFill>
              </a:rPr>
              <a:t>Uncertainty in perception</a:t>
            </a:r>
            <a:br>
              <a:rPr lang="en-US" altLang="en-US" sz="2400">
                <a:solidFill>
                  <a:srgbClr val="5F5F5F"/>
                </a:solidFill>
              </a:rPr>
            </a:br>
            <a:r>
              <a:rPr lang="en-US" altLang="en-US" sz="2400">
                <a:solidFill>
                  <a:srgbClr val="5F5F5F"/>
                </a:solidFill>
              </a:rPr>
              <a:t>E.g., sensors do not return exact or complete information about the world; a robot never knows exactly its position</a:t>
            </a:r>
          </a:p>
          <a:p>
            <a:pPr>
              <a:lnSpc>
                <a:spcPct val="80000"/>
              </a:lnSpc>
              <a:buFont typeface="Wingdings" panose="05000000000000000000" pitchFamily="2" charset="2"/>
              <a:buNone/>
            </a:pPr>
            <a:endParaRPr lang="en-US"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a:t>Sources of Uncertainty:</a:t>
            </a:r>
            <a:endParaRPr lang="en-IN" altLang="en-US"/>
          </a:p>
        </p:txBody>
      </p:sp>
      <p:sp>
        <p:nvSpPr>
          <p:cNvPr id="12291" name="Content Placeholder 3"/>
          <p:cNvSpPr>
            <a:spLocks noGrp="1"/>
          </p:cNvSpPr>
          <p:nvPr>
            <p:ph idx="1"/>
          </p:nvPr>
        </p:nvSpPr>
        <p:spPr>
          <a:xfrm>
            <a:off x="500063" y="1487488"/>
            <a:ext cx="8455025" cy="2513012"/>
          </a:xfrm>
          <a:ln>
            <a:solidFill>
              <a:schemeClr val="tx1"/>
            </a:solidFill>
            <a:miter lim="800000"/>
            <a:headEnd/>
            <a:tailEnd/>
          </a:ln>
        </p:spPr>
        <p:txBody>
          <a:bodyPr/>
          <a:lstStyle/>
          <a:p>
            <a:pPr marL="514350" indent="-514350" algn="just">
              <a:buFont typeface="Times New Roman" panose="02020603050405020304" pitchFamily="18" charset="0"/>
              <a:buAutoNum type="arabicPeriod"/>
            </a:pPr>
            <a:r>
              <a:rPr lang="en-US" altLang="en-US" sz="2800" b="1">
                <a:solidFill>
                  <a:schemeClr val="tx2"/>
                </a:solidFill>
              </a:rPr>
              <a:t>Incompleteness and Incorrectness </a:t>
            </a:r>
            <a:r>
              <a:rPr lang="en-US" altLang="en-US" sz="2800"/>
              <a:t>in agents understanding of properties of the environment.</a:t>
            </a:r>
          </a:p>
          <a:p>
            <a:pPr marL="514350" indent="-514350" algn="just">
              <a:buFont typeface="Times New Roman" panose="02020603050405020304" pitchFamily="18" charset="0"/>
              <a:buAutoNum type="arabicPeriod"/>
            </a:pPr>
            <a:r>
              <a:rPr lang="en-US" altLang="en-US" sz="2800" b="1">
                <a:solidFill>
                  <a:schemeClr val="tx2"/>
                </a:solidFill>
              </a:rPr>
              <a:t>Laziness and Ignorance </a:t>
            </a:r>
            <a:r>
              <a:rPr lang="en-US" altLang="en-US" sz="2800"/>
              <a:t>in storing knowledge as it is inescapable in complex, dynamic or in-accessible world.</a:t>
            </a:r>
            <a:endParaRPr lang="en-IN" altLang="en-US"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a:t>Handling Uncertain Knowledge</a:t>
            </a:r>
            <a:endParaRPr lang="en-IN" altLang="en-US"/>
          </a:p>
        </p:txBody>
      </p:sp>
      <p:sp>
        <p:nvSpPr>
          <p:cNvPr id="3" name="Content Placeholder 2"/>
          <p:cNvSpPr>
            <a:spLocks noGrp="1"/>
          </p:cNvSpPr>
          <p:nvPr>
            <p:ph idx="1"/>
          </p:nvPr>
        </p:nvSpPr>
        <p:spPr>
          <a:xfrm>
            <a:off x="142875" y="1428750"/>
            <a:ext cx="8786813" cy="5214938"/>
          </a:xfrm>
          <a:ln>
            <a:solidFill>
              <a:schemeClr val="tx1"/>
            </a:solidFill>
          </a:ln>
        </p:spPr>
        <p:txBody>
          <a:bodyPr/>
          <a:lstStyle/>
          <a:p>
            <a:pPr algn="just">
              <a:defRPr/>
            </a:pPr>
            <a:r>
              <a:rPr lang="en-US" sz="2400" dirty="0"/>
              <a:t>Consider the example of Diagnosis for medicine, which is a task which involves uncertainty</a:t>
            </a:r>
          </a:p>
          <a:p>
            <a:pPr algn="just">
              <a:defRPr/>
            </a:pPr>
            <a:r>
              <a:rPr lang="en-US" sz="2400" b="1" dirty="0">
                <a:solidFill>
                  <a:schemeClr val="tx2"/>
                </a:solidFill>
              </a:rPr>
              <a:t>Dental Diagnosis system using First-order Logic as follows:</a:t>
            </a:r>
          </a:p>
          <a:p>
            <a:pPr algn="just" eaLnBrk="1" hangingPunct="1">
              <a:lnSpc>
                <a:spcPct val="90000"/>
              </a:lnSpc>
              <a:buFont typeface="Wingdings" panose="05000000000000000000" pitchFamily="2" charset="2"/>
              <a:buNone/>
              <a:defRPr/>
            </a:pPr>
            <a:r>
              <a:rPr lang="en-US" sz="2400" b="1" dirty="0">
                <a:cs typeface="Times New Roman" pitchFamily="18" charset="0"/>
                <a:sym typeface="Symbol" pitchFamily="18" charset="2"/>
              </a:rPr>
              <a:t>p symptom(p, Toothache)  disease(</a:t>
            </a:r>
            <a:r>
              <a:rPr lang="en-US" sz="2400" b="1" dirty="0" err="1">
                <a:cs typeface="Times New Roman" pitchFamily="18" charset="0"/>
                <a:sym typeface="Symbol" pitchFamily="18" charset="2"/>
              </a:rPr>
              <a:t>p,cavity</a:t>
            </a:r>
            <a:r>
              <a:rPr lang="en-US" sz="2400" b="1" dirty="0">
                <a:cs typeface="Times New Roman" pitchFamily="18" charset="0"/>
                <a:sym typeface="Symbol" pitchFamily="18" charset="2"/>
              </a:rPr>
              <a:t>)</a:t>
            </a:r>
            <a:endParaRPr lang="en-US" sz="2400" b="1" dirty="0">
              <a:solidFill>
                <a:schemeClr val="tx2"/>
              </a:solidFill>
              <a:cs typeface="Times New Roman" pitchFamily="18" charset="0"/>
              <a:sym typeface="Symbol" pitchFamily="18" charset="2"/>
            </a:endParaRPr>
          </a:p>
          <a:p>
            <a:pPr marL="0" indent="0" algn="just" eaLnBrk="1" hangingPunct="1">
              <a:lnSpc>
                <a:spcPct val="90000"/>
              </a:lnSpc>
              <a:buFont typeface="Wingdings" panose="05000000000000000000" pitchFamily="2" charset="2"/>
              <a:buNone/>
              <a:defRPr/>
            </a:pPr>
            <a:r>
              <a:rPr lang="en-US" sz="2400" dirty="0">
                <a:solidFill>
                  <a:schemeClr val="tx2"/>
                </a:solidFill>
                <a:cs typeface="Times New Roman" pitchFamily="18" charset="0"/>
                <a:sym typeface="Symbol" pitchFamily="18" charset="2"/>
              </a:rPr>
              <a:t>But not all patients have toothache because of cavity some have other problems as- </a:t>
            </a:r>
          </a:p>
          <a:p>
            <a:pPr algn="just" eaLnBrk="1" hangingPunct="1">
              <a:lnSpc>
                <a:spcPct val="90000"/>
              </a:lnSpc>
              <a:buFont typeface="Wingdings" panose="05000000000000000000" pitchFamily="2" charset="2"/>
              <a:buNone/>
              <a:defRPr/>
            </a:pPr>
            <a:r>
              <a:rPr lang="en-US" sz="2400" b="1" dirty="0">
                <a:cs typeface="Times New Roman" pitchFamily="18" charset="0"/>
                <a:sym typeface="Symbol" pitchFamily="18" charset="2"/>
              </a:rPr>
              <a:t>p symptom(</a:t>
            </a:r>
            <a:r>
              <a:rPr lang="en-US" sz="2400" b="1" dirty="0" err="1">
                <a:cs typeface="Times New Roman" pitchFamily="18" charset="0"/>
                <a:sym typeface="Symbol" pitchFamily="18" charset="2"/>
              </a:rPr>
              <a:t>p,Toothache</a:t>
            </a:r>
            <a:r>
              <a:rPr lang="en-US" sz="2400" b="1" dirty="0">
                <a:cs typeface="Times New Roman" pitchFamily="18" charset="0"/>
                <a:sym typeface="Symbol" pitchFamily="18" charset="2"/>
              </a:rPr>
              <a:t>)  disease (</a:t>
            </a:r>
            <a:r>
              <a:rPr lang="en-US" sz="2400" b="1" dirty="0" err="1">
                <a:cs typeface="Times New Roman" pitchFamily="18" charset="0"/>
                <a:sym typeface="Symbol" pitchFamily="18" charset="2"/>
              </a:rPr>
              <a:t>p,cavity</a:t>
            </a:r>
            <a:r>
              <a:rPr lang="en-US" sz="2400" b="1" dirty="0">
                <a:cs typeface="Times New Roman" pitchFamily="18" charset="0"/>
                <a:sym typeface="Symbol" pitchFamily="18" charset="2"/>
              </a:rPr>
              <a:t>)  disease (p, </a:t>
            </a:r>
            <a:r>
              <a:rPr lang="en-US" sz="2400" b="1" dirty="0" err="1">
                <a:cs typeface="Times New Roman" pitchFamily="18" charset="0"/>
                <a:sym typeface="Symbol" pitchFamily="18" charset="2"/>
              </a:rPr>
              <a:t>gum_disease</a:t>
            </a:r>
            <a:r>
              <a:rPr lang="en-US" sz="2400" b="1" dirty="0">
                <a:cs typeface="Times New Roman" pitchFamily="18" charset="0"/>
                <a:sym typeface="Symbol" pitchFamily="18" charset="2"/>
              </a:rPr>
              <a:t> )   disease (</a:t>
            </a:r>
            <a:r>
              <a:rPr lang="en-US" sz="2400" b="1" dirty="0" err="1">
                <a:cs typeface="Times New Roman" pitchFamily="18" charset="0"/>
                <a:sym typeface="Symbol" pitchFamily="18" charset="2"/>
              </a:rPr>
              <a:t>p,Impacted_Wisdom_tooth</a:t>
            </a:r>
            <a:r>
              <a:rPr lang="en-US" sz="2400" b="1" dirty="0">
                <a:cs typeface="Times New Roman" pitchFamily="18" charset="0"/>
                <a:sym typeface="Symbol" pitchFamily="18" charset="2"/>
              </a:rPr>
              <a:t>)…</a:t>
            </a:r>
            <a:r>
              <a:rPr lang="fr-FR" sz="2800" b="1" dirty="0">
                <a:cs typeface="Times New Roman" pitchFamily="18" charset="0"/>
              </a:rPr>
              <a:t> </a:t>
            </a:r>
          </a:p>
          <a:p>
            <a:pPr marL="0" indent="0" algn="just">
              <a:buFont typeface="Wingdings" panose="05000000000000000000" pitchFamily="2" charset="2"/>
              <a:buNone/>
              <a:defRPr/>
            </a:pPr>
            <a:r>
              <a:rPr lang="en-US" sz="2400" dirty="0">
                <a:solidFill>
                  <a:schemeClr val="tx2"/>
                </a:solidFill>
                <a:cs typeface="Times New Roman" pitchFamily="18" charset="0"/>
                <a:sym typeface="Symbol" pitchFamily="18" charset="2"/>
              </a:rPr>
              <a:t>Hence, to make the rule true, an unlimited list of possible causes must be added.</a:t>
            </a:r>
          </a:p>
          <a:p>
            <a:pPr marL="0" indent="0" algn="just">
              <a:buFont typeface="Wingdings" panose="05000000000000000000" pitchFamily="2" charset="2"/>
              <a:buNone/>
              <a:defRPr/>
            </a:pPr>
            <a:endParaRPr lang="en-US" sz="2400" dirty="0">
              <a:solidFill>
                <a:schemeClr val="tx2"/>
              </a:solidFill>
              <a:cs typeface="Times New Roman" pitchFamily="18" charset="0"/>
              <a:sym typeface="Symbol" pitchFamily="18" charset="2"/>
            </a:endParaRPr>
          </a:p>
          <a:p>
            <a:pPr marL="0" indent="0" algn="just">
              <a:buNone/>
              <a:defRPr/>
            </a:pPr>
            <a:r>
              <a:rPr lang="en-US" sz="2400" b="1" dirty="0">
                <a:cs typeface="Times New Roman" pitchFamily="18" charset="0"/>
                <a:sym typeface="Symbol" pitchFamily="18" charset="2"/>
              </a:rPr>
              <a:t>p disease(</a:t>
            </a:r>
            <a:r>
              <a:rPr lang="en-US" sz="2400" b="1" dirty="0" err="1">
                <a:cs typeface="Times New Roman" pitchFamily="18" charset="0"/>
                <a:sym typeface="Symbol" pitchFamily="18" charset="2"/>
              </a:rPr>
              <a:t>p,cavity</a:t>
            </a:r>
            <a:r>
              <a:rPr lang="en-US" sz="2400" b="1" dirty="0">
                <a:cs typeface="Times New Roman" pitchFamily="18" charset="0"/>
                <a:sym typeface="Symbol" pitchFamily="18" charset="2"/>
              </a:rPr>
              <a:t>)  symptom (</a:t>
            </a:r>
            <a:r>
              <a:rPr lang="en-US" sz="2400" b="1" dirty="0" err="1">
                <a:cs typeface="Times New Roman" pitchFamily="18" charset="0"/>
                <a:sym typeface="Symbol" pitchFamily="18" charset="2"/>
              </a:rPr>
              <a:t>p,Toothache</a:t>
            </a:r>
            <a:r>
              <a:rPr lang="en-US" sz="2400" b="1" dirty="0">
                <a:cs typeface="Times New Roman" pitchFamily="18" charset="0"/>
                <a:sym typeface="Symbol" pitchFamily="18" charset="2"/>
              </a:rPr>
              <a:t>). </a:t>
            </a:r>
            <a:endParaRPr lang="en-US" sz="2400" dirty="0">
              <a:solidFill>
                <a:schemeClr val="tx2"/>
              </a:solidFill>
              <a:cs typeface="Times New Roman" pitchFamily="18" charset="0"/>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arn(inVertical)">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barn(inVertical)">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barn(inVertical)">
                                      <p:cBhvr>
                                        <p:cTn id="2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Reasons for using Probability</a:t>
            </a:r>
            <a:endParaRPr lang="en-IN" dirty="0"/>
          </a:p>
        </p:txBody>
      </p:sp>
      <p:pic>
        <p:nvPicPr>
          <p:cNvPr id="4" name="Picture 3"/>
          <p:cNvPicPr>
            <a:picLocks noChangeAspect="1"/>
          </p:cNvPicPr>
          <p:nvPr/>
        </p:nvPicPr>
        <p:blipFill>
          <a:blip r:embed="rId2"/>
          <a:stretch>
            <a:fillRect/>
          </a:stretch>
        </p:blipFill>
        <p:spPr>
          <a:xfrm>
            <a:off x="107504" y="2348880"/>
            <a:ext cx="9036000" cy="2668024"/>
          </a:xfrm>
          <a:prstGeom prst="rect">
            <a:avLst/>
          </a:prstGeom>
        </p:spPr>
      </p:pic>
    </p:spTree>
    <p:extLst>
      <p:ext uri="{BB962C8B-B14F-4D97-AF65-F5344CB8AC3E}">
        <p14:creationId xmlns:p14="http://schemas.microsoft.com/office/powerpoint/2010/main" val="161242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Predicting Vs Diagnosing </a:t>
            </a:r>
            <a:endParaRPr lang="en-IN" dirty="0"/>
          </a:p>
        </p:txBody>
      </p:sp>
      <p:pic>
        <p:nvPicPr>
          <p:cNvPr id="4" name="Picture 3"/>
          <p:cNvPicPr>
            <a:picLocks noChangeAspect="1"/>
          </p:cNvPicPr>
          <p:nvPr/>
        </p:nvPicPr>
        <p:blipFill>
          <a:blip r:embed="rId2"/>
          <a:stretch>
            <a:fillRect/>
          </a:stretch>
        </p:blipFill>
        <p:spPr>
          <a:xfrm>
            <a:off x="0" y="2348884"/>
            <a:ext cx="9144000" cy="3096134"/>
          </a:xfrm>
          <a:prstGeom prst="rect">
            <a:avLst/>
          </a:prstGeom>
        </p:spPr>
      </p:pic>
    </p:spTree>
    <p:extLst>
      <p:ext uri="{BB962C8B-B14F-4D97-AF65-F5344CB8AC3E}">
        <p14:creationId xmlns:p14="http://schemas.microsoft.com/office/powerpoint/2010/main" val="3632407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en-US"/>
              <a:t>Failure of First Order Logic:</a:t>
            </a:r>
            <a:endParaRPr lang="en-IN" altLang="en-US"/>
          </a:p>
        </p:txBody>
      </p:sp>
      <p:sp>
        <p:nvSpPr>
          <p:cNvPr id="17411" name="Content Placeholder 4"/>
          <p:cNvSpPr>
            <a:spLocks noGrp="1"/>
          </p:cNvSpPr>
          <p:nvPr>
            <p:ph idx="1"/>
          </p:nvPr>
        </p:nvSpPr>
        <p:spPr>
          <a:xfrm>
            <a:off x="214313" y="1487488"/>
            <a:ext cx="8740775" cy="4760912"/>
          </a:xfrm>
          <a:ln>
            <a:solidFill>
              <a:schemeClr val="tx1"/>
            </a:solidFill>
          </a:ln>
        </p:spPr>
        <p:txBody>
          <a:bodyPr/>
          <a:lstStyle/>
          <a:p>
            <a:pPr marL="0" indent="0" algn="just">
              <a:defRPr/>
            </a:pPr>
            <a:r>
              <a:rPr lang="en-US" b="1" dirty="0">
                <a:cs typeface="Times New Roman" pitchFamily="18" charset="0"/>
                <a:sym typeface="Symbol" pitchFamily="18" charset="2"/>
              </a:rPr>
              <a:t>FOL fails for 3 main reasons with a domain like medical Diagnosis:</a:t>
            </a:r>
          </a:p>
          <a:p>
            <a:pPr marL="457200" indent="-457200" algn="just">
              <a:buFont typeface="+mj-lt"/>
              <a:buAutoNum type="arabicPeriod"/>
              <a:defRPr/>
            </a:pPr>
            <a:r>
              <a:rPr lang="en-US" b="1" dirty="0">
                <a:solidFill>
                  <a:schemeClr val="tx2"/>
                </a:solidFill>
                <a:cs typeface="Times New Roman" pitchFamily="18" charset="0"/>
                <a:sym typeface="Symbol" pitchFamily="18" charset="2"/>
              </a:rPr>
              <a:t>Laziness-</a:t>
            </a:r>
            <a:r>
              <a:rPr lang="en-US" dirty="0">
                <a:solidFill>
                  <a:schemeClr val="tx2"/>
                </a:solidFill>
                <a:cs typeface="Times New Roman" pitchFamily="18" charset="0"/>
                <a:sym typeface="Symbol" pitchFamily="18" charset="2"/>
              </a:rPr>
              <a:t> </a:t>
            </a:r>
            <a:r>
              <a:rPr lang="en-US" sz="2800" dirty="0">
                <a:cs typeface="Times New Roman" pitchFamily="18" charset="0"/>
                <a:sym typeface="Symbol" pitchFamily="18" charset="2"/>
              </a:rPr>
              <a:t>to list the complete set of antecedents as it needs too much work</a:t>
            </a:r>
            <a:r>
              <a:rPr lang="en-US" dirty="0">
                <a:solidFill>
                  <a:schemeClr val="tx2"/>
                </a:solidFill>
                <a:cs typeface="Times New Roman" pitchFamily="18" charset="0"/>
                <a:sym typeface="Symbol" pitchFamily="18" charset="2"/>
              </a:rPr>
              <a:t>.</a:t>
            </a:r>
          </a:p>
          <a:p>
            <a:pPr marL="457200" indent="-457200" algn="just">
              <a:buFont typeface="+mj-lt"/>
              <a:buAutoNum type="arabicPeriod"/>
              <a:defRPr/>
            </a:pPr>
            <a:r>
              <a:rPr lang="en-US" b="1" dirty="0">
                <a:solidFill>
                  <a:schemeClr val="tx2"/>
                </a:solidFill>
                <a:cs typeface="Times New Roman" pitchFamily="18" charset="0"/>
                <a:sym typeface="Symbol" pitchFamily="18" charset="2"/>
              </a:rPr>
              <a:t>Theoretical Ignorance- </a:t>
            </a:r>
            <a:r>
              <a:rPr lang="en-US" sz="2800" dirty="0">
                <a:cs typeface="Times New Roman" pitchFamily="18" charset="0"/>
                <a:sym typeface="Symbol" pitchFamily="18" charset="2"/>
              </a:rPr>
              <a:t>Medical science has no complete theory for the domain.</a:t>
            </a:r>
          </a:p>
          <a:p>
            <a:pPr marL="457200" indent="-457200" algn="just">
              <a:buFont typeface="+mj-lt"/>
              <a:buAutoNum type="arabicPeriod"/>
              <a:defRPr/>
            </a:pPr>
            <a:r>
              <a:rPr lang="en-US" b="1" dirty="0">
                <a:solidFill>
                  <a:schemeClr val="tx2"/>
                </a:solidFill>
                <a:cs typeface="Times New Roman" pitchFamily="18" charset="0"/>
                <a:sym typeface="Symbol" pitchFamily="18" charset="2"/>
              </a:rPr>
              <a:t>Practical Ignorance- </a:t>
            </a:r>
            <a:r>
              <a:rPr lang="en-US" sz="2800" dirty="0">
                <a:cs typeface="Times New Roman" pitchFamily="18" charset="0"/>
                <a:sym typeface="Symbol" pitchFamily="18" charset="2"/>
              </a:rPr>
              <a:t>Even if the rules are known, there may be uncertainty  about a particular patient because all the necessary test have not or cannot be run.</a:t>
            </a:r>
            <a:endParaRPr lang="en-IN" sz="2800" dirty="0">
              <a:cs typeface="Times New Roman" pitchFamily="18" charset="0"/>
              <a:sym typeface="Symbol" pitchFamily="18" charset="2"/>
            </a:endParaRPr>
          </a:p>
          <a:p>
            <a:pPr>
              <a:defRPr/>
            </a:pP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Axioms of Probability </a:t>
            </a:r>
            <a:endParaRPr lang="en-IN" dirty="0"/>
          </a:p>
        </p:txBody>
      </p:sp>
      <p:pic>
        <p:nvPicPr>
          <p:cNvPr id="4" name="Picture 3"/>
          <p:cNvPicPr>
            <a:picLocks noChangeAspect="1"/>
          </p:cNvPicPr>
          <p:nvPr/>
        </p:nvPicPr>
        <p:blipFill>
          <a:blip r:embed="rId2"/>
          <a:stretch>
            <a:fillRect/>
          </a:stretch>
        </p:blipFill>
        <p:spPr>
          <a:xfrm>
            <a:off x="1331640" y="1412776"/>
            <a:ext cx="6912000" cy="5067744"/>
          </a:xfrm>
          <a:prstGeom prst="rect">
            <a:avLst/>
          </a:prstGeom>
        </p:spPr>
      </p:pic>
    </p:spTree>
    <p:extLst>
      <p:ext uri="{BB962C8B-B14F-4D97-AF65-F5344CB8AC3E}">
        <p14:creationId xmlns:p14="http://schemas.microsoft.com/office/powerpoint/2010/main" val="164011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Probability that X is fat = 0.2</a:t>
            </a:r>
          </a:p>
          <a:p>
            <a:r>
              <a:rPr lang="en-US" dirty="0"/>
              <a:t>If X is fat then X has Coronary Heart Disease (CHD) with </a:t>
            </a:r>
            <a:r>
              <a:rPr lang="en-US" dirty="0" err="1"/>
              <a:t>prob</a:t>
            </a:r>
            <a:r>
              <a:rPr lang="en-US" dirty="0"/>
              <a:t> of = 0.7</a:t>
            </a:r>
          </a:p>
          <a:p>
            <a:r>
              <a:rPr lang="en-US" dirty="0"/>
              <a:t>P[X has CHD] = </a:t>
            </a:r>
            <a:endParaRPr lang="en-IN" dirty="0"/>
          </a:p>
        </p:txBody>
      </p:sp>
    </p:spTree>
    <p:extLst>
      <p:ext uri="{BB962C8B-B14F-4D97-AF65-F5344CB8AC3E}">
        <p14:creationId xmlns:p14="http://schemas.microsoft.com/office/powerpoint/2010/main" val="2913867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3"/>
          <p:cNvSpPr>
            <a:spLocks noGrp="1"/>
          </p:cNvSpPr>
          <p:nvPr>
            <p:ph type="title"/>
          </p:nvPr>
        </p:nvSpPr>
        <p:spPr/>
        <p:txBody>
          <a:bodyPr/>
          <a:lstStyle/>
          <a:p>
            <a:r>
              <a:rPr lang="en-US" altLang="en-US"/>
              <a:t>Probability Theory</a:t>
            </a:r>
          </a:p>
        </p:txBody>
      </p:sp>
      <p:sp>
        <p:nvSpPr>
          <p:cNvPr id="5" name="Content Placeholder 4"/>
          <p:cNvSpPr>
            <a:spLocks noGrp="1"/>
          </p:cNvSpPr>
          <p:nvPr>
            <p:ph idx="1"/>
          </p:nvPr>
        </p:nvSpPr>
        <p:spPr>
          <a:xfrm>
            <a:off x="250825" y="1487488"/>
            <a:ext cx="8704263" cy="5084762"/>
          </a:xfrm>
          <a:ln>
            <a:solidFill>
              <a:schemeClr val="tx1"/>
            </a:solidFill>
          </a:ln>
        </p:spPr>
        <p:txBody>
          <a:bodyPr>
            <a:normAutofit fontScale="77500" lnSpcReduction="20000"/>
          </a:bodyPr>
          <a:lstStyle/>
          <a:p>
            <a:pPr algn="just">
              <a:defRPr/>
            </a:pPr>
            <a:r>
              <a:rPr lang="en-US" sz="2800" dirty="0"/>
              <a:t>The agent’s knowledge can at best provide only a </a:t>
            </a:r>
            <a:r>
              <a:rPr lang="en-US" sz="2800" b="1" dirty="0">
                <a:solidFill>
                  <a:srgbClr val="000099"/>
                </a:solidFill>
              </a:rPr>
              <a:t>degree of belief </a:t>
            </a:r>
            <a:r>
              <a:rPr lang="en-US" sz="2800" dirty="0"/>
              <a:t>in the relevant sentences.</a:t>
            </a:r>
          </a:p>
          <a:p>
            <a:pPr algn="just">
              <a:defRPr/>
            </a:pPr>
            <a:r>
              <a:rPr lang="en-US" sz="2800" dirty="0"/>
              <a:t>Our main tool for dealing with degree of belief will be </a:t>
            </a:r>
            <a:r>
              <a:rPr lang="en-US" sz="2800" b="1" dirty="0">
                <a:solidFill>
                  <a:srgbClr val="000099"/>
                </a:solidFill>
              </a:rPr>
              <a:t>probability theory</a:t>
            </a:r>
            <a:r>
              <a:rPr lang="en-US" sz="2800" dirty="0"/>
              <a:t>.</a:t>
            </a:r>
          </a:p>
          <a:p>
            <a:pPr algn="just">
              <a:defRPr/>
            </a:pPr>
            <a:r>
              <a:rPr lang="en-US" sz="3600" b="1" dirty="0">
                <a:solidFill>
                  <a:schemeClr val="accent5">
                    <a:lumMod val="25000"/>
                  </a:schemeClr>
                </a:solidFill>
              </a:rPr>
              <a:t>Probability Theory </a:t>
            </a:r>
            <a:r>
              <a:rPr lang="en-US" sz="3600" dirty="0">
                <a:solidFill>
                  <a:srgbClr val="00B050"/>
                </a:solidFill>
              </a:rPr>
              <a:t>, which assigns a numerical degree of belief between 0 to 1 to sentences</a:t>
            </a:r>
            <a:r>
              <a:rPr lang="en-US" sz="3100" dirty="0">
                <a:solidFill>
                  <a:srgbClr val="00B050"/>
                </a:solidFill>
              </a:rPr>
              <a:t>.</a:t>
            </a:r>
          </a:p>
          <a:p>
            <a:pPr algn="just">
              <a:defRPr/>
            </a:pPr>
            <a:r>
              <a:rPr lang="en-US" sz="2800" dirty="0"/>
              <a:t>Probability provides a way of summarizing the uncertainty that comes from our laziness and ignorance.</a:t>
            </a:r>
          </a:p>
          <a:p>
            <a:pPr algn="just">
              <a:defRPr/>
            </a:pPr>
            <a:r>
              <a:rPr lang="en-US" sz="3100" dirty="0">
                <a:solidFill>
                  <a:srgbClr val="FF0000"/>
                </a:solidFill>
              </a:rPr>
              <a:t>For example</a:t>
            </a:r>
            <a:r>
              <a:rPr lang="en-US" sz="3100" dirty="0"/>
              <a:t>, we may not know the proper cause but we believe that there is, say, an 80% chance that is, a probability of 0.8- </a:t>
            </a:r>
            <a:r>
              <a:rPr lang="en-US" sz="3100" dirty="0">
                <a:solidFill>
                  <a:srgbClr val="FF0000"/>
                </a:solidFill>
              </a:rPr>
              <a:t>that a patient has a cavity if he or she has a toothache</a:t>
            </a:r>
            <a:r>
              <a:rPr lang="en-US" sz="3100" dirty="0"/>
              <a:t>.</a:t>
            </a:r>
          </a:p>
          <a:p>
            <a:pPr lvl="1" algn="just">
              <a:defRPr/>
            </a:pPr>
            <a:r>
              <a:rPr lang="en-US" dirty="0"/>
              <a:t>From statistical data (80% patient faced the same problem)</a:t>
            </a:r>
          </a:p>
          <a:p>
            <a:pPr lvl="1" algn="just">
              <a:defRPr/>
            </a:pPr>
            <a:r>
              <a:rPr lang="en-US" dirty="0"/>
              <a:t>General rule</a:t>
            </a:r>
          </a:p>
          <a:p>
            <a:pPr lvl="1" algn="just">
              <a:defRPr/>
            </a:pPr>
            <a:r>
              <a:rPr lang="en-US" dirty="0"/>
              <a:t>Combination of evidence sources</a:t>
            </a:r>
          </a:p>
          <a:p>
            <a:pPr algn="just">
              <a:defRPr/>
            </a:pPr>
            <a:r>
              <a:rPr lang="en-US" dirty="0"/>
              <a:t>Rest 20% are patients of other causes.</a:t>
            </a:r>
          </a:p>
        </p:txBody>
      </p:sp>
      <p:sp>
        <p:nvSpPr>
          <p:cNvPr id="15364" name="Right Brace 3"/>
          <p:cNvSpPr>
            <a:spLocks/>
          </p:cNvSpPr>
          <p:nvPr/>
        </p:nvSpPr>
        <p:spPr bwMode="auto">
          <a:xfrm>
            <a:off x="7667625" y="5013325"/>
            <a:ext cx="571500" cy="1214438"/>
          </a:xfrm>
          <a:prstGeom prst="rightBrace">
            <a:avLst>
              <a:gd name="adj1" fmla="val 8333"/>
              <a:gd name="adj2" fmla="val 50000"/>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15365" name="TextBox 5"/>
          <p:cNvSpPr txBox="1">
            <a:spLocks noChangeArrowheads="1"/>
          </p:cNvSpPr>
          <p:nvPr/>
        </p:nvSpPr>
        <p:spPr bwMode="auto">
          <a:xfrm>
            <a:off x="6286500" y="5643563"/>
            <a:ext cx="26146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Probability derived from</a:t>
            </a:r>
            <a:endParaRPr lang="en-IN" altLang="en-US"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br>
              <a:rPr lang="en-IN" altLang="en-US" b="1"/>
            </a:br>
            <a:br>
              <a:rPr lang="en-IN" altLang="en-US" b="1"/>
            </a:br>
            <a:br>
              <a:rPr lang="en-IN" altLang="en-US" b="1"/>
            </a:br>
            <a:r>
              <a:rPr lang="en-IN" altLang="en-US" sz="3600" b="1"/>
              <a:t>Bayesian Probability- Bayes' Theorem</a:t>
            </a:r>
            <a:endParaRPr lang="en-IN" altLang="en-US"/>
          </a:p>
        </p:txBody>
      </p:sp>
      <p:sp>
        <p:nvSpPr>
          <p:cNvPr id="16387" name="Content Placeholder 2"/>
          <p:cNvSpPr>
            <a:spLocks noGrp="1"/>
          </p:cNvSpPr>
          <p:nvPr>
            <p:ph idx="1"/>
          </p:nvPr>
        </p:nvSpPr>
        <p:spPr>
          <a:xfrm>
            <a:off x="214313" y="1487488"/>
            <a:ext cx="8715375" cy="5156200"/>
          </a:xfrm>
          <a:ln>
            <a:solidFill>
              <a:schemeClr val="tx1"/>
            </a:solidFill>
            <a:miter lim="800000"/>
            <a:headEnd/>
            <a:tailEnd/>
          </a:ln>
        </p:spPr>
        <p:txBody>
          <a:bodyPr/>
          <a:lstStyle/>
          <a:p>
            <a:pPr marL="82550" indent="0"/>
            <a:r>
              <a:rPr lang="en-IN" altLang="en-US"/>
              <a:t> </a:t>
            </a:r>
            <a:r>
              <a:rPr lang="en-IN" altLang="en-US" sz="2800"/>
              <a:t>Product Rule of probability for </a:t>
            </a:r>
            <a:r>
              <a:rPr lang="en-IN" altLang="en-US" sz="2800" b="1">
                <a:solidFill>
                  <a:srgbClr val="FF0000"/>
                </a:solidFill>
              </a:rPr>
              <a:t>independent events</a:t>
            </a:r>
            <a:r>
              <a:rPr lang="en-IN" altLang="en-US" sz="2800"/>
              <a:t>:</a:t>
            </a:r>
            <a:endParaRPr lang="en-IN" altLang="en-US" sz="3000"/>
          </a:p>
          <a:p>
            <a:pPr marL="82550" indent="0"/>
            <a:endParaRPr lang="en-US" altLang="en-US" sz="3000"/>
          </a:p>
          <a:p>
            <a:pPr marL="82550" indent="0"/>
            <a:endParaRPr lang="en-IN" altLang="en-US" sz="2800"/>
          </a:p>
          <a:p>
            <a:pPr marL="82550" indent="0" algn="just"/>
            <a:r>
              <a:rPr lang="en-IN" altLang="en-US" sz="2800"/>
              <a:t>This is actually a special case of the following Product Rule for </a:t>
            </a:r>
            <a:r>
              <a:rPr lang="en-IN" altLang="en-US" sz="2800" b="1">
                <a:solidFill>
                  <a:srgbClr val="FF0000"/>
                </a:solidFill>
              </a:rPr>
              <a:t>dependent events</a:t>
            </a:r>
            <a:r>
              <a:rPr lang="en-IN" altLang="en-US" sz="2800"/>
              <a:t>, where p(A | B) means the probability of A given that B has already occurred:</a:t>
            </a:r>
          </a:p>
          <a:p>
            <a:pPr marL="82550" indent="0" algn="just">
              <a:buFont typeface="Wingdings" panose="05000000000000000000" pitchFamily="2" charset="2"/>
              <a:buNone/>
            </a:pPr>
            <a:endParaRPr lang="en-IN" altLang="en-US" sz="2800"/>
          </a:p>
          <a:p>
            <a:pPr marL="82550" indent="0">
              <a:buFont typeface="Wingdings" panose="05000000000000000000" pitchFamily="2" charset="2"/>
              <a:buNone/>
            </a:pPr>
            <a:br>
              <a:rPr lang="en-IN" altLang="en-US" sz="3000"/>
            </a:br>
            <a:endParaRPr lang="en-IN" altLang="en-US" sz="3000"/>
          </a:p>
        </p:txBody>
      </p:sp>
      <p:pic>
        <p:nvPicPr>
          <p:cNvPr id="1638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625" y="2143125"/>
            <a:ext cx="8286750" cy="7858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638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3" y="4429125"/>
            <a:ext cx="8358187" cy="21685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6390" name="Rectangle 7"/>
          <p:cNvSpPr>
            <a:spLocks noChangeArrowheads="1"/>
          </p:cNvSpPr>
          <p:nvPr/>
        </p:nvSpPr>
        <p:spPr bwMode="auto">
          <a:xfrm>
            <a:off x="1357313" y="6215063"/>
            <a:ext cx="3286125" cy="382587"/>
          </a:xfrm>
          <a:prstGeom prst="rect">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IN" altLang="en-US" b="1"/>
              <a:t>Chaining Bayes' Theorem</a:t>
            </a:r>
            <a:endParaRPr lang="en-IN" altLang="en-US"/>
          </a:p>
        </p:txBody>
      </p:sp>
      <p:sp>
        <p:nvSpPr>
          <p:cNvPr id="17411" name="Content Placeholder 2"/>
          <p:cNvSpPr>
            <a:spLocks noGrp="1"/>
          </p:cNvSpPr>
          <p:nvPr>
            <p:ph idx="1"/>
          </p:nvPr>
        </p:nvSpPr>
        <p:spPr>
          <a:xfrm>
            <a:off x="214313" y="1487488"/>
            <a:ext cx="8740775" cy="4760912"/>
          </a:xfrm>
          <a:ln>
            <a:solidFill>
              <a:schemeClr val="tx1"/>
            </a:solidFill>
            <a:miter lim="800000"/>
            <a:headEnd/>
            <a:tailEnd/>
          </a:ln>
        </p:spPr>
        <p:txBody>
          <a:bodyPr/>
          <a:lstStyle/>
          <a:p>
            <a:pPr algn="just"/>
            <a:r>
              <a:rPr lang="en-IN" altLang="en-US" sz="2800"/>
              <a:t>We may wish to calculate p(AB) given that a third event, I, has happened. This is written p(AB | I). We can use the </a:t>
            </a:r>
          </a:p>
          <a:p>
            <a:pPr algn="ctr">
              <a:buFont typeface="Wingdings" panose="05000000000000000000" pitchFamily="2" charset="2"/>
              <a:buNone/>
            </a:pPr>
            <a:r>
              <a:rPr lang="en-IN" altLang="en-US" sz="2400" b="1">
                <a:solidFill>
                  <a:srgbClr val="00B050"/>
                </a:solidFill>
              </a:rPr>
              <a:t>Product Rule: P(A,B) = p(A) p(B|A)</a:t>
            </a:r>
          </a:p>
          <a:p>
            <a:pPr>
              <a:buFont typeface="Wingdings" panose="05000000000000000000" pitchFamily="2" charset="2"/>
              <a:buNone/>
            </a:pPr>
            <a:r>
              <a:rPr lang="en-IN" altLang="en-US" sz="2400"/>
              <a:t>p(AB | I) = p(A | I) * p(B | AI)</a:t>
            </a:r>
          </a:p>
          <a:p>
            <a:pPr>
              <a:buFont typeface="Wingdings" panose="05000000000000000000" pitchFamily="2" charset="2"/>
              <a:buNone/>
            </a:pPr>
            <a:r>
              <a:rPr lang="en-IN" altLang="en-US" sz="2400"/>
              <a:t>p(AB | I) = p(B | I) * p(A | BI)</a:t>
            </a:r>
          </a:p>
          <a:p>
            <a:pPr algn="just"/>
            <a:r>
              <a:rPr lang="en-IN" altLang="en-US" sz="2800"/>
              <a:t>so we have: </a:t>
            </a:r>
            <a:r>
              <a:rPr lang="en-IN" altLang="en-US" sz="2800" b="1"/>
              <a:t>p(A | BI) = ( p(A | I) * p(B | AI) ) / p(B | I) </a:t>
            </a:r>
            <a:r>
              <a:rPr lang="en-IN" altLang="en-US" sz="2800"/>
              <a:t>which is another version of Bayes' Theorem.</a:t>
            </a:r>
          </a:p>
          <a:p>
            <a:pPr algn="just"/>
            <a:r>
              <a:rPr lang="en-IN" altLang="en-US" sz="2800"/>
              <a:t>This gives us the “</a:t>
            </a:r>
            <a:r>
              <a:rPr lang="en-IN" altLang="en-US" b="1" i="1">
                <a:solidFill>
                  <a:srgbClr val="C00000"/>
                </a:solidFill>
              </a:rPr>
              <a:t>probability of A happening given that B and I have happened</a:t>
            </a:r>
            <a:r>
              <a:rPr lang="en-IN" altLang="en-US" sz="2800" i="1"/>
              <a:t>”.</a:t>
            </a:r>
          </a:p>
          <a:p>
            <a:pPr algn="just"/>
            <a:r>
              <a:rPr lang="en-IN" altLang="en-US" sz="2800"/>
              <a:t>Note that:  </a:t>
            </a:r>
            <a:r>
              <a:rPr lang="en-IN" altLang="en-US" sz="2800" b="1"/>
              <a:t>p(B) = p(B | A) * p(A)  + p(B | ~A) * P(~A)</a:t>
            </a:r>
            <a:endParaRPr lang="en-IN" altLang="en-US" sz="2800" b="1" i="1"/>
          </a:p>
          <a:p>
            <a:pPr>
              <a:buFont typeface="Wingdings" panose="05000000000000000000" pitchFamily="2" charset="2"/>
              <a:buNone/>
            </a:pPr>
            <a:endParaRPr lang="en-I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Belief Networks </a:t>
            </a:r>
            <a:endParaRPr lang="en-IN" dirty="0"/>
          </a:p>
        </p:txBody>
      </p:sp>
      <p:pic>
        <p:nvPicPr>
          <p:cNvPr id="4" name="Picture 3"/>
          <p:cNvPicPr>
            <a:picLocks noChangeAspect="1"/>
          </p:cNvPicPr>
          <p:nvPr/>
        </p:nvPicPr>
        <p:blipFill rotWithShape="1">
          <a:blip r:embed="rId2"/>
          <a:srcRect r="4726"/>
          <a:stretch/>
        </p:blipFill>
        <p:spPr>
          <a:xfrm>
            <a:off x="5704" y="1844819"/>
            <a:ext cx="9144000" cy="4445706"/>
          </a:xfrm>
          <a:prstGeom prst="rect">
            <a:avLst/>
          </a:prstGeom>
        </p:spPr>
      </p:pic>
    </p:spTree>
    <p:extLst>
      <p:ext uri="{BB962C8B-B14F-4D97-AF65-F5344CB8AC3E}">
        <p14:creationId xmlns:p14="http://schemas.microsoft.com/office/powerpoint/2010/main" val="218916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50825" y="714375"/>
            <a:ext cx="8642350" cy="857250"/>
          </a:xfrm>
          <a:noFill/>
          <a:ln cap="flat">
            <a:solidFill>
              <a:schemeClr val="tx1"/>
            </a:solidFill>
            <a:miter lim="800000"/>
            <a:headEnd type="none" w="med" len="med"/>
            <a:tailEnd type="none" w="med" len="med"/>
          </a:ln>
        </p:spPr>
      </p:pic>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700213"/>
            <a:ext cx="8642350" cy="2371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843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4221163"/>
            <a:ext cx="8607425" cy="23510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8437" name="TextBox 4"/>
          <p:cNvSpPr txBox="1">
            <a:spLocks noChangeArrowheads="1"/>
          </p:cNvSpPr>
          <p:nvPr/>
        </p:nvSpPr>
        <p:spPr bwMode="auto">
          <a:xfrm>
            <a:off x="2339975" y="188913"/>
            <a:ext cx="37988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t>Probabilistic inferences</a:t>
            </a:r>
            <a:endParaRPr lang="en-I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IN" altLang="en-US" b="1"/>
              <a:t>Bayesian Belief Networks</a:t>
            </a:r>
            <a:endParaRPr lang="en-IN" altLang="en-US"/>
          </a:p>
        </p:txBody>
      </p:sp>
      <p:sp>
        <p:nvSpPr>
          <p:cNvPr id="3" name="Content Placeholder 2"/>
          <p:cNvSpPr>
            <a:spLocks noGrp="1"/>
          </p:cNvSpPr>
          <p:nvPr>
            <p:ph idx="1"/>
          </p:nvPr>
        </p:nvSpPr>
        <p:spPr>
          <a:xfrm>
            <a:off x="214313" y="1487488"/>
            <a:ext cx="8740775" cy="5084762"/>
          </a:xfrm>
          <a:ln>
            <a:solidFill>
              <a:schemeClr val="tx1"/>
            </a:solidFill>
          </a:ln>
        </p:spPr>
        <p:txBody>
          <a:bodyPr/>
          <a:lstStyle/>
          <a:p>
            <a:pPr algn="just">
              <a:defRPr/>
            </a:pPr>
            <a:r>
              <a:rPr lang="en-IN" sz="2400" dirty="0"/>
              <a:t>A </a:t>
            </a:r>
            <a:r>
              <a:rPr lang="en-IN" sz="2400" b="1" dirty="0">
                <a:solidFill>
                  <a:srgbClr val="C00000"/>
                </a:solidFill>
              </a:rPr>
              <a:t>Bayesian Belief Network (BBN) </a:t>
            </a:r>
            <a:r>
              <a:rPr lang="en-IN" sz="2400" dirty="0"/>
              <a:t>defines various events, the dependencies between them, and the conditional probabilities involved in those dependencies. A BBN can use this information to calculate the probabilities of various possible causes being the actual </a:t>
            </a:r>
          </a:p>
          <a:p>
            <a:pPr>
              <a:defRPr/>
            </a:pPr>
            <a:r>
              <a:rPr lang="en-IN" sz="2400" b="1" dirty="0"/>
              <a:t>Setting up a BBN</a:t>
            </a:r>
          </a:p>
          <a:p>
            <a:pPr marL="0" indent="0">
              <a:buFont typeface="Wingdings" panose="05000000000000000000" pitchFamily="2" charset="2"/>
              <a:buNone/>
              <a:defRPr/>
            </a:pPr>
            <a:r>
              <a:rPr lang="en-IN" sz="2400" dirty="0"/>
              <a:t>For instance, if event C can be affected by events A and B: cause of an event.</a:t>
            </a:r>
          </a:p>
        </p:txBody>
      </p:sp>
      <p:pic>
        <p:nvPicPr>
          <p:cNvPr id="1946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3" y="4357688"/>
            <a:ext cx="5595937" cy="207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26"/>
          <p:cNvSpPr>
            <a:spLocks noGrp="1" noChangeArrowheads="1"/>
          </p:cNvSpPr>
          <p:nvPr>
            <p:ph type="title"/>
          </p:nvPr>
        </p:nvSpPr>
        <p:spPr>
          <a:xfrm>
            <a:off x="1116013" y="152400"/>
            <a:ext cx="7951787" cy="990600"/>
          </a:xfrm>
        </p:spPr>
        <p:txBody>
          <a:bodyPr/>
          <a:lstStyle/>
          <a:p>
            <a:pPr algn="ctr" eaLnBrk="1" hangingPunct="1"/>
            <a:r>
              <a:rPr lang="en-US" altLang="en-US" sz="3200" b="1">
                <a:solidFill>
                  <a:schemeClr val="hlink"/>
                </a:solidFill>
              </a:rPr>
              <a:t>Representing Knowledge in an Uncertain Domain: </a:t>
            </a:r>
            <a:r>
              <a:rPr lang="en-US" altLang="en-US" sz="3600" b="1">
                <a:solidFill>
                  <a:srgbClr val="002060"/>
                </a:solidFill>
                <a:cs typeface="Times New Roman" panose="02020603050405020304" pitchFamily="18" charset="0"/>
              </a:rPr>
              <a:t>Bayesian networks</a:t>
            </a:r>
            <a:endParaRPr lang="fr-FR" altLang="en-US" sz="3600" b="1">
              <a:solidFill>
                <a:srgbClr val="002060"/>
              </a:solidFill>
              <a:cs typeface="Times New Roman" panose="02020603050405020304" pitchFamily="18" charset="0"/>
            </a:endParaRPr>
          </a:p>
        </p:txBody>
      </p:sp>
      <p:sp>
        <p:nvSpPr>
          <p:cNvPr id="20483" name="Rectangle 1029"/>
          <p:cNvSpPr>
            <a:spLocks noChangeArrowheads="1"/>
          </p:cNvSpPr>
          <p:nvPr/>
        </p:nvSpPr>
        <p:spPr bwMode="auto">
          <a:xfrm>
            <a:off x="419100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20484" name="Rectangle 1031"/>
          <p:cNvSpPr>
            <a:spLocks noChangeArrowheads="1"/>
          </p:cNvSpPr>
          <p:nvPr/>
        </p:nvSpPr>
        <p:spPr bwMode="auto">
          <a:xfrm>
            <a:off x="419100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20485" name="Rectangle 1033"/>
          <p:cNvSpPr>
            <a:spLocks noChangeArrowheads="1"/>
          </p:cNvSpPr>
          <p:nvPr/>
        </p:nvSpPr>
        <p:spPr bwMode="auto">
          <a:xfrm>
            <a:off x="421005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20486" name="Rectangle 1035"/>
          <p:cNvSpPr>
            <a:spLocks noChangeArrowheads="1"/>
          </p:cNvSpPr>
          <p:nvPr/>
        </p:nvSpPr>
        <p:spPr bwMode="auto">
          <a:xfrm>
            <a:off x="39766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20487" name="Rectangle 1037"/>
          <p:cNvSpPr>
            <a:spLocks noChangeArrowheads="1"/>
          </p:cNvSpPr>
          <p:nvPr/>
        </p:nvSpPr>
        <p:spPr bwMode="auto">
          <a:xfrm>
            <a:off x="42433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20488" name="Rectangle 1039"/>
          <p:cNvSpPr>
            <a:spLocks noChangeArrowheads="1"/>
          </p:cNvSpPr>
          <p:nvPr/>
        </p:nvSpPr>
        <p:spPr bwMode="auto">
          <a:xfrm>
            <a:off x="3776663"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20489" name="Rectangle 1040"/>
          <p:cNvSpPr>
            <a:spLocks noChangeArrowheads="1"/>
          </p:cNvSpPr>
          <p:nvPr/>
        </p:nvSpPr>
        <p:spPr bwMode="auto">
          <a:xfrm>
            <a:off x="8534400" y="65532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31EEADD1-7164-408B-98A3-6FF93D7A8A34}" type="slidenum">
              <a:rPr lang="ro-RO" altLang="en-US" sz="1400"/>
              <a:pPr algn="r" eaLnBrk="1" hangingPunct="1"/>
              <a:t>23</a:t>
            </a:fld>
            <a:endParaRPr lang="ro-RO" altLang="en-US" sz="1400"/>
          </a:p>
        </p:txBody>
      </p:sp>
      <p:sp>
        <p:nvSpPr>
          <p:cNvPr id="11" name="Content Placeholder 10"/>
          <p:cNvSpPr>
            <a:spLocks noGrp="1"/>
          </p:cNvSpPr>
          <p:nvPr>
            <p:ph idx="1"/>
          </p:nvPr>
        </p:nvSpPr>
        <p:spPr>
          <a:xfrm>
            <a:off x="107950" y="1484313"/>
            <a:ext cx="8891588" cy="5113337"/>
          </a:xfrm>
          <a:ln>
            <a:solidFill>
              <a:schemeClr val="tx1"/>
            </a:solidFill>
          </a:ln>
        </p:spPr>
        <p:txBody>
          <a:bodyPr/>
          <a:lstStyle/>
          <a:p>
            <a:pPr marL="0" indent="0" algn="just">
              <a:buFont typeface="Wingdings" panose="05000000000000000000" pitchFamily="2" charset="2"/>
              <a:buNone/>
              <a:defRPr/>
            </a:pPr>
            <a:r>
              <a:rPr lang="en-US" sz="2800" dirty="0"/>
              <a:t>A </a:t>
            </a:r>
            <a:r>
              <a:rPr lang="en-US" sz="2800" b="1" dirty="0"/>
              <a:t>belief network </a:t>
            </a:r>
            <a:r>
              <a:rPr lang="en-US" sz="2800" dirty="0"/>
              <a:t>is a graph in which the following holds:</a:t>
            </a:r>
          </a:p>
          <a:p>
            <a:pPr marL="514350" indent="-514350" algn="just">
              <a:buFont typeface="+mj-lt"/>
              <a:buAutoNum type="arabicPeriod"/>
              <a:defRPr/>
            </a:pPr>
            <a:r>
              <a:rPr lang="en-US" sz="2800" dirty="0"/>
              <a:t>A set of random </a:t>
            </a:r>
            <a:r>
              <a:rPr lang="en-US" sz="2800" b="1" dirty="0">
                <a:solidFill>
                  <a:srgbClr val="002060"/>
                </a:solidFill>
              </a:rPr>
              <a:t>variables makes up the nodes </a:t>
            </a:r>
            <a:r>
              <a:rPr lang="en-US" sz="2800" dirty="0"/>
              <a:t>of the network.</a:t>
            </a:r>
          </a:p>
          <a:p>
            <a:pPr marL="514350" indent="-514350" algn="just">
              <a:buFont typeface="+mj-lt"/>
              <a:buAutoNum type="arabicPeriod"/>
              <a:defRPr/>
            </a:pPr>
            <a:r>
              <a:rPr lang="en-US" sz="2800" dirty="0"/>
              <a:t>A set of directed links or arrows connects pairs of nodes. </a:t>
            </a:r>
            <a:r>
              <a:rPr lang="en-US" sz="2800" dirty="0">
                <a:cs typeface="Arial" charset="0"/>
                <a:sym typeface="Symbol" pitchFamily="18" charset="2"/>
              </a:rPr>
              <a:t>Directed links </a:t>
            </a:r>
            <a:r>
              <a:rPr lang="en-US" sz="2800" b="1" dirty="0">
                <a:solidFill>
                  <a:srgbClr val="002060"/>
                </a:solidFill>
                <a:cs typeface="Arial" charset="0"/>
                <a:sym typeface="Symbol" pitchFamily="18" charset="2"/>
              </a:rPr>
              <a:t>XY: X has a direct influence on Y</a:t>
            </a:r>
            <a:r>
              <a:rPr lang="en-US" sz="2800" dirty="0">
                <a:cs typeface="Arial" charset="0"/>
                <a:sym typeface="Symbol" pitchFamily="18" charset="2"/>
              </a:rPr>
              <a:t>, X is said to be a parent of Y</a:t>
            </a:r>
            <a:r>
              <a:rPr lang="en-US" sz="2800" b="1" dirty="0">
                <a:solidFill>
                  <a:srgbClr val="002060"/>
                </a:solidFill>
              </a:rPr>
              <a:t>.</a:t>
            </a:r>
          </a:p>
          <a:p>
            <a:pPr marL="514350" indent="-514350" algn="just">
              <a:buFont typeface="+mj-lt"/>
              <a:buAutoNum type="arabicPeriod"/>
              <a:defRPr/>
            </a:pPr>
            <a:r>
              <a:rPr lang="en-US" sz="2800" dirty="0"/>
              <a:t>Each </a:t>
            </a:r>
            <a:r>
              <a:rPr lang="en-US" sz="2800" b="1" dirty="0">
                <a:solidFill>
                  <a:srgbClr val="002060"/>
                </a:solidFill>
              </a:rPr>
              <a:t>node has a conditional probability table</a:t>
            </a:r>
            <a:r>
              <a:rPr lang="en-US" sz="2800" dirty="0"/>
              <a:t> that quantifies the effects that the parents have on the node. The parents of a node are all those nodes that have arrows pointing to it.</a:t>
            </a:r>
          </a:p>
          <a:p>
            <a:pPr marL="514350" indent="-514350" algn="just">
              <a:buFont typeface="+mj-lt"/>
              <a:buAutoNum type="arabicPeriod"/>
              <a:defRPr/>
            </a:pPr>
            <a:r>
              <a:rPr lang="en-US" sz="2800" dirty="0"/>
              <a:t>The graph has no directed cycles.</a:t>
            </a:r>
          </a:p>
          <a:p>
            <a:pPr marL="0" indent="0" algn="just">
              <a:buFont typeface="Wingdings" panose="05000000000000000000" pitchFamily="2" charset="2"/>
              <a:buNone/>
              <a:defRPr/>
            </a:pP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IN" altLang="en-US" b="1"/>
              <a:t>Setting up a BBN:</a:t>
            </a:r>
            <a:endParaRPr lang="en-IN" altLang="en-US"/>
          </a:p>
        </p:txBody>
      </p:sp>
      <p:pic>
        <p:nvPicPr>
          <p:cNvPr id="2150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557338"/>
            <a:ext cx="4321175" cy="15113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150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1557338"/>
            <a:ext cx="4105275" cy="15113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150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3213100"/>
            <a:ext cx="8642350" cy="31686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379538" y="6423025"/>
            <a:ext cx="5640387" cy="461963"/>
          </a:xfrm>
          <a:prstGeom prst="rect">
            <a:avLst/>
          </a:prstGeom>
          <a:noFill/>
        </p:spPr>
        <p:txBody>
          <a:bodyPr wrap="none">
            <a:spAutoFit/>
          </a:bodyPr>
          <a:lstStyle/>
          <a:p>
            <a:pPr>
              <a:defRPr/>
            </a:pPr>
            <a:r>
              <a:rPr lang="en-US" dirty="0">
                <a:latin typeface="+mn-lt"/>
              </a:rPr>
              <a:t>Probability of each state should be sum to 1</a:t>
            </a:r>
            <a:endParaRPr lang="en-IN" dirty="0">
              <a:latin typeface="+mn-lt"/>
            </a:endParaRPr>
          </a:p>
        </p:txBody>
      </p:sp>
      <p:pic>
        <p:nvPicPr>
          <p:cNvPr id="21511"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6325" y="188913"/>
            <a:ext cx="2736850" cy="12684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IN" altLang="en-US" sz="3600" b="1"/>
              <a:t>Calculating Initialised probabilities</a:t>
            </a:r>
            <a:endParaRPr lang="en-IN" altLang="en-US" sz="3600"/>
          </a:p>
        </p:txBody>
      </p:sp>
      <p:sp>
        <p:nvSpPr>
          <p:cNvPr id="22531" name="Content Placeholder 2"/>
          <p:cNvSpPr>
            <a:spLocks noGrp="1"/>
          </p:cNvSpPr>
          <p:nvPr>
            <p:ph idx="1"/>
          </p:nvPr>
        </p:nvSpPr>
        <p:spPr>
          <a:xfrm>
            <a:off x="250825" y="1268413"/>
            <a:ext cx="8704263" cy="5518150"/>
          </a:xfrm>
          <a:ln>
            <a:solidFill>
              <a:schemeClr val="tx1"/>
            </a:solidFill>
            <a:miter lim="800000"/>
            <a:headEnd/>
            <a:tailEnd/>
          </a:ln>
        </p:spPr>
        <p:txBody>
          <a:bodyPr/>
          <a:lstStyle/>
          <a:p>
            <a:pPr algn="just"/>
            <a:r>
              <a:rPr lang="en-IN" altLang="en-US" sz="2400"/>
              <a:t>Using the known probabilities we may calculate the '</a:t>
            </a:r>
            <a:r>
              <a:rPr lang="en-IN" altLang="en-US" sz="2400" b="1"/>
              <a:t>initialised</a:t>
            </a:r>
            <a:r>
              <a:rPr lang="en-IN" altLang="en-US" sz="2400"/>
              <a:t>' probability of C, by summing the various combinations in which C is true, and breaking those probabilities down into known probabilities:</a:t>
            </a:r>
          </a:p>
          <a:p>
            <a:pPr algn="just"/>
            <a:endParaRPr lang="en-US" altLang="en-US" sz="2400"/>
          </a:p>
          <a:p>
            <a:pPr algn="just"/>
            <a:endParaRPr lang="en-US" altLang="en-US" sz="2400"/>
          </a:p>
          <a:p>
            <a:pPr algn="just"/>
            <a:endParaRPr lang="en-US" altLang="en-US" sz="2400"/>
          </a:p>
          <a:p>
            <a:pPr algn="just"/>
            <a:endParaRPr lang="en-US" altLang="en-US" sz="2400"/>
          </a:p>
          <a:p>
            <a:pPr algn="just"/>
            <a:endParaRPr lang="en-US" altLang="en-US" sz="2400"/>
          </a:p>
          <a:p>
            <a:pPr algn="just">
              <a:buFont typeface="Wingdings" panose="05000000000000000000" pitchFamily="2" charset="2"/>
              <a:buNone/>
            </a:pPr>
            <a:endParaRPr lang="en-US" altLang="en-US" sz="2400"/>
          </a:p>
          <a:p>
            <a:pPr algn="just">
              <a:buFont typeface="Wingdings" panose="05000000000000000000" pitchFamily="2" charset="2"/>
              <a:buNone/>
            </a:pPr>
            <a:endParaRPr lang="en-US" altLang="en-US" sz="2400"/>
          </a:p>
          <a:p>
            <a:pPr algn="just"/>
            <a:r>
              <a:rPr lang="en-IN" altLang="en-US" sz="2400"/>
              <a:t>So as a result of the conditional probabilities, </a:t>
            </a:r>
            <a:r>
              <a:rPr lang="en-IN" altLang="en-US" sz="2400" b="1">
                <a:solidFill>
                  <a:srgbClr val="FF0000"/>
                </a:solidFill>
              </a:rPr>
              <a:t>C has a 0.518 chance </a:t>
            </a:r>
            <a:r>
              <a:rPr lang="en-IN" altLang="en-US" sz="2400"/>
              <a:t>of being true in the absence of any other evidence.</a:t>
            </a:r>
          </a:p>
          <a:p>
            <a:pPr algn="just"/>
            <a:endParaRPr lang="en-IN" altLang="en-US" sz="2400"/>
          </a:p>
          <a:p>
            <a:pPr algn="just"/>
            <a:endParaRPr lang="en-IN" altLang="en-US" sz="2400"/>
          </a:p>
        </p:txBody>
      </p:sp>
      <p:pic>
        <p:nvPicPr>
          <p:cNvPr id="2253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2997200"/>
            <a:ext cx="5472112" cy="2808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553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412875"/>
            <a:ext cx="8424862"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6732588" y="3357563"/>
            <a:ext cx="1585912" cy="1568450"/>
          </a:xfrm>
          <a:prstGeom prst="rect">
            <a:avLst/>
          </a:prstGeom>
          <a:noFill/>
          <a:ln>
            <a:solidFill>
              <a:schemeClr val="tx1"/>
            </a:solidFill>
          </a:ln>
        </p:spPr>
        <p:txBody>
          <a:bodyPr>
            <a:spAutoFit/>
          </a:bodyPr>
          <a:lstStyle/>
          <a:p>
            <a:pPr algn="just">
              <a:defRPr/>
            </a:pPr>
            <a:r>
              <a:rPr lang="en-US" dirty="0">
                <a:latin typeface="+mn-lt"/>
              </a:rPr>
              <a:t>P(A)= 0.1</a:t>
            </a:r>
          </a:p>
          <a:p>
            <a:pPr algn="just">
              <a:defRPr/>
            </a:pPr>
            <a:r>
              <a:rPr lang="en-US" dirty="0">
                <a:latin typeface="+mn-lt"/>
              </a:rPr>
              <a:t>P(~A)= 0.9</a:t>
            </a:r>
          </a:p>
          <a:p>
            <a:pPr algn="just">
              <a:defRPr/>
            </a:pPr>
            <a:r>
              <a:rPr lang="en-US" dirty="0">
                <a:latin typeface="+mn-lt"/>
              </a:rPr>
              <a:t>P(B)= 0.4</a:t>
            </a:r>
          </a:p>
          <a:p>
            <a:pPr algn="just">
              <a:defRPr/>
            </a:pPr>
            <a:r>
              <a:rPr lang="en-US" dirty="0">
                <a:latin typeface="+mn-lt"/>
              </a:rPr>
              <a:t>P(~B)= 0.6</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5300"/>
                                        </p:tgtEl>
                                        <p:attrNameLst>
                                          <p:attrName>style.visibility</p:attrName>
                                        </p:attrNameLst>
                                      </p:cBhvr>
                                      <p:to>
                                        <p:strVal val="visible"/>
                                      </p:to>
                                    </p:set>
                                    <p:animEffect transition="in" filter="blinds(horizontal)">
                                      <p:cBhvr>
                                        <p:cTn id="7" dur="1000"/>
                                        <p:tgtEl>
                                          <p:spTgt spid="55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IN" altLang="en-US" sz="3600" b="1"/>
              <a:t>Calculating Revised probabilities: Simple Inference</a:t>
            </a:r>
          </a:p>
        </p:txBody>
      </p:sp>
      <p:sp>
        <p:nvSpPr>
          <p:cNvPr id="23555" name="Content Placeholder 2"/>
          <p:cNvSpPr>
            <a:spLocks noGrp="1"/>
          </p:cNvSpPr>
          <p:nvPr>
            <p:ph idx="1"/>
          </p:nvPr>
        </p:nvSpPr>
        <p:spPr>
          <a:xfrm>
            <a:off x="179388" y="1487488"/>
            <a:ext cx="8775700" cy="5181600"/>
          </a:xfrm>
          <a:ln>
            <a:solidFill>
              <a:schemeClr val="tx1"/>
            </a:solidFill>
            <a:miter lim="800000"/>
            <a:headEnd/>
            <a:tailEnd/>
          </a:ln>
        </p:spPr>
        <p:txBody>
          <a:bodyPr/>
          <a:lstStyle/>
          <a:p>
            <a:pPr algn="just"/>
            <a:r>
              <a:rPr lang="en-IN" altLang="en-US" sz="2400"/>
              <a:t>If we know that C is true, we can calculate the 'revised' probabilities of A or B being true (and therefore the chances that they caused C to be true), by using Baye’s Theorem with the initialised probability:</a:t>
            </a:r>
          </a:p>
          <a:p>
            <a:pPr algn="just"/>
            <a:endParaRPr lang="en-US" altLang="en-US" sz="2400"/>
          </a:p>
          <a:p>
            <a:pPr algn="just"/>
            <a:endParaRPr lang="en-US" altLang="en-US" sz="2400"/>
          </a:p>
          <a:p>
            <a:pPr algn="just"/>
            <a:endParaRPr lang="en-US" altLang="en-US" sz="2400"/>
          </a:p>
          <a:p>
            <a:pPr algn="just"/>
            <a:endParaRPr lang="en-US" altLang="en-US" sz="2400"/>
          </a:p>
          <a:p>
            <a:pPr algn="just"/>
            <a:endParaRPr lang="en-US" altLang="en-US" sz="2400"/>
          </a:p>
          <a:p>
            <a:pPr algn="just"/>
            <a:endParaRPr lang="en-US" altLang="en-US" sz="2400"/>
          </a:p>
          <a:p>
            <a:pPr algn="just"/>
            <a:r>
              <a:rPr lang="en-IN" altLang="en-US" sz="2400"/>
              <a:t>So we could say that given C is true, B is more likely to be the cause than A.</a:t>
            </a:r>
          </a:p>
          <a:p>
            <a:pPr algn="just">
              <a:buFont typeface="Wingdings" panose="05000000000000000000" pitchFamily="2" charset="2"/>
              <a:buNone/>
            </a:pPr>
            <a:endParaRPr lang="en-IN" altLang="en-US" sz="2400"/>
          </a:p>
        </p:txBody>
      </p:sp>
      <p:pic>
        <p:nvPicPr>
          <p:cNvPr id="2355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3141663"/>
            <a:ext cx="8424862" cy="25193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494184"/>
            <a:ext cx="7793037" cy="990600"/>
          </a:xfrm>
        </p:spPr>
        <p:txBody>
          <a:bodyPr/>
          <a:lstStyle/>
          <a:p>
            <a:r>
              <a:rPr lang="en-GB" b="1" dirty="0">
                <a:solidFill>
                  <a:schemeClr val="hlink"/>
                </a:solidFill>
                <a:sym typeface="Symbol" pitchFamily="18" charset="2"/>
              </a:rPr>
              <a:t>The earthquake example</a:t>
            </a:r>
            <a:br>
              <a:rPr lang="en-GB" b="1" dirty="0">
                <a:solidFill>
                  <a:schemeClr val="hlink"/>
                </a:solidFill>
                <a:sym typeface="Symbol" pitchFamily="18" charset="2"/>
              </a:rPr>
            </a:br>
            <a:endParaRPr lang="en-IN" dirty="0"/>
          </a:p>
        </p:txBody>
      </p:sp>
      <p:sp>
        <p:nvSpPr>
          <p:cNvPr id="3" name="Content Placeholder 2"/>
          <p:cNvSpPr>
            <a:spLocks noGrp="1"/>
          </p:cNvSpPr>
          <p:nvPr>
            <p:ph idx="1"/>
          </p:nvPr>
        </p:nvSpPr>
        <p:spPr>
          <a:xfrm>
            <a:off x="107504" y="1484784"/>
            <a:ext cx="9144000" cy="4760912"/>
          </a:xfrm>
        </p:spPr>
        <p:txBody>
          <a:bodyPr/>
          <a:lstStyle/>
          <a:p>
            <a:pPr marL="0" indent="0">
              <a:buNone/>
            </a:pPr>
            <a:r>
              <a:rPr lang="en-US" sz="2400" dirty="0"/>
              <a:t>Burglar alarm at Home</a:t>
            </a:r>
          </a:p>
          <a:p>
            <a:r>
              <a:rPr lang="en-US" sz="2400" dirty="0"/>
              <a:t>Fairly reliable at detecting a burglary</a:t>
            </a:r>
          </a:p>
          <a:p>
            <a:r>
              <a:rPr lang="en-US" sz="2400" dirty="0"/>
              <a:t>Responds at times to minor earthquakes</a:t>
            </a:r>
          </a:p>
          <a:p>
            <a:pPr marL="0" indent="0">
              <a:buNone/>
            </a:pPr>
            <a:endParaRPr lang="en-US" sz="2400" dirty="0"/>
          </a:p>
          <a:p>
            <a:pPr marL="0" indent="0">
              <a:buNone/>
            </a:pPr>
            <a:r>
              <a:rPr lang="en-US" sz="2400" dirty="0"/>
              <a:t>Two neighbors, on hearing alarm, calls Police</a:t>
            </a:r>
          </a:p>
          <a:p>
            <a:endParaRPr lang="en-US" sz="2400" dirty="0"/>
          </a:p>
          <a:p>
            <a:r>
              <a:rPr lang="en-US" sz="2400" dirty="0"/>
              <a:t>John always calls when he hears the alarm, but sometimes confuses the telephone ringing with the alarm and calls then, too.</a:t>
            </a:r>
          </a:p>
          <a:p>
            <a:endParaRPr lang="en-US" sz="2400" dirty="0"/>
          </a:p>
          <a:p>
            <a:r>
              <a:rPr lang="en-US" sz="2400" dirty="0"/>
              <a:t>Mary likes loud music and sometimes misses the alarm altogether</a:t>
            </a:r>
            <a:endParaRPr lang="en-IN" sz="2400" dirty="0"/>
          </a:p>
        </p:txBody>
      </p:sp>
    </p:spTree>
    <p:extLst>
      <p:ext uri="{BB962C8B-B14F-4D97-AF65-F5344CB8AC3E}">
        <p14:creationId xmlns:p14="http://schemas.microsoft.com/office/powerpoint/2010/main" val="10366326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1"/>
          </p:nvPr>
        </p:nvSpPr>
        <p:spPr>
          <a:xfrm>
            <a:off x="144463" y="1557338"/>
            <a:ext cx="8891587" cy="5184775"/>
          </a:xfrm>
          <a:ln>
            <a:solidFill>
              <a:schemeClr val="tx1"/>
            </a:solidFill>
            <a:miter lim="800000"/>
            <a:headEnd/>
            <a:tailEnd/>
          </a:ln>
        </p:spPr>
        <p:txBody>
          <a:bodyPr/>
          <a:lstStyle/>
          <a:p>
            <a:pPr algn="just"/>
            <a:r>
              <a:rPr lang="en-US" altLang="en-US" sz="2800"/>
              <a:t>You have a new burglar alarm installed</a:t>
            </a:r>
          </a:p>
          <a:p>
            <a:pPr algn="just"/>
            <a:r>
              <a:rPr lang="en-US" altLang="en-US" sz="2800"/>
              <a:t>It is reliable about detecting burglary, but responds to minor earthquakes</a:t>
            </a:r>
          </a:p>
          <a:p>
            <a:pPr algn="just"/>
            <a:r>
              <a:rPr lang="en-US" altLang="en-US" sz="2800"/>
              <a:t>Two neighbors (John, Mary) promise to call you at work when they hear the alarm</a:t>
            </a:r>
          </a:p>
          <a:p>
            <a:pPr lvl="1" algn="just"/>
            <a:r>
              <a:rPr lang="en-US" altLang="en-US"/>
              <a:t>John always calls when hears alarm, but confuses alarm with phone ringing (and calls then also)</a:t>
            </a:r>
          </a:p>
          <a:p>
            <a:pPr lvl="1" algn="just"/>
            <a:r>
              <a:rPr lang="en-US" altLang="en-US"/>
              <a:t>Mary likes loud music and sometimes misses alarm!</a:t>
            </a:r>
          </a:p>
          <a:p>
            <a:pPr algn="just"/>
            <a:r>
              <a:rPr lang="en-US" altLang="en-US" sz="2800"/>
              <a:t>Given evidence about who has and hasn’t called, estimate the probability of a burglary.</a:t>
            </a:r>
          </a:p>
        </p:txBody>
      </p:sp>
      <p:sp>
        <p:nvSpPr>
          <p:cNvPr id="4" name="TextBox 3"/>
          <p:cNvSpPr txBox="1"/>
          <p:nvPr/>
        </p:nvSpPr>
        <p:spPr>
          <a:xfrm>
            <a:off x="1619250" y="260350"/>
            <a:ext cx="6172200" cy="1446213"/>
          </a:xfrm>
          <a:prstGeom prst="rect">
            <a:avLst/>
          </a:prstGeom>
          <a:noFill/>
        </p:spPr>
        <p:txBody>
          <a:bodyPr wrap="none">
            <a:spAutoFit/>
          </a:bodyPr>
          <a:lstStyle/>
          <a:p>
            <a:pPr>
              <a:defRPr/>
            </a:pPr>
            <a:r>
              <a:rPr lang="en-GB" sz="4400" b="1" dirty="0">
                <a:solidFill>
                  <a:schemeClr val="hlink"/>
                </a:solidFill>
                <a:latin typeface="+mn-lt"/>
                <a:sym typeface="Symbol" pitchFamily="18" charset="2"/>
              </a:rPr>
              <a:t>The earthquake example</a:t>
            </a:r>
          </a:p>
          <a:p>
            <a:pPr>
              <a:defRPr/>
            </a:pPr>
            <a:endParaRPr lang="en-IN" sz="4400" dirty="0">
              <a:latin typeface="+mn-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ChangeArrowheads="1"/>
          </p:cNvSpPr>
          <p:nvPr/>
        </p:nvSpPr>
        <p:spPr bwMode="auto">
          <a:xfrm>
            <a:off x="2195513" y="549275"/>
            <a:ext cx="60483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spcBef>
                <a:spcPts val="1200"/>
              </a:spcBef>
              <a:spcAft>
                <a:spcPts val="300"/>
              </a:spcAft>
            </a:pPr>
            <a:r>
              <a:rPr lang="en-GB" altLang="en-US" sz="4400">
                <a:solidFill>
                  <a:srgbClr val="0000FF"/>
                </a:solidFill>
                <a:latin typeface="Times New Roman" panose="02020603050405020304" pitchFamily="18" charset="0"/>
                <a:sym typeface="Symbol" panose="05050102010706020507" pitchFamily="18" charset="2"/>
              </a:rPr>
              <a:t>The Belief Network</a:t>
            </a:r>
          </a:p>
        </p:txBody>
      </p:sp>
      <p:sp>
        <p:nvSpPr>
          <p:cNvPr id="49155" name="Rectangle 4"/>
          <p:cNvSpPr>
            <a:spLocks noGrp="1" noChangeArrowheads="1"/>
          </p:cNvSpPr>
          <p:nvPr>
            <p:ph type="body" idx="1"/>
          </p:nvPr>
        </p:nvSpPr>
        <p:spPr>
          <a:xfrm>
            <a:off x="179388" y="1341438"/>
            <a:ext cx="2520950" cy="4248150"/>
          </a:xfrm>
          <a:ln>
            <a:solidFill>
              <a:schemeClr val="tx1"/>
            </a:solidFill>
          </a:ln>
        </p:spPr>
        <p:txBody>
          <a:bodyPr/>
          <a:lstStyle/>
          <a:p>
            <a:pPr marL="266700" indent="-184150" algn="just">
              <a:buFontTx/>
              <a:buNone/>
              <a:defRPr/>
            </a:pPr>
            <a:r>
              <a:rPr lang="de-DE" sz="2400" dirty="0"/>
              <a:t>	I´m at work, John calls to say my alarm is ringing, Mary doesn´t call. Is there a burglary?</a:t>
            </a:r>
          </a:p>
          <a:p>
            <a:pPr marL="266700" indent="-184150" algn="just">
              <a:buFontTx/>
              <a:buNone/>
              <a:defRPr/>
            </a:pPr>
            <a:r>
              <a:rPr lang="de-DE" sz="2400" dirty="0"/>
              <a:t>	</a:t>
            </a:r>
            <a:r>
              <a:rPr lang="de-DE" sz="2400" dirty="0">
                <a:solidFill>
                  <a:srgbClr val="3333FF"/>
                </a:solidFill>
              </a:rPr>
              <a:t>5 Variables </a:t>
            </a:r>
            <a:r>
              <a:rPr lang="de-DE" sz="2400" dirty="0"/>
              <a:t>network topol-ogy reflects </a:t>
            </a:r>
            <a:r>
              <a:rPr lang="de-DE" sz="2400" i="1" dirty="0"/>
              <a:t>causal </a:t>
            </a:r>
            <a:r>
              <a:rPr lang="de-DE" sz="2400" dirty="0"/>
              <a:t>knowledge</a:t>
            </a:r>
          </a:p>
          <a:p>
            <a:pPr>
              <a:buFontTx/>
              <a:buNone/>
              <a:defRPr/>
            </a:pPr>
            <a:endParaRPr lang="de-DE" sz="2400" dirty="0"/>
          </a:p>
        </p:txBody>
      </p:sp>
      <p:pic>
        <p:nvPicPr>
          <p:cNvPr id="2560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Gray">
          <a:xfrm>
            <a:off x="2843213" y="1341438"/>
            <a:ext cx="6048375" cy="42624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5605" name="TextBox 4"/>
          <p:cNvSpPr txBox="1">
            <a:spLocks noChangeArrowheads="1"/>
          </p:cNvSpPr>
          <p:nvPr/>
        </p:nvSpPr>
        <p:spPr bwMode="auto">
          <a:xfrm>
            <a:off x="0" y="5876925"/>
            <a:ext cx="9144000" cy="708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t>A typical belief network with conditional probabilities. All variables(nodes) are Boolean, So the probability of say- P(A) in any row of its table is 1- P(A)</a:t>
            </a:r>
            <a:endParaRPr lang="en-IN" altLang="en-US" sz="2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Joint Probability Distribution </a:t>
            </a:r>
            <a:endParaRPr lang="en-IN" dirty="0"/>
          </a:p>
        </p:txBody>
      </p:sp>
      <p:pic>
        <p:nvPicPr>
          <p:cNvPr id="4" name="Picture 3"/>
          <p:cNvPicPr>
            <a:picLocks noChangeAspect="1"/>
          </p:cNvPicPr>
          <p:nvPr/>
        </p:nvPicPr>
        <p:blipFill>
          <a:blip r:embed="rId2"/>
          <a:stretch>
            <a:fillRect/>
          </a:stretch>
        </p:blipFill>
        <p:spPr>
          <a:xfrm>
            <a:off x="107504" y="1619747"/>
            <a:ext cx="8928000" cy="5238253"/>
          </a:xfrm>
          <a:prstGeom prst="rect">
            <a:avLst/>
          </a:prstGeom>
        </p:spPr>
      </p:pic>
    </p:spTree>
    <p:extLst>
      <p:ext uri="{BB962C8B-B14F-4D97-AF65-F5344CB8AC3E}">
        <p14:creationId xmlns:p14="http://schemas.microsoft.com/office/powerpoint/2010/main" val="38586587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Joint Probability Distribution </a:t>
            </a:r>
            <a:endParaRPr lang="en-IN" dirty="0"/>
          </a:p>
        </p:txBody>
      </p:sp>
      <p:pic>
        <p:nvPicPr>
          <p:cNvPr id="3" name="Picture 2"/>
          <p:cNvPicPr>
            <a:picLocks noChangeAspect="1"/>
          </p:cNvPicPr>
          <p:nvPr/>
        </p:nvPicPr>
        <p:blipFill>
          <a:blip r:embed="rId2"/>
          <a:stretch>
            <a:fillRect/>
          </a:stretch>
        </p:blipFill>
        <p:spPr>
          <a:xfrm>
            <a:off x="28576" y="2564904"/>
            <a:ext cx="8604000" cy="3031457"/>
          </a:xfrm>
          <a:prstGeom prst="rect">
            <a:avLst/>
          </a:prstGeom>
        </p:spPr>
      </p:pic>
    </p:spTree>
    <p:extLst>
      <p:ext uri="{BB962C8B-B14F-4D97-AF65-F5344CB8AC3E}">
        <p14:creationId xmlns:p14="http://schemas.microsoft.com/office/powerpoint/2010/main" val="4083645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Joint Probability Distribution </a:t>
            </a:r>
            <a:endParaRPr lang="en-IN" dirty="0"/>
          </a:p>
        </p:txBody>
      </p:sp>
      <p:pic>
        <p:nvPicPr>
          <p:cNvPr id="4" name="Picture 3"/>
          <p:cNvPicPr>
            <a:picLocks noChangeAspect="1"/>
          </p:cNvPicPr>
          <p:nvPr/>
        </p:nvPicPr>
        <p:blipFill>
          <a:blip r:embed="rId2"/>
          <a:stretch>
            <a:fillRect/>
          </a:stretch>
        </p:blipFill>
        <p:spPr>
          <a:xfrm>
            <a:off x="2195736" y="1412776"/>
            <a:ext cx="4860000" cy="2929028"/>
          </a:xfrm>
          <a:prstGeom prst="rect">
            <a:avLst/>
          </a:prstGeom>
        </p:spPr>
      </p:pic>
      <p:pic>
        <p:nvPicPr>
          <p:cNvPr id="5" name="Picture 4"/>
          <p:cNvPicPr>
            <a:picLocks noChangeAspect="1"/>
          </p:cNvPicPr>
          <p:nvPr/>
        </p:nvPicPr>
        <p:blipFill>
          <a:blip r:embed="rId3"/>
          <a:stretch>
            <a:fillRect/>
          </a:stretch>
        </p:blipFill>
        <p:spPr>
          <a:xfrm>
            <a:off x="1763736" y="4341804"/>
            <a:ext cx="5724000" cy="2352441"/>
          </a:xfrm>
          <a:prstGeom prst="rect">
            <a:avLst/>
          </a:prstGeom>
        </p:spPr>
      </p:pic>
    </p:spTree>
    <p:extLst>
      <p:ext uri="{BB962C8B-B14F-4D97-AF65-F5344CB8AC3E}">
        <p14:creationId xmlns:p14="http://schemas.microsoft.com/office/powerpoint/2010/main" val="5413920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Joint Probability Distribution </a:t>
            </a:r>
            <a:endParaRPr lang="en-IN" dirty="0"/>
          </a:p>
        </p:txBody>
      </p:sp>
      <p:pic>
        <p:nvPicPr>
          <p:cNvPr id="3" name="Picture 2"/>
          <p:cNvPicPr>
            <a:picLocks noChangeAspect="1"/>
          </p:cNvPicPr>
          <p:nvPr/>
        </p:nvPicPr>
        <p:blipFill>
          <a:blip r:embed="rId2"/>
          <a:stretch>
            <a:fillRect/>
          </a:stretch>
        </p:blipFill>
        <p:spPr>
          <a:xfrm>
            <a:off x="35496" y="2564905"/>
            <a:ext cx="9072000" cy="2935928"/>
          </a:xfrm>
          <a:prstGeom prst="rect">
            <a:avLst/>
          </a:prstGeom>
        </p:spPr>
      </p:pic>
    </p:spTree>
    <p:extLst>
      <p:ext uri="{BB962C8B-B14F-4D97-AF65-F5344CB8AC3E}">
        <p14:creationId xmlns:p14="http://schemas.microsoft.com/office/powerpoint/2010/main" val="855074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Joint Probability Distribution </a:t>
            </a:r>
            <a:endParaRPr lang="en-IN" dirty="0"/>
          </a:p>
        </p:txBody>
      </p:sp>
      <p:pic>
        <p:nvPicPr>
          <p:cNvPr id="4" name="Picture 3"/>
          <p:cNvPicPr>
            <a:picLocks noChangeAspect="1"/>
          </p:cNvPicPr>
          <p:nvPr/>
        </p:nvPicPr>
        <p:blipFill>
          <a:blip r:embed="rId2"/>
          <a:stretch>
            <a:fillRect/>
          </a:stretch>
        </p:blipFill>
        <p:spPr>
          <a:xfrm>
            <a:off x="1763688" y="1268760"/>
            <a:ext cx="4752000" cy="2931126"/>
          </a:xfrm>
          <a:prstGeom prst="rect">
            <a:avLst/>
          </a:prstGeom>
        </p:spPr>
      </p:pic>
      <p:pic>
        <p:nvPicPr>
          <p:cNvPr id="5" name="Picture 4"/>
          <p:cNvPicPr>
            <a:picLocks noChangeAspect="1"/>
          </p:cNvPicPr>
          <p:nvPr/>
        </p:nvPicPr>
        <p:blipFill>
          <a:blip r:embed="rId3"/>
          <a:stretch>
            <a:fillRect/>
          </a:stretch>
        </p:blipFill>
        <p:spPr>
          <a:xfrm>
            <a:off x="1331640" y="4199886"/>
            <a:ext cx="6624000" cy="2555227"/>
          </a:xfrm>
          <a:prstGeom prst="rect">
            <a:avLst/>
          </a:prstGeom>
        </p:spPr>
      </p:pic>
    </p:spTree>
    <p:extLst>
      <p:ext uri="{BB962C8B-B14F-4D97-AF65-F5344CB8AC3E}">
        <p14:creationId xmlns:p14="http://schemas.microsoft.com/office/powerpoint/2010/main" val="35902425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Joint Probability Distribution </a:t>
            </a:r>
            <a:endParaRPr lang="en-IN" dirty="0"/>
          </a:p>
        </p:txBody>
      </p:sp>
      <p:pic>
        <p:nvPicPr>
          <p:cNvPr id="4" name="Picture 3"/>
          <p:cNvPicPr>
            <a:picLocks noChangeAspect="1"/>
          </p:cNvPicPr>
          <p:nvPr/>
        </p:nvPicPr>
        <p:blipFill>
          <a:blip r:embed="rId2"/>
          <a:stretch>
            <a:fillRect/>
          </a:stretch>
        </p:blipFill>
        <p:spPr>
          <a:xfrm>
            <a:off x="76316" y="2780926"/>
            <a:ext cx="9036000" cy="2464948"/>
          </a:xfrm>
          <a:prstGeom prst="rect">
            <a:avLst/>
          </a:prstGeom>
        </p:spPr>
      </p:pic>
    </p:spTree>
    <p:extLst>
      <p:ext uri="{BB962C8B-B14F-4D97-AF65-F5344CB8AC3E}">
        <p14:creationId xmlns:p14="http://schemas.microsoft.com/office/powerpoint/2010/main" val="37069889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Joint Probability Distribution </a:t>
            </a:r>
            <a:endParaRPr lang="en-IN" dirty="0"/>
          </a:p>
        </p:txBody>
      </p:sp>
      <p:pic>
        <p:nvPicPr>
          <p:cNvPr id="4" name="Picture 3"/>
          <p:cNvPicPr>
            <a:picLocks noChangeAspect="1"/>
          </p:cNvPicPr>
          <p:nvPr/>
        </p:nvPicPr>
        <p:blipFill>
          <a:blip r:embed="rId2"/>
          <a:stretch>
            <a:fillRect/>
          </a:stretch>
        </p:blipFill>
        <p:spPr>
          <a:xfrm>
            <a:off x="1763688" y="1268760"/>
            <a:ext cx="4752000" cy="2931126"/>
          </a:xfrm>
          <a:prstGeom prst="rect">
            <a:avLst/>
          </a:prstGeom>
        </p:spPr>
      </p:pic>
      <p:pic>
        <p:nvPicPr>
          <p:cNvPr id="5" name="Picture 4"/>
          <p:cNvPicPr>
            <a:picLocks noChangeAspect="1"/>
          </p:cNvPicPr>
          <p:nvPr/>
        </p:nvPicPr>
        <p:blipFill>
          <a:blip r:embed="rId3"/>
          <a:stretch>
            <a:fillRect/>
          </a:stretch>
        </p:blipFill>
        <p:spPr>
          <a:xfrm>
            <a:off x="1331640" y="4199886"/>
            <a:ext cx="6624000" cy="2555227"/>
          </a:xfrm>
          <a:prstGeom prst="rect">
            <a:avLst/>
          </a:prstGeom>
        </p:spPr>
      </p:pic>
    </p:spTree>
    <p:extLst>
      <p:ext uri="{BB962C8B-B14F-4D97-AF65-F5344CB8AC3E}">
        <p14:creationId xmlns:p14="http://schemas.microsoft.com/office/powerpoint/2010/main" val="4868776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Joint Probability Distribution </a:t>
            </a:r>
            <a:endParaRPr lang="en-IN" dirty="0"/>
          </a:p>
        </p:txBody>
      </p:sp>
      <p:pic>
        <p:nvPicPr>
          <p:cNvPr id="3" name="Picture 2"/>
          <p:cNvPicPr>
            <a:picLocks noChangeAspect="1"/>
          </p:cNvPicPr>
          <p:nvPr/>
        </p:nvPicPr>
        <p:blipFill>
          <a:blip r:embed="rId2"/>
          <a:stretch>
            <a:fillRect/>
          </a:stretch>
        </p:blipFill>
        <p:spPr>
          <a:xfrm>
            <a:off x="0" y="1916832"/>
            <a:ext cx="8676000" cy="3192889"/>
          </a:xfrm>
          <a:prstGeom prst="rect">
            <a:avLst/>
          </a:prstGeom>
        </p:spPr>
      </p:pic>
    </p:spTree>
    <p:extLst>
      <p:ext uri="{BB962C8B-B14F-4D97-AF65-F5344CB8AC3E}">
        <p14:creationId xmlns:p14="http://schemas.microsoft.com/office/powerpoint/2010/main" val="40576628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Joint Probability Distribution </a:t>
            </a:r>
            <a:endParaRPr lang="en-IN" dirty="0"/>
          </a:p>
        </p:txBody>
      </p:sp>
      <p:pic>
        <p:nvPicPr>
          <p:cNvPr id="4" name="Picture 3"/>
          <p:cNvPicPr>
            <a:picLocks noChangeAspect="1"/>
          </p:cNvPicPr>
          <p:nvPr/>
        </p:nvPicPr>
        <p:blipFill>
          <a:blip r:embed="rId2"/>
          <a:stretch>
            <a:fillRect/>
          </a:stretch>
        </p:blipFill>
        <p:spPr>
          <a:xfrm>
            <a:off x="1763688" y="1268760"/>
            <a:ext cx="4752000" cy="2931126"/>
          </a:xfrm>
          <a:prstGeom prst="rect">
            <a:avLst/>
          </a:prstGeom>
        </p:spPr>
      </p:pic>
      <p:pic>
        <p:nvPicPr>
          <p:cNvPr id="5" name="Picture 4"/>
          <p:cNvPicPr>
            <a:picLocks noChangeAspect="1"/>
          </p:cNvPicPr>
          <p:nvPr/>
        </p:nvPicPr>
        <p:blipFill>
          <a:blip r:embed="rId3"/>
          <a:stretch>
            <a:fillRect/>
          </a:stretch>
        </p:blipFill>
        <p:spPr>
          <a:xfrm>
            <a:off x="1331640" y="4199886"/>
            <a:ext cx="6624000" cy="2555227"/>
          </a:xfrm>
          <a:prstGeom prst="rect">
            <a:avLst/>
          </a:prstGeom>
        </p:spPr>
      </p:pic>
    </p:spTree>
    <p:extLst>
      <p:ext uri="{BB962C8B-B14F-4D97-AF65-F5344CB8AC3E}">
        <p14:creationId xmlns:p14="http://schemas.microsoft.com/office/powerpoint/2010/main" val="39840873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332656"/>
            <a:ext cx="7793037" cy="990600"/>
          </a:xfrm>
        </p:spPr>
        <p:txBody>
          <a:bodyPr/>
          <a:lstStyle/>
          <a:p>
            <a:r>
              <a:rPr lang="en-US" dirty="0"/>
              <a:t>Joint Probability Distribution: Find P(J) </a:t>
            </a:r>
            <a:endParaRPr lang="en-IN" dirty="0"/>
          </a:p>
        </p:txBody>
      </p:sp>
      <p:pic>
        <p:nvPicPr>
          <p:cNvPr id="4" name="Picture 3"/>
          <p:cNvPicPr>
            <a:picLocks noChangeAspect="1"/>
          </p:cNvPicPr>
          <p:nvPr/>
        </p:nvPicPr>
        <p:blipFill>
          <a:blip r:embed="rId2"/>
          <a:stretch>
            <a:fillRect/>
          </a:stretch>
        </p:blipFill>
        <p:spPr>
          <a:xfrm>
            <a:off x="0" y="2276872"/>
            <a:ext cx="9036000" cy="3314448"/>
          </a:xfrm>
          <a:prstGeom prst="rect">
            <a:avLst/>
          </a:prstGeom>
        </p:spPr>
      </p:pic>
    </p:spTree>
    <p:extLst>
      <p:ext uri="{BB962C8B-B14F-4D97-AF65-F5344CB8AC3E}">
        <p14:creationId xmlns:p14="http://schemas.microsoft.com/office/powerpoint/2010/main" val="14966613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332656"/>
            <a:ext cx="7793037" cy="990600"/>
          </a:xfrm>
        </p:spPr>
        <p:txBody>
          <a:bodyPr/>
          <a:lstStyle/>
          <a:p>
            <a:r>
              <a:rPr lang="en-US" dirty="0"/>
              <a:t>Joint Probability Distribution: Find P(A’B) and P(AE) </a:t>
            </a:r>
            <a:endParaRPr lang="en-IN" dirty="0"/>
          </a:p>
        </p:txBody>
      </p:sp>
      <p:pic>
        <p:nvPicPr>
          <p:cNvPr id="3" name="Picture 2"/>
          <p:cNvPicPr>
            <a:picLocks noChangeAspect="1"/>
          </p:cNvPicPr>
          <p:nvPr/>
        </p:nvPicPr>
        <p:blipFill>
          <a:blip r:embed="rId2"/>
          <a:stretch>
            <a:fillRect/>
          </a:stretch>
        </p:blipFill>
        <p:spPr>
          <a:xfrm>
            <a:off x="467544" y="1844824"/>
            <a:ext cx="8352000" cy="4065892"/>
          </a:xfrm>
          <a:prstGeom prst="rect">
            <a:avLst/>
          </a:prstGeom>
        </p:spPr>
      </p:pic>
    </p:spTree>
    <p:extLst>
      <p:ext uri="{BB962C8B-B14F-4D97-AF65-F5344CB8AC3E}">
        <p14:creationId xmlns:p14="http://schemas.microsoft.com/office/powerpoint/2010/main" val="17484719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332656"/>
            <a:ext cx="7793037" cy="990600"/>
          </a:xfrm>
        </p:spPr>
        <p:txBody>
          <a:bodyPr/>
          <a:lstStyle/>
          <a:p>
            <a:r>
              <a:rPr lang="en-US" dirty="0"/>
              <a:t>Joint Probability Distribution:</a:t>
            </a:r>
            <a:endParaRPr lang="en-IN" dirty="0"/>
          </a:p>
        </p:txBody>
      </p:sp>
      <p:pic>
        <p:nvPicPr>
          <p:cNvPr id="4" name="Picture 3"/>
          <p:cNvPicPr>
            <a:picLocks noChangeAspect="1"/>
          </p:cNvPicPr>
          <p:nvPr/>
        </p:nvPicPr>
        <p:blipFill>
          <a:blip r:embed="rId2"/>
          <a:stretch>
            <a:fillRect/>
          </a:stretch>
        </p:blipFill>
        <p:spPr>
          <a:xfrm>
            <a:off x="154272" y="1700808"/>
            <a:ext cx="9000000" cy="3796030"/>
          </a:xfrm>
          <a:prstGeom prst="rect">
            <a:avLst/>
          </a:prstGeom>
        </p:spPr>
      </p:pic>
    </p:spTree>
    <p:extLst>
      <p:ext uri="{BB962C8B-B14F-4D97-AF65-F5344CB8AC3E}">
        <p14:creationId xmlns:p14="http://schemas.microsoft.com/office/powerpoint/2010/main" val="16059036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332656"/>
            <a:ext cx="7793037" cy="990600"/>
          </a:xfrm>
        </p:spPr>
        <p:txBody>
          <a:bodyPr/>
          <a:lstStyle/>
          <a:p>
            <a:r>
              <a:rPr lang="en-US" dirty="0"/>
              <a:t>Joint Probability Distribution: Find P(JB) </a:t>
            </a:r>
            <a:endParaRPr lang="en-IN" dirty="0"/>
          </a:p>
        </p:txBody>
      </p:sp>
      <p:pic>
        <p:nvPicPr>
          <p:cNvPr id="3" name="Picture 2"/>
          <p:cNvPicPr>
            <a:picLocks noChangeAspect="1"/>
          </p:cNvPicPr>
          <p:nvPr/>
        </p:nvPicPr>
        <p:blipFill>
          <a:blip r:embed="rId2"/>
          <a:stretch>
            <a:fillRect/>
          </a:stretch>
        </p:blipFill>
        <p:spPr>
          <a:xfrm>
            <a:off x="899592" y="1916832"/>
            <a:ext cx="7324725" cy="3419475"/>
          </a:xfrm>
          <a:prstGeom prst="rect">
            <a:avLst/>
          </a:prstGeom>
        </p:spPr>
      </p:pic>
    </p:spTree>
    <p:extLst>
      <p:ext uri="{BB962C8B-B14F-4D97-AF65-F5344CB8AC3E}">
        <p14:creationId xmlns:p14="http://schemas.microsoft.com/office/powerpoint/2010/main" val="2090360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332656"/>
            <a:ext cx="7793037" cy="990600"/>
          </a:xfrm>
        </p:spPr>
        <p:txBody>
          <a:bodyPr/>
          <a:lstStyle/>
          <a:p>
            <a:r>
              <a:rPr lang="en-US" dirty="0"/>
              <a:t>Joint Probability Distribution:</a:t>
            </a:r>
            <a:endParaRPr lang="en-IN" dirty="0"/>
          </a:p>
        </p:txBody>
      </p:sp>
      <p:pic>
        <p:nvPicPr>
          <p:cNvPr id="4" name="Picture 3"/>
          <p:cNvPicPr>
            <a:picLocks noChangeAspect="1"/>
          </p:cNvPicPr>
          <p:nvPr/>
        </p:nvPicPr>
        <p:blipFill>
          <a:blip r:embed="rId2"/>
          <a:stretch>
            <a:fillRect/>
          </a:stretch>
        </p:blipFill>
        <p:spPr>
          <a:xfrm>
            <a:off x="0" y="2780932"/>
            <a:ext cx="9144000" cy="2103462"/>
          </a:xfrm>
          <a:prstGeom prst="rect">
            <a:avLst/>
          </a:prstGeom>
        </p:spPr>
      </p:pic>
    </p:spTree>
    <p:extLst>
      <p:ext uri="{BB962C8B-B14F-4D97-AF65-F5344CB8AC3E}">
        <p14:creationId xmlns:p14="http://schemas.microsoft.com/office/powerpoint/2010/main" val="34926671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332656"/>
            <a:ext cx="7793037" cy="990600"/>
          </a:xfrm>
        </p:spPr>
        <p:txBody>
          <a:bodyPr/>
          <a:lstStyle/>
          <a:p>
            <a:r>
              <a:rPr lang="en-US" dirty="0"/>
              <a:t>Joint Probability Distribution:</a:t>
            </a:r>
            <a:endParaRPr lang="en-IN" dirty="0"/>
          </a:p>
        </p:txBody>
      </p:sp>
      <p:pic>
        <p:nvPicPr>
          <p:cNvPr id="3" name="Picture 2"/>
          <p:cNvPicPr>
            <a:picLocks noChangeAspect="1"/>
          </p:cNvPicPr>
          <p:nvPr/>
        </p:nvPicPr>
        <p:blipFill>
          <a:blip r:embed="rId2"/>
          <a:stretch>
            <a:fillRect/>
          </a:stretch>
        </p:blipFill>
        <p:spPr>
          <a:xfrm>
            <a:off x="1475656" y="1346120"/>
            <a:ext cx="5364000" cy="2729827"/>
          </a:xfrm>
          <a:prstGeom prst="rect">
            <a:avLst/>
          </a:prstGeom>
        </p:spPr>
      </p:pic>
      <p:pic>
        <p:nvPicPr>
          <p:cNvPr id="5" name="Picture 4"/>
          <p:cNvPicPr>
            <a:picLocks noChangeAspect="1"/>
          </p:cNvPicPr>
          <p:nvPr/>
        </p:nvPicPr>
        <p:blipFill>
          <a:blip r:embed="rId3"/>
          <a:stretch>
            <a:fillRect/>
          </a:stretch>
        </p:blipFill>
        <p:spPr>
          <a:xfrm>
            <a:off x="1440224" y="4075947"/>
            <a:ext cx="6192000" cy="2769537"/>
          </a:xfrm>
          <a:prstGeom prst="rect">
            <a:avLst/>
          </a:prstGeom>
        </p:spPr>
      </p:pic>
    </p:spTree>
    <p:extLst>
      <p:ext uri="{BB962C8B-B14F-4D97-AF65-F5344CB8AC3E}">
        <p14:creationId xmlns:p14="http://schemas.microsoft.com/office/powerpoint/2010/main" val="10386270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332656"/>
            <a:ext cx="7793037" cy="990600"/>
          </a:xfrm>
        </p:spPr>
        <p:txBody>
          <a:bodyPr/>
          <a:lstStyle/>
          <a:p>
            <a:r>
              <a:rPr lang="en-US" dirty="0"/>
              <a:t>Joint Probability Distribution:</a:t>
            </a:r>
            <a:endParaRPr lang="en-IN" dirty="0"/>
          </a:p>
        </p:txBody>
      </p:sp>
      <p:pic>
        <p:nvPicPr>
          <p:cNvPr id="4" name="Picture 3"/>
          <p:cNvPicPr>
            <a:picLocks noChangeAspect="1"/>
          </p:cNvPicPr>
          <p:nvPr/>
        </p:nvPicPr>
        <p:blipFill>
          <a:blip r:embed="rId2"/>
          <a:stretch>
            <a:fillRect/>
          </a:stretch>
        </p:blipFill>
        <p:spPr>
          <a:xfrm>
            <a:off x="0" y="2276882"/>
            <a:ext cx="9144000" cy="2797269"/>
          </a:xfrm>
          <a:prstGeom prst="rect">
            <a:avLst/>
          </a:prstGeom>
        </p:spPr>
      </p:pic>
      <p:pic>
        <p:nvPicPr>
          <p:cNvPr id="7" name="Picture 6"/>
          <p:cNvPicPr>
            <a:picLocks noChangeAspect="1"/>
          </p:cNvPicPr>
          <p:nvPr/>
        </p:nvPicPr>
        <p:blipFill>
          <a:blip r:embed="rId3"/>
          <a:stretch>
            <a:fillRect/>
          </a:stretch>
        </p:blipFill>
        <p:spPr>
          <a:xfrm>
            <a:off x="514350" y="5670589"/>
            <a:ext cx="8115300" cy="714375"/>
          </a:xfrm>
          <a:prstGeom prst="rect">
            <a:avLst/>
          </a:prstGeom>
        </p:spPr>
      </p:pic>
    </p:spTree>
    <p:extLst>
      <p:ext uri="{BB962C8B-B14F-4D97-AF65-F5344CB8AC3E}">
        <p14:creationId xmlns:p14="http://schemas.microsoft.com/office/powerpoint/2010/main" val="14802286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332656"/>
            <a:ext cx="7793037" cy="990600"/>
          </a:xfrm>
        </p:spPr>
        <p:txBody>
          <a:bodyPr/>
          <a:lstStyle/>
          <a:p>
            <a:r>
              <a:rPr lang="en-US" dirty="0"/>
              <a:t>Joint Probability Distribution:</a:t>
            </a:r>
            <a:endParaRPr lang="en-IN" dirty="0"/>
          </a:p>
        </p:txBody>
      </p:sp>
      <p:pic>
        <p:nvPicPr>
          <p:cNvPr id="3" name="Picture 2"/>
          <p:cNvPicPr>
            <a:picLocks noChangeAspect="1"/>
          </p:cNvPicPr>
          <p:nvPr/>
        </p:nvPicPr>
        <p:blipFill>
          <a:blip r:embed="rId2"/>
          <a:stretch>
            <a:fillRect/>
          </a:stretch>
        </p:blipFill>
        <p:spPr>
          <a:xfrm>
            <a:off x="395536" y="2060848"/>
            <a:ext cx="8208000" cy="3440724"/>
          </a:xfrm>
          <a:prstGeom prst="rect">
            <a:avLst/>
          </a:prstGeom>
        </p:spPr>
      </p:pic>
    </p:spTree>
    <p:extLst>
      <p:ext uri="{BB962C8B-B14F-4D97-AF65-F5344CB8AC3E}">
        <p14:creationId xmlns:p14="http://schemas.microsoft.com/office/powerpoint/2010/main" val="419033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Independence </a:t>
            </a:r>
            <a:endParaRPr lang="en-IN" dirty="0"/>
          </a:p>
        </p:txBody>
      </p:sp>
      <p:pic>
        <p:nvPicPr>
          <p:cNvPr id="4" name="Picture 3"/>
          <p:cNvPicPr>
            <a:picLocks noChangeAspect="1"/>
          </p:cNvPicPr>
          <p:nvPr/>
        </p:nvPicPr>
        <p:blipFill>
          <a:blip r:embed="rId2"/>
          <a:stretch>
            <a:fillRect/>
          </a:stretch>
        </p:blipFill>
        <p:spPr>
          <a:xfrm>
            <a:off x="827584" y="1772816"/>
            <a:ext cx="7740000" cy="4638343"/>
          </a:xfrm>
          <a:prstGeom prst="rect">
            <a:avLst/>
          </a:prstGeom>
        </p:spPr>
      </p:pic>
      <p:sp>
        <p:nvSpPr>
          <p:cNvPr id="3" name="TextBox 2"/>
          <p:cNvSpPr txBox="1"/>
          <p:nvPr/>
        </p:nvSpPr>
        <p:spPr>
          <a:xfrm>
            <a:off x="1150938" y="1331751"/>
            <a:ext cx="5331460" cy="461665"/>
          </a:xfrm>
          <a:prstGeom prst="rect">
            <a:avLst/>
          </a:prstGeom>
          <a:noFill/>
        </p:spPr>
        <p:txBody>
          <a:bodyPr wrap="none" rtlCol="0">
            <a:spAutoFit/>
          </a:bodyPr>
          <a:lstStyle/>
          <a:p>
            <a:r>
              <a:rPr lang="en-US" dirty="0"/>
              <a:t>The key feature of the belief network </a:t>
            </a:r>
            <a:endParaRPr lang="en-IN" dirty="0"/>
          </a:p>
        </p:txBody>
      </p:sp>
    </p:spTree>
    <p:extLst>
      <p:ext uri="{BB962C8B-B14F-4D97-AF65-F5344CB8AC3E}">
        <p14:creationId xmlns:p14="http://schemas.microsoft.com/office/powerpoint/2010/main" val="16168265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Inferences using belief networks </a:t>
            </a:r>
            <a:endParaRPr lang="en-IN" dirty="0"/>
          </a:p>
        </p:txBody>
      </p:sp>
      <p:pic>
        <p:nvPicPr>
          <p:cNvPr id="4" name="Picture 3"/>
          <p:cNvPicPr>
            <a:picLocks noChangeAspect="1"/>
          </p:cNvPicPr>
          <p:nvPr/>
        </p:nvPicPr>
        <p:blipFill>
          <a:blip r:embed="rId2"/>
          <a:stretch>
            <a:fillRect/>
          </a:stretch>
        </p:blipFill>
        <p:spPr>
          <a:xfrm>
            <a:off x="34296" y="1988840"/>
            <a:ext cx="9072000" cy="3766869"/>
          </a:xfrm>
          <a:prstGeom prst="rect">
            <a:avLst/>
          </a:prstGeom>
        </p:spPr>
      </p:pic>
    </p:spTree>
    <p:extLst>
      <p:ext uri="{BB962C8B-B14F-4D97-AF65-F5344CB8AC3E}">
        <p14:creationId xmlns:p14="http://schemas.microsoft.com/office/powerpoint/2010/main" val="24696693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Inferences using belief networks </a:t>
            </a:r>
            <a:endParaRPr lang="en-IN" dirty="0"/>
          </a:p>
        </p:txBody>
      </p:sp>
      <p:pic>
        <p:nvPicPr>
          <p:cNvPr id="3" name="Picture 2"/>
          <p:cNvPicPr>
            <a:picLocks noChangeAspect="1"/>
          </p:cNvPicPr>
          <p:nvPr/>
        </p:nvPicPr>
        <p:blipFill>
          <a:blip r:embed="rId2"/>
          <a:stretch>
            <a:fillRect/>
          </a:stretch>
        </p:blipFill>
        <p:spPr>
          <a:xfrm>
            <a:off x="251520" y="1988829"/>
            <a:ext cx="8892000" cy="4290031"/>
          </a:xfrm>
          <a:prstGeom prst="rect">
            <a:avLst/>
          </a:prstGeom>
        </p:spPr>
      </p:pic>
    </p:spTree>
    <p:extLst>
      <p:ext uri="{BB962C8B-B14F-4D97-AF65-F5344CB8AC3E}">
        <p14:creationId xmlns:p14="http://schemas.microsoft.com/office/powerpoint/2010/main" val="7546588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 Patterns </a:t>
            </a:r>
            <a:endParaRPr lang="en-IN" dirty="0"/>
          </a:p>
        </p:txBody>
      </p:sp>
      <p:pic>
        <p:nvPicPr>
          <p:cNvPr id="4" name="Picture 3"/>
          <p:cNvPicPr>
            <a:picLocks noChangeAspect="1"/>
          </p:cNvPicPr>
          <p:nvPr/>
        </p:nvPicPr>
        <p:blipFill>
          <a:blip r:embed="rId2"/>
          <a:stretch>
            <a:fillRect/>
          </a:stretch>
        </p:blipFill>
        <p:spPr>
          <a:xfrm>
            <a:off x="899592" y="1916832"/>
            <a:ext cx="6552000" cy="3636451"/>
          </a:xfrm>
          <a:prstGeom prst="rect">
            <a:avLst/>
          </a:prstGeom>
        </p:spPr>
      </p:pic>
    </p:spTree>
    <p:extLst>
      <p:ext uri="{BB962C8B-B14F-4D97-AF65-F5344CB8AC3E}">
        <p14:creationId xmlns:p14="http://schemas.microsoft.com/office/powerpoint/2010/main" val="40401661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Incremental Network Construction </a:t>
            </a:r>
            <a:endParaRPr lang="en-IN" sz="4000" dirty="0"/>
          </a:p>
        </p:txBody>
      </p:sp>
      <p:pic>
        <p:nvPicPr>
          <p:cNvPr id="4" name="Picture 3"/>
          <p:cNvPicPr>
            <a:picLocks noChangeAspect="1"/>
          </p:cNvPicPr>
          <p:nvPr/>
        </p:nvPicPr>
        <p:blipFill>
          <a:blip r:embed="rId2"/>
          <a:stretch>
            <a:fillRect/>
          </a:stretch>
        </p:blipFill>
        <p:spPr>
          <a:xfrm>
            <a:off x="152568" y="2132856"/>
            <a:ext cx="8964000" cy="3572244"/>
          </a:xfrm>
          <a:prstGeom prst="rect">
            <a:avLst/>
          </a:prstGeom>
        </p:spPr>
      </p:pic>
    </p:spTree>
    <p:extLst>
      <p:ext uri="{BB962C8B-B14F-4D97-AF65-F5344CB8AC3E}">
        <p14:creationId xmlns:p14="http://schemas.microsoft.com/office/powerpoint/2010/main" val="37900867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Conditional Independence Relations </a:t>
            </a:r>
            <a:endParaRPr lang="en-IN" sz="4000" dirty="0"/>
          </a:p>
        </p:txBody>
      </p:sp>
      <p:pic>
        <p:nvPicPr>
          <p:cNvPr id="4" name="Picture 3"/>
          <p:cNvPicPr>
            <a:picLocks noChangeAspect="1"/>
          </p:cNvPicPr>
          <p:nvPr/>
        </p:nvPicPr>
        <p:blipFill>
          <a:blip r:embed="rId2"/>
          <a:stretch>
            <a:fillRect/>
          </a:stretch>
        </p:blipFill>
        <p:spPr>
          <a:xfrm>
            <a:off x="94304" y="1556792"/>
            <a:ext cx="4824000" cy="2916430"/>
          </a:xfrm>
          <a:prstGeom prst="rect">
            <a:avLst/>
          </a:prstGeom>
        </p:spPr>
      </p:pic>
      <p:pic>
        <p:nvPicPr>
          <p:cNvPr id="5" name="Picture 4"/>
          <p:cNvPicPr>
            <a:picLocks noChangeAspect="1"/>
          </p:cNvPicPr>
          <p:nvPr/>
        </p:nvPicPr>
        <p:blipFill>
          <a:blip r:embed="rId3"/>
          <a:stretch>
            <a:fillRect/>
          </a:stretch>
        </p:blipFill>
        <p:spPr>
          <a:xfrm>
            <a:off x="4918304" y="2060848"/>
            <a:ext cx="4212000" cy="2275519"/>
          </a:xfrm>
          <a:prstGeom prst="rect">
            <a:avLst/>
          </a:prstGeom>
        </p:spPr>
      </p:pic>
      <p:pic>
        <p:nvPicPr>
          <p:cNvPr id="6" name="Picture 5"/>
          <p:cNvPicPr>
            <a:picLocks noChangeAspect="1"/>
          </p:cNvPicPr>
          <p:nvPr/>
        </p:nvPicPr>
        <p:blipFill>
          <a:blip r:embed="rId4"/>
          <a:stretch>
            <a:fillRect/>
          </a:stretch>
        </p:blipFill>
        <p:spPr>
          <a:xfrm>
            <a:off x="32008" y="5391072"/>
            <a:ext cx="9108000" cy="1253117"/>
          </a:xfrm>
          <a:prstGeom prst="rect">
            <a:avLst/>
          </a:prstGeom>
        </p:spPr>
      </p:pic>
    </p:spTree>
    <p:extLst>
      <p:ext uri="{BB962C8B-B14F-4D97-AF65-F5344CB8AC3E}">
        <p14:creationId xmlns:p14="http://schemas.microsoft.com/office/powerpoint/2010/main" val="1555658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150938" y="152400"/>
            <a:ext cx="7793037" cy="990600"/>
          </a:xfrm>
        </p:spPr>
        <p:txBody>
          <a:bodyPr/>
          <a:lstStyle/>
          <a:p>
            <a:r>
              <a:rPr lang="en-US" sz="4000" dirty="0"/>
              <a:t>Conditional Independence Relations </a:t>
            </a:r>
            <a:endParaRPr lang="en-IN" sz="4000" dirty="0"/>
          </a:p>
        </p:txBody>
      </p:sp>
      <p:pic>
        <p:nvPicPr>
          <p:cNvPr id="5" name="Picture 4"/>
          <p:cNvPicPr>
            <a:picLocks noChangeAspect="1"/>
          </p:cNvPicPr>
          <p:nvPr/>
        </p:nvPicPr>
        <p:blipFill>
          <a:blip r:embed="rId2"/>
          <a:stretch>
            <a:fillRect/>
          </a:stretch>
        </p:blipFill>
        <p:spPr>
          <a:xfrm>
            <a:off x="1627456" y="1259685"/>
            <a:ext cx="6840000" cy="2448435"/>
          </a:xfrm>
          <a:prstGeom prst="rect">
            <a:avLst/>
          </a:prstGeom>
        </p:spPr>
      </p:pic>
      <p:pic>
        <p:nvPicPr>
          <p:cNvPr id="6" name="Picture 5"/>
          <p:cNvPicPr>
            <a:picLocks noChangeAspect="1"/>
          </p:cNvPicPr>
          <p:nvPr/>
        </p:nvPicPr>
        <p:blipFill>
          <a:blip r:embed="rId3"/>
          <a:stretch>
            <a:fillRect/>
          </a:stretch>
        </p:blipFill>
        <p:spPr>
          <a:xfrm>
            <a:off x="251520" y="3708120"/>
            <a:ext cx="8604000" cy="1198227"/>
          </a:xfrm>
          <a:prstGeom prst="rect">
            <a:avLst/>
          </a:prstGeom>
        </p:spPr>
      </p:pic>
      <p:pic>
        <p:nvPicPr>
          <p:cNvPr id="7" name="Picture 6"/>
          <p:cNvPicPr>
            <a:picLocks noChangeAspect="1"/>
          </p:cNvPicPr>
          <p:nvPr/>
        </p:nvPicPr>
        <p:blipFill>
          <a:blip r:embed="rId4"/>
          <a:stretch>
            <a:fillRect/>
          </a:stretch>
        </p:blipFill>
        <p:spPr>
          <a:xfrm>
            <a:off x="107520" y="5278668"/>
            <a:ext cx="8892000" cy="1558764"/>
          </a:xfrm>
          <a:prstGeom prst="rect">
            <a:avLst/>
          </a:prstGeom>
        </p:spPr>
      </p:pic>
    </p:spTree>
    <p:extLst>
      <p:ext uri="{BB962C8B-B14F-4D97-AF65-F5344CB8AC3E}">
        <p14:creationId xmlns:p14="http://schemas.microsoft.com/office/powerpoint/2010/main" val="26723554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BN</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We have a set of variables: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1, </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2, </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3</m:t>
                        </m:r>
                      </m:sub>
                    </m:sSub>
                  </m:oMath>
                </a14:m>
                <a:r>
                  <a:rPr lang="en-IN" dirty="0"/>
                  <a:t>. Joint probability distribution: </a:t>
                </a:r>
              </a:p>
              <a:p>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𝑃</m:t>
                        </m:r>
                        <m:r>
                          <a:rPr lang="en-US" b="0" i="1" smtClean="0">
                            <a:latin typeface="Cambria Math" panose="02040503050406030204" pitchFamily="18" charset="0"/>
                          </a:rPr>
                          <m:t>[</m:t>
                        </m:r>
                        <m:r>
                          <a:rPr lang="en-US" i="1">
                            <a:latin typeface="Cambria Math" panose="02040503050406030204" pitchFamily="18" charset="0"/>
                          </a:rPr>
                          <m:t>𝑋</m:t>
                        </m:r>
                      </m:e>
                      <m:sub>
                        <m:r>
                          <a:rPr lang="en-US" i="1">
                            <a:latin typeface="Cambria Math" panose="02040503050406030204" pitchFamily="18" charset="0"/>
                          </a:rPr>
                          <m:t>1 </m:t>
                        </m:r>
                      </m:sub>
                    </m:sSub>
                    <m:r>
                      <a:rPr lang="en-US" b="0" i="1" smtClean="0">
                        <a:latin typeface="Cambria Math" panose="02040503050406030204" pitchFamily="18" charset="0"/>
                      </a:rPr>
                      <m:t>=0, </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2, </m:t>
                        </m:r>
                      </m:sub>
                    </m:sSub>
                    <m:r>
                      <a:rPr lang="en-US" b="0" i="1" smtClean="0">
                        <a:latin typeface="Cambria Math" panose="02040503050406030204" pitchFamily="18" charset="0"/>
                      </a:rPr>
                      <m:t>=1, </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3</m:t>
                        </m:r>
                      </m:sub>
                    </m:sSub>
                    <m:r>
                      <a:rPr lang="en-US" b="0" i="1" smtClean="0">
                        <a:latin typeface="Cambria Math" panose="02040503050406030204" pitchFamily="18" charset="0"/>
                      </a:rPr>
                      <m:t>=0]</m:t>
                    </m:r>
                  </m:oMath>
                </a14:m>
                <a:endParaRPr lang="en-US" b="0" dirty="0"/>
              </a:p>
              <a:p>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𝑃</m:t>
                        </m:r>
                        <m:r>
                          <a:rPr lang="en-US" b="0" i="1" smtClean="0">
                            <a:latin typeface="Cambria Math" panose="02040503050406030204" pitchFamily="18" charset="0"/>
                          </a:rPr>
                          <m:t>(</m:t>
                        </m:r>
                        <m:r>
                          <a:rPr lang="en-US" i="1">
                            <a:latin typeface="Cambria Math" panose="02040503050406030204" pitchFamily="18" charset="0"/>
                          </a:rPr>
                          <m:t>𝑋</m:t>
                        </m:r>
                      </m:e>
                      <m:sub>
                        <m:r>
                          <a:rPr lang="en-US" i="1">
                            <a:latin typeface="Cambria Math" panose="02040503050406030204" pitchFamily="18" charset="0"/>
                          </a:rPr>
                          <m:t>1, </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2, </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3</m:t>
                        </m:r>
                      </m:sub>
                    </m:sSub>
                    <m:r>
                      <a:rPr lang="en-US" b="0" i="1" smtClean="0">
                        <a:latin typeface="Cambria Math" panose="02040503050406030204" pitchFamily="18" charset="0"/>
                      </a:rPr>
                      <m:t>)</m:t>
                    </m:r>
                  </m:oMath>
                </a14:m>
                <a:r>
                  <a:rPr lang="en-IN" dirty="0"/>
                  <a:t> </a:t>
                </a:r>
                <a14:m>
                  <m:oMath xmlns:m="http://schemas.openxmlformats.org/officeDocument/2006/math">
                    <m:r>
                      <a:rPr lang="en-US" b="0" i="0"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𝑃</m:t>
                        </m:r>
                        <m:r>
                          <a:rPr lang="en-US" b="0" i="1" smtClean="0">
                            <a:latin typeface="Cambria Math" panose="02040503050406030204" pitchFamily="18" charset="0"/>
                          </a:rPr>
                          <m:t>[</m:t>
                        </m:r>
                        <m:r>
                          <a:rPr lang="en-US" i="1">
                            <a:latin typeface="Cambria Math" panose="02040503050406030204" pitchFamily="18" charset="0"/>
                          </a:rPr>
                          <m:t>𝑋</m:t>
                        </m:r>
                      </m:e>
                      <m:sub>
                        <m:r>
                          <a:rPr lang="en-US" i="1">
                            <a:latin typeface="Cambria Math" panose="02040503050406030204" pitchFamily="18" charset="0"/>
                          </a:rPr>
                          <m:t>1, </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2 </m:t>
                        </m:r>
                      </m:sub>
                    </m:sSub>
                    <m:r>
                      <a:rPr lang="en-US" b="0" i="1" smtClean="0">
                        <a:latin typeface="Cambria Math" panose="02040503050406030204" pitchFamily="18" charset="0"/>
                      </a:rPr>
                      <m:t>]=</m:t>
                    </m:r>
                  </m:oMath>
                </a14:m>
                <a:r>
                  <a:rPr lang="en-IN" dirty="0"/>
                  <a:t> </a:t>
                </a:r>
              </a:p>
              <a:p>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𝑋</m:t>
                        </m:r>
                      </m:e>
                      <m:sub>
                        <m:r>
                          <a:rPr lang="en-US" i="1">
                            <a:latin typeface="Cambria Math" panose="02040503050406030204" pitchFamily="18" charset="0"/>
                          </a:rPr>
                          <m:t>1 </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r>
                          <a:rPr lang="en-US" b="0" i="1" smtClean="0">
                            <a:latin typeface="Cambria Math" panose="02040503050406030204" pitchFamily="18" charset="0"/>
                          </a:rPr>
                          <m:t>,</m:t>
                        </m:r>
                        <m:r>
                          <a:rPr lang="en-US" i="1">
                            <a:latin typeface="Cambria Math" panose="02040503050406030204" pitchFamily="18" charset="0"/>
                          </a:rPr>
                          <m:t> </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3</m:t>
                        </m:r>
                      </m:sub>
                    </m:sSub>
                    <m:r>
                      <a:rPr lang="en-US" i="1">
                        <a:latin typeface="Cambria Math" panose="02040503050406030204" pitchFamily="18" charset="0"/>
                      </a:rPr>
                      <m:t>]=</m:t>
                    </m:r>
                  </m:oMath>
                </a14:m>
                <a:r>
                  <a:rPr lang="en-IN" dirty="0"/>
                  <a:t> </a:t>
                </a:r>
              </a:p>
              <a:p>
                <a:r>
                  <a:rPr lang="en-US" dirty="0"/>
                  <a:t>If we do not know about their inter-causal relationships and we store this probability distribution explicitly. What is the size of that</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𝑋</m:t>
                        </m:r>
                      </m:e>
                      <m:sub>
                        <m:r>
                          <a:rPr lang="en-US" i="1">
                            <a:latin typeface="Cambria Math" panose="02040503050406030204" pitchFamily="18" charset="0"/>
                          </a:rPr>
                          <m:t>1</m:t>
                        </m:r>
                        <m:r>
                          <a:rPr lang="en-US" b="0" i="1" smtClean="0">
                            <a:latin typeface="Cambria Math" panose="02040503050406030204" pitchFamily="18" charset="0"/>
                          </a:rPr>
                          <m:t>……</m:t>
                        </m:r>
                        <m:r>
                          <a:rPr lang="en-US" i="1">
                            <a:latin typeface="Cambria Math" panose="02040503050406030204" pitchFamily="18" charset="0"/>
                          </a:rPr>
                          <m:t> </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𝑛</m:t>
                        </m:r>
                        <m:r>
                          <a:rPr lang="en-US" i="1">
                            <a:latin typeface="Cambria Math" panose="02040503050406030204" pitchFamily="18" charset="0"/>
                          </a:rPr>
                          <m:t> </m:t>
                        </m:r>
                      </m:sub>
                    </m:sSub>
                    <m:r>
                      <a:rPr lang="en-US" i="1">
                        <a:latin typeface="Cambria Math" panose="02040503050406030204" pitchFamily="18" charset="0"/>
                      </a:rPr>
                      <m:t>]=</m:t>
                    </m:r>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r>
                  <a:rPr lang="en-IN" dirty="0"/>
                  <a:t> </a:t>
                </a:r>
              </a:p>
              <a:p>
                <a:endParaRPr lang="en-US"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49" t="-1793" r="-471" b="-8579"/>
                </a:stretch>
              </a:blipFill>
            </p:spPr>
            <p:txBody>
              <a:bodyPr/>
              <a:lstStyle/>
              <a:p>
                <a:r>
                  <a:rPr lang="en-IN">
                    <a:noFill/>
                  </a:rPr>
                  <a:t> </a:t>
                </a:r>
              </a:p>
            </p:txBody>
          </p:sp>
        </mc:Fallback>
      </mc:AlternateContent>
    </p:spTree>
    <p:extLst>
      <p:ext uri="{BB962C8B-B14F-4D97-AF65-F5344CB8AC3E}">
        <p14:creationId xmlns:p14="http://schemas.microsoft.com/office/powerpoint/2010/main" val="1127870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188640"/>
            <a:ext cx="7793037" cy="990600"/>
          </a:xfrm>
        </p:spPr>
        <p:txBody>
          <a:bodyPr/>
          <a:lstStyle/>
          <a:p>
            <a:r>
              <a:rPr lang="en-US" dirty="0"/>
              <a:t>Understanding BN: Rewrite Joint Probability Distribution </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𝑋</m:t>
                        </m:r>
                      </m:e>
                      <m:sub>
                        <m:r>
                          <a:rPr lang="en-US" i="1" smtClean="0">
                            <a:latin typeface="Cambria Math" panose="02040503050406030204" pitchFamily="18" charset="0"/>
                          </a:rPr>
                          <m:t>1</m:t>
                        </m:r>
                        <m:r>
                          <a:rPr lang="en-US" b="0" i="1" smtClean="0">
                            <a:latin typeface="Cambria Math" panose="02040503050406030204" pitchFamily="18" charset="0"/>
                          </a:rPr>
                          <m:t>,</m:t>
                        </m:r>
                        <m:r>
                          <a:rPr lang="en-US" i="1">
                            <a:latin typeface="Cambria Math" panose="02040503050406030204" pitchFamily="18" charset="0"/>
                          </a:rPr>
                          <m:t> </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𝑛</m:t>
                        </m:r>
                        <m:r>
                          <a:rPr lang="en-US" i="1">
                            <a:latin typeface="Cambria Math" panose="02040503050406030204" pitchFamily="18" charset="0"/>
                          </a:rPr>
                          <m:t> </m:t>
                        </m:r>
                      </m:sub>
                    </m:sSub>
                    <m:r>
                      <a:rPr lang="en-US" i="1">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oMath>
                </a14:m>
                <a:endParaRPr lang="en-US" b="0" dirty="0">
                  <a:ea typeface="Cambria Math" panose="02040503050406030204" pitchFamily="18" charset="0"/>
                </a:endParaRPr>
              </a:p>
              <a:p>
                <a:r>
                  <a:rPr lang="en-US" dirty="0"/>
                  <a:t>= </a:t>
                </a:r>
                <a14:m>
                  <m:oMath xmlns:m="http://schemas.openxmlformats.org/officeDocument/2006/math">
                    <m:r>
                      <a:rPr lang="en-US" i="1">
                        <a:latin typeface="Cambria Math" panose="02040503050406030204" pitchFamily="18" charset="0"/>
                      </a:rPr>
                      <m:t>𝑃</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𝑛</m:t>
                            </m:r>
                          </m:sub>
                        </m:sSub>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𝑃</m:t>
                    </m:r>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𝑋</m:t>
                            </m:r>
                          </m:e>
                          <m:sub>
                            <m:r>
                              <a:rPr lang="en-US" i="1">
                                <a:latin typeface="Cambria Math" panose="02040503050406030204" pitchFamily="18" charset="0"/>
                                <a:ea typeface="Cambria Math" panose="02040503050406030204" pitchFamily="18" charset="0"/>
                              </a:rPr>
                              <m:t>2</m:t>
                            </m:r>
                          </m:sub>
                        </m:sSub>
                      </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𝑋</m:t>
                            </m:r>
                          </m:e>
                          <m:sub>
                            <m:r>
                              <a:rPr lang="en-US" i="1">
                                <a:latin typeface="Cambria Math" panose="02040503050406030204" pitchFamily="18" charset="0"/>
                                <a:ea typeface="Cambria Math" panose="02040503050406030204" pitchFamily="18" charset="0"/>
                              </a:rPr>
                              <m:t>𝑛</m:t>
                            </m:r>
                          </m:sub>
                        </m:sSub>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sub>
                        </m:sSub>
                      </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𝑛</m:t>
                            </m:r>
                          </m:sub>
                        </m:sSub>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oMath>
                </a14:m>
                <a:endParaRPr lang="en-US" dirty="0"/>
              </a:p>
              <a:p>
                <a:endParaRPr lang="en-US" dirty="0"/>
              </a:p>
              <a:p>
                <a14:m>
                  <m:oMath xmlns:m="http://schemas.openxmlformats.org/officeDocument/2006/math">
                    <m:r>
                      <a:rPr lang="en-US" i="1" smtClean="0">
                        <a:solidFill>
                          <a:srgbClr val="FF0000"/>
                        </a:solidFill>
                        <a:latin typeface="Cambria Math" panose="02040503050406030204" pitchFamily="18" charset="0"/>
                      </a:rPr>
                      <m:t>𝑃</m:t>
                    </m:r>
                    <m:d>
                      <m:dPr>
                        <m:begChr m:val="["/>
                        <m:endChr m:val="]"/>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𝑋</m:t>
                            </m:r>
                          </m:e>
                          <m:sub>
                            <m:r>
                              <a:rPr lang="en-US" b="0" i="1" smtClean="0">
                                <a:solidFill>
                                  <a:srgbClr val="FF0000"/>
                                </a:solidFill>
                                <a:latin typeface="Cambria Math" panose="02040503050406030204" pitchFamily="18" charset="0"/>
                              </a:rPr>
                              <m:t>𝑖</m:t>
                            </m:r>
                          </m:sub>
                        </m:sSub>
                      </m:e>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𝑋</m:t>
                            </m:r>
                          </m:e>
                          <m:sub>
                            <m:r>
                              <a:rPr lang="en-US" b="0" i="1" smtClean="0">
                                <a:solidFill>
                                  <a:srgbClr val="FF0000"/>
                                </a:solidFill>
                                <a:latin typeface="Cambria Math" panose="02040503050406030204" pitchFamily="18" charset="0"/>
                              </a:rPr>
                              <m:t>𝑖</m:t>
                            </m:r>
                            <m:r>
                              <a:rPr lang="en-US" b="0" i="1" smtClean="0">
                                <a:solidFill>
                                  <a:srgbClr val="FF0000"/>
                                </a:solidFill>
                                <a:latin typeface="Cambria Math" panose="02040503050406030204" pitchFamily="18" charset="0"/>
                              </a:rPr>
                              <m:t>+1</m:t>
                            </m:r>
                          </m:sub>
                        </m:sSub>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𝑋</m:t>
                            </m:r>
                          </m:e>
                          <m:sub>
                            <m:r>
                              <a:rPr lang="en-US" i="1">
                                <a:solidFill>
                                  <a:srgbClr val="FF0000"/>
                                </a:solidFill>
                                <a:latin typeface="Cambria Math" panose="02040503050406030204" pitchFamily="18" charset="0"/>
                              </a:rPr>
                              <m:t>𝑛</m:t>
                            </m:r>
                          </m:sub>
                        </m:sSub>
                      </m:e>
                    </m:d>
                  </m:oMath>
                </a14:m>
                <a:r>
                  <a:rPr lang="en-US" dirty="0"/>
                  <a:t>=</a:t>
                </a:r>
                <a14:m>
                  <m:oMath xmlns:m="http://schemas.openxmlformats.org/officeDocument/2006/math">
                    <m:r>
                      <a:rPr lang="en-US" i="1">
                        <a:solidFill>
                          <a:srgbClr val="FF0000"/>
                        </a:solidFill>
                        <a:latin typeface="Cambria Math" panose="02040503050406030204" pitchFamily="18" charset="0"/>
                      </a:rPr>
                      <m:t>𝑃</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𝑋</m:t>
                        </m:r>
                      </m:e>
                      <m:sub>
                        <m:r>
                          <a:rPr lang="en-US" b="0" i="1" smtClean="0">
                            <a:solidFill>
                              <a:srgbClr val="FF0000"/>
                            </a:solidFill>
                            <a:latin typeface="Cambria Math" panose="02040503050406030204" pitchFamily="18" charset="0"/>
                          </a:rPr>
                          <m:t>𝑖</m:t>
                        </m:r>
                      </m:sub>
                    </m:sSub>
                    <m:r>
                      <a:rPr lang="en-US" b="0" i="1" smtClean="0">
                        <a:solidFill>
                          <a:srgbClr val="FF0000"/>
                        </a:solidFill>
                        <a:latin typeface="Cambria Math" panose="02040503050406030204" pitchFamily="18" charset="0"/>
                      </a:rPr>
                      <m:t>]</m:t>
                    </m:r>
                  </m:oMath>
                </a14:m>
                <a:endParaRPr lang="en-US"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9181503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79712" y="1484784"/>
            <a:ext cx="4860000" cy="2929028"/>
          </a:xfrm>
          <a:prstGeom prst="rect">
            <a:avLst/>
          </a:prstGeom>
        </p:spPr>
      </p:pic>
      <p:sp>
        <p:nvSpPr>
          <p:cNvPr id="5" name="Title 1"/>
          <p:cNvSpPr>
            <a:spLocks noGrp="1"/>
          </p:cNvSpPr>
          <p:nvPr>
            <p:ph type="title"/>
          </p:nvPr>
        </p:nvSpPr>
        <p:spPr>
          <a:xfrm>
            <a:off x="899592" y="188640"/>
            <a:ext cx="7793037" cy="990600"/>
          </a:xfrm>
        </p:spPr>
        <p:txBody>
          <a:bodyPr/>
          <a:lstStyle/>
          <a:p>
            <a:r>
              <a:rPr lang="en-US" dirty="0"/>
              <a:t>Understanding BN: Rewrite Joint Probability Distribution </a:t>
            </a:r>
            <a:endParaRPr lang="en-IN" dirty="0"/>
          </a:p>
        </p:txBody>
      </p:sp>
      <p:sp>
        <p:nvSpPr>
          <p:cNvPr id="6" name="TextBox 5"/>
          <p:cNvSpPr txBox="1"/>
          <p:nvPr/>
        </p:nvSpPr>
        <p:spPr>
          <a:xfrm>
            <a:off x="81839" y="5229200"/>
            <a:ext cx="9062161" cy="461665"/>
          </a:xfrm>
          <a:prstGeom prst="rect">
            <a:avLst/>
          </a:prstGeom>
          <a:noFill/>
        </p:spPr>
        <p:txBody>
          <a:bodyPr wrap="none" rtlCol="0">
            <a:spAutoFit/>
          </a:bodyPr>
          <a:lstStyle/>
          <a:p>
            <a:r>
              <a:rPr lang="en-US" dirty="0">
                <a:latin typeface="Arial Black" panose="020B0A04020102020204" pitchFamily="34" charset="0"/>
              </a:rPr>
              <a:t>P[</a:t>
            </a:r>
            <a:r>
              <a:rPr lang="en-US" dirty="0" err="1">
                <a:latin typeface="Arial Black" panose="020B0A04020102020204" pitchFamily="34" charset="0"/>
              </a:rPr>
              <a:t>JohnCalls</a:t>
            </a:r>
            <a:r>
              <a:rPr lang="en-US" dirty="0">
                <a:latin typeface="Arial Black" panose="020B0A04020102020204" pitchFamily="34" charset="0"/>
              </a:rPr>
              <a:t> | Alarm, Burglary] = P[</a:t>
            </a:r>
            <a:r>
              <a:rPr lang="en-US" dirty="0" err="1">
                <a:latin typeface="Arial Black" panose="020B0A04020102020204" pitchFamily="34" charset="0"/>
              </a:rPr>
              <a:t>JohnCalls</a:t>
            </a:r>
            <a:r>
              <a:rPr lang="en-US" dirty="0">
                <a:latin typeface="Arial Black" panose="020B0A04020102020204" pitchFamily="34" charset="0"/>
              </a:rPr>
              <a:t> | Alarm]</a:t>
            </a:r>
            <a:endParaRPr lang="en-IN" dirty="0">
              <a:latin typeface="Arial Black" panose="020B0A04020102020204" pitchFamily="34" charset="0"/>
            </a:endParaRPr>
          </a:p>
        </p:txBody>
      </p:sp>
    </p:spTree>
    <p:extLst>
      <p:ext uri="{BB962C8B-B14F-4D97-AF65-F5344CB8AC3E}">
        <p14:creationId xmlns:p14="http://schemas.microsoft.com/office/powerpoint/2010/main" val="26563126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Ordering </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𝐽𝐶</m:t>
                        </m:r>
                        <m:r>
                          <a:rPr lang="en-US" b="0" i="1" smtClean="0">
                            <a:latin typeface="Cambria Math" panose="02040503050406030204" pitchFamily="18" charset="0"/>
                          </a:rPr>
                          <m:t>, </m:t>
                        </m:r>
                        <m:r>
                          <a:rPr lang="en-US" b="0" i="1" smtClean="0">
                            <a:latin typeface="Cambria Math" panose="02040503050406030204" pitchFamily="18" charset="0"/>
                          </a:rPr>
                          <m:t>𝑀𝐶</m:t>
                        </m:r>
                        <m:r>
                          <a:rPr lang="en-US" b="0" i="1" smtClean="0">
                            <a:latin typeface="Cambria Math" panose="02040503050406030204" pitchFamily="18" charset="0"/>
                          </a:rPr>
                          <m:t>, </m:t>
                        </m:r>
                        <m:r>
                          <a:rPr lang="en-US" b="0" i="1" smtClean="0">
                            <a:latin typeface="Cambria Math" panose="02040503050406030204" pitchFamily="18" charset="0"/>
                          </a:rPr>
                          <m:t>𝐴</m:t>
                        </m:r>
                        <m:r>
                          <a:rPr lang="en-US" b="0" i="1" smtClean="0">
                            <a:latin typeface="Cambria Math" panose="02040503050406030204" pitchFamily="18" charset="0"/>
                          </a:rPr>
                          <m:t>, </m:t>
                        </m:r>
                        <m:r>
                          <a:rPr lang="en-US" b="0" i="1" smtClean="0">
                            <a:latin typeface="Cambria Math" panose="02040503050406030204" pitchFamily="18" charset="0"/>
                          </a:rPr>
                          <m:t>𝐵</m:t>
                        </m:r>
                        <m:r>
                          <a:rPr lang="en-US" b="0" i="1" smtClean="0">
                            <a:latin typeface="Cambria Math" panose="02040503050406030204" pitchFamily="18" charset="0"/>
                          </a:rPr>
                          <m:t>, </m:t>
                        </m:r>
                        <m:r>
                          <a:rPr lang="en-US" b="0" i="1" smtClean="0">
                            <a:latin typeface="Cambria Math" panose="02040503050406030204" pitchFamily="18" charset="0"/>
                          </a:rPr>
                          <m:t>𝐸</m:t>
                        </m:r>
                      </m:e>
                    </m:d>
                    <m:r>
                      <a:rPr lang="en-US" b="0" i="1" smtClean="0">
                        <a:latin typeface="Cambria Math" panose="02040503050406030204" pitchFamily="18" charset="0"/>
                      </a:rPr>
                      <m:t>=</m:t>
                    </m:r>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𝐽𝐶</m:t>
                        </m:r>
                      </m:e>
                    </m:d>
                    <m:r>
                      <a:rPr lang="en-US" b="0" i="1" smtClean="0">
                        <a:latin typeface="Cambria Math" panose="02040503050406030204" pitchFamily="18" charset="0"/>
                      </a:rPr>
                      <m:t>𝑀𝐶</m:t>
                    </m:r>
                    <m:r>
                      <a:rPr lang="en-US" b="0" i="1" smtClean="0">
                        <a:latin typeface="Cambria Math" panose="02040503050406030204" pitchFamily="18" charset="0"/>
                      </a:rPr>
                      <m:t>, </m:t>
                    </m:r>
                    <m:r>
                      <a:rPr lang="en-US" b="0" i="1" smtClean="0">
                        <a:latin typeface="Cambria Math" panose="02040503050406030204" pitchFamily="18" charset="0"/>
                      </a:rPr>
                      <m:t>𝐴</m:t>
                    </m:r>
                    <m:r>
                      <a:rPr lang="en-US" b="0" i="1" smtClean="0">
                        <a:latin typeface="Cambria Math" panose="02040503050406030204" pitchFamily="18" charset="0"/>
                      </a:rPr>
                      <m:t>, </m:t>
                    </m:r>
                    <m:r>
                      <a:rPr lang="en-US" b="0" i="1" smtClean="0">
                        <a:latin typeface="Cambria Math" panose="02040503050406030204" pitchFamily="18" charset="0"/>
                      </a:rPr>
                      <m:t>𝐵</m:t>
                    </m:r>
                    <m:r>
                      <a:rPr lang="en-US" b="0" i="1" smtClean="0">
                        <a:latin typeface="Cambria Math" panose="02040503050406030204" pitchFamily="18" charset="0"/>
                      </a:rPr>
                      <m:t>, </m:t>
                    </m:r>
                    <m:r>
                      <a:rPr lang="en-US" b="0" i="1" smtClean="0">
                        <a:latin typeface="Cambria Math" panose="02040503050406030204" pitchFamily="18" charset="0"/>
                      </a:rPr>
                      <m:t>𝐸</m:t>
                    </m:r>
                    <m:r>
                      <a:rPr lang="en-US" b="0" i="1" smtClean="0">
                        <a:latin typeface="Cambria Math" panose="02040503050406030204" pitchFamily="18" charset="0"/>
                      </a:rPr>
                      <m:t>] </m:t>
                    </m:r>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𝑀𝐶</m:t>
                        </m:r>
                        <m:r>
                          <a:rPr lang="en-US" b="0" i="1" smtClean="0">
                            <a:latin typeface="Cambria Math" panose="02040503050406030204" pitchFamily="18" charset="0"/>
                          </a:rPr>
                          <m:t>, </m:t>
                        </m:r>
                        <m:r>
                          <a:rPr lang="en-US" b="0" i="1" smtClean="0">
                            <a:latin typeface="Cambria Math" panose="02040503050406030204" pitchFamily="18" charset="0"/>
                          </a:rPr>
                          <m:t>𝐴</m:t>
                        </m:r>
                        <m:r>
                          <a:rPr lang="en-US" b="0" i="1" smtClean="0">
                            <a:latin typeface="Cambria Math" panose="02040503050406030204" pitchFamily="18" charset="0"/>
                          </a:rPr>
                          <m:t>, </m:t>
                        </m:r>
                        <m:r>
                          <a:rPr lang="en-US" b="0" i="1" smtClean="0">
                            <a:latin typeface="Cambria Math" panose="02040503050406030204" pitchFamily="18" charset="0"/>
                          </a:rPr>
                          <m:t>𝐵</m:t>
                        </m:r>
                        <m:r>
                          <a:rPr lang="en-US" b="0" i="1" smtClean="0">
                            <a:latin typeface="Cambria Math" panose="02040503050406030204" pitchFamily="18" charset="0"/>
                          </a:rPr>
                          <m:t>, </m:t>
                        </m:r>
                        <m:r>
                          <a:rPr lang="en-US" b="0" i="1" smtClean="0">
                            <a:latin typeface="Cambria Math" panose="02040503050406030204" pitchFamily="18" charset="0"/>
                          </a:rPr>
                          <m:t>𝐸</m:t>
                        </m:r>
                      </m:e>
                    </m:d>
                  </m:oMath>
                </a14:m>
                <a:endParaRPr lang="en-US" b="0" dirty="0"/>
              </a:p>
              <a:p>
                <a:r>
                  <a:rPr lang="en-US" dirty="0"/>
                  <a:t>= </a:t>
                </a:r>
                <a14:m>
                  <m:oMath xmlns:m="http://schemas.openxmlformats.org/officeDocument/2006/math">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𝐽𝐶</m:t>
                        </m:r>
                      </m:e>
                      <m:e>
                        <m:r>
                          <a:rPr lang="en-US" b="0" i="1" smtClean="0">
                            <a:latin typeface="Cambria Math" panose="02040503050406030204" pitchFamily="18" charset="0"/>
                          </a:rPr>
                          <m:t>𝐴</m:t>
                        </m:r>
                      </m:e>
                    </m:d>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𝑀𝐶</m:t>
                        </m:r>
                      </m:e>
                      <m:e>
                        <m:r>
                          <a:rPr lang="en-US" b="0" i="1" smtClean="0">
                            <a:latin typeface="Cambria Math" panose="02040503050406030204" pitchFamily="18" charset="0"/>
                          </a:rPr>
                          <m:t>𝐴</m:t>
                        </m:r>
                        <m:r>
                          <a:rPr lang="en-US" b="0" i="1" smtClean="0">
                            <a:latin typeface="Cambria Math" panose="02040503050406030204" pitchFamily="18" charset="0"/>
                          </a:rPr>
                          <m:t>, </m:t>
                        </m:r>
                        <m:r>
                          <a:rPr lang="en-US" b="0" i="1" smtClean="0">
                            <a:latin typeface="Cambria Math" panose="02040503050406030204" pitchFamily="18" charset="0"/>
                          </a:rPr>
                          <m:t>𝐵</m:t>
                        </m:r>
                        <m:r>
                          <a:rPr lang="en-US" b="0" i="1" smtClean="0">
                            <a:latin typeface="Cambria Math" panose="02040503050406030204" pitchFamily="18" charset="0"/>
                          </a:rPr>
                          <m:t>, </m:t>
                        </m:r>
                        <m:r>
                          <a:rPr lang="en-US" b="0" i="1" smtClean="0">
                            <a:latin typeface="Cambria Math" panose="02040503050406030204" pitchFamily="18" charset="0"/>
                          </a:rPr>
                          <m:t>𝐸</m:t>
                        </m:r>
                      </m:e>
                    </m:d>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 </m:t>
                        </m:r>
                        <m:r>
                          <a:rPr lang="en-US" b="0" i="1" smtClean="0">
                            <a:latin typeface="Cambria Math" panose="02040503050406030204" pitchFamily="18" charset="0"/>
                          </a:rPr>
                          <m:t>𝐵</m:t>
                        </m:r>
                        <m:r>
                          <a:rPr lang="en-US" b="0" i="1" smtClean="0">
                            <a:latin typeface="Cambria Math" panose="02040503050406030204" pitchFamily="18" charset="0"/>
                          </a:rPr>
                          <m:t>, </m:t>
                        </m:r>
                        <m:r>
                          <a:rPr lang="en-US" b="0" i="1" smtClean="0">
                            <a:latin typeface="Cambria Math" panose="02040503050406030204" pitchFamily="18" charset="0"/>
                          </a:rPr>
                          <m:t>𝐸</m:t>
                        </m:r>
                      </m:e>
                    </m:d>
                  </m:oMath>
                </a14:m>
                <a:endParaRPr lang="en-US" b="0" dirty="0"/>
              </a:p>
              <a:p>
                <a:r>
                  <a:rPr lang="en-US" dirty="0"/>
                  <a:t>= </a:t>
                </a:r>
                <a14:m>
                  <m:oMath xmlns:m="http://schemas.openxmlformats.org/officeDocument/2006/math">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𝐽𝐶</m:t>
                        </m:r>
                      </m:e>
                      <m:e>
                        <m:r>
                          <a:rPr lang="en-US" b="0" i="1" smtClean="0">
                            <a:latin typeface="Cambria Math" panose="02040503050406030204" pitchFamily="18" charset="0"/>
                          </a:rPr>
                          <m:t>𝐴</m:t>
                        </m:r>
                      </m:e>
                    </m:d>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𝑀𝐶</m:t>
                        </m:r>
                      </m:e>
                      <m:e>
                        <m:r>
                          <a:rPr lang="en-US" b="0" i="1" smtClean="0">
                            <a:latin typeface="Cambria Math" panose="02040503050406030204" pitchFamily="18" charset="0"/>
                          </a:rPr>
                          <m:t>𝐴</m:t>
                        </m:r>
                      </m:e>
                    </m:d>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𝐴</m:t>
                        </m:r>
                      </m:e>
                    </m:d>
                    <m:r>
                      <a:rPr lang="en-US" b="0" i="1" smtClean="0">
                        <a:latin typeface="Cambria Math" panose="02040503050406030204" pitchFamily="18" charset="0"/>
                      </a:rPr>
                      <m:t>𝐵</m:t>
                    </m:r>
                    <m:r>
                      <a:rPr lang="en-US" b="0" i="1" smtClean="0">
                        <a:latin typeface="Cambria Math" panose="02040503050406030204" pitchFamily="18" charset="0"/>
                      </a:rPr>
                      <m:t>, </m:t>
                    </m:r>
                    <m:r>
                      <a:rPr lang="en-US" b="0" i="1" smtClean="0">
                        <a:latin typeface="Cambria Math" panose="02040503050406030204" pitchFamily="18" charset="0"/>
                      </a:rPr>
                      <m:t>𝐸</m:t>
                    </m:r>
                    <m:r>
                      <a:rPr lang="en-US" b="0" i="1" smtClean="0">
                        <a:latin typeface="Cambria Math" panose="02040503050406030204" pitchFamily="18" charset="0"/>
                      </a:rPr>
                      <m:t>] </m:t>
                    </m:r>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r>
                          <a:rPr lang="en-US" b="0" i="1" smtClean="0">
                            <a:latin typeface="Cambria Math" panose="02040503050406030204" pitchFamily="18" charset="0"/>
                          </a:rPr>
                          <m:t>, </m:t>
                        </m:r>
                        <m:r>
                          <a:rPr lang="en-US" b="0" i="1" smtClean="0">
                            <a:latin typeface="Cambria Math" panose="02040503050406030204" pitchFamily="18" charset="0"/>
                          </a:rPr>
                          <m:t>𝐸</m:t>
                        </m:r>
                      </m:e>
                    </m:d>
                  </m:oMath>
                </a14:m>
                <a:endParaRPr lang="en-US" b="0" dirty="0"/>
              </a:p>
              <a:p>
                <a:r>
                  <a:rPr lang="en-US" dirty="0"/>
                  <a:t>=</a:t>
                </a:r>
                <a14:m>
                  <m:oMath xmlns:m="http://schemas.openxmlformats.org/officeDocument/2006/math">
                    <m:r>
                      <a:rPr lang="en-US" i="1">
                        <a:latin typeface="Cambria Math" panose="02040503050406030204" pitchFamily="18" charset="0"/>
                      </a:rPr>
                      <m:t>𝑃</m:t>
                    </m:r>
                    <m:d>
                      <m:dPr>
                        <m:begChr m:val="["/>
                        <m:endChr m:val="]"/>
                        <m:ctrlPr>
                          <a:rPr lang="en-US" i="1">
                            <a:latin typeface="Cambria Math" panose="02040503050406030204" pitchFamily="18" charset="0"/>
                          </a:rPr>
                        </m:ctrlPr>
                      </m:dPr>
                      <m:e>
                        <m:r>
                          <a:rPr lang="en-US" i="1">
                            <a:latin typeface="Cambria Math" panose="02040503050406030204" pitchFamily="18" charset="0"/>
                          </a:rPr>
                          <m:t>𝐽𝐶</m:t>
                        </m:r>
                      </m:e>
                      <m:e>
                        <m:r>
                          <a:rPr lang="en-US" i="1">
                            <a:latin typeface="Cambria Math" panose="02040503050406030204" pitchFamily="18" charset="0"/>
                          </a:rPr>
                          <m:t>𝐴</m:t>
                        </m:r>
                      </m:e>
                    </m:d>
                    <m:r>
                      <a:rPr lang="en-US" i="1">
                        <a:latin typeface="Cambria Math" panose="02040503050406030204" pitchFamily="18" charset="0"/>
                      </a:rPr>
                      <m:t>𝑃</m:t>
                    </m:r>
                    <m:d>
                      <m:dPr>
                        <m:begChr m:val="["/>
                        <m:endChr m:val="]"/>
                        <m:ctrlPr>
                          <a:rPr lang="en-US" i="1">
                            <a:latin typeface="Cambria Math" panose="02040503050406030204" pitchFamily="18" charset="0"/>
                          </a:rPr>
                        </m:ctrlPr>
                      </m:dPr>
                      <m:e>
                        <m:r>
                          <a:rPr lang="en-US" i="1">
                            <a:latin typeface="Cambria Math" panose="02040503050406030204" pitchFamily="18" charset="0"/>
                          </a:rPr>
                          <m:t>𝑀𝐶</m:t>
                        </m:r>
                      </m:e>
                      <m:e>
                        <m:r>
                          <a:rPr lang="en-US" i="1">
                            <a:latin typeface="Cambria Math" panose="02040503050406030204" pitchFamily="18" charset="0"/>
                          </a:rPr>
                          <m:t>𝐴</m:t>
                        </m:r>
                      </m:e>
                    </m:d>
                    <m:r>
                      <a:rPr lang="en-US" i="1">
                        <a:latin typeface="Cambria Math" panose="02040503050406030204" pitchFamily="18" charset="0"/>
                      </a:rPr>
                      <m:t>𝑃</m:t>
                    </m:r>
                    <m:d>
                      <m:dPr>
                        <m:begChr m:val="["/>
                        <m:endChr m:val="|"/>
                        <m:ctrlPr>
                          <a:rPr lang="en-US" i="1">
                            <a:latin typeface="Cambria Math" panose="02040503050406030204" pitchFamily="18" charset="0"/>
                          </a:rPr>
                        </m:ctrlPr>
                      </m:dPr>
                      <m:e>
                        <m:r>
                          <a:rPr lang="en-US" i="1">
                            <a:latin typeface="Cambria Math" panose="02040503050406030204" pitchFamily="18" charset="0"/>
                          </a:rPr>
                          <m:t>𝐴</m:t>
                        </m:r>
                      </m:e>
                    </m:d>
                    <m:r>
                      <a:rPr lang="en-US" i="1">
                        <a:latin typeface="Cambria Math" panose="02040503050406030204" pitchFamily="18" charset="0"/>
                      </a:rPr>
                      <m:t>𝐵</m:t>
                    </m:r>
                    <m:r>
                      <a:rPr lang="en-US" i="1">
                        <a:latin typeface="Cambria Math" panose="02040503050406030204" pitchFamily="18" charset="0"/>
                      </a:rPr>
                      <m:t>, </m:t>
                    </m:r>
                    <m:r>
                      <a:rPr lang="en-US" i="1">
                        <a:latin typeface="Cambria Math" panose="02040503050406030204" pitchFamily="18" charset="0"/>
                      </a:rPr>
                      <m:t>𝐸</m:t>
                    </m:r>
                    <m:r>
                      <a:rPr lang="en-US" i="1">
                        <a:latin typeface="Cambria Math" panose="02040503050406030204" pitchFamily="18" charset="0"/>
                      </a:rPr>
                      <m:t>] </m:t>
                    </m:r>
                    <m:r>
                      <a:rPr lang="en-US" i="1">
                        <a:latin typeface="Cambria Math" panose="02040503050406030204" pitchFamily="18" charset="0"/>
                      </a:rPr>
                      <m:t>𝑃</m:t>
                    </m:r>
                    <m:d>
                      <m:dPr>
                        <m:begChr m:val="["/>
                        <m:endChr m:val="]"/>
                        <m:ctrlPr>
                          <a:rPr lang="en-US" i="1">
                            <a:latin typeface="Cambria Math" panose="02040503050406030204" pitchFamily="18" charset="0"/>
                          </a:rPr>
                        </m:ctrlPr>
                      </m:dPr>
                      <m:e>
                        <m:r>
                          <a:rPr lang="en-US" i="1">
                            <a:latin typeface="Cambria Math" panose="02040503050406030204" pitchFamily="18" charset="0"/>
                          </a:rPr>
                          <m:t>𝐵</m:t>
                        </m:r>
                        <m:r>
                          <a:rPr lang="en-US" b="0" i="1" smtClean="0">
                            <a:latin typeface="Cambria Math" panose="02040503050406030204" pitchFamily="18" charset="0"/>
                          </a:rPr>
                          <m:t>|</m:t>
                        </m:r>
                        <m:r>
                          <a:rPr lang="en-US" i="1">
                            <a:latin typeface="Cambria Math" panose="02040503050406030204" pitchFamily="18" charset="0"/>
                          </a:rPr>
                          <m:t>𝐸</m:t>
                        </m:r>
                      </m:e>
                    </m:d>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oMath>
                </a14:m>
                <a:endParaRPr lang="en-US" b="0" dirty="0"/>
              </a:p>
              <a:p>
                <a:r>
                  <a:rPr lang="en-US" dirty="0"/>
                  <a:t>= </a:t>
                </a:r>
                <a14:m>
                  <m:oMath xmlns:m="http://schemas.openxmlformats.org/officeDocument/2006/math">
                    <m:r>
                      <a:rPr lang="en-US" i="1">
                        <a:latin typeface="Cambria Math" panose="02040503050406030204" pitchFamily="18" charset="0"/>
                      </a:rPr>
                      <m:t>𝑃</m:t>
                    </m:r>
                    <m:d>
                      <m:dPr>
                        <m:begChr m:val="["/>
                        <m:endChr m:val="]"/>
                        <m:ctrlPr>
                          <a:rPr lang="en-US" i="1">
                            <a:latin typeface="Cambria Math" panose="02040503050406030204" pitchFamily="18" charset="0"/>
                          </a:rPr>
                        </m:ctrlPr>
                      </m:dPr>
                      <m:e>
                        <m:r>
                          <a:rPr lang="en-US" i="1">
                            <a:latin typeface="Cambria Math" panose="02040503050406030204" pitchFamily="18" charset="0"/>
                          </a:rPr>
                          <m:t>𝐽𝐶</m:t>
                        </m:r>
                      </m:e>
                      <m:e>
                        <m:r>
                          <a:rPr lang="en-US" i="1">
                            <a:latin typeface="Cambria Math" panose="02040503050406030204" pitchFamily="18" charset="0"/>
                          </a:rPr>
                          <m:t>𝐴</m:t>
                        </m:r>
                      </m:e>
                    </m:d>
                    <m:r>
                      <a:rPr lang="en-US" i="1">
                        <a:latin typeface="Cambria Math" panose="02040503050406030204" pitchFamily="18" charset="0"/>
                      </a:rPr>
                      <m:t>𝑃</m:t>
                    </m:r>
                    <m:d>
                      <m:dPr>
                        <m:begChr m:val="["/>
                        <m:endChr m:val="]"/>
                        <m:ctrlPr>
                          <a:rPr lang="en-US" i="1">
                            <a:latin typeface="Cambria Math" panose="02040503050406030204" pitchFamily="18" charset="0"/>
                          </a:rPr>
                        </m:ctrlPr>
                      </m:dPr>
                      <m:e>
                        <m:r>
                          <a:rPr lang="en-US" i="1">
                            <a:latin typeface="Cambria Math" panose="02040503050406030204" pitchFamily="18" charset="0"/>
                          </a:rPr>
                          <m:t>𝑀𝐶</m:t>
                        </m:r>
                      </m:e>
                      <m:e>
                        <m:r>
                          <a:rPr lang="en-US" i="1">
                            <a:latin typeface="Cambria Math" panose="02040503050406030204" pitchFamily="18" charset="0"/>
                          </a:rPr>
                          <m:t>𝐴</m:t>
                        </m:r>
                      </m:e>
                    </m:d>
                    <m:r>
                      <a:rPr lang="en-US" i="1">
                        <a:latin typeface="Cambria Math" panose="02040503050406030204" pitchFamily="18" charset="0"/>
                      </a:rPr>
                      <m:t>𝑃</m:t>
                    </m:r>
                    <m:d>
                      <m:dPr>
                        <m:begChr m:val="["/>
                        <m:endChr m:val="|"/>
                        <m:ctrlPr>
                          <a:rPr lang="en-US" i="1">
                            <a:latin typeface="Cambria Math" panose="02040503050406030204" pitchFamily="18" charset="0"/>
                          </a:rPr>
                        </m:ctrlPr>
                      </m:dPr>
                      <m:e>
                        <m:r>
                          <a:rPr lang="en-US" i="1">
                            <a:latin typeface="Cambria Math" panose="02040503050406030204" pitchFamily="18" charset="0"/>
                          </a:rPr>
                          <m:t>𝐴</m:t>
                        </m:r>
                      </m:e>
                    </m:d>
                    <m:r>
                      <a:rPr lang="en-US" i="1">
                        <a:latin typeface="Cambria Math" panose="02040503050406030204" pitchFamily="18" charset="0"/>
                      </a:rPr>
                      <m:t>𝐵</m:t>
                    </m:r>
                    <m:r>
                      <a:rPr lang="en-US" i="1">
                        <a:latin typeface="Cambria Math" panose="02040503050406030204" pitchFamily="18" charset="0"/>
                      </a:rPr>
                      <m:t>, </m:t>
                    </m:r>
                    <m:r>
                      <a:rPr lang="en-US" i="1">
                        <a:latin typeface="Cambria Math" panose="02040503050406030204" pitchFamily="18" charset="0"/>
                      </a:rPr>
                      <m:t>𝐸</m:t>
                    </m:r>
                    <m:r>
                      <a:rPr lang="en-US" i="1">
                        <a:latin typeface="Cambria Math" panose="02040503050406030204" pitchFamily="18" charset="0"/>
                      </a:rPr>
                      <m:t>] </m:t>
                    </m:r>
                    <m:r>
                      <a:rPr lang="en-US" i="1">
                        <a:latin typeface="Cambria Math" panose="02040503050406030204" pitchFamily="18" charset="0"/>
                      </a:rPr>
                      <m:t>𝑃</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𝑃</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oMath>
                </a14:m>
                <a:endParaRPr lang="en-US" b="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49"/>
                </a:stretch>
              </a:blipFill>
            </p:spPr>
            <p:txBody>
              <a:bodyPr/>
              <a:lstStyle/>
              <a:p>
                <a:r>
                  <a:rPr lang="en-IN">
                    <a:noFill/>
                  </a:rPr>
                  <a:t> </a:t>
                </a:r>
              </a:p>
            </p:txBody>
          </p:sp>
        </mc:Fallback>
      </mc:AlternateContent>
    </p:spTree>
    <p:extLst>
      <p:ext uri="{BB962C8B-B14F-4D97-AF65-F5344CB8AC3E}">
        <p14:creationId xmlns:p14="http://schemas.microsoft.com/office/powerpoint/2010/main" val="27335295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000" b="1" dirty="0"/>
              <a:t>Compactness and node ordering</a:t>
            </a:r>
            <a:endParaRPr lang="en-IN" sz="4000" dirty="0"/>
          </a:p>
        </p:txBody>
      </p:sp>
      <p:pic>
        <p:nvPicPr>
          <p:cNvPr id="4" name="Picture 3"/>
          <p:cNvPicPr>
            <a:picLocks noChangeAspect="1"/>
          </p:cNvPicPr>
          <p:nvPr/>
        </p:nvPicPr>
        <p:blipFill>
          <a:blip r:embed="rId2"/>
          <a:stretch>
            <a:fillRect/>
          </a:stretch>
        </p:blipFill>
        <p:spPr>
          <a:xfrm>
            <a:off x="683568" y="2132856"/>
            <a:ext cx="3190875" cy="3228975"/>
          </a:xfrm>
          <a:prstGeom prst="rect">
            <a:avLst/>
          </a:prstGeom>
        </p:spPr>
      </p:pic>
      <p:pic>
        <p:nvPicPr>
          <p:cNvPr id="5" name="Picture 4"/>
          <p:cNvPicPr>
            <a:picLocks noChangeAspect="1"/>
          </p:cNvPicPr>
          <p:nvPr/>
        </p:nvPicPr>
        <p:blipFill>
          <a:blip r:embed="rId3"/>
          <a:stretch>
            <a:fillRect/>
          </a:stretch>
        </p:blipFill>
        <p:spPr>
          <a:xfrm>
            <a:off x="5148064" y="2276872"/>
            <a:ext cx="3105150" cy="3209925"/>
          </a:xfrm>
          <a:prstGeom prst="rect">
            <a:avLst/>
          </a:prstGeom>
        </p:spPr>
      </p:pic>
    </p:spTree>
    <p:extLst>
      <p:ext uri="{BB962C8B-B14F-4D97-AF65-F5344CB8AC3E}">
        <p14:creationId xmlns:p14="http://schemas.microsoft.com/office/powerpoint/2010/main" val="24744535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Computations </a:t>
            </a:r>
            <a:endParaRPr lang="en-IN" dirty="0"/>
          </a:p>
        </p:txBody>
      </p:sp>
      <p:pic>
        <p:nvPicPr>
          <p:cNvPr id="4" name="Content Placeholder 3"/>
          <p:cNvPicPr>
            <a:picLocks noGrp="1" noChangeAspect="1"/>
          </p:cNvPicPr>
          <p:nvPr>
            <p:ph idx="1"/>
          </p:nvPr>
        </p:nvPicPr>
        <p:blipFill>
          <a:blip r:embed="rId2"/>
          <a:stretch>
            <a:fillRect/>
          </a:stretch>
        </p:blipFill>
        <p:spPr>
          <a:xfrm>
            <a:off x="899592" y="1700808"/>
            <a:ext cx="2466975" cy="552450"/>
          </a:xfrm>
          <a:prstGeom prst="rect">
            <a:avLst/>
          </a:prstGeom>
        </p:spPr>
      </p:pic>
      <p:pic>
        <p:nvPicPr>
          <p:cNvPr id="5" name="Picture 4"/>
          <p:cNvPicPr>
            <a:picLocks noChangeAspect="1"/>
          </p:cNvPicPr>
          <p:nvPr/>
        </p:nvPicPr>
        <p:blipFill>
          <a:blip r:embed="rId3"/>
          <a:stretch>
            <a:fillRect/>
          </a:stretch>
        </p:blipFill>
        <p:spPr>
          <a:xfrm>
            <a:off x="755576" y="2564904"/>
            <a:ext cx="4552950" cy="723900"/>
          </a:xfrm>
          <a:prstGeom prst="rect">
            <a:avLst/>
          </a:prstGeom>
        </p:spPr>
      </p:pic>
      <p:pic>
        <p:nvPicPr>
          <p:cNvPr id="6" name="Picture 5"/>
          <p:cNvPicPr>
            <a:picLocks noChangeAspect="1"/>
          </p:cNvPicPr>
          <p:nvPr/>
        </p:nvPicPr>
        <p:blipFill>
          <a:blip r:embed="rId4"/>
          <a:stretch>
            <a:fillRect/>
          </a:stretch>
        </p:blipFill>
        <p:spPr>
          <a:xfrm>
            <a:off x="2133079" y="3276600"/>
            <a:ext cx="5419725" cy="647700"/>
          </a:xfrm>
          <a:prstGeom prst="rect">
            <a:avLst/>
          </a:prstGeom>
        </p:spPr>
      </p:pic>
      <p:pic>
        <p:nvPicPr>
          <p:cNvPr id="7" name="Picture 6"/>
          <p:cNvPicPr>
            <a:picLocks noChangeAspect="1"/>
          </p:cNvPicPr>
          <p:nvPr/>
        </p:nvPicPr>
        <p:blipFill>
          <a:blip r:embed="rId5"/>
          <a:stretch>
            <a:fillRect/>
          </a:stretch>
        </p:blipFill>
        <p:spPr>
          <a:xfrm>
            <a:off x="2189518" y="4000500"/>
            <a:ext cx="5191125" cy="619125"/>
          </a:xfrm>
          <a:prstGeom prst="rect">
            <a:avLst/>
          </a:prstGeom>
        </p:spPr>
      </p:pic>
      <p:sp>
        <p:nvSpPr>
          <p:cNvPr id="8" name="TextBox 7"/>
          <p:cNvSpPr txBox="1"/>
          <p:nvPr/>
        </p:nvSpPr>
        <p:spPr>
          <a:xfrm>
            <a:off x="2189518" y="4797152"/>
            <a:ext cx="4976747" cy="523220"/>
          </a:xfrm>
          <a:prstGeom prst="rect">
            <a:avLst/>
          </a:prstGeom>
          <a:noFill/>
        </p:spPr>
        <p:txBody>
          <a:bodyPr wrap="none" rtlCol="0">
            <a:spAutoFit/>
          </a:bodyPr>
          <a:lstStyle/>
          <a:p>
            <a:r>
              <a:rPr lang="en-US" sz="2800" dirty="0"/>
              <a:t>= 0.9 X P(AB) + 0.05 X A(A’B)</a:t>
            </a:r>
            <a:endParaRPr lang="en-IN" sz="2800" dirty="0"/>
          </a:p>
        </p:txBody>
      </p:sp>
      <p:pic>
        <p:nvPicPr>
          <p:cNvPr id="9" name="Picture 8"/>
          <p:cNvPicPr>
            <a:picLocks noChangeAspect="1"/>
          </p:cNvPicPr>
          <p:nvPr/>
        </p:nvPicPr>
        <p:blipFill>
          <a:blip r:embed="rId6"/>
          <a:stretch>
            <a:fillRect/>
          </a:stretch>
        </p:blipFill>
        <p:spPr>
          <a:xfrm>
            <a:off x="2200950" y="5505450"/>
            <a:ext cx="4867275" cy="1104900"/>
          </a:xfrm>
          <a:prstGeom prst="rect">
            <a:avLst/>
          </a:prstGeom>
        </p:spPr>
      </p:pic>
    </p:spTree>
    <p:extLst>
      <p:ext uri="{BB962C8B-B14F-4D97-AF65-F5344CB8AC3E}">
        <p14:creationId xmlns:p14="http://schemas.microsoft.com/office/powerpoint/2010/main" val="2530326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1000"/>
                                        <p:tgtEl>
                                          <p:spTgt spid="8"/>
                                        </p:tgtEl>
                                      </p:cBhvr>
                                    </p:animEffect>
                                    <p:anim calcmode="lin" valueType="num">
                                      <p:cBhvr>
                                        <p:cTn id="27" dur="1000" fill="hold"/>
                                        <p:tgtEl>
                                          <p:spTgt spid="8"/>
                                        </p:tgtEl>
                                        <p:attrNameLst>
                                          <p:attrName>ppt_x</p:attrName>
                                        </p:attrNameLst>
                                      </p:cBhvr>
                                      <p:tavLst>
                                        <p:tav tm="0">
                                          <p:val>
                                            <p:strVal val="#ppt_x"/>
                                          </p:val>
                                        </p:tav>
                                        <p:tav tm="100000">
                                          <p:val>
                                            <p:strVal val="#ppt_x"/>
                                          </p:val>
                                        </p:tav>
                                      </p:tavLst>
                                    </p:anim>
                                    <p:anim calcmode="lin" valueType="num">
                                      <p:cBhvr>
                                        <p:cTn id="2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down)">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Computations </a:t>
            </a:r>
            <a:endParaRPr lang="en-IN" dirty="0"/>
          </a:p>
        </p:txBody>
      </p:sp>
      <p:pic>
        <p:nvPicPr>
          <p:cNvPr id="9" name="Picture 8"/>
          <p:cNvPicPr>
            <a:picLocks noChangeAspect="1"/>
          </p:cNvPicPr>
          <p:nvPr/>
        </p:nvPicPr>
        <p:blipFill>
          <a:blip r:embed="rId2"/>
          <a:stretch>
            <a:fillRect/>
          </a:stretch>
        </p:blipFill>
        <p:spPr>
          <a:xfrm>
            <a:off x="1187624" y="1988840"/>
            <a:ext cx="3362325" cy="495300"/>
          </a:xfrm>
          <a:prstGeom prst="rect">
            <a:avLst/>
          </a:prstGeom>
        </p:spPr>
      </p:pic>
      <p:sp>
        <p:nvSpPr>
          <p:cNvPr id="10" name="TextBox 9"/>
          <p:cNvSpPr txBox="1"/>
          <p:nvPr/>
        </p:nvSpPr>
        <p:spPr>
          <a:xfrm>
            <a:off x="2123728" y="2636912"/>
            <a:ext cx="5442516" cy="461665"/>
          </a:xfrm>
          <a:prstGeom prst="rect">
            <a:avLst/>
          </a:prstGeom>
          <a:noFill/>
        </p:spPr>
        <p:txBody>
          <a:bodyPr wrap="none" rtlCol="0">
            <a:spAutoFit/>
          </a:bodyPr>
          <a:lstStyle/>
          <a:p>
            <a:r>
              <a:rPr lang="en-US" dirty="0"/>
              <a:t>= P(A|BE) X P(BE) + P(A|BE’) X P(BE’)</a:t>
            </a:r>
            <a:endParaRPr lang="en-IN" dirty="0"/>
          </a:p>
        </p:txBody>
      </p:sp>
      <p:pic>
        <p:nvPicPr>
          <p:cNvPr id="11" name="Picture 10"/>
          <p:cNvPicPr>
            <a:picLocks noChangeAspect="1"/>
          </p:cNvPicPr>
          <p:nvPr/>
        </p:nvPicPr>
        <p:blipFill>
          <a:blip r:embed="rId3"/>
          <a:stretch>
            <a:fillRect/>
          </a:stretch>
        </p:blipFill>
        <p:spPr>
          <a:xfrm>
            <a:off x="2123728" y="3329980"/>
            <a:ext cx="5238750" cy="514350"/>
          </a:xfrm>
          <a:prstGeom prst="rect">
            <a:avLst/>
          </a:prstGeom>
        </p:spPr>
      </p:pic>
      <p:pic>
        <p:nvPicPr>
          <p:cNvPr id="12" name="Picture 11"/>
          <p:cNvPicPr>
            <a:picLocks noChangeAspect="1"/>
          </p:cNvPicPr>
          <p:nvPr/>
        </p:nvPicPr>
        <p:blipFill>
          <a:blip r:embed="rId4"/>
          <a:stretch>
            <a:fillRect/>
          </a:stretch>
        </p:blipFill>
        <p:spPr>
          <a:xfrm>
            <a:off x="2130239" y="4040721"/>
            <a:ext cx="1581150" cy="342900"/>
          </a:xfrm>
          <a:prstGeom prst="rect">
            <a:avLst/>
          </a:prstGeom>
        </p:spPr>
      </p:pic>
      <p:pic>
        <p:nvPicPr>
          <p:cNvPr id="13" name="Picture 12"/>
          <p:cNvPicPr>
            <a:picLocks noChangeAspect="1"/>
          </p:cNvPicPr>
          <p:nvPr/>
        </p:nvPicPr>
        <p:blipFill>
          <a:blip r:embed="rId5"/>
          <a:stretch>
            <a:fillRect/>
          </a:stretch>
        </p:blipFill>
        <p:spPr>
          <a:xfrm>
            <a:off x="1187624" y="4509120"/>
            <a:ext cx="4953000" cy="495300"/>
          </a:xfrm>
          <a:prstGeom prst="rect">
            <a:avLst/>
          </a:prstGeom>
        </p:spPr>
      </p:pic>
      <p:pic>
        <p:nvPicPr>
          <p:cNvPr id="14" name="Picture 13"/>
          <p:cNvPicPr>
            <a:picLocks noChangeAspect="1"/>
          </p:cNvPicPr>
          <p:nvPr/>
        </p:nvPicPr>
        <p:blipFill>
          <a:blip r:embed="rId6"/>
          <a:stretch>
            <a:fillRect/>
          </a:stretch>
        </p:blipFill>
        <p:spPr>
          <a:xfrm>
            <a:off x="2252624" y="5153277"/>
            <a:ext cx="3888000" cy="1574370"/>
          </a:xfrm>
          <a:prstGeom prst="rect">
            <a:avLst/>
          </a:prstGeom>
        </p:spPr>
      </p:pic>
    </p:spTree>
    <p:extLst>
      <p:ext uri="{BB962C8B-B14F-4D97-AF65-F5344CB8AC3E}">
        <p14:creationId xmlns:p14="http://schemas.microsoft.com/office/powerpoint/2010/main" val="3075858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barn(inVertical)">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arn(inVertical)">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000"/>
                                        <p:tgtEl>
                                          <p:spTgt spid="14"/>
                                        </p:tgtEl>
                                      </p:cBhvr>
                                    </p:animEffect>
                                    <p:anim calcmode="lin" valueType="num">
                                      <p:cBhvr>
                                        <p:cTn id="32" dur="1000" fill="hold"/>
                                        <p:tgtEl>
                                          <p:spTgt spid="14"/>
                                        </p:tgtEl>
                                        <p:attrNameLst>
                                          <p:attrName>ppt_x</p:attrName>
                                        </p:attrNameLst>
                                      </p:cBhvr>
                                      <p:tavLst>
                                        <p:tav tm="0">
                                          <p:val>
                                            <p:strVal val="#ppt_x"/>
                                          </p:val>
                                        </p:tav>
                                        <p:tav tm="100000">
                                          <p:val>
                                            <p:strVal val="#ppt_x"/>
                                          </p:val>
                                        </p:tav>
                                      </p:tavLst>
                                    </p:anim>
                                    <p:anim calcmode="lin" valueType="num">
                                      <p:cBhvr>
                                        <p:cTn id="3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Computations</a:t>
            </a:r>
            <a:endParaRPr lang="en-IN" dirty="0"/>
          </a:p>
        </p:txBody>
      </p:sp>
      <p:pic>
        <p:nvPicPr>
          <p:cNvPr id="4" name="Picture 3"/>
          <p:cNvPicPr>
            <a:picLocks noChangeAspect="1"/>
          </p:cNvPicPr>
          <p:nvPr/>
        </p:nvPicPr>
        <p:blipFill>
          <a:blip r:embed="rId2"/>
          <a:stretch>
            <a:fillRect/>
          </a:stretch>
        </p:blipFill>
        <p:spPr>
          <a:xfrm>
            <a:off x="1259632" y="1844824"/>
            <a:ext cx="3333750" cy="533400"/>
          </a:xfrm>
          <a:prstGeom prst="rect">
            <a:avLst/>
          </a:prstGeom>
        </p:spPr>
      </p:pic>
      <p:pic>
        <p:nvPicPr>
          <p:cNvPr id="5" name="Picture 4"/>
          <p:cNvPicPr>
            <a:picLocks noChangeAspect="1"/>
          </p:cNvPicPr>
          <p:nvPr/>
        </p:nvPicPr>
        <p:blipFill>
          <a:blip r:embed="rId3"/>
          <a:stretch>
            <a:fillRect/>
          </a:stretch>
        </p:blipFill>
        <p:spPr>
          <a:xfrm>
            <a:off x="2339752" y="2612561"/>
            <a:ext cx="3686175" cy="485775"/>
          </a:xfrm>
          <a:prstGeom prst="rect">
            <a:avLst/>
          </a:prstGeom>
        </p:spPr>
      </p:pic>
      <p:pic>
        <p:nvPicPr>
          <p:cNvPr id="6" name="Picture 5"/>
          <p:cNvPicPr>
            <a:picLocks noChangeAspect="1"/>
          </p:cNvPicPr>
          <p:nvPr/>
        </p:nvPicPr>
        <p:blipFill>
          <a:blip r:embed="rId4"/>
          <a:stretch>
            <a:fillRect/>
          </a:stretch>
        </p:blipFill>
        <p:spPr>
          <a:xfrm>
            <a:off x="755576" y="3614422"/>
            <a:ext cx="4600575" cy="466725"/>
          </a:xfrm>
          <a:prstGeom prst="rect">
            <a:avLst/>
          </a:prstGeom>
        </p:spPr>
      </p:pic>
      <p:pic>
        <p:nvPicPr>
          <p:cNvPr id="7" name="Picture 6"/>
          <p:cNvPicPr>
            <a:picLocks noChangeAspect="1"/>
          </p:cNvPicPr>
          <p:nvPr/>
        </p:nvPicPr>
        <p:blipFill>
          <a:blip r:embed="rId5"/>
          <a:stretch>
            <a:fillRect/>
          </a:stretch>
        </p:blipFill>
        <p:spPr>
          <a:xfrm>
            <a:off x="1287491" y="4320503"/>
            <a:ext cx="7362825" cy="447675"/>
          </a:xfrm>
          <a:prstGeom prst="rect">
            <a:avLst/>
          </a:prstGeom>
        </p:spPr>
      </p:pic>
      <p:pic>
        <p:nvPicPr>
          <p:cNvPr id="8" name="Picture 7"/>
          <p:cNvPicPr>
            <a:picLocks noChangeAspect="1"/>
          </p:cNvPicPr>
          <p:nvPr/>
        </p:nvPicPr>
        <p:blipFill>
          <a:blip r:embed="rId6"/>
          <a:stretch>
            <a:fillRect/>
          </a:stretch>
        </p:blipFill>
        <p:spPr>
          <a:xfrm>
            <a:off x="737393" y="5150658"/>
            <a:ext cx="8620125" cy="419100"/>
          </a:xfrm>
          <a:prstGeom prst="rect">
            <a:avLst/>
          </a:prstGeom>
        </p:spPr>
      </p:pic>
      <p:pic>
        <p:nvPicPr>
          <p:cNvPr id="9" name="Picture 8"/>
          <p:cNvPicPr>
            <a:picLocks noChangeAspect="1"/>
          </p:cNvPicPr>
          <p:nvPr/>
        </p:nvPicPr>
        <p:blipFill>
          <a:blip r:embed="rId7"/>
          <a:stretch>
            <a:fillRect/>
          </a:stretch>
        </p:blipFill>
        <p:spPr>
          <a:xfrm>
            <a:off x="1694655" y="5866264"/>
            <a:ext cx="3352800" cy="409575"/>
          </a:xfrm>
          <a:prstGeom prst="rect">
            <a:avLst/>
          </a:prstGeom>
        </p:spPr>
      </p:pic>
      <p:sp>
        <p:nvSpPr>
          <p:cNvPr id="10" name="TextBox 9"/>
          <p:cNvSpPr txBox="1"/>
          <p:nvPr/>
        </p:nvSpPr>
        <p:spPr>
          <a:xfrm>
            <a:off x="776192" y="6321736"/>
            <a:ext cx="2456442" cy="461665"/>
          </a:xfrm>
          <a:prstGeom prst="rect">
            <a:avLst/>
          </a:prstGeom>
          <a:noFill/>
        </p:spPr>
        <p:txBody>
          <a:bodyPr wrap="none" rtlCol="0">
            <a:spAutoFit/>
          </a:bodyPr>
          <a:lstStyle/>
          <a:p>
            <a:r>
              <a:rPr lang="en-US" dirty="0"/>
              <a:t>P(A’) = 1-0.0025</a:t>
            </a:r>
            <a:endParaRPr lang="en-IN" dirty="0"/>
          </a:p>
        </p:txBody>
      </p:sp>
      <p:pic>
        <p:nvPicPr>
          <p:cNvPr id="11" name="Picture 10"/>
          <p:cNvPicPr>
            <a:picLocks noChangeAspect="1"/>
          </p:cNvPicPr>
          <p:nvPr/>
        </p:nvPicPr>
        <p:blipFill>
          <a:blip r:embed="rId8"/>
          <a:stretch>
            <a:fillRect/>
          </a:stretch>
        </p:blipFill>
        <p:spPr>
          <a:xfrm>
            <a:off x="2312287" y="3109092"/>
            <a:ext cx="4295775" cy="571500"/>
          </a:xfrm>
          <a:prstGeom prst="rect">
            <a:avLst/>
          </a:prstGeom>
        </p:spPr>
      </p:pic>
      <p:pic>
        <p:nvPicPr>
          <p:cNvPr id="12" name="Picture 11"/>
          <p:cNvPicPr>
            <a:picLocks noChangeAspect="1"/>
          </p:cNvPicPr>
          <p:nvPr/>
        </p:nvPicPr>
        <p:blipFill>
          <a:blip r:embed="rId9"/>
          <a:stretch>
            <a:fillRect/>
          </a:stretch>
        </p:blipFill>
        <p:spPr>
          <a:xfrm>
            <a:off x="6764598" y="3212665"/>
            <a:ext cx="1400175" cy="371475"/>
          </a:xfrm>
          <a:prstGeom prst="rect">
            <a:avLst/>
          </a:prstGeom>
        </p:spPr>
      </p:pic>
    </p:spTree>
    <p:extLst>
      <p:ext uri="{BB962C8B-B14F-4D97-AF65-F5344CB8AC3E}">
        <p14:creationId xmlns:p14="http://schemas.microsoft.com/office/powerpoint/2010/main" val="1286334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ircle(in)">
                                      <p:cBhvr>
                                        <p:cTn id="22" dur="2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ppt_x</p:attrName>
                                        </p:attrNameLst>
                                      </p:cBhvr>
                                      <p:tavLst>
                                        <p:tav tm="0">
                                          <p:val>
                                            <p:strVal val="#ppt_x"/>
                                          </p:val>
                                        </p:tav>
                                        <p:tav tm="100000">
                                          <p:val>
                                            <p:strVal val="#ppt_x"/>
                                          </p:val>
                                        </p:tav>
                                      </p:tavLst>
                                    </p:anim>
                                    <p:anim calcmode="lin" valueType="num">
                                      <p:cBhvr>
                                        <p:cTn id="3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down)">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wipe(down)">
                                      <p:cBhvr>
                                        <p:cTn id="4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Answering Queries </a:t>
            </a:r>
            <a:endParaRPr lang="en-IN" dirty="0"/>
          </a:p>
        </p:txBody>
      </p:sp>
      <p:sp>
        <p:nvSpPr>
          <p:cNvPr id="4" name="Content Placeholder 2"/>
          <p:cNvSpPr>
            <a:spLocks noGrp="1"/>
          </p:cNvSpPr>
          <p:nvPr>
            <p:ph idx="1"/>
          </p:nvPr>
        </p:nvSpPr>
        <p:spPr>
          <a:xfrm>
            <a:off x="755576" y="1772816"/>
            <a:ext cx="7772400" cy="4760912"/>
          </a:xfrm>
        </p:spPr>
        <p:txBody>
          <a:bodyPr/>
          <a:lstStyle/>
          <a:p>
            <a:r>
              <a:rPr lang="en-US" dirty="0"/>
              <a:t>We consider cases where the belief network is a poly-tree.</a:t>
            </a:r>
          </a:p>
          <a:p>
            <a:r>
              <a:rPr lang="en-US" dirty="0"/>
              <a:t>There is at most one undirected path between any two nodes. </a:t>
            </a:r>
            <a:endParaRPr lang="en-IN" dirty="0"/>
          </a:p>
        </p:txBody>
      </p:sp>
    </p:spTree>
    <p:extLst>
      <p:ext uri="{BB962C8B-B14F-4D97-AF65-F5344CB8AC3E}">
        <p14:creationId xmlns:p14="http://schemas.microsoft.com/office/powerpoint/2010/main" val="21453501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IN" altLang="en-US" sz="3600" b="1"/>
              <a:t>Constructing this Bayesian Network: </a:t>
            </a:r>
            <a:endParaRPr lang="en-IN" altLang="en-US" sz="3600"/>
          </a:p>
        </p:txBody>
      </p:sp>
      <p:pic>
        <p:nvPicPr>
          <p:cNvPr id="2662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5750" y="1500188"/>
            <a:ext cx="8643938" cy="5072062"/>
          </a:xfrm>
          <a:noFill/>
          <a:ln cap="flat">
            <a:solidFill>
              <a:schemeClr val="tx1"/>
            </a:solidFill>
            <a:miter lim="800000"/>
            <a:headEnd type="none" w="med" len="med"/>
            <a:tailEnd type="none" w="med" len="me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455738" y="152400"/>
            <a:ext cx="7688262" cy="990600"/>
          </a:xfrm>
        </p:spPr>
        <p:txBody>
          <a:bodyPr/>
          <a:lstStyle/>
          <a:p>
            <a:pPr eaLnBrk="1" hangingPunct="1"/>
            <a:r>
              <a:rPr lang="en-US" altLang="en-US" sz="4000" b="1"/>
              <a:t>Bayesian network - example</a:t>
            </a:r>
            <a:endParaRPr lang="fr-FR" altLang="en-US" sz="4000" b="1">
              <a:cs typeface="Times New Roman" panose="02020603050405020304" pitchFamily="18" charset="0"/>
            </a:endParaRPr>
          </a:p>
        </p:txBody>
      </p:sp>
      <p:sp>
        <p:nvSpPr>
          <p:cNvPr id="27651" name="Rectangle 4"/>
          <p:cNvSpPr>
            <a:spLocks noChangeArrowheads="1"/>
          </p:cNvSpPr>
          <p:nvPr/>
        </p:nvSpPr>
        <p:spPr bwMode="auto">
          <a:xfrm>
            <a:off x="39766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27652" name="Rectangle 5"/>
          <p:cNvSpPr>
            <a:spLocks noChangeArrowheads="1"/>
          </p:cNvSpPr>
          <p:nvPr/>
        </p:nvSpPr>
        <p:spPr bwMode="auto">
          <a:xfrm>
            <a:off x="42433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27653" name="Rectangle 6"/>
          <p:cNvSpPr>
            <a:spLocks noChangeArrowheads="1"/>
          </p:cNvSpPr>
          <p:nvPr/>
        </p:nvSpPr>
        <p:spPr bwMode="auto">
          <a:xfrm>
            <a:off x="8534400" y="65532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E0F3F62F-8403-4990-A680-E24E3CC5FEA4}" type="slidenum">
              <a:rPr lang="ro-RO" altLang="en-US" sz="1400"/>
              <a:pPr algn="r" eaLnBrk="1" hangingPunct="1"/>
              <a:t>64</a:t>
            </a:fld>
            <a:endParaRPr lang="ro-RO" altLang="en-US" sz="1400"/>
          </a:p>
        </p:txBody>
      </p:sp>
      <p:sp>
        <p:nvSpPr>
          <p:cNvPr id="27654" name="Text Box 9"/>
          <p:cNvSpPr txBox="1">
            <a:spLocks noChangeArrowheads="1"/>
          </p:cNvSpPr>
          <p:nvPr/>
        </p:nvSpPr>
        <p:spPr bwMode="auto">
          <a:xfrm>
            <a:off x="6300788" y="1700213"/>
            <a:ext cx="13287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Earthquake</a:t>
            </a:r>
          </a:p>
        </p:txBody>
      </p:sp>
      <p:sp>
        <p:nvSpPr>
          <p:cNvPr id="27655" name="Text Box 10"/>
          <p:cNvSpPr txBox="1">
            <a:spLocks noChangeArrowheads="1"/>
          </p:cNvSpPr>
          <p:nvPr/>
        </p:nvSpPr>
        <p:spPr bwMode="auto">
          <a:xfrm>
            <a:off x="4787900" y="2878138"/>
            <a:ext cx="768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Alarm</a:t>
            </a:r>
          </a:p>
        </p:txBody>
      </p:sp>
      <p:sp>
        <p:nvSpPr>
          <p:cNvPr id="27656" name="Text Box 11"/>
          <p:cNvSpPr txBox="1">
            <a:spLocks noChangeArrowheads="1"/>
          </p:cNvSpPr>
          <p:nvPr/>
        </p:nvSpPr>
        <p:spPr bwMode="auto">
          <a:xfrm>
            <a:off x="2514600" y="3987800"/>
            <a:ext cx="11207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JohnCalls</a:t>
            </a:r>
          </a:p>
        </p:txBody>
      </p:sp>
      <p:sp>
        <p:nvSpPr>
          <p:cNvPr id="27657" name="Text Box 12"/>
          <p:cNvSpPr txBox="1">
            <a:spLocks noChangeArrowheads="1"/>
          </p:cNvSpPr>
          <p:nvPr/>
        </p:nvSpPr>
        <p:spPr bwMode="auto">
          <a:xfrm>
            <a:off x="6324600" y="3987800"/>
            <a:ext cx="11414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MaryCalls</a:t>
            </a:r>
          </a:p>
        </p:txBody>
      </p:sp>
      <p:sp>
        <p:nvSpPr>
          <p:cNvPr id="27658" name="Text Box 8"/>
          <p:cNvSpPr txBox="1">
            <a:spLocks noChangeArrowheads="1"/>
          </p:cNvSpPr>
          <p:nvPr/>
        </p:nvSpPr>
        <p:spPr bwMode="auto">
          <a:xfrm>
            <a:off x="3276600" y="1557338"/>
            <a:ext cx="10255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Burglary</a:t>
            </a:r>
          </a:p>
        </p:txBody>
      </p:sp>
      <p:sp>
        <p:nvSpPr>
          <p:cNvPr id="27659" name="Oval 13"/>
          <p:cNvSpPr>
            <a:spLocks noChangeArrowheads="1"/>
          </p:cNvSpPr>
          <p:nvPr/>
        </p:nvSpPr>
        <p:spPr bwMode="auto">
          <a:xfrm>
            <a:off x="3276600" y="1484313"/>
            <a:ext cx="1155700" cy="5334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27660" name="Oval 14"/>
          <p:cNvSpPr>
            <a:spLocks noChangeArrowheads="1"/>
          </p:cNvSpPr>
          <p:nvPr/>
        </p:nvSpPr>
        <p:spPr bwMode="auto">
          <a:xfrm>
            <a:off x="6248400" y="1600200"/>
            <a:ext cx="1447800" cy="5334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27661" name="Oval 15"/>
          <p:cNvSpPr>
            <a:spLocks noChangeArrowheads="1"/>
          </p:cNvSpPr>
          <p:nvPr/>
        </p:nvSpPr>
        <p:spPr bwMode="auto">
          <a:xfrm>
            <a:off x="4495800" y="2667000"/>
            <a:ext cx="1447800" cy="762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27662" name="Oval 16"/>
          <p:cNvSpPr>
            <a:spLocks noChangeArrowheads="1"/>
          </p:cNvSpPr>
          <p:nvPr/>
        </p:nvSpPr>
        <p:spPr bwMode="auto">
          <a:xfrm>
            <a:off x="2209800" y="3886200"/>
            <a:ext cx="1752600" cy="6096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27663" name="Oval 17"/>
          <p:cNvSpPr>
            <a:spLocks noChangeArrowheads="1"/>
          </p:cNvSpPr>
          <p:nvPr/>
        </p:nvSpPr>
        <p:spPr bwMode="auto">
          <a:xfrm>
            <a:off x="6019800" y="3810000"/>
            <a:ext cx="1752600" cy="6858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27664" name="Text Box 18"/>
          <p:cNvSpPr txBox="1">
            <a:spLocks noChangeArrowheads="1"/>
          </p:cNvSpPr>
          <p:nvPr/>
        </p:nvSpPr>
        <p:spPr bwMode="auto">
          <a:xfrm>
            <a:off x="1835150" y="1484313"/>
            <a:ext cx="6985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b="1">
                <a:latin typeface="Times New Roman" panose="02020603050405020304" pitchFamily="18" charset="0"/>
              </a:rPr>
              <a:t>P(B)</a:t>
            </a:r>
          </a:p>
          <a:p>
            <a:pPr eaLnBrk="1" hangingPunct="1"/>
            <a:r>
              <a:rPr lang="en-US" altLang="en-US" sz="1800">
                <a:latin typeface="Times New Roman" panose="02020603050405020304" pitchFamily="18" charset="0"/>
              </a:rPr>
              <a:t>0.001</a:t>
            </a:r>
          </a:p>
        </p:txBody>
      </p:sp>
      <p:sp>
        <p:nvSpPr>
          <p:cNvPr id="27665" name="Text Box 19"/>
          <p:cNvSpPr txBox="1">
            <a:spLocks noChangeArrowheads="1"/>
          </p:cNvSpPr>
          <p:nvPr/>
        </p:nvSpPr>
        <p:spPr bwMode="auto">
          <a:xfrm>
            <a:off x="7667625" y="1600200"/>
            <a:ext cx="6985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b="1">
                <a:latin typeface="Times New Roman" panose="02020603050405020304" pitchFamily="18" charset="0"/>
              </a:rPr>
              <a:t>P(E)</a:t>
            </a:r>
          </a:p>
          <a:p>
            <a:pPr eaLnBrk="1" hangingPunct="1"/>
            <a:r>
              <a:rPr lang="en-US" altLang="en-US" sz="1800">
                <a:latin typeface="Times New Roman" panose="02020603050405020304" pitchFamily="18" charset="0"/>
              </a:rPr>
              <a:t>0.002</a:t>
            </a:r>
          </a:p>
        </p:txBody>
      </p:sp>
      <p:sp>
        <p:nvSpPr>
          <p:cNvPr id="27666" name="Text Box 20"/>
          <p:cNvSpPr txBox="1">
            <a:spLocks noChangeArrowheads="1"/>
          </p:cNvSpPr>
          <p:nvPr/>
        </p:nvSpPr>
        <p:spPr bwMode="auto">
          <a:xfrm>
            <a:off x="2819400" y="2286000"/>
            <a:ext cx="14097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b="1">
                <a:latin typeface="Times New Roman" panose="02020603050405020304" pitchFamily="18" charset="0"/>
              </a:rPr>
              <a:t>B   E   P(A)</a:t>
            </a:r>
          </a:p>
          <a:p>
            <a:pPr eaLnBrk="1" hangingPunct="1"/>
            <a:r>
              <a:rPr lang="en-US" altLang="en-US" sz="1800">
                <a:latin typeface="Times New Roman" panose="02020603050405020304" pitchFamily="18" charset="0"/>
              </a:rPr>
              <a:t>T    T   0.95</a:t>
            </a:r>
          </a:p>
          <a:p>
            <a:pPr eaLnBrk="1" hangingPunct="1"/>
            <a:r>
              <a:rPr lang="en-US" altLang="en-US" sz="1800">
                <a:latin typeface="Times New Roman" panose="02020603050405020304" pitchFamily="18" charset="0"/>
              </a:rPr>
              <a:t>T    F   0.94</a:t>
            </a:r>
          </a:p>
          <a:p>
            <a:pPr eaLnBrk="1" hangingPunct="1"/>
            <a:r>
              <a:rPr lang="en-US" altLang="en-US" sz="1800">
                <a:latin typeface="Times New Roman" panose="02020603050405020304" pitchFamily="18" charset="0"/>
              </a:rPr>
              <a:t>F    T   0.29</a:t>
            </a:r>
          </a:p>
          <a:p>
            <a:pPr eaLnBrk="1" hangingPunct="1"/>
            <a:r>
              <a:rPr lang="en-US" altLang="en-US" sz="1800">
                <a:latin typeface="Times New Roman" panose="02020603050405020304" pitchFamily="18" charset="0"/>
              </a:rPr>
              <a:t>F    F    0.001</a:t>
            </a:r>
          </a:p>
        </p:txBody>
      </p:sp>
      <p:sp>
        <p:nvSpPr>
          <p:cNvPr id="27667" name="Line 22"/>
          <p:cNvSpPr>
            <a:spLocks noChangeShapeType="1"/>
          </p:cNvSpPr>
          <p:nvPr/>
        </p:nvSpPr>
        <p:spPr bwMode="auto">
          <a:xfrm flipH="1">
            <a:off x="3810000" y="3429000"/>
            <a:ext cx="1219200" cy="609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27668" name="Line 23"/>
          <p:cNvSpPr>
            <a:spLocks noChangeShapeType="1"/>
          </p:cNvSpPr>
          <p:nvPr/>
        </p:nvSpPr>
        <p:spPr bwMode="auto">
          <a:xfrm>
            <a:off x="5486400" y="3429000"/>
            <a:ext cx="762000" cy="4572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27669" name="Line 24"/>
          <p:cNvSpPr>
            <a:spLocks noChangeShapeType="1"/>
          </p:cNvSpPr>
          <p:nvPr/>
        </p:nvSpPr>
        <p:spPr bwMode="auto">
          <a:xfrm>
            <a:off x="4191000" y="1981200"/>
            <a:ext cx="762000" cy="685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27670" name="Line 25"/>
          <p:cNvSpPr>
            <a:spLocks noChangeShapeType="1"/>
          </p:cNvSpPr>
          <p:nvPr/>
        </p:nvSpPr>
        <p:spPr bwMode="auto">
          <a:xfrm flipH="1">
            <a:off x="5486400" y="2057400"/>
            <a:ext cx="1066800" cy="609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27671" name="Text Box 26"/>
          <p:cNvSpPr txBox="1">
            <a:spLocks noChangeArrowheads="1"/>
          </p:cNvSpPr>
          <p:nvPr/>
        </p:nvSpPr>
        <p:spPr bwMode="auto">
          <a:xfrm>
            <a:off x="990600" y="3733800"/>
            <a:ext cx="9398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b="1">
                <a:latin typeface="Times New Roman" panose="02020603050405020304" pitchFamily="18" charset="0"/>
              </a:rPr>
              <a:t>A   P(J)</a:t>
            </a:r>
          </a:p>
          <a:p>
            <a:pPr eaLnBrk="1" hangingPunct="1"/>
            <a:r>
              <a:rPr lang="en-US" altLang="en-US" sz="1800">
                <a:latin typeface="Times New Roman" panose="02020603050405020304" pitchFamily="18" charset="0"/>
              </a:rPr>
              <a:t>T    0.9</a:t>
            </a:r>
          </a:p>
          <a:p>
            <a:pPr eaLnBrk="1" hangingPunct="1"/>
            <a:r>
              <a:rPr lang="en-US" altLang="en-US" sz="1800">
                <a:latin typeface="Times New Roman" panose="02020603050405020304" pitchFamily="18" charset="0"/>
              </a:rPr>
              <a:t>F    0.05</a:t>
            </a:r>
          </a:p>
        </p:txBody>
      </p:sp>
      <p:sp>
        <p:nvSpPr>
          <p:cNvPr id="27672" name="Text Box 27"/>
          <p:cNvSpPr txBox="1">
            <a:spLocks noChangeArrowheads="1"/>
          </p:cNvSpPr>
          <p:nvPr/>
        </p:nvSpPr>
        <p:spPr bwMode="auto">
          <a:xfrm>
            <a:off x="7848600" y="3657600"/>
            <a:ext cx="10287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b="1">
                <a:latin typeface="Times New Roman" panose="02020603050405020304" pitchFamily="18" charset="0"/>
              </a:rPr>
              <a:t>A   P(M)</a:t>
            </a:r>
          </a:p>
          <a:p>
            <a:pPr eaLnBrk="1" hangingPunct="1"/>
            <a:r>
              <a:rPr lang="en-US" altLang="en-US" sz="1800">
                <a:latin typeface="Times New Roman" panose="02020603050405020304" pitchFamily="18" charset="0"/>
              </a:rPr>
              <a:t>T    0.7</a:t>
            </a:r>
          </a:p>
          <a:p>
            <a:pPr eaLnBrk="1" hangingPunct="1"/>
            <a:r>
              <a:rPr lang="en-US" altLang="en-US" sz="1800">
                <a:latin typeface="Times New Roman" panose="02020603050405020304" pitchFamily="18" charset="0"/>
              </a:rPr>
              <a:t>F    0.01</a:t>
            </a:r>
          </a:p>
        </p:txBody>
      </p:sp>
      <p:sp>
        <p:nvSpPr>
          <p:cNvPr id="27673" name="Text Box 28"/>
          <p:cNvSpPr txBox="1">
            <a:spLocks noChangeArrowheads="1"/>
          </p:cNvSpPr>
          <p:nvPr/>
        </p:nvSpPr>
        <p:spPr bwMode="auto">
          <a:xfrm>
            <a:off x="3581400" y="4946650"/>
            <a:ext cx="2608263"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b="1">
                <a:latin typeface="Times New Roman" panose="02020603050405020304" pitchFamily="18" charset="0"/>
              </a:rPr>
              <a:t>B   E        P(A | B, E)</a:t>
            </a:r>
          </a:p>
          <a:p>
            <a:pPr eaLnBrk="1" hangingPunct="1"/>
            <a:r>
              <a:rPr lang="en-US" altLang="en-US" sz="2000">
                <a:latin typeface="Times New Roman" panose="02020603050405020304" pitchFamily="18" charset="0"/>
              </a:rPr>
              <a:t>	T	F</a:t>
            </a:r>
          </a:p>
          <a:p>
            <a:pPr eaLnBrk="1" hangingPunct="1"/>
            <a:r>
              <a:rPr lang="en-US" altLang="en-US" sz="2000">
                <a:latin typeface="Times New Roman" panose="02020603050405020304" pitchFamily="18" charset="0"/>
              </a:rPr>
              <a:t>T    T   0.95	0.05</a:t>
            </a:r>
          </a:p>
          <a:p>
            <a:pPr eaLnBrk="1" hangingPunct="1"/>
            <a:r>
              <a:rPr lang="en-US" altLang="en-US" sz="2000">
                <a:latin typeface="Times New Roman" panose="02020603050405020304" pitchFamily="18" charset="0"/>
              </a:rPr>
              <a:t>T    F   0.94	0.06</a:t>
            </a:r>
          </a:p>
          <a:p>
            <a:pPr eaLnBrk="1" hangingPunct="1"/>
            <a:r>
              <a:rPr lang="en-US" altLang="en-US" sz="2000">
                <a:latin typeface="Times New Roman" panose="02020603050405020304" pitchFamily="18" charset="0"/>
              </a:rPr>
              <a:t>F    T   0.29	0.71</a:t>
            </a:r>
          </a:p>
          <a:p>
            <a:pPr eaLnBrk="1" hangingPunct="1"/>
            <a:r>
              <a:rPr lang="en-US" altLang="en-US" sz="2000">
                <a:latin typeface="Times New Roman" panose="02020603050405020304" pitchFamily="18" charset="0"/>
              </a:rPr>
              <a:t>F    F    0.001	0.999</a:t>
            </a:r>
          </a:p>
        </p:txBody>
      </p:sp>
      <p:sp>
        <p:nvSpPr>
          <p:cNvPr id="27674" name="Text Box 29"/>
          <p:cNvSpPr txBox="1">
            <a:spLocks noChangeArrowheads="1"/>
          </p:cNvSpPr>
          <p:nvPr/>
        </p:nvSpPr>
        <p:spPr bwMode="auto">
          <a:xfrm>
            <a:off x="-107950" y="5445125"/>
            <a:ext cx="34909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b="1">
                <a:latin typeface="Times New Roman" panose="02020603050405020304" pitchFamily="18" charset="0"/>
              </a:rPr>
              <a:t>Conditional probability</a:t>
            </a:r>
          </a:p>
          <a:p>
            <a:pPr algn="ctr" eaLnBrk="1" hangingPunct="1"/>
            <a:r>
              <a:rPr lang="en-US" altLang="en-US" b="1">
                <a:latin typeface="Times New Roman" panose="02020603050405020304" pitchFamily="18" charset="0"/>
              </a:rPr>
              <a:t>table</a:t>
            </a:r>
            <a:endParaRPr lang="en-US" altLang="en-US">
              <a:latin typeface="Times New Roman" panose="02020603050405020304" pitchFamily="18" charset="0"/>
            </a:endParaRPr>
          </a:p>
        </p:txBody>
      </p:sp>
      <p:sp>
        <p:nvSpPr>
          <p:cNvPr id="27675" name="Line 30"/>
          <p:cNvSpPr>
            <a:spLocks noChangeShapeType="1"/>
          </p:cNvSpPr>
          <p:nvPr/>
        </p:nvSpPr>
        <p:spPr bwMode="auto">
          <a:xfrm>
            <a:off x="3352800" y="5562600"/>
            <a:ext cx="2971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27676" name="Line 31"/>
          <p:cNvSpPr>
            <a:spLocks noChangeShapeType="1"/>
          </p:cNvSpPr>
          <p:nvPr/>
        </p:nvSpPr>
        <p:spPr bwMode="auto">
          <a:xfrm>
            <a:off x="4267200" y="5022850"/>
            <a:ext cx="0" cy="1600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27677" name="Line 32"/>
          <p:cNvSpPr>
            <a:spLocks noChangeShapeType="1"/>
          </p:cNvSpPr>
          <p:nvPr/>
        </p:nvSpPr>
        <p:spPr bwMode="auto">
          <a:xfrm>
            <a:off x="2819400" y="2590800"/>
            <a:ext cx="1295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27678" name="Line 33"/>
          <p:cNvSpPr>
            <a:spLocks noChangeShapeType="1"/>
          </p:cNvSpPr>
          <p:nvPr/>
        </p:nvSpPr>
        <p:spPr bwMode="auto">
          <a:xfrm>
            <a:off x="3505200" y="2362200"/>
            <a:ext cx="0" cy="1295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27679" name="Line 34"/>
          <p:cNvSpPr>
            <a:spLocks noChangeShapeType="1"/>
          </p:cNvSpPr>
          <p:nvPr/>
        </p:nvSpPr>
        <p:spPr bwMode="auto">
          <a:xfrm>
            <a:off x="990600" y="4038600"/>
            <a:ext cx="914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27680" name="Line 35"/>
          <p:cNvSpPr>
            <a:spLocks noChangeShapeType="1"/>
          </p:cNvSpPr>
          <p:nvPr/>
        </p:nvSpPr>
        <p:spPr bwMode="auto">
          <a:xfrm>
            <a:off x="1295400" y="3810000"/>
            <a:ext cx="0" cy="762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27681" name="Line 36"/>
          <p:cNvSpPr>
            <a:spLocks noChangeShapeType="1"/>
          </p:cNvSpPr>
          <p:nvPr/>
        </p:nvSpPr>
        <p:spPr bwMode="auto">
          <a:xfrm>
            <a:off x="7848600" y="3962400"/>
            <a:ext cx="990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27682" name="Line 37"/>
          <p:cNvSpPr>
            <a:spLocks noChangeShapeType="1"/>
          </p:cNvSpPr>
          <p:nvPr/>
        </p:nvSpPr>
        <p:spPr bwMode="auto">
          <a:xfrm>
            <a:off x="8153400" y="3733800"/>
            <a:ext cx="0" cy="762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27683" name="Line 38"/>
          <p:cNvSpPr>
            <a:spLocks noChangeShapeType="1"/>
          </p:cNvSpPr>
          <p:nvPr/>
        </p:nvSpPr>
        <p:spPr bwMode="auto">
          <a:xfrm>
            <a:off x="1908175" y="1828800"/>
            <a:ext cx="1079500" cy="15875"/>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27684" name="Line 39"/>
          <p:cNvSpPr>
            <a:spLocks noChangeShapeType="1"/>
          </p:cNvSpPr>
          <p:nvPr/>
        </p:nvSpPr>
        <p:spPr bwMode="auto">
          <a:xfrm>
            <a:off x="7924800" y="1905000"/>
            <a:ext cx="1219200" cy="11113"/>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27685" name="TextBox 36"/>
          <p:cNvSpPr txBox="1">
            <a:spLocks noChangeArrowheads="1"/>
          </p:cNvSpPr>
          <p:nvPr/>
        </p:nvSpPr>
        <p:spPr bwMode="auto">
          <a:xfrm>
            <a:off x="6443663" y="5084763"/>
            <a:ext cx="2592387" cy="15700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just" eaLnBrk="1" hangingPunct="1"/>
            <a:r>
              <a:rPr lang="en-US" altLang="en-US" sz="1600"/>
              <a:t>Each row in conditional probability table must sum to 1, because the entries represent an exhaustive set of cases for the variable.</a:t>
            </a:r>
            <a:endParaRPr lang="en-IN" altLang="en-US" sz="1600"/>
          </a:p>
        </p:txBody>
      </p:sp>
      <p:cxnSp>
        <p:nvCxnSpPr>
          <p:cNvPr id="27686" name="Straight Connector 38"/>
          <p:cNvCxnSpPr>
            <a:cxnSpLocks noChangeShapeType="1"/>
          </p:cNvCxnSpPr>
          <p:nvPr/>
        </p:nvCxnSpPr>
        <p:spPr bwMode="auto">
          <a:xfrm>
            <a:off x="2555875" y="1557338"/>
            <a:ext cx="0" cy="503237"/>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sp>
        <p:nvSpPr>
          <p:cNvPr id="27687" name="Rectangle 39"/>
          <p:cNvSpPr>
            <a:spLocks noChangeArrowheads="1"/>
          </p:cNvSpPr>
          <p:nvPr/>
        </p:nvSpPr>
        <p:spPr bwMode="auto">
          <a:xfrm>
            <a:off x="2555875" y="1547813"/>
            <a:ext cx="7826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b="1">
                <a:latin typeface="Times New Roman" panose="02020603050405020304" pitchFamily="18" charset="0"/>
              </a:rPr>
              <a:t>P(~B)</a:t>
            </a:r>
          </a:p>
          <a:p>
            <a:pPr eaLnBrk="1" hangingPunct="1"/>
            <a:r>
              <a:rPr lang="en-US" altLang="en-US" sz="1800">
                <a:latin typeface="Times New Roman" panose="02020603050405020304" pitchFamily="18" charset="0"/>
              </a:rPr>
              <a:t>0.999</a:t>
            </a:r>
          </a:p>
        </p:txBody>
      </p:sp>
      <p:cxnSp>
        <p:nvCxnSpPr>
          <p:cNvPr id="27688" name="Straight Connector 41"/>
          <p:cNvCxnSpPr>
            <a:cxnSpLocks noChangeShapeType="1"/>
          </p:cNvCxnSpPr>
          <p:nvPr/>
        </p:nvCxnSpPr>
        <p:spPr bwMode="auto">
          <a:xfrm>
            <a:off x="8316913" y="1628775"/>
            <a:ext cx="0" cy="504825"/>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sp>
        <p:nvSpPr>
          <p:cNvPr id="27689" name="Text Box 19"/>
          <p:cNvSpPr txBox="1">
            <a:spLocks noChangeArrowheads="1"/>
          </p:cNvSpPr>
          <p:nvPr/>
        </p:nvSpPr>
        <p:spPr bwMode="auto">
          <a:xfrm>
            <a:off x="8389938" y="1628775"/>
            <a:ext cx="7540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b="1">
                <a:latin typeface="Times New Roman" panose="02020603050405020304" pitchFamily="18" charset="0"/>
              </a:rPr>
              <a:t>P(~E)</a:t>
            </a:r>
          </a:p>
          <a:p>
            <a:pPr eaLnBrk="1" hangingPunct="1"/>
            <a:r>
              <a:rPr lang="en-US" altLang="en-US" sz="1800">
                <a:latin typeface="Times New Roman" panose="02020603050405020304" pitchFamily="18" charset="0"/>
              </a:rPr>
              <a:t>0.998</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455738" y="152400"/>
            <a:ext cx="7688262" cy="990600"/>
          </a:xfrm>
        </p:spPr>
        <p:txBody>
          <a:bodyPr/>
          <a:lstStyle/>
          <a:p>
            <a:pPr eaLnBrk="1" hangingPunct="1"/>
            <a:r>
              <a:rPr lang="en-US" altLang="en-US" sz="3600" b="1"/>
              <a:t>Probabilistic inferences</a:t>
            </a:r>
            <a:endParaRPr lang="fr-FR" altLang="en-US" sz="3600" b="1"/>
          </a:p>
        </p:txBody>
      </p:sp>
      <p:sp>
        <p:nvSpPr>
          <p:cNvPr id="28675" name="Rectangle 3"/>
          <p:cNvSpPr>
            <a:spLocks noChangeArrowheads="1"/>
          </p:cNvSpPr>
          <p:nvPr/>
        </p:nvSpPr>
        <p:spPr bwMode="auto">
          <a:xfrm>
            <a:off x="39766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28676" name="Rectangle 4"/>
          <p:cNvSpPr>
            <a:spLocks noChangeArrowheads="1"/>
          </p:cNvSpPr>
          <p:nvPr/>
        </p:nvSpPr>
        <p:spPr bwMode="auto">
          <a:xfrm>
            <a:off x="42433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28677" name="Rectangle 5"/>
          <p:cNvSpPr>
            <a:spLocks noChangeArrowheads="1"/>
          </p:cNvSpPr>
          <p:nvPr/>
        </p:nvSpPr>
        <p:spPr bwMode="auto">
          <a:xfrm>
            <a:off x="8534400" y="65532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7DFB356C-1BAD-4245-BA52-C47737ED7A6D}" type="slidenum">
              <a:rPr lang="ro-RO" altLang="en-US" sz="1400"/>
              <a:pPr algn="r" eaLnBrk="1" hangingPunct="1"/>
              <a:t>65</a:t>
            </a:fld>
            <a:endParaRPr lang="ro-RO" altLang="en-US" sz="1400"/>
          </a:p>
        </p:txBody>
      </p:sp>
      <p:sp>
        <p:nvSpPr>
          <p:cNvPr id="28678" name="Text Box 37"/>
          <p:cNvSpPr txBox="1">
            <a:spLocks noChangeArrowheads="1"/>
          </p:cNvSpPr>
          <p:nvPr/>
        </p:nvSpPr>
        <p:spPr bwMode="auto">
          <a:xfrm>
            <a:off x="71438" y="5889625"/>
            <a:ext cx="8893175" cy="8302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latin typeface="Times New Roman" panose="02020603050405020304" pitchFamily="18" charset="0"/>
                <a:cs typeface="Times New Roman" panose="02020603050405020304" pitchFamily="18" charset="0"/>
                <a:sym typeface="Symbol" panose="05050102010706020507" pitchFamily="18" charset="2"/>
              </a:rPr>
              <a:t>P(J  M  A B E ) = P(J|A)* P(M|A)*P(A|B E )*P(B) P(E)=0.9 * 0.7 * 0.001 * 0.999 * 0.998 = 0.00062 </a:t>
            </a:r>
          </a:p>
        </p:txBody>
      </p:sp>
      <p:sp>
        <p:nvSpPr>
          <p:cNvPr id="28679" name="TextBox 33"/>
          <p:cNvSpPr txBox="1">
            <a:spLocks noChangeArrowheads="1"/>
          </p:cNvSpPr>
          <p:nvPr/>
        </p:nvSpPr>
        <p:spPr bwMode="auto">
          <a:xfrm>
            <a:off x="1331913" y="5157788"/>
            <a:ext cx="184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35" name="TextBox 34"/>
          <p:cNvSpPr txBox="1"/>
          <p:nvPr/>
        </p:nvSpPr>
        <p:spPr>
          <a:xfrm>
            <a:off x="71438" y="4581525"/>
            <a:ext cx="8821737" cy="1200150"/>
          </a:xfrm>
          <a:prstGeom prst="rect">
            <a:avLst/>
          </a:prstGeom>
          <a:noFill/>
          <a:ln>
            <a:solidFill>
              <a:schemeClr val="tx1"/>
            </a:solidFill>
          </a:ln>
        </p:spPr>
        <p:txBody>
          <a:bodyPr>
            <a:spAutoFit/>
          </a:bodyPr>
          <a:lstStyle/>
          <a:p>
            <a:pPr algn="just">
              <a:defRPr/>
            </a:pPr>
            <a:r>
              <a:rPr lang="en-US" dirty="0">
                <a:latin typeface="+mn-lt"/>
              </a:rPr>
              <a:t>Probability of the event that the alarm has sounded but neither a burglary nor a</a:t>
            </a:r>
            <a:r>
              <a:rPr lang="en-IN" dirty="0">
                <a:latin typeface="+mn-lt"/>
              </a:rPr>
              <a:t>n </a:t>
            </a:r>
            <a:r>
              <a:rPr lang="en-US" dirty="0">
                <a:latin typeface="+mn-lt"/>
              </a:rPr>
              <a:t>Earthquake has occurred, and both John and Mary call can be calculated as follows:</a:t>
            </a:r>
          </a:p>
        </p:txBody>
      </p:sp>
      <p:pic>
        <p:nvPicPr>
          <p:cNvPr id="28681" name="Picture 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1341438"/>
            <a:ext cx="8712200" cy="31670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455738" y="152400"/>
            <a:ext cx="7688262" cy="990600"/>
          </a:xfrm>
        </p:spPr>
        <p:txBody>
          <a:bodyPr/>
          <a:lstStyle/>
          <a:p>
            <a:pPr eaLnBrk="1" hangingPunct="1"/>
            <a:r>
              <a:rPr lang="en-US" altLang="en-US" sz="3600" b="1"/>
              <a:t>Probabilistic inferences</a:t>
            </a:r>
            <a:endParaRPr lang="fr-FR" altLang="en-US" sz="3600" b="1"/>
          </a:p>
        </p:txBody>
      </p:sp>
      <p:sp>
        <p:nvSpPr>
          <p:cNvPr id="29699" name="Rectangle 3"/>
          <p:cNvSpPr>
            <a:spLocks noChangeArrowheads="1"/>
          </p:cNvSpPr>
          <p:nvPr/>
        </p:nvSpPr>
        <p:spPr bwMode="auto">
          <a:xfrm>
            <a:off x="39766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29700" name="Rectangle 4"/>
          <p:cNvSpPr>
            <a:spLocks noChangeArrowheads="1"/>
          </p:cNvSpPr>
          <p:nvPr/>
        </p:nvSpPr>
        <p:spPr bwMode="auto">
          <a:xfrm>
            <a:off x="42433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29701" name="Rectangle 5"/>
          <p:cNvSpPr>
            <a:spLocks noChangeArrowheads="1"/>
          </p:cNvSpPr>
          <p:nvPr/>
        </p:nvSpPr>
        <p:spPr bwMode="auto">
          <a:xfrm>
            <a:off x="8534400" y="65532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1047A9EE-653A-4EB1-8763-7FB39F20AFC0}" type="slidenum">
              <a:rPr lang="ro-RO" altLang="en-US" sz="1400"/>
              <a:pPr algn="r" eaLnBrk="1" hangingPunct="1"/>
              <a:t>66</a:t>
            </a:fld>
            <a:endParaRPr lang="ro-RO" altLang="en-US" sz="1400"/>
          </a:p>
        </p:txBody>
      </p:sp>
      <p:sp>
        <p:nvSpPr>
          <p:cNvPr id="29702" name="Text Box 37"/>
          <p:cNvSpPr txBox="1">
            <a:spLocks noChangeArrowheads="1"/>
          </p:cNvSpPr>
          <p:nvPr/>
        </p:nvSpPr>
        <p:spPr bwMode="auto">
          <a:xfrm>
            <a:off x="323850" y="5013325"/>
            <a:ext cx="8640763" cy="13731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800" b="1">
                <a:latin typeface="Times New Roman" panose="02020603050405020304" pitchFamily="18" charset="0"/>
                <a:cs typeface="Times New Roman" panose="02020603050405020304" pitchFamily="18" charset="0"/>
                <a:sym typeface="Symbol" panose="05050102010706020507" pitchFamily="18" charset="2"/>
              </a:rPr>
              <a:t>P(A|B) = P(A|B,E) *</a:t>
            </a:r>
            <a:r>
              <a:rPr lang="en-US" altLang="en-US" sz="28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P(E|B)</a:t>
            </a:r>
            <a:r>
              <a:rPr lang="en-US" altLang="en-US" sz="2800" b="1">
                <a:latin typeface="Times New Roman" panose="02020603050405020304" pitchFamily="18" charset="0"/>
                <a:cs typeface="Times New Roman" panose="02020603050405020304" pitchFamily="18" charset="0"/>
                <a:sym typeface="Symbol" panose="05050102010706020507" pitchFamily="18" charset="2"/>
              </a:rPr>
              <a:t> + P(A| B,E)*</a:t>
            </a:r>
            <a:r>
              <a:rPr lang="en-US" altLang="en-US" sz="2800" b="1">
                <a:solidFill>
                  <a:schemeClr val="accent1"/>
                </a:solidFill>
                <a:latin typeface="Times New Roman" panose="02020603050405020304" pitchFamily="18" charset="0"/>
                <a:cs typeface="Times New Roman" panose="02020603050405020304" pitchFamily="18" charset="0"/>
                <a:sym typeface="Symbol" panose="05050102010706020507" pitchFamily="18" charset="2"/>
              </a:rPr>
              <a:t>P(E|B)</a:t>
            </a:r>
          </a:p>
          <a:p>
            <a:pPr eaLnBrk="1" hangingPunct="1"/>
            <a:r>
              <a:rPr lang="en-US" altLang="en-US" sz="2800" b="1">
                <a:latin typeface="Times New Roman" panose="02020603050405020304" pitchFamily="18" charset="0"/>
                <a:cs typeface="Times New Roman" panose="02020603050405020304" pitchFamily="18" charset="0"/>
                <a:sym typeface="Symbol" panose="05050102010706020507" pitchFamily="18" charset="2"/>
              </a:rPr>
              <a:t>=  P(A|B,E) *</a:t>
            </a:r>
            <a:r>
              <a:rPr lang="en-US" altLang="en-US" sz="28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P(E)</a:t>
            </a:r>
            <a:r>
              <a:rPr lang="en-US" altLang="en-US" sz="2800" b="1">
                <a:latin typeface="Times New Roman" panose="02020603050405020304" pitchFamily="18" charset="0"/>
                <a:cs typeface="Times New Roman" panose="02020603050405020304" pitchFamily="18" charset="0"/>
                <a:sym typeface="Symbol" panose="05050102010706020507" pitchFamily="18" charset="2"/>
              </a:rPr>
              <a:t> + P(A| B,E)*</a:t>
            </a:r>
            <a:r>
              <a:rPr lang="en-US" altLang="en-US" sz="2800" b="1">
                <a:solidFill>
                  <a:schemeClr val="accent1"/>
                </a:solidFill>
                <a:latin typeface="Times New Roman" panose="02020603050405020304" pitchFamily="18" charset="0"/>
                <a:cs typeface="Times New Roman" panose="02020603050405020304" pitchFamily="18" charset="0"/>
                <a:sym typeface="Symbol" panose="05050102010706020507" pitchFamily="18" charset="2"/>
              </a:rPr>
              <a:t>P(E)</a:t>
            </a:r>
          </a:p>
          <a:p>
            <a:pPr eaLnBrk="1" hangingPunct="1"/>
            <a:r>
              <a:rPr lang="en-US" altLang="en-US" sz="2800" b="1">
                <a:latin typeface="Times New Roman" panose="02020603050405020304" pitchFamily="18" charset="0"/>
                <a:cs typeface="Times New Roman" panose="02020603050405020304" pitchFamily="18" charset="0"/>
                <a:sym typeface="Symbol" panose="05050102010706020507" pitchFamily="18" charset="2"/>
              </a:rPr>
              <a:t>= 0.95 * 0.002 + 0.94 * 0.998 = 0.94002</a:t>
            </a:r>
          </a:p>
        </p:txBody>
      </p:sp>
      <p:pic>
        <p:nvPicPr>
          <p:cNvPr id="29703" name="Picture 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1341438"/>
            <a:ext cx="8712200" cy="31670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9704" name="TextBox 34"/>
          <p:cNvSpPr txBox="1">
            <a:spLocks noChangeArrowheads="1"/>
          </p:cNvSpPr>
          <p:nvPr/>
        </p:nvSpPr>
        <p:spPr bwMode="auto">
          <a:xfrm>
            <a:off x="395288" y="4581525"/>
            <a:ext cx="68722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t>Probability of Burglary being true if Alarm is true:</a:t>
            </a:r>
            <a:endParaRPr lang="en-I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55650" y="2636838"/>
            <a:ext cx="7772400" cy="1362075"/>
          </a:xfrm>
        </p:spPr>
        <p:txBody>
          <a:bodyPr/>
          <a:lstStyle/>
          <a:p>
            <a:pPr algn="ctr">
              <a:defRPr/>
            </a:pPr>
            <a:r>
              <a:rPr lang="en-US" sz="6600" dirty="0"/>
              <a:t>Thank you</a:t>
            </a:r>
            <a:endParaRPr lang="en-IN" sz="66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113" y="2781300"/>
            <a:ext cx="7772400" cy="1362075"/>
          </a:xfrm>
        </p:spPr>
        <p:txBody>
          <a:bodyPr/>
          <a:lstStyle/>
          <a:p>
            <a:pPr algn="ctr">
              <a:defRPr/>
            </a:pPr>
            <a:r>
              <a:rPr lang="en-US" dirty="0"/>
              <a:t>More slides for inference</a:t>
            </a:r>
            <a:endParaRPr lang="en-I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455738" y="152400"/>
            <a:ext cx="7688262" cy="990600"/>
          </a:xfrm>
        </p:spPr>
        <p:txBody>
          <a:bodyPr/>
          <a:lstStyle/>
          <a:p>
            <a:pPr eaLnBrk="1" hangingPunct="1"/>
            <a:r>
              <a:rPr lang="en-US" altLang="en-US" sz="3600" b="1"/>
              <a:t>More Examples on Inferences</a:t>
            </a:r>
            <a:endParaRPr lang="fr-FR" altLang="en-US" sz="3600">
              <a:cs typeface="Times New Roman" panose="02020603050405020304" pitchFamily="18" charset="0"/>
            </a:endParaRPr>
          </a:p>
        </p:txBody>
      </p:sp>
      <p:sp>
        <p:nvSpPr>
          <p:cNvPr id="32771" name="Rectangle 3"/>
          <p:cNvSpPr>
            <a:spLocks noGrp="1" noChangeArrowheads="1"/>
          </p:cNvSpPr>
          <p:nvPr>
            <p:ph type="body" idx="1"/>
          </p:nvPr>
        </p:nvSpPr>
        <p:spPr>
          <a:xfrm>
            <a:off x="457200" y="1447800"/>
            <a:ext cx="8229600" cy="5181600"/>
          </a:xfrm>
        </p:spPr>
        <p:txBody>
          <a:bodyPr/>
          <a:lstStyle/>
          <a:p>
            <a:pPr algn="just" eaLnBrk="1" hangingPunct="1">
              <a:buFont typeface="Wingdings" panose="05000000000000000000" pitchFamily="2" charset="2"/>
              <a:buNone/>
            </a:pPr>
            <a:r>
              <a:rPr lang="en-US" altLang="en-US" sz="2800">
                <a:cs typeface="Times New Roman" panose="02020603050405020304" pitchFamily="18" charset="0"/>
                <a:sym typeface="Symbol" panose="05050102010706020507" pitchFamily="18" charset="2"/>
              </a:rPr>
              <a:t>	</a:t>
            </a:r>
            <a:r>
              <a:rPr lang="en-US" altLang="en-US" sz="2400" b="1">
                <a:solidFill>
                  <a:schemeClr val="hlink"/>
                </a:solidFill>
                <a:cs typeface="Times New Roman" panose="02020603050405020304" pitchFamily="18" charset="0"/>
                <a:sym typeface="Symbol" panose="05050102010706020507" pitchFamily="18" charset="2"/>
              </a:rPr>
              <a:t>Probability distribution		</a:t>
            </a:r>
            <a:r>
              <a:rPr lang="en-US" altLang="en-US" sz="2400" b="1">
                <a:solidFill>
                  <a:schemeClr val="folHlink"/>
                </a:solidFill>
                <a:latin typeface="Arial Black" panose="020B0A04020102020204" pitchFamily="34" charset="0"/>
                <a:cs typeface="Times New Roman" panose="02020603050405020304" pitchFamily="18" charset="0"/>
                <a:sym typeface="Symbol" panose="05050102010706020507" pitchFamily="18" charset="2"/>
              </a:rPr>
              <a:t>P</a:t>
            </a:r>
            <a:r>
              <a:rPr lang="en-US" altLang="en-US" sz="2400" b="1">
                <a:solidFill>
                  <a:schemeClr val="folHlink"/>
                </a:solidFill>
                <a:cs typeface="Times New Roman" panose="02020603050405020304" pitchFamily="18" charset="0"/>
                <a:sym typeface="Symbol" panose="05050102010706020507" pitchFamily="18" charset="2"/>
              </a:rPr>
              <a:t>(Cavity, Tooth)</a:t>
            </a:r>
          </a:p>
          <a:p>
            <a:pPr lvl="1" algn="just" eaLnBrk="1" hangingPunct="1">
              <a:buFont typeface="Wingdings" panose="05000000000000000000" pitchFamily="2" charset="2"/>
              <a:buNone/>
            </a:pPr>
            <a:r>
              <a:rPr lang="en-US" altLang="en-US" sz="2400">
                <a:cs typeface="Times New Roman" panose="02020603050405020304" pitchFamily="18" charset="0"/>
                <a:sym typeface="Symbol" panose="05050102010706020507" pitchFamily="18" charset="2"/>
              </a:rPr>
              <a:t>			Tooth		 Tooth</a:t>
            </a:r>
          </a:p>
          <a:p>
            <a:pPr lvl="1" algn="just" eaLnBrk="1" hangingPunct="1">
              <a:buFont typeface="Wingdings" panose="05000000000000000000" pitchFamily="2" charset="2"/>
              <a:buNone/>
            </a:pPr>
            <a:r>
              <a:rPr lang="en-US" altLang="en-US" sz="2400">
                <a:cs typeface="Times New Roman" panose="02020603050405020304" pitchFamily="18" charset="0"/>
                <a:sym typeface="Symbol" panose="05050102010706020507" pitchFamily="18" charset="2"/>
              </a:rPr>
              <a:t>Cavity	0.04		0.06</a:t>
            </a:r>
          </a:p>
          <a:p>
            <a:pPr lvl="1" algn="just" eaLnBrk="1" hangingPunct="1">
              <a:buFont typeface="Wingdings" panose="05000000000000000000" pitchFamily="2" charset="2"/>
              <a:buNone/>
            </a:pPr>
            <a:r>
              <a:rPr lang="en-US" altLang="en-US" sz="2400">
                <a:cs typeface="Times New Roman" panose="02020603050405020304" pitchFamily="18" charset="0"/>
                <a:sym typeface="Symbol" panose="05050102010706020507" pitchFamily="18" charset="2"/>
              </a:rPr>
              <a:t> Cavity 	0.01		0.89</a:t>
            </a:r>
          </a:p>
          <a:p>
            <a:pPr lvl="1" algn="just" eaLnBrk="1" hangingPunct="1">
              <a:buFont typeface="Wingdings" panose="05000000000000000000" pitchFamily="2" charset="2"/>
              <a:buNone/>
            </a:pPr>
            <a:endParaRPr lang="en-US" altLang="en-US" sz="2400">
              <a:cs typeface="Times New Roman" panose="02020603050405020304" pitchFamily="18" charset="0"/>
              <a:sym typeface="Symbol" panose="05050102010706020507" pitchFamily="18" charset="2"/>
            </a:endParaRPr>
          </a:p>
          <a:p>
            <a:pPr lvl="1" algn="just" eaLnBrk="1" hangingPunct="1">
              <a:buFont typeface="Wingdings" panose="05000000000000000000" pitchFamily="2" charset="2"/>
              <a:buNone/>
            </a:pPr>
            <a:r>
              <a:rPr lang="en-US" altLang="en-US" sz="2400">
                <a:cs typeface="Times New Roman" panose="02020603050405020304" pitchFamily="18" charset="0"/>
                <a:sym typeface="Symbol" panose="05050102010706020507" pitchFamily="18" charset="2"/>
              </a:rPr>
              <a:t>P(Cavity) = 0.04 + 0.06 = 0.1</a:t>
            </a:r>
          </a:p>
          <a:p>
            <a:pPr lvl="1" algn="just" eaLnBrk="1" hangingPunct="1">
              <a:buFont typeface="Wingdings" panose="05000000000000000000" pitchFamily="2" charset="2"/>
              <a:buNone/>
            </a:pPr>
            <a:r>
              <a:rPr lang="en-US" altLang="en-US" sz="2400">
                <a:cs typeface="Times New Roman" panose="02020603050405020304" pitchFamily="18" charset="0"/>
                <a:sym typeface="Symbol" panose="05050102010706020507" pitchFamily="18" charset="2"/>
              </a:rPr>
              <a:t>P(Cavity  Tooth) = 0.04 + 0.01 + 0.06 = 0.11</a:t>
            </a:r>
          </a:p>
          <a:p>
            <a:pPr lvl="1" algn="just" eaLnBrk="1" hangingPunct="1">
              <a:buFont typeface="Wingdings" panose="05000000000000000000" pitchFamily="2" charset="2"/>
              <a:buNone/>
            </a:pPr>
            <a:r>
              <a:rPr lang="en-US" altLang="en-US" sz="2400">
                <a:cs typeface="Times New Roman" panose="02020603050405020304" pitchFamily="18" charset="0"/>
                <a:sym typeface="Symbol" panose="05050102010706020507" pitchFamily="18" charset="2"/>
              </a:rPr>
              <a:t>P(Cavity | Tooth) = P(Cavity  Tooth) / P(Tooth) = 0.04 / 0.05 </a:t>
            </a:r>
          </a:p>
        </p:txBody>
      </p:sp>
      <p:sp>
        <p:nvSpPr>
          <p:cNvPr id="32772" name="Rectangle 4"/>
          <p:cNvSpPr>
            <a:spLocks noChangeArrowheads="1"/>
          </p:cNvSpPr>
          <p:nvPr/>
        </p:nvSpPr>
        <p:spPr bwMode="auto">
          <a:xfrm>
            <a:off x="419100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32773" name="Rectangle 5"/>
          <p:cNvSpPr>
            <a:spLocks noChangeArrowheads="1"/>
          </p:cNvSpPr>
          <p:nvPr/>
        </p:nvSpPr>
        <p:spPr bwMode="auto">
          <a:xfrm>
            <a:off x="419100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32774" name="Rectangle 6"/>
          <p:cNvSpPr>
            <a:spLocks noChangeArrowheads="1"/>
          </p:cNvSpPr>
          <p:nvPr/>
        </p:nvSpPr>
        <p:spPr bwMode="auto">
          <a:xfrm>
            <a:off x="421005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32775" name="Rectangle 7"/>
          <p:cNvSpPr>
            <a:spLocks noChangeArrowheads="1"/>
          </p:cNvSpPr>
          <p:nvPr/>
        </p:nvSpPr>
        <p:spPr bwMode="auto">
          <a:xfrm>
            <a:off x="39766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32776" name="Rectangle 8"/>
          <p:cNvSpPr>
            <a:spLocks noChangeArrowheads="1"/>
          </p:cNvSpPr>
          <p:nvPr/>
        </p:nvSpPr>
        <p:spPr bwMode="auto">
          <a:xfrm>
            <a:off x="42433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32777" name="Rectangle 9"/>
          <p:cNvSpPr>
            <a:spLocks noChangeArrowheads="1"/>
          </p:cNvSpPr>
          <p:nvPr/>
        </p:nvSpPr>
        <p:spPr bwMode="auto">
          <a:xfrm>
            <a:off x="3776663"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32778" name="Rectangle 10"/>
          <p:cNvSpPr>
            <a:spLocks noChangeArrowheads="1"/>
          </p:cNvSpPr>
          <p:nvPr/>
        </p:nvSpPr>
        <p:spPr bwMode="auto">
          <a:xfrm>
            <a:off x="8534400" y="65532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ECFF9191-9E3B-4DC5-BDED-DB5622794D0C}" type="slidenum">
              <a:rPr lang="ro-RO" altLang="en-US" sz="1400"/>
              <a:pPr algn="r" eaLnBrk="1" hangingPunct="1"/>
              <a:t>69</a:t>
            </a:fld>
            <a:endParaRPr lang="ro-RO" altLang="en-US" sz="1400"/>
          </a:p>
        </p:txBody>
      </p:sp>
      <p:sp>
        <p:nvSpPr>
          <p:cNvPr id="32779" name="Line 11"/>
          <p:cNvSpPr>
            <a:spLocks noChangeShapeType="1"/>
          </p:cNvSpPr>
          <p:nvPr/>
        </p:nvSpPr>
        <p:spPr bwMode="auto">
          <a:xfrm>
            <a:off x="971550" y="2420938"/>
            <a:ext cx="4419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32780" name="Line 12"/>
          <p:cNvSpPr>
            <a:spLocks noChangeShapeType="1"/>
          </p:cNvSpPr>
          <p:nvPr/>
        </p:nvSpPr>
        <p:spPr bwMode="auto">
          <a:xfrm>
            <a:off x="2124075" y="2133600"/>
            <a:ext cx="0" cy="1143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32781" name="Line 13"/>
          <p:cNvSpPr>
            <a:spLocks noChangeShapeType="1"/>
          </p:cNvSpPr>
          <p:nvPr/>
        </p:nvSpPr>
        <p:spPr bwMode="auto">
          <a:xfrm>
            <a:off x="3851275" y="2060575"/>
            <a:ext cx="0" cy="1143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32782" name="Line 14"/>
          <p:cNvSpPr>
            <a:spLocks noChangeShapeType="1"/>
          </p:cNvSpPr>
          <p:nvPr/>
        </p:nvSpPr>
        <p:spPr bwMode="auto">
          <a:xfrm>
            <a:off x="971550" y="2852738"/>
            <a:ext cx="4419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en-US" sz="3600" b="1"/>
              <a:t>Inferences</a:t>
            </a:r>
            <a:endParaRPr lang="fr-FR" altLang="en-US" sz="3600" b="1"/>
          </a:p>
        </p:txBody>
      </p:sp>
      <p:sp>
        <p:nvSpPr>
          <p:cNvPr id="33795" name="Rectangle 3"/>
          <p:cNvSpPr>
            <a:spLocks noGrp="1" noChangeArrowheads="1"/>
          </p:cNvSpPr>
          <p:nvPr>
            <p:ph type="body" sz="half" idx="1"/>
          </p:nvPr>
        </p:nvSpPr>
        <p:spPr>
          <a:xfrm>
            <a:off x="900113" y="3284538"/>
            <a:ext cx="7559675" cy="3240087"/>
          </a:xfrm>
        </p:spPr>
        <p:txBody>
          <a:bodyPr/>
          <a:lstStyle/>
          <a:p>
            <a:pPr algn="just" eaLnBrk="1" hangingPunct="1">
              <a:lnSpc>
                <a:spcPct val="80000"/>
              </a:lnSpc>
              <a:buFont typeface="Wingdings" panose="05000000000000000000" pitchFamily="2" charset="2"/>
              <a:buNone/>
            </a:pPr>
            <a:r>
              <a:rPr lang="en-US" altLang="en-US" sz="1600">
                <a:cs typeface="Times New Roman" panose="02020603050405020304" pitchFamily="18" charset="0"/>
                <a:sym typeface="Symbol" panose="05050102010706020507" pitchFamily="18" charset="2"/>
              </a:rPr>
              <a:t>	</a:t>
            </a:r>
            <a:r>
              <a:rPr lang="en-US" altLang="en-US" sz="2200" b="1">
                <a:solidFill>
                  <a:schemeClr val="hlink"/>
                </a:solidFill>
                <a:cs typeface="Times New Roman" panose="02020603050405020304" pitchFamily="18" charset="0"/>
                <a:sym typeface="Symbol" panose="05050102010706020507" pitchFamily="18" charset="2"/>
              </a:rPr>
              <a:t>Probability distributions	</a:t>
            </a:r>
            <a:r>
              <a:rPr lang="en-US" altLang="en-US" sz="2200" b="1">
                <a:solidFill>
                  <a:schemeClr val="folHlink"/>
                </a:solidFill>
                <a:latin typeface="Arial Black" panose="020B0A04020102020204" pitchFamily="34" charset="0"/>
                <a:cs typeface="Times New Roman" panose="02020603050405020304" pitchFamily="18" charset="0"/>
                <a:sym typeface="Symbol" panose="05050102010706020507" pitchFamily="18" charset="2"/>
              </a:rPr>
              <a:t>P</a:t>
            </a:r>
            <a:r>
              <a:rPr lang="en-US" altLang="en-US" sz="2200" b="1">
                <a:solidFill>
                  <a:schemeClr val="folHlink"/>
                </a:solidFill>
                <a:cs typeface="Times New Roman" panose="02020603050405020304" pitchFamily="18" charset="0"/>
                <a:sym typeface="Symbol" panose="05050102010706020507" pitchFamily="18" charset="2"/>
              </a:rPr>
              <a:t>(Cavity, Tooth, Catch)</a:t>
            </a:r>
          </a:p>
          <a:p>
            <a:pPr algn="just" eaLnBrk="1" hangingPunct="1">
              <a:lnSpc>
                <a:spcPct val="80000"/>
              </a:lnSpc>
              <a:buFont typeface="Wingdings" panose="05000000000000000000" pitchFamily="2" charset="2"/>
              <a:buNone/>
            </a:pPr>
            <a:endParaRPr lang="en-US" altLang="en-US" sz="2200" b="1">
              <a:solidFill>
                <a:schemeClr val="folHlink"/>
              </a:solidFill>
              <a:cs typeface="Times New Roman" panose="02020603050405020304" pitchFamily="18" charset="0"/>
              <a:sym typeface="Symbol" panose="05050102010706020507" pitchFamily="18" charset="2"/>
            </a:endParaRPr>
          </a:p>
          <a:p>
            <a:pPr lvl="1" algn="just" eaLnBrk="1" hangingPunct="1">
              <a:lnSpc>
                <a:spcPct val="80000"/>
              </a:lnSpc>
              <a:spcAft>
                <a:spcPct val="20000"/>
              </a:spcAft>
              <a:buFont typeface="Wingdings" panose="05000000000000000000" pitchFamily="2" charset="2"/>
              <a:buNone/>
            </a:pPr>
            <a:r>
              <a:rPr lang="en-US" altLang="en-US" sz="2000" b="1">
                <a:cs typeface="Times New Roman" panose="02020603050405020304" pitchFamily="18" charset="0"/>
                <a:sym typeface="Symbol" panose="05050102010706020507" pitchFamily="18" charset="2"/>
              </a:rPr>
              <a:t>P(</a:t>
            </a:r>
            <a:r>
              <a:rPr lang="en-US" altLang="en-US" sz="2000">
                <a:cs typeface="Times New Roman" panose="02020603050405020304" pitchFamily="18" charset="0"/>
                <a:sym typeface="Symbol" panose="05050102010706020507" pitchFamily="18" charset="2"/>
              </a:rPr>
              <a:t>Cavity</a:t>
            </a:r>
            <a:r>
              <a:rPr lang="en-US" altLang="en-US" sz="2000" b="1">
                <a:cs typeface="Times New Roman" panose="02020603050405020304" pitchFamily="18" charset="0"/>
                <a:sym typeface="Symbol" panose="05050102010706020507" pitchFamily="18" charset="2"/>
              </a:rPr>
              <a:t>)</a:t>
            </a:r>
            <a:r>
              <a:rPr lang="en-US" altLang="en-US" sz="2000">
                <a:cs typeface="Times New Roman" panose="02020603050405020304" pitchFamily="18" charset="0"/>
                <a:sym typeface="Symbol" panose="05050102010706020507" pitchFamily="18" charset="2"/>
              </a:rPr>
              <a:t> = 0.108 + 0.012 + 0.72 + 0.008 = 0.2</a:t>
            </a:r>
          </a:p>
          <a:p>
            <a:pPr lvl="1" algn="just" eaLnBrk="1" hangingPunct="1">
              <a:lnSpc>
                <a:spcPct val="80000"/>
              </a:lnSpc>
              <a:spcAft>
                <a:spcPct val="20000"/>
              </a:spcAft>
              <a:buFont typeface="Wingdings" panose="05000000000000000000" pitchFamily="2" charset="2"/>
              <a:buNone/>
            </a:pPr>
            <a:r>
              <a:rPr lang="en-US" altLang="en-US" sz="2000" b="1">
                <a:cs typeface="Times New Roman" panose="02020603050405020304" pitchFamily="18" charset="0"/>
                <a:sym typeface="Symbol" panose="05050102010706020507" pitchFamily="18" charset="2"/>
              </a:rPr>
              <a:t>P(</a:t>
            </a:r>
            <a:r>
              <a:rPr lang="en-US" altLang="en-US" sz="2000">
                <a:cs typeface="Times New Roman" panose="02020603050405020304" pitchFamily="18" charset="0"/>
                <a:sym typeface="Symbol" panose="05050102010706020507" pitchFamily="18" charset="2"/>
              </a:rPr>
              <a:t>Cavity</a:t>
            </a:r>
            <a:r>
              <a:rPr lang="en-US" altLang="en-US" sz="2000" b="1">
                <a:cs typeface="Times New Roman" panose="02020603050405020304" pitchFamily="18" charset="0"/>
                <a:sym typeface="Symbol" panose="05050102010706020507" pitchFamily="18" charset="2"/>
              </a:rPr>
              <a:t>  </a:t>
            </a:r>
            <a:r>
              <a:rPr lang="en-US" altLang="en-US" sz="2000">
                <a:cs typeface="Times New Roman" panose="02020603050405020304" pitchFamily="18" charset="0"/>
                <a:sym typeface="Symbol" panose="05050102010706020507" pitchFamily="18" charset="2"/>
              </a:rPr>
              <a:t>Tooth</a:t>
            </a:r>
            <a:r>
              <a:rPr lang="en-US" altLang="en-US" sz="2000" b="1">
                <a:cs typeface="Times New Roman" panose="02020603050405020304" pitchFamily="18" charset="0"/>
                <a:sym typeface="Symbol" panose="05050102010706020507" pitchFamily="18" charset="2"/>
              </a:rPr>
              <a:t>)</a:t>
            </a:r>
            <a:r>
              <a:rPr lang="en-US" altLang="en-US" sz="2000">
                <a:cs typeface="Times New Roman" panose="02020603050405020304" pitchFamily="18" charset="0"/>
                <a:sym typeface="Symbol" panose="05050102010706020507" pitchFamily="18" charset="2"/>
              </a:rPr>
              <a:t> = 0.108 + 0.012 + 0.072 + 0.008 + 0.016</a:t>
            </a:r>
          </a:p>
          <a:p>
            <a:pPr lvl="1" algn="just" eaLnBrk="1" hangingPunct="1">
              <a:lnSpc>
                <a:spcPct val="80000"/>
              </a:lnSpc>
              <a:spcAft>
                <a:spcPct val="20000"/>
              </a:spcAft>
              <a:buFont typeface="Wingdings" panose="05000000000000000000" pitchFamily="2" charset="2"/>
              <a:buNone/>
            </a:pPr>
            <a:r>
              <a:rPr lang="en-US" altLang="en-US" sz="2000">
                <a:cs typeface="Times New Roman" panose="02020603050405020304" pitchFamily="18" charset="0"/>
                <a:sym typeface="Symbol" panose="05050102010706020507" pitchFamily="18" charset="2"/>
              </a:rPr>
              <a:t>+ 0.064 = 0.28</a:t>
            </a:r>
          </a:p>
          <a:p>
            <a:pPr lvl="1" algn="just" eaLnBrk="1" hangingPunct="1">
              <a:lnSpc>
                <a:spcPct val="80000"/>
              </a:lnSpc>
              <a:spcAft>
                <a:spcPct val="20000"/>
              </a:spcAft>
              <a:buFont typeface="Wingdings" panose="05000000000000000000" pitchFamily="2" charset="2"/>
              <a:buNone/>
            </a:pPr>
            <a:r>
              <a:rPr lang="en-US" altLang="en-US" sz="2000" b="1">
                <a:cs typeface="Times New Roman" panose="02020603050405020304" pitchFamily="18" charset="0"/>
                <a:sym typeface="Symbol" panose="05050102010706020507" pitchFamily="18" charset="2"/>
              </a:rPr>
              <a:t>P(</a:t>
            </a:r>
            <a:r>
              <a:rPr lang="en-US" altLang="en-US" sz="2000">
                <a:cs typeface="Times New Roman" panose="02020603050405020304" pitchFamily="18" charset="0"/>
                <a:sym typeface="Symbol" panose="05050102010706020507" pitchFamily="18" charset="2"/>
              </a:rPr>
              <a:t>Cavity</a:t>
            </a:r>
            <a:r>
              <a:rPr lang="en-US" altLang="en-US" sz="2000" b="1">
                <a:cs typeface="Times New Roman" panose="02020603050405020304" pitchFamily="18" charset="0"/>
                <a:sym typeface="Symbol" panose="05050102010706020507" pitchFamily="18" charset="2"/>
              </a:rPr>
              <a:t> | </a:t>
            </a:r>
            <a:r>
              <a:rPr lang="en-US" altLang="en-US" sz="2000">
                <a:cs typeface="Times New Roman" panose="02020603050405020304" pitchFamily="18" charset="0"/>
                <a:sym typeface="Symbol" panose="05050102010706020507" pitchFamily="18" charset="2"/>
              </a:rPr>
              <a:t>Tooth</a:t>
            </a:r>
            <a:r>
              <a:rPr lang="en-US" altLang="en-US" sz="2000" b="1">
                <a:cs typeface="Times New Roman" panose="02020603050405020304" pitchFamily="18" charset="0"/>
                <a:sym typeface="Symbol" panose="05050102010706020507" pitchFamily="18" charset="2"/>
              </a:rPr>
              <a:t>)</a:t>
            </a:r>
            <a:r>
              <a:rPr lang="en-US" altLang="en-US" sz="2000">
                <a:cs typeface="Times New Roman" panose="02020603050405020304" pitchFamily="18" charset="0"/>
                <a:sym typeface="Symbol" panose="05050102010706020507" pitchFamily="18" charset="2"/>
              </a:rPr>
              <a:t> = P(Cavity  Tooth) / P(Tooth) = </a:t>
            </a:r>
          </a:p>
          <a:p>
            <a:pPr lvl="1" algn="just" eaLnBrk="1" hangingPunct="1">
              <a:lnSpc>
                <a:spcPct val="80000"/>
              </a:lnSpc>
              <a:spcAft>
                <a:spcPct val="20000"/>
              </a:spcAft>
              <a:buFont typeface="Wingdings" panose="05000000000000000000" pitchFamily="2" charset="2"/>
              <a:buNone/>
            </a:pPr>
            <a:r>
              <a:rPr lang="en-US" altLang="en-US" sz="2000">
                <a:cs typeface="Times New Roman" panose="02020603050405020304" pitchFamily="18" charset="0"/>
                <a:sym typeface="Symbol" panose="05050102010706020507" pitchFamily="18" charset="2"/>
              </a:rPr>
              <a:t>[P(Cavity  Tooth  </a:t>
            </a:r>
            <a:r>
              <a:rPr lang="en-US" altLang="en-US" sz="2000"/>
              <a:t>Catch</a:t>
            </a:r>
            <a:r>
              <a:rPr lang="en-US" altLang="en-US" sz="2000">
                <a:cs typeface="Times New Roman" panose="02020603050405020304" pitchFamily="18" charset="0"/>
                <a:sym typeface="Symbol" panose="05050102010706020507" pitchFamily="18" charset="2"/>
              </a:rPr>
              <a:t>) + P(Cavity  Tooth  ~ </a:t>
            </a:r>
            <a:r>
              <a:rPr lang="en-US" altLang="en-US" sz="2000"/>
              <a:t>Catch</a:t>
            </a:r>
            <a:r>
              <a:rPr lang="en-US" altLang="en-US" sz="2000">
                <a:cs typeface="Times New Roman" panose="02020603050405020304" pitchFamily="18" charset="0"/>
                <a:sym typeface="Symbol" panose="05050102010706020507" pitchFamily="18" charset="2"/>
              </a:rPr>
              <a:t>)] * / P(Tooth) </a:t>
            </a:r>
          </a:p>
          <a:p>
            <a:pPr lvl="1" algn="just" eaLnBrk="1" hangingPunct="1">
              <a:lnSpc>
                <a:spcPct val="80000"/>
              </a:lnSpc>
              <a:buFont typeface="Wingdings" panose="05000000000000000000" pitchFamily="2" charset="2"/>
              <a:buNone/>
            </a:pPr>
            <a:endParaRPr lang="en-US" altLang="en-US" sz="2000">
              <a:cs typeface="Times New Roman" panose="02020603050405020304" pitchFamily="18" charset="0"/>
              <a:sym typeface="Symbol" panose="05050102010706020507" pitchFamily="18" charset="2"/>
            </a:endParaRPr>
          </a:p>
        </p:txBody>
      </p:sp>
      <p:sp>
        <p:nvSpPr>
          <p:cNvPr id="33796" name="Rectangle 4"/>
          <p:cNvSpPr>
            <a:spLocks noChangeArrowheads="1"/>
          </p:cNvSpPr>
          <p:nvPr/>
        </p:nvSpPr>
        <p:spPr bwMode="auto">
          <a:xfrm>
            <a:off x="419100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33797" name="Rectangle 5"/>
          <p:cNvSpPr>
            <a:spLocks noChangeArrowheads="1"/>
          </p:cNvSpPr>
          <p:nvPr/>
        </p:nvSpPr>
        <p:spPr bwMode="auto">
          <a:xfrm>
            <a:off x="419100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33798" name="Rectangle 6"/>
          <p:cNvSpPr>
            <a:spLocks noChangeArrowheads="1"/>
          </p:cNvSpPr>
          <p:nvPr/>
        </p:nvSpPr>
        <p:spPr bwMode="auto">
          <a:xfrm>
            <a:off x="421005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33799" name="Rectangle 7"/>
          <p:cNvSpPr>
            <a:spLocks noChangeArrowheads="1"/>
          </p:cNvSpPr>
          <p:nvPr/>
        </p:nvSpPr>
        <p:spPr bwMode="auto">
          <a:xfrm>
            <a:off x="39766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33800" name="Rectangle 8"/>
          <p:cNvSpPr>
            <a:spLocks noChangeArrowheads="1"/>
          </p:cNvSpPr>
          <p:nvPr/>
        </p:nvSpPr>
        <p:spPr bwMode="auto">
          <a:xfrm>
            <a:off x="42433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33801" name="Rectangle 9"/>
          <p:cNvSpPr>
            <a:spLocks noChangeArrowheads="1"/>
          </p:cNvSpPr>
          <p:nvPr/>
        </p:nvSpPr>
        <p:spPr bwMode="auto">
          <a:xfrm>
            <a:off x="3776663"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IN" altLang="en-US"/>
          </a:p>
        </p:txBody>
      </p:sp>
      <p:sp>
        <p:nvSpPr>
          <p:cNvPr id="33802" name="Rectangle 10"/>
          <p:cNvSpPr>
            <a:spLocks noChangeArrowheads="1"/>
          </p:cNvSpPr>
          <p:nvPr/>
        </p:nvSpPr>
        <p:spPr bwMode="auto">
          <a:xfrm>
            <a:off x="8534400" y="65532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18C73792-D31A-42B9-8B3A-7A73084EE658}" type="slidenum">
              <a:rPr lang="ro-RO" altLang="en-US" sz="1400"/>
              <a:pPr algn="r" eaLnBrk="1" hangingPunct="1"/>
              <a:t>70</a:t>
            </a:fld>
            <a:endParaRPr lang="ro-RO" altLang="en-US" sz="1400"/>
          </a:p>
        </p:txBody>
      </p:sp>
      <p:graphicFrame>
        <p:nvGraphicFramePr>
          <p:cNvPr id="143417" name="Group 57"/>
          <p:cNvGraphicFramePr>
            <a:graphicFrameLocks noGrp="1"/>
          </p:cNvGraphicFramePr>
          <p:nvPr>
            <p:ph sz="half" idx="2"/>
          </p:nvPr>
        </p:nvGraphicFramePr>
        <p:xfrm>
          <a:off x="1619250" y="1268413"/>
          <a:ext cx="6553200" cy="1768474"/>
        </p:xfrm>
        <a:graphic>
          <a:graphicData uri="http://schemas.openxmlformats.org/drawingml/2006/table">
            <a:tbl>
              <a:tblPr/>
              <a:tblGrid>
                <a:gridCol w="1311275">
                  <a:extLst>
                    <a:ext uri="{9D8B030D-6E8A-4147-A177-3AD203B41FA5}">
                      <a16:colId xmlns:a16="http://schemas.microsoft.com/office/drawing/2014/main" val="20000"/>
                    </a:ext>
                  </a:extLst>
                </a:gridCol>
                <a:gridCol w="1311275">
                  <a:extLst>
                    <a:ext uri="{9D8B030D-6E8A-4147-A177-3AD203B41FA5}">
                      <a16:colId xmlns:a16="http://schemas.microsoft.com/office/drawing/2014/main" val="20001"/>
                    </a:ext>
                  </a:extLst>
                </a:gridCol>
                <a:gridCol w="1308100">
                  <a:extLst>
                    <a:ext uri="{9D8B030D-6E8A-4147-A177-3AD203B41FA5}">
                      <a16:colId xmlns:a16="http://schemas.microsoft.com/office/drawing/2014/main" val="20002"/>
                    </a:ext>
                  </a:extLst>
                </a:gridCol>
                <a:gridCol w="1311275">
                  <a:extLst>
                    <a:ext uri="{9D8B030D-6E8A-4147-A177-3AD203B41FA5}">
                      <a16:colId xmlns:a16="http://schemas.microsoft.com/office/drawing/2014/main" val="20003"/>
                    </a:ext>
                  </a:extLst>
                </a:gridCol>
                <a:gridCol w="1311275">
                  <a:extLst>
                    <a:ext uri="{9D8B030D-6E8A-4147-A177-3AD203B41FA5}">
                      <a16:colId xmlns:a16="http://schemas.microsoft.com/office/drawing/2014/main" val="20004"/>
                    </a:ext>
                  </a:extLst>
                </a:gridCol>
              </a:tblGrid>
              <a:tr h="45736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400" b="0" i="0" u="none" strike="noStrike" cap="none" normalizeH="0" baseline="0">
                        <a:ln>
                          <a:noFill/>
                        </a:ln>
                        <a:solidFill>
                          <a:schemeClr val="tx1"/>
                        </a:solidFill>
                        <a:effectLst/>
                        <a:latin typeface="Times New Roman" pitchFamily="18" charset="0"/>
                      </a:endParaRPr>
                    </a:p>
                  </a:txBody>
                  <a:tcPr marT="45736" marB="4573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Tooth</a:t>
                      </a: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200" b="0" i="0" u="none" strike="noStrike" cap="none" normalizeH="0" baseline="0">
                        <a:ln>
                          <a:noFill/>
                        </a:ln>
                        <a:solidFill>
                          <a:schemeClr val="tx1"/>
                        </a:solidFill>
                        <a:effectLst/>
                        <a:latin typeface="Times New Roman" pitchFamily="18" charset="0"/>
                      </a:endParaRP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0" i="0" u="none" strike="noStrike" cap="none" normalizeH="0" baseline="0">
                          <a:ln>
                            <a:noFill/>
                          </a:ln>
                          <a:solidFill>
                            <a:schemeClr val="tx1"/>
                          </a:solidFill>
                          <a:effectLst/>
                          <a:latin typeface="Times New Roman" pitchFamily="18" charset="0"/>
                        </a:rPr>
                        <a:t>~ </a:t>
                      </a:r>
                      <a:r>
                        <a:rPr kumimoji="0" lang="en-US" sz="22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Tooth</a:t>
                      </a: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200" b="0" i="0" u="none" strike="noStrike" cap="none" normalizeH="0" baseline="0">
                        <a:ln>
                          <a:noFill/>
                        </a:ln>
                        <a:solidFill>
                          <a:schemeClr val="tx1"/>
                        </a:solidFill>
                        <a:effectLst/>
                        <a:latin typeface="Times New Roman" pitchFamily="18" charset="0"/>
                      </a:endParaRPr>
                    </a:p>
                  </a:txBody>
                  <a:tcPr marT="45736" marB="4573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36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400" b="0" i="0" u="none" strike="noStrike" cap="none" normalizeH="0" baseline="0">
                        <a:ln>
                          <a:noFill/>
                        </a:ln>
                        <a:solidFill>
                          <a:schemeClr val="tx1"/>
                        </a:solidFill>
                        <a:effectLst/>
                        <a:latin typeface="Times New Roman" pitchFamily="18" charset="0"/>
                      </a:endParaRPr>
                    </a:p>
                  </a:txBody>
                  <a:tcPr marT="45736" marB="4573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0" i="0" u="none" strike="noStrike" cap="none" normalizeH="0" baseline="0">
                          <a:ln>
                            <a:noFill/>
                          </a:ln>
                          <a:solidFill>
                            <a:schemeClr val="tx1"/>
                          </a:solidFill>
                          <a:effectLst/>
                          <a:latin typeface="Times New Roman" pitchFamily="18" charset="0"/>
                        </a:rPr>
                        <a:t>Catch</a:t>
                      </a: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0" i="0" u="none" strike="noStrike" cap="none" normalizeH="0" baseline="0">
                          <a:ln>
                            <a:noFill/>
                          </a:ln>
                          <a:solidFill>
                            <a:schemeClr val="tx1"/>
                          </a:solidFill>
                          <a:effectLst/>
                          <a:latin typeface="Times New Roman" pitchFamily="18" charset="0"/>
                        </a:rPr>
                        <a:t>~ Catch</a:t>
                      </a: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0" i="0" u="none" strike="noStrike" cap="none" normalizeH="0" baseline="0">
                          <a:ln>
                            <a:noFill/>
                          </a:ln>
                          <a:solidFill>
                            <a:schemeClr val="tx1"/>
                          </a:solidFill>
                          <a:effectLst/>
                          <a:latin typeface="Times New Roman" pitchFamily="18" charset="0"/>
                        </a:rPr>
                        <a:t>Catch</a:t>
                      </a: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0" i="0" u="none" strike="noStrike" cap="none" normalizeH="0" baseline="0">
                          <a:ln>
                            <a:noFill/>
                          </a:ln>
                          <a:solidFill>
                            <a:schemeClr val="tx1"/>
                          </a:solidFill>
                          <a:effectLst/>
                          <a:latin typeface="Times New Roman" pitchFamily="18" charset="0"/>
                        </a:rPr>
                        <a:t>~ Catch</a:t>
                      </a:r>
                    </a:p>
                  </a:txBody>
                  <a:tcPr marT="45736" marB="4573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687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Cavity</a:t>
                      </a:r>
                    </a:p>
                  </a:txBody>
                  <a:tcPr marT="45736" marB="4573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0" i="0" u="none" strike="noStrike" cap="none" normalizeH="0" baseline="0">
                          <a:ln>
                            <a:noFill/>
                          </a:ln>
                          <a:solidFill>
                            <a:schemeClr val="tx1"/>
                          </a:solidFill>
                          <a:effectLst/>
                          <a:latin typeface="Times New Roman" pitchFamily="18" charset="0"/>
                        </a:rPr>
                        <a:t>0.108</a:t>
                      </a: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0" i="0" u="none" strike="noStrike" cap="none" normalizeH="0" baseline="0">
                          <a:ln>
                            <a:noFill/>
                          </a:ln>
                          <a:solidFill>
                            <a:schemeClr val="tx1"/>
                          </a:solidFill>
                          <a:effectLst/>
                          <a:latin typeface="Times New Roman" pitchFamily="18" charset="0"/>
                        </a:rPr>
                        <a:t>0.012</a:t>
                      </a: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0" i="0" u="none" strike="noStrike" cap="none" normalizeH="0" baseline="0">
                          <a:ln>
                            <a:noFill/>
                          </a:ln>
                          <a:solidFill>
                            <a:schemeClr val="tx1"/>
                          </a:solidFill>
                          <a:effectLst/>
                          <a:latin typeface="Times New Roman" pitchFamily="18" charset="0"/>
                        </a:rPr>
                        <a:t>0.072</a:t>
                      </a: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0" i="0" u="none" strike="noStrike" cap="none" normalizeH="0" baseline="0">
                          <a:ln>
                            <a:noFill/>
                          </a:ln>
                          <a:solidFill>
                            <a:schemeClr val="tx1"/>
                          </a:solidFill>
                          <a:effectLst/>
                          <a:latin typeface="Times New Roman" pitchFamily="18" charset="0"/>
                        </a:rPr>
                        <a:t>0.008</a:t>
                      </a:r>
                    </a:p>
                  </a:txBody>
                  <a:tcPr marT="45736" marB="4573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87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0" i="0" u="none" strike="noStrike" cap="none" normalizeH="0" baseline="0">
                          <a:ln>
                            <a:noFill/>
                          </a:ln>
                          <a:solidFill>
                            <a:schemeClr val="tx1"/>
                          </a:solidFill>
                          <a:effectLst/>
                          <a:latin typeface="Times New Roman" pitchFamily="18" charset="0"/>
                        </a:rPr>
                        <a:t>~ </a:t>
                      </a:r>
                      <a:r>
                        <a:rPr kumimoji="0" lang="en-US" sz="2200" b="0" i="0" u="none" strike="noStrike" cap="none" normalizeH="0" baseline="0">
                          <a:ln>
                            <a:noFill/>
                          </a:ln>
                          <a:solidFill>
                            <a:schemeClr val="tx1"/>
                          </a:solidFill>
                          <a:effectLst/>
                          <a:latin typeface="Times New Roman" pitchFamily="18" charset="0"/>
                          <a:cs typeface="Times New Roman" pitchFamily="18" charset="0"/>
                          <a:sym typeface="Symbol" pitchFamily="18" charset="2"/>
                        </a:rPr>
                        <a:t>Cavity</a:t>
                      </a:r>
                    </a:p>
                  </a:txBody>
                  <a:tcPr marT="45736" marB="4573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0" i="0" u="none" strike="noStrike" cap="none" normalizeH="0" baseline="0">
                          <a:ln>
                            <a:noFill/>
                          </a:ln>
                          <a:solidFill>
                            <a:schemeClr val="tx1"/>
                          </a:solidFill>
                          <a:effectLst/>
                          <a:latin typeface="Times New Roman" pitchFamily="18" charset="0"/>
                        </a:rPr>
                        <a:t>0.016</a:t>
                      </a: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0" i="0" u="none" strike="noStrike" cap="none" normalizeH="0" baseline="0">
                          <a:ln>
                            <a:noFill/>
                          </a:ln>
                          <a:solidFill>
                            <a:schemeClr val="tx1"/>
                          </a:solidFill>
                          <a:effectLst/>
                          <a:latin typeface="Times New Roman" pitchFamily="18" charset="0"/>
                        </a:rPr>
                        <a:t>0.064</a:t>
                      </a: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0" i="0" u="none" strike="noStrike" cap="none" normalizeH="0" baseline="0">
                          <a:ln>
                            <a:noFill/>
                          </a:ln>
                          <a:solidFill>
                            <a:schemeClr val="tx1"/>
                          </a:solidFill>
                          <a:effectLst/>
                          <a:latin typeface="Times New Roman" pitchFamily="18" charset="0"/>
                        </a:rPr>
                        <a:t>0.144</a:t>
                      </a:r>
                    </a:p>
                  </a:txBody>
                  <a:tcPr marT="45736" marB="4573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0" i="0" u="none" strike="noStrike" cap="none" normalizeH="0" baseline="0">
                          <a:ln>
                            <a:noFill/>
                          </a:ln>
                          <a:solidFill>
                            <a:schemeClr val="tx1"/>
                          </a:solidFill>
                          <a:effectLst/>
                          <a:latin typeface="Times New Roman" pitchFamily="18" charset="0"/>
                        </a:rPr>
                        <a:t>0.576</a:t>
                      </a:r>
                    </a:p>
                  </a:txBody>
                  <a:tcPr marT="45736" marB="4573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6740</TotalTime>
  <Words>2795</Words>
  <Application>Microsoft Office PowerPoint</Application>
  <PresentationFormat>On-screen Show (4:3)</PresentationFormat>
  <Paragraphs>306</Paragraphs>
  <Slides>70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70</vt:i4>
      </vt:variant>
    </vt:vector>
  </HeadingPairs>
  <TitlesOfParts>
    <vt:vector size="78" baseType="lpstr">
      <vt:lpstr>Arial</vt:lpstr>
      <vt:lpstr>Arial Black</vt:lpstr>
      <vt:lpstr>Cambria Math</vt:lpstr>
      <vt:lpstr>Symbol</vt:lpstr>
      <vt:lpstr>Tahoma</vt:lpstr>
      <vt:lpstr>Times New Roman</vt:lpstr>
      <vt:lpstr>Wingdings</vt:lpstr>
      <vt:lpstr>Blends</vt:lpstr>
      <vt:lpstr>Uncertain knowledge and reasoning</vt:lpstr>
      <vt:lpstr>   Outline: </vt:lpstr>
      <vt:lpstr>Questions:</vt:lpstr>
      <vt:lpstr>Uncertainty-</vt:lpstr>
      <vt:lpstr>Uncertain Agent</vt:lpstr>
      <vt:lpstr>Types of Uncertainty</vt:lpstr>
      <vt:lpstr>Types of Uncertainty</vt:lpstr>
      <vt:lpstr>Types of Uncertainty</vt:lpstr>
      <vt:lpstr>Types of Uncertainty</vt:lpstr>
      <vt:lpstr>Sources of Uncertainty:</vt:lpstr>
      <vt:lpstr>Handling Uncertain Knowledge</vt:lpstr>
      <vt:lpstr>Reasons for using Probability</vt:lpstr>
      <vt:lpstr>Predicting Vs Diagnosing </vt:lpstr>
      <vt:lpstr>Failure of First Order Logic:</vt:lpstr>
      <vt:lpstr>Axioms of Probability </vt:lpstr>
      <vt:lpstr>PowerPoint Presentation</vt:lpstr>
      <vt:lpstr>Probability Theory</vt:lpstr>
      <vt:lpstr>   Bayesian Probability- Bayes' Theorem</vt:lpstr>
      <vt:lpstr>Chaining Bayes' Theorem</vt:lpstr>
      <vt:lpstr>Belief Networks </vt:lpstr>
      <vt:lpstr>PowerPoint Presentation</vt:lpstr>
      <vt:lpstr>Bayesian Belief Networks</vt:lpstr>
      <vt:lpstr>Representing Knowledge in an Uncertain Domain: Bayesian networks</vt:lpstr>
      <vt:lpstr>Setting up a BBN:</vt:lpstr>
      <vt:lpstr>Calculating Initialised probabilities</vt:lpstr>
      <vt:lpstr>Calculating Revised probabilities: Simple Inference</vt:lpstr>
      <vt:lpstr>The earthquake example </vt:lpstr>
      <vt:lpstr>PowerPoint Presentation</vt:lpstr>
      <vt:lpstr>PowerPoint Presentation</vt:lpstr>
      <vt:lpstr>Joint Probability Distribution </vt:lpstr>
      <vt:lpstr>Joint Probability Distribution </vt:lpstr>
      <vt:lpstr>Joint Probability Distribution </vt:lpstr>
      <vt:lpstr>Joint Probability Distribution </vt:lpstr>
      <vt:lpstr>Joint Probability Distribution </vt:lpstr>
      <vt:lpstr>Joint Probability Distribution </vt:lpstr>
      <vt:lpstr>Joint Probability Distribution </vt:lpstr>
      <vt:lpstr>Joint Probability Distribution </vt:lpstr>
      <vt:lpstr>Joint Probability Distribution </vt:lpstr>
      <vt:lpstr>Joint Probability Distribution: Find P(J) </vt:lpstr>
      <vt:lpstr>Joint Probability Distribution: Find P(A’B) and P(AE) </vt:lpstr>
      <vt:lpstr>Joint Probability Distribution:</vt:lpstr>
      <vt:lpstr>Joint Probability Distribution: Find P(JB) </vt:lpstr>
      <vt:lpstr>Joint Probability Distribution:</vt:lpstr>
      <vt:lpstr>Joint Probability Distribution:</vt:lpstr>
      <vt:lpstr>Joint Probability Distribution:</vt:lpstr>
      <vt:lpstr>Joint Probability Distribution:</vt:lpstr>
      <vt:lpstr>Conditional Independence </vt:lpstr>
      <vt:lpstr>Inferences using belief networks </vt:lpstr>
      <vt:lpstr>Inferences using belief networks </vt:lpstr>
      <vt:lpstr>Four Patterns </vt:lpstr>
      <vt:lpstr>Incremental Network Construction </vt:lpstr>
      <vt:lpstr>Conditional Independence Relations </vt:lpstr>
      <vt:lpstr>Conditional Independence Relations </vt:lpstr>
      <vt:lpstr>Understanding BN</vt:lpstr>
      <vt:lpstr>Understanding BN: Rewrite Joint Probability Distribution </vt:lpstr>
      <vt:lpstr>Understanding BN: Rewrite Joint Probability Distribution </vt:lpstr>
      <vt:lpstr>Ordering </vt:lpstr>
      <vt:lpstr>Compactness and node ordering</vt:lpstr>
      <vt:lpstr>Computations </vt:lpstr>
      <vt:lpstr>Computations </vt:lpstr>
      <vt:lpstr>Computations</vt:lpstr>
      <vt:lpstr>Answering Queries </vt:lpstr>
      <vt:lpstr>Constructing this Bayesian Network: </vt:lpstr>
      <vt:lpstr>Bayesian network - example</vt:lpstr>
      <vt:lpstr>Probabilistic inferences</vt:lpstr>
      <vt:lpstr>Probabilistic inferences</vt:lpstr>
      <vt:lpstr>Thank you</vt:lpstr>
      <vt:lpstr>More slides for inference</vt:lpstr>
      <vt:lpstr>More Examples on Inferences</vt:lpstr>
      <vt:lpstr>Inferences</vt:lpstr>
    </vt:vector>
  </TitlesOfParts>
  <Company>educational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Prof. Anup Nandy</cp:lastModifiedBy>
  <cp:revision>490</cp:revision>
  <dcterms:created xsi:type="dcterms:W3CDTF">2004-03-04T05:25:43Z</dcterms:created>
  <dcterms:modified xsi:type="dcterms:W3CDTF">2022-11-12T14:39:08Z</dcterms:modified>
</cp:coreProperties>
</file>